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9.xml" ContentType="application/vnd.openxmlformats-officedocument.presentationml.notesSlide+xml"/>
  <Override PartName="/ppt/tags/tag40.xml" ContentType="application/vnd.openxmlformats-officedocument.presentationml.tags+xml"/>
  <Override PartName="/ppt/notesSlides/notesSlide1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notesSlides/notesSlide12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63" r:id="rId1"/>
    <p:sldMasterId id="2147483875" r:id="rId2"/>
  </p:sldMasterIdLst>
  <p:notesMasterIdLst>
    <p:notesMasterId r:id="rId31"/>
  </p:notesMasterIdLst>
  <p:handoutMasterIdLst>
    <p:handoutMasterId r:id="rId32"/>
  </p:handoutMasterIdLst>
  <p:sldIdLst>
    <p:sldId id="2401" r:id="rId3"/>
    <p:sldId id="2348" r:id="rId4"/>
    <p:sldId id="2482" r:id="rId5"/>
    <p:sldId id="2460" r:id="rId6"/>
    <p:sldId id="1978" r:id="rId7"/>
    <p:sldId id="2483" r:id="rId8"/>
    <p:sldId id="2391" r:id="rId9"/>
    <p:sldId id="2392" r:id="rId10"/>
    <p:sldId id="2393" r:id="rId11"/>
    <p:sldId id="2484" r:id="rId12"/>
    <p:sldId id="1981" r:id="rId13"/>
    <p:sldId id="2398" r:id="rId14"/>
    <p:sldId id="2489" r:id="rId15"/>
    <p:sldId id="2403" r:id="rId16"/>
    <p:sldId id="1988" r:id="rId17"/>
    <p:sldId id="2485" r:id="rId18"/>
    <p:sldId id="2407" r:id="rId19"/>
    <p:sldId id="2404" r:id="rId20"/>
    <p:sldId id="2390" r:id="rId21"/>
    <p:sldId id="2486" r:id="rId22"/>
    <p:sldId id="2469" r:id="rId23"/>
    <p:sldId id="2488" r:id="rId24"/>
    <p:sldId id="2487" r:id="rId25"/>
    <p:sldId id="2439" r:id="rId26"/>
    <p:sldId id="2461" r:id="rId27"/>
    <p:sldId id="2352" r:id="rId28"/>
    <p:sldId id="1986" r:id="rId29"/>
    <p:sldId id="2246" r:id="rId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99"/>
    <a:srgbClr val="FFFFFF"/>
    <a:srgbClr val="FF99FF"/>
    <a:srgbClr val="C0C0C0"/>
    <a:srgbClr val="CC66FF"/>
    <a:srgbClr val="FF3300"/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7" autoAdjust="0"/>
    <p:restoredTop sz="92825" autoAdjust="0"/>
  </p:normalViewPr>
  <p:slideViewPr>
    <p:cSldViewPr>
      <p:cViewPr>
        <p:scale>
          <a:sx n="90" d="100"/>
          <a:sy n="90" d="100"/>
        </p:scale>
        <p:origin x="522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5E298034-1A0B-49C5-8154-074185A52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42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B2E7254A-A0D5-410A-95EF-9793C32CDD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2" tIns="48667" rIns="97332" bIns="486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403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54138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38D2CF-2E20-4C47-B5BF-A491D81D3EFB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46BA2F-7066-4E43-9E58-D7A0CE9E57FE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r>
              <a:rPr lang="en-US" dirty="0" smtClean="0"/>
              <a:t>Using Clock </a:t>
            </a:r>
            <a:r>
              <a:rPr lang="en-US" dirty="0" err="1" smtClean="0"/>
              <a:t>Fxns</a:t>
            </a:r>
            <a:r>
              <a:rPr lang="en-US" dirty="0" smtClean="0"/>
              <a:t> in a Task-based video system is not really recommended because Clock Functions will ALWAYS have a higher priority than TSKs because periodic functions</a:t>
            </a:r>
            <a:r>
              <a:rPr lang="en-US" baseline="0" dirty="0" smtClean="0"/>
              <a:t> </a:t>
            </a:r>
            <a:r>
              <a:rPr lang="en-US" dirty="0" smtClean="0"/>
              <a:t>s are prioritized as </a:t>
            </a:r>
            <a:r>
              <a:rPr lang="en-US" dirty="0" err="1" smtClean="0"/>
              <a:t>Swis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8E51AF-6098-43DA-9A2F-BD59B1A9A3CE}" type="slidenum">
              <a:rPr lang="en-US"/>
              <a:pPr/>
              <a:t>8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3138" cy="3586163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4560570"/>
            <a:ext cx="6014720" cy="4400550"/>
          </a:xfrm>
        </p:spPr>
        <p:txBody>
          <a:bodyPr/>
          <a:lstStyle/>
          <a:p>
            <a:r>
              <a:rPr lang="en-US">
                <a:latin typeface="Courier" pitchFamily="49" charset="0"/>
              </a:rPr>
              <a:t>Uint32 gie;</a:t>
            </a:r>
          </a:p>
          <a:p>
            <a:r>
              <a:rPr lang="en-US">
                <a:latin typeface="Courier" pitchFamily="49" charset="0"/>
              </a:rPr>
              <a:t>…</a:t>
            </a:r>
          </a:p>
          <a:p>
            <a:r>
              <a:rPr lang="en-US">
                <a:latin typeface="Courier" pitchFamily="49" charset="0"/>
              </a:rPr>
              <a:t>gie = IRQ_globalDisable();</a:t>
            </a:r>
          </a:p>
          <a:p>
            <a:r>
              <a:rPr lang="en-US">
                <a:latin typeface="Courier" pitchFamily="49" charset="0"/>
              </a:rPr>
              <a:t>...</a:t>
            </a:r>
          </a:p>
          <a:p>
            <a:r>
              <a:rPr lang="en-US">
                <a:latin typeface="Courier" pitchFamily="49" charset="0"/>
              </a:rPr>
              <a:t>IRQ_globalRestore(gie);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 smtClean="0">
                <a:solidFill>
                  <a:srgbClr val="000000"/>
                </a:solidFill>
              </a:rPr>
              <a:t>Note: See .s62 file for vector table. For</a:t>
            </a:r>
            <a:r>
              <a:rPr lang="en-US" sz="1200" b="0" i="0" baseline="0" dirty="0" smtClean="0">
                <a:solidFill>
                  <a:srgbClr val="000000"/>
                </a:solidFill>
              </a:rPr>
              <a:t> DSP (C6000, C28x, any NON-ARM device), “LOWER” compiles to “SELF” – so it is not supported. However, “LOWER” does make sense for ARM devices (M3, Cortex-A8, </a:t>
            </a:r>
            <a:r>
              <a:rPr lang="en-US" sz="1200" b="0" i="0" baseline="0" smtClean="0">
                <a:solidFill>
                  <a:srgbClr val="000000"/>
                </a:solidFill>
              </a:rPr>
              <a:t>etc). For M4, only SELF and LOWER are supported.</a:t>
            </a:r>
            <a:endParaRPr lang="en-US" sz="1200" b="0" i="0" dirty="0" smtClean="0">
              <a:solidFill>
                <a:srgbClr val="000000"/>
              </a:solidFill>
            </a:endParaRPr>
          </a:p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7254A-A0D5-410A-95EF-9793C32CDD8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F76D9-8C4F-404E-B421-838159FF4993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7254A-A0D5-410A-95EF-9793C32CDD8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2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4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27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3332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2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20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356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8252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035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6188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6545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341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30759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5610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/>
              <a:pPr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4/24/2015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6.xml"/><Relationship Id="rId2" Type="http://schemas.openxmlformats.org/officeDocument/2006/relationships/tags" Target="../tags/tag4.xml"/><Relationship Id="rId16" Type="http://schemas.openxmlformats.org/officeDocument/2006/relationships/slide" Target="slide23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3.xml"/><Relationship Id="rId5" Type="http://schemas.openxmlformats.org/officeDocument/2006/relationships/tags" Target="../tags/tag7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6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slide" Target="slide6.xml"/><Relationship Id="rId2" Type="http://schemas.openxmlformats.org/officeDocument/2006/relationships/tags" Target="../tags/tag13.xml"/><Relationship Id="rId16" Type="http://schemas.openxmlformats.org/officeDocument/2006/relationships/slide" Target="slide2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" Target="slide3.xml"/><Relationship Id="rId5" Type="http://schemas.openxmlformats.org/officeDocument/2006/relationships/tags" Target="../tags/tag16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15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slide" Target="slide6.xml"/><Relationship Id="rId2" Type="http://schemas.openxmlformats.org/officeDocument/2006/relationships/tags" Target="../tags/tag21.xml"/><Relationship Id="rId16" Type="http://schemas.openxmlformats.org/officeDocument/2006/relationships/slide" Target="slide23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" Target="slide3.xml"/><Relationship Id="rId5" Type="http://schemas.openxmlformats.org/officeDocument/2006/relationships/tags" Target="../tags/tag24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23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slide" Target="slide6.xml"/><Relationship Id="rId2" Type="http://schemas.openxmlformats.org/officeDocument/2006/relationships/tags" Target="../tags/tag33.xml"/><Relationship Id="rId16" Type="http://schemas.openxmlformats.org/officeDocument/2006/relationships/slide" Target="slide2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slide" Target="slide3.xml"/><Relationship Id="rId5" Type="http://schemas.openxmlformats.org/officeDocument/2006/relationships/tags" Target="../tags/tag36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35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slide" Target="slide6.xml"/><Relationship Id="rId2" Type="http://schemas.openxmlformats.org/officeDocument/2006/relationships/tags" Target="../tags/tag42.xml"/><Relationship Id="rId16" Type="http://schemas.openxmlformats.org/officeDocument/2006/relationships/slide" Target="slide23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" Target="slide3.xml"/><Relationship Id="rId5" Type="http://schemas.openxmlformats.org/officeDocument/2006/relationships/tags" Target="../tags/tag45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44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slide" Target="slide6.xml"/><Relationship Id="rId2" Type="http://schemas.openxmlformats.org/officeDocument/2006/relationships/tags" Target="../tags/tag49.xml"/><Relationship Id="rId16" Type="http://schemas.openxmlformats.org/officeDocument/2006/relationships/slide" Target="slide2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slide" Target="slide3.xml"/><Relationship Id="rId5" Type="http://schemas.openxmlformats.org/officeDocument/2006/relationships/tags" Target="../tags/tag52.xml"/><Relationship Id="rId15" Type="http://schemas.openxmlformats.org/officeDocument/2006/relationships/slide" Target="slide20.xml"/><Relationship Id="rId10" Type="http://schemas.openxmlformats.org/officeDocument/2006/relationships/image" Target="../media/image4.png"/><Relationship Id="rId4" Type="http://schemas.openxmlformats.org/officeDocument/2006/relationships/tags" Target="../tags/tag51.xml"/><Relationship Id="rId9" Type="http://schemas.openxmlformats.org/officeDocument/2006/relationships/image" Target="../media/image12.png"/><Relationship Id="rId14" Type="http://schemas.openxmlformats.org/officeDocument/2006/relationships/slide" Target="slide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7.xml"/><Relationship Id="rId5" Type="http://schemas.openxmlformats.org/officeDocument/2006/relationships/image" Target="../media/image4.png"/><Relationship Id="rId4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8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1.xml"/><Relationship Id="rId7" Type="http://schemas.openxmlformats.org/officeDocument/2006/relationships/image" Target="../media/image12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60" y="0"/>
            <a:ext cx="914222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28340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FFFF66"/>
                </a:solidFill>
              </a:rPr>
              <a:t>Objectives</a:t>
            </a:r>
          </a:p>
        </p:txBody>
      </p:sp>
      <p:pic>
        <p:nvPicPr>
          <p:cNvPr id="4100" name="Picture 4" descr="dglxasset[3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762000"/>
            <a:ext cx="8458200" cy="589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663998" y="1672862"/>
            <a:ext cx="5943600" cy="38020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Describe </a:t>
            </a:r>
            <a:r>
              <a:rPr lang="en-US" i="1" u="sng" smtClean="0">
                <a:solidFill>
                  <a:srgbClr val="000000"/>
                </a:solidFill>
                <a:latin typeface="Arial Narrow" pitchFamily="34" charset="0"/>
              </a:rPr>
              <a:t>how interrupts work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 in general and on each architecture</a:t>
            </a: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Learn </a:t>
            </a:r>
            <a:r>
              <a:rPr lang="en-US" dirty="0">
                <a:solidFill>
                  <a:srgbClr val="000000"/>
                </a:solidFill>
                <a:latin typeface="Arial Narrow" pitchFamily="34" charset="0"/>
              </a:rPr>
              <a:t>how to </a:t>
            </a:r>
            <a:r>
              <a:rPr lang="en-US" i="1" u="sng" smtClean="0">
                <a:solidFill>
                  <a:srgbClr val="000000"/>
                </a:solidFill>
                <a:latin typeface="Arial Narrow" pitchFamily="34" charset="0"/>
              </a:rPr>
              <a:t>configure</a:t>
            </a:r>
            <a:r>
              <a:rPr lang="en-US" u="sng" smtClean="0">
                <a:solidFill>
                  <a:srgbClr val="000000"/>
                </a:solidFill>
                <a:latin typeface="Arial Narrow" pitchFamily="34" charset="0"/>
              </a:rPr>
              <a:t> TI-RTOS Hwi’s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 for each architecture (similar and different)</a:t>
            </a:r>
            <a:endParaRPr lang="en-US" u="sng" dirty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Explain how to </a:t>
            </a:r>
            <a:r>
              <a:rPr lang="en-US" i="1" u="sng" smtClean="0">
                <a:solidFill>
                  <a:srgbClr val="000000"/>
                </a:solidFill>
                <a:latin typeface="Arial Narrow" pitchFamily="34" charset="0"/>
              </a:rPr>
              <a:t>nest interrupts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 using TI-RTOS</a:t>
            </a:r>
            <a:endParaRPr lang="en-US" dirty="0" smtClean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i="1" u="sng" smtClean="0">
                <a:solidFill>
                  <a:srgbClr val="000000"/>
                </a:solidFill>
                <a:latin typeface="Arial Narrow" pitchFamily="34" charset="0"/>
              </a:rPr>
              <a:t>Compare/contrast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 kernel-managed interrupts with the interrupt keyword (non-BIOS)</a:t>
            </a:r>
            <a:endParaRPr lang="en-US" dirty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i="1" u="sng" smtClean="0">
                <a:solidFill>
                  <a:srgbClr val="000000"/>
                </a:solidFill>
                <a:latin typeface="Arial Narrow" pitchFamily="34" charset="0"/>
              </a:rPr>
              <a:t>Lab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>
                <a:solidFill>
                  <a:srgbClr val="000000"/>
                </a:solidFill>
                <a:latin typeface="Arial Narrow" pitchFamily="34" charset="0"/>
              </a:rPr>
              <a:t>– </a:t>
            </a:r>
            <a:r>
              <a:rPr lang="en-US" smtClean="0">
                <a:solidFill>
                  <a:srgbClr val="000000"/>
                </a:solidFill>
                <a:latin typeface="Arial Narrow" pitchFamily="34" charset="0"/>
              </a:rPr>
              <a:t>Add an Hwi to respond to a timer interrupt that blinks the LED</a:t>
            </a:r>
            <a:endParaRPr lang="en-US" i="1" u="sng" dirty="0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3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493393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028210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603012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317781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3752616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32741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275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SYS/BIOS </a:t>
            </a:r>
            <a:r>
              <a:rPr lang="en-US" smtClean="0"/>
              <a:t>Thread Types (including Tasks)</a:t>
            </a:r>
            <a:endParaRPr lang="en-US" dirty="0" smtClean="0"/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 rot="-5400000">
            <a:off x="-351705" y="3265404"/>
            <a:ext cx="1295547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Priority</a:t>
            </a:r>
          </a:p>
        </p:txBody>
      </p:sp>
      <p:sp>
        <p:nvSpPr>
          <p:cNvPr id="368645" name="Line 5"/>
          <p:cNvSpPr>
            <a:spLocks noChangeShapeType="1"/>
          </p:cNvSpPr>
          <p:nvPr/>
        </p:nvSpPr>
        <p:spPr bwMode="auto">
          <a:xfrm flipV="1">
            <a:off x="587375" y="626425"/>
            <a:ext cx="0" cy="571500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827088" y="609600"/>
            <a:ext cx="2601912" cy="1319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Hwi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 Interrupts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3443288" y="662050"/>
            <a:ext cx="5699125" cy="1219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tIns="91440" anchor="ctr"/>
          <a:lstStyle/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u="sng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Hardware event</a:t>
            </a:r>
            <a:r>
              <a:rPr lang="en-US" sz="2000" b="0">
                <a:solidFill>
                  <a:srgbClr val="0066FF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triggers Hwi to run</a:t>
            </a: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BIOS handles context save/restore, nesting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 triggers follow-up processing</a:t>
            </a: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Priorities set in silicon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1" name="Rectangle 8"/>
          <p:cNvSpPr>
            <a:spLocks noChangeArrowheads="1"/>
          </p:cNvSpPr>
          <p:nvPr/>
        </p:nvSpPr>
        <p:spPr bwMode="auto">
          <a:xfrm>
            <a:off x="827088" y="2082800"/>
            <a:ext cx="2601912" cy="1319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Swi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Software Interrupts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2" name="Text Box 9"/>
          <p:cNvSpPr txBox="1">
            <a:spLocks noChangeArrowheads="1"/>
          </p:cNvSpPr>
          <p:nvPr/>
        </p:nvSpPr>
        <p:spPr bwMode="auto">
          <a:xfrm>
            <a:off x="3429000" y="2099950"/>
            <a:ext cx="5715000" cy="1319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anchor="ctr"/>
          <a:lstStyle/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Software </a:t>
            </a:r>
            <a:r>
              <a:rPr lang="en-US" sz="2000" b="0" i="1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posts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Swi to run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Performs Hwi 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‘</a:t>
            </a:r>
            <a:r>
              <a:rPr lang="en-US" sz="2000" b="0" i="1" u="sng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follow-up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’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activity (process data)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Up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to 32 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priority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levels (16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on C28x/MSP430)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27088" y="3552700"/>
            <a:ext cx="8316912" cy="1322513"/>
            <a:chOff x="827088" y="3628900"/>
            <a:chExt cx="8316912" cy="1322513"/>
          </a:xfrm>
        </p:grpSpPr>
        <p:sp>
          <p:nvSpPr>
            <p:cNvPr id="11273" name="Rectangle 10"/>
            <p:cNvSpPr>
              <a:spLocks noChangeArrowheads="1"/>
            </p:cNvSpPr>
            <p:nvPr/>
          </p:nvSpPr>
          <p:spPr bwMode="auto">
            <a:xfrm>
              <a:off x="827088" y="3632200"/>
              <a:ext cx="2601912" cy="1319213"/>
            </a:xfrm>
            <a:prstGeom prst="rect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3200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Task</a:t>
              </a:r>
              <a:endParaRPr lang="en-US" sz="32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Tasks</a:t>
              </a:r>
              <a:endPara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274" name="Text Box 11"/>
            <p:cNvSpPr txBox="1">
              <a:spLocks noChangeArrowheads="1"/>
            </p:cNvSpPr>
            <p:nvPr/>
          </p:nvSpPr>
          <p:spPr bwMode="auto">
            <a:xfrm>
              <a:off x="3429000" y="3628900"/>
              <a:ext cx="5715000" cy="1319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274320" anchor="ctr"/>
            <a:lstStyle/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Usually enabled to run by posting a ‘</a:t>
              </a:r>
              <a:r>
                <a:rPr lang="en-US" sz="2000" b="0" i="1" u="sng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semaphore</a:t>
              </a: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’</a:t>
              </a:r>
              <a:b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</a:b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(a task signaling mechanism)</a:t>
              </a:r>
            </a:p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Designed to run concurrently – pauses when waiting for data (semaphore)</a:t>
              </a:r>
              <a:endPara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Up </a:t>
              </a:r>
              <a:r>
                <a:rPr lang="en-US" sz="2000" b="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to 32 </a:t>
              </a:r>
              <a:r>
                <a:rPr lang="en-US" sz="2000" b="0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priority </a:t>
              </a:r>
              <a:r>
                <a:rPr lang="en-US" sz="2000" b="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levels (16 </a:t>
              </a: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on C28x/MSP430)</a:t>
              </a:r>
              <a:endPara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1275" name="Rectangle 12"/>
          <p:cNvSpPr>
            <a:spLocks noChangeArrowheads="1"/>
          </p:cNvSpPr>
          <p:nvPr/>
        </p:nvSpPr>
        <p:spPr bwMode="auto">
          <a:xfrm>
            <a:off x="827088" y="5029200"/>
            <a:ext cx="2601912" cy="13192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Idle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Background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6" name="Text Box 13"/>
          <p:cNvSpPr txBox="1">
            <a:spLocks noChangeArrowheads="1"/>
          </p:cNvSpPr>
          <p:nvPr/>
        </p:nvSpPr>
        <p:spPr bwMode="auto">
          <a:xfrm>
            <a:off x="3429000" y="5029200"/>
            <a:ext cx="5715000" cy="1319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anchor="ctr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Runs as an infinite while(1) loop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Users can assign multiple functions to Idle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Single priority level</a:t>
            </a:r>
          </a:p>
        </p:txBody>
      </p:sp>
      <p:sp>
        <p:nvSpPr>
          <p:cNvPr id="4" name="Leading Question"/>
          <p:cNvSpPr txBox="1"/>
          <p:nvPr/>
        </p:nvSpPr>
        <p:spPr>
          <a:xfrm>
            <a:off x="6330145" y="6424550"/>
            <a:ext cx="2239396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rgbClr val="FF0000"/>
                </a:solidFill>
                <a:latin typeface="Arial Narrow"/>
              </a:rPr>
              <a:t>Hwi and Idle – in code...</a:t>
            </a:r>
            <a:endParaRPr lang="en-US" sz="2000" b="0" dirty="0" smtClean="0">
              <a:solidFill>
                <a:srgbClr val="FF0000"/>
              </a:solidFill>
              <a:latin typeface="Arial Narrow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16934" y="2025868"/>
            <a:ext cx="8276630" cy="2932226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sz="2800" dirty="0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98917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smtClean="0"/>
              <a:t>Foreground / Background Scheduling</a:t>
            </a: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1066800" y="683182"/>
            <a:ext cx="2438400" cy="449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219200" y="835582"/>
            <a:ext cx="2133600" cy="2743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1371600" y="2130982"/>
            <a:ext cx="1828800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1371600" y="987982"/>
            <a:ext cx="18288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371600" y="975282"/>
            <a:ext cx="1905000" cy="2218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70000"/>
              </a:lnSpc>
              <a:tabLst>
                <a:tab pos="227013" algn="l"/>
                <a:tab pos="454025" algn="l"/>
                <a:tab pos="682625" algn="l"/>
                <a:tab pos="909638" algn="l"/>
              </a:tabLst>
            </a:pPr>
            <a:r>
              <a:rPr lang="en-US" sz="2000">
                <a:solidFill>
                  <a:srgbClr val="000000"/>
                </a:solidFill>
              </a:rPr>
              <a:t>main()</a:t>
            </a:r>
          </a:p>
          <a:p>
            <a:pPr>
              <a:lnSpc>
                <a:spcPct val="70000"/>
              </a:lnSpc>
              <a:tabLst>
                <a:tab pos="227013" algn="l"/>
                <a:tab pos="454025" algn="l"/>
                <a:tab pos="682625" algn="l"/>
                <a:tab pos="909638" algn="l"/>
              </a:tabLst>
            </a:pPr>
            <a:r>
              <a:rPr lang="en-US" sz="2000">
                <a:solidFill>
                  <a:srgbClr val="000000"/>
                </a:solidFill>
              </a:rPr>
              <a:t>	{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		init</a:t>
            </a:r>
          </a:p>
          <a:p>
            <a:pPr>
              <a:lnSpc>
                <a:spcPct val="70000"/>
              </a:lnSpc>
              <a:tabLst>
                <a:tab pos="227013" algn="l"/>
                <a:tab pos="454025" algn="l"/>
                <a:tab pos="682625" algn="l"/>
                <a:tab pos="909638" algn="l"/>
              </a:tabLst>
            </a:pPr>
            <a:endParaRPr lang="en-US" sz="2000"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  <a:tabLst>
                <a:tab pos="227013" algn="l"/>
                <a:tab pos="454025" algn="l"/>
                <a:tab pos="682625" algn="l"/>
                <a:tab pos="909638" algn="l"/>
              </a:tabLst>
            </a:pPr>
            <a:r>
              <a:rPr lang="en-US" sz="2000">
                <a:solidFill>
                  <a:srgbClr val="000000"/>
                </a:solidFill>
              </a:rPr>
              <a:t>		while(1)</a:t>
            </a:r>
          </a:p>
          <a:p>
            <a:pPr>
              <a:lnSpc>
                <a:spcPct val="70000"/>
              </a:lnSpc>
              <a:tabLst>
                <a:tab pos="227013" algn="l"/>
                <a:tab pos="454025" algn="l"/>
                <a:tab pos="682625" algn="l"/>
                <a:tab pos="909638" algn="l"/>
              </a:tabLst>
            </a:pPr>
            <a:r>
              <a:rPr lang="en-US" sz="2000">
                <a:solidFill>
                  <a:srgbClr val="000000"/>
                </a:solidFill>
              </a:rPr>
              <a:t>		 nonRT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	}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1219200" y="3731182"/>
            <a:ext cx="2133600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1393825" y="3759757"/>
            <a:ext cx="1592721" cy="12025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0000"/>
              </a:lnSpc>
              <a:tabLst>
                <a:tab pos="227013" algn="l"/>
              </a:tabLst>
            </a:pPr>
            <a:r>
              <a:rPr lang="en-US" sz="2000">
                <a:solidFill>
                  <a:srgbClr val="000000"/>
                </a:solidFill>
              </a:rPr>
              <a:t>ISR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	get buffer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 	process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   printf()</a:t>
            </a:r>
          </a:p>
        </p:txBody>
      </p: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5638800" y="683182"/>
            <a:ext cx="2438400" cy="449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5791200" y="987982"/>
            <a:ext cx="213360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5867400" y="1016557"/>
            <a:ext cx="2134215" cy="13256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227013" algn="l"/>
                <a:tab pos="454025" algn="l"/>
              </a:tabLst>
            </a:pPr>
            <a:r>
              <a:rPr lang="en-US" sz="2000" dirty="0">
                <a:solidFill>
                  <a:srgbClr val="000000"/>
                </a:solidFill>
              </a:rPr>
              <a:t>main()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{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	init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	</a:t>
            </a:r>
            <a:r>
              <a:rPr lang="en-US" sz="2000" dirty="0" err="1" smtClean="0">
                <a:solidFill>
                  <a:srgbClr val="000000"/>
                </a:solidFill>
              </a:rPr>
              <a:t>BIOS_start</a:t>
            </a:r>
            <a:r>
              <a:rPr lang="en-US" sz="2000" dirty="0" smtClean="0">
                <a:solidFill>
                  <a:srgbClr val="000000"/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/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}</a:t>
            </a:r>
          </a:p>
        </p:txBody>
      </p:sp>
      <p:sp>
        <p:nvSpPr>
          <p:cNvPr id="41" name="Line 14"/>
          <p:cNvSpPr>
            <a:spLocks noChangeShapeType="1"/>
          </p:cNvSpPr>
          <p:nvPr/>
        </p:nvSpPr>
        <p:spPr bwMode="auto">
          <a:xfrm>
            <a:off x="3200400" y="1521382"/>
            <a:ext cx="259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Line 15"/>
          <p:cNvSpPr>
            <a:spLocks noChangeShapeType="1"/>
          </p:cNvSpPr>
          <p:nvPr/>
        </p:nvSpPr>
        <p:spPr bwMode="auto">
          <a:xfrm>
            <a:off x="3200400" y="2892982"/>
            <a:ext cx="2590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 rot="5400000">
            <a:off x="5829300" y="2359582"/>
            <a:ext cx="2590800" cy="2819400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ctr">
              <a:lnSpc>
                <a:spcPct val="100000"/>
              </a:lnSpc>
            </a:pPr>
            <a:r>
              <a:rPr lang="en-US" sz="2000" dirty="0" smtClean="0">
                <a:solidFill>
                  <a:schemeClr val="tx2"/>
                </a:solidFill>
              </a:rPr>
              <a:t>Scheduler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>
            <a:off x="5791200" y="3654982"/>
            <a:ext cx="2133600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5867400" y="3683557"/>
            <a:ext cx="1961412" cy="12025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0000"/>
              </a:lnSpc>
              <a:tabLst>
                <a:tab pos="227013" algn="l"/>
              </a:tabLst>
            </a:pPr>
            <a:r>
              <a:rPr lang="en-US" sz="2000" dirty="0" err="1" smtClean="0">
                <a:solidFill>
                  <a:schemeClr val="tx2"/>
                </a:solidFill>
              </a:rPr>
              <a:t>Hwi</a:t>
            </a:r>
            <a:r>
              <a:rPr lang="en-US" sz="2000" dirty="0">
                <a:solidFill>
                  <a:srgbClr val="000000"/>
                </a:solidFill>
              </a:rPr>
              <a:t/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get buffer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process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</a:t>
            </a:r>
            <a:r>
              <a:rPr lang="en-US" sz="2000" dirty="0" smtClean="0">
                <a:solidFill>
                  <a:srgbClr val="000000"/>
                </a:solidFill>
              </a:rPr>
              <a:t>LOG_info1()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6" name="Line 19"/>
          <p:cNvSpPr>
            <a:spLocks noChangeShapeType="1"/>
          </p:cNvSpPr>
          <p:nvPr/>
        </p:nvSpPr>
        <p:spPr bwMode="auto">
          <a:xfrm>
            <a:off x="3352800" y="4416982"/>
            <a:ext cx="24384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5791200" y="2588182"/>
            <a:ext cx="21336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5867400" y="2677082"/>
            <a:ext cx="1935163" cy="8255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227013" algn="l"/>
                <a:tab pos="454025" algn="l"/>
              </a:tabLst>
            </a:pPr>
            <a:r>
              <a:rPr lang="en-US" sz="2000" dirty="0" smtClean="0">
                <a:solidFill>
                  <a:schemeClr val="tx2"/>
                </a:solidFill>
              </a:rPr>
              <a:t>Idle</a:t>
            </a:r>
            <a:r>
              <a:rPr lang="en-US" sz="2000" dirty="0">
                <a:solidFill>
                  <a:srgbClr val="0066FF"/>
                </a:solidFill>
              </a:rPr>
              <a:t/>
            </a:r>
            <a:br>
              <a:rPr lang="en-US" sz="2000" dirty="0">
                <a:solidFill>
                  <a:srgbClr val="0066FF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	</a:t>
            </a:r>
            <a:r>
              <a:rPr lang="en-US" sz="2000" dirty="0" err="1">
                <a:solidFill>
                  <a:srgbClr val="000000"/>
                </a:solidFill>
              </a:rPr>
              <a:t>nonRT</a:t>
            </a:r>
            <a:r>
              <a:rPr lang="en-US" sz="2000" b="0" dirty="0">
                <a:solidFill>
                  <a:srgbClr val="000000"/>
                </a:solidFill>
              </a:rPr>
              <a:t/>
            </a:r>
            <a:br>
              <a:rPr lang="en-US" sz="2000" b="0" dirty="0">
                <a:solidFill>
                  <a:srgbClr val="000000"/>
                </a:solidFill>
              </a:rPr>
            </a:br>
            <a:r>
              <a:rPr lang="en-US" sz="2000" b="0" dirty="0">
                <a:solidFill>
                  <a:srgbClr val="000000"/>
                </a:solidFill>
              </a:rPr>
              <a:t> 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+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instrumentation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533400" y="5288326"/>
            <a:ext cx="8293398" cy="123944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Idle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events run in sequence when no </a:t>
            </a:r>
            <a:r>
              <a:rPr lang="en-US" sz="2000" dirty="0" err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Hwis</a:t>
            </a:r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are posted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dirty="0" err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Hwi</a:t>
            </a:r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is ISR with automatic vector table generation 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+ context save/restore</a:t>
            </a: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Hwi</a:t>
            </a: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performs “process” – typical use is to perform HRT need, then post “follow-up activity”</a:t>
            </a: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3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49339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3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800" y="2068195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603012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317781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3752616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32741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0839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Interrupts Work?</a:t>
            </a:r>
          </a:p>
        </p:txBody>
      </p:sp>
      <p:grpSp>
        <p:nvGrpSpPr>
          <p:cNvPr id="24" name="Group 10"/>
          <p:cNvGrpSpPr>
            <a:grpSpLocks/>
          </p:cNvGrpSpPr>
          <p:nvPr/>
        </p:nvGrpSpPr>
        <p:grpSpPr bwMode="auto">
          <a:xfrm>
            <a:off x="515938" y="4745038"/>
            <a:ext cx="3238500" cy="1214437"/>
            <a:chOff x="325" y="3089"/>
            <a:chExt cx="2040" cy="765"/>
          </a:xfrm>
        </p:grpSpPr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325" y="3089"/>
              <a:ext cx="1522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9144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3716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8288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2860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charset="0"/>
                </a:rPr>
                <a:t>2.  </a:t>
              </a:r>
              <a:r>
                <a:rPr lang="en-US">
                  <a:latin typeface="Calibri" pitchFamily="34" charset="0"/>
                  <a:cs typeface="Calibri" pitchFamily="34" charset="0"/>
                </a:rPr>
                <a:t>Sets a flag in a register</a:t>
              </a: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655" y="3655"/>
              <a:ext cx="1710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774" y="365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>
              <a:off x="897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1020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1139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Box 17"/>
            <p:cNvSpPr txBox="1">
              <a:spLocks noChangeArrowheads="1"/>
            </p:cNvSpPr>
            <p:nvPr/>
          </p:nvSpPr>
          <p:spPr bwMode="auto">
            <a:xfrm>
              <a:off x="1274" y="3597"/>
              <a:ext cx="381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 . .</a:t>
              </a: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>
              <a:off x="1867" y="366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1990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>
              <a:off x="2113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2232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22"/>
            <p:cNvGrpSpPr>
              <a:grpSpLocks/>
            </p:cNvGrpSpPr>
            <p:nvPr/>
          </p:nvGrpSpPr>
          <p:grpSpPr bwMode="auto">
            <a:xfrm>
              <a:off x="2018" y="3230"/>
              <a:ext cx="269" cy="549"/>
              <a:chOff x="895" y="1621"/>
              <a:chExt cx="644" cy="1582"/>
            </a:xfrm>
          </p:grpSpPr>
          <p:sp>
            <p:nvSpPr>
              <p:cNvPr id="37" name="Line 23"/>
              <p:cNvSpPr>
                <a:spLocks noChangeShapeType="1"/>
              </p:cNvSpPr>
              <p:nvPr/>
            </p:nvSpPr>
            <p:spPr bwMode="auto">
              <a:xfrm>
                <a:off x="954" y="1686"/>
                <a:ext cx="9" cy="151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Oval 24"/>
              <p:cNvSpPr>
                <a:spLocks noChangeArrowheads="1"/>
              </p:cNvSpPr>
              <p:nvPr/>
            </p:nvSpPr>
            <p:spPr bwMode="auto">
              <a:xfrm>
                <a:off x="895" y="1621"/>
                <a:ext cx="106" cy="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utoShape 25"/>
              <p:cNvSpPr>
                <a:spLocks noChangeArrowheads="1"/>
              </p:cNvSpPr>
              <p:nvPr/>
            </p:nvSpPr>
            <p:spPr bwMode="auto">
              <a:xfrm>
                <a:off x="963" y="1670"/>
                <a:ext cx="576" cy="576"/>
              </a:xfrm>
              <a:prstGeom prst="wave">
                <a:avLst>
                  <a:gd name="adj1" fmla="val 13005"/>
                  <a:gd name="adj2" fmla="val 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0" name="Group 39"/>
          <p:cNvGrpSpPr/>
          <p:nvPr/>
        </p:nvGrpSpPr>
        <p:grpSpPr>
          <a:xfrm>
            <a:off x="527050" y="762000"/>
            <a:ext cx="2432348" cy="3548870"/>
            <a:chOff x="527050" y="920750"/>
            <a:chExt cx="2432348" cy="3548870"/>
          </a:xfrm>
        </p:grpSpPr>
        <p:pic>
          <p:nvPicPr>
            <p:cNvPr id="41" name="Picture 14" descr="DD00943_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265" y="1633538"/>
              <a:ext cx="1682735" cy="171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743248" y="2832249"/>
              <a:ext cx="2216150" cy="1637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indent="23177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UART</a:t>
              </a:r>
              <a:endParaRPr lang="en-US" sz="2000" b="0">
                <a:latin typeface="Calibri" pitchFamily="34" charset="0"/>
                <a:cs typeface="Calibri" pitchFamily="34" charset="0"/>
              </a:endParaRP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GPIO</a:t>
              </a:r>
              <a:endParaRPr lang="en-US" sz="2000" b="0">
                <a:latin typeface="Calibri" pitchFamily="34" charset="0"/>
                <a:cs typeface="Calibri" pitchFamily="34" charset="0"/>
              </a:endParaRP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Timers</a:t>
              </a: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Ext pins</a:t>
              </a: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Etc.</a:t>
              </a:r>
            </a:p>
          </p:txBody>
        </p:sp>
        <p:sp>
          <p:nvSpPr>
            <p:cNvPr id="43" name="Text Box 13"/>
            <p:cNvSpPr txBox="1">
              <a:spLocks noChangeArrowheads="1"/>
            </p:cNvSpPr>
            <p:nvPr/>
          </p:nvSpPr>
          <p:spPr bwMode="auto">
            <a:xfrm>
              <a:off x="527050" y="920750"/>
              <a:ext cx="2416175" cy="683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9144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3716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8288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2860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en-US">
                  <a:latin typeface="Calibri" pitchFamily="34" charset="0"/>
                  <a:cs typeface="Calibri" pitchFamily="34" charset="0"/>
                </a:rPr>
                <a:t>An interrupt occurs</a:t>
              </a:r>
            </a:p>
          </p:txBody>
        </p:sp>
      </p:grpSp>
      <p:sp>
        <p:nvSpPr>
          <p:cNvPr id="3" name="Leading Question"/>
          <p:cNvSpPr txBox="1"/>
          <p:nvPr/>
        </p:nvSpPr>
        <p:spPr>
          <a:xfrm>
            <a:off x="5791200" y="6233642"/>
            <a:ext cx="279243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How are interrupts "enabled"?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45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525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Receiving Interrupts</a:t>
            </a:r>
            <a:r>
              <a:rPr lang="en-US">
                <a:latin typeface="Arial Narrow" pitchFamily="34" charset="0"/>
              </a:rPr>
              <a:t> (</a:t>
            </a:r>
            <a:r>
              <a:rPr lang="en-US" sz="2800">
                <a:latin typeface="Arial Narrow" pitchFamily="34" charset="0"/>
              </a:rPr>
              <a:t>with BIOS Functions</a:t>
            </a:r>
            <a:r>
              <a:rPr lang="en-US">
                <a:latin typeface="Arial Narrow" pitchFamily="34" charset="0"/>
              </a:rPr>
              <a:t>)</a:t>
            </a:r>
          </a:p>
        </p:txBody>
      </p:sp>
      <p:sp>
        <p:nvSpPr>
          <p:cNvPr id="227332" name="Rectangle 4"/>
          <p:cNvSpPr>
            <a:spLocks noChangeArrowheads="1"/>
          </p:cNvSpPr>
          <p:nvPr/>
        </p:nvSpPr>
        <p:spPr bwMode="auto">
          <a:xfrm>
            <a:off x="1585913" y="730101"/>
            <a:ext cx="1389062" cy="2954337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2974975" y="730101"/>
            <a:ext cx="5387975" cy="29543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34" name="Rectangle 6"/>
          <p:cNvSpPr>
            <a:spLocks noChangeArrowheads="1"/>
          </p:cNvSpPr>
          <p:nvPr/>
        </p:nvSpPr>
        <p:spPr bwMode="auto">
          <a:xfrm>
            <a:off x="3229492" y="814238"/>
            <a:ext cx="1370567" cy="103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Ctr="1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IER</a:t>
            </a:r>
            <a:endParaRPr lang="en-US"/>
          </a:p>
          <a:p>
            <a:pPr algn="ctr"/>
            <a:r>
              <a:rPr lang="en-US" sz="2000"/>
              <a:t>“</a:t>
            </a:r>
            <a:r>
              <a:rPr lang="en-US" sz="2000">
                <a:latin typeface="Calibri" pitchFamily="34" charset="0"/>
                <a:cs typeface="Calibri" pitchFamily="34" charset="0"/>
              </a:rPr>
              <a:t>Individual</a:t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r>
              <a:rPr lang="en-US" sz="2000">
                <a:latin typeface="Calibri" pitchFamily="34" charset="0"/>
                <a:cs typeface="Calibri" pitchFamily="34" charset="0"/>
              </a:rPr>
              <a:t>  Enable</a:t>
            </a:r>
            <a:r>
              <a:rPr lang="en-US" sz="2000"/>
              <a:t>”</a:t>
            </a:r>
          </a:p>
        </p:txBody>
      </p:sp>
      <p:sp>
        <p:nvSpPr>
          <p:cNvPr id="227335" name="Rectangle 7"/>
          <p:cNvSpPr>
            <a:spLocks noChangeArrowheads="1"/>
          </p:cNvSpPr>
          <p:nvPr/>
        </p:nvSpPr>
        <p:spPr bwMode="auto">
          <a:xfrm>
            <a:off x="4964347" y="814238"/>
            <a:ext cx="1264769" cy="103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GIE</a:t>
            </a:r>
          </a:p>
          <a:p>
            <a:pPr algn="ctr"/>
            <a:r>
              <a:rPr lang="en-US" sz="2000"/>
              <a:t>“</a:t>
            </a:r>
            <a:r>
              <a:rPr lang="en-US" sz="2000">
                <a:latin typeface="Calibri" pitchFamily="34" charset="0"/>
                <a:cs typeface="Calibri" pitchFamily="34" charset="0"/>
              </a:rPr>
              <a:t>Master</a:t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r>
              <a:rPr lang="en-US" sz="2000">
                <a:latin typeface="Calibri" pitchFamily="34" charset="0"/>
                <a:cs typeface="Calibri" pitchFamily="34" charset="0"/>
              </a:rPr>
              <a:t>    Enable</a:t>
            </a:r>
            <a:r>
              <a:rPr lang="en-US" sz="2000"/>
              <a:t>”</a:t>
            </a:r>
          </a:p>
        </p:txBody>
      </p:sp>
      <p:sp>
        <p:nvSpPr>
          <p:cNvPr id="227336" name="Rectangle 8"/>
          <p:cNvSpPr>
            <a:spLocks noChangeArrowheads="1"/>
          </p:cNvSpPr>
          <p:nvPr/>
        </p:nvSpPr>
        <p:spPr bwMode="auto">
          <a:xfrm>
            <a:off x="5253038" y="1836588"/>
            <a:ext cx="673100" cy="15875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7" name="Rectangle 9"/>
          <p:cNvSpPr>
            <a:spLocks noChangeArrowheads="1"/>
          </p:cNvSpPr>
          <p:nvPr/>
        </p:nvSpPr>
        <p:spPr bwMode="auto">
          <a:xfrm>
            <a:off x="7018338" y="1842938"/>
            <a:ext cx="1041400" cy="1574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800" smtClean="0">
                <a:latin typeface="Arial Narrow" pitchFamily="34" charset="0"/>
              </a:rPr>
              <a:t>CPU</a:t>
            </a:r>
            <a:endParaRPr lang="en-US" sz="2800"/>
          </a:p>
        </p:txBody>
      </p:sp>
      <p:sp>
        <p:nvSpPr>
          <p:cNvPr id="227338" name="Line 10"/>
          <p:cNvSpPr>
            <a:spLocks noChangeShapeType="1"/>
          </p:cNvSpPr>
          <p:nvPr/>
        </p:nvSpPr>
        <p:spPr bwMode="auto">
          <a:xfrm flipV="1">
            <a:off x="5411788" y="2468413"/>
            <a:ext cx="381000" cy="152400"/>
          </a:xfrm>
          <a:prstGeom prst="line">
            <a:avLst/>
          </a:prstGeom>
          <a:noFill/>
          <a:ln w="253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39" name="Oval 11"/>
          <p:cNvSpPr>
            <a:spLocks noChangeArrowheads="1"/>
          </p:cNvSpPr>
          <p:nvPr/>
        </p:nvSpPr>
        <p:spPr bwMode="auto">
          <a:xfrm>
            <a:off x="5346700" y="2598588"/>
            <a:ext cx="63500" cy="63500"/>
          </a:xfrm>
          <a:prstGeom prst="ellipse">
            <a:avLst/>
          </a:prstGeom>
          <a:solidFill>
            <a:schemeClr val="tx1"/>
          </a:solidFill>
          <a:ln w="12699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40" name="Oval 12"/>
          <p:cNvSpPr>
            <a:spLocks noChangeArrowheads="1"/>
          </p:cNvSpPr>
          <p:nvPr/>
        </p:nvSpPr>
        <p:spPr bwMode="auto">
          <a:xfrm>
            <a:off x="5770563" y="2598588"/>
            <a:ext cx="63500" cy="63500"/>
          </a:xfrm>
          <a:prstGeom prst="ellipse">
            <a:avLst/>
          </a:prstGeom>
          <a:solidFill>
            <a:schemeClr val="tx1"/>
          </a:solidFill>
          <a:ln w="12699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7341" name="Group 13"/>
          <p:cNvGrpSpPr>
            <a:grpSpLocks/>
          </p:cNvGrpSpPr>
          <p:nvPr/>
        </p:nvGrpSpPr>
        <p:grpSpPr bwMode="auto">
          <a:xfrm>
            <a:off x="3670300" y="2435076"/>
            <a:ext cx="487363" cy="193675"/>
            <a:chOff x="2363" y="1485"/>
            <a:chExt cx="307" cy="122"/>
          </a:xfrm>
        </p:grpSpPr>
        <p:sp>
          <p:nvSpPr>
            <p:cNvPr id="227342" name="Line 14"/>
            <p:cNvSpPr>
              <a:spLocks noChangeShapeType="1"/>
            </p:cNvSpPr>
            <p:nvPr/>
          </p:nvSpPr>
          <p:spPr bwMode="auto">
            <a:xfrm flipV="1">
              <a:off x="2404" y="1485"/>
              <a:ext cx="240" cy="96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3" name="Oval 15"/>
            <p:cNvSpPr>
              <a:spLocks noChangeArrowheads="1"/>
            </p:cNvSpPr>
            <p:nvPr/>
          </p:nvSpPr>
          <p:spPr bwMode="auto">
            <a:xfrm>
              <a:off x="2363" y="1567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4" name="Oval 16"/>
            <p:cNvSpPr>
              <a:spLocks noChangeArrowheads="1"/>
            </p:cNvSpPr>
            <p:nvPr/>
          </p:nvSpPr>
          <p:spPr bwMode="auto">
            <a:xfrm>
              <a:off x="2630" y="1567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7345" name="Group 17"/>
          <p:cNvGrpSpPr>
            <a:grpSpLocks/>
          </p:cNvGrpSpPr>
          <p:nvPr/>
        </p:nvGrpSpPr>
        <p:grpSpPr bwMode="auto">
          <a:xfrm>
            <a:off x="3670300" y="1914376"/>
            <a:ext cx="487363" cy="193675"/>
            <a:chOff x="2363" y="1157"/>
            <a:chExt cx="307" cy="122"/>
          </a:xfrm>
        </p:grpSpPr>
        <p:sp>
          <p:nvSpPr>
            <p:cNvPr id="227346" name="Line 18"/>
            <p:cNvSpPr>
              <a:spLocks noChangeShapeType="1"/>
            </p:cNvSpPr>
            <p:nvPr/>
          </p:nvSpPr>
          <p:spPr bwMode="auto">
            <a:xfrm flipV="1">
              <a:off x="2404" y="1157"/>
              <a:ext cx="240" cy="96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7" name="Oval 19"/>
            <p:cNvSpPr>
              <a:spLocks noChangeArrowheads="1"/>
            </p:cNvSpPr>
            <p:nvPr/>
          </p:nvSpPr>
          <p:spPr bwMode="auto">
            <a:xfrm>
              <a:off x="2363" y="1239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48" name="Oval 20"/>
            <p:cNvSpPr>
              <a:spLocks noChangeArrowheads="1"/>
            </p:cNvSpPr>
            <p:nvPr/>
          </p:nvSpPr>
          <p:spPr bwMode="auto">
            <a:xfrm>
              <a:off x="2630" y="1239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7349" name="Group 21"/>
          <p:cNvGrpSpPr>
            <a:grpSpLocks/>
          </p:cNvGrpSpPr>
          <p:nvPr/>
        </p:nvGrpSpPr>
        <p:grpSpPr bwMode="auto">
          <a:xfrm>
            <a:off x="3670300" y="3044676"/>
            <a:ext cx="487363" cy="193675"/>
            <a:chOff x="2363" y="1869"/>
            <a:chExt cx="307" cy="122"/>
          </a:xfrm>
        </p:grpSpPr>
        <p:sp>
          <p:nvSpPr>
            <p:cNvPr id="227350" name="Line 22"/>
            <p:cNvSpPr>
              <a:spLocks noChangeShapeType="1"/>
            </p:cNvSpPr>
            <p:nvPr/>
          </p:nvSpPr>
          <p:spPr bwMode="auto">
            <a:xfrm flipV="1">
              <a:off x="2404" y="1869"/>
              <a:ext cx="240" cy="96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1" name="Oval 23"/>
            <p:cNvSpPr>
              <a:spLocks noChangeArrowheads="1"/>
            </p:cNvSpPr>
            <p:nvPr/>
          </p:nvSpPr>
          <p:spPr bwMode="auto">
            <a:xfrm>
              <a:off x="2363" y="1951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2" name="Oval 24"/>
            <p:cNvSpPr>
              <a:spLocks noChangeArrowheads="1"/>
            </p:cNvSpPr>
            <p:nvPr/>
          </p:nvSpPr>
          <p:spPr bwMode="auto">
            <a:xfrm>
              <a:off x="2630" y="1951"/>
              <a:ext cx="40" cy="40"/>
            </a:xfrm>
            <a:prstGeom prst="ellipse">
              <a:avLst/>
            </a:prstGeom>
            <a:solidFill>
              <a:schemeClr val="tx1"/>
            </a:solidFill>
            <a:ln w="12699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7353" name="Group 25"/>
          <p:cNvGrpSpPr>
            <a:grpSpLocks/>
          </p:cNvGrpSpPr>
          <p:nvPr/>
        </p:nvGrpSpPr>
        <p:grpSpPr bwMode="auto">
          <a:xfrm>
            <a:off x="2463800" y="2069951"/>
            <a:ext cx="1198563" cy="1143000"/>
            <a:chOff x="1489" y="1767"/>
            <a:chExt cx="432" cy="720"/>
          </a:xfrm>
        </p:grpSpPr>
        <p:sp>
          <p:nvSpPr>
            <p:cNvPr id="227354" name="Line 26"/>
            <p:cNvSpPr>
              <a:spLocks noChangeShapeType="1"/>
            </p:cNvSpPr>
            <p:nvPr/>
          </p:nvSpPr>
          <p:spPr bwMode="auto">
            <a:xfrm>
              <a:off x="1489" y="1767"/>
              <a:ext cx="432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5" name="Line 27"/>
            <p:cNvSpPr>
              <a:spLocks noChangeShapeType="1"/>
            </p:cNvSpPr>
            <p:nvPr/>
          </p:nvSpPr>
          <p:spPr bwMode="auto">
            <a:xfrm>
              <a:off x="1489" y="2103"/>
              <a:ext cx="432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56" name="Line 28"/>
            <p:cNvSpPr>
              <a:spLocks noChangeShapeType="1"/>
            </p:cNvSpPr>
            <p:nvPr/>
          </p:nvSpPr>
          <p:spPr bwMode="auto">
            <a:xfrm>
              <a:off x="1489" y="2487"/>
              <a:ext cx="432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7357" name="Line 29"/>
          <p:cNvSpPr>
            <a:spLocks noChangeShapeType="1"/>
          </p:cNvSpPr>
          <p:nvPr/>
        </p:nvSpPr>
        <p:spPr bwMode="auto">
          <a:xfrm>
            <a:off x="4186238" y="20588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58" name="Line 30"/>
          <p:cNvSpPr>
            <a:spLocks noChangeShapeType="1"/>
          </p:cNvSpPr>
          <p:nvPr/>
        </p:nvSpPr>
        <p:spPr bwMode="auto">
          <a:xfrm>
            <a:off x="4186238" y="25922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59" name="Line 31"/>
          <p:cNvSpPr>
            <a:spLocks noChangeShapeType="1"/>
          </p:cNvSpPr>
          <p:nvPr/>
        </p:nvSpPr>
        <p:spPr bwMode="auto">
          <a:xfrm>
            <a:off x="4186238" y="32018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0" name="Line 32"/>
          <p:cNvSpPr>
            <a:spLocks noChangeShapeType="1"/>
          </p:cNvSpPr>
          <p:nvPr/>
        </p:nvSpPr>
        <p:spPr bwMode="auto">
          <a:xfrm>
            <a:off x="5938838" y="20588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1" name="Line 33"/>
          <p:cNvSpPr>
            <a:spLocks noChangeShapeType="1"/>
          </p:cNvSpPr>
          <p:nvPr/>
        </p:nvSpPr>
        <p:spPr bwMode="auto">
          <a:xfrm>
            <a:off x="5938838" y="25922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2" name="Line 34"/>
          <p:cNvSpPr>
            <a:spLocks noChangeShapeType="1"/>
          </p:cNvSpPr>
          <p:nvPr/>
        </p:nvSpPr>
        <p:spPr bwMode="auto">
          <a:xfrm>
            <a:off x="5938838" y="3201838"/>
            <a:ext cx="1066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3" name="Rectangle 35"/>
          <p:cNvSpPr>
            <a:spLocks noChangeArrowheads="1"/>
          </p:cNvSpPr>
          <p:nvPr/>
        </p:nvSpPr>
        <p:spPr bwMode="auto">
          <a:xfrm>
            <a:off x="1705030" y="814238"/>
            <a:ext cx="1150828" cy="103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Ctr="1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IFR</a:t>
            </a:r>
            <a:endParaRPr lang="en-US"/>
          </a:p>
          <a:p>
            <a:pPr algn="ctr"/>
            <a:r>
              <a:rPr lang="en-US" sz="2000">
                <a:latin typeface="Calibri" pitchFamily="34" charset="0"/>
                <a:cs typeface="Calibri" pitchFamily="34" charset="0"/>
              </a:rPr>
              <a:t>Interrupt</a:t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r>
              <a:rPr lang="en-US" sz="2000">
                <a:latin typeface="Calibri" pitchFamily="34" charset="0"/>
                <a:cs typeface="Calibri" pitchFamily="34" charset="0"/>
              </a:rPr>
              <a:t>Flag</a:t>
            </a:r>
          </a:p>
        </p:txBody>
      </p:sp>
      <p:sp>
        <p:nvSpPr>
          <p:cNvPr id="227364" name="Rectangle 36"/>
          <p:cNvSpPr>
            <a:spLocks noChangeArrowheads="1"/>
          </p:cNvSpPr>
          <p:nvPr/>
        </p:nvSpPr>
        <p:spPr bwMode="auto">
          <a:xfrm>
            <a:off x="2095500" y="1912788"/>
            <a:ext cx="368300" cy="292100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0</a:t>
            </a:r>
          </a:p>
        </p:txBody>
      </p:sp>
      <p:sp>
        <p:nvSpPr>
          <p:cNvPr id="227365" name="Rectangle 37"/>
          <p:cNvSpPr>
            <a:spLocks noChangeArrowheads="1"/>
          </p:cNvSpPr>
          <p:nvPr/>
        </p:nvSpPr>
        <p:spPr bwMode="auto">
          <a:xfrm>
            <a:off x="2095500" y="2446188"/>
            <a:ext cx="368300" cy="292100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 b="0"/>
              <a:t>1</a:t>
            </a:r>
            <a:endParaRPr lang="en-US" sz="2800" b="0"/>
          </a:p>
        </p:txBody>
      </p:sp>
      <p:sp>
        <p:nvSpPr>
          <p:cNvPr id="227366" name="Rectangle 38"/>
          <p:cNvSpPr>
            <a:spLocks noChangeArrowheads="1"/>
          </p:cNvSpPr>
          <p:nvPr/>
        </p:nvSpPr>
        <p:spPr bwMode="auto">
          <a:xfrm>
            <a:off x="2095500" y="3055788"/>
            <a:ext cx="368300" cy="292100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0</a:t>
            </a:r>
          </a:p>
        </p:txBody>
      </p:sp>
      <p:sp>
        <p:nvSpPr>
          <p:cNvPr id="227367" name="Line 39"/>
          <p:cNvSpPr>
            <a:spLocks noChangeShapeType="1"/>
          </p:cNvSpPr>
          <p:nvPr/>
        </p:nvSpPr>
        <p:spPr bwMode="auto">
          <a:xfrm>
            <a:off x="1409700" y="2058838"/>
            <a:ext cx="685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8" name="Line 40"/>
          <p:cNvSpPr>
            <a:spLocks noChangeShapeType="1"/>
          </p:cNvSpPr>
          <p:nvPr/>
        </p:nvSpPr>
        <p:spPr bwMode="auto">
          <a:xfrm>
            <a:off x="1409700" y="259223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69" name="Line 41"/>
          <p:cNvSpPr>
            <a:spLocks noChangeShapeType="1"/>
          </p:cNvSpPr>
          <p:nvPr/>
        </p:nvSpPr>
        <p:spPr bwMode="auto">
          <a:xfrm>
            <a:off x="1409700" y="3201838"/>
            <a:ext cx="68580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7370" name="Rectangle 42"/>
          <p:cNvSpPr>
            <a:spLocks noChangeArrowheads="1"/>
          </p:cNvSpPr>
          <p:nvPr/>
        </p:nvSpPr>
        <p:spPr bwMode="auto">
          <a:xfrm>
            <a:off x="495808" y="2433488"/>
            <a:ext cx="8996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2000" smtClean="0">
                <a:solidFill>
                  <a:schemeClr val="tx2"/>
                </a:solidFill>
              </a:rPr>
              <a:t>UART</a:t>
            </a:r>
            <a:endParaRPr lang="en-US" sz="2000">
              <a:solidFill>
                <a:schemeClr val="tx2"/>
              </a:solidFill>
            </a:endParaRPr>
          </a:p>
        </p:txBody>
      </p:sp>
      <p:sp>
        <p:nvSpPr>
          <p:cNvPr id="227372" name="AutoShape 44"/>
          <p:cNvSpPr>
            <a:spLocks noChangeArrowheads="1"/>
          </p:cNvSpPr>
          <p:nvPr/>
        </p:nvSpPr>
        <p:spPr bwMode="auto">
          <a:xfrm>
            <a:off x="881883" y="5241880"/>
            <a:ext cx="3486541" cy="149147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91440" rIns="92075" bIns="91440">
            <a:spAutoFit/>
          </a:bodyPr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1543050" algn="ctr"/>
                <a:tab pos="5824538" algn="ctr"/>
              </a:tabLst>
            </a:pP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Interrupt Enable Reg</a:t>
            </a:r>
            <a:r>
              <a:rPr lang="en-US" sz="2000">
                <a:latin typeface="Calibri" pitchFamily="34" charset="0"/>
                <a:cs typeface="Calibri" pitchFamily="34" charset="0"/>
              </a:rPr>
              <a:t> (IER)</a:t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r>
              <a:rPr lang="en-US" sz="2000">
                <a:latin typeface="Calibri" pitchFamily="34" charset="0"/>
                <a:cs typeface="Calibri" pitchFamily="34" charset="0"/>
              </a:rPr>
              <a:t>turns on individual ints</a:t>
            </a: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1543050" algn="ctr"/>
                <a:tab pos="5824538" algn="ctr"/>
              </a:tabLst>
            </a:pPr>
            <a:r>
              <a:rPr lang="en-US" sz="1800" b="0" smtClean="0">
                <a:latin typeface="Courier New" pitchFamily="49" charset="0"/>
              </a:rPr>
              <a:t>Hwi_disableInterrupt();</a:t>
            </a:r>
            <a:endParaRPr lang="en-US" sz="1800" b="0">
              <a:latin typeface="Courier New" pitchFamily="49" charset="0"/>
            </a:endParaRP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1543050" algn="ctr"/>
                <a:tab pos="5824538" algn="ctr"/>
              </a:tabLst>
            </a:pPr>
            <a:r>
              <a:rPr lang="en-US" sz="1800" b="0" smtClean="0">
                <a:latin typeface="Courier New" pitchFamily="49" charset="0"/>
              </a:rPr>
              <a:t>Hwi_enableInterrupt();</a:t>
            </a:r>
            <a:endParaRPr lang="en-US" sz="1800" b="0">
              <a:latin typeface="Courier New" pitchFamily="49" charset="0"/>
            </a:endParaRPr>
          </a:p>
        </p:txBody>
      </p:sp>
      <p:sp>
        <p:nvSpPr>
          <p:cNvPr id="227375" name="Line 47"/>
          <p:cNvSpPr>
            <a:spLocks noChangeShapeType="1"/>
          </p:cNvSpPr>
          <p:nvPr/>
        </p:nvSpPr>
        <p:spPr bwMode="auto">
          <a:xfrm flipV="1">
            <a:off x="5584825" y="3436788"/>
            <a:ext cx="0" cy="1085850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7384" name="Rectangle 56"/>
          <p:cNvSpPr>
            <a:spLocks noChangeArrowheads="1"/>
          </p:cNvSpPr>
          <p:nvPr/>
        </p:nvSpPr>
        <p:spPr bwMode="auto">
          <a:xfrm>
            <a:off x="571148" y="1855638"/>
            <a:ext cx="82426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2000" smtClean="0">
                <a:solidFill>
                  <a:schemeClr val="tx2"/>
                </a:solidFill>
              </a:rPr>
              <a:t>GPIO</a:t>
            </a:r>
            <a:endParaRPr lang="en-US" sz="2000">
              <a:solidFill>
                <a:schemeClr val="tx2"/>
              </a:solidFill>
            </a:endParaRPr>
          </a:p>
        </p:txBody>
      </p:sp>
      <p:sp>
        <p:nvSpPr>
          <p:cNvPr id="227385" name="Rectangle 57"/>
          <p:cNvSpPr>
            <a:spLocks noChangeArrowheads="1"/>
          </p:cNvSpPr>
          <p:nvPr/>
        </p:nvSpPr>
        <p:spPr bwMode="auto">
          <a:xfrm>
            <a:off x="520700" y="3046263"/>
            <a:ext cx="874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2000">
                <a:solidFill>
                  <a:schemeClr val="tx2"/>
                </a:solidFill>
              </a:rPr>
              <a:t>etc …</a:t>
            </a:r>
          </a:p>
        </p:txBody>
      </p:sp>
      <p:sp>
        <p:nvSpPr>
          <p:cNvPr id="227388" name="AutoShape 60"/>
          <p:cNvSpPr>
            <a:spLocks noChangeArrowheads="1"/>
          </p:cNvSpPr>
          <p:nvPr/>
        </p:nvSpPr>
        <p:spPr bwMode="auto">
          <a:xfrm>
            <a:off x="245748" y="3830710"/>
            <a:ext cx="2959731" cy="126673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  <a:alpha val="50000"/>
            </a:schemeClr>
          </a:solidFill>
          <a:ln w="9525">
            <a:solidFill>
              <a:srgbClr val="C0C0C0"/>
            </a:solidFill>
            <a:round/>
            <a:headEnd/>
            <a:tailEnd/>
          </a:ln>
          <a:effectLst/>
          <a:extLst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Interrupt Flag Reg</a:t>
            </a:r>
            <a:r>
              <a:rPr lang="en-US" sz="2000">
                <a:latin typeface="Calibri" pitchFamily="34" charset="0"/>
                <a:cs typeface="Calibri" pitchFamily="34" charset="0"/>
              </a:rPr>
              <a:t> (IFR)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>
                <a:latin typeface="Calibri" pitchFamily="34" charset="0"/>
                <a:cs typeface="Calibri" pitchFamily="34" charset="0"/>
              </a:rPr>
              <a:t>bit set when int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occurs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1800" b="0" smtClean="0">
                <a:solidFill>
                  <a:srgbClr val="000000"/>
                </a:solidFill>
                <a:latin typeface="Courier New" pitchFamily="49" charset="0"/>
              </a:rPr>
              <a:t>Hwi_post();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1800" b="0" smtClean="0">
                <a:solidFill>
                  <a:srgbClr val="000000"/>
                </a:solidFill>
                <a:latin typeface="Courier New" pitchFamily="49" charset="0"/>
                <a:cs typeface="Calibri" pitchFamily="34" charset="0"/>
              </a:rPr>
              <a:t>Hwi_clearInterrupt()</a:t>
            </a:r>
            <a:endParaRPr lang="en-US" sz="20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7389" name="Line 61"/>
          <p:cNvSpPr>
            <a:spLocks noChangeShapeType="1"/>
          </p:cNvSpPr>
          <p:nvPr/>
        </p:nvSpPr>
        <p:spPr bwMode="auto">
          <a:xfrm flipV="1">
            <a:off x="2270125" y="3590776"/>
            <a:ext cx="0" cy="398462"/>
          </a:xfrm>
          <a:prstGeom prst="line">
            <a:avLst/>
          </a:prstGeom>
          <a:noFill/>
          <a:ln w="28575" cap="rnd">
            <a:solidFill>
              <a:schemeClr val="tx2"/>
            </a:solidFill>
            <a:prstDash val="sysDot"/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7374" name="AutoShape 46"/>
          <p:cNvSpPr>
            <a:spLocks noChangeArrowheads="1"/>
          </p:cNvSpPr>
          <p:nvPr/>
        </p:nvSpPr>
        <p:spPr bwMode="auto">
          <a:xfrm>
            <a:off x="4738184" y="4281338"/>
            <a:ext cx="3948616" cy="1804749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C0C0C0"/>
            </a:solidFill>
            <a:round/>
            <a:headEnd/>
            <a:tailEnd/>
          </a:ln>
          <a:effectLst/>
          <a:extLst/>
        </p:spPr>
        <p:txBody>
          <a:bodyPr wrap="none" lIns="45720" rIns="45720">
            <a:spAutoFit/>
          </a:bodyPr>
          <a:lstStyle/>
          <a:p>
            <a:pPr algn="ctr">
              <a:lnSpc>
                <a:spcPct val="95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Global </a:t>
            </a: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Interrupt Enable</a:t>
            </a:r>
            <a:r>
              <a:rPr lang="en-US" sz="2000">
                <a:latin typeface="Calibri" pitchFamily="34" charset="0"/>
                <a:cs typeface="Calibri" pitchFamily="34" charset="0"/>
              </a:rPr>
              <a:t> (GIE) </a:t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r>
              <a:rPr lang="en-US" sz="2000" smtClean="0">
                <a:latin typeface="Calibri" pitchFamily="34" charset="0"/>
                <a:cs typeface="Calibri" pitchFamily="34" charset="0"/>
              </a:rPr>
              <a:t>Enables ALL </a:t>
            </a:r>
            <a:r>
              <a:rPr lang="en-US" sz="2000">
                <a:latin typeface="Calibri" pitchFamily="34" charset="0"/>
                <a:cs typeface="Calibri" pitchFamily="34" charset="0"/>
              </a:rPr>
              <a:t>	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IER-enabled </a:t>
            </a:r>
            <a:r>
              <a:rPr lang="en-US" sz="2000">
                <a:latin typeface="Calibri" pitchFamily="34" charset="0"/>
                <a:cs typeface="Calibri" pitchFamily="34" charset="0"/>
              </a:rPr>
              <a:t>interrupts</a:t>
            </a:r>
          </a:p>
          <a:p>
            <a:pPr algn="ctr">
              <a:lnSpc>
                <a:spcPct val="10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 b="0" smtClean="0">
                <a:latin typeface="Courier New" pitchFamily="49" charset="0"/>
              </a:rPr>
              <a:t>Hwi_enable</a:t>
            </a:r>
            <a:r>
              <a:rPr lang="en-US" sz="2000" b="0">
                <a:latin typeface="Courier New" pitchFamily="49" charset="0"/>
              </a:rPr>
              <a:t>()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 b="0" smtClean="0">
                <a:latin typeface="Courier New" pitchFamily="49" charset="0"/>
              </a:rPr>
              <a:t>Hwi_disable</a:t>
            </a:r>
            <a:r>
              <a:rPr lang="en-US" sz="2000" b="0">
                <a:latin typeface="Courier New" pitchFamily="49" charset="0"/>
              </a:rPr>
              <a:t>()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  <a:tabLst>
                <a:tab pos="2060575" algn="ctr"/>
                <a:tab pos="5824538" algn="ctr"/>
              </a:tabLst>
            </a:pPr>
            <a:r>
              <a:rPr lang="en-US" sz="2000" b="0" smtClean="0">
                <a:latin typeface="Courier New" pitchFamily="49" charset="0"/>
              </a:rPr>
              <a:t>Hwi_restore</a:t>
            </a:r>
            <a:r>
              <a:rPr lang="en-US" sz="2000" b="0">
                <a:latin typeface="Courier New" pitchFamily="49" charset="0"/>
              </a:rPr>
              <a:t>()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3904886" y="3347888"/>
            <a:ext cx="0" cy="221471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4724400" y="6523807"/>
            <a:ext cx="3913957" cy="29418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Note: Hwi_post() not supported on MSP430</a:t>
            </a:r>
            <a:endParaRPr lang="en-US" sz="1600" b="0" i="1" dirty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68803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Interrupts Work?</a:t>
            </a:r>
          </a:p>
        </p:txBody>
      </p:sp>
      <p:sp>
        <p:nvSpPr>
          <p:cNvPr id="249864" name="Text Box 8"/>
          <p:cNvSpPr txBox="1">
            <a:spLocks noChangeArrowheads="1"/>
          </p:cNvSpPr>
          <p:nvPr/>
        </p:nvSpPr>
        <p:spPr bwMode="auto">
          <a:xfrm>
            <a:off x="4301496" y="762000"/>
            <a:ext cx="4440238" cy="305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charset="0"/>
              </a:rPr>
              <a:t>3.  </a:t>
            </a:r>
            <a:r>
              <a:rPr lang="en-US">
                <a:latin typeface="Calibri" pitchFamily="34" charset="0"/>
                <a:cs typeface="Calibri" pitchFamily="34" charset="0"/>
              </a:rPr>
              <a:t>CPU acknowledges </a:t>
            </a:r>
            <a:r>
              <a:rPr lang="en-US" smtClean="0">
                <a:latin typeface="Calibri" pitchFamily="34" charset="0"/>
                <a:cs typeface="Calibri" pitchFamily="34" charset="0"/>
              </a:rPr>
              <a:t>interrupt and </a:t>
            </a:r>
            <a:r>
              <a:rPr lang="en-US">
                <a:latin typeface="Calibri" pitchFamily="34" charset="0"/>
                <a:cs typeface="Calibri" pitchFamily="34" charset="0"/>
              </a:rPr>
              <a:t>…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Stops what it is doing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Turn off interrupts globally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Clears flag in register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Saves return-to location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Determines which interrupt</a:t>
            </a:r>
          </a:p>
          <a:p>
            <a:pPr marL="796925" lvl="1" indent="-287338">
              <a:lnSpc>
                <a:spcPct val="100000"/>
              </a:lnSpc>
              <a:spcBef>
                <a:spcPts val="6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Calls ISR</a:t>
            </a:r>
            <a:r>
              <a:rPr lang="en-US" b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grpSp>
        <p:nvGrpSpPr>
          <p:cNvPr id="249866" name="Group 10"/>
          <p:cNvGrpSpPr>
            <a:grpSpLocks/>
          </p:cNvGrpSpPr>
          <p:nvPr/>
        </p:nvGrpSpPr>
        <p:grpSpPr bwMode="auto">
          <a:xfrm>
            <a:off x="515938" y="4751388"/>
            <a:ext cx="3238500" cy="1214437"/>
            <a:chOff x="325" y="3089"/>
            <a:chExt cx="2040" cy="765"/>
          </a:xfrm>
        </p:grpSpPr>
        <p:sp>
          <p:nvSpPr>
            <p:cNvPr id="249867" name="Text Box 11"/>
            <p:cNvSpPr txBox="1">
              <a:spLocks noChangeArrowheads="1"/>
            </p:cNvSpPr>
            <p:nvPr/>
          </p:nvSpPr>
          <p:spPr bwMode="auto">
            <a:xfrm>
              <a:off x="325" y="3089"/>
              <a:ext cx="1522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9144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3716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8288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2860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charset="0"/>
                </a:rPr>
                <a:t>2.  </a:t>
              </a:r>
              <a:r>
                <a:rPr lang="en-US">
                  <a:latin typeface="Calibri" pitchFamily="34" charset="0"/>
                  <a:cs typeface="Calibri" pitchFamily="34" charset="0"/>
                </a:rPr>
                <a:t>Sets a flag in a register</a:t>
              </a:r>
            </a:p>
          </p:txBody>
        </p:sp>
        <p:sp>
          <p:nvSpPr>
            <p:cNvPr id="249868" name="Rectangle 12"/>
            <p:cNvSpPr>
              <a:spLocks noChangeArrowheads="1"/>
            </p:cNvSpPr>
            <p:nvPr/>
          </p:nvSpPr>
          <p:spPr bwMode="auto">
            <a:xfrm>
              <a:off x="655" y="3655"/>
              <a:ext cx="1710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249869" name="Line 13"/>
            <p:cNvSpPr>
              <a:spLocks noChangeShapeType="1"/>
            </p:cNvSpPr>
            <p:nvPr/>
          </p:nvSpPr>
          <p:spPr bwMode="auto">
            <a:xfrm>
              <a:off x="774" y="365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0" name="Line 14"/>
            <p:cNvSpPr>
              <a:spLocks noChangeShapeType="1"/>
            </p:cNvSpPr>
            <p:nvPr/>
          </p:nvSpPr>
          <p:spPr bwMode="auto">
            <a:xfrm>
              <a:off x="897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1" name="Line 15"/>
            <p:cNvSpPr>
              <a:spLocks noChangeShapeType="1"/>
            </p:cNvSpPr>
            <p:nvPr/>
          </p:nvSpPr>
          <p:spPr bwMode="auto">
            <a:xfrm>
              <a:off x="1020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2" name="Line 16"/>
            <p:cNvSpPr>
              <a:spLocks noChangeShapeType="1"/>
            </p:cNvSpPr>
            <p:nvPr/>
          </p:nvSpPr>
          <p:spPr bwMode="auto">
            <a:xfrm>
              <a:off x="1139" y="3657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3" name="Text Box 17"/>
            <p:cNvSpPr txBox="1">
              <a:spLocks noChangeArrowheads="1"/>
            </p:cNvSpPr>
            <p:nvPr/>
          </p:nvSpPr>
          <p:spPr bwMode="auto">
            <a:xfrm>
              <a:off x="1274" y="3597"/>
              <a:ext cx="381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. . .</a:t>
              </a:r>
            </a:p>
          </p:txBody>
        </p:sp>
        <p:sp>
          <p:nvSpPr>
            <p:cNvPr id="249874" name="Line 18"/>
            <p:cNvSpPr>
              <a:spLocks noChangeShapeType="1"/>
            </p:cNvSpPr>
            <p:nvPr/>
          </p:nvSpPr>
          <p:spPr bwMode="auto">
            <a:xfrm>
              <a:off x="1867" y="366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5" name="Line 19"/>
            <p:cNvSpPr>
              <a:spLocks noChangeShapeType="1"/>
            </p:cNvSpPr>
            <p:nvPr/>
          </p:nvSpPr>
          <p:spPr bwMode="auto">
            <a:xfrm>
              <a:off x="1990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6" name="Line 20"/>
            <p:cNvSpPr>
              <a:spLocks noChangeShapeType="1"/>
            </p:cNvSpPr>
            <p:nvPr/>
          </p:nvSpPr>
          <p:spPr bwMode="auto">
            <a:xfrm>
              <a:off x="2113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877" name="Line 21"/>
            <p:cNvSpPr>
              <a:spLocks noChangeShapeType="1"/>
            </p:cNvSpPr>
            <p:nvPr/>
          </p:nvSpPr>
          <p:spPr bwMode="auto">
            <a:xfrm>
              <a:off x="2232" y="366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9878" name="Group 22"/>
            <p:cNvGrpSpPr>
              <a:grpSpLocks/>
            </p:cNvGrpSpPr>
            <p:nvPr/>
          </p:nvGrpSpPr>
          <p:grpSpPr bwMode="auto">
            <a:xfrm>
              <a:off x="2018" y="3230"/>
              <a:ext cx="269" cy="549"/>
              <a:chOff x="895" y="1621"/>
              <a:chExt cx="644" cy="1582"/>
            </a:xfrm>
          </p:grpSpPr>
          <p:sp>
            <p:nvSpPr>
              <p:cNvPr id="249879" name="Line 23"/>
              <p:cNvSpPr>
                <a:spLocks noChangeShapeType="1"/>
              </p:cNvSpPr>
              <p:nvPr/>
            </p:nvSpPr>
            <p:spPr bwMode="auto">
              <a:xfrm>
                <a:off x="954" y="1686"/>
                <a:ext cx="9" cy="151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880" name="Oval 24"/>
              <p:cNvSpPr>
                <a:spLocks noChangeArrowheads="1"/>
              </p:cNvSpPr>
              <p:nvPr/>
            </p:nvSpPr>
            <p:spPr bwMode="auto">
              <a:xfrm>
                <a:off x="895" y="1621"/>
                <a:ext cx="106" cy="7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881" name="AutoShape 25"/>
              <p:cNvSpPr>
                <a:spLocks noChangeArrowheads="1"/>
              </p:cNvSpPr>
              <p:nvPr/>
            </p:nvSpPr>
            <p:spPr bwMode="auto">
              <a:xfrm>
                <a:off x="963" y="1670"/>
                <a:ext cx="576" cy="576"/>
              </a:xfrm>
              <a:prstGeom prst="wave">
                <a:avLst>
                  <a:gd name="adj1" fmla="val 13005"/>
                  <a:gd name="adj2" fmla="val 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49926" name="Text Box 70"/>
          <p:cNvSpPr txBox="1">
            <a:spLocks noChangeArrowheads="1"/>
          </p:cNvSpPr>
          <p:nvPr/>
        </p:nvSpPr>
        <p:spPr bwMode="auto">
          <a:xfrm>
            <a:off x="4295775" y="4038600"/>
            <a:ext cx="4686924" cy="2394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charset="0"/>
              </a:rPr>
              <a:t>4.  </a:t>
            </a:r>
            <a:r>
              <a:rPr lang="en-US">
                <a:latin typeface="Calibri" pitchFamily="34" charset="0"/>
                <a:cs typeface="Calibri" pitchFamily="34" charset="0"/>
              </a:rPr>
              <a:t>ISR (Interrupt Service Routine)</a:t>
            </a:r>
          </a:p>
          <a:p>
            <a:pPr marL="796925" lvl="1" indent="-287338">
              <a:spcBef>
                <a:spcPct val="500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Saves context of system</a:t>
            </a: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*</a:t>
            </a:r>
          </a:p>
          <a:p>
            <a:pPr marL="796925" lvl="1" indent="-287338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Runs your interrupt code (ISR)</a:t>
            </a:r>
          </a:p>
          <a:p>
            <a:pPr marL="796925" lvl="1" indent="-287338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Restores context of system</a:t>
            </a: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*</a:t>
            </a:r>
          </a:p>
          <a:p>
            <a:pPr marL="796925" lvl="1" indent="-287338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sz="2000" b="0">
                <a:latin typeface="Calibri" pitchFamily="34" charset="0"/>
                <a:cs typeface="Calibri" pitchFamily="34" charset="0"/>
              </a:rPr>
              <a:t>Continues where </a:t>
            </a:r>
            <a:r>
              <a:rPr lang="en-US" sz="2000" b="0" smtClean="0">
                <a:latin typeface="Calibri" pitchFamily="34" charset="0"/>
                <a:cs typeface="Calibri" pitchFamily="34" charset="0"/>
              </a:rPr>
              <a:t>it left </a:t>
            </a:r>
            <a:r>
              <a:rPr lang="en-US" sz="2000" b="0">
                <a:latin typeface="Calibri" pitchFamily="34" charset="0"/>
                <a:cs typeface="Calibri" pitchFamily="34" charset="0"/>
              </a:rPr>
              <a:t>off</a:t>
            </a:r>
            <a:r>
              <a:rPr lang="en-US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*</a:t>
            </a:r>
            <a:r>
              <a:rPr lang="en-US" sz="2000">
                <a:latin typeface="Calibri" pitchFamily="34" charset="0"/>
                <a:cs typeface="Calibri" pitchFamily="34" charset="0"/>
              </a:rPr>
              <a:t/>
            </a:r>
            <a:br>
              <a:rPr lang="en-US" sz="2000">
                <a:latin typeface="Calibri" pitchFamily="34" charset="0"/>
                <a:cs typeface="Calibri" pitchFamily="34" charset="0"/>
              </a:rPr>
            </a:br>
            <a:endParaRPr lang="en-US" sz="2000">
              <a:latin typeface="Calibri" pitchFamily="34" charset="0"/>
              <a:cs typeface="Calibri" pitchFamily="34" charset="0"/>
            </a:endParaRPr>
          </a:p>
          <a:p>
            <a:r>
              <a:rPr lang="en-US" sz="1800" b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* </a:t>
            </a:r>
            <a:r>
              <a:rPr lang="en-US" sz="1600" b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Must be done in user code, unless you </a:t>
            </a:r>
            <a:r>
              <a:rPr lang="en-US" sz="16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use SYS/BIOS</a:t>
            </a:r>
            <a:endParaRPr lang="en-US" sz="1600" b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27050" y="768350"/>
            <a:ext cx="2432348" cy="3548870"/>
            <a:chOff x="527050" y="920750"/>
            <a:chExt cx="2432348" cy="3548870"/>
          </a:xfrm>
        </p:grpSpPr>
        <p:pic>
          <p:nvPicPr>
            <p:cNvPr id="36" name="Picture 14" descr="DD00943_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265" y="1633538"/>
              <a:ext cx="1682735" cy="171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7" name="Text Box 12"/>
            <p:cNvSpPr txBox="1">
              <a:spLocks noChangeArrowheads="1"/>
            </p:cNvSpPr>
            <p:nvPr/>
          </p:nvSpPr>
          <p:spPr bwMode="auto">
            <a:xfrm>
              <a:off x="743248" y="2832249"/>
              <a:ext cx="2216150" cy="1637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indent="23177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UART</a:t>
              </a:r>
              <a:endParaRPr lang="en-US" sz="2000" b="0">
                <a:latin typeface="Calibri" pitchFamily="34" charset="0"/>
                <a:cs typeface="Calibri" pitchFamily="34" charset="0"/>
              </a:endParaRP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GPIO</a:t>
              </a:r>
              <a:endParaRPr lang="en-US" sz="2000" b="0">
                <a:latin typeface="Calibri" pitchFamily="34" charset="0"/>
                <a:cs typeface="Calibri" pitchFamily="34" charset="0"/>
              </a:endParaRP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Timers</a:t>
              </a: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Ext pins</a:t>
              </a:r>
            </a:p>
            <a:p>
              <a:pPr>
                <a:spcBef>
                  <a:spcPts val="600"/>
                </a:spcBef>
                <a:buFontTx/>
                <a:buChar char="•"/>
              </a:pPr>
              <a:r>
                <a:rPr lang="en-US" sz="2000" b="0">
                  <a:latin typeface="Calibri" pitchFamily="34" charset="0"/>
                  <a:cs typeface="Calibri" pitchFamily="34" charset="0"/>
                </a:rPr>
                <a:t>Etc.</a:t>
              </a:r>
            </a:p>
          </p:txBody>
        </p:sp>
        <p:sp>
          <p:nvSpPr>
            <p:cNvPr id="38" name="Text Box 13"/>
            <p:cNvSpPr txBox="1">
              <a:spLocks noChangeArrowheads="1"/>
            </p:cNvSpPr>
            <p:nvPr/>
          </p:nvSpPr>
          <p:spPr bwMode="auto">
            <a:xfrm>
              <a:off x="527050" y="920750"/>
              <a:ext cx="2416175" cy="683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9144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3716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8288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286000" indent="-4572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en-US">
                  <a:latin typeface="Calibri" pitchFamily="34" charset="0"/>
                  <a:cs typeface="Calibri" pitchFamily="34" charset="0"/>
                </a:rPr>
                <a:t>An interrupt occurs</a:t>
              </a:r>
            </a:p>
          </p:txBody>
        </p:sp>
      </p:grpSp>
      <p:pic>
        <p:nvPicPr>
          <p:cNvPr id="27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514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49339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068195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3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4800" y="2642997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317781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3752616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32741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9675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/>
          <a:lstStyle/>
          <a:p>
            <a:r>
              <a:rPr lang="en-US" dirty="0" smtClean="0"/>
              <a:t>Configuring an </a:t>
            </a:r>
            <a:r>
              <a:rPr lang="en-US" i="1" u="sng" dirty="0" err="1" smtClean="0"/>
              <a:t>Hwi</a:t>
            </a:r>
            <a:r>
              <a:rPr lang="en-US" dirty="0" smtClean="0"/>
              <a:t> – Statically via GUI</a:t>
            </a:r>
          </a:p>
        </p:txBody>
      </p:sp>
      <p:sp>
        <p:nvSpPr>
          <p:cNvPr id="368651" name="Oval 11"/>
          <p:cNvSpPr>
            <a:spLocks noChangeArrowheads="1"/>
          </p:cNvSpPr>
          <p:nvPr/>
        </p:nvSpPr>
        <p:spPr bwMode="auto">
          <a:xfrm>
            <a:off x="228600" y="1144769"/>
            <a:ext cx="381000" cy="381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89" name="Text Box 12"/>
          <p:cNvSpPr txBox="1">
            <a:spLocks noChangeArrowheads="1"/>
          </p:cNvSpPr>
          <p:nvPr/>
        </p:nvSpPr>
        <p:spPr bwMode="auto">
          <a:xfrm>
            <a:off x="247650" y="1151119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0" name="Text Box 13"/>
          <p:cNvSpPr txBox="1">
            <a:spLocks noChangeArrowheads="1"/>
          </p:cNvSpPr>
          <p:nvPr/>
        </p:nvSpPr>
        <p:spPr bwMode="auto">
          <a:xfrm>
            <a:off x="641350" y="1189219"/>
            <a:ext cx="717985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Use </a:t>
            </a:r>
            <a:r>
              <a:rPr lang="en-US" sz="2000" dirty="0" err="1">
                <a:solidFill>
                  <a:srgbClr val="000000"/>
                </a:solidFill>
              </a:rPr>
              <a:t>Hwi</a:t>
            </a:r>
            <a:r>
              <a:rPr lang="en-US" sz="2000" dirty="0">
                <a:solidFill>
                  <a:srgbClr val="000000"/>
                </a:solidFill>
              </a:rPr>
              <a:t> module </a:t>
            </a:r>
            <a:r>
              <a:rPr lang="en-US" sz="1800" b="0" i="1" dirty="0">
                <a:solidFill>
                  <a:srgbClr val="000000"/>
                </a:solidFill>
                <a:latin typeface="Arial Narrow" pitchFamily="34" charset="0"/>
              </a:rPr>
              <a:t>(Available Products)</a:t>
            </a:r>
            <a:r>
              <a:rPr lang="en-US" sz="1800" b="0" i="1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, insert new </a:t>
            </a:r>
            <a:r>
              <a:rPr lang="en-US" sz="2000" dirty="0" err="1">
                <a:solidFill>
                  <a:srgbClr val="000000"/>
                </a:solidFill>
              </a:rPr>
              <a:t>Hwi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1800" b="0" i="1" dirty="0">
                <a:solidFill>
                  <a:srgbClr val="000000"/>
                </a:solidFill>
                <a:latin typeface="Arial Narrow" pitchFamily="34" charset="0"/>
              </a:rPr>
              <a:t>(Outline View)</a:t>
            </a:r>
          </a:p>
        </p:txBody>
      </p:sp>
      <p:sp>
        <p:nvSpPr>
          <p:cNvPr id="368655" name="Rectangle 15"/>
          <p:cNvSpPr>
            <a:spLocks noChangeArrowheads="1"/>
          </p:cNvSpPr>
          <p:nvPr/>
        </p:nvSpPr>
        <p:spPr bwMode="auto">
          <a:xfrm>
            <a:off x="1447800" y="609600"/>
            <a:ext cx="51816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410" name="Text Box 16"/>
          <p:cNvSpPr txBox="1">
            <a:spLocks noChangeArrowheads="1"/>
          </p:cNvSpPr>
          <p:nvPr/>
        </p:nvSpPr>
        <p:spPr bwMode="auto">
          <a:xfrm>
            <a:off x="1524000" y="619125"/>
            <a:ext cx="13716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 anchorCtr="1"/>
          <a:lstStyle/>
          <a:p>
            <a:r>
              <a:rPr lang="en-US" sz="1800" u="sng" dirty="0">
                <a:solidFill>
                  <a:srgbClr val="000000"/>
                </a:solidFill>
              </a:rPr>
              <a:t>Example</a:t>
            </a:r>
            <a:r>
              <a:rPr lang="en-US" sz="1800"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16411" name="Text Box 17"/>
          <p:cNvSpPr txBox="1">
            <a:spLocks noChangeArrowheads="1"/>
          </p:cNvSpPr>
          <p:nvPr/>
        </p:nvSpPr>
        <p:spPr bwMode="auto">
          <a:xfrm>
            <a:off x="2819400" y="695325"/>
            <a:ext cx="38100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70000"/>
              </a:lnSpc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Arial Narrow" pitchFamily="34" charset="0"/>
              </a:rPr>
              <a:t>Tie </a:t>
            </a:r>
            <a:r>
              <a:rPr lang="en-US" sz="1800" smtClean="0">
                <a:solidFill>
                  <a:srgbClr val="000000"/>
                </a:solidFill>
                <a:latin typeface="Arial Narrow" pitchFamily="34" charset="0"/>
              </a:rPr>
              <a:t>Tiva Timer2A 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to the CPU’s HWI</a:t>
            </a:r>
            <a:r>
              <a:rPr lang="en-US" sz="1800" baseline="-25000" dirty="0">
                <a:solidFill>
                  <a:srgbClr val="000000"/>
                </a:solidFill>
                <a:latin typeface="Arial Narrow" pitchFamily="34" charset="0"/>
              </a:rPr>
              <a:t>5</a:t>
            </a:r>
            <a:endParaRPr lang="en-US" sz="18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pic>
        <p:nvPicPr>
          <p:cNvPr id="72708" name="Picture 4" descr="C:\Documents and Settings\a0159877\Desktop\hwi_use_mo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1590592"/>
            <a:ext cx="1219200" cy="154266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28600" y="3355677"/>
            <a:ext cx="381000" cy="381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247650" y="3362027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641350" y="3400127"/>
            <a:ext cx="623439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Configure </a:t>
            </a:r>
            <a:r>
              <a:rPr lang="en-US" sz="2000" dirty="0" err="1">
                <a:solidFill>
                  <a:srgbClr val="000000"/>
                </a:solidFill>
              </a:rPr>
              <a:t>Hwi</a:t>
            </a:r>
            <a:r>
              <a:rPr lang="en-US" sz="2000" dirty="0">
                <a:solidFill>
                  <a:srgbClr val="000000"/>
                </a:solidFill>
              </a:rPr>
              <a:t> – Event ID, CPU </a:t>
            </a:r>
            <a:r>
              <a:rPr lang="en-US" sz="2000" dirty="0" err="1">
                <a:solidFill>
                  <a:srgbClr val="000000"/>
                </a:solidFill>
              </a:rPr>
              <a:t>Int</a:t>
            </a:r>
            <a:r>
              <a:rPr lang="en-US" sz="2000" dirty="0">
                <a:solidFill>
                  <a:srgbClr val="000000"/>
                </a:solidFill>
              </a:rPr>
              <a:t> #, ISR vector:</a:t>
            </a:r>
          </a:p>
        </p:txBody>
      </p:sp>
      <p:sp>
        <p:nvSpPr>
          <p:cNvPr id="45" name="Right Arrow 44"/>
          <p:cNvSpPr/>
          <p:nvPr/>
        </p:nvSpPr>
        <p:spPr bwMode="auto">
          <a:xfrm>
            <a:off x="2743200" y="2075089"/>
            <a:ext cx="5334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07398" y="1980939"/>
            <a:ext cx="2860078" cy="92333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Remember, BIOS objects</a:t>
            </a:r>
            <a:b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can be created via the GUI,</a:t>
            </a:r>
            <a:b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script code or C code (dynamic)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590591"/>
            <a:ext cx="1928326" cy="154266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ctr" rotWithShape="0">
              <a:schemeClr val="tx1">
                <a:alpha val="3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13" y="3784015"/>
            <a:ext cx="3441587" cy="258589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88900" dir="2700000" algn="ctr" rotWithShape="0">
              <a:schemeClr val="tx1">
                <a:alpha val="48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99" y="3739658"/>
            <a:ext cx="4080604" cy="292695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9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User can configure:</a:t>
            </a: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Handle – name of object</a:t>
            </a: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ISR fxn </a:t>
            </a:r>
            <a:r>
              <a:rPr lang="en-US" sz="18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(e.g. myTickFxn)</a:t>
            </a:r>
            <a:endParaRPr lang="en-US" sz="2000" b="0" i="1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Interrupt number </a:t>
            </a:r>
            <a:r>
              <a:rPr lang="en-US" sz="1800" b="0" i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(from</a:t>
            </a:r>
            <a:br>
              <a:rPr lang="en-US" sz="1800" b="0" i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sz="1800" b="0" i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datasheet, e.g. Timer2A = 39)</a:t>
            </a:r>
            <a:endParaRPr lang="en-US" sz="2000" b="0" i="1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Priority &amp; Event Id </a:t>
            </a:r>
            <a:r>
              <a:rPr lang="en-US" sz="18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(arch-specific)</a:t>
            </a:r>
            <a:endParaRPr lang="en-US" sz="2000" b="0" i="1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Enable at startup</a:t>
            </a:r>
            <a:r>
              <a:rPr lang="en-US" sz="18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(IER)</a:t>
            </a:r>
            <a:endParaRPr lang="en-US" sz="2000" b="0" i="1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627063" lvl="1" indent="-222250">
              <a:spcBef>
                <a:spcPts val="900"/>
              </a:spcBef>
              <a:buSzPct val="100000"/>
              <a:buFont typeface="Arial" pitchFamily="34" charset="0"/>
              <a:buChar char="•"/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Masking options (nesting)</a:t>
            </a:r>
            <a:b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600" b="0" i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(more later)</a:t>
            </a:r>
            <a:endParaRPr lang="en-US" sz="2000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Leading Question"/>
          <p:cNvSpPr txBox="1"/>
          <p:nvPr/>
        </p:nvSpPr>
        <p:spPr>
          <a:xfrm>
            <a:off x="4038600" y="6565965"/>
            <a:ext cx="4557337" cy="2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effectLst/>
                <a:latin typeface="Arial Narrow"/>
              </a:rPr>
              <a:t>Let's look at each device's Hwi config - one at a time...</a:t>
            </a:r>
            <a:endParaRPr lang="en-US" sz="18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21" name="Animated Logo" descr="tilogo_color_twoli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/>
          <a:lstStyle/>
          <a:p>
            <a:r>
              <a:rPr lang="en-US" smtClean="0"/>
              <a:t>Hwi Configuration – Tiva &amp; MSP430</a:t>
            </a: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58312"/>
            <a:ext cx="3278543" cy="27468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ctr" rotWithShape="0">
              <a:schemeClr val="tx1">
                <a:alpha val="44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689487"/>
            <a:ext cx="1101905" cy="3877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Tiva - C</a:t>
            </a:r>
            <a:endParaRPr lang="en-US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200" y="609600"/>
            <a:ext cx="4328621" cy="3194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number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comes from datasheet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080" name="Picture 8" descr="C:\Users\a0159877\AppData\Local\Temp\SNAGHTML3931d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7" y="935666"/>
            <a:ext cx="3489324" cy="164237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648200" y="2700668"/>
            <a:ext cx="4365875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Priority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specifies Priority Group: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64932" y="2993334"/>
            <a:ext cx="3903633" cy="294183"/>
          </a:xfrm>
          <a:prstGeom prst="rect">
            <a:avLst/>
          </a:prstGeom>
          <a:solidFill>
            <a:schemeClr val="accent2"/>
          </a:solidFill>
        </p:spPr>
        <p:txBody>
          <a:bodyPr wrap="none" rtlCol="0" anchor="ctr" anchorCtr="0">
            <a:spAutoFit/>
          </a:bodyPr>
          <a:lstStyle/>
          <a:p>
            <a:r>
              <a:rPr lang="en-US" sz="1600" b="0">
                <a:latin typeface="Calibri" pitchFamily="34" charset="0"/>
                <a:cs typeface="Calibri" pitchFamily="34" charset="0"/>
              </a:rPr>
              <a:t> </a:t>
            </a:r>
            <a:r>
              <a:rPr lang="en-US" sz="1600" b="0" smtClean="0">
                <a:latin typeface="Calibri" pitchFamily="34" charset="0"/>
                <a:cs typeface="Calibri" pitchFamily="34" charset="0"/>
              </a:rPr>
              <a:t>0x00 (0), 0x20 (1), …,  0xe0 (7) = default “-1”</a:t>
            </a:r>
            <a:endParaRPr lang="en-US" sz="160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8200" y="3351315"/>
            <a:ext cx="3864904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Event Id: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 </a:t>
            </a: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Shown but 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NOT applicable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523330" y="2137952"/>
            <a:ext cx="381000" cy="23044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 flipV="1">
            <a:off x="3048000" y="1905000"/>
            <a:ext cx="2362200" cy="35880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3" name="Group 2"/>
          <p:cNvGrpSpPr/>
          <p:nvPr/>
        </p:nvGrpSpPr>
        <p:grpSpPr>
          <a:xfrm>
            <a:off x="1943" y="3962400"/>
            <a:ext cx="8974878" cy="2475225"/>
            <a:chOff x="1943" y="3962400"/>
            <a:chExt cx="8974878" cy="2475225"/>
          </a:xfrm>
        </p:grpSpPr>
        <p:sp>
          <p:nvSpPr>
            <p:cNvPr id="8" name="TextBox 7"/>
            <p:cNvSpPr txBox="1"/>
            <p:nvPr/>
          </p:nvSpPr>
          <p:spPr>
            <a:xfrm>
              <a:off x="1943" y="4014902"/>
              <a:ext cx="1229824" cy="39517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MSP430</a:t>
              </a:r>
              <a:endPara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7343" y="4009577"/>
              <a:ext cx="3331644" cy="23054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76200" dir="2700000" algn="ctr" rotWithShape="0">
                <a:schemeClr val="tx1">
                  <a:alpha val="44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4648200" y="3962400"/>
              <a:ext cx="4328621" cy="319446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marL="287338" indent="-287338">
                <a:buClr>
                  <a:schemeClr val="tx2"/>
                </a:buClr>
                <a:buSzPct val="75000"/>
                <a:buFont typeface="Wingdings"/>
                <a:buChar char=""/>
              </a:pPr>
              <a:r>
                <a:rPr lang="en-US" sz="1800" b="0" i="1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Interrupt number</a:t>
              </a:r>
              <a:r>
                <a:rPr lang="en-US" sz="1800" b="0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 comes from datasheet</a:t>
              </a:r>
              <a:endPara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48201" y="5902094"/>
              <a:ext cx="4305300" cy="535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287338" indent="-287338">
                <a:buClr>
                  <a:schemeClr val="tx2"/>
                </a:buClr>
                <a:buSzPct val="75000"/>
                <a:buFont typeface="Wingdings"/>
                <a:buChar char=""/>
              </a:pPr>
              <a:r>
                <a:rPr lang="en-US" sz="1800" b="0" i="1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Interrupt Priority </a:t>
              </a:r>
              <a:r>
                <a:rPr lang="en-US" sz="1800" b="0" smtClean="0">
                  <a:latin typeface="Calibri" pitchFamily="34" charset="0"/>
                  <a:cs typeface="Calibri" pitchFamily="34" charset="0"/>
                </a:rPr>
                <a:t>and</a:t>
              </a:r>
              <a:r>
                <a:rPr lang="en-US" sz="1800" b="0" i="1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 Event Id</a:t>
              </a:r>
              <a:r>
                <a:rPr lang="en-US" sz="1800" b="0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 are not used</a:t>
              </a:r>
              <a:endPara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3084" name="Picture 12" descr="C:\Users\a0159877\AppData\Local\Temp\SNAGHTMLa76376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3982" y="4261596"/>
              <a:ext cx="3888568" cy="15486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Oval 22"/>
            <p:cNvSpPr/>
            <p:nvPr/>
          </p:nvSpPr>
          <p:spPr bwMode="auto">
            <a:xfrm>
              <a:off x="8359776" y="5545406"/>
              <a:ext cx="381000" cy="230445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 flipH="1" flipV="1">
              <a:off x="3200400" y="5253735"/>
              <a:ext cx="2209800" cy="40689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pic>
        <p:nvPicPr>
          <p:cNvPr id="24" name="Animated Logo" descr="tilogo_color_twoline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1044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/>
          <a:lstStyle/>
          <a:p>
            <a:r>
              <a:rPr lang="en-US" smtClean="0"/>
              <a:t>Hwi Configuration – Tiva &amp; MSP430</a:t>
            </a: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58312"/>
            <a:ext cx="3278543" cy="27468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ctr" rotWithShape="0">
              <a:schemeClr val="tx1">
                <a:alpha val="44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689487"/>
            <a:ext cx="1101905" cy="3877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Tiva - C</a:t>
            </a:r>
            <a:endParaRPr lang="en-US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200" y="609600"/>
            <a:ext cx="4328621" cy="3194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number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comes from datasheet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080" name="Picture 8" descr="C:\Users\a0159877\AppData\Local\Temp\SNAGHTML3931d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7" y="935666"/>
            <a:ext cx="3489324" cy="164237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648200" y="2700668"/>
            <a:ext cx="4365875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Priority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specifies Priority Group: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64932" y="2993334"/>
            <a:ext cx="3903633" cy="294183"/>
          </a:xfrm>
          <a:prstGeom prst="rect">
            <a:avLst/>
          </a:prstGeom>
          <a:solidFill>
            <a:schemeClr val="accent2"/>
          </a:solidFill>
        </p:spPr>
        <p:txBody>
          <a:bodyPr wrap="none" rtlCol="0" anchor="ctr" anchorCtr="0">
            <a:spAutoFit/>
          </a:bodyPr>
          <a:lstStyle/>
          <a:p>
            <a:r>
              <a:rPr lang="en-US" sz="1600" b="0">
                <a:latin typeface="Calibri" pitchFamily="34" charset="0"/>
                <a:cs typeface="Calibri" pitchFamily="34" charset="0"/>
              </a:rPr>
              <a:t> </a:t>
            </a:r>
            <a:r>
              <a:rPr lang="en-US" sz="1600" b="0" smtClean="0">
                <a:latin typeface="Calibri" pitchFamily="34" charset="0"/>
                <a:cs typeface="Calibri" pitchFamily="34" charset="0"/>
              </a:rPr>
              <a:t>0x00 (0), 0x20 (1), …,  0xe0 (7) = default “-1”</a:t>
            </a:r>
            <a:endParaRPr lang="en-US" sz="160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8200" y="3351315"/>
            <a:ext cx="3864904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Event Id: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 </a:t>
            </a: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Shown but 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NOT applicable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5523330" y="2137952"/>
            <a:ext cx="381000" cy="23044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 flipV="1">
            <a:off x="3048000" y="1905000"/>
            <a:ext cx="2362200" cy="35880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943" y="4033018"/>
            <a:ext cx="1229824" cy="76758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MSP430</a:t>
            </a:r>
          </a:p>
          <a:p>
            <a:pPr algn="ctr">
              <a:spcBef>
                <a:spcPts val="600"/>
              </a:spcBef>
            </a:pPr>
            <a:r>
              <a:rPr lang="en-US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FR5969</a:t>
            </a:r>
            <a:endParaRPr lang="en-US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8200" y="3965157"/>
            <a:ext cx="4376647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number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comes from </a:t>
            </a:r>
            <a:r>
              <a:rPr lang="en-US" sz="1800" b="0" u="sng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header file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: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48201" y="5545348"/>
            <a:ext cx="4305300" cy="5355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Priority </a:t>
            </a:r>
            <a:r>
              <a:rPr lang="en-US" sz="1800" b="0" smtClean="0">
                <a:latin typeface="Calibri" pitchFamily="34" charset="0"/>
                <a:cs typeface="Calibri" pitchFamily="34" charset="0"/>
              </a:rPr>
              <a:t>and</a:t>
            </a: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 Event Id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are not used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4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pic>
        <p:nvPicPr>
          <p:cNvPr id="1026" name="Picture 2" descr="C:\Users\a0159877\AppData\Local\Temp\SNAGHTMLad83a5a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522" y="4281846"/>
            <a:ext cx="4038875" cy="1263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val 22"/>
          <p:cNvSpPr/>
          <p:nvPr/>
        </p:nvSpPr>
        <p:spPr bwMode="auto">
          <a:xfrm>
            <a:off x="8077200" y="4894052"/>
            <a:ext cx="294542" cy="267271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305" y="4014902"/>
            <a:ext cx="3312108" cy="24620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27" name="Straight Arrow Connector 26"/>
          <p:cNvCxnSpPr>
            <a:stCxn id="23" idx="2"/>
          </p:cNvCxnSpPr>
          <p:nvPr/>
        </p:nvCxnSpPr>
        <p:spPr bwMode="auto">
          <a:xfrm flipH="1">
            <a:off x="3200400" y="5027688"/>
            <a:ext cx="4876800" cy="30631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253327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/>
          <a:lstStyle/>
          <a:p>
            <a:r>
              <a:rPr lang="en-US" smtClean="0"/>
              <a:t>Hwi Configuration – C28x &amp; C6000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90419" y="685800"/>
            <a:ext cx="800219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C28x</a:t>
            </a:r>
            <a:endParaRPr lang="en-US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688557"/>
            <a:ext cx="4183068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number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comes from PIE table: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098" name="Picture 2" descr="C:\Users\a0159877\AppData\Local\Temp\SNAGHTML103419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934" y="994612"/>
            <a:ext cx="4025216" cy="165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4572000" y="2598100"/>
            <a:ext cx="4391459" cy="8956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Priority </a:t>
            </a:r>
            <a:r>
              <a:rPr lang="en-US" sz="1800" b="0" smtClean="0">
                <a:latin typeface="Calibri" pitchFamily="34" charset="0"/>
                <a:cs typeface="Calibri" pitchFamily="34" charset="0"/>
              </a:rPr>
              <a:t>and</a:t>
            </a:r>
            <a:r>
              <a:rPr lang="en-US" sz="1800" b="0" i="1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 Event Id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not used</a:t>
            </a:r>
            <a:endParaRPr lang="en-US" sz="1800" b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287338" indent="-287338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 can auto acknowledge PIE interrupts</a:t>
            </a:r>
            <a:b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INT1.7 equates to “38” in BIOS Hwi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Straight Arrow Connector 9"/>
          <p:cNvCxnSpPr>
            <a:stCxn id="4098" idx="1"/>
          </p:cNvCxnSpPr>
          <p:nvPr/>
        </p:nvCxnSpPr>
        <p:spPr bwMode="auto">
          <a:xfrm flipH="1">
            <a:off x="3048000" y="1820173"/>
            <a:ext cx="1959934" cy="5953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3" name="Group 2"/>
          <p:cNvGrpSpPr/>
          <p:nvPr/>
        </p:nvGrpSpPr>
        <p:grpSpPr>
          <a:xfrm>
            <a:off x="76200" y="3766471"/>
            <a:ext cx="8766622" cy="2899521"/>
            <a:chOff x="76200" y="3766471"/>
            <a:chExt cx="8766622" cy="2899521"/>
          </a:xfrm>
        </p:grpSpPr>
        <p:sp>
          <p:nvSpPr>
            <p:cNvPr id="8" name="TextBox 7"/>
            <p:cNvSpPr txBox="1"/>
            <p:nvPr/>
          </p:nvSpPr>
          <p:spPr>
            <a:xfrm>
              <a:off x="76200" y="3786302"/>
              <a:ext cx="970137" cy="39517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C6000</a:t>
              </a:r>
              <a:endPara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72000" y="3766471"/>
              <a:ext cx="3793090" cy="1034129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marL="287338" indent="-287338">
                <a:buClr>
                  <a:schemeClr val="tx2"/>
                </a:buClr>
                <a:buSzPct val="75000"/>
                <a:buFont typeface="Wingdings"/>
                <a:buChar char=""/>
              </a:pPr>
              <a:r>
                <a:rPr lang="en-US" sz="1800" b="0" i="1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Interrupt number</a:t>
              </a:r>
              <a:r>
                <a:rPr lang="en-US" sz="1800" b="0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800" b="0" i="1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(User INTs  #4-15)</a:t>
              </a:r>
            </a:p>
            <a:p>
              <a:pPr marL="287338" indent="-287338">
                <a:buClr>
                  <a:schemeClr val="tx2"/>
                </a:buClr>
                <a:buSzPct val="75000"/>
                <a:buFont typeface="Wingdings"/>
                <a:buChar char=""/>
              </a:pPr>
              <a:r>
                <a:rPr lang="en-US" sz="1800" b="0" i="1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Interrupt priority</a:t>
              </a:r>
              <a:r>
                <a:rPr lang="en-US" sz="1800" b="0" smtClean="0">
                  <a:solidFill>
                    <a:schemeClr val="dk1"/>
                  </a:solidFill>
                  <a:latin typeface="Calibri" pitchFamily="34" charset="0"/>
                  <a:cs typeface="Calibri" pitchFamily="34" charset="0"/>
                </a:rPr>
                <a:t> – N/A</a:t>
              </a:r>
            </a:p>
            <a:p>
              <a:pPr marL="287338" indent="-287338">
                <a:buClr>
                  <a:schemeClr val="tx2"/>
                </a:buClr>
                <a:buSzPct val="75000"/>
                <a:buFont typeface="Wingdings"/>
                <a:buChar char=""/>
              </a:pPr>
              <a:r>
                <a:rPr lang="en-US" sz="1800" b="0" i="1" smtClean="0">
                  <a:solidFill>
                    <a:schemeClr val="tx2"/>
                  </a:solidFill>
                  <a:effectLst/>
                  <a:latin typeface="Calibri" pitchFamily="34" charset="0"/>
                  <a:cs typeface="Calibri" pitchFamily="34" charset="0"/>
                </a:rPr>
                <a:t>Event Id</a:t>
              </a:r>
              <a:r>
                <a:rPr lang="en-US" sz="1800" b="0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 comes from datasheet:</a:t>
              </a:r>
              <a:endPara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4104" name="Picture 8" descr="C:\Users\a0159877\AppData\Local\Temp\SNAGHTML1106221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9665" y="4820795"/>
              <a:ext cx="3843157" cy="16119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384" y="3823878"/>
              <a:ext cx="2853956" cy="2842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76200" dir="2700000" algn="ctr" rotWithShape="0">
                <a:schemeClr val="tx1">
                  <a:alpha val="42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3" name="Oval 22"/>
            <p:cNvSpPr/>
            <p:nvPr/>
          </p:nvSpPr>
          <p:spPr bwMode="auto">
            <a:xfrm>
              <a:off x="5217037" y="6133253"/>
              <a:ext cx="381000" cy="230445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 flipH="1">
              <a:off x="3886200" y="6216576"/>
              <a:ext cx="132641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7" name="Leading Question"/>
          <p:cNvSpPr txBox="1"/>
          <p:nvPr/>
        </p:nvSpPr>
        <p:spPr>
          <a:xfrm>
            <a:off x="6835794" y="6587231"/>
            <a:ext cx="1644681" cy="2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effectLst/>
                <a:latin typeface="Arial Narrow"/>
              </a:rPr>
              <a:t>Nesting interrupts...</a:t>
            </a:r>
            <a:endParaRPr lang="en-US" sz="18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84" y="762000"/>
            <a:ext cx="3204016" cy="255627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9758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Nesting – Enabling </a:t>
            </a:r>
            <a:r>
              <a:rPr lang="en-US" dirty="0" smtClean="0"/>
              <a:t>Preemption of </a:t>
            </a:r>
            <a:r>
              <a:rPr lang="en-US" dirty="0" err="1" smtClean="0"/>
              <a:t>Hwi</a:t>
            </a:r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8305800" cy="168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8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Default</a:t>
            </a: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mask is “SELF” – which means all other </a:t>
            </a:r>
            <a:r>
              <a:rPr lang="en-US" sz="2800" b="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Hwi’s</a:t>
            </a: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can </a:t>
            </a:r>
            <a:r>
              <a:rPr lang="en-US" sz="28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pre-empt it except for itself (i.e. </a:t>
            </a:r>
            <a:r>
              <a:rPr lang="en-US" sz="2800" b="0" i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BIOS allows nesting by default</a:t>
            </a:r>
            <a:r>
              <a:rPr lang="en-US" sz="28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).</a:t>
            </a:r>
            <a:endParaRPr lang="en-US" sz="28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8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Can choose other masking options as required:</a:t>
            </a:r>
            <a:endParaRPr lang="en-US" sz="28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5064" y="4779334"/>
            <a:ext cx="7867936" cy="1646832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 anchorCtr="0">
            <a:noAutofit/>
          </a:bodyPr>
          <a:lstStyle/>
          <a:p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ALL: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  	Best choice if ISR is short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&amp; fast (does not work on M4)</a:t>
            </a:r>
            <a:endParaRPr lang="en-US" sz="20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NONE: </a:t>
            </a:r>
            <a:r>
              <a:rPr lang="en-US" sz="2000" dirty="0" smtClean="0">
                <a:solidFill>
                  <a:srgbClr val="0066FF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Dangerous – make sure ISR code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is re-entrant (no M4)</a:t>
            </a:r>
            <a:endParaRPr lang="en-US" sz="20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BITMASK: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User can choose specific interrupts to nest (no M4)</a:t>
            </a:r>
            <a:endParaRPr lang="en-US" sz="20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LOWER:</a:t>
            </a: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	Masks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any interrupt(s) with lower priority (ARM only)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16" y="685800"/>
            <a:ext cx="578739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76200" dir="2700000" algn="ctr" rotWithShape="0">
              <a:schemeClr val="tx1">
                <a:alpha val="3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83973" y="6554969"/>
            <a:ext cx="5054782" cy="29418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Note:  BIOS does not support nested interrupts for MSP430</a:t>
            </a:r>
            <a:endParaRPr lang="en-US" sz="1600" b="0" i="1" dirty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49339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068195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642997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3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3217799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3752616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32741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420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>
            <a:normAutofit/>
          </a:bodyPr>
          <a:lstStyle/>
          <a:p>
            <a:r>
              <a:rPr lang="en-US" smtClean="0"/>
              <a:t>Using the BIOS Hwi Dispatcher</a:t>
            </a:r>
            <a:endParaRPr lang="en-US" dirty="0" smtClean="0"/>
          </a:p>
        </p:txBody>
      </p:sp>
      <p:sp>
        <p:nvSpPr>
          <p:cNvPr id="17" name="Leading Question"/>
          <p:cNvSpPr txBox="1"/>
          <p:nvPr/>
        </p:nvSpPr>
        <p:spPr>
          <a:xfrm>
            <a:off x="5832660" y="6324600"/>
            <a:ext cx="2777940" cy="2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effectLst/>
                <a:latin typeface="Arial Narrow"/>
              </a:rPr>
              <a:t>Using interrupts withOUT BIOS...</a:t>
            </a:r>
            <a:endParaRPr lang="en-US" sz="18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sp>
        <p:nvSpPr>
          <p:cNvPr id="7" name="Flowchart: Document 6"/>
          <p:cNvSpPr/>
          <p:nvPr/>
        </p:nvSpPr>
        <p:spPr bwMode="auto">
          <a:xfrm>
            <a:off x="228600" y="685800"/>
            <a:ext cx="2667000" cy="2438400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c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urrently_executing_code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{</a:t>
            </a:r>
          </a:p>
          <a:p>
            <a:pPr marR="0" indent="233363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  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Arial Narrow" pitchFamily="34" charset="0"/>
              </a:rPr>
              <a:t> interrupt</a:t>
            </a:r>
            <a:r>
              <a:rPr kumimoji="0" lang="en-US" sz="2000" b="0" i="0" u="none" strike="noStrike" cap="none" normalizeH="0" smtClean="0">
                <a:ln>
                  <a:noFill/>
                </a:ln>
                <a:solidFill>
                  <a:schemeClr val="tx2"/>
                </a:solidFill>
                <a:effectLst/>
                <a:latin typeface="Arial Narrow" pitchFamily="34" charset="0"/>
              </a:rPr>
              <a:t> occurs</a:t>
            </a:r>
          </a:p>
          <a:p>
            <a:pPr marR="0" indent="233363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>
                <a:solidFill>
                  <a:schemeClr val="dk1"/>
                </a:solidFill>
                <a:latin typeface="Arial Narrow" pitchFamily="34" charset="0"/>
              </a:rPr>
              <a:t>n</a:t>
            </a: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ext_line_of_code</a:t>
            </a: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}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31750" y="1447800"/>
            <a:ext cx="1726050" cy="395173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Vector Table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" name="Straight Arrow Connector 3"/>
          <p:cNvCxnSpPr>
            <a:endCxn id="9" idx="1"/>
          </p:cNvCxnSpPr>
          <p:nvPr/>
        </p:nvCxnSpPr>
        <p:spPr bwMode="auto">
          <a:xfrm>
            <a:off x="2590800" y="1645386"/>
            <a:ext cx="940950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Rectangle 54"/>
          <p:cNvSpPr>
            <a:spLocks noChangeArrowheads="1"/>
          </p:cNvSpPr>
          <p:nvPr/>
        </p:nvSpPr>
        <p:spPr bwMode="auto">
          <a:xfrm>
            <a:off x="5486400" y="3304163"/>
            <a:ext cx="3467100" cy="187743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/>
        </p:spPr>
        <p:txBody>
          <a:bodyPr wrap="square" lIns="45720" rIns="4572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mtClean="0">
                <a:latin typeface="Courier New" pitchFamily="49" charset="0"/>
              </a:rPr>
              <a:t>void myHwi(arg)</a:t>
            </a:r>
            <a:endParaRPr lang="en-US"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>
                <a:latin typeface="Arial Narrow" pitchFamily="34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READ_HW_PORT;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z="2000" b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Swi_post();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mtClean="0">
                <a:latin typeface="Courier New" pitchFamily="49" charset="0"/>
              </a:rPr>
              <a:t>}</a:t>
            </a:r>
            <a:endParaRPr lang="en-US">
              <a:latin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" y="3340013"/>
            <a:ext cx="4572000" cy="321318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buClr>
                <a:schemeClr val="tx2"/>
              </a:buClr>
              <a:buSzPct val="75000"/>
            </a:pPr>
            <a:r>
              <a:rPr lang="en-US" u="sng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BIOS Hwi Dispatcher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Easy to use, simple, </a:t>
            </a:r>
            <a:r>
              <a:rPr lang="en-US" sz="180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RECOMMENDED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Turned ON for every BIOS Hwi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Slight increase in latency due to full context save/restore 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Allows BIOS Scheduler function calls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Saves code space (all INTs share common save/restore routine)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Performs “smart return” – returns to highest priority pending thread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 flipH="1">
            <a:off x="5257800" y="4953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 flipV="1">
            <a:off x="5261344" y="2438400"/>
            <a:ext cx="0" cy="2514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5257800" y="2438400"/>
            <a:ext cx="8594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6117266" y="1447800"/>
            <a:ext cx="2057400" cy="395173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Hwi Dispatcher: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6117266" y="1835881"/>
            <a:ext cx="2057400" cy="395173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Context Save</a:t>
            </a:r>
            <a:endParaRPr kumimoji="0" lang="en-US" sz="2000" b="0" i="0" u="none" strike="noStrike" cap="none" normalizeH="0" baseline="0" dirty="0" smtClean="0">
              <a:ln>
                <a:noFill/>
              </a:ln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6117265" y="2231066"/>
            <a:ext cx="2057401" cy="731872"/>
          </a:xfrm>
          <a:prstGeom prst="rec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effectLst/>
                <a:latin typeface="Calibri" pitchFamily="34" charset="0"/>
                <a:cs typeface="Calibri" pitchFamily="34" charset="0"/>
              </a:rPr>
              <a:t>Context Restore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latin typeface="Calibri" pitchFamily="34" charset="0"/>
                <a:cs typeface="Calibri" pitchFamily="34" charset="0"/>
              </a:rPr>
              <a:t>“Smart” Return</a:t>
            </a:r>
            <a:endParaRPr kumimoji="0" lang="en-US" sz="2000" b="0" i="0" u="none" strike="noStrike" cap="none" normalizeH="0" baseline="0" dirty="0" smtClean="0">
              <a:ln>
                <a:noFill/>
              </a:ln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8" name="Straight Arrow Connector 27"/>
          <p:cNvCxnSpPr>
            <a:stCxn id="9" idx="3"/>
            <a:endCxn id="21" idx="1"/>
          </p:cNvCxnSpPr>
          <p:nvPr/>
        </p:nvCxnSpPr>
        <p:spPr bwMode="auto">
          <a:xfrm>
            <a:off x="5257800" y="1645387"/>
            <a:ext cx="859466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7772400" y="2033467"/>
            <a:ext cx="70807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</p:cxnSp>
      <p:cxnSp>
        <p:nvCxnSpPr>
          <p:cNvPr id="16384" name="Straight Arrow Connector 16383"/>
          <p:cNvCxnSpPr/>
          <p:nvPr/>
        </p:nvCxnSpPr>
        <p:spPr bwMode="auto">
          <a:xfrm>
            <a:off x="8480475" y="2033467"/>
            <a:ext cx="0" cy="127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389" name="Straight Arrow Connector 16388"/>
          <p:cNvCxnSpPr/>
          <p:nvPr/>
        </p:nvCxnSpPr>
        <p:spPr bwMode="auto">
          <a:xfrm flipH="1" flipV="1">
            <a:off x="2362200" y="2033467"/>
            <a:ext cx="3755066" cy="70973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62151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>
            <a:normAutofit/>
          </a:bodyPr>
          <a:lstStyle/>
          <a:p>
            <a:r>
              <a:rPr lang="en-US" smtClean="0"/>
              <a:t>Using the </a:t>
            </a:r>
            <a:r>
              <a:rPr lang="en-US" b="0" i="1" smtClean="0"/>
              <a:t>interrupt</a:t>
            </a:r>
            <a:r>
              <a:rPr lang="en-US" smtClean="0"/>
              <a:t> Keyword</a:t>
            </a:r>
            <a:endParaRPr lang="en-US" dirty="0" smtClean="0"/>
          </a:p>
        </p:txBody>
      </p:sp>
      <p:sp>
        <p:nvSpPr>
          <p:cNvPr id="17" name="Leading Question"/>
          <p:cNvSpPr txBox="1"/>
          <p:nvPr/>
        </p:nvSpPr>
        <p:spPr>
          <a:xfrm>
            <a:off x="7526111" y="6477000"/>
            <a:ext cx="954364" cy="22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effectLst/>
                <a:latin typeface="Arial Narrow"/>
              </a:rPr>
              <a:t>Summary...</a:t>
            </a:r>
            <a:endParaRPr lang="en-US" sz="18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  <p:sp>
        <p:nvSpPr>
          <p:cNvPr id="7" name="Flowchart: Document 6"/>
          <p:cNvSpPr/>
          <p:nvPr/>
        </p:nvSpPr>
        <p:spPr bwMode="auto">
          <a:xfrm>
            <a:off x="228600" y="685800"/>
            <a:ext cx="2667000" cy="2438400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c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urrently_executing_code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{</a:t>
            </a:r>
          </a:p>
          <a:p>
            <a:pPr marR="0" indent="233363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  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Arial Narrow" pitchFamily="34" charset="0"/>
              </a:rPr>
              <a:t> interrupt</a:t>
            </a:r>
            <a:r>
              <a:rPr kumimoji="0" lang="en-US" sz="2000" b="0" i="0" u="none" strike="noStrike" cap="none" normalizeH="0" smtClean="0">
                <a:ln>
                  <a:noFill/>
                </a:ln>
                <a:solidFill>
                  <a:schemeClr val="tx2"/>
                </a:solidFill>
                <a:effectLst/>
                <a:latin typeface="Arial Narrow" pitchFamily="34" charset="0"/>
              </a:rPr>
              <a:t> occurs</a:t>
            </a:r>
          </a:p>
          <a:p>
            <a:pPr marR="0" indent="233363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>
                <a:solidFill>
                  <a:schemeClr val="dk1"/>
                </a:solidFill>
                <a:latin typeface="Arial Narrow" pitchFamily="34" charset="0"/>
              </a:rPr>
              <a:t>n</a:t>
            </a: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ext_line_of_code</a:t>
            </a: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smtClean="0">
                <a:solidFill>
                  <a:schemeClr val="dk1"/>
                </a:solidFill>
                <a:latin typeface="Arial Narrow" pitchFamily="34" charset="0"/>
              </a:rPr>
              <a:t>}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31750" y="1447800"/>
            <a:ext cx="1726050" cy="395173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none" rtlCol="0" anchor="ctr" anchorCtr="0">
            <a:spAutoFit/>
          </a:bodyPr>
          <a:lstStyle/>
          <a:p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Vector Table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" name="Straight Arrow Connector 3"/>
          <p:cNvCxnSpPr>
            <a:endCxn id="9" idx="1"/>
          </p:cNvCxnSpPr>
          <p:nvPr/>
        </p:nvCxnSpPr>
        <p:spPr bwMode="auto">
          <a:xfrm>
            <a:off x="2590800" y="1645386"/>
            <a:ext cx="940950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Rectangle 54"/>
          <p:cNvSpPr>
            <a:spLocks noChangeArrowheads="1"/>
          </p:cNvSpPr>
          <p:nvPr/>
        </p:nvSpPr>
        <p:spPr bwMode="auto">
          <a:xfrm>
            <a:off x="4953000" y="3142833"/>
            <a:ext cx="4038600" cy="280076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/>
        </p:spPr>
        <p:txBody>
          <a:bodyPr wrap="square" lIns="45720" rIns="4572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i="1" smtClean="0">
                <a:solidFill>
                  <a:schemeClr val="tx2"/>
                </a:solidFill>
                <a:latin typeface="Courier New" pitchFamily="49" charset="0"/>
              </a:rPr>
              <a:t>interrupt</a:t>
            </a:r>
            <a:r>
              <a:rPr lang="en-US" smtClean="0">
                <a:latin typeface="Courier New" pitchFamily="49" charset="0"/>
              </a:rPr>
              <a:t> myHwi(void)</a:t>
            </a:r>
            <a:endParaRPr lang="en-US"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>
                <a:latin typeface="Arial Narrow" pitchFamily="34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context save;  //nest?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z="2000" b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READ_HW_PORT;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z="2000" b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Process;	      //??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z="2000" b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Swi_post();</a:t>
            </a: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 sz="2000" b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0" smtClean="0">
                <a:latin typeface="Courier New" pitchFamily="49" charset="0"/>
                <a:cs typeface="Courier New" pitchFamily="49" charset="0"/>
              </a:rPr>
              <a:t>context restore;</a:t>
            </a:r>
            <a:endParaRPr lang="en-US" sz="200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tabLst>
                <a:tab pos="454025" algn="l"/>
              </a:tabLst>
            </a:pPr>
            <a:r>
              <a:rPr lang="en-US">
                <a:latin typeface="Courier New" pitchFamily="49" charset="0"/>
              </a:rPr>
              <a:t>}</a:t>
            </a:r>
          </a:p>
        </p:txBody>
      </p:sp>
      <p:cxnSp>
        <p:nvCxnSpPr>
          <p:cNvPr id="11" name="Elbow Connector 10"/>
          <p:cNvCxnSpPr>
            <a:stCxn id="9" idx="3"/>
            <a:endCxn id="13" idx="0"/>
          </p:cNvCxnSpPr>
          <p:nvPr/>
        </p:nvCxnSpPr>
        <p:spPr bwMode="auto">
          <a:xfrm>
            <a:off x="5257800" y="1645387"/>
            <a:ext cx="1714500" cy="149744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ysDot"/>
            <a:round/>
            <a:headEnd type="none" w="sm" len="sm"/>
            <a:tailEnd type="arrow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flipV="1">
            <a:off x="5435004" y="4942367"/>
            <a:ext cx="146685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3" name="TextBox 22"/>
          <p:cNvSpPr txBox="1"/>
          <p:nvPr/>
        </p:nvSpPr>
        <p:spPr>
          <a:xfrm>
            <a:off x="228600" y="3394401"/>
            <a:ext cx="4572000" cy="285308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buClr>
                <a:schemeClr val="tx2"/>
              </a:buClr>
              <a:buSzPct val="75000"/>
            </a:pPr>
            <a:r>
              <a:rPr lang="en-US" u="sng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Interrupt Keyword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Compiler handles context save/restore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Call a function? Then full context is saved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Nesting interrupts is MANUAL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Users canNOT call any BIOS Scheduler functions (e.g. Swi_post)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Use ONLY if absolute minimum latency is required in your system (and then, just maybe)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2514600" y="2057400"/>
            <a:ext cx="2438400" cy="3657600"/>
            <a:chOff x="2514600" y="2057400"/>
            <a:chExt cx="2438400" cy="3657600"/>
          </a:xfrm>
        </p:grpSpPr>
        <p:cxnSp>
          <p:nvCxnSpPr>
            <p:cNvPr id="25" name="Straight Connector 24"/>
            <p:cNvCxnSpPr/>
            <p:nvPr/>
          </p:nvCxnSpPr>
          <p:spPr bwMode="auto">
            <a:xfrm flipH="1">
              <a:off x="4724400" y="5715000"/>
              <a:ext cx="2286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6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 flipV="1">
              <a:off x="4724400" y="2057400"/>
              <a:ext cx="0" cy="365760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6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 flipH="1">
              <a:off x="2514600" y="2057400"/>
              <a:ext cx="22098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65000"/>
                </a:schemeClr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</p:cxnSp>
      </p:grpSp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1050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6" name="Rectangle 8"/>
          <p:cNvSpPr>
            <a:spLocks noChangeArrowheads="1"/>
          </p:cNvSpPr>
          <p:nvPr/>
        </p:nvSpPr>
        <p:spPr bwMode="auto">
          <a:xfrm>
            <a:off x="906463" y="685800"/>
            <a:ext cx="7323137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square" lIns="182880" tIns="91440" rIns="92075" bIns="18288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AutoNum type="arabicPeriod"/>
            </a:pPr>
            <a:r>
              <a:rPr lang="en-US" smtClean="0">
                <a:latin typeface="Calibri" pitchFamily="34" charset="0"/>
                <a:cs typeface="Calibri" pitchFamily="34" charset="0"/>
              </a:rPr>
              <a:t>BIOS Hwi </a:t>
            </a:r>
            <a:r>
              <a:rPr lang="en-US">
                <a:latin typeface="Calibri" pitchFamily="34" charset="0"/>
                <a:cs typeface="Calibri" pitchFamily="34" charset="0"/>
              </a:rPr>
              <a:t>Dispatcher 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>
                <a:latin typeface="Calibri" pitchFamily="34" charset="0"/>
                <a:cs typeface="Calibri" pitchFamily="34" charset="0"/>
              </a:rPr>
              <a:t>Allows </a:t>
            </a:r>
            <a:r>
              <a:rPr lang="en-US" sz="2000" u="sng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nesting</a:t>
            </a:r>
            <a:r>
              <a:rPr lang="en-US" sz="2000">
                <a:latin typeface="Calibri" pitchFamily="34" charset="0"/>
                <a:cs typeface="Calibri" pitchFamily="34" charset="0"/>
              </a:rPr>
              <a:t> of interrupts 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>
                <a:latin typeface="Calibri" pitchFamily="34" charset="0"/>
                <a:cs typeface="Calibri" pitchFamily="34" charset="0"/>
              </a:rPr>
              <a:t>Saves</a:t>
            </a:r>
            <a:r>
              <a:rPr lang="en-US" sz="2000" u="sng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code space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 u="sng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Required</a:t>
            </a:r>
            <a:r>
              <a:rPr lang="en-US" sz="2000">
                <a:latin typeface="Calibri" pitchFamily="34" charset="0"/>
                <a:cs typeface="Calibri" pitchFamily="34" charset="0"/>
              </a:rPr>
              <a:t> when ISR uses BIOS scheduler functions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 smtClean="0">
                <a:latin typeface="Calibri" pitchFamily="34" charset="0"/>
                <a:cs typeface="Calibri" pitchFamily="34" charset="0"/>
              </a:rPr>
              <a:t>Performs a </a:t>
            </a:r>
            <a:r>
              <a:rPr lang="en-US" sz="2000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smart return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 to highest priority pending thread</a:t>
            </a:r>
            <a:endParaRPr lang="en-US" sz="200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100000"/>
              </a:lnSpc>
              <a:buClr>
                <a:schemeClr val="tx2"/>
              </a:buClr>
              <a:buSzPct val="75000"/>
              <a:buFont typeface="Wingdings" pitchFamily="2" charset="2"/>
              <a:buAutoNum type="arabicPeriod"/>
            </a:pPr>
            <a:r>
              <a:rPr lang="en-US">
                <a:latin typeface="Calibri" pitchFamily="34" charset="0"/>
                <a:cs typeface="Calibri" pitchFamily="34" charset="0"/>
              </a:rPr>
              <a:t>Interrupt Keyword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 smtClean="0">
                <a:latin typeface="Calibri" pitchFamily="34" charset="0"/>
                <a:cs typeface="Calibri" pitchFamily="34" charset="0"/>
              </a:rPr>
              <a:t>Slight advantage (only if absolute MIN latency required)</a:t>
            </a:r>
            <a:endParaRPr lang="en-US" sz="20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6906" name="Rectangle 58"/>
          <p:cNvSpPr>
            <a:spLocks noChangeArrowheads="1"/>
          </p:cNvSpPr>
          <p:nvPr/>
        </p:nvSpPr>
        <p:spPr bwMode="auto">
          <a:xfrm>
            <a:off x="906463" y="3781425"/>
            <a:ext cx="7323137" cy="26193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0" rIns="92075" bIns="182880"/>
          <a:lstStyle/>
          <a:p>
            <a:pPr marL="454025" indent="-454025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>
                <a:latin typeface="Calibri" pitchFamily="34" charset="0"/>
                <a:cs typeface="Calibri" pitchFamily="34" charset="0"/>
              </a:rPr>
              <a:t>Notes:</a:t>
            </a:r>
          </a:p>
          <a:p>
            <a:pPr marL="800100" lvl="1" indent="-3429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000">
                <a:latin typeface="Calibri" pitchFamily="34" charset="0"/>
                <a:cs typeface="Calibri" pitchFamily="34" charset="0"/>
              </a:rPr>
              <a:t>Choose </a:t>
            </a:r>
            <a:r>
              <a:rPr lang="en-US" sz="2000" i="1">
                <a:latin typeface="Calibri" pitchFamily="34" charset="0"/>
                <a:cs typeface="Calibri" pitchFamily="34" charset="0"/>
              </a:rPr>
              <a:t>HWI dispatcher</a:t>
            </a: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OR </a:t>
            </a:r>
            <a:r>
              <a:rPr lang="en-US" sz="2000" i="1">
                <a:latin typeface="Calibri" pitchFamily="34" charset="0"/>
                <a:cs typeface="Calibri" pitchFamily="34" charset="0"/>
              </a:rPr>
              <a:t>Interrupt</a:t>
            </a:r>
            <a:r>
              <a:rPr lang="en-US" sz="2000">
                <a:latin typeface="Calibri" pitchFamily="34" charset="0"/>
                <a:cs typeface="Calibri" pitchFamily="34" charset="0"/>
              </a:rPr>
              <a:t> keyword on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an</a:t>
            </a:r>
            <a:br>
              <a:rPr lang="en-US" sz="2000" smtClean="0">
                <a:latin typeface="Calibri" pitchFamily="34" charset="0"/>
                <a:cs typeface="Calibri" pitchFamily="34" charset="0"/>
              </a:rPr>
            </a:br>
            <a:r>
              <a:rPr lang="en-US" sz="2000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interrupt-by-interrupt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>
                <a:latin typeface="Calibri" pitchFamily="34" charset="0"/>
                <a:cs typeface="Calibri" pitchFamily="34" charset="0"/>
              </a:rPr>
              <a:t>basis</a:t>
            </a:r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Interrupt Creation Summary</a:t>
            </a:r>
          </a:p>
        </p:txBody>
      </p:sp>
      <p:grpSp>
        <p:nvGrpSpPr>
          <p:cNvPr id="206930" name="Group 82"/>
          <p:cNvGrpSpPr>
            <a:grpSpLocks/>
          </p:cNvGrpSpPr>
          <p:nvPr/>
        </p:nvGrpSpPr>
        <p:grpSpPr bwMode="auto">
          <a:xfrm>
            <a:off x="1104900" y="5000625"/>
            <a:ext cx="6667500" cy="1219200"/>
            <a:chOff x="456" y="2976"/>
            <a:chExt cx="4680" cy="768"/>
          </a:xfrm>
        </p:grpSpPr>
        <p:sp>
          <p:nvSpPr>
            <p:cNvPr id="206928" name="Rectangle 80"/>
            <p:cNvSpPr>
              <a:spLocks noChangeArrowheads="1"/>
            </p:cNvSpPr>
            <p:nvPr/>
          </p:nvSpPr>
          <p:spPr bwMode="auto">
            <a:xfrm>
              <a:off x="576" y="2976"/>
              <a:ext cx="4560" cy="768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rgbClr val="FF0000"/>
              </a:solidFill>
              <a:prstDash val="sysDot"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pPr>
                <a:lnSpc>
                  <a:spcPct val="120000"/>
                </a:lnSpc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endParaRPr lang="en-US"/>
            </a:p>
          </p:txBody>
        </p:sp>
        <p:sp>
          <p:nvSpPr>
            <p:cNvPr id="206927" name="Rectangle 79"/>
            <p:cNvSpPr>
              <a:spLocks noChangeArrowheads="1"/>
            </p:cNvSpPr>
            <p:nvPr/>
          </p:nvSpPr>
          <p:spPr bwMode="auto">
            <a:xfrm>
              <a:off x="456" y="2976"/>
              <a:ext cx="3635" cy="7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prstDash val="sysDot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1">
                <a:lnSpc>
                  <a:spcPct val="120000"/>
                </a:lnSpc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en-US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Caution:</a:t>
              </a:r>
            </a:p>
            <a:p>
              <a:pPr lvl="2">
                <a:lnSpc>
                  <a:spcPct val="110000"/>
                </a:lnSpc>
                <a:spcBef>
                  <a:spcPct val="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en-US" sz="2000">
                  <a:latin typeface="Calibri" pitchFamily="34" charset="0"/>
                  <a:cs typeface="Calibri" pitchFamily="34" charset="0"/>
                </a:rPr>
                <a:t>For each interrupt, use </a:t>
              </a:r>
              <a:r>
                <a:rPr lang="en-US" sz="2000" u="sng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only</a:t>
              </a:r>
              <a:r>
                <a:rPr lang="en-US" sz="2000">
                  <a:latin typeface="Calibri" pitchFamily="34" charset="0"/>
                  <a:cs typeface="Calibri" pitchFamily="34" charset="0"/>
                </a:rPr>
                <a:t> one of these two </a:t>
              </a:r>
              <a:br>
                <a:rPr lang="en-US" sz="2000">
                  <a:latin typeface="Calibri" pitchFamily="34" charset="0"/>
                  <a:cs typeface="Calibri" pitchFamily="34" charset="0"/>
                </a:rPr>
              </a:br>
              <a:r>
                <a:rPr lang="en-US" sz="2000">
                  <a:latin typeface="Calibri" pitchFamily="34" charset="0"/>
                  <a:cs typeface="Calibri" pitchFamily="34" charset="0"/>
                </a:rPr>
                <a:t>interrupt context methods</a:t>
              </a:r>
            </a:p>
          </p:txBody>
        </p:sp>
      </p:grpSp>
      <p:pic>
        <p:nvPicPr>
          <p:cNvPr id="10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162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0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49339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068195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642997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3217799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3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4800" y="3792601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32741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743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Interrupt Response Time</a:t>
            </a:r>
            <a:endParaRPr lang="en-US"/>
          </a:p>
        </p:txBody>
      </p:sp>
      <p:pic>
        <p:nvPicPr>
          <p:cNvPr id="45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00885"/>
              </p:ext>
            </p:extLst>
          </p:nvPr>
        </p:nvGraphicFramePr>
        <p:xfrm>
          <a:off x="956932" y="1036670"/>
          <a:ext cx="7425068" cy="189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022"/>
                <a:gridCol w="1528690"/>
                <a:gridCol w="1819870"/>
                <a:gridCol w="1601486"/>
              </a:tblGrid>
              <a:tr h="472599"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C28x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MSP430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Tiva-C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72599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Non-BIOS-Mg’d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72599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BIOS-Mg’d</a:t>
                      </a:r>
                      <a:r>
                        <a:rPr lang="en-US" sz="2000" baseline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(MIN)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193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</a:tr>
              <a:tr h="472599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BIOS-Mg’d (DEFAULT)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226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114</a:t>
                      </a:r>
                      <a:endParaRPr lang="en-US"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2002"/>
            <a:ext cx="6565836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~CPU Cycles from trigger to first line of ISR code:</a:t>
            </a:r>
            <a:endParaRPr lang="en-US" b="0" dirty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1501" y="3118237"/>
            <a:ext cx="8305800" cy="332398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“Non-BIOS Mg’d” means interrupt not managed by BIOS (vector must be</a:t>
            </a:r>
            <a:b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“plugged” manually)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test code (from author) run </a:t>
            </a:r>
            <a:r>
              <a:rPr lang="en-US" sz="2000" b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FLASH (some wait states</a:t>
            </a: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“DEFAULT” means that the default services for the interrupt are selected (mostly ALL of them).</a:t>
            </a:r>
            <a:endParaRPr lang="en-US" sz="2000" b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 can </a:t>
            </a:r>
            <a:r>
              <a:rPr lang="en-US" sz="2000" b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 cycle count by turning off some features </a:t>
            </a: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and/or </a:t>
            </a:r>
            <a:r>
              <a:rPr lang="en-US" sz="2000" b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running </a:t>
            </a: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RAM (see “MIN” numbers, where all BIOS features are turned off)</a:t>
            </a:r>
            <a:endParaRPr lang="en-US" sz="2000" b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Published “interrupt latency” numbers in BIOS Benchmarks describe the longest time interrupts are disabled anywhere in the </a:t>
            </a: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O/S. </a:t>
            </a:r>
            <a:endParaRPr lang="en-US" sz="2000" b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Benchmark projects available in the \TI_RTOS folder</a:t>
            </a:r>
          </a:p>
        </p:txBody>
      </p:sp>
      <p:sp>
        <p:nvSpPr>
          <p:cNvPr id="3" name="Leading Question"/>
          <p:cNvSpPr txBox="1"/>
          <p:nvPr/>
        </p:nvSpPr>
        <p:spPr>
          <a:xfrm>
            <a:off x="4545523" y="6514313"/>
            <a:ext cx="4275208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How do you create a "zero latency" interrupt ?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340917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Non-BIOS Managed INT Creation</a:t>
            </a:r>
            <a:endParaRPr lang="en-US"/>
          </a:p>
        </p:txBody>
      </p:sp>
      <p:pic>
        <p:nvPicPr>
          <p:cNvPr id="45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882501"/>
            <a:ext cx="8915400" cy="6124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Easiest of them all – simply define the INT in the CFG file and choose Priority Group ZERO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use </a:t>
            </a:r>
            <a:r>
              <a:rPr lang="en-US" sz="1800" b="0" i="1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  <a:r>
              <a:rPr lang="en-US" sz="18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keyword for the ISR:</a:t>
            </a:r>
            <a:endParaRPr lang="en-US" sz="1800" b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601014"/>
            <a:ext cx="801823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TM4C</a:t>
            </a:r>
            <a:endParaRPr lang="en-US" sz="2000" dirty="0" smtClean="0">
              <a:solidFill>
                <a:schemeClr val="accent4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C:\Users\a0159877\AppData\Local\Temp\SNAGHTMLe0438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774" y="1169573"/>
            <a:ext cx="224942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8600" y="2461366"/>
            <a:ext cx="8686800" cy="83958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Cannot define “zero latency” interrupt in the BIOS GUI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must manually use #pragma to “plug” the vector and then use the </a:t>
            </a:r>
            <a:r>
              <a:rPr lang="en-US" sz="1800" b="0" i="1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  <a:r>
              <a:rPr lang="en-US" sz="18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keyword: </a:t>
            </a:r>
            <a:endParaRPr lang="en-US" sz="1800" b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2101701"/>
            <a:ext cx="1056700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MSP430</a:t>
            </a:r>
            <a:endParaRPr lang="en-US" sz="2000" dirty="0" smtClean="0">
              <a:solidFill>
                <a:schemeClr val="accent4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C:\Users\a0159877\AppData\Local\Temp\SNAGHTMLe3736f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762" y="1502735"/>
            <a:ext cx="3170838" cy="58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a0159877\AppData\Local\Temp\SNAGHTMLe4d49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665" y="3092301"/>
            <a:ext cx="3650535" cy="74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28600" y="4068972"/>
            <a:ext cx="8686800" cy="31944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Define “zero latency” interrupt in the BIOS GUI (Hwi 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sym typeface="Wingdings"/>
              </a:rPr>
              <a:t> </a:t>
            </a: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Advanced,  Ex: 0x10 is INT5):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764172"/>
            <a:ext cx="699230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C28x</a:t>
            </a:r>
            <a:endParaRPr lang="en-US" sz="2000" dirty="0" smtClean="0">
              <a:solidFill>
                <a:schemeClr val="accent4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" y="5312473"/>
            <a:ext cx="8686800" cy="6179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Cannot define “zero latency” interrupt in the BIOS GUI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must use Hwi_plug() to “plug” the vector table + Hwi_eventMap() for EventId</a:t>
            </a:r>
            <a:endParaRPr lang="en-US" sz="1800" b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" y="5032516"/>
            <a:ext cx="840295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C6000</a:t>
            </a:r>
            <a:endParaRPr lang="en-US" sz="2000" dirty="0" smtClean="0">
              <a:solidFill>
                <a:schemeClr val="accent4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a0159877\AppData\Local\Temp\SNAGHTML38f814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43" y="4367152"/>
            <a:ext cx="3310232" cy="66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70223" y="5943600"/>
            <a:ext cx="5368777" cy="5755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none" rtlCol="0" anchor="ctr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smtClean="0">
                <a:solidFill>
                  <a:schemeClr val="dk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Hwi_plug(5, (Hwi_PlugFuncPtr)isr_nonBIOS);</a:t>
            </a:r>
          </a:p>
          <a:p>
            <a:pPr>
              <a:spcBef>
                <a:spcPts val="600"/>
              </a:spcBef>
            </a:pPr>
            <a:r>
              <a:rPr lang="en-US" sz="1600" smtClean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Hwi_eventMap(5, 64);</a:t>
            </a:r>
            <a:endParaRPr lang="en-US" sz="1600" dirty="0" smtClean="0">
              <a:solidFill>
                <a:schemeClr val="dk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719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49339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Hardware Interrupts (Hwi)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068195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How Interrupts Work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642997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Configuring an Hwi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3217799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Managing ISRs – Two Ways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3792601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Hwi Benchmarks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3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4800" y="4367403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1952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Labs 5-9 “Roadmap”</a:t>
            </a:r>
            <a:endParaRPr lang="en-US" u="sng" dirty="0" smtClean="0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4879374" y="1866917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3126774" y="2466292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6315299" y="34212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2921924" y="4042742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315299" y="52500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748178"/>
              </p:ext>
            </p:extLst>
          </p:nvPr>
        </p:nvGraphicFramePr>
        <p:xfrm>
          <a:off x="430100" y="762000"/>
          <a:ext cx="8256700" cy="57067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37133"/>
                <a:gridCol w="2048602"/>
                <a:gridCol w="1528828"/>
                <a:gridCol w="1460937"/>
                <a:gridCol w="1981200"/>
              </a:tblGrid>
              <a:tr h="47611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Lab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Trigger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Other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Fxn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3063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3451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timer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/>
                      </a:r>
                      <a:b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</a:t>
                      </a:r>
                      <a:r>
                        <a:rPr lang="en-US" sz="240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5823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Swi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45843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Clock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 smtClean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algn="l"/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(Hwi, Swi)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Task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smtClean="0">
                          <a:latin typeface="Calibri" pitchFamily="34" charset="0"/>
                          <a:cs typeface="Calibri" pitchFamily="34" charset="0"/>
                        </a:rPr>
                        <a:t>LED</a:t>
                      </a:r>
                      <a:r>
                        <a:rPr lang="en-US" sz="1800" baseline="0" smtClean="0">
                          <a:latin typeface="Calibri" pitchFamily="34" charset="0"/>
                          <a:cs typeface="Calibri" pitchFamily="34" charset="0"/>
                        </a:rPr>
                        <a:t> State → Mbx/Que →ledToggle</a:t>
                      </a:r>
                      <a:endParaRPr lang="en-US" sz="18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 bwMode="auto">
          <a:xfrm>
            <a:off x="5181600" y="1634174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3429000" y="2233549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6588825" y="3200399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3224150" y="3809999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6629400" y="50173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1" name="Right Arrow 10"/>
          <p:cNvSpPr/>
          <p:nvPr/>
        </p:nvSpPr>
        <p:spPr bwMode="auto">
          <a:xfrm>
            <a:off x="220532" y="1333517"/>
            <a:ext cx="617668" cy="533400"/>
          </a:xfrm>
          <a:prstGeom prst="rightArrow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>
            <a:off x="220532" y="2120487"/>
            <a:ext cx="617668" cy="5334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71453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 5 – “Blink LED” Using </a:t>
            </a:r>
            <a:r>
              <a:rPr lang="en-US" u="sng" smtClean="0"/>
              <a:t>Hwi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latin typeface="Times New Roman" pitchFamily="18" charset="0"/>
                <a:cs typeface="Times New Roman" pitchFamily="18" charset="0"/>
              </a:rPr>
            </a:br>
            <a:endParaRPr lang="en-US" b="0">
              <a:latin typeface="Times New Roman" pitchFamily="18" charset="0"/>
            </a:endParaRPr>
          </a:p>
        </p:txBody>
      </p:sp>
      <p:sp>
        <p:nvSpPr>
          <p:cNvPr id="33796" name="AutoShape 99"/>
          <p:cNvSpPr>
            <a:spLocks noChangeArrowheads="1"/>
          </p:cNvSpPr>
          <p:nvPr/>
        </p:nvSpPr>
        <p:spPr bwMode="auto">
          <a:xfrm>
            <a:off x="304800" y="2243505"/>
            <a:ext cx="2057400" cy="16674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600" dirty="0">
                <a:latin typeface="Courier New" pitchFamily="49" charset="0"/>
              </a:rPr>
              <a:t>main() {</a:t>
            </a:r>
          </a:p>
          <a:p>
            <a:r>
              <a:rPr lang="en-US" sz="1600">
                <a:latin typeface="Courier New" pitchFamily="49" charset="0"/>
              </a:rPr>
              <a:t>  </a:t>
            </a:r>
            <a:r>
              <a:rPr lang="en-US" sz="1600" smtClean="0">
                <a:latin typeface="Courier New" pitchFamily="49" charset="0"/>
              </a:rPr>
              <a:t>init_hw();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</a:t>
            </a:r>
            <a:r>
              <a:rPr lang="en-US" sz="1600" smtClean="0">
                <a:latin typeface="Courier New" pitchFamily="49" charset="0"/>
              </a:rPr>
              <a:t>Timer (500ms)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 smtClean="0">
                <a:latin typeface="Courier New" pitchFamily="49" charset="0"/>
              </a:rPr>
              <a:t>BIOS_start</a:t>
            </a:r>
            <a:r>
              <a:rPr lang="en-US" sz="1600" dirty="0" smtClean="0">
                <a:latin typeface="Courier New" pitchFamily="49" charset="0"/>
              </a:rPr>
              <a:t>();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} </a:t>
            </a:r>
          </a:p>
        </p:txBody>
      </p:sp>
      <p:sp>
        <p:nvSpPr>
          <p:cNvPr id="33797" name="AutoShape 102"/>
          <p:cNvSpPr>
            <a:spLocks noChangeArrowheads="1"/>
          </p:cNvSpPr>
          <p:nvPr/>
        </p:nvSpPr>
        <p:spPr bwMode="auto">
          <a:xfrm>
            <a:off x="2514600" y="4477607"/>
            <a:ext cx="1524000" cy="1739043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800">
              <a:latin typeface="Courier New" pitchFamily="49" charset="0"/>
            </a:endParaRPr>
          </a:p>
        </p:txBody>
      </p:sp>
      <p:sp>
        <p:nvSpPr>
          <p:cNvPr id="33798" name="Text Box 103"/>
          <p:cNvSpPr txBox="1">
            <a:spLocks noChangeArrowheads="1"/>
          </p:cNvSpPr>
          <p:nvPr/>
        </p:nvSpPr>
        <p:spPr bwMode="auto">
          <a:xfrm>
            <a:off x="776255" y="1970837"/>
            <a:ext cx="1107996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i="1">
                <a:latin typeface="Courier New" pitchFamily="49" charset="0"/>
              </a:rPr>
              <a:t>main.c</a:t>
            </a:r>
          </a:p>
        </p:txBody>
      </p:sp>
      <p:sp>
        <p:nvSpPr>
          <p:cNvPr id="33799" name="AutoShape 104"/>
          <p:cNvSpPr>
            <a:spLocks noChangeArrowheads="1"/>
          </p:cNvSpPr>
          <p:nvPr/>
        </p:nvSpPr>
        <p:spPr bwMode="auto">
          <a:xfrm>
            <a:off x="2938132" y="4630007"/>
            <a:ext cx="685800" cy="457200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err="1" smtClean="0"/>
              <a:t>Hwi</a:t>
            </a:r>
            <a:endParaRPr lang="en-US" sz="1800" dirty="0"/>
          </a:p>
        </p:txBody>
      </p:sp>
      <p:sp>
        <p:nvSpPr>
          <p:cNvPr id="33800" name="Text Box 105"/>
          <p:cNvSpPr txBox="1">
            <a:spLocks noChangeArrowheads="1"/>
          </p:cNvSpPr>
          <p:nvPr/>
        </p:nvSpPr>
        <p:spPr bwMode="auto">
          <a:xfrm>
            <a:off x="2505736" y="4167965"/>
            <a:ext cx="1569660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i="1">
                <a:latin typeface="Courier New" pitchFamily="49" charset="0"/>
              </a:rPr>
              <a:t>Scheduler</a:t>
            </a:r>
          </a:p>
        </p:txBody>
      </p:sp>
      <p:sp>
        <p:nvSpPr>
          <p:cNvPr id="33802" name="AutoShape 107"/>
          <p:cNvSpPr>
            <a:spLocks noChangeArrowheads="1"/>
          </p:cNvSpPr>
          <p:nvPr/>
        </p:nvSpPr>
        <p:spPr bwMode="auto">
          <a:xfrm>
            <a:off x="2938132" y="5510739"/>
            <a:ext cx="685800" cy="457200"/>
          </a:xfrm>
          <a:prstGeom prst="cube">
            <a:avLst>
              <a:gd name="adj" fmla="val 16319"/>
            </a:avLst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smtClean="0"/>
              <a:t>Idle</a:t>
            </a:r>
            <a:endParaRPr lang="en-US" sz="1800" dirty="0"/>
          </a:p>
        </p:txBody>
      </p:sp>
      <p:sp>
        <p:nvSpPr>
          <p:cNvPr id="33810" name="AutoShape 117"/>
          <p:cNvSpPr>
            <a:spLocks noChangeArrowheads="1"/>
          </p:cNvSpPr>
          <p:nvPr/>
        </p:nvSpPr>
        <p:spPr bwMode="auto">
          <a:xfrm>
            <a:off x="5029200" y="4356230"/>
            <a:ext cx="2459666" cy="1697666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800" smtClean="0">
                <a:solidFill>
                  <a:schemeClr val="tx2"/>
                </a:solidFill>
                <a:latin typeface="Courier New" pitchFamily="49" charset="0"/>
              </a:rPr>
              <a:t> ledToggle</a:t>
            </a:r>
            <a:r>
              <a:rPr lang="en-US" sz="1800">
                <a:solidFill>
                  <a:schemeClr val="tx2"/>
                </a:solidFill>
                <a:latin typeface="Courier New" pitchFamily="49" charset="0"/>
              </a:rPr>
              <a:t>()</a:t>
            </a:r>
            <a:r>
              <a:rPr lang="en-US" sz="1800">
                <a:latin typeface="Courier New" pitchFamily="49" charset="0"/>
              </a:rPr>
              <a:t> {</a:t>
            </a: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 toggle(LED);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 Log_info();</a:t>
            </a:r>
            <a:endParaRPr lang="en-US" sz="1800">
              <a:latin typeface="Courier New" pitchFamily="49" charset="0"/>
            </a:endParaRPr>
          </a:p>
          <a:p>
            <a:r>
              <a:rPr lang="en-US" sz="1800" smtClean="0">
                <a:latin typeface="Courier New" pitchFamily="49" charset="0"/>
              </a:rPr>
              <a:t> } </a:t>
            </a:r>
            <a:endParaRPr lang="en-US" sz="1800">
              <a:latin typeface="Courier New" pitchFamily="49" charset="0"/>
            </a:endParaRPr>
          </a:p>
        </p:txBody>
      </p:sp>
      <p:sp>
        <p:nvSpPr>
          <p:cNvPr id="33816" name="Text Box 131"/>
          <p:cNvSpPr txBox="1">
            <a:spLocks noChangeArrowheads="1"/>
          </p:cNvSpPr>
          <p:nvPr/>
        </p:nvSpPr>
        <p:spPr bwMode="auto">
          <a:xfrm>
            <a:off x="4343400" y="708493"/>
            <a:ext cx="170751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chemeClr val="tx2"/>
                </a:solidFill>
              </a:rPr>
              <a:t>Procedure</a:t>
            </a:r>
          </a:p>
        </p:txBody>
      </p:sp>
      <p:sp>
        <p:nvSpPr>
          <p:cNvPr id="33817" name="Text Box 132"/>
          <p:cNvSpPr txBox="1">
            <a:spLocks noChangeArrowheads="1"/>
          </p:cNvSpPr>
          <p:nvPr/>
        </p:nvSpPr>
        <p:spPr bwMode="auto">
          <a:xfrm>
            <a:off x="4384675" y="1154581"/>
            <a:ext cx="4492064" cy="27392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Create a new </a:t>
            </a:r>
            <a:r>
              <a:rPr lang="en-US" sz="2000" i="1" u="sng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BIOS </a:t>
            </a:r>
            <a:r>
              <a:rPr lang="en-US" sz="2000" i="1" u="sng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project </a:t>
            </a:r>
            <a:r>
              <a:rPr lang="en-US" sz="2000" i="1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smtClean="0">
                <a:latin typeface="Calibri" pitchFamily="34" charset="0"/>
                <a:cs typeface="Calibri" pitchFamily="34" charset="0"/>
              </a:rPr>
              <a:t>(min)</a:t>
            </a:r>
            <a:endParaRPr lang="en-US" sz="2000" i="1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Add/link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files </a:t>
            </a:r>
            <a:r>
              <a:rPr lang="en-US" sz="2000"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main.c, driverlib/folder)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Add Hwi </a:t>
            </a:r>
            <a:r>
              <a:rPr lang="en-US" sz="2000" i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object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for timer interrupt)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Build, “Play</a:t>
            </a:r>
            <a:r>
              <a:rPr lang="en-US" sz="2000">
                <a:latin typeface="Calibri" pitchFamily="34" charset="0"/>
                <a:cs typeface="Calibri" pitchFamily="34" charset="0"/>
              </a:rPr>
              <a:t>”,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Debug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Add UIA/SA to project and cfg/use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Use Log_info() to print #toggles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[Optional] – use BIOS Timer module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 Box 102"/>
          <p:cNvSpPr txBox="1">
            <a:spLocks noChangeArrowheads="1"/>
          </p:cNvSpPr>
          <p:nvPr/>
        </p:nvSpPr>
        <p:spPr bwMode="auto">
          <a:xfrm>
            <a:off x="3429000" y="6409919"/>
            <a:ext cx="240565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dirty="0">
                <a:solidFill>
                  <a:schemeClr val="tx2"/>
                </a:solidFill>
              </a:rPr>
              <a:t>Time</a:t>
            </a:r>
            <a:r>
              <a:rPr lang="en-US">
                <a:solidFill>
                  <a:schemeClr val="tx2"/>
                </a:solidFill>
              </a:rPr>
              <a:t>: </a:t>
            </a:r>
            <a:r>
              <a:rPr lang="en-US" smtClean="0">
                <a:solidFill>
                  <a:schemeClr val="tx2"/>
                </a:solidFill>
              </a:rPr>
              <a:t>30 min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308052" y="3834712"/>
            <a:ext cx="0" cy="4276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" name="Straight Arrow Connector 2"/>
          <p:cNvCxnSpPr/>
          <p:nvPr/>
        </p:nvCxnSpPr>
        <p:spPr bwMode="auto">
          <a:xfrm>
            <a:off x="3733800" y="4841882"/>
            <a:ext cx="1524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4" name="Group 3"/>
          <p:cNvGrpSpPr/>
          <p:nvPr/>
        </p:nvGrpSpPr>
        <p:grpSpPr>
          <a:xfrm>
            <a:off x="744703" y="4290235"/>
            <a:ext cx="1135062" cy="1118288"/>
            <a:chOff x="724404" y="4495800"/>
            <a:chExt cx="1135062" cy="1118288"/>
          </a:xfrm>
        </p:grpSpPr>
        <p:pic>
          <p:nvPicPr>
            <p:cNvPr id="1027" name="Picture 3" descr="C:\Users\a0159877\Desktop\countdown-clock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404" y="4495800"/>
              <a:ext cx="1135062" cy="1118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950335" y="5197372"/>
              <a:ext cx="683200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smtClean="0">
                  <a:solidFill>
                    <a:schemeClr val="dk1"/>
                  </a:solidFill>
                  <a:effectLst/>
                </a:rPr>
                <a:t>0:00</a:t>
              </a:r>
              <a:endParaRPr lang="en-US" sz="2000" b="0" dirty="0" smtClean="0">
                <a:solidFill>
                  <a:schemeClr val="dk1"/>
                </a:solidFill>
                <a:effectLst/>
              </a:endParaRPr>
            </a:p>
          </p:txBody>
        </p:sp>
      </p:grpSp>
      <p:cxnSp>
        <p:nvCxnSpPr>
          <p:cNvPr id="23" name="Straight Arrow Connector 22"/>
          <p:cNvCxnSpPr/>
          <p:nvPr/>
        </p:nvCxnSpPr>
        <p:spPr bwMode="auto">
          <a:xfrm flipH="1">
            <a:off x="3733800" y="5727829"/>
            <a:ext cx="1524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714790" y="4038600"/>
            <a:ext cx="1120820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Hwi ISR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1675" y="656145"/>
            <a:ext cx="3512125" cy="1241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spcBef>
                <a:spcPts val="900"/>
              </a:spcBef>
            </a:pPr>
            <a:r>
              <a:rPr lang="en-US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Lab Goal:</a:t>
            </a:r>
          </a:p>
          <a:p>
            <a:pPr>
              <a:spcBef>
                <a:spcPts val="900"/>
              </a:spcBef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Set up a timer in TI-Ware and configure an Hwi to respond to that timer interrupt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" name="Straight Arrow Connector 10"/>
          <p:cNvCxnSpPr>
            <a:stCxn id="1027" idx="3"/>
          </p:cNvCxnSpPr>
          <p:nvPr/>
        </p:nvCxnSpPr>
        <p:spPr bwMode="auto">
          <a:xfrm>
            <a:off x="1879765" y="4849379"/>
            <a:ext cx="93963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25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63247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5" name="Picture 2" descr="ti_stk_2c_pos_rgb_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325" y="1752600"/>
            <a:ext cx="8839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SYS/BIOS </a:t>
            </a:r>
            <a:r>
              <a:rPr lang="en-US" dirty="0" err="1" smtClean="0"/>
              <a:t>Hwi</a:t>
            </a:r>
            <a:r>
              <a:rPr lang="en-US" dirty="0" smtClean="0"/>
              <a:t>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62000"/>
            <a:ext cx="4044184" cy="437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Other useful </a:t>
            </a:r>
            <a:r>
              <a:rPr lang="en-US" sz="2800" dirty="0" err="1">
                <a:solidFill>
                  <a:srgbClr val="000000"/>
                </a:solidFill>
              </a:rPr>
              <a:t>Hwi</a:t>
            </a:r>
            <a:r>
              <a:rPr lang="en-US" sz="2800" dirty="0">
                <a:solidFill>
                  <a:srgbClr val="000000"/>
                </a:solidFill>
              </a:rPr>
              <a:t> APIs:</a:t>
            </a:r>
          </a:p>
        </p:txBody>
      </p:sp>
      <p:sp>
        <p:nvSpPr>
          <p:cNvPr id="12" name="Leading Question"/>
          <p:cNvSpPr txBox="1"/>
          <p:nvPr/>
        </p:nvSpPr>
        <p:spPr>
          <a:xfrm>
            <a:off x="4383079" y="6383000"/>
            <a:ext cx="4110100" cy="295466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b="0" dirty="0" smtClean="0">
                <a:solidFill>
                  <a:schemeClr val="tx2"/>
                </a:solidFill>
                <a:latin typeface="Arial Narrow"/>
              </a:rPr>
              <a:t>Can one interrupt preempt another?</a:t>
            </a:r>
            <a:endParaRPr lang="en-US" b="0" dirty="0">
              <a:solidFill>
                <a:schemeClr val="tx2"/>
              </a:solidFill>
              <a:latin typeface="Arial Narrow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1336344"/>
            <a:ext cx="8534400" cy="4572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1">
            <a:no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Hwi_disableInterrupt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Set enable bit = 0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Hwi_enableInterrupt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Set enable bit = 1</a:t>
            </a:r>
          </a:p>
          <a:p>
            <a:endParaRPr lang="en-US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Hwi_clearInterrupt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Clear INT flag bit = 0</a:t>
            </a:r>
          </a:p>
          <a:p>
            <a:r>
              <a:rPr lang="en-US" dirty="0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Hwi_post</a:t>
            </a:r>
            <a:r>
              <a:rPr lang="en-US" dirty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()	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Post INT # (in code)</a:t>
            </a:r>
          </a:p>
          <a:p>
            <a:endParaRPr lang="en-US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Hwi_disable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	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Global INTs disable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Hwi_enable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		</a:t>
            </a:r>
            <a:r>
              <a:rPr lang="en-US" b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Global INTs enable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Hwi_restore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			</a:t>
            </a:r>
            <a:r>
              <a:rPr lang="en-US" b="0" dirty="0">
                <a:solidFill>
                  <a:srgbClr val="000000"/>
                </a:solidFill>
                <a:latin typeface="Arial"/>
                <a:cs typeface="Courier New" pitchFamily="49" charset="0"/>
              </a:rPr>
              <a:t>Global INTs restore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304800" y="2707944"/>
            <a:ext cx="8534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304800" y="4196688"/>
            <a:ext cx="8534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>
            <a:off x="5674055" y="1336344"/>
            <a:ext cx="0" cy="45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556376" y="3505200"/>
            <a:ext cx="1744388" cy="3139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New in SYS/BIOS</a:t>
            </a:r>
          </a:p>
        </p:txBody>
      </p:sp>
      <p:cxnSp>
        <p:nvCxnSpPr>
          <p:cNvPr id="25" name="Straight Connector 24"/>
          <p:cNvCxnSpPr/>
          <p:nvPr/>
        </p:nvCxnSpPr>
        <p:spPr bwMode="auto">
          <a:xfrm>
            <a:off x="1219200" y="1336344"/>
            <a:ext cx="0" cy="45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67352" y="1805741"/>
            <a:ext cx="782587" cy="4370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800" dirty="0" smtClean="0">
                <a:solidFill>
                  <a:srgbClr val="0066FF"/>
                </a:solidFill>
              </a:rPr>
              <a:t>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352" y="3241344"/>
            <a:ext cx="782587" cy="4370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800" dirty="0" smtClean="0">
                <a:solidFill>
                  <a:srgbClr val="0066FF"/>
                </a:solidFill>
              </a:rPr>
              <a:t>IFR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352" y="4876800"/>
            <a:ext cx="801823" cy="4370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800" dirty="0" smtClean="0">
                <a:solidFill>
                  <a:srgbClr val="0066FF"/>
                </a:solidFill>
              </a:rPr>
              <a:t>GIE</a:t>
            </a:r>
          </a:p>
        </p:txBody>
      </p:sp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371600"/>
            <a:ext cx="5562600" cy="35814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1988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487362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MainHighlight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95505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MainNormal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9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9625" y="2442089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SubHighlight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99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861829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SubNormal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1" name="Animated Logo" descr="tilogo_color_twoline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  <p:tag name="ADMINISTRATIVESLID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  <p:tag name="NO LOGOS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MINISTRATIVESLIDE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Norma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Normal"/>
</p:tagLst>
</file>

<file path=ppt/theme/theme1.xml><?xml version="1.0" encoding="utf-8"?>
<a:theme xmlns:a="http://schemas.openxmlformats.org/drawingml/2006/main" name="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ttoTheme</Template>
  <TotalTime>20373</TotalTime>
  <Pages>3</Pages>
  <Words>1478</Words>
  <Application>Microsoft Office PowerPoint</Application>
  <PresentationFormat>On-screen Show (4:3)</PresentationFormat>
  <Paragraphs>387</Paragraphs>
  <Slides>28</Slides>
  <Notes>12</Notes>
  <HiddenSlides>4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ttoTheme</vt:lpstr>
      <vt:lpstr>1_ttoTheme</vt:lpstr>
      <vt:lpstr>PowerPoint Presentation</vt:lpstr>
      <vt:lpstr>Objectives</vt:lpstr>
      <vt:lpstr>Outline</vt:lpstr>
      <vt:lpstr>SYS/BIOS Thread Types (including Tasks)</vt:lpstr>
      <vt:lpstr>Foreground / Background Scheduling</vt:lpstr>
      <vt:lpstr>Outline</vt:lpstr>
      <vt:lpstr>How do Interrupts Work?</vt:lpstr>
      <vt:lpstr>Receiving Interrupts (with BIOS Functions)</vt:lpstr>
      <vt:lpstr>How do Interrupts Work?</vt:lpstr>
      <vt:lpstr>Outline</vt:lpstr>
      <vt:lpstr>Configuring an Hwi – Statically via GUI</vt:lpstr>
      <vt:lpstr>Hwi Configuration – Tiva &amp; MSP430</vt:lpstr>
      <vt:lpstr>Hwi Configuration – Tiva &amp; MSP430</vt:lpstr>
      <vt:lpstr>Hwi Configuration – C28x &amp; C6000</vt:lpstr>
      <vt:lpstr>Nesting – Enabling Preemption of Hwi</vt:lpstr>
      <vt:lpstr>Outline</vt:lpstr>
      <vt:lpstr>Using the BIOS Hwi Dispatcher</vt:lpstr>
      <vt:lpstr>Using the interrupt Keyword</vt:lpstr>
      <vt:lpstr>Interrupt Creation Summary</vt:lpstr>
      <vt:lpstr>Outline</vt:lpstr>
      <vt:lpstr>Interrupt Response Time</vt:lpstr>
      <vt:lpstr>Non-BIOS Managed INT Creation</vt:lpstr>
      <vt:lpstr>Outline</vt:lpstr>
      <vt:lpstr>Labs 5-9 “Roadmap”</vt:lpstr>
      <vt:lpstr>Lab 5 – “Blink LED” Using Hwi</vt:lpstr>
      <vt:lpstr>PowerPoint Presentation</vt:lpstr>
      <vt:lpstr>SYS/BIOS Hwi APIs</vt:lpstr>
      <vt:lpstr>Outline</vt:lpstr>
    </vt:vector>
  </TitlesOfParts>
  <Company>SC Sales &amp; Marketing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TI-RTOS Kernel Workshop</dc:title>
  <dc:subject/>
  <dc:creator>ericw@ti.com</dc:creator>
  <cp:keywords/>
  <dc:description/>
  <cp:lastModifiedBy>Eric Wilbur</cp:lastModifiedBy>
  <cp:revision>491</cp:revision>
  <cp:lastPrinted>1601-01-01T00:00:00Z</cp:lastPrinted>
  <dcterms:created xsi:type="dcterms:W3CDTF">2001-09-20T20:19:44Z</dcterms:created>
  <dcterms:modified xsi:type="dcterms:W3CDTF">2015-04-24T21:15:47Z</dcterms:modified>
</cp:coreProperties>
</file>