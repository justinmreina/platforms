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7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92" r:id="rId1"/>
  </p:sldMasterIdLst>
  <p:notesMasterIdLst>
    <p:notesMasterId r:id="rId22"/>
  </p:notesMasterIdLst>
  <p:handoutMasterIdLst>
    <p:handoutMasterId r:id="rId23"/>
  </p:handoutMasterIdLst>
  <p:sldIdLst>
    <p:sldId id="1998" r:id="rId2"/>
    <p:sldId id="2374" r:id="rId3"/>
    <p:sldId id="2441" r:id="rId4"/>
    <p:sldId id="2442" r:id="rId5"/>
    <p:sldId id="2383" r:id="rId6"/>
    <p:sldId id="2377" r:id="rId7"/>
    <p:sldId id="2443" r:id="rId8"/>
    <p:sldId id="2378" r:id="rId9"/>
    <p:sldId id="2379" r:id="rId10"/>
    <p:sldId id="2444" r:id="rId11"/>
    <p:sldId id="2380" r:id="rId12"/>
    <p:sldId id="2445" r:id="rId13"/>
    <p:sldId id="2381" r:id="rId14"/>
    <p:sldId id="2446" r:id="rId15"/>
    <p:sldId id="1929" r:id="rId16"/>
    <p:sldId id="2447" r:id="rId17"/>
    <p:sldId id="2448" r:id="rId18"/>
    <p:sldId id="2433" r:id="rId19"/>
    <p:sldId id="2382" r:id="rId20"/>
    <p:sldId id="2246" r:id="rId2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FF"/>
    <a:srgbClr val="FF99FF"/>
    <a:srgbClr val="C0C0C0"/>
    <a:srgbClr val="CC66FF"/>
    <a:srgbClr val="FF3300"/>
    <a:srgbClr val="FFFF66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7" autoAdjust="0"/>
    <p:restoredTop sz="92825" autoAdjust="0"/>
  </p:normalViewPr>
  <p:slideViewPr>
    <p:cSldViewPr>
      <p:cViewPr>
        <p:scale>
          <a:sx n="90" d="100"/>
          <a:sy n="90" d="100"/>
        </p:scale>
        <p:origin x="-1428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5E298034-1A0B-49C5-8154-074185A52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42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B2E7254A-A0D5-410A-95EF-9793C32CDD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2" tIns="48667" rIns="97332" bIns="486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403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54138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2A8627-8987-406D-A21E-ABBD08ABA479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2838" y="4643438"/>
            <a:ext cx="5964237" cy="45640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854" tIns="47427" rIns="94854" bIns="47427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B06C04-4CCC-488B-AA42-81AC83E4EBE7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46BA2F-7066-4E43-9E58-D7A0CE9E57FE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1588" y="715963"/>
            <a:ext cx="4776787" cy="3582987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1352550" cy="476250"/>
          </a:xfrm>
          <a:noFill/>
          <a:ln/>
        </p:spPr>
        <p:txBody>
          <a:bodyPr/>
          <a:lstStyle/>
          <a:p>
            <a:r>
              <a:rPr lang="en-US" dirty="0" smtClean="0"/>
              <a:t>Using Clock </a:t>
            </a:r>
            <a:r>
              <a:rPr lang="en-US" dirty="0" err="1" smtClean="0"/>
              <a:t>Fxns</a:t>
            </a:r>
            <a:r>
              <a:rPr lang="en-US" dirty="0" smtClean="0"/>
              <a:t> in a Task-based video system is not really recommended because Clock Functions will ALWAYS have a higher priority than TSKs because periodic functions</a:t>
            </a:r>
            <a:r>
              <a:rPr lang="en-US" baseline="0" dirty="0" smtClean="0"/>
              <a:t> </a:t>
            </a:r>
            <a:r>
              <a:rPr lang="en-US" dirty="0" smtClean="0"/>
              <a:t>s are prioritized as </a:t>
            </a:r>
            <a:r>
              <a:rPr lang="en-US" dirty="0" err="1" smtClean="0"/>
              <a:t>Swis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EBA59C-2222-4456-83EC-E222EDF4C69C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30250"/>
            <a:ext cx="4776788" cy="3582988"/>
          </a:xfrm>
          <a:ln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8375" y="4557713"/>
            <a:ext cx="5378450" cy="4322762"/>
          </a:xfrm>
          <a:noFill/>
          <a:ln/>
        </p:spPr>
        <p:txBody>
          <a:bodyPr lIns="99313" tIns="44690" rIns="99313" bIns="44690"/>
          <a:lstStyle/>
          <a:p>
            <a:r>
              <a:rPr lang="en-US" sz="400" smtClean="0"/>
              <a:t>This diagram shows two task of unequal priority.  First the lower priority task is running and is interrupted by an ISR which then runs a higher priority task.  The lower priority task running is preempted and rescheduled. After the higher priority task is completed it prompts the lower priority task to run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7C71DD-2DDB-45DC-8092-9AB3DB079573}" type="slidenum">
              <a:rPr lang="en-US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30250"/>
            <a:ext cx="4776788" cy="3582988"/>
          </a:xfrm>
          <a:ln cap="flat"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8375" y="4557713"/>
            <a:ext cx="5378450" cy="4322762"/>
          </a:xfrm>
          <a:noFill/>
          <a:ln/>
        </p:spPr>
        <p:txBody>
          <a:bodyPr lIns="99313" tIns="44690" rIns="99313" bIns="44690"/>
          <a:lstStyle/>
          <a:p>
            <a:r>
              <a:rPr lang="en-US" dirty="0" smtClean="0"/>
              <a:t>If threads are at the same priority to solve the “resource conflict” problem, this can be dangerous IF someone comes along and changes the priorities. Be careful.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r>
              <a:rPr lang="en-US" smtClean="0">
                <a:latin typeface="Courier New" pitchFamily="49" charset="0"/>
              </a:rPr>
              <a:t>Uint32 gie;</a:t>
            </a:r>
          </a:p>
          <a:p>
            <a:r>
              <a:rPr lang="en-US" smtClean="0">
                <a:latin typeface="Courier New" pitchFamily="49" charset="0"/>
              </a:rPr>
              <a:t>…</a:t>
            </a:r>
          </a:p>
          <a:p>
            <a:r>
              <a:rPr lang="en-US" smtClean="0">
                <a:latin typeface="Courier New" pitchFamily="49" charset="0"/>
              </a:rPr>
              <a:t>gie = IRQ_globalDisable();</a:t>
            </a:r>
          </a:p>
          <a:p>
            <a:r>
              <a:rPr lang="en-US" smtClean="0">
                <a:latin typeface="Courier New" pitchFamily="49" charset="0"/>
              </a:rPr>
              <a:t>...</a:t>
            </a:r>
          </a:p>
          <a:p>
            <a:r>
              <a:rPr lang="en-US" smtClean="0">
                <a:latin typeface="Courier New" pitchFamily="49" charset="0"/>
              </a:rPr>
              <a:t>IRQ_globalRestore(gie);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7254A-A0D5-410A-95EF-9793C32CDD8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D991FB-43CD-445D-A7E4-AFD840A1BAD3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8663"/>
            <a:ext cx="4778375" cy="3584575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59300"/>
            <a:ext cx="5362575" cy="4321175"/>
          </a:xfrm>
          <a:noFill/>
          <a:ln/>
        </p:spPr>
        <p:txBody>
          <a:bodyPr/>
          <a:lstStyle/>
          <a:p>
            <a:r>
              <a:rPr lang="en-US" smtClean="0"/>
              <a:t>Systems under 70% loaded guaranteed to run successfully: only true for systems, in which all threads are regular (periodic), and independent of each other (i.e. no pend e.g.)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F76D9-8C4F-404E-B421-838159FF4993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26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94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27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5/16/2014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/>
              <a:pPr/>
              <a:t>5/16/2014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" Target="slide7.xml"/><Relationship Id="rId18" Type="http://schemas.openxmlformats.org/officeDocument/2006/relationships/image" Target="../media/image4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" Target="slide4.xml"/><Relationship Id="rId17" Type="http://schemas.openxmlformats.org/officeDocument/2006/relationships/slide" Target="slide16.xml"/><Relationship Id="rId2" Type="http://schemas.openxmlformats.org/officeDocument/2006/relationships/tags" Target="../tags/tag4.xml"/><Relationship Id="rId16" Type="http://schemas.openxmlformats.org/officeDocument/2006/relationships/slide" Target="slide1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3.xml"/><Relationship Id="rId5" Type="http://schemas.openxmlformats.org/officeDocument/2006/relationships/tags" Target="../tags/tag7.xml"/><Relationship Id="rId15" Type="http://schemas.openxmlformats.org/officeDocument/2006/relationships/slide" Target="slide12.xml"/><Relationship Id="rId10" Type="http://schemas.openxmlformats.org/officeDocument/2006/relationships/image" Target="../media/image12.png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8.xml"/><Relationship Id="rId1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" Target="slide7.xml"/><Relationship Id="rId18" Type="http://schemas.openxmlformats.org/officeDocument/2006/relationships/image" Target="../media/image4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slide" Target="slide4.xml"/><Relationship Id="rId17" Type="http://schemas.openxmlformats.org/officeDocument/2006/relationships/slide" Target="slide16.xml"/><Relationship Id="rId2" Type="http://schemas.openxmlformats.org/officeDocument/2006/relationships/tags" Target="../tags/tag12.xml"/><Relationship Id="rId16" Type="http://schemas.openxmlformats.org/officeDocument/2006/relationships/slide" Target="slide14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" Target="slide3.xml"/><Relationship Id="rId5" Type="http://schemas.openxmlformats.org/officeDocument/2006/relationships/tags" Target="../tags/tag15.xml"/><Relationship Id="rId15" Type="http://schemas.openxmlformats.org/officeDocument/2006/relationships/slide" Target="slide12.xml"/><Relationship Id="rId10" Type="http://schemas.openxmlformats.org/officeDocument/2006/relationships/image" Target="../media/image12.png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8.xml"/><Relationship Id="rId1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slide" Target="slide7.xml"/><Relationship Id="rId18" Type="http://schemas.openxmlformats.org/officeDocument/2006/relationships/image" Target="../media/image4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slide" Target="slide4.xml"/><Relationship Id="rId17" Type="http://schemas.openxmlformats.org/officeDocument/2006/relationships/slide" Target="slide16.xml"/><Relationship Id="rId2" Type="http://schemas.openxmlformats.org/officeDocument/2006/relationships/tags" Target="../tags/tag21.xml"/><Relationship Id="rId16" Type="http://schemas.openxmlformats.org/officeDocument/2006/relationships/slide" Target="slide14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" Target="slide3.xml"/><Relationship Id="rId5" Type="http://schemas.openxmlformats.org/officeDocument/2006/relationships/tags" Target="../tags/tag24.xml"/><Relationship Id="rId15" Type="http://schemas.openxmlformats.org/officeDocument/2006/relationships/slide" Target="slide12.xml"/><Relationship Id="rId10" Type="http://schemas.openxmlformats.org/officeDocument/2006/relationships/image" Target="../media/image12.png"/><Relationship Id="rId4" Type="http://schemas.openxmlformats.org/officeDocument/2006/relationships/tags" Target="../tags/tag23.xml"/><Relationship Id="rId9" Type="http://schemas.openxmlformats.org/officeDocument/2006/relationships/slideLayout" Target="../slideLayouts/slideLayout8.xml"/><Relationship Id="rId1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slide" Target="slide7.xml"/><Relationship Id="rId18" Type="http://schemas.openxmlformats.org/officeDocument/2006/relationships/image" Target="../media/image4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" Target="slide4.xml"/><Relationship Id="rId17" Type="http://schemas.openxmlformats.org/officeDocument/2006/relationships/slide" Target="slide16.xml"/><Relationship Id="rId2" Type="http://schemas.openxmlformats.org/officeDocument/2006/relationships/tags" Target="../tags/tag29.xml"/><Relationship Id="rId16" Type="http://schemas.openxmlformats.org/officeDocument/2006/relationships/slide" Target="slide14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slide" Target="slide3.xml"/><Relationship Id="rId5" Type="http://schemas.openxmlformats.org/officeDocument/2006/relationships/tags" Target="../tags/tag32.xml"/><Relationship Id="rId15" Type="http://schemas.openxmlformats.org/officeDocument/2006/relationships/slide" Target="slide12.xml"/><Relationship Id="rId10" Type="http://schemas.openxmlformats.org/officeDocument/2006/relationships/image" Target="../media/image12.png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8.xml"/><Relationship Id="rId14" Type="http://schemas.openxmlformats.org/officeDocument/2006/relationships/slide" Target="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slide" Target="slide7.xml"/><Relationship Id="rId18" Type="http://schemas.openxmlformats.org/officeDocument/2006/relationships/image" Target="../media/image4.pn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slide" Target="slide4.xml"/><Relationship Id="rId17" Type="http://schemas.openxmlformats.org/officeDocument/2006/relationships/slide" Target="slide16.xml"/><Relationship Id="rId2" Type="http://schemas.openxmlformats.org/officeDocument/2006/relationships/tags" Target="../tags/tag38.xml"/><Relationship Id="rId16" Type="http://schemas.openxmlformats.org/officeDocument/2006/relationships/slide" Target="slide14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slide" Target="slide3.xml"/><Relationship Id="rId5" Type="http://schemas.openxmlformats.org/officeDocument/2006/relationships/tags" Target="../tags/tag41.xml"/><Relationship Id="rId15" Type="http://schemas.openxmlformats.org/officeDocument/2006/relationships/slide" Target="slide12.xml"/><Relationship Id="rId10" Type="http://schemas.openxmlformats.org/officeDocument/2006/relationships/image" Target="../media/image12.png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8.xml"/><Relationship Id="rId1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5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tags" Target="../tags/tag48.xml"/><Relationship Id="rId7" Type="http://schemas.openxmlformats.org/officeDocument/2006/relationships/slide" Target="slide3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4.png"/><Relationship Id="rId4" Type="http://schemas.openxmlformats.org/officeDocument/2006/relationships/tags" Target="../tags/tag49.xml"/><Relationship Id="rId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slide" Target="slide7.xml"/><Relationship Id="rId18" Type="http://schemas.openxmlformats.org/officeDocument/2006/relationships/image" Target="../media/image4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slide" Target="slide4.xml"/><Relationship Id="rId17" Type="http://schemas.openxmlformats.org/officeDocument/2006/relationships/slide" Target="slide16.xml"/><Relationship Id="rId2" Type="http://schemas.openxmlformats.org/officeDocument/2006/relationships/tags" Target="../tags/tag51.xml"/><Relationship Id="rId16" Type="http://schemas.openxmlformats.org/officeDocument/2006/relationships/slide" Target="slide14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" Target="slide3.xml"/><Relationship Id="rId5" Type="http://schemas.openxmlformats.org/officeDocument/2006/relationships/tags" Target="../tags/tag54.xml"/><Relationship Id="rId15" Type="http://schemas.openxmlformats.org/officeDocument/2006/relationships/slide" Target="slide12.xml"/><Relationship Id="rId10" Type="http://schemas.openxmlformats.org/officeDocument/2006/relationships/image" Target="../media/image12.png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8.xml"/><Relationship Id="rId1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9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0.xml"/><Relationship Id="rId5" Type="http://schemas.openxmlformats.org/officeDocument/2006/relationships/image" Target="../media/image4.png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3.xml"/><Relationship Id="rId7" Type="http://schemas.openxmlformats.org/officeDocument/2006/relationships/image" Target="../media/image12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22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FFFF66"/>
                </a:solidFill>
              </a:rPr>
              <a:t>Objectives</a:t>
            </a:r>
          </a:p>
        </p:txBody>
      </p:sp>
      <p:pic>
        <p:nvPicPr>
          <p:cNvPr id="3076" name="Picture 4" descr="dglxasset[3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762000"/>
            <a:ext cx="8458200" cy="589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490663" y="1811345"/>
            <a:ext cx="6281737" cy="306545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25425" indent="-225425"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dirty="0">
                <a:solidFill>
                  <a:srgbClr val="000000"/>
                </a:solidFill>
                <a:latin typeface="Arial Narrow" pitchFamily="34" charset="0"/>
              </a:rPr>
              <a:t> Understand how </a:t>
            </a:r>
            <a:r>
              <a:rPr lang="en-US" sz="2800" i="1" u="sng" dirty="0" err="1" smtClean="0">
                <a:solidFill>
                  <a:srgbClr val="000000"/>
                </a:solidFill>
                <a:latin typeface="Arial Narrow" pitchFamily="34" charset="0"/>
              </a:rPr>
              <a:t>Swi’s</a:t>
            </a:r>
            <a:r>
              <a:rPr lang="en-US" sz="280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 Narrow" pitchFamily="34" charset="0"/>
              </a:rPr>
              <a:t>complement </a:t>
            </a:r>
            <a:r>
              <a:rPr lang="en-US" sz="2800" dirty="0" err="1" smtClean="0">
                <a:solidFill>
                  <a:srgbClr val="000000"/>
                </a:solidFill>
                <a:latin typeface="Arial Narrow" pitchFamily="34" charset="0"/>
              </a:rPr>
              <a:t>Hwi’s</a:t>
            </a:r>
            <a:endParaRPr lang="en-US" sz="2800" dirty="0">
              <a:solidFill>
                <a:srgbClr val="000000"/>
              </a:solidFill>
              <a:latin typeface="Arial Narrow" pitchFamily="34" charset="0"/>
            </a:endParaRPr>
          </a:p>
          <a:p>
            <a:pPr marL="225425" indent="-225425"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Arial Narrow" pitchFamily="34" charset="0"/>
              </a:rPr>
              <a:t>Describe how to </a:t>
            </a:r>
            <a:r>
              <a:rPr lang="en-US" sz="2800" i="1" u="sng" smtClean="0">
                <a:solidFill>
                  <a:srgbClr val="000000"/>
                </a:solidFill>
                <a:latin typeface="Arial Narrow" pitchFamily="34" charset="0"/>
              </a:rPr>
              <a:t>configure Swi’s</a:t>
            </a:r>
            <a:endParaRPr lang="en-US" sz="2800" i="1" u="sng" dirty="0">
              <a:solidFill>
                <a:srgbClr val="000000"/>
              </a:solidFill>
              <a:latin typeface="Arial Narrow" pitchFamily="34" charset="0"/>
            </a:endParaRPr>
          </a:p>
          <a:p>
            <a:pPr marL="225425" indent="-225425"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Arial Narrow" pitchFamily="34" charset="0"/>
              </a:rPr>
              <a:t>Detail how Swi’s are </a:t>
            </a:r>
            <a:r>
              <a:rPr lang="en-US" sz="2800" i="1" u="sng" smtClean="0">
                <a:solidFill>
                  <a:srgbClr val="000000"/>
                </a:solidFill>
                <a:latin typeface="Arial Narrow" pitchFamily="34" charset="0"/>
              </a:rPr>
              <a:t>scheduled</a:t>
            </a:r>
            <a:endParaRPr lang="en-US" sz="2800" i="1" u="sng" dirty="0">
              <a:solidFill>
                <a:srgbClr val="000000"/>
              </a:solidFill>
              <a:latin typeface="Arial Narrow" pitchFamily="34" charset="0"/>
            </a:endParaRPr>
          </a:p>
          <a:p>
            <a:pPr marL="225425" indent="-225425">
              <a:lnSpc>
                <a:spcPct val="90000"/>
              </a:lnSpc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Arial Narrow" pitchFamily="34" charset="0"/>
              </a:rPr>
              <a:t>Touch on </a:t>
            </a:r>
            <a:r>
              <a:rPr lang="en-US" sz="2800" i="1" u="sng" smtClean="0">
                <a:solidFill>
                  <a:srgbClr val="000000"/>
                </a:solidFill>
                <a:latin typeface="Arial Narrow" pitchFamily="34" charset="0"/>
              </a:rPr>
              <a:t>Scheduling Strategies</a:t>
            </a:r>
            <a:endParaRPr lang="en-US" sz="2800" i="1" u="sng" dirty="0">
              <a:solidFill>
                <a:srgbClr val="000000"/>
              </a:solidFill>
              <a:latin typeface="Arial Narrow" pitchFamily="34" charset="0"/>
            </a:endParaRPr>
          </a:p>
          <a:p>
            <a:pPr marL="225425" indent="-225425"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i="1" dirty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i="1" u="sng">
                <a:solidFill>
                  <a:srgbClr val="000000"/>
                </a:solidFill>
                <a:latin typeface="Arial Narrow" pitchFamily="34" charset="0"/>
              </a:rPr>
              <a:t>Lab </a:t>
            </a:r>
            <a:r>
              <a:rPr lang="en-US" sz="2800" i="1" u="sng" smtClean="0">
                <a:solidFill>
                  <a:srgbClr val="000000"/>
                </a:solidFill>
                <a:latin typeface="Arial Narrow" pitchFamily="34" charset="0"/>
              </a:rPr>
              <a:t>6</a:t>
            </a:r>
            <a:r>
              <a:rPr lang="en-US" sz="280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 Narrow" pitchFamily="34" charset="0"/>
              </a:rPr>
              <a:t>– Use </a:t>
            </a:r>
            <a:r>
              <a:rPr lang="en-US" sz="2800" dirty="0" err="1" smtClean="0">
                <a:solidFill>
                  <a:srgbClr val="000000"/>
                </a:solidFill>
                <a:latin typeface="Arial Narrow" pitchFamily="34" charset="0"/>
              </a:rPr>
              <a:t>Swi</a:t>
            </a:r>
            <a:r>
              <a:rPr lang="en-US" sz="280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 Narrow" pitchFamily="34" charset="0"/>
              </a:rPr>
              <a:t>to </a:t>
            </a:r>
            <a:r>
              <a:rPr lang="en-US" sz="2800">
                <a:solidFill>
                  <a:srgbClr val="000000"/>
                </a:solidFill>
                <a:latin typeface="Arial Narrow" pitchFamily="34" charset="0"/>
              </a:rPr>
              <a:t>perform </a:t>
            </a:r>
            <a:r>
              <a:rPr lang="en-US" sz="2800" smtClean="0">
                <a:solidFill>
                  <a:srgbClr val="000000"/>
                </a:solidFill>
                <a:latin typeface="Arial Narrow" pitchFamily="34" charset="0"/>
              </a:rPr>
              <a:t>“Blink LED” instead of an Hwi.</a:t>
            </a:r>
            <a:endParaRPr lang="en-US" sz="2800" dirty="0">
              <a:solidFill>
                <a:srgbClr val="000000"/>
              </a:solidFill>
              <a:latin typeface="Arial Narrow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8918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3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355384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5502" y="1884170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Intro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5502" y="2289998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Scheduling Rules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695826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Swi – Configuration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5502" y="3101654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Other Useful APIs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51351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4088315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9623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35538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5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9625" y="1924155"/>
            <a:ext cx="4600575" cy="40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Intro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5502" y="2407636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Scheduling Rules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813464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Swi – Configuration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5502" y="3219292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Other Useful APIs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631151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420595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037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SYS/BIOS </a:t>
            </a:r>
            <a:r>
              <a:rPr lang="en-US" smtClean="0"/>
              <a:t>Thread Types (including Tasks)</a:t>
            </a:r>
            <a:endParaRPr lang="en-US" dirty="0" smtClean="0"/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 rot="-5400000">
            <a:off x="-351705" y="3265404"/>
            <a:ext cx="1295547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Priority</a:t>
            </a:r>
          </a:p>
        </p:txBody>
      </p:sp>
      <p:sp>
        <p:nvSpPr>
          <p:cNvPr id="368645" name="Line 5"/>
          <p:cNvSpPr>
            <a:spLocks noChangeShapeType="1"/>
          </p:cNvSpPr>
          <p:nvPr/>
        </p:nvSpPr>
        <p:spPr bwMode="auto">
          <a:xfrm flipV="1">
            <a:off x="587375" y="626425"/>
            <a:ext cx="0" cy="5715000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827088" y="609600"/>
            <a:ext cx="2601912" cy="1319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3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Hwi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Hardware Interrupts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3443288" y="662050"/>
            <a:ext cx="5699125" cy="1219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tIns="91440" anchor="ctr"/>
          <a:lstStyle/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u="sng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Hardware event</a:t>
            </a:r>
            <a:r>
              <a:rPr lang="en-US" sz="2000" b="0">
                <a:solidFill>
                  <a:srgbClr val="0066FF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triggers Hwi to run</a:t>
            </a: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BIOS handles context save/restore, nesting</a:t>
            </a:r>
            <a:endParaRPr lang="en-US" sz="2000" b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 triggers follow-up processing</a:t>
            </a:r>
          </a:p>
          <a:p>
            <a:pPr marL="342900" indent="-342900">
              <a:spcBef>
                <a:spcPts val="6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Priorities set in silicon</a:t>
            </a:r>
            <a:endParaRPr lang="en-US" sz="2000" b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1" name="Rectangle 8"/>
          <p:cNvSpPr>
            <a:spLocks noChangeArrowheads="1"/>
          </p:cNvSpPr>
          <p:nvPr/>
        </p:nvSpPr>
        <p:spPr bwMode="auto">
          <a:xfrm>
            <a:off x="827088" y="2082800"/>
            <a:ext cx="2601912" cy="13192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3200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Swi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Software Interrupts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2" name="Text Box 9"/>
          <p:cNvSpPr txBox="1">
            <a:spLocks noChangeArrowheads="1"/>
          </p:cNvSpPr>
          <p:nvPr/>
        </p:nvSpPr>
        <p:spPr bwMode="auto">
          <a:xfrm>
            <a:off x="3429000" y="2099950"/>
            <a:ext cx="5715000" cy="1319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anchor="ctr"/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Software </a:t>
            </a:r>
            <a:r>
              <a:rPr lang="en-US" sz="2000" b="0" i="1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posts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Swi to run</a:t>
            </a:r>
            <a:endParaRPr lang="en-US" sz="2000" b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Performs Hwi </a:t>
            </a: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‘</a:t>
            </a:r>
            <a:r>
              <a:rPr lang="en-US" sz="2000" b="0" i="1" u="sng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follow-up</a:t>
            </a: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’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activity (process data)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Up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to 32 </a:t>
            </a: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priority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levels (16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on C28x/MSP430)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27088" y="3552700"/>
            <a:ext cx="8316912" cy="1322513"/>
            <a:chOff x="827088" y="3628900"/>
            <a:chExt cx="8316912" cy="1322513"/>
          </a:xfrm>
        </p:grpSpPr>
        <p:sp>
          <p:nvSpPr>
            <p:cNvPr id="11273" name="Rectangle 10"/>
            <p:cNvSpPr>
              <a:spLocks noChangeArrowheads="1"/>
            </p:cNvSpPr>
            <p:nvPr/>
          </p:nvSpPr>
          <p:spPr bwMode="auto">
            <a:xfrm>
              <a:off x="827088" y="3632200"/>
              <a:ext cx="2601912" cy="1319213"/>
            </a:xfrm>
            <a:prstGeom prst="rect">
              <a:avLst/>
            </a:prstGeom>
            <a:solidFill>
              <a:srgbClr val="CCFF6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3200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Task</a:t>
              </a:r>
              <a:endParaRPr lang="en-US" sz="32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2000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Tasks</a:t>
              </a:r>
              <a:endParaRPr lang="en-US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1274" name="Text Box 11"/>
            <p:cNvSpPr txBox="1">
              <a:spLocks noChangeArrowheads="1"/>
            </p:cNvSpPr>
            <p:nvPr/>
          </p:nvSpPr>
          <p:spPr bwMode="auto">
            <a:xfrm>
              <a:off x="3429000" y="3628900"/>
              <a:ext cx="5715000" cy="1319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274320" anchor="ctr"/>
            <a:lstStyle/>
            <a:p>
              <a:pPr marL="342900" indent="-342900">
                <a:spcBef>
                  <a:spcPts val="600"/>
                </a:spcBef>
                <a:buClr>
                  <a:srgbClr val="0066FF"/>
                </a:buClr>
                <a:buSzPct val="75000"/>
                <a:buFont typeface="Wingdings" pitchFamily="2" charset="2"/>
                <a:buChar char=""/>
              </a:pPr>
              <a: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Usually enabled to run by posting a ‘</a:t>
              </a:r>
              <a:r>
                <a:rPr lang="en-US" sz="2000" b="0" i="1" u="sng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semaphore</a:t>
              </a:r>
              <a: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’</a:t>
              </a:r>
              <a:b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</a:br>
              <a:r>
                <a:rPr lang="en-US" sz="2000" b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(a task signaling mechanism)</a:t>
              </a:r>
            </a:p>
            <a:p>
              <a:pPr marL="342900" indent="-342900">
                <a:spcBef>
                  <a:spcPts val="600"/>
                </a:spcBef>
                <a:buClr>
                  <a:srgbClr val="0066FF"/>
                </a:buClr>
                <a:buSzPct val="75000"/>
                <a:buFont typeface="Wingdings" pitchFamily="2" charset="2"/>
                <a:buChar char=""/>
              </a:pPr>
              <a:r>
                <a:rPr lang="en-US" sz="2000" b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Designed to run concurrently – pauses when waiting for data (semaphore)</a:t>
              </a:r>
              <a:endPara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endParaRPr>
            </a:p>
            <a:p>
              <a:pPr marL="342900" indent="-342900">
                <a:spcBef>
                  <a:spcPts val="600"/>
                </a:spcBef>
                <a:buClr>
                  <a:srgbClr val="0066FF"/>
                </a:buClr>
                <a:buSzPct val="75000"/>
                <a:buFont typeface="Wingdings" pitchFamily="2" charset="2"/>
                <a:buChar char=""/>
              </a:pPr>
              <a:r>
                <a:rPr lang="en-US" sz="2000" b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Up </a:t>
              </a:r>
              <a:r>
                <a:rPr lang="en-US" sz="2000" b="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to 32 </a:t>
              </a:r>
              <a:r>
                <a:rPr lang="en-US" sz="2000" b="0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priority </a:t>
              </a:r>
              <a:r>
                <a:rPr lang="en-US" sz="2000" b="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levels (16 </a:t>
              </a:r>
              <a:r>
                <a:rPr lang="en-US" sz="2000" b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on C28x/MSP430)</a:t>
              </a:r>
              <a:endPara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1275" name="Rectangle 12"/>
          <p:cNvSpPr>
            <a:spLocks noChangeArrowheads="1"/>
          </p:cNvSpPr>
          <p:nvPr/>
        </p:nvSpPr>
        <p:spPr bwMode="auto">
          <a:xfrm>
            <a:off x="827088" y="5029200"/>
            <a:ext cx="2601912" cy="13192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Idle</a:t>
            </a:r>
            <a:endParaRPr lang="en-US" sz="320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Background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76" name="Text Box 13"/>
          <p:cNvSpPr txBox="1">
            <a:spLocks noChangeArrowheads="1"/>
          </p:cNvSpPr>
          <p:nvPr/>
        </p:nvSpPr>
        <p:spPr bwMode="auto">
          <a:xfrm>
            <a:off x="3429000" y="5029200"/>
            <a:ext cx="5715000" cy="1319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274320" anchor="ctr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Runs as an infinite while(1) loop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Users can assign multiple functions to Idle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Single priority level</a:t>
            </a:r>
          </a:p>
        </p:txBody>
      </p:sp>
      <p:sp>
        <p:nvSpPr>
          <p:cNvPr id="4" name="Leading Question"/>
          <p:cNvSpPr txBox="1"/>
          <p:nvPr/>
        </p:nvSpPr>
        <p:spPr>
          <a:xfrm>
            <a:off x="5777110" y="6501911"/>
            <a:ext cx="2792431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smtClean="0">
                <a:solidFill>
                  <a:srgbClr val="FF0000"/>
                </a:solidFill>
                <a:latin typeface="Arial Narrow"/>
              </a:rPr>
              <a:t>Using Hwi and Swi together…</a:t>
            </a:r>
            <a:endParaRPr lang="en-US" sz="2000" b="0" dirty="0" smtClean="0">
              <a:solidFill>
                <a:srgbClr val="FF0000"/>
              </a:solidFill>
              <a:latin typeface="Arial Narrow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14970" y="533400"/>
            <a:ext cx="8276630" cy="1463151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sz="2800" dirty="0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17600" y="3534734"/>
            <a:ext cx="8276630" cy="2942266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 sz="2800" dirty="0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746869" y="2017817"/>
            <a:ext cx="8276630" cy="146610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pic>
        <p:nvPicPr>
          <p:cNvPr id="19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61005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Hardware and Software Interrupt System</a:t>
            </a:r>
          </a:p>
        </p:txBody>
      </p:sp>
      <p:sp>
        <p:nvSpPr>
          <p:cNvPr id="992267" name="Rectangle 11"/>
          <p:cNvSpPr>
            <a:spLocks noChangeArrowheads="1"/>
          </p:cNvSpPr>
          <p:nvPr/>
        </p:nvSpPr>
        <p:spPr bwMode="auto">
          <a:xfrm>
            <a:off x="6019800" y="2895600"/>
            <a:ext cx="2895600" cy="2209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2268" name="Rectangle 12"/>
          <p:cNvSpPr>
            <a:spLocks noChangeArrowheads="1"/>
          </p:cNvSpPr>
          <p:nvPr/>
        </p:nvSpPr>
        <p:spPr bwMode="auto">
          <a:xfrm>
            <a:off x="152400" y="2895600"/>
            <a:ext cx="2743200" cy="1981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2269" name="AutoShape 13"/>
          <p:cNvSpPr>
            <a:spLocks noChangeArrowheads="1"/>
          </p:cNvSpPr>
          <p:nvPr/>
        </p:nvSpPr>
        <p:spPr bwMode="auto">
          <a:xfrm>
            <a:off x="152400" y="2044700"/>
            <a:ext cx="8686800" cy="685800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en-US" sz="20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992270" name="AutoShape 14"/>
          <p:cNvSpPr>
            <a:spLocks noChangeArrowheads="1"/>
          </p:cNvSpPr>
          <p:nvPr/>
        </p:nvSpPr>
        <p:spPr bwMode="auto">
          <a:xfrm>
            <a:off x="152400" y="1143000"/>
            <a:ext cx="8686800" cy="685800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en-US" sz="20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992271" name="Line 15"/>
          <p:cNvSpPr>
            <a:spLocks noChangeShapeType="1"/>
          </p:cNvSpPr>
          <p:nvPr/>
        </p:nvSpPr>
        <p:spPr bwMode="auto">
          <a:xfrm>
            <a:off x="3352800" y="1485900"/>
            <a:ext cx="3778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2272" name="Line 16"/>
          <p:cNvSpPr>
            <a:spLocks noChangeShapeType="1"/>
          </p:cNvSpPr>
          <p:nvPr/>
        </p:nvSpPr>
        <p:spPr bwMode="auto">
          <a:xfrm>
            <a:off x="4970463" y="1485900"/>
            <a:ext cx="3778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2273" name="Line 17"/>
          <p:cNvSpPr>
            <a:spLocks noChangeShapeType="1"/>
          </p:cNvSpPr>
          <p:nvPr/>
        </p:nvSpPr>
        <p:spPr bwMode="auto">
          <a:xfrm>
            <a:off x="4964113" y="2387600"/>
            <a:ext cx="36988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59" name="Rectangle 18"/>
          <p:cNvSpPr>
            <a:spLocks noChangeArrowheads="1"/>
          </p:cNvSpPr>
          <p:nvPr/>
        </p:nvSpPr>
        <p:spPr bwMode="auto">
          <a:xfrm>
            <a:off x="152400" y="2971800"/>
            <a:ext cx="2743200" cy="1810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Ctr="1">
            <a:spAutoFit/>
          </a:bodyPr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</a:pPr>
            <a:r>
              <a:rPr lang="en-US" sz="2000" dirty="0" err="1" smtClean="0">
                <a:solidFill>
                  <a:schemeClr val="tx2"/>
                </a:solidFill>
                <a:latin typeface="Arial Narrow" pitchFamily="34" charset="0"/>
              </a:rPr>
              <a:t>Hwi</a:t>
            </a:r>
            <a:endParaRPr lang="en-US" sz="2000" dirty="0">
              <a:solidFill>
                <a:schemeClr val="tx2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Fast response </a:t>
            </a: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to INTs</a:t>
            </a:r>
            <a:endParaRPr lang="en-US" sz="1800" dirty="0">
              <a:solidFill>
                <a:srgbClr val="000000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Min </a:t>
            </a: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context switching</a:t>
            </a: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High priority for CPU</a:t>
            </a: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Limited </a:t>
            </a: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# </a:t>
            </a: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of </a:t>
            </a:r>
            <a:r>
              <a:rPr lang="en-US" sz="1800" dirty="0" err="1" smtClean="0">
                <a:solidFill>
                  <a:srgbClr val="000000"/>
                </a:solidFill>
                <a:latin typeface="Arial Narrow" pitchFamily="34" charset="0"/>
              </a:rPr>
              <a:t>Hwi</a:t>
            </a: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possible</a:t>
            </a:r>
          </a:p>
        </p:txBody>
      </p:sp>
      <p:sp>
        <p:nvSpPr>
          <p:cNvPr id="27660" name="Rectangle 19"/>
          <p:cNvSpPr>
            <a:spLocks noChangeArrowheads="1"/>
          </p:cNvSpPr>
          <p:nvPr/>
        </p:nvSpPr>
        <p:spPr bwMode="auto">
          <a:xfrm>
            <a:off x="6096000" y="2971800"/>
            <a:ext cx="2743200" cy="205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Ctr="1">
            <a:spAutoFit/>
          </a:bodyPr>
          <a:lstStyle/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</a:pPr>
            <a:r>
              <a:rPr lang="en-US" sz="2000" dirty="0" err="1" smtClean="0">
                <a:solidFill>
                  <a:schemeClr val="tx2"/>
                </a:solidFill>
                <a:latin typeface="Arial Narrow" pitchFamily="34" charset="0"/>
              </a:rPr>
              <a:t>Swi</a:t>
            </a:r>
            <a:endParaRPr lang="en-US" sz="2000" dirty="0">
              <a:solidFill>
                <a:schemeClr val="tx2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Latency in response time</a:t>
            </a: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Context </a:t>
            </a: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switch</a:t>
            </a:r>
            <a:endParaRPr lang="en-US" sz="1800" dirty="0">
              <a:solidFill>
                <a:srgbClr val="000000"/>
              </a:solidFill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Selectable priority levels</a:t>
            </a:r>
          </a:p>
          <a:p>
            <a:pPr marL="287338" indent="-287338">
              <a:lnSpc>
                <a:spcPct val="90000"/>
              </a:lnSpc>
              <a:spcBef>
                <a:spcPct val="4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Scheduler manages execution</a:t>
            </a:r>
            <a:endParaRPr lang="en-US" sz="18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27661" name="Text Box 20"/>
          <p:cNvSpPr txBox="1">
            <a:spLocks noChangeArrowheads="1"/>
          </p:cNvSpPr>
          <p:nvPr/>
        </p:nvSpPr>
        <p:spPr bwMode="auto">
          <a:xfrm>
            <a:off x="1219200" y="5486400"/>
            <a:ext cx="67818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Arial Narrow" pitchFamily="34" charset="0"/>
              </a:rPr>
              <a:t>TI-RTOS Kernel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provides for </a:t>
            </a:r>
            <a:r>
              <a:rPr lang="en-US" sz="2000" b="0" dirty="0" err="1" smtClean="0">
                <a:solidFill>
                  <a:srgbClr val="000000"/>
                </a:solidFill>
                <a:latin typeface="Arial Narrow" pitchFamily="34" charset="0"/>
              </a:rPr>
              <a:t>Hwi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and </a:t>
            </a:r>
            <a:r>
              <a:rPr lang="en-US" sz="2000" b="0" dirty="0" err="1" smtClean="0">
                <a:solidFill>
                  <a:srgbClr val="000000"/>
                </a:solidFill>
                <a:latin typeface="Arial Narrow" pitchFamily="34" charset="0"/>
              </a:rPr>
              <a:t>Swi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management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Arial Narrow" pitchFamily="34" charset="0"/>
              </a:rPr>
              <a:t>TI-RTOS Kernel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allows the </a:t>
            </a:r>
            <a:r>
              <a:rPr lang="en-US" sz="2000" b="0" dirty="0" err="1" smtClean="0">
                <a:solidFill>
                  <a:srgbClr val="000000"/>
                </a:solidFill>
                <a:latin typeface="Arial Narrow" pitchFamily="34" charset="0"/>
              </a:rPr>
              <a:t>Hwi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to post 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a </a:t>
            </a:r>
            <a:r>
              <a:rPr lang="en-US" sz="2000" b="0" dirty="0" err="1" smtClean="0">
                <a:solidFill>
                  <a:srgbClr val="000000"/>
                </a:solidFill>
                <a:latin typeface="Arial Narrow" pitchFamily="34" charset="0"/>
              </a:rPr>
              <a:t>Swi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to the ready queue</a:t>
            </a:r>
          </a:p>
        </p:txBody>
      </p:sp>
      <p:sp>
        <p:nvSpPr>
          <p:cNvPr id="27662" name="Text Box 21"/>
          <p:cNvSpPr txBox="1">
            <a:spLocks noChangeArrowheads="1"/>
          </p:cNvSpPr>
          <p:nvPr/>
        </p:nvSpPr>
        <p:spPr bwMode="auto">
          <a:xfrm>
            <a:off x="1752600" y="609600"/>
            <a:ext cx="586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Arial Narrow" pitchFamily="34" charset="0"/>
              </a:rPr>
              <a:t>Execution flow for flexible real-time systems:</a:t>
            </a:r>
          </a:p>
        </p:txBody>
      </p:sp>
      <p:sp>
        <p:nvSpPr>
          <p:cNvPr id="27663" name="AutoShape 22"/>
          <p:cNvSpPr>
            <a:spLocks noChangeArrowheads="1"/>
          </p:cNvSpPr>
          <p:nvPr/>
        </p:nvSpPr>
        <p:spPr bwMode="auto">
          <a:xfrm>
            <a:off x="381000" y="1282700"/>
            <a:ext cx="655638" cy="406400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>
                <a:solidFill>
                  <a:srgbClr val="000000"/>
                </a:solidFill>
                <a:latin typeface="Arial Narrow" pitchFamily="34" charset="0"/>
              </a:rPr>
              <a:t>INT !</a:t>
            </a:r>
          </a:p>
        </p:txBody>
      </p:sp>
      <p:sp>
        <p:nvSpPr>
          <p:cNvPr id="27664" name="AutoShape 23"/>
          <p:cNvSpPr>
            <a:spLocks noChangeArrowheads="1"/>
          </p:cNvSpPr>
          <p:nvPr/>
        </p:nvSpPr>
        <p:spPr bwMode="auto">
          <a:xfrm>
            <a:off x="1436041" y="1263770"/>
            <a:ext cx="1890418" cy="442674"/>
          </a:xfrm>
          <a:prstGeom prst="flowChartAlternateProcess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solidFill>
                  <a:srgbClr val="000000"/>
                </a:solidFill>
                <a:latin typeface="Arial Narrow" pitchFamily="34" charset="0"/>
              </a:rPr>
              <a:t>Hard R/T Process</a:t>
            </a:r>
          </a:p>
        </p:txBody>
      </p:sp>
      <p:sp>
        <p:nvSpPr>
          <p:cNvPr id="27665" name="AutoShape 24"/>
          <p:cNvSpPr>
            <a:spLocks noChangeArrowheads="1"/>
          </p:cNvSpPr>
          <p:nvPr/>
        </p:nvSpPr>
        <p:spPr bwMode="auto">
          <a:xfrm>
            <a:off x="3733800" y="1282700"/>
            <a:ext cx="1295400" cy="406400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Arial Narrow" pitchFamily="34" charset="0"/>
              </a:rPr>
              <a:t>Post </a:t>
            </a:r>
            <a:r>
              <a:rPr lang="en-US" sz="2000" dirty="0" err="1" smtClean="0">
                <a:solidFill>
                  <a:srgbClr val="000000"/>
                </a:solidFill>
                <a:latin typeface="Arial Narrow" pitchFamily="34" charset="0"/>
              </a:rPr>
              <a:t>Swi</a:t>
            </a:r>
            <a:endParaRPr lang="en-US" sz="20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27666" name="AutoShape 25"/>
          <p:cNvSpPr>
            <a:spLocks noChangeArrowheads="1"/>
          </p:cNvSpPr>
          <p:nvPr/>
        </p:nvSpPr>
        <p:spPr bwMode="auto">
          <a:xfrm>
            <a:off x="5367668" y="1297822"/>
            <a:ext cx="1273753" cy="374571"/>
          </a:xfrm>
          <a:prstGeom prst="flowChartAlternateProcess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dirty="0">
                <a:solidFill>
                  <a:srgbClr val="000000"/>
                </a:solidFill>
                <a:latin typeface="Arial Narrow" pitchFamily="34" charset="0"/>
              </a:rPr>
              <a:t>Cleanup, </a:t>
            </a:r>
            <a:r>
              <a:rPr lang="en-US" sz="1600" b="0" dirty="0" smtClean="0">
                <a:solidFill>
                  <a:srgbClr val="000000"/>
                </a:solidFill>
                <a:latin typeface="Arial Narrow" pitchFamily="34" charset="0"/>
              </a:rPr>
              <a:t>RET</a:t>
            </a:r>
            <a:endParaRPr lang="en-US" sz="1600" b="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27667" name="AutoShape 26"/>
          <p:cNvSpPr>
            <a:spLocks noChangeArrowheads="1"/>
          </p:cNvSpPr>
          <p:nvPr/>
        </p:nvSpPr>
        <p:spPr bwMode="auto">
          <a:xfrm>
            <a:off x="5355266" y="2182496"/>
            <a:ext cx="2167503" cy="408623"/>
          </a:xfrm>
          <a:prstGeom prst="flowChartAlternateProcess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Continue </a:t>
            </a: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Processing </a:t>
            </a:r>
            <a:r>
              <a:rPr lang="en-US" sz="1800" b="0" dirty="0">
                <a:solidFill>
                  <a:srgbClr val="000000"/>
                </a:solidFill>
                <a:latin typeface="Arial Narrow" pitchFamily="34" charset="0"/>
              </a:rPr>
              <a:t>...</a:t>
            </a:r>
          </a:p>
        </p:txBody>
      </p:sp>
      <p:sp>
        <p:nvSpPr>
          <p:cNvPr id="992283" name="Line 27"/>
          <p:cNvSpPr>
            <a:spLocks noChangeShapeType="1"/>
          </p:cNvSpPr>
          <p:nvPr/>
        </p:nvSpPr>
        <p:spPr bwMode="auto">
          <a:xfrm>
            <a:off x="1039813" y="1485900"/>
            <a:ext cx="3778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69" name="AutoShape 28"/>
          <p:cNvSpPr>
            <a:spLocks noChangeArrowheads="1"/>
          </p:cNvSpPr>
          <p:nvPr/>
        </p:nvSpPr>
        <p:spPr bwMode="auto">
          <a:xfrm>
            <a:off x="3733800" y="2184400"/>
            <a:ext cx="1295400" cy="406400"/>
          </a:xfrm>
          <a:prstGeom prst="flowChartProcess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smtClean="0">
                <a:solidFill>
                  <a:srgbClr val="000000"/>
                </a:solidFill>
                <a:latin typeface="Arial Narrow" pitchFamily="34" charset="0"/>
              </a:rPr>
              <a:t>Swi </a:t>
            </a:r>
            <a:r>
              <a:rPr lang="en-US" sz="2000" dirty="0">
                <a:solidFill>
                  <a:srgbClr val="000000"/>
                </a:solidFill>
                <a:latin typeface="Arial Narrow" pitchFamily="34" charset="0"/>
              </a:rPr>
              <a:t>Ready</a:t>
            </a:r>
          </a:p>
        </p:txBody>
      </p:sp>
      <p:sp>
        <p:nvSpPr>
          <p:cNvPr id="992285" name="Line 29"/>
          <p:cNvSpPr>
            <a:spLocks noChangeShapeType="1"/>
          </p:cNvSpPr>
          <p:nvPr/>
        </p:nvSpPr>
        <p:spPr bwMode="auto">
          <a:xfrm>
            <a:off x="4419600" y="1676400"/>
            <a:ext cx="0" cy="5222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71" name="Text Box 30"/>
          <p:cNvSpPr txBox="1">
            <a:spLocks noChangeArrowheads="1"/>
          </p:cNvSpPr>
          <p:nvPr/>
        </p:nvSpPr>
        <p:spPr bwMode="auto">
          <a:xfrm>
            <a:off x="7834429" y="1270000"/>
            <a:ext cx="822661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chemeClr val="tx2"/>
                </a:solidFill>
              </a:rPr>
              <a:t>Hwi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27673" name="Text Box 32"/>
          <p:cNvSpPr txBox="1">
            <a:spLocks noChangeArrowheads="1"/>
          </p:cNvSpPr>
          <p:nvPr/>
        </p:nvSpPr>
        <p:spPr bwMode="auto">
          <a:xfrm>
            <a:off x="2962279" y="3288774"/>
            <a:ext cx="2949422" cy="2045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 anchorCtr="1">
            <a:noAutofit/>
          </a:bodyPr>
          <a:lstStyle/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*</a:t>
            </a:r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++ = *XBUF;</a:t>
            </a:r>
          </a:p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++;</a:t>
            </a:r>
          </a:p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if 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&gt;= BLKSZ) {</a:t>
            </a:r>
          </a:p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800" dirty="0" err="1" smtClean="0">
                <a:solidFill>
                  <a:schemeClr val="tx2"/>
                </a:solidFill>
                <a:latin typeface="Courier New" pitchFamily="49" charset="0"/>
              </a:rPr>
              <a:t>Swi_post</a:t>
            </a:r>
            <a:r>
              <a:rPr lang="en-US" sz="1800" dirty="0" smtClean="0">
                <a:solidFill>
                  <a:schemeClr val="tx2"/>
                </a:solidFill>
                <a:latin typeface="Courier New" pitchFamily="49" charset="0"/>
              </a:rPr>
              <a:t>(</a:t>
            </a:r>
            <a:r>
              <a:rPr lang="en-US" sz="1800" dirty="0" err="1" smtClean="0">
                <a:solidFill>
                  <a:schemeClr val="tx2"/>
                </a:solidFill>
                <a:latin typeface="Courier New" pitchFamily="49" charset="0"/>
              </a:rPr>
              <a:t>swiFir</a:t>
            </a:r>
            <a:r>
              <a:rPr lang="en-US" sz="1800" dirty="0">
                <a:solidFill>
                  <a:schemeClr val="tx2"/>
                </a:solidFill>
                <a:latin typeface="Courier New" pitchFamily="49" charset="0"/>
              </a:rPr>
              <a:t>);</a:t>
            </a:r>
          </a:p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800" smtClean="0">
                <a:solidFill>
                  <a:srgbClr val="000000"/>
                </a:solidFill>
                <a:latin typeface="Courier New" pitchFamily="49" charset="0"/>
              </a:rPr>
              <a:t>cnt 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= 0;</a:t>
            </a:r>
          </a:p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pingPong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^= 1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ct val="50000"/>
              </a:lnSpc>
              <a:tabLst>
                <a:tab pos="34131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36" name="Leading Question"/>
          <p:cNvSpPr txBox="1"/>
          <p:nvPr/>
        </p:nvSpPr>
        <p:spPr>
          <a:xfrm>
            <a:off x="6477000" y="6514133"/>
            <a:ext cx="1758494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Scheduling </a:t>
            </a:r>
            <a:r>
              <a:rPr lang="en-US" sz="2000" b="0" dirty="0" err="1" smtClean="0">
                <a:solidFill>
                  <a:schemeClr val="tx2"/>
                </a:solidFill>
                <a:latin typeface="Arial Narrow"/>
              </a:rPr>
              <a:t>Swi's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...</a:t>
            </a:r>
            <a:endParaRPr lang="en-US" sz="2000" b="0" dirty="0">
              <a:solidFill>
                <a:schemeClr val="tx2"/>
              </a:solidFill>
              <a:latin typeface="Arial Narrow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11540" y="2970031"/>
            <a:ext cx="1183337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dirty="0" err="1" smtClean="0">
                <a:solidFill>
                  <a:schemeClr val="tx2"/>
                </a:solidFill>
              </a:rPr>
              <a:t>isrAudio</a:t>
            </a:r>
            <a:r>
              <a:rPr lang="en-US" sz="2000" b="0" dirty="0" smtClean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7834429" y="2186765"/>
            <a:ext cx="822661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dirty="0" err="1" smtClean="0">
                <a:solidFill>
                  <a:schemeClr val="tx2"/>
                </a:solidFill>
              </a:rPr>
              <a:t>Swi</a:t>
            </a: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29" name="Animated Logo" descr="tilogo_color_two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36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35538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5502" y="1924155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Intro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5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9625" y="2329983"/>
            <a:ext cx="4600575" cy="40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Scheduling Rules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813464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Swi – Configuration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5502" y="3219292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Other Useful APIs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631151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420595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795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AutoShape 2"/>
          <p:cNvSpPr>
            <a:spLocks noChangeArrowheads="1"/>
          </p:cNvSpPr>
          <p:nvPr/>
        </p:nvSpPr>
        <p:spPr bwMode="gray">
          <a:xfrm>
            <a:off x="636588" y="1298575"/>
            <a:ext cx="1252537" cy="377825"/>
          </a:xfrm>
          <a:prstGeom prst="roundRect">
            <a:avLst>
              <a:gd name="adj" fmla="val 12495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err="1" smtClean="0">
                <a:solidFill>
                  <a:srgbClr val="000000"/>
                </a:solidFill>
              </a:rPr>
              <a:t>Hwi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95331" name="AutoShape 3"/>
          <p:cNvSpPr>
            <a:spLocks noChangeArrowheads="1"/>
          </p:cNvSpPr>
          <p:nvPr/>
        </p:nvSpPr>
        <p:spPr bwMode="gray">
          <a:xfrm>
            <a:off x="636588" y="2976563"/>
            <a:ext cx="1252537" cy="376237"/>
          </a:xfrm>
          <a:prstGeom prst="roundRect">
            <a:avLst>
              <a:gd name="adj" fmla="val 1249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err="1" smtClean="0">
                <a:solidFill>
                  <a:srgbClr val="000000"/>
                </a:solidFill>
              </a:rPr>
              <a:t>swi_a</a:t>
            </a:r>
            <a:r>
              <a:rPr lang="en-US" sz="1800" dirty="0" smtClean="0">
                <a:solidFill>
                  <a:srgbClr val="000000"/>
                </a:solidFill>
              </a:rPr>
              <a:t> </a:t>
            </a:r>
            <a:r>
              <a:rPr lang="en-US" sz="1800" b="0" i="1" dirty="0">
                <a:solidFill>
                  <a:srgbClr val="000000"/>
                </a:solidFill>
              </a:rPr>
              <a:t>(p1)</a:t>
            </a:r>
          </a:p>
        </p:txBody>
      </p:sp>
      <p:sp>
        <p:nvSpPr>
          <p:cNvPr id="995332" name="AutoShape 4"/>
          <p:cNvSpPr>
            <a:spLocks noChangeArrowheads="1"/>
          </p:cNvSpPr>
          <p:nvPr/>
        </p:nvSpPr>
        <p:spPr bwMode="gray">
          <a:xfrm>
            <a:off x="636588" y="3738563"/>
            <a:ext cx="1252537" cy="376237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Idle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95333" name="AutoShape 5"/>
          <p:cNvSpPr>
            <a:spLocks noChangeArrowheads="1"/>
          </p:cNvSpPr>
          <p:nvPr/>
        </p:nvSpPr>
        <p:spPr bwMode="gray">
          <a:xfrm>
            <a:off x="636588" y="2136775"/>
            <a:ext cx="1252537" cy="377825"/>
          </a:xfrm>
          <a:prstGeom prst="roundRect">
            <a:avLst>
              <a:gd name="adj" fmla="val 1249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err="1" smtClean="0">
                <a:solidFill>
                  <a:srgbClr val="000000"/>
                </a:solidFill>
              </a:rPr>
              <a:t>swi_b</a:t>
            </a:r>
            <a:r>
              <a:rPr lang="en-US" sz="1800" dirty="0" smtClean="0">
                <a:solidFill>
                  <a:srgbClr val="000000"/>
                </a:solidFill>
              </a:rPr>
              <a:t> </a:t>
            </a:r>
            <a:r>
              <a:rPr lang="en-US" sz="1800" b="0" i="1" dirty="0">
                <a:solidFill>
                  <a:srgbClr val="000000"/>
                </a:solidFill>
              </a:rPr>
              <a:t>(p2)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rIns="92075" anchor="ctr"/>
          <a:lstStyle/>
          <a:p>
            <a:r>
              <a:rPr lang="en-US" smtClean="0"/>
              <a:t>Scheduling Rules</a:t>
            </a:r>
          </a:p>
        </p:txBody>
      </p:sp>
      <p:sp>
        <p:nvSpPr>
          <p:cNvPr id="995335" name="Line 7"/>
          <p:cNvSpPr>
            <a:spLocks noChangeShapeType="1"/>
          </p:cNvSpPr>
          <p:nvPr/>
        </p:nvSpPr>
        <p:spPr bwMode="gray">
          <a:xfrm>
            <a:off x="5245100" y="3956050"/>
            <a:ext cx="731838" cy="0"/>
          </a:xfrm>
          <a:prstGeom prst="line">
            <a:avLst/>
          </a:prstGeom>
          <a:noFill/>
          <a:ln w="4445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36" name="Line 8"/>
          <p:cNvSpPr>
            <a:spLocks noChangeShapeType="1"/>
          </p:cNvSpPr>
          <p:nvPr/>
        </p:nvSpPr>
        <p:spPr bwMode="auto">
          <a:xfrm>
            <a:off x="3074988" y="1524000"/>
            <a:ext cx="457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oval" w="sm" len="sm"/>
            <a:tailEnd type="oval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37" name="Line 9"/>
          <p:cNvSpPr>
            <a:spLocks noChangeShapeType="1"/>
          </p:cNvSpPr>
          <p:nvPr/>
        </p:nvSpPr>
        <p:spPr bwMode="auto">
          <a:xfrm>
            <a:off x="2278063" y="3200400"/>
            <a:ext cx="79692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38" name="Line 10"/>
          <p:cNvSpPr>
            <a:spLocks noChangeShapeType="1"/>
          </p:cNvSpPr>
          <p:nvPr/>
        </p:nvSpPr>
        <p:spPr bwMode="auto">
          <a:xfrm>
            <a:off x="3303588" y="2362200"/>
            <a:ext cx="106680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oval" w="sm" len="sm"/>
            <a:tailEnd type="oval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39" name="Line 11"/>
          <p:cNvSpPr>
            <a:spLocks noChangeShapeType="1"/>
          </p:cNvSpPr>
          <p:nvPr/>
        </p:nvSpPr>
        <p:spPr bwMode="auto">
          <a:xfrm flipH="1">
            <a:off x="4411663" y="3200400"/>
            <a:ext cx="87312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oval" w="sm" len="sm"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0" name="Line 12"/>
          <p:cNvSpPr>
            <a:spLocks noChangeShapeType="1"/>
          </p:cNvSpPr>
          <p:nvPr/>
        </p:nvSpPr>
        <p:spPr bwMode="auto">
          <a:xfrm>
            <a:off x="3116263" y="3200400"/>
            <a:ext cx="121920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1" name="Line 13"/>
          <p:cNvSpPr>
            <a:spLocks noChangeShapeType="1"/>
          </p:cNvSpPr>
          <p:nvPr/>
        </p:nvSpPr>
        <p:spPr bwMode="auto">
          <a:xfrm flipV="1">
            <a:off x="3074988" y="1600200"/>
            <a:ext cx="0" cy="1501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2" name="Line 14"/>
          <p:cNvSpPr>
            <a:spLocks noChangeShapeType="1"/>
          </p:cNvSpPr>
          <p:nvPr/>
        </p:nvSpPr>
        <p:spPr bwMode="auto">
          <a:xfrm>
            <a:off x="3532188" y="16002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3" name="Line 15"/>
          <p:cNvSpPr>
            <a:spLocks noChangeShapeType="1"/>
          </p:cNvSpPr>
          <p:nvPr/>
        </p:nvSpPr>
        <p:spPr bwMode="auto">
          <a:xfrm>
            <a:off x="4370388" y="2438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4" name="Line 16"/>
          <p:cNvSpPr>
            <a:spLocks noChangeShapeType="1"/>
          </p:cNvSpPr>
          <p:nvPr/>
        </p:nvSpPr>
        <p:spPr bwMode="auto">
          <a:xfrm>
            <a:off x="5284788" y="3276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5" name="Line 17"/>
          <p:cNvSpPr>
            <a:spLocks noChangeShapeType="1"/>
          </p:cNvSpPr>
          <p:nvPr/>
        </p:nvSpPr>
        <p:spPr bwMode="auto">
          <a:xfrm>
            <a:off x="3532188" y="2362200"/>
            <a:ext cx="7620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5346" name="Line 18"/>
          <p:cNvSpPr>
            <a:spLocks noChangeShapeType="1"/>
          </p:cNvSpPr>
          <p:nvPr/>
        </p:nvSpPr>
        <p:spPr bwMode="gray">
          <a:xfrm>
            <a:off x="2286000" y="4570413"/>
            <a:ext cx="5494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389188" y="4495800"/>
            <a:ext cx="4395787" cy="152400"/>
            <a:chOff x="1200" y="2688"/>
            <a:chExt cx="2769" cy="96"/>
          </a:xfrm>
        </p:grpSpPr>
        <p:sp>
          <p:nvSpPr>
            <p:cNvPr id="995348" name="Line 20"/>
            <p:cNvSpPr>
              <a:spLocks noChangeShapeType="1"/>
            </p:cNvSpPr>
            <p:nvPr/>
          </p:nvSpPr>
          <p:spPr bwMode="gray">
            <a:xfrm flipV="1">
              <a:off x="1200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49" name="Line 21"/>
            <p:cNvSpPr>
              <a:spLocks noChangeShapeType="1"/>
            </p:cNvSpPr>
            <p:nvPr/>
          </p:nvSpPr>
          <p:spPr bwMode="gray">
            <a:xfrm flipV="1">
              <a:off x="1661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50" name="Line 22"/>
            <p:cNvSpPr>
              <a:spLocks noChangeShapeType="1"/>
            </p:cNvSpPr>
            <p:nvPr/>
          </p:nvSpPr>
          <p:spPr bwMode="gray">
            <a:xfrm flipV="1">
              <a:off x="2122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51" name="Line 23"/>
            <p:cNvSpPr>
              <a:spLocks noChangeShapeType="1"/>
            </p:cNvSpPr>
            <p:nvPr/>
          </p:nvSpPr>
          <p:spPr bwMode="gray">
            <a:xfrm flipV="1">
              <a:off x="2585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52" name="Line 24"/>
            <p:cNvSpPr>
              <a:spLocks noChangeShapeType="1"/>
            </p:cNvSpPr>
            <p:nvPr/>
          </p:nvSpPr>
          <p:spPr bwMode="gray">
            <a:xfrm flipV="1">
              <a:off x="3045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53" name="Line 25"/>
            <p:cNvSpPr>
              <a:spLocks noChangeShapeType="1"/>
            </p:cNvSpPr>
            <p:nvPr/>
          </p:nvSpPr>
          <p:spPr bwMode="gray">
            <a:xfrm flipV="1">
              <a:off x="3506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54" name="Line 26"/>
            <p:cNvSpPr>
              <a:spLocks noChangeShapeType="1"/>
            </p:cNvSpPr>
            <p:nvPr/>
          </p:nvSpPr>
          <p:spPr bwMode="gray">
            <a:xfrm flipV="1">
              <a:off x="3969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9716" name="Text Box 27"/>
          <p:cNvSpPr txBox="1">
            <a:spLocks noChangeArrowheads="1"/>
          </p:cNvSpPr>
          <p:nvPr/>
        </p:nvSpPr>
        <p:spPr bwMode="auto">
          <a:xfrm>
            <a:off x="482931" y="990600"/>
            <a:ext cx="1600200" cy="2016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40000"/>
              </a:lnSpc>
            </a:pPr>
            <a:r>
              <a:rPr lang="en-US" sz="1800" b="0" i="1">
                <a:solidFill>
                  <a:srgbClr val="000000"/>
                </a:solidFill>
                <a:latin typeface="Arial Narrow" pitchFamily="34" charset="0"/>
              </a:rPr>
              <a:t>Highest  Priority</a:t>
            </a:r>
          </a:p>
        </p:txBody>
      </p:sp>
      <p:sp>
        <p:nvSpPr>
          <p:cNvPr id="29717" name="Text Box 28"/>
          <p:cNvSpPr txBox="1">
            <a:spLocks noChangeArrowheads="1"/>
          </p:cNvSpPr>
          <p:nvPr/>
        </p:nvSpPr>
        <p:spPr bwMode="auto">
          <a:xfrm>
            <a:off x="533400" y="4327856"/>
            <a:ext cx="1600200" cy="2016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40000"/>
              </a:lnSpc>
            </a:pPr>
            <a:r>
              <a:rPr lang="en-US" sz="1800" b="0" i="1">
                <a:solidFill>
                  <a:srgbClr val="000000"/>
                </a:solidFill>
                <a:latin typeface="Arial Narrow" pitchFamily="34" charset="0"/>
              </a:rPr>
              <a:t>Lowest  Priority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037388" y="3581400"/>
            <a:ext cx="1649412" cy="857250"/>
            <a:chOff x="3792" y="1332"/>
            <a:chExt cx="1039" cy="540"/>
          </a:xfrm>
        </p:grpSpPr>
        <p:sp>
          <p:nvSpPr>
            <p:cNvPr id="995358" name="AutoShape 30"/>
            <p:cNvSpPr>
              <a:spLocks noChangeArrowheads="1"/>
            </p:cNvSpPr>
            <p:nvPr/>
          </p:nvSpPr>
          <p:spPr bwMode="gray">
            <a:xfrm>
              <a:off x="3792" y="1344"/>
              <a:ext cx="1008" cy="528"/>
            </a:xfrm>
            <a:prstGeom prst="roundRect">
              <a:avLst>
                <a:gd name="adj" fmla="val 124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995359" name="Line 31"/>
            <p:cNvSpPr>
              <a:spLocks noChangeShapeType="1"/>
            </p:cNvSpPr>
            <p:nvPr/>
          </p:nvSpPr>
          <p:spPr bwMode="auto">
            <a:xfrm flipV="1">
              <a:off x="3885" y="1586"/>
              <a:ext cx="29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5360" name="Line 32"/>
            <p:cNvSpPr>
              <a:spLocks noChangeShapeType="1"/>
            </p:cNvSpPr>
            <p:nvPr/>
          </p:nvSpPr>
          <p:spPr bwMode="auto">
            <a:xfrm>
              <a:off x="3893" y="1768"/>
              <a:ext cx="29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734" name="Text Box 33"/>
            <p:cNvSpPr txBox="1">
              <a:spLocks noChangeArrowheads="1"/>
            </p:cNvSpPr>
            <p:nvPr/>
          </p:nvSpPr>
          <p:spPr bwMode="auto">
            <a:xfrm>
              <a:off x="4176" y="1488"/>
              <a:ext cx="639" cy="1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1800" b="0">
                  <a:solidFill>
                    <a:srgbClr val="000000"/>
                  </a:solidFill>
                  <a:latin typeface="Times New Roman" pitchFamily="18" charset="0"/>
                </a:rPr>
                <a:t>Running</a:t>
              </a:r>
            </a:p>
          </p:txBody>
        </p:sp>
        <p:sp>
          <p:nvSpPr>
            <p:cNvPr id="29735" name="Text Box 34"/>
            <p:cNvSpPr txBox="1">
              <a:spLocks noChangeArrowheads="1"/>
            </p:cNvSpPr>
            <p:nvPr/>
          </p:nvSpPr>
          <p:spPr bwMode="auto">
            <a:xfrm>
              <a:off x="4192" y="1672"/>
              <a:ext cx="639" cy="1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1800" b="0">
                  <a:solidFill>
                    <a:srgbClr val="000000"/>
                  </a:solidFill>
                  <a:latin typeface="Times New Roman" pitchFamily="18" charset="0"/>
                </a:rPr>
                <a:t>Ready</a:t>
              </a:r>
            </a:p>
          </p:txBody>
        </p:sp>
        <p:sp>
          <p:nvSpPr>
            <p:cNvPr id="29736" name="Text Box 35"/>
            <p:cNvSpPr txBox="1">
              <a:spLocks noChangeArrowheads="1"/>
            </p:cNvSpPr>
            <p:nvPr/>
          </p:nvSpPr>
          <p:spPr bwMode="auto">
            <a:xfrm>
              <a:off x="4032" y="1332"/>
              <a:ext cx="639" cy="1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1800" b="0" i="1">
                  <a:solidFill>
                    <a:srgbClr val="000000"/>
                  </a:solidFill>
                  <a:latin typeface="Times New Roman" pitchFamily="18" charset="0"/>
                </a:rPr>
                <a:t>Legend</a:t>
              </a:r>
            </a:p>
          </p:txBody>
        </p:sp>
      </p:grpSp>
      <p:sp>
        <p:nvSpPr>
          <p:cNvPr id="29719" name="Rectangle 36"/>
          <p:cNvSpPr>
            <a:spLocks noChangeArrowheads="1"/>
          </p:cNvSpPr>
          <p:nvPr/>
        </p:nvSpPr>
        <p:spPr bwMode="auto">
          <a:xfrm>
            <a:off x="609600" y="4876800"/>
            <a:ext cx="8686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6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i="1" smtClean="0">
                <a:solidFill>
                  <a:schemeClr val="tx2"/>
                </a:solidFill>
                <a:latin typeface="Arial Narrow" pitchFamily="34" charset="0"/>
              </a:rPr>
              <a:t>Swi_post(mySwi</a:t>
            </a:r>
            <a:r>
              <a:rPr lang="en-US" sz="2000" i="1" dirty="0">
                <a:solidFill>
                  <a:schemeClr val="tx2"/>
                </a:solidFill>
                <a:latin typeface="Arial Narrow" pitchFamily="34" charset="0"/>
              </a:rPr>
              <a:t>)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 : Unconditionally post a software interrupt (in the ready state)</a:t>
            </a:r>
          </a:p>
          <a:p>
            <a:pPr marL="342900" indent="-342900">
              <a:lnSpc>
                <a:spcPct val="6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Arial Narrow" pitchFamily="34" charset="0"/>
              </a:rPr>
              <a:t>If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a higher priority thread becomes ready, the running thread is preempted</a:t>
            </a:r>
          </a:p>
          <a:p>
            <a:pPr marL="342900" indent="-342900">
              <a:lnSpc>
                <a:spcPct val="6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smtClean="0">
                <a:solidFill>
                  <a:schemeClr val="tx2"/>
                </a:solidFill>
                <a:latin typeface="Arial Narrow" pitchFamily="34" charset="0"/>
              </a:rPr>
              <a:t>Swi</a:t>
            </a:r>
            <a:r>
              <a:rPr lang="en-US" sz="2000" b="0" smtClean="0">
                <a:solidFill>
                  <a:srgbClr val="000000"/>
                </a:solidFill>
                <a:latin typeface="Arial Narrow" pitchFamily="34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priorities from 1 to </a:t>
            </a:r>
            <a:r>
              <a:rPr lang="en-US" sz="2000" b="0" smtClean="0">
                <a:solidFill>
                  <a:srgbClr val="000000"/>
                </a:solidFill>
                <a:latin typeface="Arial Narrow" pitchFamily="34" charset="0"/>
              </a:rPr>
              <a:t>32 (MSP430/C28x </a:t>
            </a:r>
            <a:r>
              <a:rPr lang="en-US" sz="2000" b="0" dirty="0" smtClean="0">
                <a:solidFill>
                  <a:srgbClr val="000000"/>
                </a:solidFill>
                <a:latin typeface="Arial Narrow" pitchFamily="34" charset="0"/>
              </a:rPr>
              <a:t>has 16)</a:t>
            </a:r>
            <a:endParaRPr lang="en-US" sz="2000" b="0" dirty="0">
              <a:solidFill>
                <a:srgbClr val="000000"/>
              </a:solidFill>
              <a:latin typeface="Arial Narrow" pitchFamily="34" charset="0"/>
            </a:endParaRPr>
          </a:p>
          <a:p>
            <a:pPr marL="342900" indent="-342900">
              <a:lnSpc>
                <a:spcPct val="6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rgbClr val="000000"/>
                </a:solidFill>
                <a:latin typeface="Arial Narrow" pitchFamily="34" charset="0"/>
              </a:rPr>
              <a:t>Automatic </a:t>
            </a:r>
            <a:r>
              <a:rPr lang="en-US" sz="2000" b="0" dirty="0">
                <a:solidFill>
                  <a:srgbClr val="000000"/>
                </a:solidFill>
                <a:latin typeface="Arial Narrow" pitchFamily="34" charset="0"/>
              </a:rPr>
              <a:t>context switch (uses system stack)</a:t>
            </a:r>
          </a:p>
        </p:txBody>
      </p:sp>
      <p:sp>
        <p:nvSpPr>
          <p:cNvPr id="29720" name="Rectangle 37"/>
          <p:cNvSpPr>
            <a:spLocks noChangeArrowheads="1"/>
          </p:cNvSpPr>
          <p:nvPr/>
        </p:nvSpPr>
        <p:spPr bwMode="auto">
          <a:xfrm>
            <a:off x="5753100" y="4419600"/>
            <a:ext cx="59848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</a:rPr>
              <a:t>time </a:t>
            </a:r>
          </a:p>
        </p:txBody>
      </p:sp>
      <p:sp>
        <p:nvSpPr>
          <p:cNvPr id="995366" name="Line 38"/>
          <p:cNvSpPr>
            <a:spLocks noChangeShapeType="1"/>
          </p:cNvSpPr>
          <p:nvPr/>
        </p:nvSpPr>
        <p:spPr bwMode="auto">
          <a:xfrm>
            <a:off x="2236788" y="3962400"/>
            <a:ext cx="289560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722" name="AutoShape 39"/>
          <p:cNvSpPr>
            <a:spLocks noChangeArrowheads="1"/>
          </p:cNvSpPr>
          <p:nvPr/>
        </p:nvSpPr>
        <p:spPr bwMode="auto">
          <a:xfrm>
            <a:off x="3151188" y="762000"/>
            <a:ext cx="2057400" cy="533400"/>
          </a:xfrm>
          <a:prstGeom prst="wedgeEllipseCallout">
            <a:avLst>
              <a:gd name="adj1" fmla="val -40278"/>
              <a:gd name="adj2" fmla="val 75597"/>
            </a:avLst>
          </a:prstGeom>
          <a:solidFill>
            <a:schemeClr val="accent1"/>
          </a:solidFill>
          <a:ln w="12700" cap="rnd">
            <a:solidFill>
              <a:schemeClr val="tx1"/>
            </a:solidFill>
            <a:miter lim="800000"/>
            <a:headEnd type="none" w="sm" len="lg"/>
            <a:tailEnd type="none" w="med" len="lg"/>
          </a:ln>
        </p:spPr>
        <p:txBody>
          <a:bodyPr wrap="none" anchor="ctr"/>
          <a:lstStyle/>
          <a:p>
            <a:pPr algn="ctr"/>
            <a:r>
              <a:rPr lang="en-US" sz="1800" dirty="0" err="1" smtClean="0">
                <a:solidFill>
                  <a:srgbClr val="000000"/>
                </a:solidFill>
                <a:latin typeface="Arial Narrow" pitchFamily="34" charset="0"/>
              </a:rPr>
              <a:t>Swi_post</a:t>
            </a: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(</a:t>
            </a:r>
            <a:r>
              <a:rPr lang="en-US" sz="1800" b="0" dirty="0" err="1" smtClean="0">
                <a:solidFill>
                  <a:srgbClr val="000000"/>
                </a:solidFill>
                <a:latin typeface="Arial Narrow" pitchFamily="34" charset="0"/>
              </a:rPr>
              <a:t>swi_b</a:t>
            </a: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) </a:t>
            </a:r>
          </a:p>
        </p:txBody>
      </p:sp>
      <p:sp>
        <p:nvSpPr>
          <p:cNvPr id="51" name="Leading Question"/>
          <p:cNvSpPr txBox="1"/>
          <p:nvPr/>
        </p:nvSpPr>
        <p:spPr>
          <a:xfrm>
            <a:off x="4419600" y="6469040"/>
            <a:ext cx="3868046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What if the </a:t>
            </a:r>
            <a:r>
              <a:rPr lang="en-US" sz="2000" b="0" dirty="0" err="1" smtClean="0">
                <a:solidFill>
                  <a:schemeClr val="tx2"/>
                </a:solidFill>
                <a:latin typeface="Arial Narrow"/>
              </a:rPr>
              <a:t>Swi's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 are at the same priority?</a:t>
            </a:r>
            <a:endParaRPr lang="en-US" sz="2000" b="0" dirty="0">
              <a:solidFill>
                <a:schemeClr val="tx2"/>
              </a:solidFill>
              <a:latin typeface="Arial Narrow"/>
            </a:endParaRPr>
          </a:p>
        </p:txBody>
      </p:sp>
      <p:sp>
        <p:nvSpPr>
          <p:cNvPr id="44" name="Rounded Rectangle 43"/>
          <p:cNvSpPr/>
          <p:nvPr/>
        </p:nvSpPr>
        <p:spPr bwMode="auto">
          <a:xfrm>
            <a:off x="5284788" y="1374775"/>
            <a:ext cx="1665288" cy="7397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Smart return from </a:t>
            </a:r>
            <a:r>
              <a:rPr lang="en-US" sz="2000" b="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</a:t>
            </a:r>
            <a:endParaRPr lang="en-US" sz="2000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5" name="Straight Arrow Connector 44"/>
          <p:cNvCxnSpPr>
            <a:stCxn id="44" idx="1"/>
          </p:cNvCxnSpPr>
          <p:nvPr/>
        </p:nvCxnSpPr>
        <p:spPr bwMode="auto">
          <a:xfrm flipH="1">
            <a:off x="3532188" y="1744663"/>
            <a:ext cx="1752600" cy="17145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arrow"/>
          </a:ln>
          <a:effectLst/>
        </p:spPr>
      </p:cxnSp>
      <p:pic>
        <p:nvPicPr>
          <p:cNvPr id="47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54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AutoShape 2"/>
          <p:cNvSpPr>
            <a:spLocks noChangeArrowheads="1"/>
          </p:cNvSpPr>
          <p:nvPr/>
        </p:nvSpPr>
        <p:spPr bwMode="gray">
          <a:xfrm>
            <a:off x="636588" y="1298575"/>
            <a:ext cx="1252537" cy="377825"/>
          </a:xfrm>
          <a:prstGeom prst="roundRect">
            <a:avLst>
              <a:gd name="adj" fmla="val 12495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err="1" smtClean="0">
                <a:solidFill>
                  <a:srgbClr val="000000"/>
                </a:solidFill>
              </a:rPr>
              <a:t>Hwi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97379" name="AutoShape 3"/>
          <p:cNvSpPr>
            <a:spLocks noChangeArrowheads="1"/>
          </p:cNvSpPr>
          <p:nvPr/>
        </p:nvSpPr>
        <p:spPr bwMode="gray">
          <a:xfrm>
            <a:off x="636588" y="2976563"/>
            <a:ext cx="1252537" cy="376237"/>
          </a:xfrm>
          <a:prstGeom prst="roundRect">
            <a:avLst>
              <a:gd name="adj" fmla="val 1249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err="1" smtClean="0">
                <a:solidFill>
                  <a:srgbClr val="000000"/>
                </a:solidFill>
              </a:rPr>
              <a:t>swi_a</a:t>
            </a:r>
            <a:r>
              <a:rPr lang="en-US" sz="1800" dirty="0" smtClean="0">
                <a:solidFill>
                  <a:srgbClr val="000000"/>
                </a:solidFill>
              </a:rPr>
              <a:t> </a:t>
            </a:r>
            <a:r>
              <a:rPr lang="en-US" sz="1800" b="0" i="1" dirty="0">
                <a:solidFill>
                  <a:srgbClr val="000000"/>
                </a:solidFill>
              </a:rPr>
              <a:t>(p1)</a:t>
            </a:r>
          </a:p>
        </p:txBody>
      </p:sp>
      <p:sp>
        <p:nvSpPr>
          <p:cNvPr id="997380" name="AutoShape 4"/>
          <p:cNvSpPr>
            <a:spLocks noChangeArrowheads="1"/>
          </p:cNvSpPr>
          <p:nvPr/>
        </p:nvSpPr>
        <p:spPr bwMode="gray">
          <a:xfrm>
            <a:off x="636588" y="3738563"/>
            <a:ext cx="1252537" cy="376237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smtClean="0">
                <a:solidFill>
                  <a:srgbClr val="000000"/>
                </a:solidFill>
              </a:rPr>
              <a:t>Idle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97381" name="AutoShape 5"/>
          <p:cNvSpPr>
            <a:spLocks noChangeArrowheads="1"/>
          </p:cNvSpPr>
          <p:nvPr/>
        </p:nvSpPr>
        <p:spPr bwMode="gray">
          <a:xfrm>
            <a:off x="636588" y="2136775"/>
            <a:ext cx="1252537" cy="377825"/>
          </a:xfrm>
          <a:prstGeom prst="roundRect">
            <a:avLst>
              <a:gd name="adj" fmla="val 1249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 dirty="0" err="1" smtClean="0">
                <a:solidFill>
                  <a:srgbClr val="000000"/>
                </a:solidFill>
              </a:rPr>
              <a:t>swi_b</a:t>
            </a:r>
            <a:r>
              <a:rPr lang="en-US" sz="1800" dirty="0" smtClean="0">
                <a:solidFill>
                  <a:srgbClr val="000000"/>
                </a:solidFill>
              </a:rPr>
              <a:t> </a:t>
            </a:r>
            <a:r>
              <a:rPr lang="en-US" sz="1800" b="0" dirty="0">
                <a:solidFill>
                  <a:srgbClr val="000000"/>
                </a:solidFill>
              </a:rPr>
              <a:t>(</a:t>
            </a:r>
            <a:r>
              <a:rPr lang="en-US" sz="1800" b="0" i="1" dirty="0">
                <a:solidFill>
                  <a:srgbClr val="000000"/>
                </a:solidFill>
              </a:rPr>
              <a:t>p1)</a:t>
            </a:r>
          </a:p>
        </p:txBody>
      </p:sp>
      <p:sp>
        <p:nvSpPr>
          <p:cNvPr id="997382" name="Line 6"/>
          <p:cNvSpPr>
            <a:spLocks noChangeShapeType="1"/>
          </p:cNvSpPr>
          <p:nvPr/>
        </p:nvSpPr>
        <p:spPr bwMode="gray">
          <a:xfrm>
            <a:off x="6122988" y="3962400"/>
            <a:ext cx="731837" cy="0"/>
          </a:xfrm>
          <a:prstGeom prst="line">
            <a:avLst/>
          </a:prstGeom>
          <a:noFill/>
          <a:ln w="44450">
            <a:solidFill>
              <a:schemeClr val="tx2"/>
            </a:solidFill>
            <a:round/>
            <a:headEnd type="oval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rIns="92075" anchor="ctr"/>
          <a:lstStyle/>
          <a:p>
            <a:r>
              <a:rPr lang="en-US" smtClean="0"/>
              <a:t>Scheduling Rules</a:t>
            </a:r>
          </a:p>
        </p:txBody>
      </p:sp>
      <p:sp>
        <p:nvSpPr>
          <p:cNvPr id="997384" name="Line 8"/>
          <p:cNvSpPr>
            <a:spLocks noChangeShapeType="1"/>
          </p:cNvSpPr>
          <p:nvPr/>
        </p:nvSpPr>
        <p:spPr bwMode="auto">
          <a:xfrm>
            <a:off x="3074988" y="1524000"/>
            <a:ext cx="457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oval" w="sm" len="sm"/>
            <a:tailEnd type="oval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85" name="Line 9"/>
          <p:cNvSpPr>
            <a:spLocks noChangeShapeType="1"/>
          </p:cNvSpPr>
          <p:nvPr/>
        </p:nvSpPr>
        <p:spPr bwMode="auto">
          <a:xfrm>
            <a:off x="2236788" y="3200400"/>
            <a:ext cx="838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86" name="Line 10"/>
          <p:cNvSpPr>
            <a:spLocks noChangeShapeType="1"/>
          </p:cNvSpPr>
          <p:nvPr/>
        </p:nvSpPr>
        <p:spPr bwMode="auto">
          <a:xfrm>
            <a:off x="5208588" y="2362200"/>
            <a:ext cx="914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oval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87" name="Line 11"/>
          <p:cNvSpPr>
            <a:spLocks noChangeShapeType="1"/>
          </p:cNvSpPr>
          <p:nvPr/>
        </p:nvSpPr>
        <p:spPr bwMode="auto">
          <a:xfrm flipH="1">
            <a:off x="3532188" y="3200400"/>
            <a:ext cx="167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oval" w="sm" len="sm"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88" name="Line 12"/>
          <p:cNvSpPr>
            <a:spLocks noChangeShapeType="1"/>
          </p:cNvSpPr>
          <p:nvPr/>
        </p:nvSpPr>
        <p:spPr bwMode="auto">
          <a:xfrm flipV="1">
            <a:off x="3074988" y="1600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89" name="Line 13"/>
          <p:cNvSpPr>
            <a:spLocks noChangeShapeType="1"/>
          </p:cNvSpPr>
          <p:nvPr/>
        </p:nvSpPr>
        <p:spPr bwMode="auto">
          <a:xfrm>
            <a:off x="3303588" y="2362200"/>
            <a:ext cx="190500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oval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90" name="Line 14"/>
          <p:cNvSpPr>
            <a:spLocks noChangeShapeType="1"/>
          </p:cNvSpPr>
          <p:nvPr/>
        </p:nvSpPr>
        <p:spPr bwMode="auto">
          <a:xfrm>
            <a:off x="3532188" y="1600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91" name="Line 15"/>
          <p:cNvSpPr>
            <a:spLocks noChangeShapeType="1"/>
          </p:cNvSpPr>
          <p:nvPr/>
        </p:nvSpPr>
        <p:spPr bwMode="auto">
          <a:xfrm flipV="1">
            <a:off x="5208588" y="2438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92" name="Line 16"/>
          <p:cNvSpPr>
            <a:spLocks noChangeShapeType="1"/>
          </p:cNvSpPr>
          <p:nvPr/>
        </p:nvSpPr>
        <p:spPr bwMode="auto">
          <a:xfrm>
            <a:off x="6122988" y="2438400"/>
            <a:ext cx="0" cy="1447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393" name="Line 17"/>
          <p:cNvSpPr>
            <a:spLocks noChangeShapeType="1"/>
          </p:cNvSpPr>
          <p:nvPr/>
        </p:nvSpPr>
        <p:spPr bwMode="gray">
          <a:xfrm>
            <a:off x="2286000" y="4570413"/>
            <a:ext cx="5494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389188" y="4495800"/>
            <a:ext cx="4395787" cy="152400"/>
            <a:chOff x="1200" y="2688"/>
            <a:chExt cx="2769" cy="96"/>
          </a:xfrm>
        </p:grpSpPr>
        <p:sp>
          <p:nvSpPr>
            <p:cNvPr id="997395" name="Line 19"/>
            <p:cNvSpPr>
              <a:spLocks noChangeShapeType="1"/>
            </p:cNvSpPr>
            <p:nvPr/>
          </p:nvSpPr>
          <p:spPr bwMode="gray">
            <a:xfrm flipV="1">
              <a:off x="1200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396" name="Line 20"/>
            <p:cNvSpPr>
              <a:spLocks noChangeShapeType="1"/>
            </p:cNvSpPr>
            <p:nvPr/>
          </p:nvSpPr>
          <p:spPr bwMode="gray">
            <a:xfrm flipV="1">
              <a:off x="1661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397" name="Line 21"/>
            <p:cNvSpPr>
              <a:spLocks noChangeShapeType="1"/>
            </p:cNvSpPr>
            <p:nvPr/>
          </p:nvSpPr>
          <p:spPr bwMode="gray">
            <a:xfrm flipV="1">
              <a:off x="2122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398" name="Line 22"/>
            <p:cNvSpPr>
              <a:spLocks noChangeShapeType="1"/>
            </p:cNvSpPr>
            <p:nvPr/>
          </p:nvSpPr>
          <p:spPr bwMode="gray">
            <a:xfrm flipV="1">
              <a:off x="2585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399" name="Line 23"/>
            <p:cNvSpPr>
              <a:spLocks noChangeShapeType="1"/>
            </p:cNvSpPr>
            <p:nvPr/>
          </p:nvSpPr>
          <p:spPr bwMode="gray">
            <a:xfrm flipV="1">
              <a:off x="3045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400" name="Line 24"/>
            <p:cNvSpPr>
              <a:spLocks noChangeShapeType="1"/>
            </p:cNvSpPr>
            <p:nvPr/>
          </p:nvSpPr>
          <p:spPr bwMode="gray">
            <a:xfrm flipV="1">
              <a:off x="3506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401" name="Line 25"/>
            <p:cNvSpPr>
              <a:spLocks noChangeShapeType="1"/>
            </p:cNvSpPr>
            <p:nvPr/>
          </p:nvSpPr>
          <p:spPr bwMode="gray">
            <a:xfrm flipV="1">
              <a:off x="3969" y="2688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7037388" y="3581400"/>
            <a:ext cx="1649412" cy="857250"/>
            <a:chOff x="3792" y="1332"/>
            <a:chExt cx="1039" cy="540"/>
          </a:xfrm>
        </p:grpSpPr>
        <p:sp>
          <p:nvSpPr>
            <p:cNvPr id="997404" name="AutoShape 28"/>
            <p:cNvSpPr>
              <a:spLocks noChangeArrowheads="1"/>
            </p:cNvSpPr>
            <p:nvPr/>
          </p:nvSpPr>
          <p:spPr bwMode="gray">
            <a:xfrm>
              <a:off x="3792" y="1344"/>
              <a:ext cx="1008" cy="528"/>
            </a:xfrm>
            <a:prstGeom prst="roundRect">
              <a:avLst>
                <a:gd name="adj" fmla="val 124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997405" name="Line 29"/>
            <p:cNvSpPr>
              <a:spLocks noChangeShapeType="1"/>
            </p:cNvSpPr>
            <p:nvPr/>
          </p:nvSpPr>
          <p:spPr bwMode="auto">
            <a:xfrm flipV="1">
              <a:off x="3885" y="1586"/>
              <a:ext cx="29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7406" name="Line 30"/>
            <p:cNvSpPr>
              <a:spLocks noChangeShapeType="1"/>
            </p:cNvSpPr>
            <p:nvPr/>
          </p:nvSpPr>
          <p:spPr bwMode="auto">
            <a:xfrm>
              <a:off x="3893" y="1768"/>
              <a:ext cx="29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758" name="Text Box 31"/>
            <p:cNvSpPr txBox="1">
              <a:spLocks noChangeArrowheads="1"/>
            </p:cNvSpPr>
            <p:nvPr/>
          </p:nvSpPr>
          <p:spPr bwMode="auto">
            <a:xfrm>
              <a:off x="4176" y="1488"/>
              <a:ext cx="639" cy="1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1800" b="0">
                  <a:solidFill>
                    <a:srgbClr val="000000"/>
                  </a:solidFill>
                  <a:latin typeface="Times New Roman" pitchFamily="18" charset="0"/>
                </a:rPr>
                <a:t>Running</a:t>
              </a:r>
            </a:p>
          </p:txBody>
        </p:sp>
        <p:sp>
          <p:nvSpPr>
            <p:cNvPr id="30759" name="Text Box 32"/>
            <p:cNvSpPr txBox="1">
              <a:spLocks noChangeArrowheads="1"/>
            </p:cNvSpPr>
            <p:nvPr/>
          </p:nvSpPr>
          <p:spPr bwMode="auto">
            <a:xfrm>
              <a:off x="4192" y="1672"/>
              <a:ext cx="639" cy="1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1800" b="0">
                  <a:solidFill>
                    <a:srgbClr val="000000"/>
                  </a:solidFill>
                  <a:latin typeface="Times New Roman" pitchFamily="18" charset="0"/>
                </a:rPr>
                <a:t>Ready</a:t>
              </a:r>
            </a:p>
          </p:txBody>
        </p:sp>
        <p:sp>
          <p:nvSpPr>
            <p:cNvPr id="30760" name="Text Box 33"/>
            <p:cNvSpPr txBox="1">
              <a:spLocks noChangeArrowheads="1"/>
            </p:cNvSpPr>
            <p:nvPr/>
          </p:nvSpPr>
          <p:spPr bwMode="auto">
            <a:xfrm>
              <a:off x="4032" y="1332"/>
              <a:ext cx="639" cy="19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1800" b="0" i="1">
                  <a:solidFill>
                    <a:srgbClr val="000000"/>
                  </a:solidFill>
                  <a:latin typeface="Times New Roman" pitchFamily="18" charset="0"/>
                </a:rPr>
                <a:t>Legend</a:t>
              </a:r>
            </a:p>
          </p:txBody>
        </p:sp>
      </p:grpSp>
      <p:sp>
        <p:nvSpPr>
          <p:cNvPr id="30741" name="Rectangle 34"/>
          <p:cNvSpPr>
            <a:spLocks noChangeArrowheads="1"/>
          </p:cNvSpPr>
          <p:nvPr/>
        </p:nvSpPr>
        <p:spPr bwMode="auto">
          <a:xfrm>
            <a:off x="685800" y="4834268"/>
            <a:ext cx="7848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rgbClr val="000000"/>
                </a:solidFill>
                <a:latin typeface="Arial Narrow" pitchFamily="34" charset="0"/>
              </a:rPr>
              <a:t>Processes </a:t>
            </a:r>
            <a:r>
              <a:rPr lang="en-US" b="0" dirty="0">
                <a:solidFill>
                  <a:srgbClr val="000000"/>
                </a:solidFill>
                <a:latin typeface="Arial Narrow" pitchFamily="34" charset="0"/>
              </a:rPr>
              <a:t>of same priority are scheduled first-in first-out (FIFO)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rgbClr val="000000"/>
                </a:solidFill>
                <a:latin typeface="Arial Narrow" pitchFamily="34" charset="0"/>
              </a:rPr>
              <a:t>Having </a:t>
            </a:r>
            <a:r>
              <a:rPr lang="en-US" b="0" dirty="0">
                <a:solidFill>
                  <a:srgbClr val="000000"/>
                </a:solidFill>
                <a:latin typeface="Arial Narrow" pitchFamily="34" charset="0"/>
              </a:rPr>
              <a:t>threads at the SAME priority offers certain </a:t>
            </a:r>
            <a:r>
              <a:rPr lang="en-US" b="0" dirty="0" smtClean="0">
                <a:solidFill>
                  <a:srgbClr val="000000"/>
                </a:solidFill>
                <a:latin typeface="Arial Narrow" pitchFamily="34" charset="0"/>
              </a:rPr>
              <a:t>advantages – such as resource sharing (without </a:t>
            </a:r>
            <a:r>
              <a:rPr lang="en-US" b="0" smtClean="0">
                <a:solidFill>
                  <a:srgbClr val="000000"/>
                </a:solidFill>
                <a:latin typeface="Arial Narrow" pitchFamily="34" charset="0"/>
              </a:rPr>
              <a:t>conflicts) and </a:t>
            </a:r>
            <a:r>
              <a:rPr lang="en-US" b="0" i="1" u="sng" smtClean="0">
                <a:solidFill>
                  <a:srgbClr val="000000"/>
                </a:solidFill>
                <a:latin typeface="Arial Narrow" pitchFamily="34" charset="0"/>
              </a:rPr>
              <a:t>reduced stack</a:t>
            </a:r>
            <a:br>
              <a:rPr lang="en-US" b="0" i="1" u="sng" smtClean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b="0" i="1" u="sng" smtClean="0">
                <a:solidFill>
                  <a:srgbClr val="000000"/>
                </a:solidFill>
                <a:latin typeface="Arial Narrow" pitchFamily="34" charset="0"/>
              </a:rPr>
              <a:t>requirements</a:t>
            </a:r>
            <a:r>
              <a:rPr lang="en-US" b="0" smtClean="0">
                <a:solidFill>
                  <a:srgbClr val="000000"/>
                </a:solidFill>
                <a:latin typeface="Arial Narrow" pitchFamily="34" charset="0"/>
              </a:rPr>
              <a:t>.</a:t>
            </a:r>
            <a:endParaRPr lang="en-US" b="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30742" name="Rectangle 35"/>
          <p:cNvSpPr>
            <a:spLocks noChangeArrowheads="1"/>
          </p:cNvSpPr>
          <p:nvPr/>
        </p:nvSpPr>
        <p:spPr bwMode="auto">
          <a:xfrm>
            <a:off x="5753100" y="4419600"/>
            <a:ext cx="598488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</a:rPr>
              <a:t>time </a:t>
            </a:r>
          </a:p>
        </p:txBody>
      </p:sp>
      <p:sp>
        <p:nvSpPr>
          <p:cNvPr id="997412" name="Line 36"/>
          <p:cNvSpPr>
            <a:spLocks noChangeShapeType="1"/>
          </p:cNvSpPr>
          <p:nvPr/>
        </p:nvSpPr>
        <p:spPr bwMode="auto">
          <a:xfrm>
            <a:off x="3074988" y="3200400"/>
            <a:ext cx="45720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7413" name="Line 37"/>
          <p:cNvSpPr>
            <a:spLocks noChangeShapeType="1"/>
          </p:cNvSpPr>
          <p:nvPr/>
        </p:nvSpPr>
        <p:spPr bwMode="auto">
          <a:xfrm>
            <a:off x="2236788" y="3962400"/>
            <a:ext cx="396240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45" name="AutoShape 38"/>
          <p:cNvSpPr>
            <a:spLocks noChangeArrowheads="1"/>
          </p:cNvSpPr>
          <p:nvPr/>
        </p:nvSpPr>
        <p:spPr bwMode="auto">
          <a:xfrm>
            <a:off x="3074988" y="762000"/>
            <a:ext cx="2057400" cy="533400"/>
          </a:xfrm>
          <a:prstGeom prst="wedgeEllipseCallout">
            <a:avLst>
              <a:gd name="adj1" fmla="val -40278"/>
              <a:gd name="adj2" fmla="val 75597"/>
            </a:avLst>
          </a:prstGeom>
          <a:solidFill>
            <a:schemeClr val="accent1"/>
          </a:solidFill>
          <a:ln w="12700" cap="rnd">
            <a:solidFill>
              <a:schemeClr val="tx1"/>
            </a:solidFill>
            <a:miter lim="800000"/>
            <a:headEnd type="none" w="sm" len="lg"/>
            <a:tailEnd type="none" w="med" len="lg"/>
          </a:ln>
        </p:spPr>
        <p:txBody>
          <a:bodyPr wrap="none" anchor="ctr"/>
          <a:lstStyle/>
          <a:p>
            <a:pPr algn="ctr"/>
            <a:r>
              <a:rPr lang="en-US" sz="1800" dirty="0" err="1" smtClean="0">
                <a:solidFill>
                  <a:srgbClr val="000000"/>
                </a:solidFill>
                <a:latin typeface="Arial Narrow" pitchFamily="34" charset="0"/>
              </a:rPr>
              <a:t>Swi_post</a:t>
            </a:r>
            <a:r>
              <a:rPr lang="en-US" sz="1800" dirty="0" smtClean="0">
                <a:solidFill>
                  <a:srgbClr val="000000"/>
                </a:solidFill>
                <a:latin typeface="Arial Narrow" pitchFamily="34" charset="0"/>
              </a:rPr>
              <a:t>(</a:t>
            </a:r>
            <a:r>
              <a:rPr lang="en-US" sz="1800" b="0" dirty="0" err="1" smtClean="0">
                <a:solidFill>
                  <a:srgbClr val="000000"/>
                </a:solidFill>
                <a:latin typeface="Arial Narrow" pitchFamily="34" charset="0"/>
              </a:rPr>
              <a:t>swi_b</a:t>
            </a:r>
            <a:r>
              <a:rPr lang="en-US" sz="1800" dirty="0">
                <a:solidFill>
                  <a:srgbClr val="000000"/>
                </a:solidFill>
                <a:latin typeface="Arial Narrow" pitchFamily="34" charset="0"/>
              </a:rPr>
              <a:t>) </a:t>
            </a:r>
          </a:p>
        </p:txBody>
      </p:sp>
      <p:sp>
        <p:nvSpPr>
          <p:cNvPr id="51" name="Leading Question"/>
          <p:cNvSpPr txBox="1"/>
          <p:nvPr/>
        </p:nvSpPr>
        <p:spPr>
          <a:xfrm>
            <a:off x="6053487" y="6430657"/>
            <a:ext cx="2723501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How do you configure a </a:t>
            </a:r>
            <a:r>
              <a:rPr lang="en-US" sz="2000" b="0" dirty="0" err="1" smtClean="0">
                <a:solidFill>
                  <a:schemeClr val="tx2"/>
                </a:solidFill>
                <a:latin typeface="Arial Narrow"/>
              </a:rPr>
              <a:t>Swi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?</a:t>
            </a:r>
            <a:endParaRPr lang="en-US" sz="2000" b="0" dirty="0">
              <a:solidFill>
                <a:schemeClr val="tx2"/>
              </a:solidFill>
              <a:latin typeface="Arial Narrow"/>
            </a:endParaRPr>
          </a:p>
        </p:txBody>
      </p:sp>
      <p:sp>
        <p:nvSpPr>
          <p:cNvPr id="43" name="Text Box 28"/>
          <p:cNvSpPr txBox="1">
            <a:spLocks noChangeArrowheads="1"/>
          </p:cNvSpPr>
          <p:nvPr/>
        </p:nvSpPr>
        <p:spPr bwMode="auto">
          <a:xfrm>
            <a:off x="533400" y="4327856"/>
            <a:ext cx="1600200" cy="2016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40000"/>
              </a:lnSpc>
            </a:pPr>
            <a:r>
              <a:rPr lang="en-US" sz="1800" b="0" i="1">
                <a:solidFill>
                  <a:srgbClr val="000000"/>
                </a:solidFill>
                <a:latin typeface="Arial Narrow" pitchFamily="34" charset="0"/>
              </a:rPr>
              <a:t>Lowest  Priority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482931" y="990600"/>
            <a:ext cx="1600200" cy="2016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40000"/>
              </a:lnSpc>
            </a:pPr>
            <a:r>
              <a:rPr lang="en-US" sz="1800" b="0" i="1">
                <a:solidFill>
                  <a:srgbClr val="000000"/>
                </a:solidFill>
                <a:latin typeface="Arial Narrow" pitchFamily="34" charset="0"/>
              </a:rPr>
              <a:t>Highest  Priority</a:t>
            </a:r>
          </a:p>
        </p:txBody>
      </p:sp>
      <p:pic>
        <p:nvPicPr>
          <p:cNvPr id="42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21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35538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5502" y="1924155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Intro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5502" y="2329983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Scheduling Rules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5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9625" y="2735811"/>
            <a:ext cx="4600575" cy="40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Swi – Configuration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5502" y="3219292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Other Useful APIs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631151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420595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114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3164"/>
            <a:ext cx="9144000" cy="742950"/>
          </a:xfrm>
        </p:spPr>
        <p:txBody>
          <a:bodyPr/>
          <a:lstStyle/>
          <a:p>
            <a:r>
              <a:rPr lang="en-US" dirty="0" smtClean="0"/>
              <a:t>Configuring a </a:t>
            </a:r>
            <a:r>
              <a:rPr lang="en-US" i="1" u="sng" dirty="0" err="1" smtClean="0"/>
              <a:t>Swi</a:t>
            </a:r>
            <a:r>
              <a:rPr lang="en-US" dirty="0" smtClean="0"/>
              <a:t> – Statically via GUI</a:t>
            </a:r>
          </a:p>
        </p:txBody>
      </p:sp>
      <p:sp>
        <p:nvSpPr>
          <p:cNvPr id="368651" name="Oval 11"/>
          <p:cNvSpPr>
            <a:spLocks noChangeArrowheads="1"/>
          </p:cNvSpPr>
          <p:nvPr/>
        </p:nvSpPr>
        <p:spPr bwMode="auto">
          <a:xfrm>
            <a:off x="228600" y="1219200"/>
            <a:ext cx="381000" cy="381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89" name="Text Box 12"/>
          <p:cNvSpPr txBox="1">
            <a:spLocks noChangeArrowheads="1"/>
          </p:cNvSpPr>
          <p:nvPr/>
        </p:nvSpPr>
        <p:spPr bwMode="auto">
          <a:xfrm>
            <a:off x="247650" y="1261732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390" name="Text Box 13"/>
          <p:cNvSpPr txBox="1">
            <a:spLocks noChangeArrowheads="1"/>
          </p:cNvSpPr>
          <p:nvPr/>
        </p:nvSpPr>
        <p:spPr bwMode="auto">
          <a:xfrm>
            <a:off x="641350" y="1263650"/>
            <a:ext cx="717985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</a:rPr>
              <a:t>Use </a:t>
            </a:r>
            <a:r>
              <a:rPr lang="en-US" sz="2000" dirty="0" err="1" smtClean="0">
                <a:solidFill>
                  <a:srgbClr val="000000"/>
                </a:solidFill>
              </a:rPr>
              <a:t>Swi</a:t>
            </a:r>
            <a:r>
              <a:rPr lang="en-US" sz="2000" dirty="0" smtClean="0">
                <a:solidFill>
                  <a:srgbClr val="000000"/>
                </a:solidFill>
              </a:rPr>
              <a:t> module </a:t>
            </a:r>
            <a:r>
              <a:rPr lang="en-US" sz="1800" b="0" i="1" dirty="0" smtClean="0">
                <a:solidFill>
                  <a:srgbClr val="000000"/>
                </a:solidFill>
                <a:latin typeface="Arial Narrow" pitchFamily="34" charset="0"/>
              </a:rPr>
              <a:t>(Available Products)</a:t>
            </a:r>
            <a:r>
              <a:rPr lang="en-US" sz="1800" b="0" i="1" dirty="0" smtClean="0">
                <a:solidFill>
                  <a:srgbClr val="000000"/>
                </a:solidFill>
              </a:rPr>
              <a:t> </a:t>
            </a:r>
            <a:r>
              <a:rPr lang="en-US" sz="2000" dirty="0" smtClean="0">
                <a:solidFill>
                  <a:srgbClr val="000000"/>
                </a:solidFill>
              </a:rPr>
              <a:t>, insert new </a:t>
            </a:r>
            <a:r>
              <a:rPr lang="en-US" sz="2000" dirty="0" err="1" smtClean="0">
                <a:solidFill>
                  <a:srgbClr val="000000"/>
                </a:solidFill>
              </a:rPr>
              <a:t>Swi</a:t>
            </a:r>
            <a:r>
              <a:rPr lang="en-US" sz="2000" dirty="0" smtClean="0">
                <a:solidFill>
                  <a:srgbClr val="000000"/>
                </a:solidFill>
              </a:rPr>
              <a:t> </a:t>
            </a:r>
            <a:r>
              <a:rPr lang="en-US" sz="1800" b="0" i="1" dirty="0" smtClean="0">
                <a:solidFill>
                  <a:srgbClr val="000000"/>
                </a:solidFill>
                <a:latin typeface="Arial Narrow" pitchFamily="34" charset="0"/>
              </a:rPr>
              <a:t>(Outline View)</a:t>
            </a:r>
            <a:endParaRPr lang="en-US" sz="1800" b="0" i="1" dirty="0">
              <a:solidFill>
                <a:srgbClr val="000000"/>
              </a:solidFill>
              <a:latin typeface="Arial Narrow" pitchFamily="34" charset="0"/>
            </a:endParaRP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1447800" y="619125"/>
            <a:ext cx="5486400" cy="412750"/>
            <a:chOff x="480" y="390"/>
            <a:chExt cx="3456" cy="260"/>
          </a:xfrm>
        </p:grpSpPr>
        <p:sp>
          <p:nvSpPr>
            <p:cNvPr id="368655" name="Rectangle 15"/>
            <p:cNvSpPr>
              <a:spLocks noChangeArrowheads="1"/>
            </p:cNvSpPr>
            <p:nvPr/>
          </p:nvSpPr>
          <p:spPr bwMode="auto">
            <a:xfrm>
              <a:off x="480" y="406"/>
              <a:ext cx="3456" cy="2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410" name="Text Box 16"/>
            <p:cNvSpPr txBox="1">
              <a:spLocks noChangeArrowheads="1"/>
            </p:cNvSpPr>
            <p:nvPr/>
          </p:nvSpPr>
          <p:spPr bwMode="auto">
            <a:xfrm>
              <a:off x="528" y="390"/>
              <a:ext cx="864" cy="2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 anchorCtr="1"/>
            <a:lstStyle/>
            <a:p>
              <a:r>
                <a:rPr lang="en-US" sz="2000" u="sng" dirty="0">
                  <a:solidFill>
                    <a:srgbClr val="000000"/>
                  </a:solidFill>
                </a:rPr>
                <a:t>Example</a:t>
              </a:r>
              <a:r>
                <a:rPr lang="en-US" sz="2000" dirty="0">
                  <a:solidFill>
                    <a:srgbClr val="000000"/>
                  </a:solidFill>
                </a:rPr>
                <a:t>:</a:t>
              </a:r>
            </a:p>
          </p:txBody>
        </p:sp>
        <p:sp>
          <p:nvSpPr>
            <p:cNvPr id="16411" name="Text Box 17"/>
            <p:cNvSpPr txBox="1">
              <a:spLocks noChangeArrowheads="1"/>
            </p:cNvSpPr>
            <p:nvPr/>
          </p:nvSpPr>
          <p:spPr bwMode="auto">
            <a:xfrm>
              <a:off x="1344" y="438"/>
              <a:ext cx="2544" cy="1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70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Arial Narrow" pitchFamily="34" charset="0"/>
                </a:rPr>
                <a:t> Tie </a:t>
              </a:r>
              <a:r>
                <a:rPr lang="en-US" sz="2000" dirty="0" err="1" smtClean="0">
                  <a:solidFill>
                    <a:srgbClr val="000000"/>
                  </a:solidFill>
                  <a:latin typeface="Arial Narrow" pitchFamily="34" charset="0"/>
                </a:rPr>
                <a:t>isrAudio</a:t>
              </a:r>
              <a:r>
                <a:rPr lang="en-US" sz="2000" dirty="0" smtClean="0">
                  <a:solidFill>
                    <a:srgbClr val="000000"/>
                  </a:solidFill>
                  <a:latin typeface="Arial Narrow" pitchFamily="34" charset="0"/>
                </a:rPr>
                <a:t>()  </a:t>
              </a:r>
              <a:r>
                <a:rPr lang="en-US" sz="2000" dirty="0" err="1" smtClean="0">
                  <a:solidFill>
                    <a:srgbClr val="000000"/>
                  </a:solidFill>
                  <a:latin typeface="Arial Narrow" pitchFamily="34" charset="0"/>
                </a:rPr>
                <a:t>fxn</a:t>
              </a:r>
              <a:r>
                <a:rPr lang="en-US" sz="2000" dirty="0" smtClean="0">
                  <a:solidFill>
                    <a:srgbClr val="000000"/>
                  </a:solidFill>
                  <a:latin typeface="Arial Narrow" pitchFamily="34" charset="0"/>
                </a:rPr>
                <a:t> to </a:t>
              </a:r>
              <a:r>
                <a:rPr lang="en-US" sz="2000" dirty="0" err="1" smtClean="0">
                  <a:solidFill>
                    <a:srgbClr val="000000"/>
                  </a:solidFill>
                  <a:latin typeface="Arial Narrow" pitchFamily="34" charset="0"/>
                </a:rPr>
                <a:t>Swi</a:t>
              </a:r>
              <a:r>
                <a:rPr lang="en-US" sz="2000" dirty="0" smtClean="0">
                  <a:solidFill>
                    <a:srgbClr val="000000"/>
                  </a:solidFill>
                  <a:latin typeface="Arial Narrow" pitchFamily="34" charset="0"/>
                </a:rPr>
                <a:t>, use priority 1</a:t>
              </a:r>
              <a:endParaRPr lang="en-US" sz="2000" dirty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</p:grp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228600" y="3667411"/>
            <a:ext cx="381000" cy="3810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247650" y="3712534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641350" y="3711861"/>
            <a:ext cx="6088526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Configure </a:t>
            </a:r>
            <a:r>
              <a:rPr lang="en-US" sz="2000" dirty="0" err="1" smtClean="0">
                <a:solidFill>
                  <a:srgbClr val="000000"/>
                </a:solidFill>
              </a:rPr>
              <a:t>Swi</a:t>
            </a:r>
            <a:r>
              <a:rPr lang="en-US" sz="2000" dirty="0" smtClean="0">
                <a:solidFill>
                  <a:srgbClr val="000000"/>
                </a:solidFill>
              </a:rPr>
              <a:t> – Object name, function, priority: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5" name="Right Arrow 44"/>
          <p:cNvSpPr/>
          <p:nvPr/>
        </p:nvSpPr>
        <p:spPr bwMode="auto">
          <a:xfrm>
            <a:off x="2866032" y="2389496"/>
            <a:ext cx="5334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4754" name="Picture 2" descr="C:\Documents and Settings\a0159877\Desktop\swi_outlin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8837" y="2004235"/>
            <a:ext cx="2245197" cy="122912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755" name="Picture 3" descr="C:\Documents and Settings\a0159877\Desktop\swi_avail_products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3000" y="1711656"/>
            <a:ext cx="1447800" cy="176194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6138532" y="2179604"/>
            <a:ext cx="286007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Remember, BIOS objects</a:t>
            </a:r>
            <a:b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can be created via the GUI,</a:t>
            </a:r>
            <a:b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</a:br>
            <a:r>
              <a:rPr lang="en-US" sz="1800" b="0" dirty="0" smtClean="0">
                <a:solidFill>
                  <a:srgbClr val="000000"/>
                </a:solidFill>
                <a:latin typeface="Arial Narrow" pitchFamily="34" charset="0"/>
              </a:rPr>
              <a:t>script code or C code (dynamic)</a:t>
            </a:r>
          </a:p>
        </p:txBody>
      </p:sp>
      <p:pic>
        <p:nvPicPr>
          <p:cNvPr id="1026" name="Picture 2" descr="C:\Users\a0159877\AppData\Local\Temp\SNAGHTML430e9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05" y="4139238"/>
            <a:ext cx="3428714" cy="233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Animated Logo" descr="tilogo_color_twoli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4166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35538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5502" y="1924155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Intro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5502" y="2329983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Scheduling Rules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735811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Swi – Configuration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5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9625" y="3141639"/>
            <a:ext cx="4600575" cy="40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Other Useful APIs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631151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420595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3808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SYS/BIOS </a:t>
            </a:r>
            <a:r>
              <a:rPr lang="en-US" dirty="0" err="1" smtClean="0"/>
              <a:t>Swi</a:t>
            </a:r>
            <a:r>
              <a:rPr lang="en-US" dirty="0" smtClean="0"/>
              <a:t>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728" y="639168"/>
            <a:ext cx="300402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Other useful </a:t>
            </a:r>
            <a:r>
              <a:rPr lang="en-US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Swi</a:t>
            </a:r>
            <a:r>
              <a:rPr lang="en-US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APIs:</a:t>
            </a:r>
            <a:endParaRPr lang="en-US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271480"/>
              </p:ext>
            </p:extLst>
          </p:nvPr>
        </p:nvGraphicFramePr>
        <p:xfrm>
          <a:off x="914400" y="1029272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5913"/>
                <a:gridCol w="47592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API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Description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Swi_inc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Post, increment count in trigger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Swi_dec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Decrement count, post if trigger = 0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Swi_or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Post, OR bit into trigger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Swi_andn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Zero</a:t>
                      </a:r>
                      <a:r>
                        <a:rPr lang="en-US" sz="2400" baseline="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 a bit in trigger, Post if trigger = 0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Swi_getPri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Get any </a:t>
                      </a:r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 Priority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Swi_raisePri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Raise priority of any </a:t>
                      </a:r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Swi_getTrigger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Get any </a:t>
                      </a:r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Swi’s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 trigger value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Swi_enable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Global </a:t>
                      </a:r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 enable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Swi_disable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Global </a:t>
                      </a:r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 disable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Swi_restore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()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Global </a:t>
                      </a:r>
                      <a:r>
                        <a:rPr lang="en-US" sz="2400" dirty="0" err="1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Swi</a:t>
                      </a:r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  <a:latin typeface="Calibri" pitchFamily="34" charset="0"/>
                          <a:cs typeface="Calibri" pitchFamily="34" charset="0"/>
                        </a:rPr>
                        <a:t> restore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96165" y="6073394"/>
            <a:ext cx="6935232" cy="31944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Note: Can set “trigger” to any initial value (same as </a:t>
            </a:r>
            <a:r>
              <a:rPr lang="en-US" sz="1800" b="0" dirty="0" err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mbox</a:t>
            </a:r>
            <a:r>
              <a:rPr lang="en-US" sz="18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in DSP/BIOS)</a:t>
            </a:r>
          </a:p>
        </p:txBody>
      </p:sp>
      <p:pic>
        <p:nvPicPr>
          <p:cNvPr id="7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30891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7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35538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3">
            <a:hlinkClick r:id="rId8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4800" y="1930186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9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2465003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3" name="Animated Logo" descr="tilogo_color_twoline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1035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0159877\Desktop\cropped-step-out-of-li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540" y="4268969"/>
            <a:ext cx="3220260" cy="83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Scheduling Strategies</a:t>
            </a:r>
          </a:p>
        </p:txBody>
      </p:sp>
      <p:sp>
        <p:nvSpPr>
          <p:cNvPr id="35844" name="Text Box 11"/>
          <p:cNvSpPr txBox="1">
            <a:spLocks noChangeArrowheads="1"/>
          </p:cNvSpPr>
          <p:nvPr/>
        </p:nvSpPr>
        <p:spPr bwMode="auto">
          <a:xfrm>
            <a:off x="533400" y="751367"/>
            <a:ext cx="3209725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Deadline Monotonic</a:t>
            </a:r>
          </a:p>
        </p:txBody>
      </p:sp>
      <p:pic>
        <p:nvPicPr>
          <p:cNvPr id="35845" name="Picture 12" descr="MCj043479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795668"/>
            <a:ext cx="772633" cy="772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324600" y="5680555"/>
            <a:ext cx="990600" cy="609600"/>
            <a:chOff x="2736" y="2208"/>
            <a:chExt cx="624" cy="384"/>
          </a:xfrm>
        </p:grpSpPr>
        <p:sp>
          <p:nvSpPr>
            <p:cNvPr id="999438" name="AutoShape 14"/>
            <p:cNvSpPr>
              <a:spLocks noChangeArrowheads="1"/>
            </p:cNvSpPr>
            <p:nvPr/>
          </p:nvSpPr>
          <p:spPr bwMode="auto">
            <a:xfrm>
              <a:off x="2736" y="2208"/>
              <a:ext cx="624" cy="384"/>
            </a:xfrm>
            <a:prstGeom prst="roundRect">
              <a:avLst>
                <a:gd name="adj" fmla="val 16667"/>
              </a:avLst>
            </a:prstGeom>
            <a:solidFill>
              <a:srgbClr val="CCFF99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9439" name="AutoShape 15"/>
            <p:cNvSpPr>
              <a:spLocks noChangeArrowheads="1"/>
            </p:cNvSpPr>
            <p:nvPr/>
          </p:nvSpPr>
          <p:spPr bwMode="auto">
            <a:xfrm>
              <a:off x="2784" y="2256"/>
              <a:ext cx="240" cy="288"/>
            </a:xfrm>
            <a:prstGeom prst="upArrow">
              <a:avLst>
                <a:gd name="adj1" fmla="val 49676"/>
                <a:gd name="adj2" fmla="val 475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9440" name="AutoShape 16"/>
            <p:cNvSpPr>
              <a:spLocks noChangeArrowheads="1"/>
            </p:cNvSpPr>
            <p:nvPr/>
          </p:nvSpPr>
          <p:spPr bwMode="auto">
            <a:xfrm flipV="1">
              <a:off x="3072" y="2256"/>
              <a:ext cx="240" cy="288"/>
            </a:xfrm>
            <a:prstGeom prst="upArrow">
              <a:avLst>
                <a:gd name="adj1" fmla="val 49676"/>
                <a:gd name="adj2" fmla="val 475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35847" name="Picture 17" descr="MPj0438742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88074" y="1969426"/>
            <a:ext cx="1584325" cy="1188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8" name="Text Box 18"/>
          <p:cNvSpPr txBox="1">
            <a:spLocks noChangeArrowheads="1"/>
          </p:cNvSpPr>
          <p:nvPr/>
        </p:nvSpPr>
        <p:spPr bwMode="auto">
          <a:xfrm>
            <a:off x="1114425" y="1134136"/>
            <a:ext cx="4451350" cy="336550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urier New" pitchFamily="49" charset="0"/>
              </a:rPr>
              <a:t>Most important = highest PRI</a:t>
            </a:r>
          </a:p>
        </p:txBody>
      </p:sp>
      <p:sp>
        <p:nvSpPr>
          <p:cNvPr id="35849" name="Text Box 19"/>
          <p:cNvSpPr txBox="1">
            <a:spLocks noChangeArrowheads="1"/>
          </p:cNvSpPr>
          <p:nvPr/>
        </p:nvSpPr>
        <p:spPr bwMode="auto">
          <a:xfrm>
            <a:off x="533400" y="1752600"/>
            <a:ext cx="2653227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Rate Monotonic</a:t>
            </a:r>
          </a:p>
        </p:txBody>
      </p:sp>
      <p:sp>
        <p:nvSpPr>
          <p:cNvPr id="35850" name="Text Box 20"/>
          <p:cNvSpPr txBox="1">
            <a:spLocks noChangeArrowheads="1"/>
          </p:cNvSpPr>
          <p:nvPr/>
        </p:nvSpPr>
        <p:spPr bwMode="auto">
          <a:xfrm>
            <a:off x="1114425" y="2132012"/>
            <a:ext cx="4756150" cy="336550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urier New" pitchFamily="49" charset="0"/>
              </a:rPr>
              <a:t>Higher Frequency = highest PRI</a:t>
            </a:r>
          </a:p>
        </p:txBody>
      </p:sp>
      <p:sp>
        <p:nvSpPr>
          <p:cNvPr id="35851" name="Text Box 21"/>
          <p:cNvSpPr txBox="1">
            <a:spLocks noChangeArrowheads="1"/>
          </p:cNvSpPr>
          <p:nvPr/>
        </p:nvSpPr>
        <p:spPr bwMode="auto">
          <a:xfrm>
            <a:off x="1143000" y="2563481"/>
            <a:ext cx="6858000" cy="124341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Higher </a:t>
            </a:r>
            <a:r>
              <a:rPr lang="en-US" sz="1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rates get higher priority</a:t>
            </a:r>
          </a:p>
          <a:p>
            <a:pPr marL="287338" indent="-287338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Easy </a:t>
            </a:r>
            <a:r>
              <a:rPr lang="en-US" sz="1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way to assign priorities in a system</a:t>
            </a:r>
          </a:p>
          <a:p>
            <a:pPr marL="287338" indent="-287338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Systems </a:t>
            </a:r>
            <a:r>
              <a:rPr lang="en-US" sz="1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under 69% loaded </a:t>
            </a:r>
            <a:r>
              <a:rPr lang="en-US" sz="1800" i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guaranteed</a:t>
            </a:r>
            <a:r>
              <a:rPr lang="en-US" sz="1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to run </a:t>
            </a: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successfully (published </a:t>
            </a:r>
            <a:r>
              <a:rPr lang="en-US" sz="18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proof)</a:t>
            </a:r>
          </a:p>
        </p:txBody>
      </p:sp>
      <p:sp>
        <p:nvSpPr>
          <p:cNvPr id="35852" name="Text Box 22"/>
          <p:cNvSpPr txBox="1">
            <a:spLocks noChangeArrowheads="1"/>
          </p:cNvSpPr>
          <p:nvPr/>
        </p:nvSpPr>
        <p:spPr bwMode="auto">
          <a:xfrm>
            <a:off x="533400" y="5575780"/>
            <a:ext cx="2954655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Dynamic Priorities</a:t>
            </a:r>
          </a:p>
        </p:txBody>
      </p:sp>
      <p:sp>
        <p:nvSpPr>
          <p:cNvPr id="35853" name="Text Box 23"/>
          <p:cNvSpPr txBox="1">
            <a:spLocks noChangeArrowheads="1"/>
          </p:cNvSpPr>
          <p:nvPr/>
        </p:nvSpPr>
        <p:spPr bwMode="auto">
          <a:xfrm>
            <a:off x="1114425" y="5988050"/>
            <a:ext cx="5060950" cy="336550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urier New" pitchFamily="49" charset="0"/>
              </a:rPr>
              <a:t>Deadline approaching = raise PRI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533400" y="3893476"/>
            <a:ext cx="2489977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Stu </a:t>
            </a:r>
            <a:r>
              <a:rPr lang="en-US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Monotonic</a:t>
            </a: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1114425" y="4268969"/>
            <a:ext cx="4647426" cy="338554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0000"/>
                </a:solidFill>
                <a:latin typeface="Courier New" pitchFamily="49" charset="0"/>
              </a:rPr>
              <a:t>All threads at equal priority</a:t>
            </a:r>
            <a:endParaRPr lang="en-US" sz="20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1143000" y="4649969"/>
            <a:ext cx="6858000" cy="667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Place all threads at equal priority and then…</a:t>
            </a:r>
            <a:endParaRPr lang="en-US" sz="180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ONLY Raise priority of threads not making real time</a:t>
            </a:r>
            <a:endParaRPr lang="en-US" sz="180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1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355384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Using Swi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5502" y="1924155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Intro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5502" y="2329983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Scheduling Rules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735811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Swi – Configuration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5502" y="3141639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Other Useful APIs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55349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Scheduling Strategies - FYI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3">
            <a:hlinkClick r:id="rId17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4800" y="4128300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5647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Labs 5-9 “Roadmap”</a:t>
            </a:r>
            <a:endParaRPr lang="en-US" u="sng" dirty="0" smtClean="0"/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5029198" y="1866917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3276598" y="2466292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6465123" y="34212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3071748" y="4042742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6465123" y="52500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5029198" y="1866917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3276598" y="2466292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6465123" y="34212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3071748" y="4042742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6465123" y="52500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86873"/>
              </p:ext>
            </p:extLst>
          </p:nvPr>
        </p:nvGraphicFramePr>
        <p:xfrm>
          <a:off x="457200" y="762000"/>
          <a:ext cx="8256700" cy="57067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37133"/>
                <a:gridCol w="2048602"/>
                <a:gridCol w="1528828"/>
                <a:gridCol w="1460937"/>
                <a:gridCol w="1981200"/>
              </a:tblGrid>
              <a:tr h="47611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Lab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Trigger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Other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Fxn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3063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03451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timer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/>
                      </a:r>
                      <a:b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</a:t>
                      </a:r>
                      <a:r>
                        <a:rPr lang="en-US" sz="240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5823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Swi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45843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Clock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 smtClean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algn="l"/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(Hwi, Swi)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Task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800" smtClean="0">
                          <a:latin typeface="Calibri" pitchFamily="34" charset="0"/>
                          <a:cs typeface="Calibri" pitchFamily="34" charset="0"/>
                        </a:rPr>
                        <a:t>LED</a:t>
                      </a:r>
                      <a:r>
                        <a:rPr lang="en-US" sz="1800" baseline="0" smtClean="0">
                          <a:latin typeface="Calibri" pitchFamily="34" charset="0"/>
                          <a:cs typeface="Calibri" pitchFamily="34" charset="0"/>
                        </a:rPr>
                        <a:t> State → Mbx/Que →ledToggle</a:t>
                      </a:r>
                      <a:endParaRPr lang="en-US" sz="18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 bwMode="auto">
          <a:xfrm>
            <a:off x="5149701" y="1634174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416598" y="2233549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618767" y="31885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3224150" y="3809999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>
            <a:off x="6640033" y="50173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4" name="Right Arrow 33"/>
          <p:cNvSpPr/>
          <p:nvPr/>
        </p:nvSpPr>
        <p:spPr bwMode="auto">
          <a:xfrm>
            <a:off x="271436" y="2900558"/>
            <a:ext cx="617668" cy="533400"/>
          </a:xfrm>
          <a:prstGeom prst="rightArrow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pic>
        <p:nvPicPr>
          <p:cNvPr id="35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793" y="133575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027" y="2108191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32842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 6 – “Blink LED” Using </a:t>
            </a:r>
            <a:r>
              <a:rPr lang="en-US" u="sng" smtClean="0"/>
              <a:t>Swi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62166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100" b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latin typeface="Times New Roman" pitchFamily="18" charset="0"/>
                <a:cs typeface="Times New Roman" pitchFamily="18" charset="0"/>
              </a:rPr>
            </a:br>
            <a:endParaRPr lang="en-US" b="0">
              <a:latin typeface="Times New Roman" pitchFamily="18" charset="0"/>
            </a:endParaRPr>
          </a:p>
        </p:txBody>
      </p:sp>
      <p:sp>
        <p:nvSpPr>
          <p:cNvPr id="33796" name="AutoShape 99"/>
          <p:cNvSpPr>
            <a:spLocks noChangeArrowheads="1"/>
          </p:cNvSpPr>
          <p:nvPr/>
        </p:nvSpPr>
        <p:spPr bwMode="auto">
          <a:xfrm>
            <a:off x="457188" y="2372013"/>
            <a:ext cx="2057400" cy="14805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1600" dirty="0">
                <a:latin typeface="Courier New" pitchFamily="49" charset="0"/>
              </a:rPr>
              <a:t>main() {</a:t>
            </a:r>
          </a:p>
          <a:p>
            <a:r>
              <a:rPr lang="en-US" sz="1600">
                <a:latin typeface="Courier New" pitchFamily="49" charset="0"/>
              </a:rPr>
              <a:t>  </a:t>
            </a:r>
            <a:r>
              <a:rPr lang="en-US" sz="1600" smtClean="0">
                <a:latin typeface="Courier New" pitchFamily="49" charset="0"/>
              </a:rPr>
              <a:t>init_hw();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>
                <a:latin typeface="Courier New" pitchFamily="49" charset="0"/>
              </a:rPr>
              <a:t>  </a:t>
            </a:r>
            <a:r>
              <a:rPr lang="en-US" sz="1600" smtClean="0">
                <a:latin typeface="Courier New" pitchFamily="49" charset="0"/>
              </a:rPr>
              <a:t>Timer (500ms)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 smtClean="0">
                <a:latin typeface="Courier New" pitchFamily="49" charset="0"/>
              </a:rPr>
              <a:t>BIOS_start</a:t>
            </a:r>
            <a:r>
              <a:rPr lang="en-US" sz="1600" dirty="0" smtClean="0">
                <a:latin typeface="Courier New" pitchFamily="49" charset="0"/>
              </a:rPr>
              <a:t>();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} </a:t>
            </a:r>
          </a:p>
        </p:txBody>
      </p:sp>
      <p:sp>
        <p:nvSpPr>
          <p:cNvPr id="33797" name="AutoShape 102"/>
          <p:cNvSpPr>
            <a:spLocks noChangeArrowheads="1"/>
          </p:cNvSpPr>
          <p:nvPr/>
        </p:nvSpPr>
        <p:spPr bwMode="auto">
          <a:xfrm>
            <a:off x="2993515" y="4099735"/>
            <a:ext cx="1524000" cy="252966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800">
              <a:latin typeface="Courier New" pitchFamily="49" charset="0"/>
            </a:endParaRPr>
          </a:p>
        </p:txBody>
      </p:sp>
      <p:sp>
        <p:nvSpPr>
          <p:cNvPr id="33798" name="Text Box 103"/>
          <p:cNvSpPr txBox="1">
            <a:spLocks noChangeArrowheads="1"/>
          </p:cNvSpPr>
          <p:nvPr/>
        </p:nvSpPr>
        <p:spPr bwMode="auto">
          <a:xfrm>
            <a:off x="928643" y="2082689"/>
            <a:ext cx="1107996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i="1">
                <a:latin typeface="Courier New" pitchFamily="49" charset="0"/>
              </a:rPr>
              <a:t>main.c</a:t>
            </a:r>
          </a:p>
        </p:txBody>
      </p:sp>
      <p:sp>
        <p:nvSpPr>
          <p:cNvPr id="33799" name="AutoShape 104"/>
          <p:cNvSpPr>
            <a:spLocks noChangeArrowheads="1"/>
          </p:cNvSpPr>
          <p:nvPr/>
        </p:nvSpPr>
        <p:spPr bwMode="auto">
          <a:xfrm>
            <a:off x="3365651" y="4253904"/>
            <a:ext cx="685800" cy="457200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err="1" smtClean="0"/>
              <a:t>Hwi</a:t>
            </a:r>
            <a:endParaRPr lang="en-US" sz="1800" dirty="0"/>
          </a:p>
        </p:txBody>
      </p:sp>
      <p:sp>
        <p:nvSpPr>
          <p:cNvPr id="33800" name="Text Box 105"/>
          <p:cNvSpPr txBox="1">
            <a:spLocks noChangeArrowheads="1"/>
          </p:cNvSpPr>
          <p:nvPr/>
        </p:nvSpPr>
        <p:spPr bwMode="auto">
          <a:xfrm>
            <a:off x="2984651" y="3810000"/>
            <a:ext cx="1569660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i="1">
                <a:latin typeface="Courier New" pitchFamily="49" charset="0"/>
              </a:rPr>
              <a:t>Scheduler</a:t>
            </a:r>
          </a:p>
        </p:txBody>
      </p:sp>
      <p:sp>
        <p:nvSpPr>
          <p:cNvPr id="33802" name="AutoShape 107"/>
          <p:cNvSpPr>
            <a:spLocks noChangeArrowheads="1"/>
          </p:cNvSpPr>
          <p:nvPr/>
        </p:nvSpPr>
        <p:spPr bwMode="auto">
          <a:xfrm>
            <a:off x="3365651" y="6041066"/>
            <a:ext cx="685800" cy="457200"/>
          </a:xfrm>
          <a:prstGeom prst="cube">
            <a:avLst>
              <a:gd name="adj" fmla="val 16319"/>
            </a:avLst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dirty="0" smtClean="0"/>
              <a:t>Idle</a:t>
            </a:r>
            <a:endParaRPr lang="en-US" sz="1800" dirty="0"/>
          </a:p>
        </p:txBody>
      </p:sp>
      <p:sp>
        <p:nvSpPr>
          <p:cNvPr id="33810" name="AutoShape 117"/>
          <p:cNvSpPr>
            <a:spLocks noChangeArrowheads="1"/>
          </p:cNvSpPr>
          <p:nvPr/>
        </p:nvSpPr>
        <p:spPr bwMode="auto">
          <a:xfrm>
            <a:off x="5038978" y="4183123"/>
            <a:ext cx="2514600" cy="577701"/>
          </a:xfrm>
          <a:prstGeom prst="roundRect">
            <a:avLst>
              <a:gd name="adj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1800" smtClean="0">
                <a:latin typeface="Courier New" pitchFamily="49" charset="0"/>
              </a:rPr>
              <a:t>Swi_post(LEDSwi);</a:t>
            </a:r>
            <a:endParaRPr lang="en-US" sz="1800">
              <a:latin typeface="Courier New" pitchFamily="49" charset="0"/>
            </a:endParaRPr>
          </a:p>
        </p:txBody>
      </p:sp>
      <p:sp>
        <p:nvSpPr>
          <p:cNvPr id="33816" name="Text Box 131"/>
          <p:cNvSpPr txBox="1">
            <a:spLocks noChangeArrowheads="1"/>
          </p:cNvSpPr>
          <p:nvPr/>
        </p:nvSpPr>
        <p:spPr bwMode="auto">
          <a:xfrm>
            <a:off x="4038600" y="788906"/>
            <a:ext cx="1962397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chemeClr val="tx2"/>
                </a:solidFill>
              </a:rPr>
              <a:t>Procedure</a:t>
            </a:r>
          </a:p>
        </p:txBody>
      </p:sp>
      <p:sp>
        <p:nvSpPr>
          <p:cNvPr id="33817" name="Text Box 132"/>
          <p:cNvSpPr txBox="1">
            <a:spLocks noChangeArrowheads="1"/>
          </p:cNvSpPr>
          <p:nvPr/>
        </p:nvSpPr>
        <p:spPr bwMode="auto">
          <a:xfrm>
            <a:off x="4114800" y="1288159"/>
            <a:ext cx="4402872" cy="216059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169863" indent="-169863">
              <a:buFontTx/>
              <a:buChar char="•"/>
            </a:pPr>
            <a:r>
              <a:rPr lang="en-US" sz="2000" u="sng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IMPORT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 archived (.zip) project</a:t>
            </a:r>
            <a:br>
              <a:rPr lang="en-US" sz="2000" smtClean="0">
                <a:latin typeface="Calibri" pitchFamily="34" charset="0"/>
                <a:cs typeface="Calibri" pitchFamily="34" charset="0"/>
              </a:rPr>
            </a:br>
            <a:r>
              <a:rPr lang="en-US" sz="1800" b="0" i="1" smtClean="0">
                <a:latin typeface="Calibri" pitchFamily="34" charset="0"/>
                <a:cs typeface="Calibri" pitchFamily="34" charset="0"/>
              </a:rPr>
              <a:t>(please update to the latest BIOS/XDC/UIA)</a:t>
            </a:r>
            <a:endParaRPr lang="en-US" sz="2000" b="0" i="1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u="sng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Add Swi </a:t>
            </a:r>
            <a:r>
              <a:rPr lang="en-US" sz="2000" i="1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object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for ledToggle)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 Build, “Play</a:t>
            </a:r>
            <a:r>
              <a:rPr lang="en-US" sz="2000">
                <a:latin typeface="Calibri" pitchFamily="34" charset="0"/>
                <a:cs typeface="Calibri" pitchFamily="34" charset="0"/>
              </a:rPr>
              <a:t>”,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Debug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Use ROV/UIA to debug</a:t>
            </a:r>
          </a:p>
          <a:p>
            <a:pPr>
              <a:buFontTx/>
              <a:buChar char="•"/>
            </a:pPr>
            <a:r>
              <a:rPr lang="en-US" sz="200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smtClean="0">
                <a:latin typeface="Calibri" pitchFamily="34" charset="0"/>
                <a:cs typeface="Calibri" pitchFamily="34" charset="0"/>
              </a:rPr>
              <a:t>Use Log_info() to print #toggles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Text Box 102"/>
          <p:cNvSpPr txBox="1">
            <a:spLocks noChangeArrowheads="1"/>
          </p:cNvSpPr>
          <p:nvPr/>
        </p:nvSpPr>
        <p:spPr bwMode="auto">
          <a:xfrm>
            <a:off x="286507" y="5479602"/>
            <a:ext cx="2405659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dirty="0">
                <a:solidFill>
                  <a:schemeClr val="tx2"/>
                </a:solidFill>
              </a:rPr>
              <a:t>Time</a:t>
            </a:r>
            <a:r>
              <a:rPr lang="en-US">
                <a:solidFill>
                  <a:schemeClr val="tx2"/>
                </a:solidFill>
              </a:rPr>
              <a:t>: </a:t>
            </a:r>
            <a:r>
              <a:rPr lang="en-US" smtClean="0">
                <a:solidFill>
                  <a:schemeClr val="tx2"/>
                </a:solidFill>
              </a:rPr>
              <a:t>45 min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460440" y="3632787"/>
            <a:ext cx="0" cy="457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" name="Straight Arrow Connector 2"/>
          <p:cNvCxnSpPr/>
          <p:nvPr/>
        </p:nvCxnSpPr>
        <p:spPr bwMode="auto">
          <a:xfrm>
            <a:off x="4167110" y="4473645"/>
            <a:ext cx="87186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7565980" y="4282259"/>
            <a:ext cx="1120820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Hwi ISR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AutoShape 117"/>
          <p:cNvSpPr>
            <a:spLocks noChangeArrowheads="1"/>
          </p:cNvSpPr>
          <p:nvPr/>
        </p:nvSpPr>
        <p:spPr bwMode="auto">
          <a:xfrm>
            <a:off x="5042051" y="4974266"/>
            <a:ext cx="2511527" cy="1545266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2000"/>
              </a:prstClr>
            </a:outerShdw>
          </a:effectLst>
        </p:spPr>
        <p:txBody>
          <a:bodyPr wrap="none" anchor="ctr"/>
          <a:lstStyle/>
          <a:p>
            <a:r>
              <a:rPr lang="en-US" sz="1800" smtClean="0">
                <a:solidFill>
                  <a:schemeClr val="tx2"/>
                </a:solidFill>
                <a:latin typeface="Courier New" pitchFamily="49" charset="0"/>
              </a:rPr>
              <a:t> ledToggle()</a:t>
            </a:r>
            <a:r>
              <a:rPr lang="en-US" sz="1800" smtClean="0">
                <a:latin typeface="Courier New" pitchFamily="49" charset="0"/>
              </a:rPr>
              <a:t> {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</a:t>
            </a:r>
            <a:r>
              <a:rPr lang="en-US" sz="1800" smtClean="0">
                <a:latin typeface="Courier New" pitchFamily="49" charset="0"/>
              </a:rPr>
              <a:t> toggle(LED);</a:t>
            </a:r>
            <a:endParaRPr lang="en-US" sz="1800">
              <a:latin typeface="Courier New" pitchFamily="49" charset="0"/>
            </a:endParaRPr>
          </a:p>
          <a:p>
            <a:r>
              <a:rPr lang="en-US" sz="1800">
                <a:latin typeface="Courier New" pitchFamily="49" charset="0"/>
              </a:rPr>
              <a:t>  </a:t>
            </a:r>
            <a:r>
              <a:rPr lang="en-US" sz="1800" smtClean="0">
                <a:latin typeface="Courier New" pitchFamily="49" charset="0"/>
              </a:rPr>
              <a:t> Log_info();</a:t>
            </a:r>
            <a:endParaRPr lang="en-US" sz="1800">
              <a:latin typeface="Courier New" pitchFamily="49" charset="0"/>
            </a:endParaRPr>
          </a:p>
          <a:p>
            <a:r>
              <a:rPr lang="en-US" sz="1800" smtClean="0">
                <a:latin typeface="Courier New" pitchFamily="49" charset="0"/>
              </a:rPr>
              <a:t> } </a:t>
            </a:r>
            <a:endParaRPr lang="en-US" sz="1800">
              <a:latin typeface="Courier New" pitchFamily="49" charset="0"/>
            </a:endParaRPr>
          </a:p>
        </p:txBody>
      </p:sp>
      <p:sp>
        <p:nvSpPr>
          <p:cNvPr id="27" name="AutoShape 104"/>
          <p:cNvSpPr>
            <a:spLocks noChangeArrowheads="1"/>
          </p:cNvSpPr>
          <p:nvPr/>
        </p:nvSpPr>
        <p:spPr bwMode="auto">
          <a:xfrm>
            <a:off x="3365651" y="4953000"/>
            <a:ext cx="685800" cy="457200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800" smtClean="0"/>
              <a:t>Swi</a:t>
            </a:r>
            <a:endParaRPr lang="en-US" sz="1800" dirty="0"/>
          </a:p>
        </p:txBody>
      </p:sp>
      <p:sp>
        <p:nvSpPr>
          <p:cNvPr id="29" name="TextBox 28"/>
          <p:cNvSpPr txBox="1"/>
          <p:nvPr/>
        </p:nvSpPr>
        <p:spPr>
          <a:xfrm>
            <a:off x="7565980" y="5478373"/>
            <a:ext cx="1106713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LEDSwi</a:t>
            </a:r>
            <a:endParaRPr lang="en-US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4167110" y="5171406"/>
            <a:ext cx="11417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H="1">
            <a:off x="4167110" y="6269666"/>
            <a:ext cx="11417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02" y="4059866"/>
            <a:ext cx="834868" cy="837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Arrow Connector 3"/>
          <p:cNvCxnSpPr/>
          <p:nvPr/>
        </p:nvCxnSpPr>
        <p:spPr bwMode="auto">
          <a:xfrm flipH="1">
            <a:off x="4167110" y="4677432"/>
            <a:ext cx="966701" cy="2755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221675" y="679896"/>
            <a:ext cx="3512125" cy="1241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>
              <a:spcBef>
                <a:spcPts val="900"/>
              </a:spcBef>
            </a:pPr>
            <a:r>
              <a:rPr lang="en-US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Lab Goal:</a:t>
            </a:r>
          </a:p>
          <a:p>
            <a:pPr>
              <a:spcBef>
                <a:spcPts val="900"/>
              </a:spcBef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Instead of toggling the LED in the Hwi’s ISR, the ISR will now POST a Swi to toggle the LED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" name="Straight Arrow Connector 6"/>
          <p:cNvCxnSpPr>
            <a:stCxn id="1026" idx="3"/>
          </p:cNvCxnSpPr>
          <p:nvPr/>
        </p:nvCxnSpPr>
        <p:spPr bwMode="auto">
          <a:xfrm>
            <a:off x="1855270" y="4478852"/>
            <a:ext cx="138766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28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45405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5" name="Picture 2" descr="ti_stk_2c_pos_rgb_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325" y="1752600"/>
            <a:ext cx="8839200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3978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219200"/>
            <a:ext cx="5562600" cy="37338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tIns="36576" bIns="36576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1988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349353"/>
            <a:ext cx="556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MainHighlight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8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817049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MainNormal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9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9625" y="2304080"/>
            <a:ext cx="4600575" cy="4062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tIns="36576" bIns="36576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SubHighlight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99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5502" y="2723820"/>
            <a:ext cx="46672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SubNormal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0" name="Animated Logo" descr="tilogo_color_twoline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NO LOGOS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  <p:tag name="ADMINISTRATIVESLID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  <p:tag name="NO LOGOS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MINISTRATIVESLIDE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Norma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Normal"/>
</p:tagLst>
</file>

<file path=ppt/theme/theme1.xml><?xml version="1.0" encoding="utf-8"?>
<a:theme xmlns:a="http://schemas.openxmlformats.org/drawingml/2006/main" name="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ttoTheme</Template>
  <TotalTime>16566</TotalTime>
  <Pages>3</Pages>
  <Words>1042</Words>
  <Application>Microsoft Office PowerPoint</Application>
  <PresentationFormat>On-screen Show (4:3)</PresentationFormat>
  <Paragraphs>270</Paragraphs>
  <Slides>20</Slides>
  <Notes>9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ttoTheme</vt:lpstr>
      <vt:lpstr>PowerPoint Presentation</vt:lpstr>
      <vt:lpstr>Objectives</vt:lpstr>
      <vt:lpstr>Outline</vt:lpstr>
      <vt:lpstr>Outline</vt:lpstr>
      <vt:lpstr>SYS/BIOS Thread Types (including Tasks)</vt:lpstr>
      <vt:lpstr>Hardware and Software Interrupt System</vt:lpstr>
      <vt:lpstr>Outline</vt:lpstr>
      <vt:lpstr>Scheduling Rules</vt:lpstr>
      <vt:lpstr>Scheduling Rules</vt:lpstr>
      <vt:lpstr>Outline</vt:lpstr>
      <vt:lpstr>Configuring a Swi – Statically via GUI</vt:lpstr>
      <vt:lpstr>Outline</vt:lpstr>
      <vt:lpstr>SYS/BIOS Swi APIs</vt:lpstr>
      <vt:lpstr>Outline</vt:lpstr>
      <vt:lpstr>Scheduling Strategies</vt:lpstr>
      <vt:lpstr>Outline</vt:lpstr>
      <vt:lpstr>Labs 5-9 “Roadmap”</vt:lpstr>
      <vt:lpstr>Lab 6 – “Blink LED” Using Swi</vt:lpstr>
      <vt:lpstr>PowerPoint Presentation</vt:lpstr>
      <vt:lpstr>Outline</vt:lpstr>
    </vt:vector>
  </TitlesOfParts>
  <Company>SC Sales &amp; Marketing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TI-RTOS Kernel Workshop</dc:title>
  <dc:subject/>
  <dc:creator>ericw@ti.com</dc:creator>
  <cp:keywords/>
  <dc:description/>
  <cp:lastModifiedBy>Eric Wilbur</cp:lastModifiedBy>
  <cp:revision>402</cp:revision>
  <cp:lastPrinted>1601-01-01T00:00:00Z</cp:lastPrinted>
  <dcterms:created xsi:type="dcterms:W3CDTF">2001-09-20T20:19:44Z</dcterms:created>
  <dcterms:modified xsi:type="dcterms:W3CDTF">2014-05-16T14:19:23Z</dcterms:modified>
</cp:coreProperties>
</file>