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4.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5.xml" ContentType="application/vnd.openxmlformats-officedocument.presentationml.notesSlide+xml"/>
  <Override PartName="/ppt/tags/tag37.xml" ContentType="application/vnd.openxmlformats-officedocument.presentationml.tags+xml"/>
  <Override PartName="/ppt/notesSlides/notesSlide6.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7.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notesSlides/notesSlide8.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notesSlides/notesSlide9.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10.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notesSlides/notesSlide11.xml" ContentType="application/vnd.openxmlformats-officedocument.presentationml.notesSlid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79" r:id="rId1"/>
    <p:sldMasterId id="2147483823" r:id="rId2"/>
    <p:sldMasterId id="2147483835" r:id="rId3"/>
  </p:sldMasterIdLst>
  <p:notesMasterIdLst>
    <p:notesMasterId r:id="rId52"/>
  </p:notesMasterIdLst>
  <p:handoutMasterIdLst>
    <p:handoutMasterId r:id="rId53"/>
  </p:handoutMasterIdLst>
  <p:sldIdLst>
    <p:sldId id="2046" r:id="rId4"/>
    <p:sldId id="1157" r:id="rId5"/>
    <p:sldId id="2099" r:id="rId6"/>
    <p:sldId id="2100" r:id="rId7"/>
    <p:sldId id="2205" r:id="rId8"/>
    <p:sldId id="2206" r:id="rId9"/>
    <p:sldId id="2024" r:id="rId10"/>
    <p:sldId id="2207" r:id="rId11"/>
    <p:sldId id="1187" r:id="rId12"/>
    <p:sldId id="1795" r:id="rId13"/>
    <p:sldId id="2208" r:id="rId14"/>
    <p:sldId id="1202" r:id="rId15"/>
    <p:sldId id="1794" r:id="rId16"/>
    <p:sldId id="1707" r:id="rId17"/>
    <p:sldId id="2020" r:id="rId18"/>
    <p:sldId id="2021" r:id="rId19"/>
    <p:sldId id="2209" r:id="rId20"/>
    <p:sldId id="1796" r:id="rId21"/>
    <p:sldId id="1825" r:id="rId22"/>
    <p:sldId id="1544" r:id="rId23"/>
    <p:sldId id="2210" r:id="rId24"/>
    <p:sldId id="1970" r:id="rId25"/>
    <p:sldId id="1982" r:id="rId26"/>
    <p:sldId id="2211" r:id="rId27"/>
    <p:sldId id="1983" r:id="rId28"/>
    <p:sldId id="1984" r:id="rId29"/>
    <p:sldId id="2212" r:id="rId30"/>
    <p:sldId id="1985" r:id="rId31"/>
    <p:sldId id="2022" r:id="rId32"/>
    <p:sldId id="2213" r:id="rId33"/>
    <p:sldId id="1986" r:id="rId34"/>
    <p:sldId id="2047" r:id="rId35"/>
    <p:sldId id="2214" r:id="rId36"/>
    <p:sldId id="2101" r:id="rId37"/>
    <p:sldId id="2141" r:id="rId38"/>
    <p:sldId id="1765" r:id="rId39"/>
    <p:sldId id="2124" r:id="rId40"/>
    <p:sldId id="2125" r:id="rId41"/>
    <p:sldId id="2126" r:id="rId42"/>
    <p:sldId id="2127" r:id="rId43"/>
    <p:sldId id="2128" r:id="rId44"/>
    <p:sldId id="2129" r:id="rId45"/>
    <p:sldId id="2050" r:id="rId46"/>
    <p:sldId id="2051" r:id="rId47"/>
    <p:sldId id="2052" r:id="rId48"/>
    <p:sldId id="2053" r:id="rId49"/>
    <p:sldId id="2054" r:id="rId50"/>
    <p:sldId id="1600" r:id="rId51"/>
  </p:sldIdLst>
  <p:sldSz cx="9144000" cy="6858000" type="screen4x3"/>
  <p:notesSz cx="7315200" cy="9601200"/>
  <p:defaultTextStyle>
    <a:defPPr>
      <a:defRPr lang="en-US"/>
    </a:defPPr>
    <a:lvl1pPr algn="l" rtl="0" eaLnBrk="0" fontAlgn="base" hangingPunct="0">
      <a:lnSpc>
        <a:spcPct val="80000"/>
      </a:lnSpc>
      <a:spcBef>
        <a:spcPct val="50000"/>
      </a:spcBef>
      <a:spcAft>
        <a:spcPct val="0"/>
      </a:spcAft>
      <a:defRPr sz="2400" b="1" kern="1200">
        <a:solidFill>
          <a:schemeClr val="tx1"/>
        </a:solidFill>
        <a:latin typeface="Arial" charset="0"/>
        <a:ea typeface="+mn-ea"/>
        <a:cs typeface="+mn-cs"/>
      </a:defRPr>
    </a:lvl1pPr>
    <a:lvl2pPr marL="457200" algn="l" rtl="0" eaLnBrk="0" fontAlgn="base" hangingPunct="0">
      <a:lnSpc>
        <a:spcPct val="80000"/>
      </a:lnSpc>
      <a:spcBef>
        <a:spcPct val="50000"/>
      </a:spcBef>
      <a:spcAft>
        <a:spcPct val="0"/>
      </a:spcAft>
      <a:defRPr sz="2400" b="1" kern="1200">
        <a:solidFill>
          <a:schemeClr val="tx1"/>
        </a:solidFill>
        <a:latin typeface="Arial" charset="0"/>
        <a:ea typeface="+mn-ea"/>
        <a:cs typeface="+mn-cs"/>
      </a:defRPr>
    </a:lvl2pPr>
    <a:lvl3pPr marL="914400" algn="l" rtl="0" eaLnBrk="0" fontAlgn="base" hangingPunct="0">
      <a:lnSpc>
        <a:spcPct val="80000"/>
      </a:lnSpc>
      <a:spcBef>
        <a:spcPct val="50000"/>
      </a:spcBef>
      <a:spcAft>
        <a:spcPct val="0"/>
      </a:spcAft>
      <a:defRPr sz="2400" b="1" kern="1200">
        <a:solidFill>
          <a:schemeClr val="tx1"/>
        </a:solidFill>
        <a:latin typeface="Arial" charset="0"/>
        <a:ea typeface="+mn-ea"/>
        <a:cs typeface="+mn-cs"/>
      </a:defRPr>
    </a:lvl3pPr>
    <a:lvl4pPr marL="1371600" algn="l" rtl="0" eaLnBrk="0" fontAlgn="base" hangingPunct="0">
      <a:lnSpc>
        <a:spcPct val="80000"/>
      </a:lnSpc>
      <a:spcBef>
        <a:spcPct val="50000"/>
      </a:spcBef>
      <a:spcAft>
        <a:spcPct val="0"/>
      </a:spcAft>
      <a:defRPr sz="2400" b="1" kern="1200">
        <a:solidFill>
          <a:schemeClr val="tx1"/>
        </a:solidFill>
        <a:latin typeface="Arial" charset="0"/>
        <a:ea typeface="+mn-ea"/>
        <a:cs typeface="+mn-cs"/>
      </a:defRPr>
    </a:lvl4pPr>
    <a:lvl5pPr marL="1828800" algn="l" rtl="0" eaLnBrk="0" fontAlgn="base" hangingPunct="0">
      <a:lnSpc>
        <a:spcPct val="80000"/>
      </a:lnSpc>
      <a:spcBef>
        <a:spcPct val="50000"/>
      </a:spcBef>
      <a:spcAft>
        <a:spcPct val="0"/>
      </a:spcAft>
      <a:defRPr sz="2400" b="1" kern="1200">
        <a:solidFill>
          <a:schemeClr val="tx1"/>
        </a:solidFill>
        <a:latin typeface="Arial" charset="0"/>
        <a:ea typeface="+mn-ea"/>
        <a:cs typeface="+mn-cs"/>
      </a:defRPr>
    </a:lvl5pPr>
    <a:lvl6pPr marL="2286000" algn="l" defTabSz="914400" rtl="0" eaLnBrk="1" latinLnBrk="0" hangingPunct="1">
      <a:defRPr sz="2400" b="1" kern="1200">
        <a:solidFill>
          <a:schemeClr val="tx1"/>
        </a:solidFill>
        <a:latin typeface="Arial" charset="0"/>
        <a:ea typeface="+mn-ea"/>
        <a:cs typeface="+mn-cs"/>
      </a:defRPr>
    </a:lvl6pPr>
    <a:lvl7pPr marL="2743200" algn="l" defTabSz="914400" rtl="0" eaLnBrk="1" latinLnBrk="0" hangingPunct="1">
      <a:defRPr sz="2400" b="1" kern="1200">
        <a:solidFill>
          <a:schemeClr val="tx1"/>
        </a:solidFill>
        <a:latin typeface="Arial" charset="0"/>
        <a:ea typeface="+mn-ea"/>
        <a:cs typeface="+mn-cs"/>
      </a:defRPr>
    </a:lvl7pPr>
    <a:lvl8pPr marL="3200400" algn="l" defTabSz="914400" rtl="0" eaLnBrk="1" latinLnBrk="0" hangingPunct="1">
      <a:defRPr sz="2400" b="1" kern="1200">
        <a:solidFill>
          <a:schemeClr val="tx1"/>
        </a:solidFill>
        <a:latin typeface="Arial" charset="0"/>
        <a:ea typeface="+mn-ea"/>
        <a:cs typeface="+mn-cs"/>
      </a:defRPr>
    </a:lvl8pPr>
    <a:lvl9pPr marL="3657600" algn="l" defTabSz="914400" rtl="0" eaLnBrk="1" latinLnBrk="0" hangingPunct="1">
      <a:defRPr sz="2400" b="1"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33"/>
    <a:srgbClr val="99FF33"/>
    <a:srgbClr val="FFFFFF"/>
    <a:srgbClr val="FF3300"/>
    <a:srgbClr val="C7A2E3"/>
    <a:srgbClr val="CCFF66"/>
    <a:srgbClr val="808080"/>
    <a:srgbClr val="66FF33"/>
    <a:srgbClr val="00FF00"/>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87" autoAdjust="0"/>
    <p:restoredTop sz="95115" autoAdjust="0"/>
  </p:normalViewPr>
  <p:slideViewPr>
    <p:cSldViewPr>
      <p:cViewPr>
        <p:scale>
          <a:sx n="90" d="100"/>
          <a:sy n="90" d="100"/>
        </p:scale>
        <p:origin x="-1440" y="-31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handoutMaster" Target="handoutMasters/handout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20138" tIns="0" rIns="20138" bIns="0" numCol="1" anchor="t" anchorCtr="0" compatLnSpc="1">
            <a:prstTxWarp prst="textNoShape">
              <a:avLst/>
            </a:prstTxWarp>
          </a:bodyPr>
          <a:lstStyle>
            <a:lvl1pPr defTabSz="966788">
              <a:defRPr sz="1100" b="0" i="1">
                <a:effectLst/>
                <a:latin typeface="Times New Roman" pitchFamily="18" charset="0"/>
              </a:defRPr>
            </a:lvl1pPr>
          </a:lstStyle>
          <a:p>
            <a:pPr>
              <a:defRPr/>
            </a:pPr>
            <a:endParaRPr lang="en-US"/>
          </a:p>
        </p:txBody>
      </p:sp>
      <p:sp>
        <p:nvSpPr>
          <p:cNvPr id="3075"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square" lIns="20138" tIns="0" rIns="20138" bIns="0" numCol="1" anchor="t" anchorCtr="0" compatLnSpc="1">
            <a:prstTxWarp prst="textNoShape">
              <a:avLst/>
            </a:prstTxWarp>
          </a:bodyPr>
          <a:lstStyle>
            <a:lvl1pPr algn="r" defTabSz="966788">
              <a:defRPr sz="1100" b="0" i="1">
                <a:effectLst/>
                <a:latin typeface="Times New Roman" pitchFamily="18" charset="0"/>
              </a:defRPr>
            </a:lvl1pPr>
          </a:lstStyle>
          <a:p>
            <a:pPr>
              <a:defRPr/>
            </a:pPr>
            <a:endParaRPr lang="en-US"/>
          </a:p>
        </p:txBody>
      </p:sp>
      <p:sp>
        <p:nvSpPr>
          <p:cNvPr id="3076"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20138" tIns="0" rIns="20138" bIns="0" numCol="1" anchor="b" anchorCtr="0" compatLnSpc="1">
            <a:prstTxWarp prst="textNoShape">
              <a:avLst/>
            </a:prstTxWarp>
          </a:bodyPr>
          <a:lstStyle>
            <a:lvl1pPr defTabSz="966788">
              <a:defRPr sz="1100" b="0" i="1">
                <a:effectLst/>
                <a:latin typeface="Times New Roman" pitchFamily="18" charset="0"/>
              </a:defRPr>
            </a:lvl1pPr>
          </a:lstStyle>
          <a:p>
            <a:pPr>
              <a:defRPr/>
            </a:pPr>
            <a:endParaRPr lang="en-US"/>
          </a:p>
        </p:txBody>
      </p:sp>
      <p:sp>
        <p:nvSpPr>
          <p:cNvPr id="3077"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20138" tIns="0" rIns="20138" bIns="0" numCol="1" anchor="b" anchorCtr="0" compatLnSpc="1">
            <a:prstTxWarp prst="textNoShape">
              <a:avLst/>
            </a:prstTxWarp>
          </a:bodyPr>
          <a:lstStyle>
            <a:lvl1pPr algn="r" defTabSz="966788">
              <a:defRPr sz="1100" b="0" i="1">
                <a:effectLst/>
                <a:latin typeface="Times New Roman" pitchFamily="18" charset="0"/>
              </a:defRPr>
            </a:lvl1pPr>
          </a:lstStyle>
          <a:p>
            <a:pPr>
              <a:defRPr/>
            </a:pPr>
            <a:fld id="{D21FECD8-8CF6-4C22-806F-9E8C98254FAF}" type="slidenum">
              <a:rPr lang="en-US"/>
              <a:pPr>
                <a:defRPr/>
              </a:pPr>
              <a:t>‹#›</a:t>
            </a:fld>
            <a:endParaRPr lang="en-US"/>
          </a:p>
        </p:txBody>
      </p:sp>
    </p:spTree>
    <p:extLst>
      <p:ext uri="{BB962C8B-B14F-4D97-AF65-F5344CB8AC3E}">
        <p14:creationId xmlns:p14="http://schemas.microsoft.com/office/powerpoint/2010/main" val="5707340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20138" tIns="0" rIns="20138" bIns="0" numCol="1" anchor="t" anchorCtr="0" compatLnSpc="1">
            <a:prstTxWarp prst="textNoShape">
              <a:avLst/>
            </a:prstTxWarp>
          </a:bodyPr>
          <a:lstStyle>
            <a:lvl1pPr defTabSz="966788">
              <a:lnSpc>
                <a:spcPct val="100000"/>
              </a:lnSpc>
              <a:spcBef>
                <a:spcPct val="0"/>
              </a:spcBef>
              <a:defRPr sz="1100" b="0" i="1">
                <a:effectLst/>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20138" tIns="0" rIns="20138" bIns="0" numCol="1" anchor="t" anchorCtr="0" compatLnSpc="1">
            <a:prstTxWarp prst="textNoShape">
              <a:avLst/>
            </a:prstTxWarp>
          </a:bodyPr>
          <a:lstStyle>
            <a:lvl1pPr algn="r" defTabSz="966788">
              <a:lnSpc>
                <a:spcPct val="100000"/>
              </a:lnSpc>
              <a:spcBef>
                <a:spcPct val="0"/>
              </a:spcBef>
              <a:defRPr sz="1100" b="0" i="1">
                <a:effectLst/>
                <a:latin typeface="Times New Roman" pitchFamily="18" charset="0"/>
              </a:defRPr>
            </a:lvl1pPr>
          </a:lstStyle>
          <a:p>
            <a:pPr>
              <a:defRPr/>
            </a:pPr>
            <a:endParaRPr lang="en-US"/>
          </a:p>
        </p:txBody>
      </p:sp>
      <p:sp>
        <p:nvSpPr>
          <p:cNvPr id="2052" name="Rectangle 4"/>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20138" tIns="0" rIns="20138" bIns="0" numCol="1" anchor="b" anchorCtr="0" compatLnSpc="1">
            <a:prstTxWarp prst="textNoShape">
              <a:avLst/>
            </a:prstTxWarp>
          </a:bodyPr>
          <a:lstStyle>
            <a:lvl1pPr defTabSz="966788">
              <a:lnSpc>
                <a:spcPct val="100000"/>
              </a:lnSpc>
              <a:spcBef>
                <a:spcPct val="0"/>
              </a:spcBef>
              <a:defRPr sz="1100" b="0" i="1">
                <a:effectLst/>
                <a:latin typeface="Times New Roman" pitchFamily="18" charset="0"/>
              </a:defRPr>
            </a:lvl1pPr>
          </a:lstStyle>
          <a:p>
            <a:pPr>
              <a:defRPr/>
            </a:pPr>
            <a:endParaRPr lang="en-US"/>
          </a:p>
        </p:txBody>
      </p:sp>
      <p:sp>
        <p:nvSpPr>
          <p:cNvPr id="2053" name="Rectangle 5"/>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20138" tIns="0" rIns="20138" bIns="0" numCol="1" anchor="b" anchorCtr="0" compatLnSpc="1">
            <a:prstTxWarp prst="textNoShape">
              <a:avLst/>
            </a:prstTxWarp>
          </a:bodyPr>
          <a:lstStyle>
            <a:lvl1pPr algn="r" defTabSz="966788">
              <a:lnSpc>
                <a:spcPct val="100000"/>
              </a:lnSpc>
              <a:spcBef>
                <a:spcPct val="0"/>
              </a:spcBef>
              <a:defRPr sz="1100" b="0" i="1">
                <a:effectLst/>
                <a:latin typeface="Times New Roman" pitchFamily="18" charset="0"/>
              </a:defRPr>
            </a:lvl1pPr>
          </a:lstStyle>
          <a:p>
            <a:pPr>
              <a:defRPr/>
            </a:pPr>
            <a:fld id="{5A761D51-D98D-4346-847F-25AD1FFA198A}" type="slidenum">
              <a:rPr lang="en-US"/>
              <a:pPr>
                <a:defRPr/>
              </a:pPr>
              <a:t>‹#›</a:t>
            </a:fld>
            <a:endParaRPr lang="en-US"/>
          </a:p>
        </p:txBody>
      </p:sp>
      <p:sp>
        <p:nvSpPr>
          <p:cNvPr id="2054" name="Rectangle 6"/>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7332" tIns="48667" rIns="97332" bIns="48667"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0967" name="Rectangle 7"/>
          <p:cNvSpPr>
            <a:spLocks noGrp="1" noRot="1" noChangeAspect="1" noChangeArrowheads="1" noTextEdit="1"/>
          </p:cNvSpPr>
          <p:nvPr>
            <p:ph type="sldImg" idx="2"/>
          </p:nvPr>
        </p:nvSpPr>
        <p:spPr bwMode="auto">
          <a:xfrm>
            <a:off x="1266825" y="727075"/>
            <a:ext cx="4781550" cy="3586163"/>
          </a:xfrm>
          <a:prstGeom prst="rect">
            <a:avLst/>
          </a:prstGeom>
          <a:noFill/>
          <a:ln w="12700">
            <a:solidFill>
              <a:schemeClr val="tx1"/>
            </a:solidFill>
            <a:miter lim="800000"/>
            <a:headEnd/>
            <a:tailEnd/>
          </a:ln>
        </p:spPr>
      </p:sp>
    </p:spTree>
    <p:extLst>
      <p:ext uri="{BB962C8B-B14F-4D97-AF65-F5344CB8AC3E}">
        <p14:creationId xmlns:p14="http://schemas.microsoft.com/office/powerpoint/2010/main" val="372479058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5"/>
          <p:cNvSpPr>
            <a:spLocks noGrp="1" noChangeArrowheads="1"/>
          </p:cNvSpPr>
          <p:nvPr>
            <p:ph type="sldNum" sz="quarter" idx="5"/>
          </p:nvPr>
        </p:nvSpPr>
        <p:spPr>
          <a:noFill/>
        </p:spPr>
        <p:txBody>
          <a:bodyPr/>
          <a:lstStyle/>
          <a:p>
            <a:fld id="{7437432B-DF8E-4D17-988E-92506060F595}" type="slidenum">
              <a:rPr lang="en-US" smtClean="0"/>
              <a:pPr/>
              <a:t>2</a:t>
            </a:fld>
            <a:endParaRPr lang="en-US" smtClean="0"/>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Development tools like Code Composer and evaluation products like the LaunchPad board are just a part of TI’s support ecosystem for it’s processors.</a:t>
            </a:r>
          </a:p>
          <a:p>
            <a:endParaRPr lang="en-US" dirty="0" smtClean="0"/>
          </a:p>
          <a:p>
            <a:r>
              <a:rPr lang="en-US" dirty="0" smtClean="0"/>
              <a:t>Run-time software support includes TivaWare for C Series as well as TI’s RTOS called </a:t>
            </a:r>
            <a:r>
              <a:rPr lang="en-US" dirty="0" err="1" smtClean="0"/>
              <a:t>SysBios</a:t>
            </a:r>
            <a:r>
              <a:rPr lang="en-US" dirty="0" smtClean="0"/>
              <a:t>.</a:t>
            </a:r>
          </a:p>
          <a:p>
            <a:endParaRPr lang="en-US" dirty="0"/>
          </a:p>
          <a:p>
            <a:r>
              <a:rPr lang="en-US" dirty="0" smtClean="0"/>
              <a:t>There is a rich community of support for TI’s products through the forums, e2e pages, Wikis, in-person and on-line training.</a:t>
            </a:r>
          </a:p>
          <a:p>
            <a:endParaRPr lang="en-US" dirty="0"/>
          </a:p>
        </p:txBody>
      </p:sp>
      <p:sp>
        <p:nvSpPr>
          <p:cNvPr id="4" name="Slide Number Placeholder 3"/>
          <p:cNvSpPr>
            <a:spLocks noGrp="1"/>
          </p:cNvSpPr>
          <p:nvPr>
            <p:ph type="sldNum" sz="quarter" idx="10"/>
          </p:nvPr>
        </p:nvSpPr>
        <p:spPr/>
        <p:txBody>
          <a:bodyPr/>
          <a:lstStyle/>
          <a:p>
            <a:fld id="{C938CD14-0AD5-41B8-8AE9-B30682339DCC}" type="slidenum">
              <a:rPr lang="en-US" smtClean="0">
                <a:solidFill>
                  <a:prstClr val="black"/>
                </a:solidFill>
              </a:rPr>
              <a:pPr/>
              <a:t>3</a:t>
            </a:fld>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eaLnBrk="0" fontAlgn="base" hangingPunct="0">
              <a:spcBef>
                <a:spcPct val="20000"/>
              </a:spcBef>
              <a:spcAft>
                <a:spcPct val="0"/>
              </a:spcAft>
              <a:defRPr/>
            </a:pPr>
            <a:r>
              <a:rPr lang="en-US" sz="1000" dirty="0" smtClean="0">
                <a:solidFill>
                  <a:prstClr val="black"/>
                </a:solidFill>
                <a:latin typeface="Arial"/>
              </a:rPr>
              <a:t>TI’s run time software support includes TI Wares and TI-RTOS</a:t>
            </a:r>
          </a:p>
          <a:p>
            <a:pPr lvl="1" eaLnBrk="0" fontAlgn="base" hangingPunct="0">
              <a:spcBef>
                <a:spcPct val="20000"/>
              </a:spcBef>
              <a:spcAft>
                <a:spcPct val="0"/>
              </a:spcAft>
              <a:defRPr/>
            </a:pPr>
            <a:endParaRPr lang="en-US" sz="1000" dirty="0">
              <a:solidFill>
                <a:prstClr val="black"/>
              </a:solidFill>
              <a:latin typeface="Arial"/>
            </a:endParaRPr>
          </a:p>
          <a:p>
            <a:pPr lvl="1" eaLnBrk="0" fontAlgn="base" hangingPunct="0">
              <a:spcBef>
                <a:spcPct val="20000"/>
              </a:spcBef>
              <a:spcAft>
                <a:spcPct val="0"/>
              </a:spcAft>
              <a:defRPr/>
            </a:pPr>
            <a:r>
              <a:rPr lang="en-US" sz="1000" dirty="0" smtClean="0">
                <a:solidFill>
                  <a:prstClr val="black"/>
                </a:solidFill>
                <a:latin typeface="Arial"/>
              </a:rPr>
              <a:t>TI Wares like TivaWare minimize programming complexity with low level driver libraries and peripheral driver libraries. They can be used with multiple development environments.</a:t>
            </a:r>
          </a:p>
          <a:p>
            <a:pPr lvl="1" eaLnBrk="0" fontAlgn="base" hangingPunct="0">
              <a:spcBef>
                <a:spcPct val="20000"/>
              </a:spcBef>
              <a:spcAft>
                <a:spcPct val="0"/>
              </a:spcAft>
              <a:defRPr/>
            </a:pPr>
            <a:endParaRPr lang="en-US" sz="1000" dirty="0">
              <a:solidFill>
                <a:prstClr val="black"/>
              </a:solidFill>
              <a:latin typeface="Arial"/>
            </a:endParaRPr>
          </a:p>
          <a:p>
            <a:pPr lvl="1" eaLnBrk="0" fontAlgn="base" hangingPunct="0">
              <a:spcBef>
                <a:spcPct val="20000"/>
              </a:spcBef>
              <a:spcAft>
                <a:spcPct val="0"/>
              </a:spcAft>
              <a:defRPr/>
            </a:pPr>
            <a:r>
              <a:rPr lang="en-US" sz="1000" dirty="0" smtClean="0">
                <a:solidFill>
                  <a:prstClr val="black"/>
                </a:solidFill>
                <a:latin typeface="Arial"/>
              </a:rPr>
              <a:t>TI’s RTOS is comprised of an optimized real-time kernel called </a:t>
            </a:r>
            <a:r>
              <a:rPr lang="en-US" sz="1000" dirty="0" err="1" smtClean="0">
                <a:solidFill>
                  <a:prstClr val="black"/>
                </a:solidFill>
                <a:latin typeface="Arial"/>
              </a:rPr>
              <a:t>SysBios</a:t>
            </a:r>
            <a:r>
              <a:rPr lang="en-US" sz="1000" dirty="0" smtClean="0">
                <a:solidFill>
                  <a:prstClr val="black"/>
                </a:solidFill>
                <a:latin typeface="Arial"/>
              </a:rPr>
              <a:t>. </a:t>
            </a:r>
            <a:r>
              <a:rPr lang="en-US" sz="1000" dirty="0" err="1" smtClean="0">
                <a:solidFill>
                  <a:prstClr val="black"/>
                </a:solidFill>
                <a:latin typeface="Arial"/>
              </a:rPr>
              <a:t>SysBios</a:t>
            </a:r>
            <a:r>
              <a:rPr lang="en-US" sz="1000" dirty="0" smtClean="0">
                <a:solidFill>
                  <a:prstClr val="black"/>
                </a:solidFill>
                <a:latin typeface="Arial"/>
              </a:rPr>
              <a:t> is optimized for TI devices and includes scheduling, memory management, </a:t>
            </a:r>
            <a:r>
              <a:rPr lang="en-US" sz="1000" dirty="0" err="1" smtClean="0">
                <a:solidFill>
                  <a:prstClr val="black"/>
                </a:solidFill>
                <a:latin typeface="Arial"/>
              </a:rPr>
              <a:t>instrumention</a:t>
            </a:r>
            <a:r>
              <a:rPr lang="en-US" sz="1000" dirty="0" smtClean="0">
                <a:solidFill>
                  <a:prstClr val="black"/>
                </a:solidFill>
                <a:latin typeface="Arial"/>
              </a:rPr>
              <a:t> and is fully compatible with TivaWare. Programming of USB and Ethernet ports is made easier with  file systems and stacks.</a:t>
            </a:r>
            <a:endParaRPr lang="en-US" sz="1000" dirty="0">
              <a:solidFill>
                <a:prstClr val="black"/>
              </a:solidFill>
              <a:latin typeface="Arial"/>
            </a:endParaRPr>
          </a:p>
        </p:txBody>
      </p:sp>
      <p:sp>
        <p:nvSpPr>
          <p:cNvPr id="4" name="Slide Number Placeholder 3"/>
          <p:cNvSpPr>
            <a:spLocks noGrp="1"/>
          </p:cNvSpPr>
          <p:nvPr>
            <p:ph type="sldNum" sz="quarter" idx="10"/>
          </p:nvPr>
        </p:nvSpPr>
        <p:spPr/>
        <p:txBody>
          <a:bodyPr/>
          <a:lstStyle/>
          <a:p>
            <a:fld id="{C938CD14-0AD5-41B8-8AE9-B30682339DCC}" type="slidenum">
              <a:rPr lang="en-US" smtClean="0">
                <a:solidFill>
                  <a:prstClr val="black"/>
                </a:solidFill>
              </a:rPr>
              <a:pPr/>
              <a:t>4</a:t>
            </a:fld>
            <a:endParaRPr 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5"/>
          <p:cNvSpPr>
            <a:spLocks noGrp="1" noChangeArrowheads="1"/>
          </p:cNvSpPr>
          <p:nvPr>
            <p:ph type="sldNum" sz="quarter" idx="5"/>
          </p:nvPr>
        </p:nvSpPr>
        <p:spPr>
          <a:noFill/>
        </p:spPr>
        <p:txBody>
          <a:bodyPr/>
          <a:lstStyle/>
          <a:p>
            <a:fld id="{5B1622A6-05F5-4C6B-8933-8141E79EA446}" type="slidenum">
              <a:rPr lang="en-US" smtClean="0"/>
              <a:pPr/>
              <a:t>7</a:t>
            </a:fld>
            <a:endParaRPr lang="en-US" smtClean="0"/>
          </a:p>
        </p:txBody>
      </p:sp>
      <p:sp>
        <p:nvSpPr>
          <p:cNvPr id="44035" name="Rectangle 2"/>
          <p:cNvSpPr>
            <a:spLocks noGrp="1" noRot="1" noChangeAspect="1" noChangeArrowheads="1" noTextEdit="1"/>
          </p:cNvSpPr>
          <p:nvPr>
            <p:ph type="sldImg"/>
          </p:nvPr>
        </p:nvSpPr>
        <p:spPr>
          <a:xfrm>
            <a:off x="1347788" y="727075"/>
            <a:ext cx="4781550" cy="3586163"/>
          </a:xfrm>
          <a:ln/>
        </p:spPr>
      </p:sp>
      <p:sp>
        <p:nvSpPr>
          <p:cNvPr id="44036" name="Rectangle 3"/>
          <p:cNvSpPr>
            <a:spLocks noGrp="1" noChangeArrowheads="1"/>
          </p:cNvSpPr>
          <p:nvPr>
            <p:ph type="body" idx="1"/>
          </p:nvPr>
        </p:nvSpPr>
        <p:spPr>
          <a:xfrm>
            <a:off x="731838" y="4560888"/>
            <a:ext cx="6015037" cy="4400550"/>
          </a:xfrm>
          <a:noFill/>
          <a:ln/>
        </p:spPr>
        <p:txBody>
          <a:bodyPr/>
          <a:lstStyle/>
          <a:p>
            <a:r>
              <a:rPr lang="en-US" smtClean="0"/>
              <a:t>.sa is “serial assembly”, i.e. linear assembly.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5"/>
          <p:cNvSpPr>
            <a:spLocks noGrp="1" noChangeArrowheads="1"/>
          </p:cNvSpPr>
          <p:nvPr>
            <p:ph type="sldNum" sz="quarter" idx="5"/>
          </p:nvPr>
        </p:nvSpPr>
        <p:spPr>
          <a:noFill/>
        </p:spPr>
        <p:txBody>
          <a:bodyPr/>
          <a:lstStyle/>
          <a:p>
            <a:fld id="{5766B49F-3B35-4B73-B0D4-8EEA4DCD1693}" type="slidenum">
              <a:rPr lang="en-US" smtClean="0"/>
              <a:pPr/>
              <a:t>9</a:t>
            </a:fld>
            <a:endParaRPr lang="en-US" smtClean="0"/>
          </a:p>
        </p:txBody>
      </p:sp>
      <p:sp>
        <p:nvSpPr>
          <p:cNvPr id="45059" name="Slide Image Placeholder 1"/>
          <p:cNvSpPr>
            <a:spLocks noGrp="1" noRot="1" noChangeAspect="1" noTextEdit="1"/>
          </p:cNvSpPr>
          <p:nvPr>
            <p:ph type="sldImg"/>
          </p:nvPr>
        </p:nvSpPr>
        <p:spPr>
          <a:xfrm>
            <a:off x="1258888" y="719138"/>
            <a:ext cx="4802187" cy="3602037"/>
          </a:xfrm>
          <a:ln/>
        </p:spPr>
      </p:sp>
      <p:sp>
        <p:nvSpPr>
          <p:cNvPr id="45060" name="Notes Placeholder 2"/>
          <p:cNvSpPr>
            <a:spLocks noGrp="1"/>
          </p:cNvSpPr>
          <p:nvPr>
            <p:ph type="body" idx="1"/>
          </p:nvPr>
        </p:nvSpPr>
        <p:spPr>
          <a:xfrm>
            <a:off x="731838" y="4560888"/>
            <a:ext cx="5853112" cy="4321175"/>
          </a:xfrm>
          <a:noFill/>
          <a:ln/>
        </p:spPr>
        <p:txBody>
          <a:bodyPr lIns="96370" tIns="48185" rIns="96370" bIns="48185"/>
          <a:lstStyle/>
          <a:p>
            <a:r>
              <a:rPr lang="en-CA" smtClean="0"/>
              <a:t>CCSv5 helps greatly with this problem.</a:t>
            </a:r>
          </a:p>
          <a:p>
            <a:r>
              <a:rPr lang="en-CA" smtClean="0"/>
              <a:t>You can customize your menus and toolbars to show just the items you care about.</a:t>
            </a:r>
          </a:p>
          <a:p>
            <a:r>
              <a:rPr lang="en-CA" smtClean="0"/>
              <a:t>Tabbed Editor windows make it easier to switch between files.</a:t>
            </a:r>
          </a:p>
          <a:p>
            <a:r>
              <a:rPr lang="en-CA" smtClean="0"/>
              <a:t>You can tab any view with another to organize your window layout.</a:t>
            </a:r>
          </a:p>
          <a:p>
            <a:r>
              <a:rPr lang="en-CA" smtClean="0"/>
              <a:t>The fast view setting can be applied to a view.  What this does is hides the view down I the bottom status bar but when you click on it, it instantly opens and can be as big as you want.</a:t>
            </a:r>
          </a:p>
          <a:p>
            <a:r>
              <a:rPr lang="en-CA" smtClean="0"/>
              <a:t>Perspectives are a great feature in that they allow you to store different arrangements of windows depending on what you are doing.  In CCSv5 we include 2 perspectives for you.  The C/C++ perspective has items setup for building and editing.  The debug perspective has the views you need to debug your application.  You can customize these or even create your own!</a:t>
            </a:r>
          </a:p>
        </p:txBody>
      </p:sp>
      <p:sp>
        <p:nvSpPr>
          <p:cNvPr id="45061" name="Slide Number Placeholder 3"/>
          <p:cNvSpPr txBox="1">
            <a:spLocks noGrp="1"/>
          </p:cNvSpPr>
          <p:nvPr/>
        </p:nvSpPr>
        <p:spPr bwMode="auto">
          <a:xfrm>
            <a:off x="4141788" y="9118600"/>
            <a:ext cx="3171825" cy="481013"/>
          </a:xfrm>
          <a:prstGeom prst="rect">
            <a:avLst/>
          </a:prstGeom>
          <a:noFill/>
          <a:ln w="9525">
            <a:noFill/>
            <a:miter lim="800000"/>
            <a:headEnd/>
            <a:tailEnd/>
          </a:ln>
        </p:spPr>
        <p:txBody>
          <a:bodyPr lIns="96370" tIns="48185" rIns="96370" bIns="48185" anchor="b"/>
          <a:lstStyle/>
          <a:p>
            <a:pPr algn="r" defTabSz="963613" eaLnBrk="1" hangingPunct="1">
              <a:lnSpc>
                <a:spcPct val="100000"/>
              </a:lnSpc>
              <a:spcBef>
                <a:spcPct val="0"/>
              </a:spcBef>
            </a:pPr>
            <a:fld id="{ED14F3B2-EB21-4A31-9678-EDBE7F6FC0E5}" type="slidenum">
              <a:rPr lang="en-US" sz="1300" b="0"/>
              <a:pPr algn="r" defTabSz="963613" eaLnBrk="1" hangingPunct="1">
                <a:lnSpc>
                  <a:spcPct val="100000"/>
                </a:lnSpc>
                <a:spcBef>
                  <a:spcPct val="0"/>
                </a:spcBef>
              </a:pPr>
              <a:t>9</a:t>
            </a:fld>
            <a:endParaRPr lang="en-US" sz="1300" b="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5"/>
          <p:cNvSpPr>
            <a:spLocks noGrp="1" noChangeArrowheads="1"/>
          </p:cNvSpPr>
          <p:nvPr>
            <p:ph type="sldNum" sz="quarter" idx="5"/>
          </p:nvPr>
        </p:nvSpPr>
        <p:spPr>
          <a:noFill/>
        </p:spPr>
        <p:txBody>
          <a:bodyPr/>
          <a:lstStyle/>
          <a:p>
            <a:fld id="{5766B49F-3B35-4B73-B0D4-8EEA4DCD1693}" type="slidenum">
              <a:rPr lang="en-US" smtClean="0"/>
              <a:pPr/>
              <a:t>10</a:t>
            </a:fld>
            <a:endParaRPr lang="en-US" smtClean="0"/>
          </a:p>
        </p:txBody>
      </p:sp>
      <p:sp>
        <p:nvSpPr>
          <p:cNvPr id="45059" name="Slide Image Placeholder 1"/>
          <p:cNvSpPr>
            <a:spLocks noGrp="1" noRot="1" noChangeAspect="1" noTextEdit="1"/>
          </p:cNvSpPr>
          <p:nvPr>
            <p:ph type="sldImg"/>
          </p:nvPr>
        </p:nvSpPr>
        <p:spPr>
          <a:xfrm>
            <a:off x="1258888" y="719138"/>
            <a:ext cx="4802187" cy="3602037"/>
          </a:xfrm>
          <a:ln/>
        </p:spPr>
      </p:sp>
      <p:sp>
        <p:nvSpPr>
          <p:cNvPr id="45060" name="Notes Placeholder 2"/>
          <p:cNvSpPr>
            <a:spLocks noGrp="1"/>
          </p:cNvSpPr>
          <p:nvPr>
            <p:ph type="body" idx="1"/>
          </p:nvPr>
        </p:nvSpPr>
        <p:spPr>
          <a:xfrm>
            <a:off x="731838" y="4560888"/>
            <a:ext cx="5853112" cy="4321175"/>
          </a:xfrm>
          <a:noFill/>
          <a:ln/>
        </p:spPr>
        <p:txBody>
          <a:bodyPr lIns="96370" tIns="48185" rIns="96370" bIns="48185"/>
          <a:lstStyle/>
          <a:p>
            <a:r>
              <a:rPr lang="en-CA" smtClean="0"/>
              <a:t>CCSv5 helps greatly with this problem.</a:t>
            </a:r>
          </a:p>
          <a:p>
            <a:r>
              <a:rPr lang="en-CA" smtClean="0"/>
              <a:t>You can customize your menus and toolbars to show just the items you care about.</a:t>
            </a:r>
          </a:p>
          <a:p>
            <a:r>
              <a:rPr lang="en-CA" smtClean="0"/>
              <a:t>Tabbed Editor windows make it easier to switch between files.</a:t>
            </a:r>
          </a:p>
          <a:p>
            <a:r>
              <a:rPr lang="en-CA" smtClean="0"/>
              <a:t>You can tab any view with another to organize your window layout.</a:t>
            </a:r>
          </a:p>
          <a:p>
            <a:r>
              <a:rPr lang="en-CA" smtClean="0"/>
              <a:t>The fast view setting can be applied to a view.  What this does is hides the view down I the bottom status bar but when you click on it, it instantly opens and can be as big as you want.</a:t>
            </a:r>
          </a:p>
          <a:p>
            <a:r>
              <a:rPr lang="en-CA" smtClean="0"/>
              <a:t>Perspectives are a great feature in that they allow you to store different arrangements of windows depending on what you are doing.  In CCSv5 we include 2 perspectives for you.  The C/C++ perspective has items setup for building and editing.  The debug perspective has the views you need to debug your application.  You can customize these or even create your own!</a:t>
            </a:r>
          </a:p>
        </p:txBody>
      </p:sp>
      <p:sp>
        <p:nvSpPr>
          <p:cNvPr id="45061" name="Slide Number Placeholder 3"/>
          <p:cNvSpPr txBox="1">
            <a:spLocks noGrp="1"/>
          </p:cNvSpPr>
          <p:nvPr/>
        </p:nvSpPr>
        <p:spPr bwMode="auto">
          <a:xfrm>
            <a:off x="4141788" y="9118600"/>
            <a:ext cx="3171825" cy="481013"/>
          </a:xfrm>
          <a:prstGeom prst="rect">
            <a:avLst/>
          </a:prstGeom>
          <a:noFill/>
          <a:ln w="9525">
            <a:noFill/>
            <a:miter lim="800000"/>
            <a:headEnd/>
            <a:tailEnd/>
          </a:ln>
        </p:spPr>
        <p:txBody>
          <a:bodyPr lIns="96370" tIns="48185" rIns="96370" bIns="48185" anchor="b"/>
          <a:lstStyle/>
          <a:p>
            <a:pPr algn="r" defTabSz="963613" eaLnBrk="1" hangingPunct="1">
              <a:lnSpc>
                <a:spcPct val="100000"/>
              </a:lnSpc>
              <a:spcBef>
                <a:spcPct val="0"/>
              </a:spcBef>
            </a:pPr>
            <a:fld id="{ED14F3B2-EB21-4A31-9678-EDBE7F6FC0E5}" type="slidenum">
              <a:rPr lang="en-US" sz="1300" b="0"/>
              <a:pPr algn="r" defTabSz="963613" eaLnBrk="1" hangingPunct="1">
                <a:lnSpc>
                  <a:spcPct val="100000"/>
                </a:lnSpc>
                <a:spcBef>
                  <a:spcPct val="0"/>
                </a:spcBef>
              </a:pPr>
              <a:t>10</a:t>
            </a:fld>
            <a:endParaRPr lang="en-US" sz="1300" b="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-ms can be used for the C28x/C6000 to reduce code size. </a:t>
            </a:r>
            <a:endParaRPr lang="en-US"/>
          </a:p>
        </p:txBody>
      </p:sp>
      <p:sp>
        <p:nvSpPr>
          <p:cNvPr id="4" name="Slide Number Placeholder 3"/>
          <p:cNvSpPr>
            <a:spLocks noGrp="1"/>
          </p:cNvSpPr>
          <p:nvPr>
            <p:ph type="sldNum" sz="quarter" idx="10"/>
          </p:nvPr>
        </p:nvSpPr>
        <p:spPr/>
        <p:txBody>
          <a:bodyPr/>
          <a:lstStyle/>
          <a:p>
            <a:pPr>
              <a:defRPr/>
            </a:pPr>
            <a:fld id="{5A761D51-D98D-4346-847F-25AD1FFA198A}" type="slidenum">
              <a:rPr lang="en-US" smtClean="0"/>
              <a:pPr>
                <a:defRPr/>
              </a:pPr>
              <a:t>25</a:t>
            </a:fld>
            <a:endParaRPr lang="en-US"/>
          </a:p>
        </p:txBody>
      </p:sp>
    </p:spTree>
    <p:extLst>
      <p:ext uri="{BB962C8B-B14F-4D97-AF65-F5344CB8AC3E}">
        <p14:creationId xmlns:p14="http://schemas.microsoft.com/office/powerpoint/2010/main" val="40961547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Tiva-C LP uses the XDS100 free licence. MSP430 has 3 options:  free eval, 16KB code limit or GCC (no code limit).</a:t>
            </a:r>
            <a:endParaRPr lang="en-US"/>
          </a:p>
        </p:txBody>
      </p:sp>
      <p:sp>
        <p:nvSpPr>
          <p:cNvPr id="4" name="Slide Number Placeholder 3"/>
          <p:cNvSpPr>
            <a:spLocks noGrp="1"/>
          </p:cNvSpPr>
          <p:nvPr>
            <p:ph type="sldNum" sz="quarter" idx="10"/>
          </p:nvPr>
        </p:nvSpPr>
        <p:spPr/>
        <p:txBody>
          <a:bodyPr/>
          <a:lstStyle/>
          <a:p>
            <a:pPr>
              <a:defRPr/>
            </a:pPr>
            <a:fld id="{5A761D51-D98D-4346-847F-25AD1FFA198A}" type="slidenum">
              <a:rPr lang="en-US" smtClean="0"/>
              <a:pPr>
                <a:defRPr/>
              </a:pPr>
              <a:t>28</a:t>
            </a:fld>
            <a:endParaRPr lang="en-US"/>
          </a:p>
        </p:txBody>
      </p:sp>
    </p:spTree>
    <p:extLst>
      <p:ext uri="{BB962C8B-B14F-4D97-AF65-F5344CB8AC3E}">
        <p14:creationId xmlns:p14="http://schemas.microsoft.com/office/powerpoint/2010/main" val="36301482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5732" tIns="47867" rIns="95732" bIns="47867" anchor="b"/>
          <a:lstStyle/>
          <a:p>
            <a:pPr algn="r" defTabSz="956543" eaLnBrk="1" hangingPunct="1">
              <a:lnSpc>
                <a:spcPct val="100000"/>
              </a:lnSpc>
              <a:spcBef>
                <a:spcPct val="0"/>
              </a:spcBef>
            </a:pPr>
            <a:fld id="{7BCF6CF2-8D9C-4C3B-8DAB-19A6F11FEDDB}" type="slidenum">
              <a:rPr lang="en-US" sz="1300"/>
              <a:pPr algn="r" defTabSz="956543" eaLnBrk="1" hangingPunct="1">
                <a:lnSpc>
                  <a:spcPct val="100000"/>
                </a:lnSpc>
                <a:spcBef>
                  <a:spcPct val="0"/>
                </a:spcBef>
              </a:pPr>
              <a:t>32</a:t>
            </a:fld>
            <a:endParaRPr lang="en-US" sz="1300" dirty="0"/>
          </a:p>
        </p:txBody>
      </p:sp>
      <p:sp>
        <p:nvSpPr>
          <p:cNvPr id="93187" name="Rectangle 7"/>
          <p:cNvSpPr txBox="1">
            <a:spLocks noGrp="1" noChangeArrowheads="1"/>
          </p:cNvSpPr>
          <p:nvPr/>
        </p:nvSpPr>
        <p:spPr bwMode="auto">
          <a:xfrm>
            <a:off x="4143587" y="9119474"/>
            <a:ext cx="3169920" cy="480060"/>
          </a:xfrm>
          <a:prstGeom prst="rect">
            <a:avLst/>
          </a:prstGeom>
          <a:noFill/>
          <a:ln w="9525">
            <a:noFill/>
            <a:miter lim="800000"/>
            <a:headEnd/>
            <a:tailEnd/>
          </a:ln>
        </p:spPr>
        <p:txBody>
          <a:bodyPr lIns="95732" tIns="47867" rIns="95732" bIns="47867" anchor="b"/>
          <a:lstStyle/>
          <a:p>
            <a:pPr algn="r" defTabSz="956543" eaLnBrk="1" hangingPunct="1">
              <a:lnSpc>
                <a:spcPct val="100000"/>
              </a:lnSpc>
              <a:spcBef>
                <a:spcPct val="0"/>
              </a:spcBef>
            </a:pPr>
            <a:fld id="{7012A38C-1A0B-4B31-A1B1-09BB89AA0EC4}" type="slidenum">
              <a:rPr lang="en-US" sz="1300"/>
              <a:pPr algn="r" defTabSz="956543" eaLnBrk="1" hangingPunct="1">
                <a:lnSpc>
                  <a:spcPct val="100000"/>
                </a:lnSpc>
                <a:spcBef>
                  <a:spcPct val="0"/>
                </a:spcBef>
              </a:pPr>
              <a:t>32</a:t>
            </a:fld>
            <a:endParaRPr lang="en-US" sz="1300" dirty="0"/>
          </a:p>
        </p:txBody>
      </p:sp>
      <p:sp>
        <p:nvSpPr>
          <p:cNvPr id="93188" name="Rectangle 7"/>
          <p:cNvSpPr txBox="1">
            <a:spLocks noGrp="1" noChangeArrowheads="1"/>
          </p:cNvSpPr>
          <p:nvPr/>
        </p:nvSpPr>
        <p:spPr bwMode="auto">
          <a:xfrm>
            <a:off x="4143588" y="9121140"/>
            <a:ext cx="3171613" cy="480060"/>
          </a:xfrm>
          <a:prstGeom prst="rect">
            <a:avLst/>
          </a:prstGeom>
          <a:noFill/>
          <a:ln w="12700">
            <a:noFill/>
            <a:miter lim="800000"/>
            <a:headEnd type="none" w="sm" len="sm"/>
            <a:tailEnd type="none" w="sm" len="sm"/>
          </a:ln>
        </p:spPr>
        <p:txBody>
          <a:bodyPr wrap="none" lIns="96625" tIns="48314" rIns="96625" bIns="48314" anchor="b"/>
          <a:lstStyle/>
          <a:p>
            <a:pPr algn="r" defTabSz="963256" eaLnBrk="1" hangingPunct="1">
              <a:lnSpc>
                <a:spcPct val="100000"/>
              </a:lnSpc>
              <a:spcBef>
                <a:spcPct val="0"/>
              </a:spcBef>
            </a:pPr>
            <a:fld id="{3AEC989E-4B81-4519-91A9-28D840B19657}" type="slidenum">
              <a:rPr lang="en-US" altLang="en-US" sz="1200">
                <a:latin typeface="Times" pitchFamily="18" charset="0"/>
              </a:rPr>
              <a:pPr algn="r" defTabSz="963256" eaLnBrk="1" hangingPunct="1">
                <a:lnSpc>
                  <a:spcPct val="100000"/>
                </a:lnSpc>
                <a:spcBef>
                  <a:spcPct val="0"/>
                </a:spcBef>
              </a:pPr>
              <a:t>32</a:t>
            </a:fld>
            <a:endParaRPr lang="en-US" altLang="en-US" sz="1200" dirty="0">
              <a:latin typeface="Times" pitchFamily="18" charset="0"/>
            </a:endParaRPr>
          </a:p>
        </p:txBody>
      </p:sp>
      <p:sp>
        <p:nvSpPr>
          <p:cNvPr id="93189" name="Rectangle 2"/>
          <p:cNvSpPr>
            <a:spLocks noGrp="1" noRot="1" noChangeAspect="1" noChangeArrowheads="1" noTextEdit="1"/>
          </p:cNvSpPr>
          <p:nvPr>
            <p:ph type="sldImg"/>
          </p:nvPr>
        </p:nvSpPr>
        <p:spPr>
          <a:xfrm>
            <a:off x="1260475" y="722313"/>
            <a:ext cx="4795838" cy="3597275"/>
          </a:xfrm>
          <a:ln cap="flat"/>
        </p:spPr>
      </p:sp>
      <p:sp>
        <p:nvSpPr>
          <p:cNvPr id="93190" name="Rectangle 3"/>
          <p:cNvSpPr>
            <a:spLocks noGrp="1" noChangeArrowheads="1"/>
          </p:cNvSpPr>
          <p:nvPr>
            <p:ph type="body" idx="1"/>
          </p:nvPr>
        </p:nvSpPr>
        <p:spPr>
          <a:noFill/>
          <a:ln/>
        </p:spPr>
        <p:txBody>
          <a:bodyPr lIns="96821" tIns="47617" rIns="96821" bIns="47617"/>
          <a:lstStyle/>
          <a:p>
            <a:r>
              <a:rPr lang="en-US" sz="1200" kern="1200" dirty="0" smtClean="0">
                <a:solidFill>
                  <a:schemeClr val="tx1"/>
                </a:solidFill>
                <a:effectLst/>
                <a:latin typeface="Arial" charset="0"/>
                <a:ea typeface="+mn-ea"/>
                <a:cs typeface="+mn-cs"/>
              </a:rPr>
              <a:t>Stellaris microcontrollers are supported by four different integrated development environments: Mentor graphics Mentor-Embedded tools, IAR systems Embedded Workbench tools, the ARM </a:t>
            </a:r>
            <a:r>
              <a:rPr lang="en-US" sz="1200" kern="1200" dirty="0" err="1" smtClean="0">
                <a:solidFill>
                  <a:schemeClr val="tx1"/>
                </a:solidFill>
                <a:effectLst/>
                <a:latin typeface="Arial" charset="0"/>
                <a:ea typeface="+mn-ea"/>
                <a:cs typeface="+mn-cs"/>
              </a:rPr>
              <a:t>Keil</a:t>
            </a:r>
            <a:r>
              <a:rPr lang="en-US" sz="1200" kern="1200" dirty="0" smtClean="0">
                <a:solidFill>
                  <a:schemeClr val="tx1"/>
                </a:solidFill>
                <a:effectLst/>
                <a:latin typeface="Arial" charset="0"/>
                <a:ea typeface="+mn-ea"/>
                <a:cs typeface="+mn-cs"/>
              </a:rPr>
              <a:t> </a:t>
            </a:r>
            <a:r>
              <a:rPr lang="en-US" sz="1200" kern="1200" dirty="0" err="1" smtClean="0">
                <a:solidFill>
                  <a:schemeClr val="tx1"/>
                </a:solidFill>
                <a:effectLst/>
                <a:latin typeface="Arial" charset="0"/>
                <a:ea typeface="+mn-ea"/>
                <a:cs typeface="+mn-cs"/>
              </a:rPr>
              <a:t>Microvision</a:t>
            </a:r>
            <a:r>
              <a:rPr lang="en-US" sz="1200" kern="1200" dirty="0" smtClean="0">
                <a:solidFill>
                  <a:schemeClr val="tx1"/>
                </a:solidFill>
                <a:effectLst/>
                <a:latin typeface="Arial" charset="0"/>
                <a:ea typeface="+mn-ea"/>
                <a:cs typeface="+mn-cs"/>
              </a:rPr>
              <a:t> tool, and Texas Instruments Code Composer Studio tool.  You can see the </a:t>
            </a:r>
            <a:r>
              <a:rPr lang="en-US" sz="1200" kern="1200" dirty="0" err="1" smtClean="0">
                <a:solidFill>
                  <a:schemeClr val="tx1"/>
                </a:solidFill>
                <a:effectLst/>
                <a:latin typeface="Arial" charset="0"/>
                <a:ea typeface="+mn-ea"/>
                <a:cs typeface="+mn-cs"/>
              </a:rPr>
              <a:t>eval</a:t>
            </a:r>
            <a:r>
              <a:rPr lang="en-US" sz="1200" kern="1200" dirty="0" smtClean="0">
                <a:solidFill>
                  <a:schemeClr val="tx1"/>
                </a:solidFill>
                <a:effectLst/>
                <a:latin typeface="Arial" charset="0"/>
                <a:ea typeface="+mn-ea"/>
                <a:cs typeface="+mn-cs"/>
              </a:rPr>
              <a:t> kit licenses there.  Some of them offer 30-day full function.  Some of them are code-size limited.  </a:t>
            </a:r>
          </a:p>
          <a:p>
            <a:r>
              <a:rPr lang="en-US" sz="1200" kern="1200" dirty="0" smtClean="0">
                <a:solidFill>
                  <a:schemeClr val="tx1"/>
                </a:solidFill>
                <a:effectLst/>
                <a:latin typeface="Arial" charset="0"/>
                <a:ea typeface="+mn-ea"/>
                <a:cs typeface="+mn-cs"/>
              </a:rPr>
              <a:t>The Code Composer Studio version is full function, but it's onboard emulation limited.  If you use and connect the LaunchPad board to your computer, you have full function capability of Code Composer Studio.  Only if you go off to use a target board do you need to actually buy the tool.</a:t>
            </a:r>
          </a:p>
          <a:p>
            <a:r>
              <a:rPr lang="en-US" sz="1200" kern="1200" dirty="0" smtClean="0">
                <a:solidFill>
                  <a:schemeClr val="tx1"/>
                </a:solidFill>
                <a:effectLst/>
                <a:latin typeface="Arial" charset="0"/>
                <a:ea typeface="+mn-ea"/>
                <a:cs typeface="+mn-cs"/>
              </a:rPr>
              <a:t>For the compilers, you can see that some companies use the GNU tool.  Some of them use their own tool.  TI has their own C C-plus-plus compiler, although C-plus-plus is not supported on embedded microcontrollers because of the large sizes that it can generate.</a:t>
            </a:r>
          </a:p>
          <a:p>
            <a:r>
              <a:rPr lang="en-US" sz="1200" kern="1200" dirty="0" smtClean="0">
                <a:solidFill>
                  <a:schemeClr val="tx1"/>
                </a:solidFill>
                <a:effectLst/>
                <a:latin typeface="Arial" charset="0"/>
                <a:ea typeface="+mn-ea"/>
                <a:cs typeface="+mn-cs"/>
              </a:rPr>
              <a:t>For the debugger IDE, two of the tools offer Eclipse base support.  Eclipse is the open source workbench tool that's been out there for quite some time.  Full upgrade on these devices or rather on these tools for the mentor-embedded tool.  99 bucks for the personal addition, 2,800 if you want full support.  For the IAR systems tool, about 2,700 dollars.  For ARM </a:t>
            </a:r>
            <a:r>
              <a:rPr lang="en-US" sz="1200" kern="1200" dirty="0" err="1" smtClean="0">
                <a:solidFill>
                  <a:schemeClr val="tx1"/>
                </a:solidFill>
                <a:effectLst/>
                <a:latin typeface="Arial" charset="0"/>
                <a:ea typeface="+mn-ea"/>
                <a:cs typeface="+mn-cs"/>
              </a:rPr>
              <a:t>Keil</a:t>
            </a:r>
            <a:r>
              <a:rPr lang="en-US" sz="1200" kern="1200" dirty="0" smtClean="0">
                <a:solidFill>
                  <a:schemeClr val="tx1"/>
                </a:solidFill>
                <a:effectLst/>
                <a:latin typeface="Arial" charset="0"/>
                <a:ea typeface="+mn-ea"/>
                <a:cs typeface="+mn-cs"/>
              </a:rPr>
              <a:t>, about 2,900 dollars.  </a:t>
            </a:r>
          </a:p>
          <a:p>
            <a:r>
              <a:rPr lang="en-US" sz="1200" kern="1200" dirty="0" smtClean="0">
                <a:solidFill>
                  <a:schemeClr val="tx1"/>
                </a:solidFill>
                <a:effectLst/>
                <a:latin typeface="Arial" charset="0"/>
                <a:ea typeface="+mn-ea"/>
                <a:cs typeface="+mn-cs"/>
              </a:rPr>
              <a:t>Code Composer Studio, the pricing is 445 dollars for the downloadable version.  If you want the CD, it's 495 dollars.  Most of the companies offer JTAG debuggers, and there are also third-party debuggers out there.  IAR systems offer a J-link for about 300 bucks.  ARM </a:t>
            </a:r>
            <a:r>
              <a:rPr lang="en-US" sz="1200" kern="1200" dirty="0" err="1" smtClean="0">
                <a:solidFill>
                  <a:schemeClr val="tx1"/>
                </a:solidFill>
                <a:effectLst/>
                <a:latin typeface="Arial" charset="0"/>
                <a:ea typeface="+mn-ea"/>
                <a:cs typeface="+mn-cs"/>
              </a:rPr>
              <a:t>Keil</a:t>
            </a:r>
            <a:r>
              <a:rPr lang="en-US" sz="1200" kern="1200" dirty="0" smtClean="0">
                <a:solidFill>
                  <a:schemeClr val="tx1"/>
                </a:solidFill>
                <a:effectLst/>
                <a:latin typeface="Arial" charset="0"/>
                <a:ea typeface="+mn-ea"/>
                <a:cs typeface="+mn-cs"/>
              </a:rPr>
              <a:t> for about 200 bucks.  And Texas Instruments has the XDS100, an entry level tool, for about 80 bucks.  We also offer the 200 and the 500 versions ... they have additional capabilities at an additional cost.</a:t>
            </a:r>
            <a:endParaRPr lang="en-US" sz="1200" kern="1200" dirty="0">
              <a:solidFill>
                <a:schemeClr val="tx1"/>
              </a:solidFill>
              <a:effectLst/>
              <a:latin typeface="Arial" charset="0"/>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5"/>
          <p:cNvSpPr>
            <a:spLocks noGrp="1" noChangeArrowheads="1"/>
          </p:cNvSpPr>
          <p:nvPr>
            <p:ph type="sldNum" sz="quarter" idx="5"/>
          </p:nvPr>
        </p:nvSpPr>
        <p:spPr>
          <a:noFill/>
        </p:spPr>
        <p:txBody>
          <a:bodyPr/>
          <a:lstStyle/>
          <a:p>
            <a:fld id="{A6CF76D9-8C4F-404E-B421-838159FF4993}" type="slidenum">
              <a:rPr lang="en-US" smtClean="0">
                <a:solidFill>
                  <a:prstClr val="black"/>
                </a:solidFill>
              </a:rPr>
              <a:pPr/>
              <a:t>36</a:t>
            </a:fld>
            <a:endParaRPr lang="en-US" smtClean="0">
              <a:solidFill>
                <a:prstClr val="black"/>
              </a:solidFill>
            </a:endParaRPr>
          </a:p>
        </p:txBody>
      </p:sp>
      <p:sp>
        <p:nvSpPr>
          <p:cNvPr id="40963" name="Rectangle 2"/>
          <p:cNvSpPr>
            <a:spLocks noGrp="1" noRot="1" noChangeAspect="1" noChangeArrowheads="1" noTextEdit="1"/>
          </p:cNvSpPr>
          <p:nvPr>
            <p:ph type="sldImg"/>
          </p:nvPr>
        </p:nvSpPr>
        <p:spPr>
          <a:ln cap="flat"/>
        </p:spPr>
      </p:sp>
      <p:sp>
        <p:nvSpPr>
          <p:cNvPr id="4096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If you import “macros.ini”, this will apply the variables to the active project only</a:t>
            </a:r>
            <a:endParaRPr lang="en-US"/>
          </a:p>
        </p:txBody>
      </p:sp>
      <p:sp>
        <p:nvSpPr>
          <p:cNvPr id="4" name="Slide Number Placeholder 3"/>
          <p:cNvSpPr>
            <a:spLocks noGrp="1"/>
          </p:cNvSpPr>
          <p:nvPr>
            <p:ph type="sldNum" sz="quarter" idx="10"/>
          </p:nvPr>
        </p:nvSpPr>
        <p:spPr/>
        <p:txBody>
          <a:bodyPr/>
          <a:lstStyle/>
          <a:p>
            <a:pPr>
              <a:defRPr/>
            </a:pPr>
            <a:fld id="{5A761D51-D98D-4346-847F-25AD1FFA198A}" type="slidenum">
              <a:rPr lang="en-US" smtClean="0"/>
              <a:pPr>
                <a:defRPr/>
              </a:pPr>
              <a:t>45</a:t>
            </a:fld>
            <a:endParaRPr lang="en-US"/>
          </a:p>
        </p:txBody>
      </p:sp>
    </p:spTree>
    <p:extLst>
      <p:ext uri="{BB962C8B-B14F-4D97-AF65-F5344CB8AC3E}">
        <p14:creationId xmlns:p14="http://schemas.microsoft.com/office/powerpoint/2010/main" val="3761869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eaLnBrk="1" fontAlgn="auto" hangingPunct="1">
              <a:lnSpc>
                <a:spcPct val="100000"/>
              </a:lnSpc>
              <a:spcBef>
                <a:spcPts val="0"/>
              </a:spcBef>
              <a:spcAft>
                <a:spcPts val="0"/>
              </a:spcAft>
              <a:defRPr/>
            </a:pPr>
            <a:endParaRPr lang="en-US" b="0"/>
          </a:p>
        </p:txBody>
      </p:sp>
      <p:sp>
        <p:nvSpPr>
          <p:cNvPr id="4" name="Footer Placeholder 3"/>
          <p:cNvSpPr>
            <a:spLocks noGrp="1"/>
          </p:cNvSpPr>
          <p:nvPr>
            <p:ph type="ftr" sz="quarter" idx="11"/>
          </p:nvPr>
        </p:nvSpPr>
        <p:spPr/>
        <p:txBody>
          <a:bodyPr/>
          <a:lstStyle/>
          <a:p>
            <a:pPr eaLnBrk="1" fontAlgn="auto" hangingPunct="1">
              <a:lnSpc>
                <a:spcPct val="100000"/>
              </a:lnSpc>
              <a:spcBef>
                <a:spcPts val="0"/>
              </a:spcBef>
              <a:spcAft>
                <a:spcPts val="0"/>
              </a:spcAft>
              <a:defRPr/>
            </a:pPr>
            <a:endParaRPr lang="en-US" b="0"/>
          </a:p>
        </p:txBody>
      </p:sp>
      <p:sp>
        <p:nvSpPr>
          <p:cNvPr id="5" name="Slide Number Placeholder 4"/>
          <p:cNvSpPr>
            <a:spLocks noGrp="1"/>
          </p:cNvSpPr>
          <p:nvPr>
            <p:ph type="sldNum" sz="quarter" idx="12"/>
          </p:nvPr>
        </p:nvSpPr>
        <p:spPr/>
        <p:txBody>
          <a:bodyPr/>
          <a:lstStyle/>
          <a:p>
            <a:pPr eaLnBrk="1" fontAlgn="auto" hangingPunct="1">
              <a:lnSpc>
                <a:spcPct val="100000"/>
              </a:lnSpc>
              <a:spcBef>
                <a:spcPts val="0"/>
              </a:spcBef>
              <a:spcAft>
                <a:spcPts val="0"/>
              </a:spcAft>
              <a:defRPr/>
            </a:pPr>
            <a:fld id="{F28BFE1F-9FAC-4206-B2CB-6E0CCCD06CC1}" type="slidenum">
              <a:rPr lang="en-US" b="0" smtClean="0"/>
              <a:pPr eaLnBrk="1" fontAlgn="auto" hangingPunct="1">
                <a:lnSpc>
                  <a:spcPct val="100000"/>
                </a:lnSpc>
                <a:spcBef>
                  <a:spcPts val="0"/>
                </a:spcBef>
                <a:spcAft>
                  <a:spcPts val="0"/>
                </a:spcAft>
                <a:defRPr/>
              </a:pPr>
              <a:t>‹#›</a:t>
            </a:fld>
            <a:endParaRPr lang="en-US" b="0"/>
          </a:p>
        </p:txBody>
      </p:sp>
    </p:spTree>
    <p:extLst>
      <p:ext uri="{BB962C8B-B14F-4D97-AF65-F5344CB8AC3E}">
        <p14:creationId xmlns:p14="http://schemas.microsoft.com/office/powerpoint/2010/main" val="2389075923"/>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noFill/>
        </p:spPr>
        <p:txBody>
          <a:bodyPr/>
          <a:lstStyle>
            <a:lvl1pPr algn="l">
              <a:defRPr>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3810000"/>
            <a:ext cx="7772400" cy="1752600"/>
          </a:xfrm>
        </p:spPr>
        <p:txBody>
          <a:bodyPr>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049F36C-BB37-4361-AD7E-05206BB50CFE}" type="datetimeFigureOut">
              <a:rPr lang="en-US" smtClean="0"/>
              <a:t>6/9/2014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27ED86-F7CD-4E74-A97C-6D3BAEB1029D}" type="slidenum">
              <a:rPr lang="en-US" smtClean="0"/>
              <a:t>‹#›</a:t>
            </a:fld>
            <a:endParaRPr lang="en-US"/>
          </a:p>
        </p:txBody>
      </p:sp>
      <p:pic>
        <p:nvPicPr>
          <p:cNvPr id="8" name="Picture 7" descr="ti_pptbar_white.png"/>
          <p:cNvPicPr>
            <a:picLocks noChangeAspect="1"/>
          </p:cNvPicPr>
          <p:nvPr/>
        </p:nvPicPr>
        <p:blipFill>
          <a:blip r:embed="rId2" cstate="print"/>
          <a:stretch>
            <a:fillRect/>
          </a:stretch>
        </p:blipFill>
        <p:spPr>
          <a:xfrm>
            <a:off x="326486" y="6324600"/>
            <a:ext cx="8491027" cy="481544"/>
          </a:xfrm>
          <a:prstGeom prst="rect">
            <a:avLst/>
          </a:prstGeom>
        </p:spPr>
      </p:pic>
      <p:grpSp>
        <p:nvGrpSpPr>
          <p:cNvPr id="10" name="Group 16"/>
          <p:cNvGrpSpPr>
            <a:grpSpLocks/>
          </p:cNvGrpSpPr>
          <p:nvPr/>
        </p:nvGrpSpPr>
        <p:grpSpPr bwMode="auto">
          <a:xfrm>
            <a:off x="-7938" y="6323013"/>
            <a:ext cx="8815388" cy="466725"/>
            <a:chOff x="-7620" y="6323077"/>
            <a:chExt cx="8814816" cy="466344"/>
          </a:xfrm>
        </p:grpSpPr>
        <p:cxnSp>
          <p:nvCxnSpPr>
            <p:cNvPr id="11" name="Straight Connector 10"/>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2" name="Straight Connector 11"/>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4" name="Picture 8"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4" name="Picture 6" descr="selected_powerpoint_bg_2.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324600"/>
            <a:ext cx="880427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6" name="Group 18"/>
          <p:cNvGrpSpPr>
            <a:grpSpLocks/>
          </p:cNvGrpSpPr>
          <p:nvPr/>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5"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42900" y="1943100"/>
            <a:ext cx="8458200" cy="1470025"/>
          </a:xfrm>
        </p:spPr>
        <p:txBody>
          <a:bodyPr>
            <a:normAutofit/>
          </a:bodyPr>
          <a:lstStyle>
            <a:lvl1pPr algn="l">
              <a:defRPr sz="3600">
                <a:solidFill>
                  <a:schemeClr val="tx2"/>
                </a:solidFill>
              </a:defRPr>
            </a:lvl1pPr>
          </a:lstStyle>
          <a:p>
            <a:r>
              <a:rPr lang="en-US" smtClean="0"/>
              <a:t>Click to edit Master title style</a:t>
            </a:r>
            <a:endParaRPr lang="en-US" dirty="0"/>
          </a:p>
        </p:txBody>
      </p:sp>
      <p:sp>
        <p:nvSpPr>
          <p:cNvPr id="3075" name="Rectangle 3"/>
          <p:cNvSpPr>
            <a:spLocks noGrp="1" noChangeArrowheads="1"/>
          </p:cNvSpPr>
          <p:nvPr>
            <p:ph type="subTitle" idx="1"/>
          </p:nvPr>
        </p:nvSpPr>
        <p:spPr>
          <a:xfrm>
            <a:off x="342900" y="3698875"/>
            <a:ext cx="8458200" cy="1485900"/>
          </a:xfrm>
          <a:ln/>
        </p:spPr>
        <p:txBody>
          <a:bodyPr>
            <a:normAutofit/>
          </a:bodyPr>
          <a:lstStyle>
            <a:lvl1pPr marL="0" indent="0">
              <a:buFontTx/>
              <a:buNone/>
              <a:defRPr sz="2800" b="1"/>
            </a:lvl1pPr>
          </a:lstStyle>
          <a:p>
            <a:r>
              <a:rPr lang="en-US" smtClean="0"/>
              <a:t>Click to edit Master subtitle style</a:t>
            </a:r>
            <a:endParaRPr lang="en-US" dirty="0"/>
          </a:p>
        </p:txBody>
      </p:sp>
    </p:spTree>
    <p:extLst>
      <p:ext uri="{BB962C8B-B14F-4D97-AF65-F5344CB8AC3E}">
        <p14:creationId xmlns:p14="http://schemas.microsoft.com/office/powerpoint/2010/main" val="1876726418"/>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4" name="Picture 6" descr="selected_powerpoint_bg_1.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324600"/>
            <a:ext cx="8804275"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6" name="Group 13"/>
          <p:cNvGrpSpPr>
            <a:grpSpLocks/>
          </p:cNvGrpSpPr>
          <p:nvPr/>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5"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42900" y="1943100"/>
            <a:ext cx="8458200" cy="1470025"/>
          </a:xfrm>
        </p:spPr>
        <p:txBody>
          <a:bodyPr>
            <a:normAutofit/>
          </a:bodyPr>
          <a:lstStyle>
            <a:lvl1pPr algn="l">
              <a:defRPr sz="3600">
                <a:solidFill>
                  <a:schemeClr val="tx2"/>
                </a:solidFill>
              </a:defRPr>
            </a:lvl1pPr>
          </a:lstStyle>
          <a:p>
            <a:r>
              <a:rPr lang="en-US" smtClean="0"/>
              <a:t>Click to edit Master title style</a:t>
            </a:r>
            <a:endParaRPr lang="en-US" dirty="0"/>
          </a:p>
        </p:txBody>
      </p:sp>
      <p:sp>
        <p:nvSpPr>
          <p:cNvPr id="3075" name="Rectangle 3"/>
          <p:cNvSpPr>
            <a:spLocks noGrp="1" noChangeArrowheads="1"/>
          </p:cNvSpPr>
          <p:nvPr>
            <p:ph type="subTitle" idx="1"/>
          </p:nvPr>
        </p:nvSpPr>
        <p:spPr>
          <a:xfrm>
            <a:off x="342900" y="3698875"/>
            <a:ext cx="8458200" cy="1485900"/>
          </a:xfrm>
          <a:ln/>
        </p:spPr>
        <p:txBody>
          <a:bodyPr>
            <a:normAutofit/>
          </a:bodyPr>
          <a:lstStyle>
            <a:lvl1pPr marL="0" indent="0">
              <a:buFontTx/>
              <a:buNone/>
              <a:defRPr sz="2800" b="1"/>
            </a:lvl1pPr>
          </a:lstStyle>
          <a:p>
            <a:r>
              <a:rPr lang="en-US" smtClean="0"/>
              <a:t>Click to edit Master subtitle style</a:t>
            </a:r>
            <a:endParaRPr lang="en-US" dirty="0"/>
          </a:p>
        </p:txBody>
      </p:sp>
      <p:sp>
        <p:nvSpPr>
          <p:cNvPr id="11" name="Rectangle 24"/>
          <p:cNvSpPr>
            <a:spLocks noGrp="1" noChangeArrowheads="1"/>
          </p:cNvSpPr>
          <p:nvPr>
            <p:ph type="sldNum" sz="quarter" idx="10"/>
          </p:nvPr>
        </p:nvSpPr>
        <p:spPr>
          <a:xfrm>
            <a:off x="6642100" y="6038850"/>
            <a:ext cx="2133600" cy="206375"/>
          </a:xfrm>
        </p:spPr>
        <p:txBody>
          <a:bodyPr/>
          <a:lstStyle>
            <a:lvl1pPr>
              <a:defRPr/>
            </a:lvl1pPr>
          </a:lstStyle>
          <a:p>
            <a:fld id="{E427ED86-F7CD-4E74-A97C-6D3BAEB1029D}" type="slidenum">
              <a:rPr lang="en-US" smtClean="0"/>
              <a:t>‹#›</a:t>
            </a:fld>
            <a:endParaRPr lang="en-US"/>
          </a:p>
        </p:txBody>
      </p:sp>
    </p:spTree>
    <p:extLst>
      <p:ext uri="{BB962C8B-B14F-4D97-AF65-F5344CB8AC3E}">
        <p14:creationId xmlns:p14="http://schemas.microsoft.com/office/powerpoint/2010/main" val="939942559"/>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3_Title Slide">
    <p:spTree>
      <p:nvGrpSpPr>
        <p:cNvPr id="1" name=""/>
        <p:cNvGrpSpPr/>
        <p:nvPr/>
      </p:nvGrpSpPr>
      <p:grpSpPr>
        <a:xfrm>
          <a:off x="0" y="0"/>
          <a:ext cx="0" cy="0"/>
          <a:chOff x="0" y="0"/>
          <a:chExt cx="0" cy="0"/>
        </a:xfrm>
      </p:grpSpPr>
      <p:pic>
        <p:nvPicPr>
          <p:cNvPr id="4" name="Picture 6" descr="selected_powerpoint_bg_1_grey.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6324600"/>
            <a:ext cx="878205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6" name="Group 13"/>
          <p:cNvGrpSpPr>
            <a:grpSpLocks/>
          </p:cNvGrpSpPr>
          <p:nvPr/>
        </p:nvGrpSpPr>
        <p:grpSpPr bwMode="auto">
          <a:xfrm>
            <a:off x="-7938" y="6323013"/>
            <a:ext cx="8815388" cy="466725"/>
            <a:chOff x="-7620" y="6323077"/>
            <a:chExt cx="8814816" cy="466344"/>
          </a:xfrm>
        </p:grpSpPr>
        <p:cxnSp>
          <p:nvCxnSpPr>
            <p:cNvPr id="7" name="Straight Connector 6"/>
            <p:cNvCxnSpPr/>
            <p:nvPr userDrawn="1"/>
          </p:nvCxnSpPr>
          <p:spPr>
            <a:xfrm>
              <a:off x="-7620" y="6789421"/>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8" name="Straight Connector 7"/>
            <p:cNvCxnSpPr/>
            <p:nvPr userDrawn="1"/>
          </p:nvCxnSpPr>
          <p:spPr>
            <a:xfrm>
              <a:off x="-7620" y="6324663"/>
              <a:ext cx="8814816"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9" name="Straight Connector 8"/>
            <p:cNvCxnSpPr/>
            <p:nvPr userDrawn="1"/>
          </p:nvCxnSpPr>
          <p:spPr>
            <a:xfrm rot="16200000">
              <a:off x="8570849" y="6556249"/>
              <a:ext cx="466344" cy="0"/>
            </a:xfrm>
            <a:prstGeom prst="line">
              <a:avLst/>
            </a:prstGeom>
          </p:spPr>
          <p:style>
            <a:lnRef idx="1">
              <a:schemeClr val="accent2"/>
            </a:lnRef>
            <a:fillRef idx="0">
              <a:schemeClr val="accent2"/>
            </a:fillRef>
            <a:effectRef idx="0">
              <a:schemeClr val="accent2"/>
            </a:effectRef>
            <a:fontRef idx="minor">
              <a:schemeClr val="tx1"/>
            </a:fontRef>
          </p:style>
        </p:cxnSp>
      </p:grpSp>
      <p:pic>
        <p:nvPicPr>
          <p:cNvPr id="10" name="Picture 25" descr="ti_logo_powerpoint_1_line.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5438" y="6440488"/>
            <a:ext cx="1874837"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342900" y="1943100"/>
            <a:ext cx="8458200" cy="1470025"/>
          </a:xfrm>
        </p:spPr>
        <p:txBody>
          <a:bodyPr>
            <a:normAutofit/>
          </a:bodyPr>
          <a:lstStyle>
            <a:lvl1pPr algn="l">
              <a:defRPr sz="3600">
                <a:solidFill>
                  <a:schemeClr val="tx2"/>
                </a:solidFill>
              </a:defRPr>
            </a:lvl1pPr>
          </a:lstStyle>
          <a:p>
            <a:r>
              <a:rPr lang="en-US" smtClean="0"/>
              <a:t>Click to edit Master title style</a:t>
            </a:r>
            <a:endParaRPr lang="en-US" dirty="0"/>
          </a:p>
        </p:txBody>
      </p:sp>
      <p:sp>
        <p:nvSpPr>
          <p:cNvPr id="3075" name="Rectangle 3"/>
          <p:cNvSpPr>
            <a:spLocks noGrp="1" noChangeArrowheads="1"/>
          </p:cNvSpPr>
          <p:nvPr>
            <p:ph type="subTitle" idx="1"/>
          </p:nvPr>
        </p:nvSpPr>
        <p:spPr>
          <a:xfrm>
            <a:off x="342900" y="3698875"/>
            <a:ext cx="8458200" cy="1485900"/>
          </a:xfrm>
          <a:ln/>
        </p:spPr>
        <p:txBody>
          <a:bodyPr>
            <a:normAutofit/>
          </a:bodyPr>
          <a:lstStyle>
            <a:lvl1pPr marL="0" indent="0">
              <a:buFontTx/>
              <a:buNone/>
              <a:defRPr sz="2800" b="1"/>
            </a:lvl1pPr>
          </a:lstStyle>
          <a:p>
            <a:r>
              <a:rPr lang="en-US" smtClean="0"/>
              <a:t>Click to edit Master subtitle style</a:t>
            </a:r>
            <a:endParaRPr lang="en-US" dirty="0"/>
          </a:p>
        </p:txBody>
      </p:sp>
    </p:spTree>
    <p:extLst>
      <p:ext uri="{BB962C8B-B14F-4D97-AF65-F5344CB8AC3E}">
        <p14:creationId xmlns:p14="http://schemas.microsoft.com/office/powerpoint/2010/main" val="1969527067"/>
      </p:ext>
    </p:extLst>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049F36C-BB37-4361-AD7E-05206BB50CFE}" type="datetimeFigureOut">
              <a:rPr lang="en-US" smtClean="0"/>
              <a:t>6/9/2014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27ED86-F7CD-4E74-A97C-6D3BAEB1029D}" type="slidenum">
              <a:rPr lang="en-US" smtClean="0"/>
              <a:t>‹#›</a:t>
            </a:fld>
            <a:endParaRPr lang="en-US"/>
          </a:p>
        </p:txBody>
      </p:sp>
    </p:spTree>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049F36C-BB37-4361-AD7E-05206BB50CFE}" type="datetimeFigureOut">
              <a:rPr lang="en-US" smtClean="0"/>
              <a:t>6/9/2014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27ED86-F7CD-4E74-A97C-6D3BAEB1029D}" type="slidenum">
              <a:rPr lang="en-US" smtClean="0"/>
              <a:t>‹#›</a:t>
            </a:fld>
            <a:endParaRPr lang="en-US"/>
          </a:p>
        </p:txBody>
      </p:sp>
    </p:spTree>
  </p:cSld>
  <p:clrMapOvr>
    <a:masterClrMapping/>
  </p:clrMapOvr>
  <p:transition>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049F36C-BB37-4361-AD7E-05206BB50CFE}" type="datetimeFigureOut">
              <a:rPr lang="en-US" smtClean="0"/>
              <a:t>6/9/2014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27ED86-F7CD-4E74-A97C-6D3BAEB1029D}" type="slidenum">
              <a:rPr lang="en-US" smtClean="0"/>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049F36C-BB37-4361-AD7E-05206BB50CFE}" type="datetimeFigureOut">
              <a:rPr lang="en-US" smtClean="0"/>
              <a:t>6/9/2014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27ED86-F7CD-4E74-A97C-6D3BAEB1029D}" type="slidenum">
              <a:rPr lang="en-US" smtClean="0"/>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49F36C-BB37-4361-AD7E-05206BB50CFE}" type="datetimeFigureOut">
              <a:rPr lang="en-US" smtClean="0"/>
              <a:t>6/9/2014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27ED86-F7CD-4E74-A97C-6D3BAEB1029D}" type="slidenum">
              <a:rPr lang="en-US" smtClean="0"/>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049F36C-BB37-4361-AD7E-05206BB50CFE}" type="datetimeFigureOut">
              <a:rPr lang="en-US" smtClean="0"/>
              <a:t>6/9/2014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27ED86-F7CD-4E74-A97C-6D3BAEB1029D}" type="slidenum">
              <a:rPr lang="en-US" smtClean="0"/>
              <a:t>‹#›</a:t>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049F36C-BB37-4361-AD7E-05206BB50CFE}" type="datetimeFigureOut">
              <a:rPr lang="en-US" smtClean="0"/>
              <a:t>6/9/2014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27ED86-F7CD-4E74-A97C-6D3BAEB1029D}" type="slidenum">
              <a:rPr lang="en-US" smtClean="0"/>
              <a:t>‹#›</a:t>
            </a:fld>
            <a:endParaRPr lang="en-US"/>
          </a:p>
        </p:txBody>
      </p:sp>
    </p:spTree>
  </p:cSld>
  <p:clrMapOvr>
    <a:masterClrMapping/>
  </p:clrMapOvr>
  <p:transition>
    <p:fad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noFill/>
        </p:spPr>
        <p:txBody>
          <a:bodyPr/>
          <a:lstStyle>
            <a:lvl1pPr algn="l">
              <a:defRPr>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3810000"/>
            <a:ext cx="7772400" cy="1752600"/>
          </a:xfrm>
        </p:spPr>
        <p:txBody>
          <a:bodyPr>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EF89BD6-E300-4C67-B175-76E5828D27B4}" type="datetimeFigureOut">
              <a:rPr lang="en-US" smtClean="0">
                <a:solidFill>
                  <a:srgbClr val="000000">
                    <a:tint val="75000"/>
                  </a:srgbClr>
                </a:solidFill>
              </a:rPr>
              <a:pPr/>
              <a:t>6/9/2014</a:t>
            </a:fld>
            <a:endParaRPr lang="en-US">
              <a:solidFill>
                <a:srgbClr val="000000">
                  <a:tint val="75000"/>
                </a:srgbClr>
              </a:solidFill>
            </a:endParaRPr>
          </a:p>
        </p:txBody>
      </p:sp>
      <p:sp>
        <p:nvSpPr>
          <p:cNvPr id="5" name="Footer Placeholder 4"/>
          <p:cNvSpPr>
            <a:spLocks noGrp="1"/>
          </p:cNvSpPr>
          <p:nvPr>
            <p:ph type="ftr" sz="quarter" idx="11"/>
          </p:nvPr>
        </p:nvSpPr>
        <p:spPr/>
        <p:txBody>
          <a:bodyPr/>
          <a:lstStyle/>
          <a:p>
            <a:endParaRPr lang="en-US">
              <a:solidFill>
                <a:srgbClr val="000000">
                  <a:tint val="75000"/>
                </a:srgbClr>
              </a:solidFill>
            </a:endParaRPr>
          </a:p>
        </p:txBody>
      </p:sp>
      <p:sp>
        <p:nvSpPr>
          <p:cNvPr id="6" name="Slide Number Placeholder 5"/>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pic>
        <p:nvPicPr>
          <p:cNvPr id="8" name="Picture 7" descr="ti_pptbar_white.png"/>
          <p:cNvPicPr>
            <a:picLocks noChangeAspect="1"/>
          </p:cNvPicPr>
          <p:nvPr/>
        </p:nvPicPr>
        <p:blipFill>
          <a:blip r:embed="rId2" cstate="print"/>
          <a:stretch>
            <a:fillRect/>
          </a:stretch>
        </p:blipFill>
        <p:spPr>
          <a:xfrm>
            <a:off x="326486" y="6324600"/>
            <a:ext cx="8491027" cy="481544"/>
          </a:xfrm>
          <a:prstGeom prst="rect">
            <a:avLst/>
          </a:prstGeom>
        </p:spPr>
      </p:pic>
      <p:pic>
        <p:nvPicPr>
          <p:cNvPr id="9" name="Picture 8" descr="ti_pptbar_red_black.png"/>
          <p:cNvPicPr>
            <a:picLocks noChangeAspect="1"/>
          </p:cNvPicPr>
          <p:nvPr/>
        </p:nvPicPr>
        <p:blipFill>
          <a:blip r:embed="rId3" cstate="print"/>
          <a:stretch>
            <a:fillRect/>
          </a:stretch>
        </p:blipFill>
        <p:spPr>
          <a:xfrm>
            <a:off x="326486" y="6300256"/>
            <a:ext cx="8491027" cy="481544"/>
          </a:xfrm>
          <a:prstGeom prst="rect">
            <a:avLst/>
          </a:prstGeom>
        </p:spPr>
      </p:pic>
    </p:spTree>
    <p:extLst>
      <p:ext uri="{BB962C8B-B14F-4D97-AF65-F5344CB8AC3E}">
        <p14:creationId xmlns:p14="http://schemas.microsoft.com/office/powerpoint/2010/main" val="1832621781"/>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EF89BD6-E300-4C67-B175-76E5828D27B4}" type="datetimeFigureOut">
              <a:rPr lang="en-US" smtClean="0">
                <a:solidFill>
                  <a:srgbClr val="000000">
                    <a:tint val="75000"/>
                  </a:srgbClr>
                </a:solidFill>
              </a:rPr>
              <a:pPr/>
              <a:t>6/9/2014</a:t>
            </a:fld>
            <a:endParaRPr lang="en-US">
              <a:solidFill>
                <a:srgbClr val="000000">
                  <a:tint val="75000"/>
                </a:srgbClr>
              </a:solidFill>
            </a:endParaRPr>
          </a:p>
        </p:txBody>
      </p:sp>
      <p:sp>
        <p:nvSpPr>
          <p:cNvPr id="5" name="Footer Placeholder 4"/>
          <p:cNvSpPr>
            <a:spLocks noGrp="1"/>
          </p:cNvSpPr>
          <p:nvPr>
            <p:ph type="ftr" sz="quarter" idx="11"/>
          </p:nvPr>
        </p:nvSpPr>
        <p:spPr/>
        <p:txBody>
          <a:bodyPr/>
          <a:lstStyle/>
          <a:p>
            <a:endParaRPr lang="en-US">
              <a:solidFill>
                <a:srgbClr val="000000">
                  <a:tint val="75000"/>
                </a:srgbClr>
              </a:solidFill>
            </a:endParaRPr>
          </a:p>
        </p:txBody>
      </p:sp>
      <p:sp>
        <p:nvSpPr>
          <p:cNvPr id="6" name="Slide Number Placeholder 5"/>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3957343095"/>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Re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noFill/>
        </p:spPr>
        <p:txBody>
          <a:bodyPr/>
          <a:lstStyle>
            <a:lvl1pPr algn="l">
              <a:defRPr>
                <a:solidFill>
                  <a:schemeClr val="bg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3886200"/>
            <a:ext cx="7848600" cy="1752600"/>
          </a:xfrm>
        </p:spPr>
        <p:txBody>
          <a:bodyPr>
            <a:normAutofit/>
          </a:bodyPr>
          <a:lstStyle>
            <a:lvl1pPr marL="0" indent="0" algn="l">
              <a:buNone/>
              <a:defRPr sz="2800">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EF89BD6-E300-4C67-B175-76E5828D27B4}" type="datetimeFigureOut">
              <a:rPr lang="en-US" smtClean="0">
                <a:solidFill>
                  <a:srgbClr val="000000">
                    <a:tint val="75000"/>
                  </a:srgbClr>
                </a:solidFill>
              </a:rPr>
              <a:pPr/>
              <a:t>6/9/2014</a:t>
            </a:fld>
            <a:endParaRPr lang="en-US">
              <a:solidFill>
                <a:srgbClr val="000000">
                  <a:tint val="75000"/>
                </a:srgbClr>
              </a:solidFill>
            </a:endParaRPr>
          </a:p>
        </p:txBody>
      </p:sp>
      <p:sp>
        <p:nvSpPr>
          <p:cNvPr id="5" name="Footer Placeholder 4"/>
          <p:cNvSpPr>
            <a:spLocks noGrp="1"/>
          </p:cNvSpPr>
          <p:nvPr>
            <p:ph type="ftr" sz="quarter" idx="11"/>
          </p:nvPr>
        </p:nvSpPr>
        <p:spPr/>
        <p:txBody>
          <a:bodyPr/>
          <a:lstStyle/>
          <a:p>
            <a:endParaRPr lang="en-US">
              <a:solidFill>
                <a:srgbClr val="000000">
                  <a:tint val="75000"/>
                </a:srgbClr>
              </a:solidFill>
            </a:endParaRPr>
          </a:p>
        </p:txBody>
      </p:sp>
      <p:sp>
        <p:nvSpPr>
          <p:cNvPr id="6" name="Slide Number Placeholder 5"/>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pic>
        <p:nvPicPr>
          <p:cNvPr id="8" name="Picture 7" descr="ti_pptbar_white.png"/>
          <p:cNvPicPr>
            <a:picLocks noChangeAspect="1"/>
          </p:cNvPicPr>
          <p:nvPr/>
        </p:nvPicPr>
        <p:blipFill>
          <a:blip r:embed="rId2" cstate="print"/>
          <a:stretch>
            <a:fillRect/>
          </a:stretch>
        </p:blipFill>
        <p:spPr>
          <a:xfrm>
            <a:off x="326486" y="6324600"/>
            <a:ext cx="8491027" cy="481544"/>
          </a:xfrm>
          <a:prstGeom prst="rect">
            <a:avLst/>
          </a:prstGeom>
        </p:spPr>
      </p:pic>
    </p:spTree>
    <p:extLst>
      <p:ext uri="{BB962C8B-B14F-4D97-AF65-F5344CB8AC3E}">
        <p14:creationId xmlns:p14="http://schemas.microsoft.com/office/powerpoint/2010/main" val="3427597261"/>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Black">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noFill/>
        </p:spPr>
        <p:txBody>
          <a:bodyPr/>
          <a:lstStyle>
            <a:lvl1pPr algn="l">
              <a:defRPr>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3810000"/>
            <a:ext cx="7772400" cy="1752600"/>
          </a:xfrm>
        </p:spPr>
        <p:txBody>
          <a:bodyPr>
            <a:normAutofit/>
          </a:bodyPr>
          <a:lstStyle>
            <a:lvl1pPr marL="0" indent="0" algn="l">
              <a:buNone/>
              <a:defRPr sz="2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EF89BD6-E300-4C67-B175-76E5828D27B4}" type="datetimeFigureOut">
              <a:rPr lang="en-US" smtClean="0">
                <a:solidFill>
                  <a:srgbClr val="000000">
                    <a:tint val="75000"/>
                  </a:srgbClr>
                </a:solidFill>
              </a:rPr>
              <a:pPr/>
              <a:t>6/9/2014</a:t>
            </a:fld>
            <a:endParaRPr lang="en-US">
              <a:solidFill>
                <a:srgbClr val="000000">
                  <a:tint val="75000"/>
                </a:srgbClr>
              </a:solidFill>
            </a:endParaRPr>
          </a:p>
        </p:txBody>
      </p:sp>
      <p:sp>
        <p:nvSpPr>
          <p:cNvPr id="5" name="Footer Placeholder 4"/>
          <p:cNvSpPr>
            <a:spLocks noGrp="1"/>
          </p:cNvSpPr>
          <p:nvPr>
            <p:ph type="ftr" sz="quarter" idx="11"/>
          </p:nvPr>
        </p:nvSpPr>
        <p:spPr/>
        <p:txBody>
          <a:bodyPr/>
          <a:lstStyle/>
          <a:p>
            <a:endParaRPr lang="en-US">
              <a:solidFill>
                <a:srgbClr val="000000">
                  <a:tint val="75000"/>
                </a:srgbClr>
              </a:solidFill>
            </a:endParaRPr>
          </a:p>
        </p:txBody>
      </p:sp>
      <p:sp>
        <p:nvSpPr>
          <p:cNvPr id="6" name="Slide Number Placeholder 5"/>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pic>
        <p:nvPicPr>
          <p:cNvPr id="8" name="Picture 7" descr="ti_pptbar_white.png"/>
          <p:cNvPicPr>
            <a:picLocks noChangeAspect="1"/>
          </p:cNvPicPr>
          <p:nvPr/>
        </p:nvPicPr>
        <p:blipFill>
          <a:blip r:embed="rId2" cstate="print"/>
          <a:stretch>
            <a:fillRect/>
          </a:stretch>
        </p:blipFill>
        <p:spPr>
          <a:xfrm>
            <a:off x="326486" y="6324600"/>
            <a:ext cx="8491027" cy="481544"/>
          </a:xfrm>
          <a:prstGeom prst="rect">
            <a:avLst/>
          </a:prstGeom>
        </p:spPr>
      </p:pic>
    </p:spTree>
    <p:extLst>
      <p:ext uri="{BB962C8B-B14F-4D97-AF65-F5344CB8AC3E}">
        <p14:creationId xmlns:p14="http://schemas.microsoft.com/office/powerpoint/2010/main" val="3118513154"/>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Grey">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noFill/>
        </p:spPr>
        <p:txBody>
          <a:bodyPr/>
          <a:lstStyle>
            <a:lvl1pPr algn="l">
              <a:defRPr>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3810000"/>
            <a:ext cx="7772400" cy="1828800"/>
          </a:xfrm>
        </p:spPr>
        <p:txBody>
          <a:bodyPr>
            <a:normAutofit/>
          </a:bodyPr>
          <a:lstStyle>
            <a:lvl1pPr marL="0" indent="0" algn="l">
              <a:buNone/>
              <a:defRPr sz="2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EF89BD6-E300-4C67-B175-76E5828D27B4}" type="datetimeFigureOut">
              <a:rPr lang="en-US" smtClean="0">
                <a:solidFill>
                  <a:srgbClr val="000000">
                    <a:tint val="75000"/>
                  </a:srgbClr>
                </a:solidFill>
              </a:rPr>
              <a:pPr/>
              <a:t>6/9/2014</a:t>
            </a:fld>
            <a:endParaRPr lang="en-US">
              <a:solidFill>
                <a:srgbClr val="000000">
                  <a:tint val="75000"/>
                </a:srgbClr>
              </a:solidFill>
            </a:endParaRPr>
          </a:p>
        </p:txBody>
      </p:sp>
      <p:sp>
        <p:nvSpPr>
          <p:cNvPr id="5" name="Footer Placeholder 4"/>
          <p:cNvSpPr>
            <a:spLocks noGrp="1"/>
          </p:cNvSpPr>
          <p:nvPr>
            <p:ph type="ftr" sz="quarter" idx="11"/>
          </p:nvPr>
        </p:nvSpPr>
        <p:spPr/>
        <p:txBody>
          <a:bodyPr/>
          <a:lstStyle/>
          <a:p>
            <a:endParaRPr lang="en-US">
              <a:solidFill>
                <a:srgbClr val="000000">
                  <a:tint val="75000"/>
                </a:srgbClr>
              </a:solidFill>
            </a:endParaRPr>
          </a:p>
        </p:txBody>
      </p:sp>
      <p:sp>
        <p:nvSpPr>
          <p:cNvPr id="6" name="Slide Number Placeholder 5"/>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pic>
        <p:nvPicPr>
          <p:cNvPr id="8" name="Picture 7" descr="ti_pptbar_white.png"/>
          <p:cNvPicPr>
            <a:picLocks noChangeAspect="1"/>
          </p:cNvPicPr>
          <p:nvPr/>
        </p:nvPicPr>
        <p:blipFill>
          <a:blip r:embed="rId2" cstate="print"/>
          <a:stretch>
            <a:fillRect/>
          </a:stretch>
        </p:blipFill>
        <p:spPr>
          <a:xfrm>
            <a:off x="326486" y="6324600"/>
            <a:ext cx="8491027" cy="481544"/>
          </a:xfrm>
          <a:prstGeom prst="rect">
            <a:avLst/>
          </a:prstGeom>
        </p:spPr>
      </p:pic>
    </p:spTree>
    <p:extLst>
      <p:ext uri="{BB962C8B-B14F-4D97-AF65-F5344CB8AC3E}">
        <p14:creationId xmlns:p14="http://schemas.microsoft.com/office/powerpoint/2010/main" val="2061033170"/>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EF89BD6-E300-4C67-B175-76E5828D27B4}" type="datetimeFigureOut">
              <a:rPr lang="en-US" smtClean="0">
                <a:solidFill>
                  <a:srgbClr val="000000">
                    <a:tint val="75000"/>
                  </a:srgbClr>
                </a:solidFill>
              </a:rPr>
              <a:pPr/>
              <a:t>6/9/2014</a:t>
            </a:fld>
            <a:endParaRPr lang="en-US">
              <a:solidFill>
                <a:srgbClr val="000000">
                  <a:tint val="75000"/>
                </a:srgbClr>
              </a:solidFill>
            </a:endParaRPr>
          </a:p>
        </p:txBody>
      </p:sp>
      <p:sp>
        <p:nvSpPr>
          <p:cNvPr id="6" name="Footer Placeholder 5"/>
          <p:cNvSpPr>
            <a:spLocks noGrp="1"/>
          </p:cNvSpPr>
          <p:nvPr>
            <p:ph type="ftr" sz="quarter" idx="11"/>
          </p:nvPr>
        </p:nvSpPr>
        <p:spPr/>
        <p:txBody>
          <a:bodyPr/>
          <a:lstStyle/>
          <a:p>
            <a:endParaRPr lang="en-US">
              <a:solidFill>
                <a:srgbClr val="000000">
                  <a:tint val="75000"/>
                </a:srgbClr>
              </a:solidFill>
            </a:endParaRPr>
          </a:p>
        </p:txBody>
      </p:sp>
      <p:sp>
        <p:nvSpPr>
          <p:cNvPr id="7" name="Slide Number Placeholder 6"/>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3388050774"/>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EF89BD6-E300-4C67-B175-76E5828D27B4}" type="datetimeFigureOut">
              <a:rPr lang="en-US" smtClean="0">
                <a:solidFill>
                  <a:srgbClr val="000000">
                    <a:tint val="75000"/>
                  </a:srgbClr>
                </a:solidFill>
              </a:rPr>
              <a:pPr/>
              <a:t>6/9/2014</a:t>
            </a:fld>
            <a:endParaRPr lang="en-US">
              <a:solidFill>
                <a:srgbClr val="000000">
                  <a:tint val="75000"/>
                </a:srgbClr>
              </a:solidFill>
            </a:endParaRPr>
          </a:p>
        </p:txBody>
      </p:sp>
      <p:sp>
        <p:nvSpPr>
          <p:cNvPr id="8" name="Footer Placeholder 7"/>
          <p:cNvSpPr>
            <a:spLocks noGrp="1"/>
          </p:cNvSpPr>
          <p:nvPr>
            <p:ph type="ftr" sz="quarter" idx="11"/>
          </p:nvPr>
        </p:nvSpPr>
        <p:spPr/>
        <p:txBody>
          <a:bodyPr/>
          <a:lstStyle/>
          <a:p>
            <a:endParaRPr lang="en-US">
              <a:solidFill>
                <a:srgbClr val="000000">
                  <a:tint val="75000"/>
                </a:srgbClr>
              </a:solidFill>
            </a:endParaRPr>
          </a:p>
        </p:txBody>
      </p:sp>
      <p:sp>
        <p:nvSpPr>
          <p:cNvPr id="9" name="Slide Number Placeholder 8"/>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9420871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EF89BD6-E300-4C67-B175-76E5828D27B4}" type="datetimeFigureOut">
              <a:rPr lang="en-US" smtClean="0">
                <a:solidFill>
                  <a:srgbClr val="000000">
                    <a:tint val="75000"/>
                  </a:srgbClr>
                </a:solidFill>
              </a:rPr>
              <a:pPr/>
              <a:t>6/9/2014</a:t>
            </a:fld>
            <a:endParaRPr lang="en-US">
              <a:solidFill>
                <a:srgbClr val="000000">
                  <a:tint val="75000"/>
                </a:srgbClr>
              </a:solidFill>
            </a:endParaRPr>
          </a:p>
        </p:txBody>
      </p:sp>
      <p:sp>
        <p:nvSpPr>
          <p:cNvPr id="4" name="Footer Placeholder 3"/>
          <p:cNvSpPr>
            <a:spLocks noGrp="1"/>
          </p:cNvSpPr>
          <p:nvPr>
            <p:ph type="ftr" sz="quarter" idx="11"/>
          </p:nvPr>
        </p:nvSpPr>
        <p:spPr/>
        <p:txBody>
          <a:bodyPr/>
          <a:lstStyle/>
          <a:p>
            <a:endParaRPr lang="en-US">
              <a:solidFill>
                <a:srgbClr val="000000">
                  <a:tint val="75000"/>
                </a:srgbClr>
              </a:solidFill>
            </a:endParaRPr>
          </a:p>
        </p:txBody>
      </p:sp>
      <p:sp>
        <p:nvSpPr>
          <p:cNvPr id="5" name="Slide Number Placeholder 4"/>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4163441639"/>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EF89BD6-E300-4C67-B175-76E5828D27B4}" type="datetimeFigureOut">
              <a:rPr lang="en-US" smtClean="0">
                <a:solidFill>
                  <a:srgbClr val="000000">
                    <a:tint val="75000"/>
                  </a:srgbClr>
                </a:solidFill>
              </a:rPr>
              <a:pPr/>
              <a:t>6/9/2014</a:t>
            </a:fld>
            <a:endParaRPr lang="en-US">
              <a:solidFill>
                <a:srgbClr val="000000">
                  <a:tint val="75000"/>
                </a:srgbClr>
              </a:solidFill>
            </a:endParaRPr>
          </a:p>
        </p:txBody>
      </p:sp>
      <p:sp>
        <p:nvSpPr>
          <p:cNvPr id="3" name="Footer Placeholder 2"/>
          <p:cNvSpPr>
            <a:spLocks noGrp="1"/>
          </p:cNvSpPr>
          <p:nvPr>
            <p:ph type="ftr" sz="quarter" idx="11"/>
          </p:nvPr>
        </p:nvSpPr>
        <p:spPr/>
        <p:txBody>
          <a:bodyPr/>
          <a:lstStyle/>
          <a:p>
            <a:endParaRPr lang="en-US">
              <a:solidFill>
                <a:srgbClr val="000000">
                  <a:tint val="75000"/>
                </a:srgbClr>
              </a:solidFill>
            </a:endParaRPr>
          </a:p>
        </p:txBody>
      </p:sp>
      <p:sp>
        <p:nvSpPr>
          <p:cNvPr id="4" name="Slide Number Placeholder 3"/>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2697747766"/>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F89BD6-E300-4C67-B175-76E5828D27B4}" type="datetimeFigureOut">
              <a:rPr lang="en-US" smtClean="0">
                <a:solidFill>
                  <a:srgbClr val="000000">
                    <a:tint val="75000"/>
                  </a:srgbClr>
                </a:solidFill>
              </a:rPr>
              <a:pPr/>
              <a:t>6/9/2014</a:t>
            </a:fld>
            <a:endParaRPr lang="en-US">
              <a:solidFill>
                <a:srgbClr val="000000">
                  <a:tint val="75000"/>
                </a:srgbClr>
              </a:solidFill>
            </a:endParaRPr>
          </a:p>
        </p:txBody>
      </p:sp>
      <p:sp>
        <p:nvSpPr>
          <p:cNvPr id="6" name="Footer Placeholder 5"/>
          <p:cNvSpPr>
            <a:spLocks noGrp="1"/>
          </p:cNvSpPr>
          <p:nvPr>
            <p:ph type="ftr" sz="quarter" idx="11"/>
          </p:nvPr>
        </p:nvSpPr>
        <p:spPr/>
        <p:txBody>
          <a:bodyPr/>
          <a:lstStyle/>
          <a:p>
            <a:endParaRPr lang="en-US">
              <a:solidFill>
                <a:srgbClr val="000000">
                  <a:tint val="75000"/>
                </a:srgbClr>
              </a:solidFill>
            </a:endParaRPr>
          </a:p>
        </p:txBody>
      </p:sp>
      <p:sp>
        <p:nvSpPr>
          <p:cNvPr id="7" name="Slide Number Placeholder 6"/>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3746682705"/>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EF89BD6-E300-4C67-B175-76E5828D27B4}" type="datetimeFigureOut">
              <a:rPr lang="en-US" smtClean="0">
                <a:solidFill>
                  <a:srgbClr val="000000">
                    <a:tint val="75000"/>
                  </a:srgbClr>
                </a:solidFill>
              </a:rPr>
              <a:pPr/>
              <a:t>6/9/2014</a:t>
            </a:fld>
            <a:endParaRPr lang="en-US">
              <a:solidFill>
                <a:srgbClr val="000000">
                  <a:tint val="75000"/>
                </a:srgbClr>
              </a:solidFill>
            </a:endParaRPr>
          </a:p>
        </p:txBody>
      </p:sp>
      <p:sp>
        <p:nvSpPr>
          <p:cNvPr id="6" name="Footer Placeholder 5"/>
          <p:cNvSpPr>
            <a:spLocks noGrp="1"/>
          </p:cNvSpPr>
          <p:nvPr>
            <p:ph type="ftr" sz="quarter" idx="11"/>
          </p:nvPr>
        </p:nvSpPr>
        <p:spPr/>
        <p:txBody>
          <a:bodyPr/>
          <a:lstStyle/>
          <a:p>
            <a:endParaRPr lang="en-US">
              <a:solidFill>
                <a:srgbClr val="000000">
                  <a:tint val="75000"/>
                </a:srgbClr>
              </a:solidFill>
            </a:endParaRPr>
          </a:p>
        </p:txBody>
      </p:sp>
      <p:sp>
        <p:nvSpPr>
          <p:cNvPr id="7" name="Slide Number Placeholder 6"/>
          <p:cNvSpPr>
            <a:spLocks noGrp="1"/>
          </p:cNvSpPr>
          <p:nvPr>
            <p:ph type="sldNum" sz="quarter" idx="12"/>
          </p:nvPr>
        </p:nvSpPr>
        <p:spPr/>
        <p:txBody>
          <a:body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spTree>
    <p:extLst>
      <p:ext uri="{BB962C8B-B14F-4D97-AF65-F5344CB8AC3E}">
        <p14:creationId xmlns:p14="http://schemas.microsoft.com/office/powerpoint/2010/main" val="136930439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2.pn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6"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image" Target="../media/image4.png"/><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2.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3.xml"/><Relationship Id="rId2" Type="http://schemas.openxmlformats.org/officeDocument/2006/relationships/slideLayout" Target="../slideLayouts/slideLayout14.xml"/><Relationship Id="rId16" Type="http://schemas.openxmlformats.org/officeDocument/2006/relationships/image" Target="../media/image5.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4.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33375" y="0"/>
            <a:ext cx="8458200" cy="11890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333375" y="1185863"/>
            <a:ext cx="8467725" cy="46926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100" name="Rectangle 4"/>
          <p:cNvSpPr>
            <a:spLocks noGrp="1" noChangeArrowheads="1"/>
          </p:cNvSpPr>
          <p:nvPr>
            <p:ph type="dt" sz="half" idx="2"/>
          </p:nvPr>
        </p:nvSpPr>
        <p:spPr bwMode="auto">
          <a:xfrm>
            <a:off x="355600" y="6038850"/>
            <a:ext cx="2133600" cy="206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800">
                <a:solidFill>
                  <a:srgbClr val="000000"/>
                </a:solidFill>
                <a:latin typeface="Arial" pitchFamily="34" charset="0"/>
              </a:defRPr>
            </a:lvl1pPr>
          </a:lstStyle>
          <a:p>
            <a:pPr eaLnBrk="1" fontAlgn="auto" hangingPunct="1">
              <a:lnSpc>
                <a:spcPct val="100000"/>
              </a:lnSpc>
              <a:spcBef>
                <a:spcPts val="0"/>
              </a:spcBef>
              <a:spcAft>
                <a:spcPts val="0"/>
              </a:spcAft>
              <a:defRPr/>
            </a:pPr>
            <a:endParaRPr lang="en-US" b="0"/>
          </a:p>
        </p:txBody>
      </p:sp>
      <p:sp>
        <p:nvSpPr>
          <p:cNvPr id="4101" name="Rectangle 5"/>
          <p:cNvSpPr>
            <a:spLocks noGrp="1" noChangeArrowheads="1"/>
          </p:cNvSpPr>
          <p:nvPr>
            <p:ph type="ftr" sz="quarter" idx="3"/>
          </p:nvPr>
        </p:nvSpPr>
        <p:spPr bwMode="auto">
          <a:xfrm>
            <a:off x="2489200" y="6038850"/>
            <a:ext cx="4144963" cy="295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800">
                <a:solidFill>
                  <a:srgbClr val="000000"/>
                </a:solidFill>
                <a:latin typeface="Arial" pitchFamily="34" charset="0"/>
              </a:defRPr>
            </a:lvl1pPr>
          </a:lstStyle>
          <a:p>
            <a:pPr eaLnBrk="1" fontAlgn="auto" hangingPunct="1">
              <a:lnSpc>
                <a:spcPct val="100000"/>
              </a:lnSpc>
              <a:spcBef>
                <a:spcPts val="0"/>
              </a:spcBef>
              <a:spcAft>
                <a:spcPts val="0"/>
              </a:spcAft>
              <a:defRPr/>
            </a:pPr>
            <a:endParaRPr lang="en-US" b="0"/>
          </a:p>
        </p:txBody>
      </p:sp>
      <p:sp>
        <p:nvSpPr>
          <p:cNvPr id="4102" name="Rectangle 6"/>
          <p:cNvSpPr>
            <a:spLocks noGrp="1" noChangeArrowheads="1"/>
          </p:cNvSpPr>
          <p:nvPr>
            <p:ph type="sldNum" sz="quarter" idx="4"/>
          </p:nvPr>
        </p:nvSpPr>
        <p:spPr bwMode="auto">
          <a:xfrm>
            <a:off x="6642100" y="6038850"/>
            <a:ext cx="2133600" cy="206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800">
                <a:solidFill>
                  <a:srgbClr val="000000"/>
                </a:solidFill>
                <a:latin typeface="Arial" pitchFamily="34" charset="0"/>
              </a:defRPr>
            </a:lvl1pPr>
          </a:lstStyle>
          <a:p>
            <a:pPr eaLnBrk="1" fontAlgn="auto" hangingPunct="1">
              <a:lnSpc>
                <a:spcPct val="100000"/>
              </a:lnSpc>
              <a:spcBef>
                <a:spcPts val="0"/>
              </a:spcBef>
              <a:spcAft>
                <a:spcPts val="0"/>
              </a:spcAft>
              <a:defRPr/>
            </a:pPr>
            <a:fld id="{F28BFE1F-9FAC-4206-B2CB-6E0CCCD06CC1}" type="slidenum">
              <a:rPr lang="en-US" b="0"/>
              <a:pPr eaLnBrk="1" fontAlgn="auto" hangingPunct="1">
                <a:lnSpc>
                  <a:spcPct val="100000"/>
                </a:lnSpc>
                <a:spcBef>
                  <a:spcPts val="0"/>
                </a:spcBef>
                <a:spcAft>
                  <a:spcPts val="0"/>
                </a:spcAft>
                <a:defRPr/>
              </a:pPr>
              <a:t>‹#›</a:t>
            </a:fld>
            <a:endParaRPr lang="en-US" b="0"/>
          </a:p>
        </p:txBody>
      </p:sp>
      <p:sp>
        <p:nvSpPr>
          <p:cNvPr id="1031" name="Rectangle 7"/>
          <p:cNvSpPr>
            <a:spLocks noChangeArrowheads="1"/>
          </p:cNvSpPr>
          <p:nvPr/>
        </p:nvSpPr>
        <p:spPr bwMode="auto">
          <a:xfrm>
            <a:off x="338138" y="6330950"/>
            <a:ext cx="8462962" cy="461963"/>
          </a:xfrm>
          <a:prstGeom prst="rect">
            <a:avLst/>
          </a:prstGeom>
          <a:noFill/>
          <a:ln w="9525">
            <a:solidFill>
              <a:schemeClr val="tx1"/>
            </a:solidFill>
            <a:miter lim="800000"/>
            <a:headEnd/>
            <a:tailEnd/>
          </a:ln>
        </p:spPr>
        <p:txBody>
          <a:bodyPr wrap="none" anchor="ctr"/>
          <a:lstStyle/>
          <a:p>
            <a:pPr eaLnBrk="1" fontAlgn="auto" hangingPunct="1">
              <a:lnSpc>
                <a:spcPct val="100000"/>
              </a:lnSpc>
              <a:spcBef>
                <a:spcPts val="0"/>
              </a:spcBef>
              <a:spcAft>
                <a:spcPts val="0"/>
              </a:spcAft>
            </a:pPr>
            <a:endParaRPr lang="en-US" sz="1800" b="0">
              <a:solidFill>
                <a:srgbClr val="000000"/>
              </a:solidFill>
              <a:latin typeface="Arial"/>
            </a:endParaRPr>
          </a:p>
        </p:txBody>
      </p:sp>
      <p:pic>
        <p:nvPicPr>
          <p:cNvPr id="1032" name="Picture 8" descr="ti_stk_2c_pos_rgb"/>
          <p:cNvPicPr>
            <a:picLocks noChangeAspect="1" noChangeArrowheads="1"/>
          </p:cNvPicPr>
          <p:nvPr/>
        </p:nvPicPr>
        <p:blipFill>
          <a:blip r:embed="rId3" cstate="print"/>
          <a:srcRect/>
          <a:stretch>
            <a:fillRect/>
          </a:stretch>
        </p:blipFill>
        <p:spPr bwMode="auto">
          <a:xfrm>
            <a:off x="6629400" y="6418263"/>
            <a:ext cx="1136650" cy="280987"/>
          </a:xfrm>
          <a:prstGeom prst="rect">
            <a:avLst/>
          </a:prstGeom>
          <a:noFill/>
          <a:ln w="9525">
            <a:noFill/>
            <a:miter lim="800000"/>
            <a:headEnd/>
            <a:tailEnd/>
          </a:ln>
        </p:spPr>
      </p:pic>
    </p:spTree>
    <p:extLst>
      <p:ext uri="{BB962C8B-B14F-4D97-AF65-F5344CB8AC3E}">
        <p14:creationId xmlns:p14="http://schemas.microsoft.com/office/powerpoint/2010/main" val="3436878254"/>
      </p:ext>
    </p:extLst>
  </p:cSld>
  <p:clrMap bg1="lt1" tx1="dk1" bg2="lt2" tx2="dk2" accent1="accent1" accent2="accent2" accent3="accent3" accent4="accent4" accent5="accent5" accent6="accent6" hlink="hlink" folHlink="folHlink"/>
  <p:sldLayoutIdLst>
    <p:sldLayoutId id="2147483781" r:id="rId1"/>
  </p:sldLayoutIdLst>
  <p:transition>
    <p:fade/>
  </p:transition>
  <p:txStyles>
    <p:titleStyle>
      <a:lvl1pPr algn="l" rtl="0" eaLnBrk="0" fontAlgn="base" hangingPunct="0">
        <a:spcBef>
          <a:spcPct val="0"/>
        </a:spcBef>
        <a:spcAft>
          <a:spcPct val="0"/>
        </a:spcAft>
        <a:defRPr sz="3600" b="1">
          <a:solidFill>
            <a:srgbClr val="FF0000"/>
          </a:solidFill>
          <a:latin typeface="+mj-lt"/>
          <a:ea typeface="+mj-ea"/>
          <a:cs typeface="+mj-cs"/>
        </a:defRPr>
      </a:lvl1pPr>
      <a:lvl2pPr algn="l" rtl="0" eaLnBrk="0" fontAlgn="base" hangingPunct="0">
        <a:spcBef>
          <a:spcPct val="0"/>
        </a:spcBef>
        <a:spcAft>
          <a:spcPct val="0"/>
        </a:spcAft>
        <a:defRPr sz="3600" b="1">
          <a:solidFill>
            <a:srgbClr val="FF0000"/>
          </a:solidFill>
          <a:latin typeface="Arial" pitchFamily="34" charset="0"/>
        </a:defRPr>
      </a:lvl2pPr>
      <a:lvl3pPr algn="l" rtl="0" eaLnBrk="0" fontAlgn="base" hangingPunct="0">
        <a:spcBef>
          <a:spcPct val="0"/>
        </a:spcBef>
        <a:spcAft>
          <a:spcPct val="0"/>
        </a:spcAft>
        <a:defRPr sz="3600" b="1">
          <a:solidFill>
            <a:srgbClr val="FF0000"/>
          </a:solidFill>
          <a:latin typeface="Arial" pitchFamily="34" charset="0"/>
        </a:defRPr>
      </a:lvl3pPr>
      <a:lvl4pPr algn="l" rtl="0" eaLnBrk="0" fontAlgn="base" hangingPunct="0">
        <a:spcBef>
          <a:spcPct val="0"/>
        </a:spcBef>
        <a:spcAft>
          <a:spcPct val="0"/>
        </a:spcAft>
        <a:defRPr sz="3600" b="1">
          <a:solidFill>
            <a:srgbClr val="FF0000"/>
          </a:solidFill>
          <a:latin typeface="Arial" pitchFamily="34" charset="0"/>
        </a:defRPr>
      </a:lvl4pPr>
      <a:lvl5pPr algn="l" rtl="0" eaLnBrk="0" fontAlgn="base" hangingPunct="0">
        <a:spcBef>
          <a:spcPct val="0"/>
        </a:spcBef>
        <a:spcAft>
          <a:spcPct val="0"/>
        </a:spcAft>
        <a:defRPr sz="3600" b="1">
          <a:solidFill>
            <a:srgbClr val="FF0000"/>
          </a:solidFill>
          <a:latin typeface="Arial" pitchFamily="34" charset="0"/>
        </a:defRPr>
      </a:lvl5pPr>
      <a:lvl6pPr marL="457200" algn="l" rtl="0" eaLnBrk="1" fontAlgn="base" hangingPunct="1">
        <a:spcBef>
          <a:spcPct val="0"/>
        </a:spcBef>
        <a:spcAft>
          <a:spcPct val="0"/>
        </a:spcAft>
        <a:defRPr sz="3600" b="1">
          <a:solidFill>
            <a:srgbClr val="FF0000"/>
          </a:solidFill>
          <a:latin typeface="Arial" pitchFamily="34" charset="0"/>
        </a:defRPr>
      </a:lvl6pPr>
      <a:lvl7pPr marL="914400" algn="l" rtl="0" eaLnBrk="1" fontAlgn="base" hangingPunct="1">
        <a:spcBef>
          <a:spcPct val="0"/>
        </a:spcBef>
        <a:spcAft>
          <a:spcPct val="0"/>
        </a:spcAft>
        <a:defRPr sz="3600" b="1">
          <a:solidFill>
            <a:srgbClr val="FF0000"/>
          </a:solidFill>
          <a:latin typeface="Arial" pitchFamily="34" charset="0"/>
        </a:defRPr>
      </a:lvl7pPr>
      <a:lvl8pPr marL="1371600" algn="l" rtl="0" eaLnBrk="1" fontAlgn="base" hangingPunct="1">
        <a:spcBef>
          <a:spcPct val="0"/>
        </a:spcBef>
        <a:spcAft>
          <a:spcPct val="0"/>
        </a:spcAft>
        <a:defRPr sz="3600" b="1">
          <a:solidFill>
            <a:srgbClr val="FF0000"/>
          </a:solidFill>
          <a:latin typeface="Arial" pitchFamily="34" charset="0"/>
        </a:defRPr>
      </a:lvl8pPr>
      <a:lvl9pPr marL="1828800" algn="l" rtl="0" eaLnBrk="1" fontAlgn="base" hangingPunct="1">
        <a:spcBef>
          <a:spcPct val="0"/>
        </a:spcBef>
        <a:spcAft>
          <a:spcPct val="0"/>
        </a:spcAft>
        <a:defRPr sz="3600" b="1">
          <a:solidFill>
            <a:srgbClr val="FF0000"/>
          </a:solidFill>
          <a:latin typeface="Arial" pitchFamily="34"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
            <a:ext cx="9144000" cy="742950"/>
          </a:xfrm>
          <a:prstGeom prst="rect">
            <a:avLst/>
          </a:prstGeom>
        </p:spPr>
        <p:txBody>
          <a:bodyPr vert="horz" lIns="91440" tIns="45720" rIns="91440" bIns="45720" rtlCol="0" anchor="t" anchorCtr="0">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762000"/>
            <a:ext cx="8229600" cy="5562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49F36C-BB37-4361-AD7E-05206BB50CFE}" type="datetimeFigureOut">
              <a:rPr lang="en-US" smtClean="0"/>
              <a:t>6/9/2014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27ED86-F7CD-4E74-A97C-6D3BAEB1029D}" type="slidenum">
              <a:rPr lang="en-US" smtClean="0"/>
              <a:t>‹#›</a:t>
            </a:fld>
            <a:endParaRPr lang="en-US"/>
          </a:p>
        </p:txBody>
      </p:sp>
      <p:pic>
        <p:nvPicPr>
          <p:cNvPr id="7" name="TI Logo Color One Line" descr="tilogo_color_oneline.png" hidden="1"/>
          <p:cNvPicPr>
            <a:picLocks noChangeAspect="1"/>
          </p:cNvPicPr>
          <p:nvPr/>
        </p:nvPicPr>
        <p:blipFill>
          <a:blip r:embed="rId13" cstate="print"/>
          <a:stretch>
            <a:fillRect/>
          </a:stretch>
        </p:blipFill>
        <p:spPr>
          <a:xfrm>
            <a:off x="147730" y="6101890"/>
            <a:ext cx="1840840" cy="237724"/>
          </a:xfrm>
          <a:prstGeom prst="rect">
            <a:avLst/>
          </a:prstGeom>
        </p:spPr>
      </p:pic>
      <p:pic>
        <p:nvPicPr>
          <p:cNvPr id="8" name="TI Logo White One Line" descr="tilogo_bw_oneline.png" hidden="1"/>
          <p:cNvPicPr>
            <a:picLocks noChangeAspect="1"/>
          </p:cNvPicPr>
          <p:nvPr/>
        </p:nvPicPr>
        <p:blipFill>
          <a:blip r:embed="rId14" cstate="print"/>
          <a:stretch>
            <a:fillRect/>
          </a:stretch>
        </p:blipFill>
        <p:spPr>
          <a:xfrm>
            <a:off x="136939" y="5288938"/>
            <a:ext cx="1822553" cy="237724"/>
          </a:xfrm>
          <a:prstGeom prst="rect">
            <a:avLst/>
          </a:prstGeom>
        </p:spPr>
      </p:pic>
      <p:pic>
        <p:nvPicPr>
          <p:cNvPr id="9" name="TI Logo White Stack" descr="tilogo_bw_twoline.png" hidden="1"/>
          <p:cNvPicPr>
            <a:picLocks noChangeAspect="1"/>
          </p:cNvPicPr>
          <p:nvPr/>
        </p:nvPicPr>
        <p:blipFill>
          <a:blip r:embed="rId15" cstate="print"/>
          <a:stretch>
            <a:fillRect/>
          </a:stretch>
        </p:blipFill>
        <p:spPr>
          <a:xfrm>
            <a:off x="121847" y="5656160"/>
            <a:ext cx="1456824" cy="353539"/>
          </a:xfrm>
          <a:prstGeom prst="rect">
            <a:avLst/>
          </a:prstGeom>
        </p:spPr>
      </p:pic>
      <p:pic>
        <p:nvPicPr>
          <p:cNvPr id="10" name="TI Logo Color Stack" descr="tilogo_color_twoline.png" hidden="1"/>
          <p:cNvPicPr>
            <a:picLocks noChangeAspect="1"/>
          </p:cNvPicPr>
          <p:nvPr/>
        </p:nvPicPr>
        <p:blipFill>
          <a:blip r:embed="rId16" cstate="print"/>
          <a:stretch>
            <a:fillRect/>
          </a:stretch>
        </p:blipFill>
        <p:spPr>
          <a:xfrm>
            <a:off x="127241" y="6399926"/>
            <a:ext cx="1438537" cy="347443"/>
          </a:xfrm>
          <a:prstGeom prst="rect">
            <a:avLst/>
          </a:prstGeom>
        </p:spPr>
      </p:pic>
    </p:spTree>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 id="2147483827" r:id="rId4"/>
    <p:sldLayoutId id="2147483828" r:id="rId5"/>
    <p:sldLayoutId id="2147483829" r:id="rId6"/>
    <p:sldLayoutId id="2147483830" r:id="rId7"/>
    <p:sldLayoutId id="2147483831" r:id="rId8"/>
    <p:sldLayoutId id="2147483832" r:id="rId9"/>
    <p:sldLayoutId id="2147483833" r:id="rId10"/>
    <p:sldLayoutId id="2147483834" r:id="rId11"/>
  </p:sldLayoutIdLst>
  <p:transition>
    <p:fade/>
  </p:transition>
  <p:timing>
    <p:tnLst>
      <p:par>
        <p:cTn id="1" dur="indefinite" restart="never" nodeType="tmRoot"/>
      </p:par>
    </p:tnLst>
  </p:timing>
  <p:txStyles>
    <p:titleStyle>
      <a:lvl1pPr algn="ctr" defTabSz="914400" rtl="0" eaLnBrk="1" latinLnBrk="0" hangingPunct="1">
        <a:spcBef>
          <a:spcPct val="0"/>
        </a:spcBef>
        <a:buNone/>
        <a:defRPr sz="3600" b="1" kern="1200" baseline="0">
          <a:solidFill>
            <a:schemeClr val="tx2"/>
          </a:solidFill>
          <a:latin typeface="+mj-lt"/>
          <a:ea typeface="+mj-ea"/>
          <a:cs typeface="+mj-cs"/>
        </a:defRPr>
      </a:lvl1pPr>
    </p:titleStyle>
    <p:bodyStyle>
      <a:lvl1pPr marL="342900" indent="-342900" algn="l" defTabSz="914400" rtl="0" eaLnBrk="1" latinLnBrk="0" hangingPunct="1">
        <a:spcBef>
          <a:spcPct val="20000"/>
        </a:spcBef>
        <a:buClr>
          <a:schemeClr val="tx2"/>
        </a:buClr>
        <a:buSzPct val="75000"/>
        <a:buFont typeface="Wingdings" pitchFamily="2" charset="2"/>
        <a:buChar char=""/>
        <a:defRPr sz="3200" b="1" kern="1200">
          <a:solidFill>
            <a:schemeClr val="tx1"/>
          </a:solidFill>
          <a:latin typeface="+mn-lt"/>
          <a:ea typeface="+mn-ea"/>
          <a:cs typeface="+mn-cs"/>
        </a:defRPr>
      </a:lvl1pPr>
      <a:lvl2pPr marL="742950" indent="-285750" algn="l" defTabSz="914400" rtl="0" eaLnBrk="1" latinLnBrk="0" hangingPunct="1">
        <a:spcBef>
          <a:spcPct val="20000"/>
        </a:spcBef>
        <a:buClr>
          <a:schemeClr val="tx2"/>
        </a:buClr>
        <a:buSzPct val="75000"/>
        <a:buFont typeface="Wingdings" pitchFamily="2" charset="2"/>
        <a:buChar char=""/>
        <a:defRPr sz="2800" b="1"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SzPct val="75000"/>
        <a:buFont typeface="Wingdings" pitchFamily="2" charset="2"/>
        <a:buChar char=""/>
        <a:defRPr sz="2400" b="1"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SzPct val="75000"/>
        <a:buFont typeface="Wingdings" pitchFamily="2" charset="2"/>
        <a:buChar char=""/>
        <a:defRPr sz="2000" b="1"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SzPct val="75000"/>
        <a:buFont typeface="Wingdings" pitchFamily="2" charset="2"/>
        <a:buChar char=""/>
        <a:defRPr sz="2000" b="1"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
            <a:ext cx="9144000" cy="742950"/>
          </a:xfrm>
          <a:prstGeom prst="rect">
            <a:avLst/>
          </a:prstGeom>
        </p:spPr>
        <p:txBody>
          <a:bodyPr vert="horz" lIns="91440" tIns="45720" rIns="91440" bIns="45720" rtlCol="0" anchor="t" anchorCtr="0">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762000"/>
            <a:ext cx="8229600" cy="5562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F89BD6-E300-4C67-B175-76E5828D27B4}" type="datetimeFigureOut">
              <a:rPr lang="en-US" smtClean="0">
                <a:solidFill>
                  <a:srgbClr val="000000">
                    <a:tint val="75000"/>
                  </a:srgbClr>
                </a:solidFill>
              </a:rPr>
              <a:pPr/>
              <a:t>6/9/2014</a:t>
            </a:fld>
            <a:endParaRPr lang="en-US">
              <a:solidFill>
                <a:srgbClr val="000000">
                  <a:tint val="75000"/>
                </a:srgb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srgbClr val="000000">
                  <a:tint val="75000"/>
                </a:srgb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582210-5FCA-4178-AB04-4337EADA3D81}" type="slidenum">
              <a:rPr lang="en-US" smtClean="0">
                <a:solidFill>
                  <a:srgbClr val="000000">
                    <a:tint val="75000"/>
                  </a:srgbClr>
                </a:solidFill>
              </a:rPr>
              <a:pPr/>
              <a:t>‹#›</a:t>
            </a:fld>
            <a:endParaRPr lang="en-US">
              <a:solidFill>
                <a:srgbClr val="000000">
                  <a:tint val="75000"/>
                </a:srgbClr>
              </a:solidFill>
            </a:endParaRPr>
          </a:p>
        </p:txBody>
      </p:sp>
      <p:pic>
        <p:nvPicPr>
          <p:cNvPr id="7" name="TI Logo Color One Line" descr="tilogo_color_oneline.png" hidden="1"/>
          <p:cNvPicPr>
            <a:picLocks noChangeAspect="1"/>
          </p:cNvPicPr>
          <p:nvPr/>
        </p:nvPicPr>
        <p:blipFill>
          <a:blip r:embed="rId13" cstate="print"/>
          <a:stretch>
            <a:fillRect/>
          </a:stretch>
        </p:blipFill>
        <p:spPr>
          <a:xfrm>
            <a:off x="147730" y="6101890"/>
            <a:ext cx="1840840" cy="237724"/>
          </a:xfrm>
          <a:prstGeom prst="rect">
            <a:avLst/>
          </a:prstGeom>
        </p:spPr>
      </p:pic>
      <p:pic>
        <p:nvPicPr>
          <p:cNvPr id="8" name="TI Logo White One Line" descr="tilogo_bw_oneline.png" hidden="1"/>
          <p:cNvPicPr>
            <a:picLocks noChangeAspect="1"/>
          </p:cNvPicPr>
          <p:nvPr/>
        </p:nvPicPr>
        <p:blipFill>
          <a:blip r:embed="rId14" cstate="print"/>
          <a:stretch>
            <a:fillRect/>
          </a:stretch>
        </p:blipFill>
        <p:spPr>
          <a:xfrm>
            <a:off x="136939" y="5288938"/>
            <a:ext cx="1822553" cy="237724"/>
          </a:xfrm>
          <a:prstGeom prst="rect">
            <a:avLst/>
          </a:prstGeom>
        </p:spPr>
      </p:pic>
      <p:pic>
        <p:nvPicPr>
          <p:cNvPr id="9" name="TI Logo White Stack" descr="tilogo_bw_twoline.png" hidden="1"/>
          <p:cNvPicPr>
            <a:picLocks noChangeAspect="1"/>
          </p:cNvPicPr>
          <p:nvPr/>
        </p:nvPicPr>
        <p:blipFill>
          <a:blip r:embed="rId15" cstate="print"/>
          <a:stretch>
            <a:fillRect/>
          </a:stretch>
        </p:blipFill>
        <p:spPr>
          <a:xfrm>
            <a:off x="121847" y="5656160"/>
            <a:ext cx="1456824" cy="353539"/>
          </a:xfrm>
          <a:prstGeom prst="rect">
            <a:avLst/>
          </a:prstGeom>
        </p:spPr>
      </p:pic>
      <p:pic>
        <p:nvPicPr>
          <p:cNvPr id="10" name="TI Logo Color Stack" descr="tilogo_color_twoline.png" hidden="1"/>
          <p:cNvPicPr>
            <a:picLocks noChangeAspect="1"/>
          </p:cNvPicPr>
          <p:nvPr/>
        </p:nvPicPr>
        <p:blipFill>
          <a:blip r:embed="rId16" cstate="print"/>
          <a:stretch>
            <a:fillRect/>
          </a:stretch>
        </p:blipFill>
        <p:spPr>
          <a:xfrm>
            <a:off x="127241" y="6399926"/>
            <a:ext cx="1438537" cy="347443"/>
          </a:xfrm>
          <a:prstGeom prst="rect">
            <a:avLst/>
          </a:prstGeom>
        </p:spPr>
      </p:pic>
    </p:spTree>
    <p:extLst>
      <p:ext uri="{BB962C8B-B14F-4D97-AF65-F5344CB8AC3E}">
        <p14:creationId xmlns:p14="http://schemas.microsoft.com/office/powerpoint/2010/main" val="4149852102"/>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Lst>
  <p:transition>
    <p:fade/>
  </p:transition>
  <p:txStyles>
    <p:titleStyle>
      <a:lvl1pPr algn="ctr" defTabSz="914400" rtl="0" eaLnBrk="1" latinLnBrk="0" hangingPunct="1">
        <a:spcBef>
          <a:spcPct val="0"/>
        </a:spcBef>
        <a:buNone/>
        <a:defRPr sz="3600" b="1" kern="1200" baseline="0">
          <a:solidFill>
            <a:schemeClr val="tx2"/>
          </a:solidFill>
          <a:latin typeface="+mj-lt"/>
          <a:ea typeface="+mj-ea"/>
          <a:cs typeface="+mj-cs"/>
        </a:defRPr>
      </a:lvl1pPr>
    </p:titleStyle>
    <p:bodyStyle>
      <a:lvl1pPr marL="342900" indent="-342900" algn="l" defTabSz="914400" rtl="0" eaLnBrk="1" latinLnBrk="0" hangingPunct="1">
        <a:spcBef>
          <a:spcPct val="20000"/>
        </a:spcBef>
        <a:buClr>
          <a:schemeClr val="tx2"/>
        </a:buClr>
        <a:buSzPct val="75000"/>
        <a:buFont typeface="Wingdings" pitchFamily="2" charset="2"/>
        <a:buChar char=""/>
        <a:defRPr sz="3200" b="1" kern="1200">
          <a:solidFill>
            <a:schemeClr val="tx1"/>
          </a:solidFill>
          <a:latin typeface="+mn-lt"/>
          <a:ea typeface="+mn-ea"/>
          <a:cs typeface="+mn-cs"/>
        </a:defRPr>
      </a:lvl1pPr>
      <a:lvl2pPr marL="742950" indent="-285750" algn="l" defTabSz="914400" rtl="0" eaLnBrk="1" latinLnBrk="0" hangingPunct="1">
        <a:spcBef>
          <a:spcPct val="20000"/>
        </a:spcBef>
        <a:buClr>
          <a:schemeClr val="tx2"/>
        </a:buClr>
        <a:buSzPct val="75000"/>
        <a:buFont typeface="Wingdings" pitchFamily="2" charset="2"/>
        <a:buChar char=""/>
        <a:defRPr sz="2800" b="1"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SzPct val="75000"/>
        <a:buFont typeface="Wingdings" pitchFamily="2" charset="2"/>
        <a:buChar char=""/>
        <a:defRPr sz="2400" b="1"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SzPct val="75000"/>
        <a:buFont typeface="Wingdings" pitchFamily="2" charset="2"/>
        <a:buChar char=""/>
        <a:defRPr sz="2000" b="1"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SzPct val="75000"/>
        <a:buFont typeface="Wingdings" pitchFamily="2" charset="2"/>
        <a:buChar char=""/>
        <a:defRPr sz="2000" b="1"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9.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9.xml"/><Relationship Id="rId1" Type="http://schemas.openxmlformats.org/officeDocument/2006/relationships/tags" Target="../tags/tag2.xml"/><Relationship Id="rId4" Type="http://schemas.openxmlformats.org/officeDocument/2006/relationships/image" Target="../media/image13.w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image" Target="../media/image14.png"/><Relationship Id="rId18" Type="http://schemas.openxmlformats.org/officeDocument/2006/relationships/slide" Target="slide17.xml"/><Relationship Id="rId3" Type="http://schemas.openxmlformats.org/officeDocument/2006/relationships/tags" Target="../tags/tag5.xml"/><Relationship Id="rId21" Type="http://schemas.openxmlformats.org/officeDocument/2006/relationships/slide" Target="slide27.xml"/><Relationship Id="rId7" Type="http://schemas.openxmlformats.org/officeDocument/2006/relationships/tags" Target="../tags/tag9.xml"/><Relationship Id="rId12" Type="http://schemas.openxmlformats.org/officeDocument/2006/relationships/slideLayout" Target="../slideLayouts/slideLayout9.xml"/><Relationship Id="rId17" Type="http://schemas.openxmlformats.org/officeDocument/2006/relationships/slide" Target="slide11.xml"/><Relationship Id="rId2" Type="http://schemas.openxmlformats.org/officeDocument/2006/relationships/tags" Target="../tags/tag4.xml"/><Relationship Id="rId16" Type="http://schemas.openxmlformats.org/officeDocument/2006/relationships/slide" Target="slide8.xml"/><Relationship Id="rId20" Type="http://schemas.openxmlformats.org/officeDocument/2006/relationships/slide" Target="slide24.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5" Type="http://schemas.openxmlformats.org/officeDocument/2006/relationships/slide" Target="slide6.xml"/><Relationship Id="rId23" Type="http://schemas.openxmlformats.org/officeDocument/2006/relationships/slide" Target="slide33.xml"/><Relationship Id="rId10" Type="http://schemas.openxmlformats.org/officeDocument/2006/relationships/tags" Target="../tags/tag12.xml"/><Relationship Id="rId19" Type="http://schemas.openxmlformats.org/officeDocument/2006/relationships/slide" Target="slide21.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slide" Target="slide5.xml"/><Relationship Id="rId22" Type="http://schemas.openxmlformats.org/officeDocument/2006/relationships/slide" Target="slide30.xml"/></Relationships>
</file>

<file path=ppt/slides/_rels/slide6.xml.rels><?xml version="1.0" encoding="UTF-8" standalone="yes"?>
<Relationships xmlns="http://schemas.openxmlformats.org/package/2006/relationships"><Relationship Id="rId8" Type="http://schemas.openxmlformats.org/officeDocument/2006/relationships/tags" Target="../tags/tag21.xml"/><Relationship Id="rId13" Type="http://schemas.openxmlformats.org/officeDocument/2006/relationships/image" Target="../media/image14.png"/><Relationship Id="rId18" Type="http://schemas.openxmlformats.org/officeDocument/2006/relationships/slide" Target="slide17.xml"/><Relationship Id="rId3" Type="http://schemas.openxmlformats.org/officeDocument/2006/relationships/tags" Target="../tags/tag16.xml"/><Relationship Id="rId21" Type="http://schemas.openxmlformats.org/officeDocument/2006/relationships/slide" Target="slide27.xml"/><Relationship Id="rId7" Type="http://schemas.openxmlformats.org/officeDocument/2006/relationships/tags" Target="../tags/tag20.xml"/><Relationship Id="rId12" Type="http://schemas.openxmlformats.org/officeDocument/2006/relationships/slideLayout" Target="../slideLayouts/slideLayout9.xml"/><Relationship Id="rId17" Type="http://schemas.openxmlformats.org/officeDocument/2006/relationships/slide" Target="slide11.xml"/><Relationship Id="rId2" Type="http://schemas.openxmlformats.org/officeDocument/2006/relationships/tags" Target="../tags/tag15.xml"/><Relationship Id="rId16" Type="http://schemas.openxmlformats.org/officeDocument/2006/relationships/slide" Target="slide8.xml"/><Relationship Id="rId20" Type="http://schemas.openxmlformats.org/officeDocument/2006/relationships/slide" Target="slide24.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tags" Target="../tags/tag24.xml"/><Relationship Id="rId5" Type="http://schemas.openxmlformats.org/officeDocument/2006/relationships/tags" Target="../tags/tag18.xml"/><Relationship Id="rId15" Type="http://schemas.openxmlformats.org/officeDocument/2006/relationships/slide" Target="slide6.xml"/><Relationship Id="rId23" Type="http://schemas.openxmlformats.org/officeDocument/2006/relationships/slide" Target="slide33.xml"/><Relationship Id="rId10" Type="http://schemas.openxmlformats.org/officeDocument/2006/relationships/tags" Target="../tags/tag23.xml"/><Relationship Id="rId19" Type="http://schemas.openxmlformats.org/officeDocument/2006/relationships/slide" Target="slide21.xml"/><Relationship Id="rId4" Type="http://schemas.openxmlformats.org/officeDocument/2006/relationships/tags" Target="../tags/tag17.xml"/><Relationship Id="rId9" Type="http://schemas.openxmlformats.org/officeDocument/2006/relationships/tags" Target="../tags/tag22.xml"/><Relationship Id="rId14" Type="http://schemas.openxmlformats.org/officeDocument/2006/relationships/slide" Target="slide5.xml"/><Relationship Id="rId22" Type="http://schemas.openxmlformats.org/officeDocument/2006/relationships/slide" Target="slide3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9.xml"/><Relationship Id="rId1" Type="http://schemas.openxmlformats.org/officeDocument/2006/relationships/tags" Target="../tags/tag25.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tags" Target="../tags/tag33.xml"/><Relationship Id="rId13" Type="http://schemas.openxmlformats.org/officeDocument/2006/relationships/image" Target="../media/image14.png"/><Relationship Id="rId18" Type="http://schemas.openxmlformats.org/officeDocument/2006/relationships/slide" Target="slide17.xml"/><Relationship Id="rId3" Type="http://schemas.openxmlformats.org/officeDocument/2006/relationships/tags" Target="../tags/tag28.xml"/><Relationship Id="rId21" Type="http://schemas.openxmlformats.org/officeDocument/2006/relationships/slide" Target="slide27.xml"/><Relationship Id="rId7" Type="http://schemas.openxmlformats.org/officeDocument/2006/relationships/tags" Target="../tags/tag32.xml"/><Relationship Id="rId12" Type="http://schemas.openxmlformats.org/officeDocument/2006/relationships/slideLayout" Target="../slideLayouts/slideLayout9.xml"/><Relationship Id="rId17" Type="http://schemas.openxmlformats.org/officeDocument/2006/relationships/slide" Target="slide11.xml"/><Relationship Id="rId2" Type="http://schemas.openxmlformats.org/officeDocument/2006/relationships/tags" Target="../tags/tag27.xml"/><Relationship Id="rId16" Type="http://schemas.openxmlformats.org/officeDocument/2006/relationships/slide" Target="slide8.xml"/><Relationship Id="rId20" Type="http://schemas.openxmlformats.org/officeDocument/2006/relationships/slide" Target="slide24.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tags" Target="../tags/tag36.xml"/><Relationship Id="rId5" Type="http://schemas.openxmlformats.org/officeDocument/2006/relationships/tags" Target="../tags/tag30.xml"/><Relationship Id="rId15" Type="http://schemas.openxmlformats.org/officeDocument/2006/relationships/slide" Target="slide6.xml"/><Relationship Id="rId23" Type="http://schemas.openxmlformats.org/officeDocument/2006/relationships/slide" Target="slide33.xml"/><Relationship Id="rId10" Type="http://schemas.openxmlformats.org/officeDocument/2006/relationships/tags" Target="../tags/tag35.xml"/><Relationship Id="rId19" Type="http://schemas.openxmlformats.org/officeDocument/2006/relationships/slide" Target="slide21.xml"/><Relationship Id="rId4" Type="http://schemas.openxmlformats.org/officeDocument/2006/relationships/tags" Target="../tags/tag29.xml"/><Relationship Id="rId9" Type="http://schemas.openxmlformats.org/officeDocument/2006/relationships/tags" Target="../tags/tag34.xml"/><Relationship Id="rId14" Type="http://schemas.openxmlformats.org/officeDocument/2006/relationships/slide" Target="slide5.xml"/><Relationship Id="rId22" Type="http://schemas.openxmlformats.org/officeDocument/2006/relationships/slide" Target="slide30.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0.xml"/><Relationship Id="rId1" Type="http://schemas.openxmlformats.org/officeDocument/2006/relationships/tags" Target="../tags/tag37.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tags" Target="../tags/tag45.xml"/><Relationship Id="rId13" Type="http://schemas.openxmlformats.org/officeDocument/2006/relationships/image" Target="../media/image14.png"/><Relationship Id="rId18" Type="http://schemas.openxmlformats.org/officeDocument/2006/relationships/slide" Target="slide17.xml"/><Relationship Id="rId3" Type="http://schemas.openxmlformats.org/officeDocument/2006/relationships/tags" Target="../tags/tag40.xml"/><Relationship Id="rId21" Type="http://schemas.openxmlformats.org/officeDocument/2006/relationships/slide" Target="slide27.xml"/><Relationship Id="rId7" Type="http://schemas.openxmlformats.org/officeDocument/2006/relationships/tags" Target="../tags/tag44.xml"/><Relationship Id="rId12" Type="http://schemas.openxmlformats.org/officeDocument/2006/relationships/slideLayout" Target="../slideLayouts/slideLayout9.xml"/><Relationship Id="rId17" Type="http://schemas.openxmlformats.org/officeDocument/2006/relationships/slide" Target="slide11.xml"/><Relationship Id="rId2" Type="http://schemas.openxmlformats.org/officeDocument/2006/relationships/tags" Target="../tags/tag39.xml"/><Relationship Id="rId16" Type="http://schemas.openxmlformats.org/officeDocument/2006/relationships/slide" Target="slide8.xml"/><Relationship Id="rId20" Type="http://schemas.openxmlformats.org/officeDocument/2006/relationships/slide" Target="slide24.xml"/><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tags" Target="../tags/tag48.xml"/><Relationship Id="rId5" Type="http://schemas.openxmlformats.org/officeDocument/2006/relationships/tags" Target="../tags/tag42.xml"/><Relationship Id="rId15" Type="http://schemas.openxmlformats.org/officeDocument/2006/relationships/slide" Target="slide6.xml"/><Relationship Id="rId23" Type="http://schemas.openxmlformats.org/officeDocument/2006/relationships/slide" Target="slide33.xml"/><Relationship Id="rId10" Type="http://schemas.openxmlformats.org/officeDocument/2006/relationships/tags" Target="../tags/tag47.xml"/><Relationship Id="rId19" Type="http://schemas.openxmlformats.org/officeDocument/2006/relationships/slide" Target="slide21.xml"/><Relationship Id="rId4" Type="http://schemas.openxmlformats.org/officeDocument/2006/relationships/tags" Target="../tags/tag41.xml"/><Relationship Id="rId9" Type="http://schemas.openxmlformats.org/officeDocument/2006/relationships/tags" Target="../tags/tag46.xml"/><Relationship Id="rId14" Type="http://schemas.openxmlformats.org/officeDocument/2006/relationships/slide" Target="slide5.xml"/><Relationship Id="rId22" Type="http://schemas.openxmlformats.org/officeDocument/2006/relationships/slide" Target="slide30.xml"/></Relationships>
</file>

<file path=ppt/slides/_rels/slide12.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image" Target="../media/image19.png"/><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9.xml"/><Relationship Id="rId1" Type="http://schemas.openxmlformats.org/officeDocument/2006/relationships/tags" Target="../tags/tag49.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9.xml"/><Relationship Id="rId1" Type="http://schemas.openxmlformats.org/officeDocument/2006/relationships/tags" Target="../tags/tag50.xml"/></Relationships>
</file>

<file path=ppt/slides/_rels/slide15.xml.rels><?xml version="1.0" encoding="UTF-8" standalone="yes"?>
<Relationships xmlns="http://schemas.openxmlformats.org/package/2006/relationships"><Relationship Id="rId3" Type="http://schemas.openxmlformats.org/officeDocument/2006/relationships/image" Target="../media/image25.jpeg"/><Relationship Id="rId7" Type="http://schemas.openxmlformats.org/officeDocument/2006/relationships/image" Target="../media/image29.jpeg"/><Relationship Id="rId2" Type="http://schemas.openxmlformats.org/officeDocument/2006/relationships/slideLayout" Target="../slideLayouts/slideLayout9.xml"/><Relationship Id="rId1" Type="http://schemas.openxmlformats.org/officeDocument/2006/relationships/tags" Target="../tags/tag51.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s/_rels/slide1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slideLayout" Target="../slideLayouts/slideLayout9.xml"/><Relationship Id="rId1" Type="http://schemas.openxmlformats.org/officeDocument/2006/relationships/tags" Target="../tags/tag52.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8" Type="http://schemas.openxmlformats.org/officeDocument/2006/relationships/tags" Target="../tags/tag60.xml"/><Relationship Id="rId13" Type="http://schemas.openxmlformats.org/officeDocument/2006/relationships/image" Target="../media/image14.png"/><Relationship Id="rId18" Type="http://schemas.openxmlformats.org/officeDocument/2006/relationships/slide" Target="slide17.xml"/><Relationship Id="rId3" Type="http://schemas.openxmlformats.org/officeDocument/2006/relationships/tags" Target="../tags/tag55.xml"/><Relationship Id="rId21" Type="http://schemas.openxmlformats.org/officeDocument/2006/relationships/slide" Target="slide27.xml"/><Relationship Id="rId7" Type="http://schemas.openxmlformats.org/officeDocument/2006/relationships/tags" Target="../tags/tag59.xml"/><Relationship Id="rId12" Type="http://schemas.openxmlformats.org/officeDocument/2006/relationships/slideLayout" Target="../slideLayouts/slideLayout9.xml"/><Relationship Id="rId17" Type="http://schemas.openxmlformats.org/officeDocument/2006/relationships/slide" Target="slide11.xml"/><Relationship Id="rId2" Type="http://schemas.openxmlformats.org/officeDocument/2006/relationships/tags" Target="../tags/tag54.xml"/><Relationship Id="rId16" Type="http://schemas.openxmlformats.org/officeDocument/2006/relationships/slide" Target="slide8.xml"/><Relationship Id="rId20" Type="http://schemas.openxmlformats.org/officeDocument/2006/relationships/slide" Target="slide24.xml"/><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tags" Target="../tags/tag63.xml"/><Relationship Id="rId5" Type="http://schemas.openxmlformats.org/officeDocument/2006/relationships/tags" Target="../tags/tag57.xml"/><Relationship Id="rId15" Type="http://schemas.openxmlformats.org/officeDocument/2006/relationships/slide" Target="slide6.xml"/><Relationship Id="rId23" Type="http://schemas.openxmlformats.org/officeDocument/2006/relationships/slide" Target="slide33.xml"/><Relationship Id="rId10" Type="http://schemas.openxmlformats.org/officeDocument/2006/relationships/tags" Target="../tags/tag62.xml"/><Relationship Id="rId19" Type="http://schemas.openxmlformats.org/officeDocument/2006/relationships/slide" Target="slide21.xml"/><Relationship Id="rId4" Type="http://schemas.openxmlformats.org/officeDocument/2006/relationships/tags" Target="../tags/tag56.xml"/><Relationship Id="rId9" Type="http://schemas.openxmlformats.org/officeDocument/2006/relationships/tags" Target="../tags/tag61.xml"/><Relationship Id="rId14" Type="http://schemas.openxmlformats.org/officeDocument/2006/relationships/slide" Target="slide5.xml"/><Relationship Id="rId22" Type="http://schemas.openxmlformats.org/officeDocument/2006/relationships/slide" Target="slide30.xml"/></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14.png"/><Relationship Id="rId18" Type="http://schemas.openxmlformats.org/officeDocument/2006/relationships/slide" Target="slide17.xml"/><Relationship Id="rId3" Type="http://schemas.openxmlformats.org/officeDocument/2006/relationships/tags" Target="../tags/tag66.xml"/><Relationship Id="rId21" Type="http://schemas.openxmlformats.org/officeDocument/2006/relationships/slide" Target="slide27.xml"/><Relationship Id="rId7" Type="http://schemas.openxmlformats.org/officeDocument/2006/relationships/tags" Target="../tags/tag70.xml"/><Relationship Id="rId12" Type="http://schemas.openxmlformats.org/officeDocument/2006/relationships/slideLayout" Target="../slideLayouts/slideLayout9.xml"/><Relationship Id="rId17" Type="http://schemas.openxmlformats.org/officeDocument/2006/relationships/slide" Target="slide11.xml"/><Relationship Id="rId2" Type="http://schemas.openxmlformats.org/officeDocument/2006/relationships/tags" Target="../tags/tag65.xml"/><Relationship Id="rId16" Type="http://schemas.openxmlformats.org/officeDocument/2006/relationships/slide" Target="slide8.xml"/><Relationship Id="rId20" Type="http://schemas.openxmlformats.org/officeDocument/2006/relationships/slide" Target="slide24.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tags" Target="../tags/tag74.xml"/><Relationship Id="rId5" Type="http://schemas.openxmlformats.org/officeDocument/2006/relationships/tags" Target="../tags/tag68.xml"/><Relationship Id="rId15" Type="http://schemas.openxmlformats.org/officeDocument/2006/relationships/slide" Target="slide6.xml"/><Relationship Id="rId23" Type="http://schemas.openxmlformats.org/officeDocument/2006/relationships/slide" Target="slide33.xml"/><Relationship Id="rId10" Type="http://schemas.openxmlformats.org/officeDocument/2006/relationships/tags" Target="../tags/tag73.xml"/><Relationship Id="rId19" Type="http://schemas.openxmlformats.org/officeDocument/2006/relationships/slide" Target="slide21.xml"/><Relationship Id="rId4" Type="http://schemas.openxmlformats.org/officeDocument/2006/relationships/tags" Target="../tags/tag67.xml"/><Relationship Id="rId9" Type="http://schemas.openxmlformats.org/officeDocument/2006/relationships/tags" Target="../tags/tag72.xml"/><Relationship Id="rId14" Type="http://schemas.openxmlformats.org/officeDocument/2006/relationships/slide" Target="slide5.xml"/><Relationship Id="rId22" Type="http://schemas.openxmlformats.org/officeDocument/2006/relationships/slide" Target="slide30.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9.xml"/><Relationship Id="rId5" Type="http://schemas.openxmlformats.org/officeDocument/2006/relationships/image" Target="../media/image41.png"/><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8" Type="http://schemas.openxmlformats.org/officeDocument/2006/relationships/tags" Target="../tags/tag82.xml"/><Relationship Id="rId13" Type="http://schemas.openxmlformats.org/officeDocument/2006/relationships/image" Target="../media/image14.png"/><Relationship Id="rId18" Type="http://schemas.openxmlformats.org/officeDocument/2006/relationships/slide" Target="slide17.xml"/><Relationship Id="rId3" Type="http://schemas.openxmlformats.org/officeDocument/2006/relationships/tags" Target="../tags/tag77.xml"/><Relationship Id="rId21" Type="http://schemas.openxmlformats.org/officeDocument/2006/relationships/slide" Target="slide27.xml"/><Relationship Id="rId7" Type="http://schemas.openxmlformats.org/officeDocument/2006/relationships/tags" Target="../tags/tag81.xml"/><Relationship Id="rId12" Type="http://schemas.openxmlformats.org/officeDocument/2006/relationships/slideLayout" Target="../slideLayouts/slideLayout9.xml"/><Relationship Id="rId17" Type="http://schemas.openxmlformats.org/officeDocument/2006/relationships/slide" Target="slide11.xml"/><Relationship Id="rId2" Type="http://schemas.openxmlformats.org/officeDocument/2006/relationships/tags" Target="../tags/tag76.xml"/><Relationship Id="rId16" Type="http://schemas.openxmlformats.org/officeDocument/2006/relationships/slide" Target="slide8.xml"/><Relationship Id="rId20" Type="http://schemas.openxmlformats.org/officeDocument/2006/relationships/slide" Target="slide24.xml"/><Relationship Id="rId1" Type="http://schemas.openxmlformats.org/officeDocument/2006/relationships/tags" Target="../tags/tag75.xml"/><Relationship Id="rId6" Type="http://schemas.openxmlformats.org/officeDocument/2006/relationships/tags" Target="../tags/tag80.xml"/><Relationship Id="rId11" Type="http://schemas.openxmlformats.org/officeDocument/2006/relationships/tags" Target="../tags/tag85.xml"/><Relationship Id="rId5" Type="http://schemas.openxmlformats.org/officeDocument/2006/relationships/tags" Target="../tags/tag79.xml"/><Relationship Id="rId15" Type="http://schemas.openxmlformats.org/officeDocument/2006/relationships/slide" Target="slide6.xml"/><Relationship Id="rId23" Type="http://schemas.openxmlformats.org/officeDocument/2006/relationships/slide" Target="slide33.xml"/><Relationship Id="rId10" Type="http://schemas.openxmlformats.org/officeDocument/2006/relationships/tags" Target="../tags/tag84.xml"/><Relationship Id="rId19" Type="http://schemas.openxmlformats.org/officeDocument/2006/relationships/slide" Target="slide21.xml"/><Relationship Id="rId4" Type="http://schemas.openxmlformats.org/officeDocument/2006/relationships/tags" Target="../tags/tag78.xml"/><Relationship Id="rId9" Type="http://schemas.openxmlformats.org/officeDocument/2006/relationships/tags" Target="../tags/tag83.xml"/><Relationship Id="rId14" Type="http://schemas.openxmlformats.org/officeDocument/2006/relationships/slide" Target="slide5.xml"/><Relationship Id="rId22" Type="http://schemas.openxmlformats.org/officeDocument/2006/relationships/slide" Target="slide30.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tags" Target="../tags/tag88.xml"/><Relationship Id="rId7" Type="http://schemas.openxmlformats.org/officeDocument/2006/relationships/image" Target="../media/image14.png"/><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slideLayout" Target="../slideLayouts/slideLayout9.xml"/><Relationship Id="rId11" Type="http://schemas.openxmlformats.org/officeDocument/2006/relationships/slide" Target="slide33.xml"/><Relationship Id="rId5" Type="http://schemas.openxmlformats.org/officeDocument/2006/relationships/tags" Target="../tags/tag90.xml"/><Relationship Id="rId10" Type="http://schemas.openxmlformats.org/officeDocument/2006/relationships/slide" Target="slide30.xml"/><Relationship Id="rId4" Type="http://schemas.openxmlformats.org/officeDocument/2006/relationships/tags" Target="../tags/tag89.xml"/><Relationship Id="rId9" Type="http://schemas.openxmlformats.org/officeDocument/2006/relationships/slide" Target="slide27.xml"/></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9.xml"/><Relationship Id="rId4" Type="http://schemas.openxmlformats.org/officeDocument/2006/relationships/image" Target="../media/image47.png"/></Relationships>
</file>

<file path=ppt/slides/_rels/slide30.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tags" Target="../tags/tag93.xml"/><Relationship Id="rId7" Type="http://schemas.openxmlformats.org/officeDocument/2006/relationships/image" Target="../media/image14.png"/><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slideLayout" Target="../slideLayouts/slideLayout9.xml"/><Relationship Id="rId11" Type="http://schemas.openxmlformats.org/officeDocument/2006/relationships/slide" Target="slide33.xml"/><Relationship Id="rId5" Type="http://schemas.openxmlformats.org/officeDocument/2006/relationships/tags" Target="../tags/tag95.xml"/><Relationship Id="rId10" Type="http://schemas.openxmlformats.org/officeDocument/2006/relationships/slide" Target="slide30.xml"/><Relationship Id="rId4" Type="http://schemas.openxmlformats.org/officeDocument/2006/relationships/tags" Target="../tags/tag94.xml"/><Relationship Id="rId9" Type="http://schemas.openxmlformats.org/officeDocument/2006/relationships/slide" Target="slide27.xml"/></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9.xml"/><Relationship Id="rId5" Type="http://schemas.openxmlformats.org/officeDocument/2006/relationships/image" Target="../media/image51.png"/><Relationship Id="rId4" Type="http://schemas.openxmlformats.org/officeDocument/2006/relationships/image" Target="../media/image50.png"/></Relationships>
</file>

<file path=ppt/slides/_rels/slide32.xml.rels><?xml version="1.0" encoding="UTF-8" standalone="yes"?>
<Relationships xmlns="http://schemas.openxmlformats.org/package/2006/relationships"><Relationship Id="rId3" Type="http://schemas.openxmlformats.org/officeDocument/2006/relationships/image" Target="../media/image52.wmf"/><Relationship Id="rId7" Type="http://schemas.openxmlformats.org/officeDocument/2006/relationships/image" Target="../media/image56.jpe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55.png"/><Relationship Id="rId5" Type="http://schemas.openxmlformats.org/officeDocument/2006/relationships/image" Target="../media/image54.wmf"/><Relationship Id="rId4" Type="http://schemas.openxmlformats.org/officeDocument/2006/relationships/image" Target="../media/image53.wmf"/></Relationships>
</file>

<file path=ppt/slides/_rels/slide33.xml.rels><?xml version="1.0" encoding="UTF-8" standalone="yes"?>
<Relationships xmlns="http://schemas.openxmlformats.org/package/2006/relationships"><Relationship Id="rId8" Type="http://schemas.openxmlformats.org/officeDocument/2006/relationships/tags" Target="../tags/tag103.xml"/><Relationship Id="rId13" Type="http://schemas.openxmlformats.org/officeDocument/2006/relationships/image" Target="../media/image14.png"/><Relationship Id="rId18" Type="http://schemas.openxmlformats.org/officeDocument/2006/relationships/slide" Target="slide17.xml"/><Relationship Id="rId3" Type="http://schemas.openxmlformats.org/officeDocument/2006/relationships/tags" Target="../tags/tag98.xml"/><Relationship Id="rId21" Type="http://schemas.openxmlformats.org/officeDocument/2006/relationships/slide" Target="slide27.xml"/><Relationship Id="rId7" Type="http://schemas.openxmlformats.org/officeDocument/2006/relationships/tags" Target="../tags/tag102.xml"/><Relationship Id="rId12" Type="http://schemas.openxmlformats.org/officeDocument/2006/relationships/slideLayout" Target="../slideLayouts/slideLayout9.xml"/><Relationship Id="rId17" Type="http://schemas.openxmlformats.org/officeDocument/2006/relationships/slide" Target="slide11.xml"/><Relationship Id="rId2" Type="http://schemas.openxmlformats.org/officeDocument/2006/relationships/tags" Target="../tags/tag97.xml"/><Relationship Id="rId16" Type="http://schemas.openxmlformats.org/officeDocument/2006/relationships/slide" Target="slide8.xml"/><Relationship Id="rId20" Type="http://schemas.openxmlformats.org/officeDocument/2006/relationships/slide" Target="slide24.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tags" Target="../tags/tag106.xml"/><Relationship Id="rId5" Type="http://schemas.openxmlformats.org/officeDocument/2006/relationships/tags" Target="../tags/tag100.xml"/><Relationship Id="rId15" Type="http://schemas.openxmlformats.org/officeDocument/2006/relationships/slide" Target="slide6.xml"/><Relationship Id="rId23" Type="http://schemas.openxmlformats.org/officeDocument/2006/relationships/slide" Target="slide33.xml"/><Relationship Id="rId10" Type="http://schemas.openxmlformats.org/officeDocument/2006/relationships/tags" Target="../tags/tag105.xml"/><Relationship Id="rId19" Type="http://schemas.openxmlformats.org/officeDocument/2006/relationships/slide" Target="slide21.xml"/><Relationship Id="rId4" Type="http://schemas.openxmlformats.org/officeDocument/2006/relationships/tags" Target="../tags/tag99.xml"/><Relationship Id="rId9" Type="http://schemas.openxmlformats.org/officeDocument/2006/relationships/tags" Target="../tags/tag104.xml"/><Relationship Id="rId14" Type="http://schemas.openxmlformats.org/officeDocument/2006/relationships/slide" Target="slide5.xml"/><Relationship Id="rId22" Type="http://schemas.openxmlformats.org/officeDocument/2006/relationships/slide" Target="slide30.xml"/></Relationships>
</file>

<file path=ppt/slides/_rels/slide3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slideLayout" Target="../slideLayouts/slideLayout9.xml"/><Relationship Id="rId1" Type="http://schemas.openxmlformats.org/officeDocument/2006/relationships/tags" Target="../tags/tag107.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35.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slideLayout" Target="../slideLayouts/slideLayout9.xml"/><Relationship Id="rId1" Type="http://schemas.openxmlformats.org/officeDocument/2006/relationships/tags" Target="../tags/tag108.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0.xml"/><Relationship Id="rId1" Type="http://schemas.openxmlformats.org/officeDocument/2006/relationships/tags" Target="../tags/tag109.xml"/><Relationship Id="rId4" Type="http://schemas.openxmlformats.org/officeDocument/2006/relationships/image" Target="../media/image67.jpeg"/></Relationships>
</file>

<file path=ppt/slides/_rels/slide3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slideLayout" Target="../slideLayouts/slideLayout9.xml"/><Relationship Id="rId1" Type="http://schemas.openxmlformats.org/officeDocument/2006/relationships/tags" Target="../tags/tag110.xml"/></Relationships>
</file>

<file path=ppt/slides/_rels/slide3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slideLayout" Target="../slideLayouts/slideLayout9.xml"/><Relationship Id="rId1" Type="http://schemas.openxmlformats.org/officeDocument/2006/relationships/tags" Target="../tags/tag111.xml"/></Relationships>
</file>

<file path=ppt/slides/_rels/slide3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slideLayout" Target="../slideLayouts/slideLayout9.xml"/><Relationship Id="rId1" Type="http://schemas.openxmlformats.org/officeDocument/2006/relationships/tags" Target="../tags/tag112.xml"/></Relationships>
</file>

<file path=ppt/slides/_rels/slide4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slideLayout" Target="../slideLayouts/slideLayout9.xml"/><Relationship Id="rId1" Type="http://schemas.openxmlformats.org/officeDocument/2006/relationships/tags" Target="../tags/tag113.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114.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115.xml"/></Relationships>
</file>

<file path=ppt/slides/_rels/slide4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slideLayout" Target="../slideLayouts/slideLayout9.xml"/><Relationship Id="rId1" Type="http://schemas.openxmlformats.org/officeDocument/2006/relationships/tags" Target="../tags/tag116.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9.xml"/><Relationship Id="rId4" Type="http://schemas.openxmlformats.org/officeDocument/2006/relationships/slide" Target="slide4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3" Type="http://schemas.openxmlformats.org/officeDocument/2006/relationships/tags" Target="../tags/tag119.xml"/><Relationship Id="rId7" Type="http://schemas.openxmlformats.org/officeDocument/2006/relationships/image" Target="../media/image14.png"/><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slideLayout" Target="../slideLayouts/slideLayout9.xml"/><Relationship Id="rId5" Type="http://schemas.openxmlformats.org/officeDocument/2006/relationships/tags" Target="../tags/tag121.xml"/><Relationship Id="rId4" Type="http://schemas.openxmlformats.org/officeDocument/2006/relationships/tags" Target="../tags/tag1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2228"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265874176"/>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63266" name="Rectangle 2"/>
          <p:cNvSpPr>
            <a:spLocks noChangeArrowheads="1"/>
          </p:cNvSpPr>
          <p:nvPr/>
        </p:nvSpPr>
        <p:spPr bwMode="auto">
          <a:xfrm>
            <a:off x="0" y="0"/>
            <a:ext cx="9144000" cy="6858000"/>
          </a:xfrm>
          <a:prstGeom prst="rect">
            <a:avLst/>
          </a:prstGeom>
          <a:solidFill>
            <a:schemeClr val="tx1"/>
          </a:solidFill>
          <a:ln w="12700">
            <a:solidFill>
              <a:schemeClr val="tx1"/>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075" name="Rectangle 3"/>
          <p:cNvSpPr>
            <a:spLocks noGrp="1" noChangeArrowheads="1"/>
          </p:cNvSpPr>
          <p:nvPr>
            <p:ph type="title"/>
          </p:nvPr>
        </p:nvSpPr>
        <p:spPr/>
        <p:txBody>
          <a:bodyPr/>
          <a:lstStyle/>
          <a:p>
            <a:r>
              <a:rPr lang="en-US" smtClean="0">
                <a:solidFill>
                  <a:srgbClr val="FFFF66"/>
                </a:solidFill>
              </a:rPr>
              <a:t>Objectives</a:t>
            </a:r>
          </a:p>
        </p:txBody>
      </p:sp>
      <p:pic>
        <p:nvPicPr>
          <p:cNvPr id="3076" name="Picture 4" descr="dglxasset[3]"/>
          <p:cNvPicPr>
            <a:picLocks noChangeAspect="1" noChangeArrowheads="1"/>
          </p:cNvPicPr>
          <p:nvPr/>
        </p:nvPicPr>
        <p:blipFill>
          <a:blip r:embed="rId4" cstate="print"/>
          <a:srcRect/>
          <a:stretch>
            <a:fillRect/>
          </a:stretch>
        </p:blipFill>
        <p:spPr bwMode="auto">
          <a:xfrm>
            <a:off x="304800" y="762000"/>
            <a:ext cx="8458200" cy="5894388"/>
          </a:xfrm>
          <a:prstGeom prst="rect">
            <a:avLst/>
          </a:prstGeom>
          <a:noFill/>
          <a:ln w="9525">
            <a:noFill/>
            <a:miter lim="800000"/>
            <a:headEnd/>
            <a:tailEnd/>
          </a:ln>
        </p:spPr>
      </p:pic>
      <p:sp>
        <p:nvSpPr>
          <p:cNvPr id="3077" name="Text Box 5"/>
          <p:cNvSpPr txBox="1">
            <a:spLocks noChangeArrowheads="1"/>
          </p:cNvSpPr>
          <p:nvPr/>
        </p:nvSpPr>
        <p:spPr bwMode="auto">
          <a:xfrm>
            <a:off x="1638300" y="1600200"/>
            <a:ext cx="6210300" cy="3853363"/>
          </a:xfrm>
          <a:prstGeom prst="rect">
            <a:avLst/>
          </a:prstGeom>
          <a:noFill/>
          <a:ln w="12700">
            <a:noFill/>
            <a:miter lim="800000"/>
            <a:headEnd type="none" w="sm" len="sm"/>
            <a:tailEnd type="none" w="sm" len="sm"/>
          </a:ln>
        </p:spPr>
        <p:txBody>
          <a:bodyPr wrap="square">
            <a:spAutoFit/>
          </a:bodyPr>
          <a:lstStyle/>
          <a:p>
            <a:pPr marL="287338" indent="-287338">
              <a:lnSpc>
                <a:spcPct val="90000"/>
              </a:lnSpc>
              <a:spcBef>
                <a:spcPts val="1200"/>
              </a:spcBef>
              <a:buClr>
                <a:srgbClr val="D60093"/>
              </a:buClr>
              <a:buSzPct val="120000"/>
              <a:buFont typeface="Wingdings" pitchFamily="2" charset="2"/>
              <a:buChar char="§"/>
            </a:pPr>
            <a:r>
              <a:rPr lang="en-US" smtClean="0">
                <a:latin typeface="Arial Narrow" pitchFamily="34" charset="0"/>
              </a:rPr>
              <a:t>Describe </a:t>
            </a:r>
            <a:r>
              <a:rPr lang="en-US">
                <a:latin typeface="Arial Narrow" pitchFamily="34" charset="0"/>
              </a:rPr>
              <a:t>the fundamentals of Code </a:t>
            </a:r>
            <a:r>
              <a:rPr lang="en-US" smtClean="0">
                <a:latin typeface="Arial Narrow" pitchFamily="34" charset="0"/>
              </a:rPr>
              <a:t>ComposerStudio </a:t>
            </a:r>
            <a:r>
              <a:rPr lang="en-US" i="1" u="sng">
                <a:latin typeface="Arial Narrow" pitchFamily="34" charset="0"/>
              </a:rPr>
              <a:t>(CCS) </a:t>
            </a:r>
            <a:r>
              <a:rPr lang="en-US" i="1" u="sng" smtClean="0">
                <a:latin typeface="Arial Narrow" pitchFamily="34" charset="0"/>
              </a:rPr>
              <a:t>v6</a:t>
            </a:r>
            <a:endParaRPr lang="en-US" i="1" u="sng">
              <a:latin typeface="Arial Narrow" pitchFamily="34" charset="0"/>
            </a:endParaRPr>
          </a:p>
          <a:p>
            <a:pPr marL="287338" indent="-287338">
              <a:lnSpc>
                <a:spcPct val="90000"/>
              </a:lnSpc>
              <a:spcBef>
                <a:spcPts val="1200"/>
              </a:spcBef>
              <a:buClr>
                <a:srgbClr val="D60093"/>
              </a:buClr>
              <a:buSzPct val="120000"/>
              <a:buFont typeface="Wingdings" pitchFamily="2" charset="2"/>
              <a:buChar char="§"/>
            </a:pPr>
            <a:r>
              <a:rPr lang="en-US" smtClean="0">
                <a:latin typeface="Arial Narrow" pitchFamily="34" charset="0"/>
              </a:rPr>
              <a:t>Demonstrate </a:t>
            </a:r>
            <a:r>
              <a:rPr lang="en-US" i="1" u="sng">
                <a:latin typeface="Arial Narrow" pitchFamily="34" charset="0"/>
              </a:rPr>
              <a:t>new features</a:t>
            </a:r>
            <a:r>
              <a:rPr lang="en-US">
                <a:latin typeface="Arial Narrow" pitchFamily="34" charset="0"/>
              </a:rPr>
              <a:t> of </a:t>
            </a:r>
            <a:r>
              <a:rPr lang="en-US" smtClean="0">
                <a:latin typeface="Arial Narrow" pitchFamily="34" charset="0"/>
              </a:rPr>
              <a:t>CCSv6 </a:t>
            </a:r>
            <a:r>
              <a:rPr lang="en-US">
                <a:latin typeface="Arial Narrow" pitchFamily="34" charset="0"/>
              </a:rPr>
              <a:t>such </a:t>
            </a:r>
            <a:r>
              <a:rPr lang="en-US" smtClean="0">
                <a:latin typeface="Arial Narrow" pitchFamily="34" charset="0"/>
              </a:rPr>
              <a:t>as workspaces</a:t>
            </a:r>
            <a:r>
              <a:rPr lang="en-US">
                <a:latin typeface="Arial Narrow" pitchFamily="34" charset="0"/>
              </a:rPr>
              <a:t>, perspectives and </a:t>
            </a:r>
            <a:r>
              <a:rPr lang="en-US" smtClean="0">
                <a:latin typeface="Arial Narrow" pitchFamily="34" charset="0"/>
              </a:rPr>
              <a:t>views</a:t>
            </a:r>
          </a:p>
          <a:p>
            <a:pPr marL="287338" indent="-287338">
              <a:lnSpc>
                <a:spcPct val="90000"/>
              </a:lnSpc>
              <a:spcBef>
                <a:spcPts val="1200"/>
              </a:spcBef>
              <a:buClr>
                <a:srgbClr val="D60093"/>
              </a:buClr>
              <a:buSzPct val="120000"/>
              <a:buFont typeface="Wingdings" pitchFamily="2" charset="2"/>
              <a:buChar char="§"/>
            </a:pPr>
            <a:r>
              <a:rPr lang="en-US" smtClean="0">
                <a:latin typeface="Arial Narrow" pitchFamily="34" charset="0"/>
              </a:rPr>
              <a:t>Learn how to create a </a:t>
            </a:r>
            <a:r>
              <a:rPr lang="en-US" i="1" u="sng" smtClean="0">
                <a:latin typeface="Arial Narrow" pitchFamily="34" charset="0"/>
              </a:rPr>
              <a:t>new CCS project</a:t>
            </a:r>
          </a:p>
          <a:p>
            <a:pPr marL="287338" indent="-287338">
              <a:lnSpc>
                <a:spcPct val="90000"/>
              </a:lnSpc>
              <a:spcBef>
                <a:spcPts val="1200"/>
              </a:spcBef>
              <a:buClr>
                <a:srgbClr val="D60093"/>
              </a:buClr>
              <a:buSzPct val="120000"/>
              <a:buFont typeface="Wingdings" pitchFamily="2" charset="2"/>
              <a:buChar char="§"/>
            </a:pPr>
            <a:r>
              <a:rPr lang="en-US" smtClean="0">
                <a:latin typeface="Arial Narrow" pitchFamily="34" charset="0"/>
              </a:rPr>
              <a:t>Describe the </a:t>
            </a:r>
            <a:r>
              <a:rPr lang="en-US" i="1" u="sng" smtClean="0">
                <a:latin typeface="Arial Narrow" pitchFamily="34" charset="0"/>
              </a:rPr>
              <a:t>target and emulator options</a:t>
            </a:r>
          </a:p>
          <a:p>
            <a:pPr marL="287338" indent="-287338">
              <a:lnSpc>
                <a:spcPct val="90000"/>
              </a:lnSpc>
              <a:spcBef>
                <a:spcPts val="1200"/>
              </a:spcBef>
              <a:buClr>
                <a:srgbClr val="D60093"/>
              </a:buClr>
              <a:buSzPct val="120000"/>
              <a:buFont typeface="Wingdings" pitchFamily="2" charset="2"/>
              <a:buChar char="§"/>
            </a:pPr>
            <a:r>
              <a:rPr lang="en-US" smtClean="0">
                <a:latin typeface="Arial Narrow" pitchFamily="34" charset="0"/>
              </a:rPr>
              <a:t>Analyze the different CCS </a:t>
            </a:r>
            <a:r>
              <a:rPr lang="en-US" i="1" u="sng" smtClean="0">
                <a:latin typeface="Arial Narrow" pitchFamily="34" charset="0"/>
              </a:rPr>
              <a:t>licensing</a:t>
            </a:r>
            <a:r>
              <a:rPr lang="en-US" smtClean="0">
                <a:latin typeface="Arial Narrow" pitchFamily="34" charset="0"/>
              </a:rPr>
              <a:t> options</a:t>
            </a:r>
            <a:endParaRPr lang="en-US">
              <a:latin typeface="Arial Narrow" pitchFamily="34" charset="0"/>
            </a:endParaRPr>
          </a:p>
          <a:p>
            <a:pPr marL="287338" indent="-287338">
              <a:lnSpc>
                <a:spcPct val="90000"/>
              </a:lnSpc>
              <a:spcBef>
                <a:spcPts val="1200"/>
              </a:spcBef>
              <a:buClr>
                <a:srgbClr val="D60093"/>
              </a:buClr>
              <a:buSzPct val="120000"/>
              <a:buFont typeface="Wingdings" pitchFamily="2" charset="2"/>
              <a:buChar char="§"/>
            </a:pPr>
            <a:r>
              <a:rPr lang="en-US" i="1" u="sng" smtClean="0">
                <a:latin typeface="Arial Narrow" pitchFamily="34" charset="0"/>
              </a:rPr>
              <a:t>Lab</a:t>
            </a:r>
            <a:r>
              <a:rPr lang="en-US" i="1" smtClean="0">
                <a:latin typeface="Arial Narrow" pitchFamily="34" charset="0"/>
              </a:rPr>
              <a:t> </a:t>
            </a:r>
            <a:r>
              <a:rPr lang="en-US" smtClean="0">
                <a:latin typeface="Arial Narrow" pitchFamily="34" charset="0"/>
              </a:rPr>
              <a:t>– </a:t>
            </a:r>
            <a:r>
              <a:rPr lang="en-US">
                <a:latin typeface="Arial Narrow" pitchFamily="34" charset="0"/>
              </a:rPr>
              <a:t>Create, build and debug </a:t>
            </a:r>
            <a:r>
              <a:rPr lang="en-US" smtClean="0">
                <a:latin typeface="Arial Narrow" pitchFamily="34" charset="0"/>
              </a:rPr>
              <a:t>a “blink LED” example </a:t>
            </a:r>
            <a:r>
              <a:rPr lang="en-US">
                <a:latin typeface="Arial Narrow" pitchFamily="34" charset="0"/>
              </a:rPr>
              <a:t>using </a:t>
            </a:r>
            <a:r>
              <a:rPr lang="en-US" smtClean="0">
                <a:latin typeface="Arial Narrow" pitchFamily="34" charset="0"/>
              </a:rPr>
              <a:t>CCSv6</a:t>
            </a:r>
            <a:endParaRPr lang="en-US" i="1" u="sng">
              <a:latin typeface="Arial Narrow" pitchFamily="34" charset="0"/>
            </a:endParaRPr>
          </a:p>
        </p:txBody>
      </p:sp>
    </p:spTree>
    <p:custDataLst>
      <p:tags r:id="rId1"/>
    </p:custData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val 29"/>
          <p:cNvSpPr/>
          <p:nvPr/>
        </p:nvSpPr>
        <p:spPr>
          <a:xfrm>
            <a:off x="231228" y="1205523"/>
            <a:ext cx="8607972" cy="4243754"/>
          </a:xfrm>
          <a:prstGeom prst="ellipse">
            <a:avLst/>
          </a:prstGeom>
          <a:gradFill flip="none" rotWithShape="1">
            <a:gsLst>
              <a:gs pos="0">
                <a:schemeClr val="bg2"/>
              </a:gs>
              <a:gs pos="50000">
                <a:schemeClr val="bg1">
                  <a:lumMod val="85000"/>
                </a:schemeClr>
              </a:gs>
              <a:gs pos="100000">
                <a:schemeClr val="bg1"/>
              </a:gs>
            </a:gsLst>
            <a:path path="circle">
              <a:fillToRect l="50000" t="50000" r="50000" b="50000"/>
            </a:path>
            <a:tileRect/>
          </a:gradFill>
          <a:ln>
            <a:solidFill>
              <a:schemeClr val="bg2">
                <a:lumMod val="20000"/>
                <a:lumOff val="80000"/>
              </a:schemeClr>
            </a:solidFill>
          </a:ln>
          <a:effectLst>
            <a:outerShdw blurRad="40000" dist="23000" dir="5400000" rotWithShape="0">
              <a:schemeClr val="bg1">
                <a:lumMod val="95000"/>
                <a:alpha val="35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solidFill>
                <a:prstClr val="white"/>
              </a:solidFill>
            </a:endParaRPr>
          </a:p>
        </p:txBody>
      </p:sp>
      <p:sp>
        <p:nvSpPr>
          <p:cNvPr id="29" name="Rounded Rectangle 28"/>
          <p:cNvSpPr/>
          <p:nvPr/>
        </p:nvSpPr>
        <p:spPr>
          <a:xfrm>
            <a:off x="2895600" y="3708884"/>
            <a:ext cx="3352800" cy="2158515"/>
          </a:xfrm>
          <a:prstGeom prst="roundRect">
            <a:avLst/>
          </a:prstGeom>
          <a:solidFill>
            <a:srgbClr val="99FF33"/>
          </a:solidFill>
          <a:ln>
            <a:solidFill>
              <a:srgbClr val="000000"/>
            </a:solidFill>
          </a:ln>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solidFill>
                <a:prstClr val="white"/>
              </a:solidFill>
            </a:endParaRPr>
          </a:p>
        </p:txBody>
      </p:sp>
      <p:sp>
        <p:nvSpPr>
          <p:cNvPr id="28" name="Rounded Rectangle 27"/>
          <p:cNvSpPr/>
          <p:nvPr/>
        </p:nvSpPr>
        <p:spPr>
          <a:xfrm>
            <a:off x="3044176" y="3838196"/>
            <a:ext cx="3051823" cy="1876804"/>
          </a:xfrm>
          <a:prstGeom prst="roundRect">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solidFill>
                <a:prstClr val="white"/>
              </a:solidFill>
            </a:endParaRPr>
          </a:p>
        </p:txBody>
      </p:sp>
      <p:sp>
        <p:nvSpPr>
          <p:cNvPr id="26" name="Rounded Rectangle 25"/>
          <p:cNvSpPr/>
          <p:nvPr/>
        </p:nvSpPr>
        <p:spPr>
          <a:xfrm>
            <a:off x="5417945" y="914400"/>
            <a:ext cx="3121574" cy="2297346"/>
          </a:xfrm>
          <a:prstGeom prst="roundRect">
            <a:avLst/>
          </a:prstGeom>
          <a:solidFill>
            <a:schemeClr val="tx2"/>
          </a:solidFill>
          <a:ln>
            <a:solidFill>
              <a:schemeClr val="accent2"/>
            </a:solidFill>
          </a:ln>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solidFill>
                <a:prstClr val="white"/>
              </a:solidFill>
            </a:endParaRPr>
          </a:p>
        </p:txBody>
      </p:sp>
      <p:sp>
        <p:nvSpPr>
          <p:cNvPr id="27" name="Rounded Rectangle 26"/>
          <p:cNvSpPr/>
          <p:nvPr/>
        </p:nvSpPr>
        <p:spPr>
          <a:xfrm>
            <a:off x="5542100" y="1057276"/>
            <a:ext cx="2869324" cy="2006165"/>
          </a:xfrm>
          <a:prstGeom prst="roundRect">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solidFill>
                <a:prstClr val="white"/>
              </a:solidFill>
            </a:endParaRPr>
          </a:p>
        </p:txBody>
      </p:sp>
      <p:sp>
        <p:nvSpPr>
          <p:cNvPr id="25" name="Rounded Rectangle 24"/>
          <p:cNvSpPr/>
          <p:nvPr/>
        </p:nvSpPr>
        <p:spPr>
          <a:xfrm>
            <a:off x="599106" y="914400"/>
            <a:ext cx="3121574" cy="2292131"/>
          </a:xfrm>
          <a:prstGeom prst="roundRect">
            <a:avLst/>
          </a:prstGeom>
          <a:solidFill>
            <a:srgbClr val="15B6CB"/>
          </a:solidFill>
          <a:ln>
            <a:solidFill>
              <a:schemeClr val="tx2"/>
            </a:solidFill>
          </a:ln>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solidFill>
                <a:prstClr val="white"/>
              </a:solidFill>
            </a:endParaRPr>
          </a:p>
        </p:txBody>
      </p:sp>
      <p:sp>
        <p:nvSpPr>
          <p:cNvPr id="22" name="Rounded Rectangle 21"/>
          <p:cNvSpPr/>
          <p:nvPr/>
        </p:nvSpPr>
        <p:spPr>
          <a:xfrm>
            <a:off x="725230" y="1057276"/>
            <a:ext cx="2869324" cy="2005286"/>
          </a:xfrm>
          <a:prstGeom prst="roundRect">
            <a:avLst/>
          </a:prstGeom>
          <a:solidFill>
            <a:schemeClr val="bg1">
              <a:lumMod val="9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solidFill>
                <a:prstClr val="white"/>
              </a:solidFill>
            </a:endParaRPr>
          </a:p>
        </p:txBody>
      </p:sp>
      <p:sp>
        <p:nvSpPr>
          <p:cNvPr id="59" name="Right Arrow 58"/>
          <p:cNvSpPr/>
          <p:nvPr/>
        </p:nvSpPr>
        <p:spPr>
          <a:xfrm rot="18318358">
            <a:off x="6342655" y="3553891"/>
            <a:ext cx="785294" cy="304800"/>
          </a:xfrm>
          <a:prstGeom prst="rightArrow">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prstClr val="white"/>
              </a:solidFill>
            </a:endParaRPr>
          </a:p>
        </p:txBody>
      </p:sp>
      <p:sp>
        <p:nvSpPr>
          <p:cNvPr id="60" name="Right Arrow 59"/>
          <p:cNvSpPr/>
          <p:nvPr/>
        </p:nvSpPr>
        <p:spPr>
          <a:xfrm rot="13633916">
            <a:off x="2049193" y="3572471"/>
            <a:ext cx="748271" cy="304800"/>
          </a:xfrm>
          <a:prstGeom prst="rightArrow">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prstClr val="white"/>
              </a:solidFill>
            </a:endParaRPr>
          </a:p>
        </p:txBody>
      </p:sp>
      <p:sp>
        <p:nvSpPr>
          <p:cNvPr id="51" name="Rectangle 50"/>
          <p:cNvSpPr/>
          <p:nvPr/>
        </p:nvSpPr>
        <p:spPr>
          <a:xfrm>
            <a:off x="828675" y="1589980"/>
            <a:ext cx="2756354" cy="1251625"/>
          </a:xfrm>
          <a:prstGeom prst="rect">
            <a:avLst/>
          </a:prstGeom>
        </p:spPr>
        <p:txBody>
          <a:bodyPr wrap="square">
            <a:spAutoFit/>
          </a:bodyPr>
          <a:lstStyle/>
          <a:p>
            <a:pPr marL="166688" lvl="1" indent="-166688">
              <a:spcBef>
                <a:spcPts val="1200"/>
              </a:spcBef>
              <a:spcAft>
                <a:spcPts val="0"/>
              </a:spcAft>
              <a:buFont typeface="Arial" pitchFamily="34" charset="0"/>
              <a:buChar char="•"/>
              <a:defRPr/>
            </a:pPr>
            <a:r>
              <a:rPr lang="en-US" sz="1600" smtClean="0">
                <a:solidFill>
                  <a:prstClr val="black"/>
                </a:solidFill>
                <a:latin typeface="Calibri" pitchFamily="34" charset="0"/>
                <a:cs typeface="Calibri" pitchFamily="34" charset="0"/>
              </a:rPr>
              <a:t>High-level O/S </a:t>
            </a:r>
            <a:r>
              <a:rPr lang="en-US" sz="1600">
                <a:solidFill>
                  <a:prstClr val="black"/>
                </a:solidFill>
                <a:latin typeface="Calibri" pitchFamily="34" charset="0"/>
                <a:cs typeface="Calibri" pitchFamily="34" charset="0"/>
              </a:rPr>
              <a:t>support </a:t>
            </a:r>
            <a:r>
              <a:rPr lang="en-US" sz="1600" smtClean="0">
                <a:solidFill>
                  <a:prstClr val="black"/>
                </a:solidFill>
                <a:latin typeface="Calibri" pitchFamily="34" charset="0"/>
                <a:cs typeface="Calibri" pitchFamily="34" charset="0"/>
              </a:rPr>
              <a:t>and TI-RTOS</a:t>
            </a:r>
            <a:endParaRPr lang="en-US" sz="1600" dirty="0">
              <a:solidFill>
                <a:prstClr val="black"/>
              </a:solidFill>
              <a:latin typeface="Calibri" pitchFamily="34" charset="0"/>
              <a:cs typeface="Calibri" pitchFamily="34" charset="0"/>
            </a:endParaRPr>
          </a:p>
          <a:p>
            <a:pPr marL="166688" lvl="1" indent="-166688">
              <a:spcBef>
                <a:spcPts val="1200"/>
              </a:spcBef>
              <a:spcAft>
                <a:spcPts val="0"/>
              </a:spcAft>
              <a:buFont typeface="Arial" pitchFamily="34" charset="0"/>
              <a:buChar char="•"/>
              <a:defRPr/>
            </a:pPr>
            <a:r>
              <a:rPr lang="en-US" sz="1600" smtClean="0">
                <a:solidFill>
                  <a:prstClr val="black"/>
                </a:solidFill>
                <a:latin typeface="Calibri" pitchFamily="34" charset="0"/>
                <a:cs typeface="Calibri" pitchFamily="34" charset="0"/>
              </a:rPr>
              <a:t>O/S </a:t>
            </a:r>
            <a:r>
              <a:rPr lang="en-US" sz="1600" dirty="0">
                <a:solidFill>
                  <a:prstClr val="black"/>
                </a:solidFill>
                <a:latin typeface="Calibri" pitchFamily="34" charset="0"/>
                <a:cs typeface="Calibri" pitchFamily="34" charset="0"/>
              </a:rPr>
              <a:t>Independent support and TI-Wares </a:t>
            </a:r>
            <a:r>
              <a:rPr lang="en-US" sz="1600">
                <a:solidFill>
                  <a:prstClr val="black"/>
                </a:solidFill>
                <a:latin typeface="Calibri" pitchFamily="34" charset="0"/>
                <a:cs typeface="Calibri" pitchFamily="34" charset="0"/>
              </a:rPr>
              <a:t>software </a:t>
            </a:r>
            <a:r>
              <a:rPr lang="en-US" sz="1600" smtClean="0">
                <a:solidFill>
                  <a:prstClr val="black"/>
                </a:solidFill>
                <a:latin typeface="Calibri" pitchFamily="34" charset="0"/>
                <a:cs typeface="Calibri" pitchFamily="34" charset="0"/>
              </a:rPr>
              <a:t>packages</a:t>
            </a:r>
            <a:endParaRPr lang="en-US" sz="1600" dirty="0">
              <a:solidFill>
                <a:prstClr val="black"/>
              </a:solidFill>
              <a:latin typeface="Calibri" pitchFamily="34" charset="0"/>
              <a:cs typeface="Calibri" pitchFamily="34" charset="0"/>
            </a:endParaRPr>
          </a:p>
        </p:txBody>
      </p:sp>
      <p:sp>
        <p:nvSpPr>
          <p:cNvPr id="53" name="TextBox 52"/>
          <p:cNvSpPr txBox="1"/>
          <p:nvPr/>
        </p:nvSpPr>
        <p:spPr>
          <a:xfrm>
            <a:off x="793800" y="1177409"/>
            <a:ext cx="2732183" cy="395173"/>
          </a:xfrm>
          <a:prstGeom prst="rect">
            <a:avLst/>
          </a:prstGeom>
          <a:noFill/>
        </p:spPr>
        <p:txBody>
          <a:bodyPr wrap="square" rtlCol="0">
            <a:spAutoFit/>
          </a:bodyPr>
          <a:lstStyle/>
          <a:p>
            <a:pPr algn="ctr"/>
            <a:r>
              <a:rPr lang="en-US" dirty="0">
                <a:solidFill>
                  <a:srgbClr val="FF0000">
                    <a:lumMod val="50000"/>
                  </a:srgbClr>
                </a:solidFill>
                <a:latin typeface="Calibri" pitchFamily="34" charset="0"/>
                <a:cs typeface="Calibri" pitchFamily="34" charset="0"/>
              </a:rPr>
              <a:t> </a:t>
            </a:r>
            <a:r>
              <a:rPr lang="en-US" dirty="0" smtClean="0">
                <a:solidFill>
                  <a:srgbClr val="0083A9"/>
                </a:solidFill>
                <a:latin typeface="Calibri" pitchFamily="34" charset="0"/>
                <a:cs typeface="Calibri" pitchFamily="34" charset="0"/>
              </a:rPr>
              <a:t>Run-Time </a:t>
            </a:r>
            <a:r>
              <a:rPr lang="en-US" dirty="0">
                <a:solidFill>
                  <a:srgbClr val="0083A9"/>
                </a:solidFill>
                <a:latin typeface="Calibri" pitchFamily="34" charset="0"/>
                <a:cs typeface="Calibri" pitchFamily="34" charset="0"/>
              </a:rPr>
              <a:t>Software</a:t>
            </a:r>
          </a:p>
        </p:txBody>
      </p:sp>
      <p:sp>
        <p:nvSpPr>
          <p:cNvPr id="55" name="TextBox 54"/>
          <p:cNvSpPr txBox="1"/>
          <p:nvPr/>
        </p:nvSpPr>
        <p:spPr>
          <a:xfrm>
            <a:off x="5523050" y="1173748"/>
            <a:ext cx="2869323" cy="409023"/>
          </a:xfrm>
          <a:prstGeom prst="rect">
            <a:avLst/>
          </a:prstGeom>
          <a:noFill/>
        </p:spPr>
        <p:txBody>
          <a:bodyPr wrap="square" rtlCol="0">
            <a:spAutoFit/>
          </a:bodyPr>
          <a:lstStyle/>
          <a:p>
            <a:pPr algn="ctr">
              <a:lnSpc>
                <a:spcPct val="85000"/>
              </a:lnSpc>
            </a:pPr>
            <a:r>
              <a:rPr lang="en-US" smtClean="0">
                <a:solidFill>
                  <a:srgbClr val="EE2C24"/>
                </a:solidFill>
                <a:latin typeface="Calibri" pitchFamily="34" charset="0"/>
                <a:cs typeface="Calibri" pitchFamily="34" charset="0"/>
              </a:rPr>
              <a:t>Development  Tools</a:t>
            </a:r>
            <a:endParaRPr lang="en-US" dirty="0">
              <a:solidFill>
                <a:srgbClr val="EE2C24"/>
              </a:solidFill>
              <a:latin typeface="Calibri" pitchFamily="34" charset="0"/>
              <a:cs typeface="Calibri" pitchFamily="34" charset="0"/>
            </a:endParaRPr>
          </a:p>
        </p:txBody>
      </p:sp>
      <p:sp>
        <p:nvSpPr>
          <p:cNvPr id="57" name="Rectangle 56"/>
          <p:cNvSpPr/>
          <p:nvPr/>
        </p:nvSpPr>
        <p:spPr>
          <a:xfrm>
            <a:off x="3148951" y="4371975"/>
            <a:ext cx="3031366" cy="1188018"/>
          </a:xfrm>
          <a:prstGeom prst="rect">
            <a:avLst/>
          </a:prstGeom>
        </p:spPr>
        <p:txBody>
          <a:bodyPr wrap="square">
            <a:spAutoFit/>
          </a:bodyPr>
          <a:lstStyle/>
          <a:p>
            <a:pPr marL="166688" lvl="1" indent="-166688">
              <a:spcBef>
                <a:spcPts val="1200"/>
              </a:spcBef>
              <a:spcAft>
                <a:spcPts val="0"/>
              </a:spcAft>
              <a:buFont typeface="Arial" pitchFamily="34" charset="0"/>
              <a:buChar char="•"/>
              <a:defRPr/>
            </a:pPr>
            <a:r>
              <a:rPr lang="en-US" sz="1600" dirty="0">
                <a:solidFill>
                  <a:prstClr val="black"/>
                </a:solidFill>
                <a:latin typeface="Calibri" pitchFamily="34" charset="0"/>
                <a:cs typeface="Calibri" pitchFamily="34" charset="0"/>
              </a:rPr>
              <a:t>TI Design Network: off-the-shelf software, </a:t>
            </a:r>
            <a:r>
              <a:rPr lang="en-US" sz="1600">
                <a:solidFill>
                  <a:prstClr val="black"/>
                </a:solidFill>
                <a:latin typeface="Calibri" pitchFamily="34" charset="0"/>
                <a:cs typeface="Calibri" pitchFamily="34" charset="0"/>
              </a:rPr>
              <a:t>tools </a:t>
            </a:r>
            <a:r>
              <a:rPr lang="en-US" sz="1600" smtClean="0">
                <a:solidFill>
                  <a:prstClr val="black"/>
                </a:solidFill>
                <a:latin typeface="Calibri" pitchFamily="34" charset="0"/>
                <a:cs typeface="Calibri" pitchFamily="34" charset="0"/>
              </a:rPr>
              <a:t>&amp; </a:t>
            </a:r>
            <a:r>
              <a:rPr lang="en-US" sz="1600" dirty="0">
                <a:solidFill>
                  <a:prstClr val="black"/>
                </a:solidFill>
                <a:latin typeface="Calibri" pitchFamily="34" charset="0"/>
                <a:cs typeface="Calibri" pitchFamily="34" charset="0"/>
              </a:rPr>
              <a:t>services</a:t>
            </a:r>
          </a:p>
          <a:p>
            <a:pPr marL="166688" lvl="1" indent="-166688">
              <a:spcBef>
                <a:spcPts val="1200"/>
              </a:spcBef>
              <a:spcAft>
                <a:spcPts val="0"/>
              </a:spcAft>
              <a:buFont typeface="Arial" pitchFamily="34" charset="0"/>
              <a:buChar char="•"/>
              <a:defRPr/>
            </a:pPr>
            <a:r>
              <a:rPr lang="en-US" sz="1600" dirty="0">
                <a:solidFill>
                  <a:prstClr val="black"/>
                </a:solidFill>
                <a:latin typeface="Calibri" pitchFamily="34" charset="0"/>
                <a:cs typeface="Calibri" pitchFamily="34" charset="0"/>
              </a:rPr>
              <a:t>Forums &amp; Wikis</a:t>
            </a:r>
          </a:p>
          <a:p>
            <a:pPr marL="166688" lvl="1" indent="-166688">
              <a:spcBef>
                <a:spcPts val="1200"/>
              </a:spcBef>
              <a:spcAft>
                <a:spcPts val="0"/>
              </a:spcAft>
              <a:buFont typeface="Arial" pitchFamily="34" charset="0"/>
              <a:buChar char="•"/>
              <a:defRPr/>
            </a:pPr>
            <a:r>
              <a:rPr lang="en-US" sz="1600" dirty="0">
                <a:solidFill>
                  <a:prstClr val="black"/>
                </a:solidFill>
                <a:latin typeface="Calibri" pitchFamily="34" charset="0"/>
                <a:cs typeface="Calibri" pitchFamily="34" charset="0"/>
              </a:rPr>
              <a:t>In-person and online training</a:t>
            </a:r>
          </a:p>
        </p:txBody>
      </p:sp>
      <p:sp>
        <p:nvSpPr>
          <p:cNvPr id="58" name="TextBox 57"/>
          <p:cNvSpPr txBox="1"/>
          <p:nvPr/>
        </p:nvSpPr>
        <p:spPr>
          <a:xfrm>
            <a:off x="3037533" y="3934875"/>
            <a:ext cx="3096566" cy="406265"/>
          </a:xfrm>
          <a:prstGeom prst="rect">
            <a:avLst/>
          </a:prstGeom>
          <a:noFill/>
        </p:spPr>
        <p:txBody>
          <a:bodyPr wrap="square" rtlCol="0">
            <a:spAutoFit/>
          </a:bodyPr>
          <a:lstStyle/>
          <a:p>
            <a:pPr algn="ctr">
              <a:lnSpc>
                <a:spcPct val="85000"/>
              </a:lnSpc>
            </a:pPr>
            <a:r>
              <a:rPr lang="en-US">
                <a:solidFill>
                  <a:srgbClr val="808285"/>
                </a:solidFill>
                <a:latin typeface="Calibri" pitchFamily="34" charset="0"/>
                <a:cs typeface="Calibri" pitchFamily="34" charset="0"/>
              </a:rPr>
              <a:t>Support </a:t>
            </a:r>
            <a:r>
              <a:rPr lang="en-US" smtClean="0">
                <a:solidFill>
                  <a:srgbClr val="808285"/>
                </a:solidFill>
                <a:latin typeface="Calibri" pitchFamily="34" charset="0"/>
                <a:cs typeface="Calibri" pitchFamily="34" charset="0"/>
              </a:rPr>
              <a:t>&amp; Community</a:t>
            </a:r>
            <a:endParaRPr lang="en-US" dirty="0">
              <a:solidFill>
                <a:srgbClr val="808285"/>
              </a:solidFill>
              <a:latin typeface="Calibri" pitchFamily="34" charset="0"/>
              <a:cs typeface="Calibri" pitchFamily="34" charset="0"/>
            </a:endParaRPr>
          </a:p>
        </p:txBody>
      </p:sp>
      <p:sp>
        <p:nvSpPr>
          <p:cNvPr id="61" name="Right Arrow 60"/>
          <p:cNvSpPr/>
          <p:nvPr/>
        </p:nvSpPr>
        <p:spPr>
          <a:xfrm rot="10800000">
            <a:off x="4054461" y="1939198"/>
            <a:ext cx="905106" cy="304800"/>
          </a:xfrm>
          <a:prstGeom prst="rightArrow">
            <a:avLst/>
          </a:prstGeom>
          <a:solidFill>
            <a:schemeClr val="tx1">
              <a:lumMod val="50000"/>
              <a:lumOff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prstClr val="white"/>
              </a:solidFill>
            </a:endParaRPr>
          </a:p>
        </p:txBody>
      </p:sp>
      <p:sp>
        <p:nvSpPr>
          <p:cNvPr id="23" name="Rectangle 22"/>
          <p:cNvSpPr/>
          <p:nvPr/>
        </p:nvSpPr>
        <p:spPr>
          <a:xfrm>
            <a:off x="5622259" y="1596442"/>
            <a:ext cx="2964885" cy="1426031"/>
          </a:xfrm>
          <a:prstGeom prst="rect">
            <a:avLst/>
          </a:prstGeom>
        </p:spPr>
        <p:txBody>
          <a:bodyPr wrap="square">
            <a:spAutoFit/>
          </a:bodyPr>
          <a:lstStyle/>
          <a:p>
            <a:pPr marL="166688" lvl="1" indent="-166688">
              <a:spcBef>
                <a:spcPts val="1200"/>
              </a:spcBef>
              <a:spcAft>
                <a:spcPts val="0"/>
              </a:spcAft>
              <a:buFont typeface="Arial" pitchFamily="34" charset="0"/>
              <a:buChar char="•"/>
              <a:defRPr/>
            </a:pPr>
            <a:r>
              <a:rPr lang="en-US" sz="1600" dirty="0">
                <a:solidFill>
                  <a:prstClr val="black"/>
                </a:solidFill>
                <a:latin typeface="Calibri" pitchFamily="34" charset="0"/>
                <a:cs typeface="Calibri" pitchFamily="34" charset="0"/>
              </a:rPr>
              <a:t>CCStudio</a:t>
            </a:r>
            <a:r>
              <a:rPr lang="en-US" sz="1600" baseline="30000" dirty="0">
                <a:solidFill>
                  <a:prstClr val="black"/>
                </a:solidFill>
                <a:latin typeface="Calibri" pitchFamily="34" charset="0"/>
                <a:cs typeface="Calibri" pitchFamily="34" charset="0"/>
              </a:rPr>
              <a:t>™</a:t>
            </a:r>
            <a:r>
              <a:rPr lang="en-US" sz="1600" dirty="0">
                <a:solidFill>
                  <a:prstClr val="black"/>
                </a:solidFill>
                <a:latin typeface="Calibri" pitchFamily="34" charset="0"/>
                <a:cs typeface="Calibri" pitchFamily="34" charset="0"/>
              </a:rPr>
              <a:t> Integrated Development Environment (IDE) and other </a:t>
            </a:r>
            <a:r>
              <a:rPr lang="en-US" sz="1600" dirty="0" smtClean="0">
                <a:solidFill>
                  <a:prstClr val="black"/>
                </a:solidFill>
                <a:latin typeface="Calibri" pitchFamily="34" charset="0"/>
                <a:cs typeface="Calibri" pitchFamily="34" charset="0"/>
              </a:rPr>
              <a:t>IDEs</a:t>
            </a:r>
          </a:p>
          <a:p>
            <a:pPr marL="166688" lvl="1" indent="-166688">
              <a:spcBef>
                <a:spcPts val="1200"/>
              </a:spcBef>
              <a:spcAft>
                <a:spcPts val="0"/>
              </a:spcAft>
              <a:buFont typeface="Arial" pitchFamily="34" charset="0"/>
              <a:buChar char="•"/>
              <a:defRPr/>
            </a:pPr>
            <a:r>
              <a:rPr lang="en-US" sz="1600" dirty="0" smtClean="0">
                <a:solidFill>
                  <a:prstClr val="black"/>
                </a:solidFill>
                <a:latin typeface="Calibri" pitchFamily="34" charset="0"/>
                <a:cs typeface="Calibri" pitchFamily="34" charset="0"/>
              </a:rPr>
              <a:t>Optimizing </a:t>
            </a:r>
            <a:r>
              <a:rPr lang="en-US" sz="1600" dirty="0">
                <a:solidFill>
                  <a:prstClr val="black"/>
                </a:solidFill>
                <a:latin typeface="Calibri" pitchFamily="34" charset="0"/>
                <a:cs typeface="Calibri" pitchFamily="34" charset="0"/>
              </a:rPr>
              <a:t>compilers</a:t>
            </a:r>
          </a:p>
          <a:p>
            <a:pPr marL="166688" lvl="1" indent="-166688">
              <a:spcBef>
                <a:spcPts val="1200"/>
              </a:spcBef>
              <a:spcAft>
                <a:spcPts val="0"/>
              </a:spcAft>
              <a:buFont typeface="Arial" pitchFamily="34" charset="0"/>
              <a:buChar char="•"/>
              <a:defRPr/>
            </a:pPr>
            <a:r>
              <a:rPr lang="en-US" sz="1600" dirty="0">
                <a:solidFill>
                  <a:prstClr val="black"/>
                </a:solidFill>
                <a:latin typeface="Calibri" pitchFamily="34" charset="0"/>
                <a:cs typeface="Calibri" pitchFamily="34" charset="0"/>
              </a:rPr>
              <a:t>Design Kits </a:t>
            </a:r>
            <a:r>
              <a:rPr lang="en-US" sz="1600">
                <a:solidFill>
                  <a:prstClr val="black"/>
                </a:solidFill>
                <a:latin typeface="Calibri" pitchFamily="34" charset="0"/>
                <a:cs typeface="Calibri" pitchFamily="34" charset="0"/>
              </a:rPr>
              <a:t>&amp; </a:t>
            </a:r>
            <a:r>
              <a:rPr lang="en-US" sz="1600" smtClean="0">
                <a:solidFill>
                  <a:prstClr val="black"/>
                </a:solidFill>
                <a:latin typeface="Calibri" pitchFamily="34" charset="0"/>
                <a:cs typeface="Calibri" pitchFamily="34" charset="0"/>
              </a:rPr>
              <a:t>Eval Modules</a:t>
            </a:r>
            <a:endParaRPr lang="en-US" sz="1600" dirty="0">
              <a:solidFill>
                <a:prstClr val="black"/>
              </a:solidFill>
              <a:latin typeface="Calibri" pitchFamily="34" charset="0"/>
              <a:cs typeface="Calibri" pitchFamily="34" charset="0"/>
            </a:endParaRPr>
          </a:p>
        </p:txBody>
      </p:sp>
      <p:sp>
        <p:nvSpPr>
          <p:cNvPr id="2" name="Title 1"/>
          <p:cNvSpPr>
            <a:spLocks noGrp="1"/>
          </p:cNvSpPr>
          <p:nvPr>
            <p:ph type="title"/>
          </p:nvPr>
        </p:nvSpPr>
        <p:spPr/>
        <p:txBody>
          <a:bodyPr/>
          <a:lstStyle/>
          <a:p>
            <a:r>
              <a:rPr lang="en-US" dirty="0" smtClean="0"/>
              <a:t>TI Software and Tools Ecosystem</a:t>
            </a:r>
            <a:endParaRPr lang="en-US" dirty="0"/>
          </a:p>
        </p:txBody>
      </p:sp>
      <p:sp>
        <p:nvSpPr>
          <p:cNvPr id="24" name="Leading Question"/>
          <p:cNvSpPr txBox="1"/>
          <p:nvPr/>
        </p:nvSpPr>
        <p:spPr>
          <a:xfrm>
            <a:off x="6811335" y="6370664"/>
            <a:ext cx="2009396" cy="227113"/>
          </a:xfrm>
          <a:prstGeom prst="rect">
            <a:avLst/>
          </a:prstGeom>
          <a:noFill/>
        </p:spPr>
        <p:txBody>
          <a:bodyPr vert="horz" wrap="none" lIns="0" tIns="0" rIns="0" bIns="0" rtlCol="0" anchor="b" anchorCtr="0">
            <a:spAutoFit/>
          </a:bodyPr>
          <a:lstStyle/>
          <a:p>
            <a:pPr algn="r">
              <a:spcBef>
                <a:spcPct val="0"/>
              </a:spcBef>
            </a:pPr>
            <a:r>
              <a:rPr lang="en-US" sz="1800" b="0" dirty="0" smtClean="0">
                <a:solidFill>
                  <a:schemeClr val="tx2"/>
                </a:solidFill>
                <a:latin typeface="Calibri" pitchFamily="34" charset="0"/>
                <a:cs typeface="Calibri" pitchFamily="34" charset="0"/>
              </a:rPr>
              <a:t>Run-Time Software …</a:t>
            </a:r>
          </a:p>
        </p:txBody>
      </p:sp>
    </p:spTree>
    <p:extLst>
      <p:ext uri="{BB962C8B-B14F-4D97-AF65-F5344CB8AC3E}">
        <p14:creationId xmlns:p14="http://schemas.microsoft.com/office/powerpoint/2010/main" val="11007104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ounded Rectangle 35"/>
          <p:cNvSpPr/>
          <p:nvPr/>
        </p:nvSpPr>
        <p:spPr>
          <a:xfrm>
            <a:off x="336796" y="5492597"/>
            <a:ext cx="8426204" cy="399245"/>
          </a:xfrm>
          <a:prstGeom prst="roundRect">
            <a:avLst/>
          </a:prstGeom>
          <a:noFill/>
          <a:ln w="12700">
            <a:solidFill>
              <a:schemeClr val="accent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solidFill>
                <a:prstClr val="white"/>
              </a:solidFill>
            </a:endParaRPr>
          </a:p>
        </p:txBody>
      </p:sp>
      <p:sp>
        <p:nvSpPr>
          <p:cNvPr id="41" name="Content Placeholder 2"/>
          <p:cNvSpPr>
            <a:spLocks noGrp="1"/>
          </p:cNvSpPr>
          <p:nvPr>
            <p:ph sz="half" idx="1"/>
          </p:nvPr>
        </p:nvSpPr>
        <p:spPr>
          <a:xfrm>
            <a:off x="325398" y="874075"/>
            <a:ext cx="3865602" cy="2116775"/>
          </a:xfrm>
        </p:spPr>
        <p:txBody>
          <a:bodyPr>
            <a:noAutofit/>
          </a:bodyPr>
          <a:lstStyle/>
          <a:p>
            <a:pPr marL="0" indent="0">
              <a:lnSpc>
                <a:spcPct val="90000"/>
              </a:lnSpc>
              <a:spcBef>
                <a:spcPts val="1200"/>
              </a:spcBef>
              <a:buNone/>
            </a:pPr>
            <a:r>
              <a:rPr lang="en-US" sz="2400" kern="0" dirty="0">
                <a:solidFill>
                  <a:schemeClr val="tx2"/>
                </a:solidFill>
                <a:latin typeface="Calibri" pitchFamily="34" charset="0"/>
                <a:cs typeface="Calibri" pitchFamily="34" charset="0"/>
              </a:rPr>
              <a:t>TI Wares</a:t>
            </a:r>
            <a:r>
              <a:rPr lang="en-US" sz="2400" kern="0">
                <a:solidFill>
                  <a:schemeClr val="tx2"/>
                </a:solidFill>
                <a:latin typeface="Calibri" pitchFamily="34" charset="0"/>
                <a:cs typeface="Calibri" pitchFamily="34" charset="0"/>
              </a:rPr>
              <a:t>:</a:t>
            </a:r>
            <a:r>
              <a:rPr lang="en-US" sz="2000" kern="0">
                <a:solidFill>
                  <a:srgbClr val="15B6CB"/>
                </a:solidFill>
                <a:latin typeface="Calibri" pitchFamily="34" charset="0"/>
                <a:cs typeface="Calibri" pitchFamily="34" charset="0"/>
              </a:rPr>
              <a:t> </a:t>
            </a:r>
            <a:r>
              <a:rPr lang="en-US" sz="2000" kern="0" smtClean="0">
                <a:solidFill>
                  <a:srgbClr val="15B6CB"/>
                </a:solidFill>
                <a:latin typeface="Calibri" pitchFamily="34" charset="0"/>
                <a:cs typeface="Calibri" pitchFamily="34" charset="0"/>
              </a:rPr>
              <a:t> </a:t>
            </a:r>
            <a:r>
              <a:rPr lang="en-US" sz="1800" b="0" smtClean="0">
                <a:latin typeface="Calibri" pitchFamily="34" charset="0"/>
                <a:cs typeface="Calibri" pitchFamily="34" charset="0"/>
              </a:rPr>
              <a:t>Minimizes </a:t>
            </a:r>
            <a:r>
              <a:rPr lang="en-US" sz="1800" b="0" dirty="0" smtClean="0">
                <a:latin typeface="Calibri" pitchFamily="34" charset="0"/>
                <a:cs typeface="Calibri" pitchFamily="34" charset="0"/>
              </a:rPr>
              <a:t>programming </a:t>
            </a:r>
            <a:r>
              <a:rPr lang="en-US" sz="1800" b="0" smtClean="0">
                <a:latin typeface="Calibri" pitchFamily="34" charset="0"/>
                <a:cs typeface="Calibri" pitchFamily="34" charset="0"/>
              </a:rPr>
              <a:t>complexity w/optimized </a:t>
            </a:r>
            <a:r>
              <a:rPr lang="en-US" sz="1800" b="0" dirty="0" smtClean="0">
                <a:latin typeface="Calibri" pitchFamily="34" charset="0"/>
                <a:cs typeface="Calibri" pitchFamily="34" charset="0"/>
              </a:rPr>
              <a:t>drivers </a:t>
            </a:r>
            <a:r>
              <a:rPr lang="en-US" sz="1800" b="0" smtClean="0">
                <a:latin typeface="Calibri" pitchFamily="34" charset="0"/>
                <a:cs typeface="Calibri" pitchFamily="34" charset="0"/>
              </a:rPr>
              <a:t>&amp; O/S </a:t>
            </a:r>
            <a:r>
              <a:rPr lang="en-US" sz="1800" b="0" dirty="0" smtClean="0">
                <a:latin typeface="Calibri" pitchFamily="34" charset="0"/>
                <a:cs typeface="Calibri" pitchFamily="34" charset="0"/>
              </a:rPr>
              <a:t>independent support for </a:t>
            </a:r>
            <a:r>
              <a:rPr lang="en-US" sz="1800" b="0" smtClean="0">
                <a:latin typeface="Calibri" pitchFamily="34" charset="0"/>
                <a:cs typeface="Calibri" pitchFamily="34" charset="0"/>
              </a:rPr>
              <a:t>TI solutions:</a:t>
            </a:r>
            <a:endParaRPr lang="en-US" sz="1800" b="0" dirty="0" smtClean="0">
              <a:latin typeface="Calibri" pitchFamily="34" charset="0"/>
              <a:cs typeface="Calibri" pitchFamily="34" charset="0"/>
            </a:endParaRPr>
          </a:p>
          <a:p>
            <a:pPr marL="285750" lvl="1" indent="-174625">
              <a:buSzPct val="100000"/>
              <a:buFont typeface="Arial" pitchFamily="34" charset="0"/>
              <a:buChar char="•"/>
            </a:pPr>
            <a:r>
              <a:rPr lang="en-US" sz="1800" b="0" smtClean="0">
                <a:latin typeface="Calibri" pitchFamily="34" charset="0"/>
                <a:cs typeface="Calibri" pitchFamily="34" charset="0"/>
              </a:rPr>
              <a:t>Low-level </a:t>
            </a:r>
            <a:r>
              <a:rPr lang="en-US" sz="1800" b="0" dirty="0" smtClean="0">
                <a:latin typeface="Calibri" pitchFamily="34" charset="0"/>
                <a:cs typeface="Calibri" pitchFamily="34" charset="0"/>
              </a:rPr>
              <a:t>driver libraries</a:t>
            </a:r>
          </a:p>
          <a:p>
            <a:pPr marL="285750" lvl="1" indent="-174625">
              <a:buSzPct val="100000"/>
              <a:buFont typeface="Arial" pitchFamily="34" charset="0"/>
              <a:buChar char="•"/>
            </a:pPr>
            <a:r>
              <a:rPr lang="en-US" sz="1800" b="0" dirty="0" smtClean="0">
                <a:latin typeface="Calibri" pitchFamily="34" charset="0"/>
                <a:cs typeface="Calibri" pitchFamily="34" charset="0"/>
              </a:rPr>
              <a:t>Peripheral programming interface </a:t>
            </a:r>
          </a:p>
          <a:p>
            <a:pPr marL="285750" lvl="1" indent="-174625">
              <a:buSzPct val="100000"/>
              <a:buFont typeface="Arial" pitchFamily="34" charset="0"/>
              <a:buChar char="•"/>
            </a:pPr>
            <a:r>
              <a:rPr lang="en-US" sz="1800" b="0" dirty="0" smtClean="0">
                <a:latin typeface="Calibri" pitchFamily="34" charset="0"/>
                <a:cs typeface="Calibri" pitchFamily="34" charset="0"/>
              </a:rPr>
              <a:t>Tool-chain agnostic </a:t>
            </a:r>
            <a:r>
              <a:rPr lang="en-US" sz="1800" b="0" smtClean="0">
                <a:latin typeface="Calibri" pitchFamily="34" charset="0"/>
                <a:cs typeface="Calibri" pitchFamily="34" charset="0"/>
              </a:rPr>
              <a:t>C code</a:t>
            </a:r>
            <a:endParaRPr lang="en-US" sz="1800" b="0" dirty="0" smtClean="0">
              <a:latin typeface="Calibri" pitchFamily="34" charset="0"/>
              <a:cs typeface="Calibri" pitchFamily="34" charset="0"/>
            </a:endParaRPr>
          </a:p>
        </p:txBody>
      </p:sp>
      <p:sp>
        <p:nvSpPr>
          <p:cNvPr id="5" name="Content Placeholder 2"/>
          <p:cNvSpPr txBox="1">
            <a:spLocks/>
          </p:cNvSpPr>
          <p:nvPr/>
        </p:nvSpPr>
        <p:spPr bwMode="auto">
          <a:xfrm>
            <a:off x="4495800" y="904875"/>
            <a:ext cx="4572000" cy="23671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spcBef>
                <a:spcPct val="20000"/>
              </a:spcBef>
              <a:defRPr/>
            </a:pPr>
            <a:r>
              <a:rPr lang="en-US" kern="0" dirty="0">
                <a:solidFill>
                  <a:schemeClr val="tx2"/>
                </a:solidFill>
                <a:latin typeface="Calibri" pitchFamily="34" charset="0"/>
                <a:cs typeface="Calibri" pitchFamily="34" charset="0"/>
              </a:rPr>
              <a:t>TI-RTOS</a:t>
            </a:r>
            <a:r>
              <a:rPr lang="en-US" sz="2000" kern="0">
                <a:solidFill>
                  <a:schemeClr val="tx2"/>
                </a:solidFill>
                <a:latin typeface="Calibri" pitchFamily="34" charset="0"/>
                <a:cs typeface="Calibri" pitchFamily="34" charset="0"/>
              </a:rPr>
              <a:t>:</a:t>
            </a:r>
            <a:r>
              <a:rPr lang="en-US" sz="2000" kern="0">
                <a:solidFill>
                  <a:srgbClr val="15B6CB"/>
                </a:solidFill>
                <a:latin typeface="Calibri" pitchFamily="34" charset="0"/>
                <a:cs typeface="Calibri" pitchFamily="34" charset="0"/>
              </a:rPr>
              <a:t> </a:t>
            </a:r>
            <a:r>
              <a:rPr lang="en-US" sz="2000" kern="0" smtClean="0">
                <a:solidFill>
                  <a:srgbClr val="15B6CB"/>
                </a:solidFill>
                <a:latin typeface="Calibri" pitchFamily="34" charset="0"/>
                <a:cs typeface="Calibri" pitchFamily="34" charset="0"/>
              </a:rPr>
              <a:t> </a:t>
            </a:r>
            <a:r>
              <a:rPr lang="en-US" sz="1800" b="0" kern="0" smtClean="0">
                <a:solidFill>
                  <a:prstClr val="black"/>
                </a:solidFill>
                <a:latin typeface="Calibri" pitchFamily="34" charset="0"/>
                <a:cs typeface="Calibri" pitchFamily="34" charset="0"/>
              </a:rPr>
              <a:t>Provides </a:t>
            </a:r>
            <a:r>
              <a:rPr lang="en-US" sz="1800" b="0" kern="0" dirty="0">
                <a:solidFill>
                  <a:prstClr val="black"/>
                </a:solidFill>
                <a:latin typeface="Calibri" pitchFamily="34" charset="0"/>
                <a:cs typeface="Calibri" pitchFamily="34" charset="0"/>
              </a:rPr>
              <a:t>an optimized real-time </a:t>
            </a:r>
            <a:r>
              <a:rPr lang="en-US" sz="1800" b="0" kern="0">
                <a:solidFill>
                  <a:prstClr val="black"/>
                </a:solidFill>
                <a:latin typeface="Calibri" pitchFamily="34" charset="0"/>
                <a:cs typeface="Calibri" pitchFamily="34" charset="0"/>
              </a:rPr>
              <a:t>kernel </a:t>
            </a:r>
            <a:r>
              <a:rPr lang="en-US" sz="1800" b="0" kern="0" smtClean="0">
                <a:solidFill>
                  <a:prstClr val="black"/>
                </a:solidFill>
                <a:latin typeface="Calibri" pitchFamily="34" charset="0"/>
                <a:cs typeface="Calibri" pitchFamily="34" charset="0"/>
              </a:rPr>
              <a:t>that </a:t>
            </a:r>
            <a:r>
              <a:rPr lang="en-US" sz="1800" b="0" kern="0" dirty="0">
                <a:solidFill>
                  <a:prstClr val="black"/>
                </a:solidFill>
                <a:latin typeface="Calibri" pitchFamily="34" charset="0"/>
                <a:cs typeface="Calibri" pitchFamily="34" charset="0"/>
              </a:rPr>
              <a:t>works with </a:t>
            </a:r>
            <a:r>
              <a:rPr lang="en-US" sz="1800" b="0" kern="0">
                <a:solidFill>
                  <a:prstClr val="black"/>
                </a:solidFill>
                <a:latin typeface="Calibri" pitchFamily="34" charset="0"/>
                <a:cs typeface="Calibri" pitchFamily="34" charset="0"/>
              </a:rPr>
              <a:t>TI </a:t>
            </a:r>
            <a:r>
              <a:rPr lang="en-US" sz="1800" b="0" kern="0" smtClean="0">
                <a:solidFill>
                  <a:prstClr val="black"/>
                </a:solidFill>
                <a:latin typeface="Calibri" pitchFamily="34" charset="0"/>
                <a:cs typeface="Calibri" pitchFamily="34" charset="0"/>
              </a:rPr>
              <a:t>Wares:</a:t>
            </a:r>
          </a:p>
          <a:p>
            <a:pPr marL="285750" indent="-285750">
              <a:spcBef>
                <a:spcPct val="20000"/>
              </a:spcBef>
              <a:buClr>
                <a:schemeClr val="accent5"/>
              </a:buClr>
              <a:buFont typeface="Arial" pitchFamily="34" charset="0"/>
              <a:buChar char="•"/>
              <a:defRPr/>
            </a:pPr>
            <a:r>
              <a:rPr lang="en-US" sz="1800" smtClean="0">
                <a:solidFill>
                  <a:schemeClr val="tx2"/>
                </a:solidFill>
                <a:latin typeface="Calibri" pitchFamily="34" charset="0"/>
                <a:cs typeface="Calibri" pitchFamily="34" charset="0"/>
              </a:rPr>
              <a:t>Real-time </a:t>
            </a:r>
            <a:r>
              <a:rPr lang="en-US" sz="1800" dirty="0">
                <a:solidFill>
                  <a:schemeClr val="tx2"/>
                </a:solidFill>
                <a:latin typeface="Calibri" pitchFamily="34" charset="0"/>
                <a:cs typeface="Calibri" pitchFamily="34" charset="0"/>
              </a:rPr>
              <a:t>kernel </a:t>
            </a:r>
            <a:r>
              <a:rPr lang="en-US" sz="1800">
                <a:solidFill>
                  <a:schemeClr val="tx2"/>
                </a:solidFill>
                <a:latin typeface="Calibri" pitchFamily="34" charset="0"/>
                <a:cs typeface="Calibri" pitchFamily="34" charset="0"/>
              </a:rPr>
              <a:t>(</a:t>
            </a:r>
            <a:r>
              <a:rPr lang="en-US" sz="1800" smtClean="0">
                <a:solidFill>
                  <a:schemeClr val="tx2"/>
                </a:solidFill>
                <a:latin typeface="Calibri" pitchFamily="34" charset="0"/>
                <a:cs typeface="Calibri" pitchFamily="34" charset="0"/>
              </a:rPr>
              <a:t>SYS/BIOS)</a:t>
            </a:r>
            <a:r>
              <a:rPr lang="en-US" sz="1800" b="0" smtClean="0">
                <a:solidFill>
                  <a:prstClr val="black"/>
                </a:solidFill>
                <a:latin typeface="Calibri" pitchFamily="34" charset="0"/>
                <a:cs typeface="Calibri" pitchFamily="34" charset="0"/>
              </a:rPr>
              <a:t> – most CPUs:</a:t>
            </a:r>
            <a:br>
              <a:rPr lang="en-US" sz="1800" b="0" smtClean="0">
                <a:solidFill>
                  <a:prstClr val="black"/>
                </a:solidFill>
                <a:latin typeface="Calibri" pitchFamily="34" charset="0"/>
                <a:cs typeface="Calibri" pitchFamily="34" charset="0"/>
              </a:rPr>
            </a:br>
            <a:r>
              <a:rPr lang="en-US" sz="1600" b="0" smtClean="0">
                <a:solidFill>
                  <a:prstClr val="black"/>
                </a:solidFill>
                <a:latin typeface="Calibri" pitchFamily="34" charset="0"/>
                <a:cs typeface="Calibri" pitchFamily="34" charset="0"/>
              </a:rPr>
              <a:t>- Scheduling</a:t>
            </a:r>
            <a:br>
              <a:rPr lang="en-US" sz="1600" b="0" smtClean="0">
                <a:solidFill>
                  <a:prstClr val="black"/>
                </a:solidFill>
                <a:latin typeface="Calibri" pitchFamily="34" charset="0"/>
                <a:cs typeface="Calibri" pitchFamily="34" charset="0"/>
              </a:rPr>
            </a:br>
            <a:r>
              <a:rPr lang="en-US" sz="1600" b="0" smtClean="0">
                <a:solidFill>
                  <a:prstClr val="black"/>
                </a:solidFill>
                <a:latin typeface="Calibri" pitchFamily="34" charset="0"/>
                <a:cs typeface="Calibri" pitchFamily="34" charset="0"/>
              </a:rPr>
              <a:t>- Memory management</a:t>
            </a:r>
            <a:br>
              <a:rPr lang="en-US" sz="1600" b="0" smtClean="0">
                <a:solidFill>
                  <a:prstClr val="black"/>
                </a:solidFill>
                <a:latin typeface="Calibri" pitchFamily="34" charset="0"/>
                <a:cs typeface="Calibri" pitchFamily="34" charset="0"/>
              </a:rPr>
            </a:br>
            <a:r>
              <a:rPr lang="en-US" sz="1600" b="0" smtClean="0">
                <a:solidFill>
                  <a:prstClr val="black"/>
                </a:solidFill>
                <a:latin typeface="Calibri" pitchFamily="34" charset="0"/>
                <a:cs typeface="Calibri" pitchFamily="34" charset="0"/>
              </a:rPr>
              <a:t>- Utilities</a:t>
            </a:r>
            <a:endParaRPr lang="en-US" sz="1800" b="0" dirty="0">
              <a:solidFill>
                <a:prstClr val="black"/>
              </a:solidFill>
              <a:latin typeface="Calibri" pitchFamily="34" charset="0"/>
              <a:cs typeface="Calibri" pitchFamily="34" charset="0"/>
            </a:endParaRPr>
          </a:p>
          <a:p>
            <a:pPr marL="285750" indent="-285750">
              <a:spcBef>
                <a:spcPts val="200"/>
              </a:spcBef>
              <a:buClr>
                <a:schemeClr val="accent5"/>
              </a:buClr>
              <a:buFont typeface="Arial" pitchFamily="34" charset="0"/>
              <a:buChar char="•"/>
              <a:defRPr/>
            </a:pPr>
            <a:r>
              <a:rPr lang="en-US" sz="1800" b="0" dirty="0">
                <a:solidFill>
                  <a:prstClr val="black"/>
                </a:solidFill>
                <a:latin typeface="Calibri" pitchFamily="34" charset="0"/>
                <a:cs typeface="Calibri" pitchFamily="34" charset="0"/>
              </a:rPr>
              <a:t>Foundational software packages (TI Wares)</a:t>
            </a:r>
          </a:p>
          <a:p>
            <a:pPr marL="285750" indent="-285750">
              <a:spcBef>
                <a:spcPts val="200"/>
              </a:spcBef>
              <a:buClr>
                <a:schemeClr val="accent5"/>
              </a:buClr>
              <a:buFont typeface="Arial" pitchFamily="34" charset="0"/>
              <a:buChar char="•"/>
              <a:defRPr/>
            </a:pPr>
            <a:r>
              <a:rPr lang="en-US" sz="1800" b="0" dirty="0">
                <a:solidFill>
                  <a:prstClr val="black"/>
                </a:solidFill>
                <a:latin typeface="Calibri" pitchFamily="34" charset="0"/>
                <a:cs typeface="Calibri" pitchFamily="34" charset="0"/>
              </a:rPr>
              <a:t>Libraries and examples</a:t>
            </a:r>
          </a:p>
          <a:p>
            <a:pPr marL="285750" indent="-285750">
              <a:spcBef>
                <a:spcPts val="200"/>
              </a:spcBef>
              <a:buClr>
                <a:schemeClr val="accent5"/>
              </a:buClr>
              <a:buFont typeface="Arial" pitchFamily="34" charset="0"/>
              <a:buChar char="•"/>
              <a:defRPr/>
            </a:pPr>
            <a:r>
              <a:rPr lang="en-US" sz="1800" b="0" smtClean="0">
                <a:solidFill>
                  <a:prstClr val="black"/>
                </a:solidFill>
                <a:latin typeface="Calibri" pitchFamily="34" charset="0"/>
                <a:cs typeface="Calibri" pitchFamily="34" charset="0"/>
              </a:rPr>
              <a:t>TI-RTOS SDK available for Tiva-C, MSP430, C6000, C28x, Sitara (Cortex A8)</a:t>
            </a:r>
          </a:p>
          <a:p>
            <a:pPr marL="285750" indent="-285750">
              <a:spcBef>
                <a:spcPts val="200"/>
              </a:spcBef>
              <a:buClr>
                <a:schemeClr val="accent5"/>
              </a:buClr>
              <a:buFont typeface="Arial" pitchFamily="34" charset="0"/>
              <a:buChar char="•"/>
              <a:defRPr/>
            </a:pPr>
            <a:r>
              <a:rPr lang="en-US" sz="1800" b="0" smtClean="0">
                <a:solidFill>
                  <a:prstClr val="black"/>
                </a:solidFill>
                <a:latin typeface="Calibri" pitchFamily="34" charset="0"/>
                <a:cs typeface="Calibri" pitchFamily="34" charset="0"/>
              </a:rPr>
              <a:t>IAR support available now</a:t>
            </a:r>
            <a:endParaRPr lang="en-US" sz="1800" b="0" dirty="0">
              <a:solidFill>
                <a:prstClr val="black"/>
              </a:solidFill>
              <a:latin typeface="Calibri" pitchFamily="34" charset="0"/>
              <a:cs typeface="Calibri" pitchFamily="34" charset="0"/>
            </a:endParaRPr>
          </a:p>
        </p:txBody>
      </p:sp>
      <p:cxnSp>
        <p:nvCxnSpPr>
          <p:cNvPr id="33" name="Straight Connector 32"/>
          <p:cNvCxnSpPr/>
          <p:nvPr/>
        </p:nvCxnSpPr>
        <p:spPr>
          <a:xfrm>
            <a:off x="4343400" y="838200"/>
            <a:ext cx="0" cy="2590800"/>
          </a:xfrm>
          <a:prstGeom prst="line">
            <a:avLst/>
          </a:prstGeom>
          <a:ln>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8" name="Down Arrow Callout 37"/>
          <p:cNvSpPr/>
          <p:nvPr/>
        </p:nvSpPr>
        <p:spPr>
          <a:xfrm>
            <a:off x="1000885" y="4006932"/>
            <a:ext cx="6792691" cy="1657268"/>
          </a:xfrm>
          <a:prstGeom prst="downArrowCallout">
            <a:avLst>
              <a:gd name="adj1" fmla="val 36940"/>
              <a:gd name="adj2" fmla="val 35448"/>
              <a:gd name="adj3" fmla="val 25000"/>
              <a:gd name="adj4" fmla="val 68256"/>
            </a:avLst>
          </a:prstGeom>
          <a:solidFill>
            <a:schemeClr val="bg1"/>
          </a:solidFill>
          <a:ln w="38100">
            <a:solidFill>
              <a:srgbClr val="15B6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a:solidFill>
                <a:prstClr val="white"/>
              </a:solidFill>
            </a:endParaRPr>
          </a:p>
        </p:txBody>
      </p:sp>
      <p:sp>
        <p:nvSpPr>
          <p:cNvPr id="40" name="Rounded Rectangle 39"/>
          <p:cNvSpPr/>
          <p:nvPr/>
        </p:nvSpPr>
        <p:spPr>
          <a:xfrm>
            <a:off x="1295400" y="4191000"/>
            <a:ext cx="1711430" cy="787400"/>
          </a:xfrm>
          <a:prstGeom prst="roundRect">
            <a:avLst/>
          </a:prstGeom>
          <a:solidFill>
            <a:schemeClr val="accent5">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smtClean="0">
                <a:solidFill>
                  <a:schemeClr val="tx1"/>
                </a:solidFill>
              </a:rPr>
              <a:t>Kernel</a:t>
            </a:r>
          </a:p>
          <a:p>
            <a:pPr algn="ctr"/>
            <a:r>
              <a:rPr lang="en-US" sz="2000" smtClean="0">
                <a:solidFill>
                  <a:schemeClr val="tx1"/>
                </a:solidFill>
              </a:rPr>
              <a:t>(SYS/BIOS)</a:t>
            </a:r>
            <a:endParaRPr lang="en-US" sz="2000" dirty="0">
              <a:solidFill>
                <a:schemeClr val="tx1"/>
              </a:solidFill>
            </a:endParaRPr>
          </a:p>
        </p:txBody>
      </p:sp>
      <p:sp>
        <p:nvSpPr>
          <p:cNvPr id="43" name="TextBox 42"/>
          <p:cNvSpPr txBox="1"/>
          <p:nvPr/>
        </p:nvSpPr>
        <p:spPr>
          <a:xfrm>
            <a:off x="3159230" y="4360225"/>
            <a:ext cx="381000" cy="584775"/>
          </a:xfrm>
          <a:prstGeom prst="rect">
            <a:avLst/>
          </a:prstGeom>
          <a:noFill/>
        </p:spPr>
        <p:txBody>
          <a:bodyPr wrap="square" rtlCol="0">
            <a:spAutoFit/>
          </a:bodyPr>
          <a:lstStyle/>
          <a:p>
            <a:pPr algn="ctr"/>
            <a:r>
              <a:rPr lang="en-US" sz="3200" dirty="0">
                <a:solidFill>
                  <a:prstClr val="black"/>
                </a:solidFill>
              </a:rPr>
              <a:t>+</a:t>
            </a:r>
          </a:p>
        </p:txBody>
      </p:sp>
      <p:sp>
        <p:nvSpPr>
          <p:cNvPr id="47" name="Rounded Rectangle 46"/>
          <p:cNvSpPr/>
          <p:nvPr/>
        </p:nvSpPr>
        <p:spPr>
          <a:xfrm>
            <a:off x="3692630" y="4207825"/>
            <a:ext cx="1524000" cy="787400"/>
          </a:xfrm>
          <a:prstGeom prst="roundRect">
            <a:avLst/>
          </a:prstGeom>
          <a:solidFill>
            <a:srgbClr val="CCFF33"/>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rPr>
              <a:t>TI Wares</a:t>
            </a:r>
          </a:p>
        </p:txBody>
      </p:sp>
      <p:sp>
        <p:nvSpPr>
          <p:cNvPr id="50" name="Rounded Rectangle 49"/>
          <p:cNvSpPr/>
          <p:nvPr/>
        </p:nvSpPr>
        <p:spPr>
          <a:xfrm>
            <a:off x="3238500" y="5676900"/>
            <a:ext cx="2324100" cy="571500"/>
          </a:xfrm>
          <a:prstGeom prst="roundRect">
            <a:avLst/>
          </a:prstGeom>
          <a:solidFill>
            <a:schemeClr val="bg1"/>
          </a:solidFill>
          <a:ln w="3810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smtClean="0">
                <a:solidFill>
                  <a:prstClr val="black"/>
                </a:solidFill>
              </a:rPr>
              <a:t>SDK </a:t>
            </a:r>
            <a:r>
              <a:rPr lang="en-US" sz="1800" b="0" dirty="0" smtClean="0">
                <a:solidFill>
                  <a:prstClr val="black"/>
                </a:solidFill>
              </a:rPr>
              <a:t>(Software </a:t>
            </a:r>
            <a:r>
              <a:rPr lang="en-US" sz="1800" b="0" dirty="0">
                <a:solidFill>
                  <a:prstClr val="black"/>
                </a:solidFill>
              </a:rPr>
              <a:t>Development </a:t>
            </a:r>
            <a:r>
              <a:rPr lang="en-US" sz="1800" b="0" dirty="0" smtClean="0">
                <a:solidFill>
                  <a:prstClr val="black"/>
                </a:solidFill>
              </a:rPr>
              <a:t>Kit)</a:t>
            </a:r>
            <a:endParaRPr lang="en-US" sz="1800" b="0" dirty="0">
              <a:solidFill>
                <a:prstClr val="black"/>
              </a:solidFill>
            </a:endParaRPr>
          </a:p>
        </p:txBody>
      </p:sp>
      <p:sp>
        <p:nvSpPr>
          <p:cNvPr id="25" name="TextBox 24"/>
          <p:cNvSpPr txBox="1"/>
          <p:nvPr/>
        </p:nvSpPr>
        <p:spPr>
          <a:xfrm>
            <a:off x="3815340" y="3810000"/>
            <a:ext cx="1246910" cy="369332"/>
          </a:xfrm>
          <a:prstGeom prst="rect">
            <a:avLst/>
          </a:prstGeom>
          <a:solidFill>
            <a:schemeClr val="bg1"/>
          </a:solidFill>
        </p:spPr>
        <p:txBody>
          <a:bodyPr wrap="square" rtlCol="0">
            <a:spAutoFit/>
          </a:bodyPr>
          <a:lstStyle/>
          <a:p>
            <a:pPr algn="ctr"/>
            <a:r>
              <a:rPr lang="en-US" sz="2000" dirty="0" smtClean="0">
                <a:solidFill>
                  <a:prstClr val="black"/>
                </a:solidFill>
              </a:rPr>
              <a:t>TI-RTOS</a:t>
            </a:r>
            <a:endParaRPr lang="en-US" sz="2000" dirty="0">
              <a:solidFill>
                <a:prstClr val="black"/>
              </a:solidFill>
            </a:endParaRPr>
          </a:p>
        </p:txBody>
      </p:sp>
      <p:sp>
        <p:nvSpPr>
          <p:cNvPr id="23" name="TextBox 22"/>
          <p:cNvSpPr txBox="1"/>
          <p:nvPr/>
        </p:nvSpPr>
        <p:spPr>
          <a:xfrm>
            <a:off x="5377939" y="4370125"/>
            <a:ext cx="381000" cy="584775"/>
          </a:xfrm>
          <a:prstGeom prst="rect">
            <a:avLst/>
          </a:prstGeom>
          <a:noFill/>
        </p:spPr>
        <p:txBody>
          <a:bodyPr wrap="square" rtlCol="0">
            <a:spAutoFit/>
          </a:bodyPr>
          <a:lstStyle/>
          <a:p>
            <a:pPr algn="ctr"/>
            <a:r>
              <a:rPr lang="en-US" sz="3200" dirty="0">
                <a:solidFill>
                  <a:prstClr val="black"/>
                </a:solidFill>
              </a:rPr>
              <a:t>+</a:t>
            </a:r>
          </a:p>
        </p:txBody>
      </p:sp>
      <p:sp>
        <p:nvSpPr>
          <p:cNvPr id="24" name="Rounded Rectangle 23"/>
          <p:cNvSpPr/>
          <p:nvPr/>
        </p:nvSpPr>
        <p:spPr>
          <a:xfrm>
            <a:off x="5911339" y="4217725"/>
            <a:ext cx="1524000" cy="787400"/>
          </a:xfrm>
          <a:prstGeom prst="roundRect">
            <a:avLst/>
          </a:prstGeom>
          <a:solidFill>
            <a:schemeClr val="accent4">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marL="119063" indent="-119063">
              <a:lnSpc>
                <a:spcPct val="100000"/>
              </a:lnSpc>
              <a:spcBef>
                <a:spcPts val="0"/>
              </a:spcBef>
              <a:buFont typeface="Arial" pitchFamily="34" charset="0"/>
              <a:buChar char="•"/>
            </a:pPr>
            <a:r>
              <a:rPr lang="en-US" sz="1600" dirty="0">
                <a:solidFill>
                  <a:schemeClr val="tx1"/>
                </a:solidFill>
                <a:latin typeface="Arial Narrow" pitchFamily="34" charset="0"/>
              </a:rPr>
              <a:t>File systems</a:t>
            </a:r>
          </a:p>
          <a:p>
            <a:pPr marL="119063" indent="-119063">
              <a:lnSpc>
                <a:spcPct val="100000"/>
              </a:lnSpc>
              <a:spcBef>
                <a:spcPts val="0"/>
              </a:spcBef>
              <a:buFont typeface="Arial" pitchFamily="34" charset="0"/>
              <a:buChar char="•"/>
            </a:pPr>
            <a:r>
              <a:rPr lang="en-US" sz="1600" dirty="0">
                <a:solidFill>
                  <a:schemeClr val="tx1"/>
                </a:solidFill>
                <a:latin typeface="Arial Narrow" pitchFamily="34" charset="0"/>
              </a:rPr>
              <a:t>Network stack</a:t>
            </a:r>
          </a:p>
          <a:p>
            <a:pPr marL="119063" indent="-119063">
              <a:lnSpc>
                <a:spcPct val="100000"/>
              </a:lnSpc>
              <a:spcBef>
                <a:spcPts val="0"/>
              </a:spcBef>
              <a:buFont typeface="Arial" pitchFamily="34" charset="0"/>
              <a:buChar char="•"/>
            </a:pPr>
            <a:r>
              <a:rPr lang="en-US" sz="1600" dirty="0">
                <a:solidFill>
                  <a:schemeClr val="tx1"/>
                </a:solidFill>
                <a:latin typeface="Arial Narrow" pitchFamily="34" charset="0"/>
              </a:rPr>
              <a:t>USB</a:t>
            </a:r>
          </a:p>
        </p:txBody>
      </p:sp>
      <p:sp>
        <p:nvSpPr>
          <p:cNvPr id="3" name="Title 2"/>
          <p:cNvSpPr>
            <a:spLocks noGrp="1"/>
          </p:cNvSpPr>
          <p:nvPr>
            <p:ph type="title"/>
          </p:nvPr>
        </p:nvSpPr>
        <p:spPr/>
        <p:txBody>
          <a:bodyPr/>
          <a:lstStyle/>
          <a:p>
            <a:r>
              <a:rPr lang="en-US" dirty="0" smtClean="0"/>
              <a:t>Run-Time Software</a:t>
            </a:r>
            <a:endParaRPr lang="en-US" dirty="0"/>
          </a:p>
        </p:txBody>
      </p:sp>
      <p:sp>
        <p:nvSpPr>
          <p:cNvPr id="27" name="Leading Question"/>
          <p:cNvSpPr txBox="1"/>
          <p:nvPr/>
        </p:nvSpPr>
        <p:spPr>
          <a:xfrm>
            <a:off x="6781800" y="6432423"/>
            <a:ext cx="1994457" cy="196977"/>
          </a:xfrm>
          <a:prstGeom prst="rect">
            <a:avLst/>
          </a:prstGeom>
          <a:noFill/>
        </p:spPr>
        <p:txBody>
          <a:bodyPr vert="horz" wrap="none" lIns="0" tIns="0" rIns="0" bIns="0" rtlCol="0" anchor="b" anchorCtr="0">
            <a:spAutoFit/>
          </a:bodyPr>
          <a:lstStyle/>
          <a:p>
            <a:pPr algn="r">
              <a:spcBef>
                <a:spcPct val="0"/>
              </a:spcBef>
            </a:pPr>
            <a:r>
              <a:rPr lang="en-US" sz="1600" b="0" smtClean="0">
                <a:solidFill>
                  <a:schemeClr val="tx2"/>
                </a:solidFill>
                <a:latin typeface="Arial Narrow"/>
              </a:rPr>
              <a:t>Ok, let’s go look at CCS </a:t>
            </a:r>
            <a:r>
              <a:rPr lang="en-US" sz="1600" b="0" dirty="0" smtClean="0">
                <a:solidFill>
                  <a:schemeClr val="tx2"/>
                </a:solidFill>
                <a:latin typeface="Arial Narrow"/>
              </a:rPr>
              <a:t>…</a:t>
            </a:r>
          </a:p>
        </p:txBody>
      </p:sp>
      <p:cxnSp>
        <p:nvCxnSpPr>
          <p:cNvPr id="19" name="Straight Connector 18"/>
          <p:cNvCxnSpPr/>
          <p:nvPr/>
        </p:nvCxnSpPr>
        <p:spPr>
          <a:xfrm>
            <a:off x="228600" y="838200"/>
            <a:ext cx="8610600" cy="0"/>
          </a:xfrm>
          <a:prstGeom prst="line">
            <a:avLst/>
          </a:prstGeom>
          <a:ln>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03084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838200"/>
            <a:ext cx="5562600" cy="5181600"/>
          </a:xfrm>
          <a:prstGeom prst="rect">
            <a:avLst/>
          </a:prstGeom>
          <a:solidFill>
            <a:srgbClr val="92D050"/>
          </a:solidFill>
          <a:ln w="19050">
            <a:solidFill>
              <a:schemeClr val="tx1"/>
            </a:solidFill>
            <a:miter lim="800000"/>
            <a:headEnd type="none" w="sm" len="sm"/>
            <a:tailEnd type="none" w="sm" len="sm"/>
          </a:ln>
          <a:effectLst>
            <a:outerShdw blurRad="50800" dist="889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3" cstate="print"/>
          <a:srcRect/>
          <a:stretch>
            <a:fillRect/>
          </a:stretch>
        </p:blipFill>
        <p:spPr bwMode="auto">
          <a:xfrm>
            <a:off x="6160824" y="1316817"/>
            <a:ext cx="2819400" cy="4172713"/>
          </a:xfrm>
          <a:prstGeom prst="rect">
            <a:avLst/>
          </a:prstGeom>
          <a:noFill/>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9" name="Text Box 3">
            <a:hlinkClick r:id="rId14" action="ppaction://hlinksldjump"/>
          </p:cNvPr>
          <p:cNvSpPr txBox="1">
            <a:spLocks noChangeArrowheads="1"/>
          </p:cNvSpPr>
          <p:nvPr>
            <p:custDataLst>
              <p:tags r:id="rId2"/>
            </p:custDataLst>
          </p:nvPr>
        </p:nvSpPr>
        <p:spPr bwMode="auto">
          <a:xfrm>
            <a:off x="304800" y="954651"/>
            <a:ext cx="5562600" cy="461665"/>
          </a:xfrm>
          <a:prstGeom prst="rect">
            <a:avLst/>
          </a:prstGeom>
          <a:solidFill>
            <a:schemeClr val="bg1"/>
          </a:solidFill>
          <a:ln w="19050">
            <a:solidFill>
              <a:schemeClr val="tx1"/>
            </a:solid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Intro to CCSv6</a:t>
            </a:r>
            <a:endParaRPr lang="en-US" sz="2800">
              <a:solidFill>
                <a:srgbClr val="000000"/>
              </a:solidFill>
            </a:endParaRPr>
          </a:p>
        </p:txBody>
      </p:sp>
      <p:sp>
        <p:nvSpPr>
          <p:cNvPr id="10" name="Text Box 6">
            <a:hlinkClick r:id="rId15" action="ppaction://hlinksldjump"/>
          </p:cNvPr>
          <p:cNvSpPr txBox="1">
            <a:spLocks noChangeArrowheads="1"/>
          </p:cNvSpPr>
          <p:nvPr>
            <p:custDataLst>
              <p:tags r:id="rId3"/>
            </p:custDataLst>
          </p:nvPr>
        </p:nvSpPr>
        <p:spPr bwMode="auto">
          <a:xfrm>
            <a:off x="819150" y="1473995"/>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Functional Overview</a:t>
            </a:r>
            <a:endParaRPr lang="en-US">
              <a:solidFill>
                <a:srgbClr val="000000"/>
              </a:solidFill>
            </a:endParaRPr>
          </a:p>
        </p:txBody>
      </p:sp>
      <p:sp>
        <p:nvSpPr>
          <p:cNvPr id="11" name="Text Box 6">
            <a:hlinkClick r:id="rId16" action="ppaction://hlinksldjump"/>
          </p:cNvPr>
          <p:cNvSpPr txBox="1">
            <a:spLocks noChangeArrowheads="1"/>
          </p:cNvSpPr>
          <p:nvPr>
            <p:custDataLst>
              <p:tags r:id="rId4"/>
            </p:custDataLst>
          </p:nvPr>
        </p:nvSpPr>
        <p:spPr bwMode="auto">
          <a:xfrm>
            <a:off x="819150" y="1926309"/>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Perspectives</a:t>
            </a:r>
            <a:endParaRPr lang="en-US">
              <a:solidFill>
                <a:srgbClr val="000000"/>
              </a:solidFill>
            </a:endParaRPr>
          </a:p>
        </p:txBody>
      </p:sp>
      <p:sp>
        <p:nvSpPr>
          <p:cNvPr id="12" name="Text Box 6">
            <a:hlinkClick r:id="rId17" action="ppaction://hlinksldjump"/>
          </p:cNvPr>
          <p:cNvSpPr txBox="1">
            <a:spLocks noChangeArrowheads="1"/>
          </p:cNvSpPr>
          <p:nvPr>
            <p:custDataLst>
              <p:tags r:id="rId5"/>
            </p:custDataLst>
          </p:nvPr>
        </p:nvSpPr>
        <p:spPr bwMode="auto">
          <a:xfrm>
            <a:off x="819150" y="2378623"/>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Target Config &amp; Emulators</a:t>
            </a:r>
            <a:endParaRPr lang="en-US">
              <a:solidFill>
                <a:srgbClr val="000000"/>
              </a:solidFill>
            </a:endParaRPr>
          </a:p>
        </p:txBody>
      </p:sp>
      <p:sp>
        <p:nvSpPr>
          <p:cNvPr id="13" name="Text Box 6">
            <a:hlinkClick r:id="rId18" action="ppaction://hlinksldjump"/>
          </p:cNvPr>
          <p:cNvSpPr txBox="1">
            <a:spLocks noChangeArrowheads="1"/>
          </p:cNvSpPr>
          <p:nvPr>
            <p:custDataLst>
              <p:tags r:id="rId6"/>
            </p:custDataLst>
          </p:nvPr>
        </p:nvSpPr>
        <p:spPr bwMode="auto">
          <a:xfrm>
            <a:off x="819150" y="2830937"/>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Workspaces &amp; Projects</a:t>
            </a:r>
            <a:endParaRPr lang="en-US">
              <a:solidFill>
                <a:srgbClr val="000000"/>
              </a:solidFill>
            </a:endParaRPr>
          </a:p>
        </p:txBody>
      </p:sp>
      <p:sp>
        <p:nvSpPr>
          <p:cNvPr id="14" name="Text Box 6">
            <a:hlinkClick r:id="rId19" action="ppaction://hlinksldjump"/>
          </p:cNvPr>
          <p:cNvSpPr txBox="1">
            <a:spLocks noChangeArrowheads="1"/>
          </p:cNvSpPr>
          <p:nvPr>
            <p:custDataLst>
              <p:tags r:id="rId7"/>
            </p:custDataLst>
          </p:nvPr>
        </p:nvSpPr>
        <p:spPr bwMode="auto">
          <a:xfrm>
            <a:off x="819150" y="3283251"/>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Creating a Project</a:t>
            </a:r>
            <a:endParaRPr lang="en-US">
              <a:solidFill>
                <a:srgbClr val="000000"/>
              </a:solidFill>
            </a:endParaRPr>
          </a:p>
        </p:txBody>
      </p:sp>
      <p:sp>
        <p:nvSpPr>
          <p:cNvPr id="15" name="Text Box 6">
            <a:hlinkClick r:id="rId20" action="ppaction://hlinksldjump"/>
          </p:cNvPr>
          <p:cNvSpPr txBox="1">
            <a:spLocks noChangeArrowheads="1"/>
          </p:cNvSpPr>
          <p:nvPr>
            <p:custDataLst>
              <p:tags r:id="rId8"/>
            </p:custDataLst>
          </p:nvPr>
        </p:nvSpPr>
        <p:spPr bwMode="auto">
          <a:xfrm>
            <a:off x="819150" y="3735565"/>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Build Config &amp; Options</a:t>
            </a:r>
            <a:endParaRPr lang="en-US">
              <a:solidFill>
                <a:srgbClr val="000000"/>
              </a:solidFill>
            </a:endParaRPr>
          </a:p>
        </p:txBody>
      </p:sp>
      <p:sp>
        <p:nvSpPr>
          <p:cNvPr id="16" name="Text Box 4">
            <a:hlinkClick r:id="rId21" action="ppaction://hlinksldjump"/>
          </p:cNvPr>
          <p:cNvSpPr txBox="1">
            <a:spLocks noChangeArrowheads="1"/>
          </p:cNvSpPr>
          <p:nvPr>
            <p:custDataLst>
              <p:tags r:id="rId9"/>
            </p:custDataLst>
          </p:nvPr>
        </p:nvSpPr>
        <p:spPr bwMode="auto">
          <a:xfrm>
            <a:off x="310202" y="4203352"/>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Licensing/Pricing</a:t>
            </a:r>
            <a:endParaRPr lang="en-US" sz="2800">
              <a:solidFill>
                <a:srgbClr val="000000"/>
              </a:solidFill>
            </a:endParaRPr>
          </a:p>
        </p:txBody>
      </p:sp>
      <p:sp>
        <p:nvSpPr>
          <p:cNvPr id="17" name="Text Box 4">
            <a:hlinkClick r:id="rId22" action="ppaction://hlinksldjump"/>
          </p:cNvPr>
          <p:cNvSpPr txBox="1">
            <a:spLocks noChangeArrowheads="1"/>
          </p:cNvSpPr>
          <p:nvPr>
            <p:custDataLst>
              <p:tags r:id="rId10"/>
            </p:custDataLst>
          </p:nvPr>
        </p:nvSpPr>
        <p:spPr bwMode="auto">
          <a:xfrm>
            <a:off x="310202" y="4738169"/>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CCSv6 – For More Info…</a:t>
            </a:r>
            <a:endParaRPr lang="en-US" sz="2800">
              <a:solidFill>
                <a:srgbClr val="000000"/>
              </a:solidFill>
            </a:endParaRPr>
          </a:p>
        </p:txBody>
      </p:sp>
      <p:sp>
        <p:nvSpPr>
          <p:cNvPr id="18" name="Text Box 4">
            <a:hlinkClick r:id="rId23" action="ppaction://hlinksldjump"/>
          </p:cNvPr>
          <p:cNvSpPr txBox="1">
            <a:spLocks noChangeArrowheads="1"/>
          </p:cNvSpPr>
          <p:nvPr>
            <p:custDataLst>
              <p:tags r:id="rId11"/>
            </p:custDataLst>
          </p:nvPr>
        </p:nvSpPr>
        <p:spPr bwMode="auto">
          <a:xfrm>
            <a:off x="310202" y="5272986"/>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a:solidFill>
                <a:srgbClr val="000000"/>
              </a:solidFill>
            </a:endParaRPr>
          </a:p>
        </p:txBody>
      </p:sp>
    </p:spTree>
    <p:custDataLst>
      <p:tags r:id="rId1"/>
    </p:custDataLst>
    <p:extLst>
      <p:ext uri="{BB962C8B-B14F-4D97-AF65-F5344CB8AC3E}">
        <p14:creationId xmlns:p14="http://schemas.microsoft.com/office/powerpoint/2010/main" val="1198843194"/>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838200"/>
            <a:ext cx="5562600" cy="5181600"/>
          </a:xfrm>
          <a:prstGeom prst="rect">
            <a:avLst/>
          </a:prstGeom>
          <a:solidFill>
            <a:srgbClr val="92D050"/>
          </a:solidFill>
          <a:ln w="19050">
            <a:solidFill>
              <a:schemeClr val="tx1"/>
            </a:solidFill>
            <a:miter lim="800000"/>
            <a:headEnd type="none" w="sm" len="sm"/>
            <a:tailEnd type="none" w="sm" len="sm"/>
          </a:ln>
          <a:effectLst>
            <a:outerShdw blurRad="50800" dist="889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3" cstate="print"/>
          <a:srcRect/>
          <a:stretch>
            <a:fillRect/>
          </a:stretch>
        </p:blipFill>
        <p:spPr bwMode="auto">
          <a:xfrm>
            <a:off x="6160824" y="1316817"/>
            <a:ext cx="2819400" cy="4172713"/>
          </a:xfrm>
          <a:prstGeom prst="rect">
            <a:avLst/>
          </a:prstGeom>
          <a:noFill/>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9" name="Text Box 4">
            <a:hlinkClick r:id="rId14" action="ppaction://hlinksldjump"/>
          </p:cNvPr>
          <p:cNvSpPr txBox="1">
            <a:spLocks noChangeArrowheads="1"/>
          </p:cNvSpPr>
          <p:nvPr>
            <p:custDataLst>
              <p:tags r:id="rId2"/>
            </p:custDataLst>
          </p:nvPr>
        </p:nvSpPr>
        <p:spPr bwMode="auto">
          <a:xfrm>
            <a:off x="310202" y="954651"/>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Intro to CCSv6</a:t>
            </a:r>
            <a:endParaRPr lang="en-US" sz="2800">
              <a:solidFill>
                <a:srgbClr val="000000"/>
              </a:solidFill>
            </a:endParaRPr>
          </a:p>
        </p:txBody>
      </p:sp>
      <p:sp>
        <p:nvSpPr>
          <p:cNvPr id="10" name="Text Box 5">
            <a:hlinkClick r:id="rId15" action="ppaction://hlinksldjump"/>
          </p:cNvPr>
          <p:cNvSpPr txBox="1">
            <a:spLocks noChangeArrowheads="1"/>
          </p:cNvSpPr>
          <p:nvPr>
            <p:custDataLst>
              <p:tags r:id="rId3"/>
            </p:custDataLst>
          </p:nvPr>
        </p:nvSpPr>
        <p:spPr bwMode="auto">
          <a:xfrm>
            <a:off x="823273" y="1473995"/>
            <a:ext cx="4600575" cy="387798"/>
          </a:xfrm>
          <a:prstGeom prst="rect">
            <a:avLst/>
          </a:prstGeom>
          <a:solidFill>
            <a:schemeClr val="bg1"/>
          </a:solidFill>
          <a:ln w="19050">
            <a:solidFill>
              <a:schemeClr val="tx1"/>
            </a:solid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Functional Overview</a:t>
            </a:r>
            <a:endParaRPr lang="en-US">
              <a:solidFill>
                <a:srgbClr val="000000"/>
              </a:solidFill>
            </a:endParaRPr>
          </a:p>
        </p:txBody>
      </p:sp>
      <p:sp>
        <p:nvSpPr>
          <p:cNvPr id="11" name="Text Box 6">
            <a:hlinkClick r:id="rId16" action="ppaction://hlinksldjump"/>
          </p:cNvPr>
          <p:cNvSpPr txBox="1">
            <a:spLocks noChangeArrowheads="1"/>
          </p:cNvSpPr>
          <p:nvPr>
            <p:custDataLst>
              <p:tags r:id="rId4"/>
            </p:custDataLst>
          </p:nvPr>
        </p:nvSpPr>
        <p:spPr bwMode="auto">
          <a:xfrm>
            <a:off x="819150" y="1926309"/>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Perspectives</a:t>
            </a:r>
            <a:endParaRPr lang="en-US">
              <a:solidFill>
                <a:srgbClr val="000000"/>
              </a:solidFill>
            </a:endParaRPr>
          </a:p>
        </p:txBody>
      </p:sp>
      <p:sp>
        <p:nvSpPr>
          <p:cNvPr id="12" name="Text Box 6">
            <a:hlinkClick r:id="rId17" action="ppaction://hlinksldjump"/>
          </p:cNvPr>
          <p:cNvSpPr txBox="1">
            <a:spLocks noChangeArrowheads="1"/>
          </p:cNvSpPr>
          <p:nvPr>
            <p:custDataLst>
              <p:tags r:id="rId5"/>
            </p:custDataLst>
          </p:nvPr>
        </p:nvSpPr>
        <p:spPr bwMode="auto">
          <a:xfrm>
            <a:off x="819150" y="2378623"/>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Target Config &amp; Emulators</a:t>
            </a:r>
            <a:endParaRPr lang="en-US">
              <a:solidFill>
                <a:srgbClr val="000000"/>
              </a:solidFill>
            </a:endParaRPr>
          </a:p>
        </p:txBody>
      </p:sp>
      <p:sp>
        <p:nvSpPr>
          <p:cNvPr id="13" name="Text Box 6">
            <a:hlinkClick r:id="rId18" action="ppaction://hlinksldjump"/>
          </p:cNvPr>
          <p:cNvSpPr txBox="1">
            <a:spLocks noChangeArrowheads="1"/>
          </p:cNvSpPr>
          <p:nvPr>
            <p:custDataLst>
              <p:tags r:id="rId6"/>
            </p:custDataLst>
          </p:nvPr>
        </p:nvSpPr>
        <p:spPr bwMode="auto">
          <a:xfrm>
            <a:off x="819150" y="2830937"/>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Workspaces &amp; Projects</a:t>
            </a:r>
            <a:endParaRPr lang="en-US">
              <a:solidFill>
                <a:srgbClr val="000000"/>
              </a:solidFill>
            </a:endParaRPr>
          </a:p>
        </p:txBody>
      </p:sp>
      <p:sp>
        <p:nvSpPr>
          <p:cNvPr id="14" name="Text Box 6">
            <a:hlinkClick r:id="rId19" action="ppaction://hlinksldjump"/>
          </p:cNvPr>
          <p:cNvSpPr txBox="1">
            <a:spLocks noChangeArrowheads="1"/>
          </p:cNvSpPr>
          <p:nvPr>
            <p:custDataLst>
              <p:tags r:id="rId7"/>
            </p:custDataLst>
          </p:nvPr>
        </p:nvSpPr>
        <p:spPr bwMode="auto">
          <a:xfrm>
            <a:off x="819150" y="3283251"/>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Creating a Project</a:t>
            </a:r>
            <a:endParaRPr lang="en-US">
              <a:solidFill>
                <a:srgbClr val="000000"/>
              </a:solidFill>
            </a:endParaRPr>
          </a:p>
        </p:txBody>
      </p:sp>
      <p:sp>
        <p:nvSpPr>
          <p:cNvPr id="15" name="Text Box 6">
            <a:hlinkClick r:id="rId20" action="ppaction://hlinksldjump"/>
          </p:cNvPr>
          <p:cNvSpPr txBox="1">
            <a:spLocks noChangeArrowheads="1"/>
          </p:cNvSpPr>
          <p:nvPr>
            <p:custDataLst>
              <p:tags r:id="rId8"/>
            </p:custDataLst>
          </p:nvPr>
        </p:nvSpPr>
        <p:spPr bwMode="auto">
          <a:xfrm>
            <a:off x="819150" y="3735565"/>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Build Config &amp; Options</a:t>
            </a:r>
            <a:endParaRPr lang="en-US">
              <a:solidFill>
                <a:srgbClr val="000000"/>
              </a:solidFill>
            </a:endParaRPr>
          </a:p>
        </p:txBody>
      </p:sp>
      <p:sp>
        <p:nvSpPr>
          <p:cNvPr id="16" name="Text Box 4">
            <a:hlinkClick r:id="rId21" action="ppaction://hlinksldjump"/>
          </p:cNvPr>
          <p:cNvSpPr txBox="1">
            <a:spLocks noChangeArrowheads="1"/>
          </p:cNvSpPr>
          <p:nvPr>
            <p:custDataLst>
              <p:tags r:id="rId9"/>
            </p:custDataLst>
          </p:nvPr>
        </p:nvSpPr>
        <p:spPr bwMode="auto">
          <a:xfrm>
            <a:off x="310202" y="4203352"/>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Licensing/Pricing</a:t>
            </a:r>
            <a:endParaRPr lang="en-US" sz="2800">
              <a:solidFill>
                <a:srgbClr val="000000"/>
              </a:solidFill>
            </a:endParaRPr>
          </a:p>
        </p:txBody>
      </p:sp>
      <p:sp>
        <p:nvSpPr>
          <p:cNvPr id="17" name="Text Box 4">
            <a:hlinkClick r:id="rId22" action="ppaction://hlinksldjump"/>
          </p:cNvPr>
          <p:cNvSpPr txBox="1">
            <a:spLocks noChangeArrowheads="1"/>
          </p:cNvSpPr>
          <p:nvPr>
            <p:custDataLst>
              <p:tags r:id="rId10"/>
            </p:custDataLst>
          </p:nvPr>
        </p:nvSpPr>
        <p:spPr bwMode="auto">
          <a:xfrm>
            <a:off x="310202" y="4738169"/>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CCSv6 – For More Info…</a:t>
            </a:r>
            <a:endParaRPr lang="en-US" sz="2800">
              <a:solidFill>
                <a:srgbClr val="000000"/>
              </a:solidFill>
            </a:endParaRPr>
          </a:p>
        </p:txBody>
      </p:sp>
      <p:sp>
        <p:nvSpPr>
          <p:cNvPr id="18" name="Text Box 4">
            <a:hlinkClick r:id="rId23" action="ppaction://hlinksldjump"/>
          </p:cNvPr>
          <p:cNvSpPr txBox="1">
            <a:spLocks noChangeArrowheads="1"/>
          </p:cNvSpPr>
          <p:nvPr>
            <p:custDataLst>
              <p:tags r:id="rId11"/>
            </p:custDataLst>
          </p:nvPr>
        </p:nvSpPr>
        <p:spPr bwMode="auto">
          <a:xfrm>
            <a:off x="310202" y="5272986"/>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a:solidFill>
                <a:srgbClr val="000000"/>
              </a:solidFill>
            </a:endParaRPr>
          </a:p>
        </p:txBody>
      </p:sp>
    </p:spTree>
    <p:custDataLst>
      <p:tags r:id="rId1"/>
    </p:custDataLst>
    <p:extLst>
      <p:ext uri="{BB962C8B-B14F-4D97-AF65-F5344CB8AC3E}">
        <p14:creationId xmlns:p14="http://schemas.microsoft.com/office/powerpoint/2010/main" val="1979105727"/>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smtClean="0"/>
              <a:t>CCS Functional Overview</a:t>
            </a:r>
          </a:p>
        </p:txBody>
      </p:sp>
      <p:sp>
        <p:nvSpPr>
          <p:cNvPr id="58" name="Rectangle 8"/>
          <p:cNvSpPr>
            <a:spLocks noChangeArrowheads="1"/>
          </p:cNvSpPr>
          <p:nvPr/>
        </p:nvSpPr>
        <p:spPr bwMode="auto">
          <a:xfrm>
            <a:off x="294168" y="728332"/>
            <a:ext cx="5145175" cy="4002088"/>
          </a:xfrm>
          <a:prstGeom prst="rect">
            <a:avLst/>
          </a:prstGeom>
          <a:solidFill>
            <a:schemeClr val="accent4">
              <a:lumMod val="40000"/>
              <a:lumOff val="60000"/>
            </a:schemeClr>
          </a:solidFill>
          <a:ln w="28575">
            <a:noFill/>
            <a:miter lim="800000"/>
            <a:headEnd/>
            <a:tailEnd/>
          </a:ln>
          <a:effectLst/>
        </p:spPr>
        <p:txBody>
          <a:bodyPr wrap="none" lIns="92075" tIns="46038" rIns="92075" bIns="46038" anchor="ctr"/>
          <a:lstStyle/>
          <a:p>
            <a:pPr>
              <a:defRPr/>
            </a:pPr>
            <a:endParaRPr lang="en-US">
              <a:effectLst>
                <a:outerShdw blurRad="38100" dist="38100" dir="2700000" algn="tl">
                  <a:srgbClr val="000000">
                    <a:alpha val="43137"/>
                  </a:srgbClr>
                </a:outerShdw>
              </a:effectLst>
            </a:endParaRPr>
          </a:p>
        </p:txBody>
      </p:sp>
      <p:grpSp>
        <p:nvGrpSpPr>
          <p:cNvPr id="51" name="Group 50"/>
          <p:cNvGrpSpPr/>
          <p:nvPr/>
        </p:nvGrpSpPr>
        <p:grpSpPr>
          <a:xfrm>
            <a:off x="228600" y="633350"/>
            <a:ext cx="7086600" cy="4191000"/>
            <a:chOff x="228600" y="633350"/>
            <a:chExt cx="7086600" cy="4191000"/>
          </a:xfrm>
        </p:grpSpPr>
        <p:sp>
          <p:nvSpPr>
            <p:cNvPr id="52" name="Rectangle 51"/>
            <p:cNvSpPr/>
            <p:nvPr/>
          </p:nvSpPr>
          <p:spPr bwMode="auto">
            <a:xfrm>
              <a:off x="228600" y="633350"/>
              <a:ext cx="7086600" cy="4191000"/>
            </a:xfrm>
            <a:prstGeom prst="rect">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sp>
          <p:nvSpPr>
            <p:cNvPr id="53" name="Rectangle 8"/>
            <p:cNvSpPr>
              <a:spLocks noChangeArrowheads="1"/>
            </p:cNvSpPr>
            <p:nvPr/>
          </p:nvSpPr>
          <p:spPr bwMode="auto">
            <a:xfrm>
              <a:off x="294168" y="728332"/>
              <a:ext cx="5145175" cy="4002088"/>
            </a:xfrm>
            <a:prstGeom prst="rect">
              <a:avLst/>
            </a:prstGeom>
            <a:solidFill>
              <a:schemeClr val="accent4">
                <a:lumMod val="40000"/>
                <a:lumOff val="60000"/>
              </a:schemeClr>
            </a:solidFill>
            <a:ln w="28575">
              <a:noFill/>
              <a:miter lim="800000"/>
              <a:headEnd/>
              <a:tailEnd/>
            </a:ln>
            <a:effectLst/>
          </p:spPr>
          <p:txBody>
            <a:bodyPr wrap="none" lIns="92075" tIns="46038" rIns="92075" bIns="46038" anchor="ctr"/>
            <a:lstStyle/>
            <a:p>
              <a:pPr>
                <a:defRPr/>
              </a:pPr>
              <a:endParaRPr lang="en-US">
                <a:effectLst>
                  <a:outerShdw blurRad="38100" dist="38100" dir="2700000" algn="tl">
                    <a:srgbClr val="000000">
                      <a:alpha val="43137"/>
                    </a:srgbClr>
                  </a:outerShdw>
                </a:effectLst>
              </a:endParaRPr>
            </a:p>
          </p:txBody>
        </p:sp>
        <p:sp>
          <p:nvSpPr>
            <p:cNvPr id="54" name="Rectangle 26"/>
            <p:cNvSpPr>
              <a:spLocks noChangeArrowheads="1"/>
            </p:cNvSpPr>
            <p:nvPr/>
          </p:nvSpPr>
          <p:spPr bwMode="auto">
            <a:xfrm>
              <a:off x="370367" y="787070"/>
              <a:ext cx="1066800" cy="855662"/>
            </a:xfrm>
            <a:prstGeom prst="rect">
              <a:avLst/>
            </a:prstGeom>
            <a:solidFill>
              <a:schemeClr val="bg2">
                <a:lumMod val="95000"/>
              </a:schemeClr>
            </a:solidFill>
            <a:ln w="6350">
              <a:solidFill>
                <a:schemeClr val="tx1"/>
              </a:solidFill>
              <a:miter lim="800000"/>
              <a:headEnd/>
              <a:tailEnd/>
            </a:ln>
          </p:spPr>
          <p:txBody>
            <a:bodyPr wrap="none" lIns="92075" tIns="46038" rIns="92075" bIns="46038" anchor="ctr"/>
            <a:lstStyle/>
            <a:p>
              <a:pPr algn="ctr">
                <a:lnSpc>
                  <a:spcPct val="100000"/>
                </a:lnSpc>
                <a:spcBef>
                  <a:spcPct val="0"/>
                </a:spcBef>
              </a:pPr>
              <a:r>
                <a:rPr lang="en-US" sz="2000" b="0" smtClean="0">
                  <a:latin typeface="Arial Narrow" pitchFamily="34" charset="0"/>
                  <a:cs typeface="Calibri" pitchFamily="34" charset="0"/>
                </a:rPr>
                <a:t>Compiler</a:t>
              </a:r>
              <a:endParaRPr lang="en-US" sz="2000" b="0">
                <a:latin typeface="Arial Narrow" pitchFamily="34" charset="0"/>
                <a:cs typeface="Calibri" pitchFamily="34" charset="0"/>
              </a:endParaRPr>
            </a:p>
          </p:txBody>
        </p:sp>
        <p:cxnSp>
          <p:nvCxnSpPr>
            <p:cNvPr id="55" name="AutoShape 27"/>
            <p:cNvCxnSpPr>
              <a:cxnSpLocks noChangeShapeType="1"/>
              <a:endCxn id="54" idx="2"/>
            </p:cNvCxnSpPr>
            <p:nvPr/>
          </p:nvCxnSpPr>
          <p:spPr bwMode="auto">
            <a:xfrm flipV="1">
              <a:off x="903767" y="1642732"/>
              <a:ext cx="0" cy="706438"/>
            </a:xfrm>
            <a:prstGeom prst="straightConnector1">
              <a:avLst/>
            </a:prstGeom>
            <a:noFill/>
            <a:ln w="38100">
              <a:solidFill>
                <a:schemeClr val="tx2"/>
              </a:solidFill>
              <a:round/>
              <a:headEnd type="none" w="med" len="med"/>
              <a:tailEnd type="triangle" w="med" len="med"/>
            </a:ln>
          </p:spPr>
        </p:cxnSp>
        <p:sp>
          <p:nvSpPr>
            <p:cNvPr id="56" name="Rectangle 28"/>
            <p:cNvSpPr>
              <a:spLocks noChangeArrowheads="1"/>
            </p:cNvSpPr>
            <p:nvPr/>
          </p:nvSpPr>
          <p:spPr bwMode="auto">
            <a:xfrm>
              <a:off x="2199167" y="2363457"/>
              <a:ext cx="914400" cy="854075"/>
            </a:xfrm>
            <a:prstGeom prst="rect">
              <a:avLst/>
            </a:prstGeom>
            <a:solidFill>
              <a:schemeClr val="bg2">
                <a:lumMod val="95000"/>
              </a:schemeClr>
            </a:solidFill>
            <a:ln w="6350">
              <a:solidFill>
                <a:schemeClr val="tx1"/>
              </a:solidFill>
              <a:miter lim="800000"/>
              <a:headEnd/>
              <a:tailEnd/>
            </a:ln>
          </p:spPr>
          <p:txBody>
            <a:bodyPr wrap="none" lIns="92075" tIns="46038" rIns="92075" bIns="46038" anchor="ctr"/>
            <a:lstStyle/>
            <a:p>
              <a:pPr algn="ctr">
                <a:lnSpc>
                  <a:spcPct val="100000"/>
                </a:lnSpc>
                <a:spcBef>
                  <a:spcPct val="0"/>
                </a:spcBef>
              </a:pPr>
              <a:r>
                <a:rPr lang="en-US" sz="2000" b="0" err="1"/>
                <a:t>Asm</a:t>
              </a:r>
              <a:endParaRPr lang="en-US" sz="2000" b="0"/>
            </a:p>
          </p:txBody>
        </p:sp>
        <p:cxnSp>
          <p:nvCxnSpPr>
            <p:cNvPr id="60" name="AutoShape 29"/>
            <p:cNvCxnSpPr>
              <a:cxnSpLocks noChangeShapeType="1"/>
              <a:stCxn id="54" idx="3"/>
              <a:endCxn id="56" idx="0"/>
            </p:cNvCxnSpPr>
            <p:nvPr/>
          </p:nvCxnSpPr>
          <p:spPr bwMode="auto">
            <a:xfrm>
              <a:off x="1437167" y="1214901"/>
              <a:ext cx="1219200" cy="1148556"/>
            </a:xfrm>
            <a:prstGeom prst="bentConnector2">
              <a:avLst/>
            </a:prstGeom>
            <a:noFill/>
            <a:ln w="38100">
              <a:solidFill>
                <a:schemeClr val="tx2"/>
              </a:solidFill>
              <a:miter lim="800000"/>
              <a:headEnd type="none" w="med" len="med"/>
              <a:tailEnd type="triangle" w="med" len="med"/>
            </a:ln>
          </p:spPr>
        </p:cxnSp>
        <p:cxnSp>
          <p:nvCxnSpPr>
            <p:cNvPr id="67" name="AutoShape 30"/>
            <p:cNvCxnSpPr>
              <a:cxnSpLocks noChangeShapeType="1"/>
            </p:cNvCxnSpPr>
            <p:nvPr/>
          </p:nvCxnSpPr>
          <p:spPr bwMode="auto">
            <a:xfrm>
              <a:off x="1382233" y="2790495"/>
              <a:ext cx="816934" cy="0"/>
            </a:xfrm>
            <a:prstGeom prst="straightConnector1">
              <a:avLst/>
            </a:prstGeom>
            <a:noFill/>
            <a:ln w="12700">
              <a:solidFill>
                <a:schemeClr val="tx1"/>
              </a:solidFill>
              <a:round/>
              <a:headEnd type="none" w="med" len="med"/>
              <a:tailEnd type="triangle" w="med" len="med"/>
            </a:ln>
          </p:spPr>
        </p:cxnSp>
        <p:sp>
          <p:nvSpPr>
            <p:cNvPr id="75" name="Rectangle 34"/>
            <p:cNvSpPr>
              <a:spLocks noChangeArrowheads="1"/>
            </p:cNvSpPr>
            <p:nvPr/>
          </p:nvSpPr>
          <p:spPr bwMode="auto">
            <a:xfrm>
              <a:off x="3723167" y="2363457"/>
              <a:ext cx="914400" cy="854075"/>
            </a:xfrm>
            <a:prstGeom prst="rect">
              <a:avLst/>
            </a:prstGeom>
            <a:solidFill>
              <a:schemeClr val="bg2">
                <a:lumMod val="95000"/>
              </a:schemeClr>
            </a:solidFill>
            <a:ln w="6350">
              <a:solidFill>
                <a:schemeClr val="tx1"/>
              </a:solidFill>
              <a:miter lim="800000"/>
              <a:headEnd/>
              <a:tailEnd/>
            </a:ln>
          </p:spPr>
          <p:txBody>
            <a:bodyPr wrap="none" lIns="92075" tIns="46038" rIns="92075" bIns="46038" anchor="ctr"/>
            <a:lstStyle/>
            <a:p>
              <a:pPr algn="ctr">
                <a:lnSpc>
                  <a:spcPct val="100000"/>
                </a:lnSpc>
                <a:spcBef>
                  <a:spcPct val="0"/>
                </a:spcBef>
              </a:pPr>
              <a:r>
                <a:rPr lang="en-US" sz="2000" b="0"/>
                <a:t>Link</a:t>
              </a:r>
            </a:p>
          </p:txBody>
        </p:sp>
        <p:cxnSp>
          <p:nvCxnSpPr>
            <p:cNvPr id="79" name="AutoShape 35"/>
            <p:cNvCxnSpPr>
              <a:cxnSpLocks noChangeShapeType="1"/>
              <a:stCxn id="56" idx="3"/>
              <a:endCxn id="75" idx="1"/>
            </p:cNvCxnSpPr>
            <p:nvPr/>
          </p:nvCxnSpPr>
          <p:spPr bwMode="auto">
            <a:xfrm>
              <a:off x="3113567" y="2790495"/>
              <a:ext cx="609600" cy="0"/>
            </a:xfrm>
            <a:prstGeom prst="straightConnector1">
              <a:avLst/>
            </a:prstGeom>
            <a:noFill/>
            <a:ln w="38100">
              <a:solidFill>
                <a:schemeClr val="tx2"/>
              </a:solidFill>
              <a:round/>
              <a:headEnd type="none" w="med" len="med"/>
              <a:tailEnd type="triangle" w="med" len="med"/>
            </a:ln>
          </p:spPr>
        </p:cxnSp>
        <p:sp>
          <p:nvSpPr>
            <p:cNvPr id="80" name="Rectangle 50"/>
            <p:cNvSpPr>
              <a:spLocks noChangeArrowheads="1"/>
            </p:cNvSpPr>
            <p:nvPr/>
          </p:nvSpPr>
          <p:spPr bwMode="auto">
            <a:xfrm>
              <a:off x="827567" y="1782730"/>
              <a:ext cx="469900" cy="400050"/>
            </a:xfrm>
            <a:prstGeom prst="rect">
              <a:avLst/>
            </a:prstGeom>
            <a:noFill/>
            <a:ln w="9525">
              <a:noFill/>
              <a:miter lim="800000"/>
              <a:headEnd/>
              <a:tailEnd/>
            </a:ln>
          </p:spPr>
          <p:txBody>
            <a:bodyPr wrap="none" lIns="92075" tIns="46038" rIns="92075" bIns="46038">
              <a:spAutoFit/>
            </a:bodyPr>
            <a:lstStyle/>
            <a:p>
              <a:pPr>
                <a:lnSpc>
                  <a:spcPct val="100000"/>
                </a:lnSpc>
                <a:spcBef>
                  <a:spcPct val="0"/>
                </a:spcBef>
              </a:pPr>
              <a:r>
                <a:rPr lang="en-US" sz="2000"/>
                <a:t> .c</a:t>
              </a:r>
            </a:p>
          </p:txBody>
        </p:sp>
        <p:sp>
          <p:nvSpPr>
            <p:cNvPr id="81" name="Rectangle 51"/>
            <p:cNvSpPr>
              <a:spLocks noChangeArrowheads="1"/>
            </p:cNvSpPr>
            <p:nvPr/>
          </p:nvSpPr>
          <p:spPr bwMode="auto">
            <a:xfrm>
              <a:off x="1384002" y="2380291"/>
              <a:ext cx="769938" cy="400050"/>
            </a:xfrm>
            <a:prstGeom prst="rect">
              <a:avLst/>
            </a:prstGeom>
            <a:noFill/>
            <a:ln w="9525">
              <a:noFill/>
              <a:miter lim="800000"/>
              <a:headEnd/>
              <a:tailEnd/>
            </a:ln>
          </p:spPr>
          <p:txBody>
            <a:bodyPr wrap="none" lIns="92075" tIns="46038" rIns="92075" bIns="46038" anchor="b">
              <a:spAutoFit/>
            </a:bodyPr>
            <a:lstStyle/>
            <a:p>
              <a:pPr>
                <a:lnSpc>
                  <a:spcPct val="100000"/>
                </a:lnSpc>
                <a:spcBef>
                  <a:spcPct val="0"/>
                </a:spcBef>
              </a:pPr>
              <a:r>
                <a:rPr lang="en-US" sz="2000">
                  <a:solidFill>
                    <a:schemeClr val="bg1">
                      <a:lumMod val="50000"/>
                    </a:schemeClr>
                  </a:solidFill>
                </a:rPr>
                <a:t>.</a:t>
              </a:r>
              <a:r>
                <a:rPr lang="en-US" sz="2000" err="1">
                  <a:solidFill>
                    <a:schemeClr val="bg1">
                      <a:lumMod val="50000"/>
                    </a:schemeClr>
                  </a:solidFill>
                </a:rPr>
                <a:t>asm</a:t>
              </a:r>
              <a:endParaRPr lang="en-US" sz="2000">
                <a:solidFill>
                  <a:schemeClr val="bg1">
                    <a:lumMod val="50000"/>
                  </a:schemeClr>
                </a:solidFill>
              </a:endParaRPr>
            </a:p>
          </p:txBody>
        </p:sp>
        <p:sp>
          <p:nvSpPr>
            <p:cNvPr id="82" name="Rectangle 52"/>
            <p:cNvSpPr>
              <a:spLocks noChangeArrowheads="1"/>
            </p:cNvSpPr>
            <p:nvPr/>
          </p:nvSpPr>
          <p:spPr bwMode="auto">
            <a:xfrm>
              <a:off x="3039136" y="2369658"/>
              <a:ext cx="641350" cy="400050"/>
            </a:xfrm>
            <a:prstGeom prst="rect">
              <a:avLst/>
            </a:prstGeom>
            <a:noFill/>
            <a:ln w="9525">
              <a:noFill/>
              <a:miter lim="800000"/>
              <a:headEnd/>
              <a:tailEnd/>
            </a:ln>
          </p:spPr>
          <p:txBody>
            <a:bodyPr wrap="none" lIns="92075" tIns="46038" rIns="92075" bIns="46038" anchor="b">
              <a:spAutoFit/>
            </a:bodyPr>
            <a:lstStyle/>
            <a:p>
              <a:pPr>
                <a:lnSpc>
                  <a:spcPct val="100000"/>
                </a:lnSpc>
                <a:spcBef>
                  <a:spcPct val="0"/>
                </a:spcBef>
              </a:pPr>
              <a:r>
                <a:rPr lang="en-US" sz="2000"/>
                <a:t>.</a:t>
              </a:r>
              <a:r>
                <a:rPr lang="en-US" sz="2000" err="1"/>
                <a:t>obj</a:t>
              </a:r>
              <a:endParaRPr lang="en-US" sz="2000"/>
            </a:p>
          </p:txBody>
        </p:sp>
        <p:sp>
          <p:nvSpPr>
            <p:cNvPr id="84" name="Rectangle 57"/>
            <p:cNvSpPr>
              <a:spLocks noChangeArrowheads="1"/>
            </p:cNvSpPr>
            <p:nvPr/>
          </p:nvSpPr>
          <p:spPr bwMode="auto">
            <a:xfrm>
              <a:off x="1644501" y="1182357"/>
              <a:ext cx="769938" cy="400050"/>
            </a:xfrm>
            <a:prstGeom prst="rect">
              <a:avLst/>
            </a:prstGeom>
            <a:noFill/>
            <a:ln w="9525">
              <a:noFill/>
              <a:miter lim="800000"/>
              <a:headEnd/>
              <a:tailEnd/>
            </a:ln>
          </p:spPr>
          <p:txBody>
            <a:bodyPr wrap="none" lIns="92075" tIns="46038" rIns="92075" bIns="46038" anchor="b">
              <a:spAutoFit/>
            </a:bodyPr>
            <a:lstStyle/>
            <a:p>
              <a:pPr>
                <a:lnSpc>
                  <a:spcPct val="100000"/>
                </a:lnSpc>
                <a:spcBef>
                  <a:spcPct val="0"/>
                </a:spcBef>
              </a:pPr>
              <a:r>
                <a:rPr lang="en-US" sz="2000"/>
                <a:t>.</a:t>
              </a:r>
              <a:r>
                <a:rPr lang="en-US" sz="2000" err="1"/>
                <a:t>asm</a:t>
              </a:r>
              <a:endParaRPr lang="en-US" sz="2000"/>
            </a:p>
          </p:txBody>
        </p:sp>
        <p:sp>
          <p:nvSpPr>
            <p:cNvPr id="85" name="Rounded Rectangle 84"/>
            <p:cNvSpPr/>
            <p:nvPr/>
          </p:nvSpPr>
          <p:spPr bwMode="auto">
            <a:xfrm>
              <a:off x="408467" y="2378685"/>
              <a:ext cx="990600" cy="854075"/>
            </a:xfrm>
            <a:prstGeom prst="roundRect">
              <a:avLst/>
            </a:prstGeom>
            <a:solidFill>
              <a:srgbClr val="99FF33">
                <a:alpha val="50196"/>
              </a:srgbClr>
            </a:solidFill>
            <a:ln w="38100" cap="flat" cmpd="sng" algn="ctr">
              <a:solidFill>
                <a:schemeClr val="tx1"/>
              </a:solidFill>
              <a:prstDash val="solid"/>
              <a:round/>
              <a:headEnd type="none" w="sm" len="sm"/>
              <a:tailEnd type="none" w="sm" len="sm"/>
            </a:ln>
            <a:effectLst/>
          </p:spPr>
          <p:txBody>
            <a:bodyPr vert="horz" wrap="square" lIns="91440" tIns="91440" rIns="91440" bIns="45720" numCol="1" rtlCol="0" anchor="ctr" anchorCtr="1"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b="1" i="0" u="none" strike="noStrike" cap="none" normalizeH="0" baseline="0" smtClean="0">
                  <a:ln>
                    <a:noFill/>
                  </a:ln>
                  <a:solidFill>
                    <a:schemeClr val="dk1"/>
                  </a:solidFill>
                  <a:effectLst/>
                  <a:latin typeface="+mn-lt"/>
                </a:rPr>
                <a:t>Edit</a:t>
              </a:r>
            </a:p>
          </p:txBody>
        </p:sp>
        <p:sp>
          <p:nvSpPr>
            <p:cNvPr id="86" name="Rounded Rectangle 85"/>
            <p:cNvSpPr/>
            <p:nvPr/>
          </p:nvSpPr>
          <p:spPr bwMode="auto">
            <a:xfrm>
              <a:off x="5704367" y="2366810"/>
              <a:ext cx="1143000" cy="854075"/>
            </a:xfrm>
            <a:prstGeom prst="roundRect">
              <a:avLst/>
            </a:prstGeom>
            <a:solidFill>
              <a:srgbClr val="99FF33">
                <a:alpha val="50196"/>
              </a:srgbClr>
            </a:solidFill>
            <a:ln w="38100" cap="flat" cmpd="sng" algn="ctr">
              <a:solidFill>
                <a:schemeClr val="tx1"/>
              </a:solidFill>
              <a:prstDash val="solid"/>
              <a:round/>
              <a:headEnd type="none" w="sm" len="sm"/>
              <a:tailEnd type="none" w="sm" len="sm"/>
            </a:ln>
            <a:effectLst/>
          </p:spPr>
          <p:txBody>
            <a:bodyPr vert="horz" wrap="square" lIns="45720" tIns="91440" rIns="45720" bIns="45720" numCol="1" rtlCol="0" anchor="ctr" anchorCtr="1"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b="1" i="0" u="none" strike="noStrike" cap="none" normalizeH="0" baseline="0" smtClean="0">
                  <a:ln>
                    <a:noFill/>
                  </a:ln>
                  <a:solidFill>
                    <a:schemeClr val="dk1"/>
                  </a:solidFill>
                  <a:effectLst/>
                  <a:latin typeface="+mn-lt"/>
                </a:rPr>
                <a:t>Debug</a:t>
              </a:r>
            </a:p>
          </p:txBody>
        </p:sp>
        <p:cxnSp>
          <p:nvCxnSpPr>
            <p:cNvPr id="87" name="AutoShape 36"/>
            <p:cNvCxnSpPr>
              <a:cxnSpLocks noChangeShapeType="1"/>
            </p:cNvCxnSpPr>
            <p:nvPr/>
          </p:nvCxnSpPr>
          <p:spPr bwMode="auto">
            <a:xfrm>
              <a:off x="4637567" y="2785732"/>
              <a:ext cx="1066800" cy="0"/>
            </a:xfrm>
            <a:prstGeom prst="straightConnector1">
              <a:avLst/>
            </a:prstGeom>
            <a:noFill/>
            <a:ln w="38100">
              <a:solidFill>
                <a:schemeClr val="tx2"/>
              </a:solidFill>
              <a:round/>
              <a:headEnd type="none" w="med" len="med"/>
              <a:tailEnd type="triangle" w="med" len="med"/>
            </a:ln>
          </p:spPr>
        </p:cxnSp>
      </p:grpSp>
      <p:grpSp>
        <p:nvGrpSpPr>
          <p:cNvPr id="14" name="Group 13"/>
          <p:cNvGrpSpPr/>
          <p:nvPr/>
        </p:nvGrpSpPr>
        <p:grpSpPr>
          <a:xfrm>
            <a:off x="5830843" y="804533"/>
            <a:ext cx="3258223" cy="4961712"/>
            <a:chOff x="5830843" y="804533"/>
            <a:chExt cx="3258223" cy="4961712"/>
          </a:xfrm>
        </p:grpSpPr>
        <p:pic>
          <p:nvPicPr>
            <p:cNvPr id="57" name="Picture 2"/>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260266" y="4837921"/>
              <a:ext cx="1828800" cy="928324"/>
            </a:xfrm>
            <a:prstGeom prst="rect">
              <a:avLst/>
            </a:prstGeom>
            <a:noFill/>
            <a:extLst>
              <a:ext uri="{909E8E84-426E-40DD-AFC4-6F175D3DCCD1}">
                <a14:hiddenFill xmlns:a14="http://schemas.microsoft.com/office/drawing/2010/main">
                  <a:solidFill>
                    <a:srgbClr val="FFFFFF"/>
                  </a:solidFill>
                </a14:hiddenFill>
              </a:ext>
            </a:extLst>
          </p:spPr>
        </p:pic>
        <p:sp>
          <p:nvSpPr>
            <p:cNvPr id="118" name="Rounded Rectangle 117"/>
            <p:cNvSpPr/>
            <p:nvPr/>
          </p:nvSpPr>
          <p:spPr bwMode="auto">
            <a:xfrm>
              <a:off x="7480102" y="1871332"/>
              <a:ext cx="1334289" cy="720022"/>
            </a:xfrm>
            <a:prstGeom prst="roundRect">
              <a:avLst>
                <a:gd name="adj" fmla="val 11567"/>
              </a:avLst>
            </a:prstGeom>
            <a:solidFill>
              <a:schemeClr val="accent4">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sz="2800" b="1" i="0" u="none" strike="noStrike" cap="none" normalizeH="0" baseline="0" err="1" smtClean="0">
                  <a:ln>
                    <a:noFill/>
                  </a:ln>
                  <a:solidFill>
                    <a:schemeClr val="dk1"/>
                  </a:solidFill>
                  <a:effectLst/>
                  <a:latin typeface="Calibri" pitchFamily="34" charset="0"/>
                  <a:cs typeface="Calibri" pitchFamily="34" charset="0"/>
                </a:rPr>
                <a:t>LaunchPad</a:t>
              </a:r>
              <a:endParaRPr kumimoji="0" lang="en-US" sz="2800" b="1" i="0" u="none" strike="noStrike" cap="none" normalizeH="0" baseline="0" smtClean="0">
                <a:ln>
                  <a:noFill/>
                </a:ln>
                <a:solidFill>
                  <a:schemeClr val="dk1"/>
                </a:solidFill>
                <a:effectLst/>
                <a:latin typeface="Calibri" pitchFamily="34" charset="0"/>
                <a:cs typeface="Calibri" pitchFamily="34" charset="0"/>
              </a:endParaRPr>
            </a:p>
          </p:txBody>
        </p:sp>
        <p:sp>
          <p:nvSpPr>
            <p:cNvPr id="119" name="Rounded Rectangle 118"/>
            <p:cNvSpPr/>
            <p:nvPr/>
          </p:nvSpPr>
          <p:spPr bwMode="auto">
            <a:xfrm>
              <a:off x="7480102" y="2867793"/>
              <a:ext cx="1345770" cy="708300"/>
            </a:xfrm>
            <a:prstGeom prst="roundRect">
              <a:avLst>
                <a:gd name="adj" fmla="val 11567"/>
              </a:avLst>
            </a:prstGeom>
            <a:solidFill>
              <a:schemeClr val="accent4">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sz="2800" b="1" i="0" u="none" strike="noStrike" cap="none" normalizeH="0" baseline="0" smtClean="0">
                  <a:ln>
                    <a:noFill/>
                  </a:ln>
                  <a:solidFill>
                    <a:schemeClr val="dk1"/>
                  </a:solidFill>
                  <a:effectLst/>
                  <a:latin typeface="Calibri" pitchFamily="34" charset="0"/>
                  <a:cs typeface="Calibri" pitchFamily="34" charset="0"/>
                </a:rPr>
                <a:t>EVM</a:t>
              </a:r>
            </a:p>
          </p:txBody>
        </p:sp>
        <p:sp>
          <p:nvSpPr>
            <p:cNvPr id="120" name="Rounded Rectangle 119"/>
            <p:cNvSpPr/>
            <p:nvPr/>
          </p:nvSpPr>
          <p:spPr bwMode="auto">
            <a:xfrm>
              <a:off x="7480102" y="3852532"/>
              <a:ext cx="1348465" cy="685800"/>
            </a:xfrm>
            <a:prstGeom prst="roundRect">
              <a:avLst>
                <a:gd name="adj" fmla="val 11567"/>
              </a:avLst>
            </a:prstGeom>
            <a:solidFill>
              <a:schemeClr val="accent4">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sz="2800" b="1" i="0" u="none" strike="noStrike" cap="none" normalizeH="0" baseline="0" smtClean="0">
                  <a:ln>
                    <a:noFill/>
                  </a:ln>
                  <a:solidFill>
                    <a:schemeClr val="dk1"/>
                  </a:solidFill>
                  <a:effectLst/>
                  <a:latin typeface="Calibri" pitchFamily="34" charset="0"/>
                  <a:cs typeface="Calibri" pitchFamily="34" charset="0"/>
                </a:rPr>
                <a:t>EMU</a:t>
              </a:r>
            </a:p>
          </p:txBody>
        </p:sp>
        <p:cxnSp>
          <p:nvCxnSpPr>
            <p:cNvPr id="121" name="AutoShape 39"/>
            <p:cNvCxnSpPr>
              <a:cxnSpLocks noChangeShapeType="1"/>
            </p:cNvCxnSpPr>
            <p:nvPr/>
          </p:nvCxnSpPr>
          <p:spPr bwMode="auto">
            <a:xfrm>
              <a:off x="8185299" y="4538332"/>
              <a:ext cx="0" cy="387829"/>
            </a:xfrm>
            <a:prstGeom prst="straightConnector1">
              <a:avLst/>
            </a:prstGeom>
            <a:noFill/>
            <a:ln w="28575">
              <a:solidFill>
                <a:schemeClr val="tx1"/>
              </a:solidFill>
              <a:round/>
              <a:headEnd type="triangle" w="med" len="med"/>
              <a:tailEnd type="triangle" w="med" len="med"/>
            </a:ln>
          </p:spPr>
        </p:cxnSp>
        <p:grpSp>
          <p:nvGrpSpPr>
            <p:cNvPr id="13" name="Group 12"/>
            <p:cNvGrpSpPr/>
            <p:nvPr/>
          </p:nvGrpSpPr>
          <p:grpSpPr>
            <a:xfrm>
              <a:off x="5830843" y="804533"/>
              <a:ext cx="950511" cy="1544637"/>
              <a:chOff x="5830843" y="804533"/>
              <a:chExt cx="950511" cy="1544637"/>
            </a:xfrm>
          </p:grpSpPr>
          <p:sp>
            <p:nvSpPr>
              <p:cNvPr id="122" name="Rectangle 20"/>
              <p:cNvSpPr>
                <a:spLocks noChangeArrowheads="1"/>
              </p:cNvSpPr>
              <p:nvPr/>
            </p:nvSpPr>
            <p:spPr bwMode="auto">
              <a:xfrm>
                <a:off x="5830843" y="804533"/>
                <a:ext cx="950511" cy="838200"/>
              </a:xfrm>
              <a:prstGeom prst="rect">
                <a:avLst/>
              </a:prstGeom>
              <a:solidFill>
                <a:schemeClr val="accent3">
                  <a:lumMod val="60000"/>
                  <a:lumOff val="40000"/>
                  <a:alpha val="49804"/>
                </a:schemeClr>
              </a:solidFill>
              <a:ln w="19050">
                <a:solidFill>
                  <a:schemeClr val="tx1"/>
                </a:solidFill>
                <a:prstDash val="lgDash"/>
                <a:miter lim="800000"/>
                <a:headEnd/>
                <a:tailEnd/>
              </a:ln>
            </p:spPr>
            <p:txBody>
              <a:bodyPr wrap="none" lIns="92075" tIns="46038" rIns="92075" bIns="46038" anchor="ctr"/>
              <a:lstStyle/>
              <a:p>
                <a:pPr algn="ctr">
                  <a:lnSpc>
                    <a:spcPct val="100000"/>
                  </a:lnSpc>
                  <a:spcBef>
                    <a:spcPct val="0"/>
                  </a:spcBef>
                </a:pPr>
                <a:r>
                  <a:rPr lang="en-US" sz="1800" b="0" smtClean="0">
                    <a:latin typeface="Arial Narrow" pitchFamily="34" charset="0"/>
                  </a:rPr>
                  <a:t>Target</a:t>
                </a:r>
                <a:br>
                  <a:rPr lang="en-US" sz="1800" b="0" smtClean="0">
                    <a:latin typeface="Arial Narrow" pitchFamily="34" charset="0"/>
                  </a:rPr>
                </a:br>
                <a:r>
                  <a:rPr lang="en-US" sz="1800" b="0" err="1" smtClean="0">
                    <a:latin typeface="Arial Narrow" pitchFamily="34" charset="0"/>
                  </a:rPr>
                  <a:t>Cfg</a:t>
                </a:r>
                <a:r>
                  <a:rPr lang="en-US" sz="1800" b="0" smtClean="0">
                    <a:latin typeface="Arial Narrow" pitchFamily="34" charset="0"/>
                  </a:rPr>
                  <a:t> File</a:t>
                </a:r>
                <a:endParaRPr lang="en-US" sz="1800" b="0"/>
              </a:p>
            </p:txBody>
          </p:sp>
          <p:cxnSp>
            <p:nvCxnSpPr>
              <p:cNvPr id="123" name="Straight Arrow Connector 122"/>
              <p:cNvCxnSpPr/>
              <p:nvPr/>
            </p:nvCxnSpPr>
            <p:spPr bwMode="auto">
              <a:xfrm>
                <a:off x="6306098" y="1642733"/>
                <a:ext cx="0" cy="706437"/>
              </a:xfrm>
              <a:prstGeom prst="straightConnector1">
                <a:avLst/>
              </a:prstGeom>
              <a:solidFill>
                <a:schemeClr val="accent1"/>
              </a:solidFill>
              <a:ln w="19050" cap="flat" cmpd="sng" algn="ctr">
                <a:solidFill>
                  <a:schemeClr val="tx1"/>
                </a:solidFill>
                <a:prstDash val="solid"/>
                <a:round/>
                <a:headEnd type="none" w="med" len="med"/>
                <a:tailEnd type="triangle" w="med" len="med"/>
              </a:ln>
              <a:effectLst/>
            </p:spPr>
          </p:cxnSp>
        </p:grpSp>
        <p:cxnSp>
          <p:nvCxnSpPr>
            <p:cNvPr id="125" name="Elbow Connector 124"/>
            <p:cNvCxnSpPr>
              <a:endCxn id="118" idx="1"/>
            </p:cNvCxnSpPr>
            <p:nvPr/>
          </p:nvCxnSpPr>
          <p:spPr bwMode="auto">
            <a:xfrm flipV="1">
              <a:off x="6847367" y="2231343"/>
              <a:ext cx="632735" cy="562505"/>
            </a:xfrm>
            <a:prstGeom prst="bentConnector3">
              <a:avLst/>
            </a:prstGeom>
            <a:solidFill>
              <a:schemeClr val="accent1"/>
            </a:solidFill>
            <a:ln w="19050" cap="flat" cmpd="sng" algn="ctr">
              <a:solidFill>
                <a:schemeClr val="tx1"/>
              </a:solidFill>
              <a:prstDash val="solid"/>
              <a:round/>
              <a:headEnd type="none" w="med" len="med"/>
              <a:tailEnd type="triangle" w="med" len="med"/>
            </a:ln>
            <a:effectLst/>
          </p:spPr>
        </p:cxnSp>
        <p:cxnSp>
          <p:nvCxnSpPr>
            <p:cNvPr id="126" name="Elbow Connector 125"/>
            <p:cNvCxnSpPr>
              <a:endCxn id="120" idx="1"/>
            </p:cNvCxnSpPr>
            <p:nvPr/>
          </p:nvCxnSpPr>
          <p:spPr bwMode="auto">
            <a:xfrm>
              <a:off x="6847367" y="2793848"/>
              <a:ext cx="632735" cy="1401584"/>
            </a:xfrm>
            <a:prstGeom prst="bentConnector3">
              <a:avLst/>
            </a:prstGeom>
            <a:solidFill>
              <a:schemeClr val="accent1"/>
            </a:solidFill>
            <a:ln w="19050" cap="flat" cmpd="sng" algn="ctr">
              <a:solidFill>
                <a:schemeClr val="tx1"/>
              </a:solidFill>
              <a:prstDash val="solid"/>
              <a:round/>
              <a:headEnd type="none" w="med" len="med"/>
              <a:tailEnd type="triangle" w="med" len="med"/>
            </a:ln>
            <a:effectLst/>
          </p:spPr>
        </p:cxnSp>
        <p:cxnSp>
          <p:nvCxnSpPr>
            <p:cNvPr id="127" name="Elbow Connector 126"/>
            <p:cNvCxnSpPr>
              <a:endCxn id="119" idx="1"/>
            </p:cNvCxnSpPr>
            <p:nvPr/>
          </p:nvCxnSpPr>
          <p:spPr bwMode="auto">
            <a:xfrm>
              <a:off x="6847367" y="2793848"/>
              <a:ext cx="632735" cy="428095"/>
            </a:xfrm>
            <a:prstGeom prst="bentConnector3">
              <a:avLst/>
            </a:prstGeom>
            <a:solidFill>
              <a:schemeClr val="accent1"/>
            </a:solidFill>
            <a:ln w="19050" cap="flat" cmpd="sng" algn="ctr">
              <a:solidFill>
                <a:schemeClr val="tx1"/>
              </a:solidFill>
              <a:prstDash val="solid"/>
              <a:round/>
              <a:headEnd type="none" w="med" len="med"/>
              <a:tailEnd type="triangle" w="med" len="med"/>
            </a:ln>
            <a:effectLst/>
          </p:spPr>
        </p:cxnSp>
      </p:grpSp>
      <p:sp>
        <p:nvSpPr>
          <p:cNvPr id="129" name="TextBox 128"/>
          <p:cNvSpPr txBox="1"/>
          <p:nvPr/>
        </p:nvSpPr>
        <p:spPr>
          <a:xfrm>
            <a:off x="304800" y="4953000"/>
            <a:ext cx="7105796" cy="1631216"/>
          </a:xfrm>
          <a:prstGeom prst="rect">
            <a:avLst/>
          </a:prstGeom>
          <a:noFill/>
        </p:spPr>
        <p:txBody>
          <a:bodyPr wrap="square" rtlCol="0" anchor="ctr" anchorCtr="0">
            <a:spAutoFit/>
          </a:bodyPr>
          <a:lstStyle/>
          <a:p>
            <a:pPr marL="342900" indent="-342900">
              <a:buClr>
                <a:schemeClr val="tx2"/>
              </a:buClr>
              <a:buSzPct val="75000"/>
              <a:buFont typeface="Wingdings"/>
              <a:buChar char=""/>
            </a:pPr>
            <a:r>
              <a:rPr lang="en-US" sz="2000" b="0" smtClean="0">
                <a:solidFill>
                  <a:schemeClr val="dk1"/>
                </a:solidFill>
                <a:effectLst/>
                <a:latin typeface="Calibri" pitchFamily="34" charset="0"/>
                <a:cs typeface="Calibri" pitchFamily="34" charset="0"/>
              </a:rPr>
              <a:t>Integrated Development Environment (IDE) based on </a:t>
            </a:r>
            <a:r>
              <a:rPr lang="en-US" sz="2000" smtClean="0">
                <a:solidFill>
                  <a:schemeClr val="dk1"/>
                </a:solidFill>
                <a:effectLst/>
                <a:latin typeface="Calibri" pitchFamily="34" charset="0"/>
                <a:cs typeface="Calibri" pitchFamily="34" charset="0"/>
              </a:rPr>
              <a:t>Eclipse</a:t>
            </a:r>
          </a:p>
          <a:p>
            <a:pPr marL="342900" indent="-342900">
              <a:buClr>
                <a:schemeClr val="tx2"/>
              </a:buClr>
              <a:buSzPct val="75000"/>
              <a:buFont typeface="Wingdings"/>
              <a:buChar char=""/>
            </a:pPr>
            <a:r>
              <a:rPr lang="en-US" sz="2000" b="0" smtClean="0">
                <a:solidFill>
                  <a:schemeClr val="dk1"/>
                </a:solidFill>
                <a:latin typeface="Calibri" pitchFamily="34" charset="0"/>
                <a:cs typeface="Calibri" pitchFamily="34" charset="0"/>
              </a:rPr>
              <a:t>Integrated “Debugger” and “Editor” – IDE</a:t>
            </a:r>
            <a:br>
              <a:rPr lang="en-US" sz="2000" b="0" smtClean="0">
                <a:solidFill>
                  <a:schemeClr val="dk1"/>
                </a:solidFill>
                <a:latin typeface="Calibri" pitchFamily="34" charset="0"/>
                <a:cs typeface="Calibri" pitchFamily="34" charset="0"/>
              </a:rPr>
            </a:br>
            <a:r>
              <a:rPr lang="en-US" sz="2000" b="0" smtClean="0">
                <a:solidFill>
                  <a:schemeClr val="dk1"/>
                </a:solidFill>
                <a:latin typeface="Calibri" pitchFamily="34" charset="0"/>
                <a:cs typeface="Calibri" pitchFamily="34" charset="0"/>
              </a:rPr>
              <a:t>Edit and Debug have the own “perspectives” (menus, windows)</a:t>
            </a:r>
          </a:p>
          <a:p>
            <a:pPr marL="342900" indent="-342900">
              <a:buClr>
                <a:schemeClr val="tx2"/>
              </a:buClr>
              <a:buSzPct val="75000"/>
              <a:buFont typeface="Wingdings"/>
              <a:buChar char=""/>
            </a:pPr>
            <a:r>
              <a:rPr lang="en-US" sz="2000" b="0" smtClean="0">
                <a:solidFill>
                  <a:schemeClr val="dk1"/>
                </a:solidFill>
                <a:latin typeface="Calibri" pitchFamily="34" charset="0"/>
                <a:cs typeface="Calibri" pitchFamily="34" charset="0"/>
              </a:rPr>
              <a:t>Contains all development tools – editors, compilers, linkers, BIOS and debugger</a:t>
            </a:r>
            <a:endParaRPr lang="en-US" sz="2000" b="0" smtClean="0">
              <a:solidFill>
                <a:schemeClr val="dk1"/>
              </a:solidFill>
              <a:effectLst/>
              <a:latin typeface="Calibri" pitchFamily="34" charset="0"/>
              <a:cs typeface="Calibri" pitchFamily="34" charset="0"/>
            </a:endParaRPr>
          </a:p>
        </p:txBody>
      </p:sp>
      <p:grpSp>
        <p:nvGrpSpPr>
          <p:cNvPr id="12" name="Group 11"/>
          <p:cNvGrpSpPr/>
          <p:nvPr/>
        </p:nvGrpSpPr>
        <p:grpSpPr>
          <a:xfrm>
            <a:off x="2908780" y="804533"/>
            <a:ext cx="2530563" cy="3767467"/>
            <a:chOff x="2908780" y="804533"/>
            <a:chExt cx="2530563" cy="3767467"/>
          </a:xfrm>
        </p:grpSpPr>
        <p:sp>
          <p:nvSpPr>
            <p:cNvPr id="70" name="Rectangle 31"/>
            <p:cNvSpPr>
              <a:spLocks noChangeArrowheads="1"/>
            </p:cNvSpPr>
            <p:nvPr/>
          </p:nvSpPr>
          <p:spPr bwMode="auto">
            <a:xfrm>
              <a:off x="2908780" y="804533"/>
              <a:ext cx="1011237" cy="838200"/>
            </a:xfrm>
            <a:prstGeom prst="rect">
              <a:avLst/>
            </a:prstGeom>
            <a:solidFill>
              <a:schemeClr val="accent3">
                <a:lumMod val="60000"/>
                <a:lumOff val="40000"/>
                <a:alpha val="50195"/>
              </a:schemeClr>
            </a:solidFill>
            <a:ln w="19050">
              <a:solidFill>
                <a:schemeClr val="tx1"/>
              </a:solidFill>
              <a:prstDash val="lgDash"/>
              <a:miter lim="800000"/>
              <a:headEnd/>
              <a:tailEnd/>
            </a:ln>
          </p:spPr>
          <p:txBody>
            <a:bodyPr lIns="92075" tIns="36576" rIns="92075" bIns="0" anchor="ctr" anchorCtr="1"/>
            <a:lstStyle/>
            <a:p>
              <a:pPr algn="ctr">
                <a:spcBef>
                  <a:spcPct val="0"/>
                </a:spcBef>
              </a:pPr>
              <a:r>
                <a:rPr lang="en-US" sz="1800" b="0" dirty="0">
                  <a:latin typeface="Arial Narrow" pitchFamily="34" charset="0"/>
                </a:rPr>
                <a:t>Standard Runtime Libraries</a:t>
              </a:r>
            </a:p>
          </p:txBody>
        </p:sp>
        <p:cxnSp>
          <p:nvCxnSpPr>
            <p:cNvPr id="71" name="AutoShape 32"/>
            <p:cNvCxnSpPr>
              <a:cxnSpLocks noChangeShapeType="1"/>
            </p:cNvCxnSpPr>
            <p:nvPr/>
          </p:nvCxnSpPr>
          <p:spPr bwMode="auto">
            <a:xfrm>
              <a:off x="3570767" y="1642732"/>
              <a:ext cx="457200" cy="720725"/>
            </a:xfrm>
            <a:prstGeom prst="straightConnector1">
              <a:avLst/>
            </a:prstGeom>
            <a:noFill/>
            <a:ln w="19050">
              <a:solidFill>
                <a:schemeClr val="tx1"/>
              </a:solidFill>
              <a:round/>
              <a:headEnd type="none" w="med" len="med"/>
              <a:tailEnd type="triangle" w="med" len="med"/>
            </a:ln>
          </p:spPr>
        </p:cxnSp>
        <p:sp>
          <p:nvSpPr>
            <p:cNvPr id="72" name="Rectangle 33"/>
            <p:cNvSpPr>
              <a:spLocks noChangeArrowheads="1"/>
            </p:cNvSpPr>
            <p:nvPr/>
          </p:nvSpPr>
          <p:spPr bwMode="auto">
            <a:xfrm>
              <a:off x="4789966" y="2459666"/>
              <a:ext cx="544033" cy="304800"/>
            </a:xfrm>
            <a:prstGeom prst="rect">
              <a:avLst/>
            </a:prstGeom>
            <a:solidFill>
              <a:schemeClr val="accent5">
                <a:lumMod val="40000"/>
                <a:lumOff val="60000"/>
              </a:schemeClr>
            </a:solidFill>
            <a:ln w="28575">
              <a:noFill/>
              <a:miter lim="800000"/>
              <a:headEnd/>
              <a:tailEnd/>
            </a:ln>
          </p:spPr>
          <p:txBody>
            <a:bodyPr wrap="square" lIns="0" tIns="0" rIns="0" bIns="0" anchor="ctr">
              <a:spAutoFit/>
            </a:bodyPr>
            <a:lstStyle/>
            <a:p>
              <a:pPr algn="ctr">
                <a:lnSpc>
                  <a:spcPct val="100000"/>
                </a:lnSpc>
                <a:spcBef>
                  <a:spcPct val="0"/>
                </a:spcBef>
              </a:pPr>
              <a:r>
                <a:rPr lang="en-US" sz="2000"/>
                <a:t>.out</a:t>
              </a:r>
            </a:p>
          </p:txBody>
        </p:sp>
        <p:sp>
          <p:nvSpPr>
            <p:cNvPr id="76" name="Rectangle 49"/>
            <p:cNvSpPr>
              <a:spLocks noChangeArrowheads="1"/>
            </p:cNvSpPr>
            <p:nvPr/>
          </p:nvSpPr>
          <p:spPr bwMode="auto">
            <a:xfrm>
              <a:off x="3884431" y="1718932"/>
              <a:ext cx="554038" cy="400050"/>
            </a:xfrm>
            <a:prstGeom prst="rect">
              <a:avLst/>
            </a:prstGeom>
            <a:noFill/>
            <a:ln w="9525">
              <a:noFill/>
              <a:miter lim="800000"/>
              <a:headEnd/>
              <a:tailEnd/>
            </a:ln>
          </p:spPr>
          <p:txBody>
            <a:bodyPr wrap="none" lIns="92075" tIns="46038" rIns="92075" bIns="46038">
              <a:spAutoFit/>
            </a:bodyPr>
            <a:lstStyle/>
            <a:p>
              <a:pPr>
                <a:lnSpc>
                  <a:spcPct val="100000"/>
                </a:lnSpc>
                <a:spcBef>
                  <a:spcPct val="0"/>
                </a:spcBef>
              </a:pPr>
              <a:r>
                <a:rPr lang="en-US" sz="2000"/>
                <a:t>.lib</a:t>
              </a:r>
            </a:p>
          </p:txBody>
        </p:sp>
        <p:sp>
          <p:nvSpPr>
            <p:cNvPr id="96" name="Rectangle 55"/>
            <p:cNvSpPr>
              <a:spLocks noChangeArrowheads="1"/>
            </p:cNvSpPr>
            <p:nvPr/>
          </p:nvSpPr>
          <p:spPr bwMode="auto">
            <a:xfrm>
              <a:off x="4663055" y="3779802"/>
              <a:ext cx="776288" cy="336550"/>
            </a:xfrm>
            <a:prstGeom prst="rect">
              <a:avLst/>
            </a:prstGeom>
            <a:noFill/>
            <a:ln w="9525">
              <a:noFill/>
              <a:miter lim="800000"/>
              <a:headEnd/>
              <a:tailEnd/>
            </a:ln>
          </p:spPr>
          <p:txBody>
            <a:bodyPr wrap="none" lIns="92075" tIns="46038" rIns="92075" bIns="46038">
              <a:spAutoFit/>
            </a:bodyPr>
            <a:lstStyle/>
            <a:p>
              <a:pPr algn="ctr">
                <a:spcBef>
                  <a:spcPct val="0"/>
                </a:spcBef>
              </a:pPr>
              <a:r>
                <a:rPr lang="en-US" sz="2000"/>
                <a:t>.map</a:t>
              </a:r>
            </a:p>
          </p:txBody>
        </p:sp>
        <p:sp>
          <p:nvSpPr>
            <p:cNvPr id="97" name="Line 56"/>
            <p:cNvSpPr>
              <a:spLocks noChangeShapeType="1"/>
            </p:cNvSpPr>
            <p:nvPr/>
          </p:nvSpPr>
          <p:spPr bwMode="auto">
            <a:xfrm>
              <a:off x="5047267" y="2785732"/>
              <a:ext cx="0" cy="914400"/>
            </a:xfrm>
            <a:prstGeom prst="line">
              <a:avLst/>
            </a:prstGeom>
            <a:noFill/>
            <a:ln w="19050">
              <a:solidFill>
                <a:schemeClr val="tx1"/>
              </a:solidFill>
              <a:round/>
              <a:headEnd type="none" w="med" len="med"/>
              <a:tailEnd type="triangle" w="med" len="me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46" name="Rectangle 31"/>
            <p:cNvSpPr>
              <a:spLocks noChangeArrowheads="1"/>
            </p:cNvSpPr>
            <p:nvPr/>
          </p:nvSpPr>
          <p:spPr bwMode="auto">
            <a:xfrm>
              <a:off x="2908780" y="3733800"/>
              <a:ext cx="1011237" cy="838200"/>
            </a:xfrm>
            <a:prstGeom prst="rect">
              <a:avLst/>
            </a:prstGeom>
            <a:solidFill>
              <a:schemeClr val="accent3">
                <a:lumMod val="60000"/>
                <a:lumOff val="40000"/>
                <a:alpha val="50195"/>
              </a:schemeClr>
            </a:solidFill>
            <a:ln w="19050">
              <a:solidFill>
                <a:schemeClr val="tx1"/>
              </a:solidFill>
              <a:prstDash val="lgDash"/>
              <a:miter lim="800000"/>
              <a:headEnd/>
              <a:tailEnd/>
            </a:ln>
          </p:spPr>
          <p:txBody>
            <a:bodyPr lIns="92075" tIns="36576" rIns="92075" bIns="0" anchor="ctr" anchorCtr="1"/>
            <a:lstStyle/>
            <a:p>
              <a:pPr algn="ctr">
                <a:lnSpc>
                  <a:spcPct val="100000"/>
                </a:lnSpc>
                <a:spcBef>
                  <a:spcPts val="300"/>
                </a:spcBef>
              </a:pPr>
              <a:r>
                <a:rPr lang="en-US" sz="1800" b="0" dirty="0" smtClean="0">
                  <a:latin typeface="Arial Narrow" pitchFamily="34" charset="0"/>
                </a:rPr>
                <a:t>User.cmd</a:t>
              </a:r>
            </a:p>
            <a:p>
              <a:pPr algn="ctr">
                <a:lnSpc>
                  <a:spcPct val="100000"/>
                </a:lnSpc>
                <a:spcBef>
                  <a:spcPts val="300"/>
                </a:spcBef>
              </a:pPr>
              <a:endParaRPr lang="en-US" sz="1800" b="0" dirty="0">
                <a:latin typeface="Arial Narrow" pitchFamily="34" charset="0"/>
              </a:endParaRPr>
            </a:p>
          </p:txBody>
        </p:sp>
        <p:cxnSp>
          <p:nvCxnSpPr>
            <p:cNvPr id="10" name="Straight Arrow Connector 9"/>
            <p:cNvCxnSpPr/>
            <p:nvPr/>
          </p:nvCxnSpPr>
          <p:spPr bwMode="auto">
            <a:xfrm flipV="1">
              <a:off x="3723167" y="3217532"/>
              <a:ext cx="304800" cy="482600"/>
            </a:xfrm>
            <a:prstGeom prst="straightConnector1">
              <a:avLst/>
            </a:prstGeom>
            <a:noFill/>
            <a:ln w="28575">
              <a:solidFill>
                <a:schemeClr val="tx1"/>
              </a:solidFill>
              <a:round/>
              <a:headEnd type="none" w="med" len="med"/>
              <a:tailEnd type="triangle" w="med" len="med"/>
            </a:ln>
            <a:effectLst/>
          </p:spPr>
        </p:cxnSp>
      </p:grpSp>
      <p:grpSp>
        <p:nvGrpSpPr>
          <p:cNvPr id="11" name="Group 10"/>
          <p:cNvGrpSpPr/>
          <p:nvPr/>
        </p:nvGrpSpPr>
        <p:grpSpPr>
          <a:xfrm>
            <a:off x="370367" y="804533"/>
            <a:ext cx="4836711" cy="3767467"/>
            <a:chOff x="370367" y="804533"/>
            <a:chExt cx="4836711" cy="3767467"/>
          </a:xfrm>
        </p:grpSpPr>
        <p:cxnSp>
          <p:nvCxnSpPr>
            <p:cNvPr id="63" name="AutoShape 23"/>
            <p:cNvCxnSpPr>
              <a:cxnSpLocks noChangeShapeType="1"/>
              <a:stCxn id="62" idx="0"/>
            </p:cNvCxnSpPr>
            <p:nvPr/>
          </p:nvCxnSpPr>
          <p:spPr bwMode="auto">
            <a:xfrm flipV="1">
              <a:off x="903767" y="3232760"/>
              <a:ext cx="0" cy="485165"/>
            </a:xfrm>
            <a:prstGeom prst="straightConnector1">
              <a:avLst/>
            </a:prstGeom>
            <a:noFill/>
            <a:ln w="28575">
              <a:solidFill>
                <a:schemeClr val="tx1"/>
              </a:solidFill>
              <a:round/>
              <a:headEnd type="none" w="med" len="med"/>
              <a:tailEnd type="triangle" w="med" len="med"/>
            </a:ln>
          </p:spPr>
        </p:cxnSp>
        <p:sp>
          <p:nvSpPr>
            <p:cNvPr id="59" name="Rectangle 20"/>
            <p:cNvSpPr>
              <a:spLocks noChangeArrowheads="1"/>
            </p:cNvSpPr>
            <p:nvPr/>
          </p:nvSpPr>
          <p:spPr bwMode="auto">
            <a:xfrm>
              <a:off x="4256567" y="804533"/>
              <a:ext cx="950511" cy="838200"/>
            </a:xfrm>
            <a:prstGeom prst="rect">
              <a:avLst/>
            </a:prstGeom>
            <a:solidFill>
              <a:schemeClr val="accent5">
                <a:lumMod val="40000"/>
                <a:lumOff val="60000"/>
                <a:alpha val="50195"/>
              </a:schemeClr>
            </a:solidFill>
            <a:ln w="19050">
              <a:solidFill>
                <a:schemeClr val="tx1"/>
              </a:solidFill>
              <a:prstDash val="lgDash"/>
              <a:miter lim="800000"/>
              <a:headEnd/>
              <a:tailEnd/>
            </a:ln>
          </p:spPr>
          <p:txBody>
            <a:bodyPr wrap="none" lIns="92075" tIns="46038" rIns="92075" bIns="46038" anchor="ctr"/>
            <a:lstStyle/>
            <a:p>
              <a:pPr algn="ctr">
                <a:lnSpc>
                  <a:spcPct val="100000"/>
                </a:lnSpc>
                <a:spcBef>
                  <a:spcPct val="0"/>
                </a:spcBef>
              </a:pPr>
              <a:r>
                <a:rPr lang="en-US" sz="1800" b="0" smtClean="0">
                  <a:latin typeface="Arial Narrow" pitchFamily="34" charset="0"/>
                </a:rPr>
                <a:t>SYS/BIOS</a:t>
              </a:r>
              <a:endParaRPr lang="en-US" sz="1800" b="0">
                <a:latin typeface="Arial Narrow" pitchFamily="34" charset="0"/>
              </a:endParaRPr>
            </a:p>
            <a:p>
              <a:pPr algn="ctr">
                <a:lnSpc>
                  <a:spcPct val="100000"/>
                </a:lnSpc>
                <a:spcBef>
                  <a:spcPct val="0"/>
                </a:spcBef>
              </a:pPr>
              <a:r>
                <a:rPr lang="en-US" sz="1800" b="0">
                  <a:latin typeface="Arial Narrow" pitchFamily="34" charset="0"/>
                </a:rPr>
                <a:t>Libraries</a:t>
              </a:r>
              <a:endParaRPr lang="en-US" sz="1800" b="0"/>
            </a:p>
          </p:txBody>
        </p:sp>
        <p:cxnSp>
          <p:nvCxnSpPr>
            <p:cNvPr id="61" name="AutoShape 21"/>
            <p:cNvCxnSpPr>
              <a:cxnSpLocks noChangeShapeType="1"/>
              <a:stCxn id="59" idx="2"/>
            </p:cNvCxnSpPr>
            <p:nvPr/>
          </p:nvCxnSpPr>
          <p:spPr bwMode="auto">
            <a:xfrm flipH="1">
              <a:off x="4381186" y="1642733"/>
              <a:ext cx="350637" cy="720724"/>
            </a:xfrm>
            <a:prstGeom prst="straightConnector1">
              <a:avLst/>
            </a:prstGeom>
            <a:noFill/>
            <a:ln w="19050">
              <a:solidFill>
                <a:schemeClr val="tx1"/>
              </a:solidFill>
              <a:round/>
              <a:headEnd type="none" w="med" len="med"/>
              <a:tailEnd type="triangle" w="med" len="med"/>
            </a:ln>
          </p:spPr>
        </p:cxnSp>
        <p:sp>
          <p:nvSpPr>
            <p:cNvPr id="62" name="Rectangle 22"/>
            <p:cNvSpPr>
              <a:spLocks noChangeArrowheads="1"/>
            </p:cNvSpPr>
            <p:nvPr/>
          </p:nvSpPr>
          <p:spPr bwMode="auto">
            <a:xfrm>
              <a:off x="370367" y="3717925"/>
              <a:ext cx="1066800" cy="854075"/>
            </a:xfrm>
            <a:prstGeom prst="rect">
              <a:avLst/>
            </a:prstGeom>
            <a:solidFill>
              <a:schemeClr val="accent5">
                <a:lumMod val="40000"/>
                <a:lumOff val="60000"/>
                <a:alpha val="50195"/>
              </a:schemeClr>
            </a:solidFill>
            <a:ln w="28575">
              <a:noFill/>
              <a:miter lim="800000"/>
              <a:headEnd/>
              <a:tailEnd/>
            </a:ln>
          </p:spPr>
          <p:txBody>
            <a:bodyPr wrap="none" lIns="92075" tIns="46038" rIns="92075" bIns="46038" anchor="ctr"/>
            <a:lstStyle/>
            <a:p>
              <a:pPr algn="ctr">
                <a:lnSpc>
                  <a:spcPct val="100000"/>
                </a:lnSpc>
                <a:spcBef>
                  <a:spcPct val="0"/>
                </a:spcBef>
              </a:pPr>
              <a:r>
                <a:rPr lang="en-US" sz="2000" b="0" dirty="0" smtClean="0">
                  <a:latin typeface="Arial Narrow" pitchFamily="34" charset="0"/>
                </a:rPr>
                <a:t>SYS/BIOS</a:t>
              </a:r>
              <a:endParaRPr lang="en-US" sz="2000" b="0" dirty="0">
                <a:latin typeface="Arial Narrow" pitchFamily="34" charset="0"/>
              </a:endParaRPr>
            </a:p>
            <a:p>
              <a:pPr algn="ctr">
                <a:spcBef>
                  <a:spcPct val="0"/>
                </a:spcBef>
              </a:pPr>
              <a:r>
                <a:rPr lang="en-US" sz="2000" b="0" dirty="0" err="1">
                  <a:latin typeface="Arial Narrow" pitchFamily="34" charset="0"/>
                </a:rPr>
                <a:t>Config</a:t>
              </a:r>
              <a:endParaRPr lang="en-US" sz="2000" b="0" dirty="0">
                <a:latin typeface="Arial Narrow" pitchFamily="34" charset="0"/>
              </a:endParaRPr>
            </a:p>
            <a:p>
              <a:pPr algn="ctr">
                <a:spcBef>
                  <a:spcPct val="0"/>
                </a:spcBef>
              </a:pPr>
              <a:r>
                <a:rPr lang="en-US" sz="2000" b="0" dirty="0" smtClean="0">
                  <a:latin typeface="Arial Narrow" pitchFamily="34" charset="0"/>
                </a:rPr>
                <a:t>(.</a:t>
              </a:r>
              <a:r>
                <a:rPr lang="en-US" sz="2000" b="0" dirty="0" err="1" smtClean="0">
                  <a:latin typeface="Arial Narrow" pitchFamily="34" charset="0"/>
                </a:rPr>
                <a:t>cfg</a:t>
              </a:r>
              <a:r>
                <a:rPr lang="en-US" sz="2000" b="0" dirty="0" smtClean="0">
                  <a:latin typeface="Arial Narrow" pitchFamily="34" charset="0"/>
                </a:rPr>
                <a:t>)</a:t>
              </a:r>
              <a:endParaRPr lang="en-US" sz="2000" b="0" dirty="0"/>
            </a:p>
          </p:txBody>
        </p:sp>
        <p:sp>
          <p:nvSpPr>
            <p:cNvPr id="110" name="Line 58"/>
            <p:cNvSpPr>
              <a:spLocks noChangeShapeType="1"/>
            </p:cNvSpPr>
            <p:nvPr/>
          </p:nvSpPr>
          <p:spPr bwMode="auto">
            <a:xfrm flipV="1">
              <a:off x="1437166" y="4355056"/>
              <a:ext cx="1491217" cy="0"/>
            </a:xfrm>
            <a:prstGeom prst="line">
              <a:avLst/>
            </a:prstGeom>
            <a:noFill/>
            <a:ln w="28575">
              <a:solidFill>
                <a:schemeClr val="tx1"/>
              </a:solidFill>
              <a:round/>
              <a:headEnd type="none" w="med" len="med"/>
              <a:tailEnd type="triangle" w="med" len="med"/>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8" name="Rectangle 7"/>
            <p:cNvSpPr/>
            <p:nvPr/>
          </p:nvSpPr>
          <p:spPr bwMode="auto">
            <a:xfrm>
              <a:off x="2928383" y="4173206"/>
              <a:ext cx="973617" cy="363701"/>
            </a:xfrm>
            <a:prstGeom prst="rect">
              <a:avLst/>
            </a:prstGeom>
            <a:solidFill>
              <a:schemeClr val="accent5">
                <a:lumMod val="40000"/>
                <a:lumOff val="60000"/>
                <a:alpha val="50195"/>
              </a:schemeClr>
            </a:solidFill>
            <a:ln w="28575">
              <a:noFill/>
              <a:miter lim="800000"/>
              <a:headEnd/>
              <a:tailEnd/>
            </a:ln>
          </p:spPr>
          <p:txBody>
            <a:bodyPr wrap="none" lIns="92075" tIns="46038" rIns="92075" bIns="46038" anchor="ctr"/>
            <a:lstStyle/>
            <a:p>
              <a:pPr lvl="0" algn="ctr">
                <a:lnSpc>
                  <a:spcPct val="100000"/>
                </a:lnSpc>
                <a:spcBef>
                  <a:spcPts val="0"/>
                </a:spcBef>
              </a:pPr>
              <a:r>
                <a:rPr lang="en-US" sz="1800" b="0" dirty="0">
                  <a:solidFill>
                    <a:srgbClr val="000000"/>
                  </a:solidFill>
                  <a:latin typeface="Arial Narrow" pitchFamily="34" charset="0"/>
                </a:rPr>
                <a:t>Bios.cmd</a:t>
              </a:r>
            </a:p>
          </p:txBody>
        </p:sp>
      </p:grpSp>
      <p:sp>
        <p:nvSpPr>
          <p:cNvPr id="2" name="Leading Question"/>
          <p:cNvSpPr txBox="1"/>
          <p:nvPr/>
        </p:nvSpPr>
        <p:spPr>
          <a:xfrm>
            <a:off x="7440546" y="6488178"/>
            <a:ext cx="1380185" cy="246221"/>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r">
              <a:spcBef>
                <a:spcPct val="0"/>
              </a:spcBef>
            </a:pPr>
            <a:r>
              <a:rPr lang="en-US" sz="2000" b="0" smtClean="0">
                <a:solidFill>
                  <a:schemeClr val="tx2"/>
                </a:solidFill>
                <a:effectLst/>
                <a:latin typeface="Arial Narrow"/>
              </a:rPr>
              <a:t>Perspectives...</a:t>
            </a:r>
            <a:endParaRPr lang="en-US" sz="2000" b="0" dirty="0" smtClean="0">
              <a:solidFill>
                <a:schemeClr val="tx2"/>
              </a:solidFill>
              <a:effectLst/>
              <a:latin typeface="Arial Narrow"/>
            </a:endParaRPr>
          </a:p>
        </p:txBody>
      </p:sp>
    </p:spTree>
    <p:custDataLst>
      <p:tags r:id="rId1"/>
    </p:custDataLst>
    <p:extLst>
      <p:ext uri="{BB962C8B-B14F-4D97-AF65-F5344CB8AC3E}">
        <p14:creationId xmlns:p14="http://schemas.microsoft.com/office/powerpoint/2010/main" val="63085153"/>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838200"/>
            <a:ext cx="5562600" cy="5181600"/>
          </a:xfrm>
          <a:prstGeom prst="rect">
            <a:avLst/>
          </a:prstGeom>
          <a:solidFill>
            <a:srgbClr val="92D050"/>
          </a:solidFill>
          <a:ln w="19050">
            <a:solidFill>
              <a:schemeClr val="tx1"/>
            </a:solidFill>
            <a:miter lim="800000"/>
            <a:headEnd type="none" w="sm" len="sm"/>
            <a:tailEnd type="none" w="sm" len="sm"/>
          </a:ln>
          <a:effectLst>
            <a:outerShdw blurRad="50800" dist="889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3" cstate="print"/>
          <a:srcRect/>
          <a:stretch>
            <a:fillRect/>
          </a:stretch>
        </p:blipFill>
        <p:spPr bwMode="auto">
          <a:xfrm>
            <a:off x="6160824" y="1316817"/>
            <a:ext cx="2819400" cy="4172713"/>
          </a:xfrm>
          <a:prstGeom prst="rect">
            <a:avLst/>
          </a:prstGeom>
          <a:noFill/>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9" name="Text Box 4">
            <a:hlinkClick r:id="rId14" action="ppaction://hlinksldjump"/>
          </p:cNvPr>
          <p:cNvSpPr txBox="1">
            <a:spLocks noChangeArrowheads="1"/>
          </p:cNvSpPr>
          <p:nvPr>
            <p:custDataLst>
              <p:tags r:id="rId2"/>
            </p:custDataLst>
          </p:nvPr>
        </p:nvSpPr>
        <p:spPr bwMode="auto">
          <a:xfrm>
            <a:off x="310202" y="954651"/>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Intro to CCSv6</a:t>
            </a:r>
            <a:endParaRPr lang="en-US" sz="2800">
              <a:solidFill>
                <a:srgbClr val="000000"/>
              </a:solidFill>
            </a:endParaRPr>
          </a:p>
        </p:txBody>
      </p:sp>
      <p:sp>
        <p:nvSpPr>
          <p:cNvPr id="10" name="Text Box 6">
            <a:hlinkClick r:id="rId15" action="ppaction://hlinksldjump"/>
          </p:cNvPr>
          <p:cNvSpPr txBox="1">
            <a:spLocks noChangeArrowheads="1"/>
          </p:cNvSpPr>
          <p:nvPr>
            <p:custDataLst>
              <p:tags r:id="rId3"/>
            </p:custDataLst>
          </p:nvPr>
        </p:nvSpPr>
        <p:spPr bwMode="auto">
          <a:xfrm>
            <a:off x="819150" y="1473995"/>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Functional Overview</a:t>
            </a:r>
            <a:endParaRPr lang="en-US">
              <a:solidFill>
                <a:srgbClr val="000000"/>
              </a:solidFill>
            </a:endParaRPr>
          </a:p>
        </p:txBody>
      </p:sp>
      <p:sp>
        <p:nvSpPr>
          <p:cNvPr id="11" name="Text Box 5">
            <a:hlinkClick r:id="rId16" action="ppaction://hlinksldjump"/>
          </p:cNvPr>
          <p:cNvSpPr txBox="1">
            <a:spLocks noChangeArrowheads="1"/>
          </p:cNvSpPr>
          <p:nvPr>
            <p:custDataLst>
              <p:tags r:id="rId4"/>
            </p:custDataLst>
          </p:nvPr>
        </p:nvSpPr>
        <p:spPr bwMode="auto">
          <a:xfrm>
            <a:off x="823273" y="1926309"/>
            <a:ext cx="4600575" cy="387798"/>
          </a:xfrm>
          <a:prstGeom prst="rect">
            <a:avLst/>
          </a:prstGeom>
          <a:solidFill>
            <a:schemeClr val="bg1"/>
          </a:solidFill>
          <a:ln w="19050">
            <a:solidFill>
              <a:schemeClr val="tx1"/>
            </a:solid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Perspectives</a:t>
            </a:r>
            <a:endParaRPr lang="en-US">
              <a:solidFill>
                <a:srgbClr val="000000"/>
              </a:solidFill>
            </a:endParaRPr>
          </a:p>
        </p:txBody>
      </p:sp>
      <p:sp>
        <p:nvSpPr>
          <p:cNvPr id="12" name="Text Box 6">
            <a:hlinkClick r:id="rId17" action="ppaction://hlinksldjump"/>
          </p:cNvPr>
          <p:cNvSpPr txBox="1">
            <a:spLocks noChangeArrowheads="1"/>
          </p:cNvSpPr>
          <p:nvPr>
            <p:custDataLst>
              <p:tags r:id="rId5"/>
            </p:custDataLst>
          </p:nvPr>
        </p:nvSpPr>
        <p:spPr bwMode="auto">
          <a:xfrm>
            <a:off x="819150" y="2378623"/>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Target Config &amp; Emulators</a:t>
            </a:r>
            <a:endParaRPr lang="en-US">
              <a:solidFill>
                <a:srgbClr val="000000"/>
              </a:solidFill>
            </a:endParaRPr>
          </a:p>
        </p:txBody>
      </p:sp>
      <p:sp>
        <p:nvSpPr>
          <p:cNvPr id="13" name="Text Box 6">
            <a:hlinkClick r:id="rId18" action="ppaction://hlinksldjump"/>
          </p:cNvPr>
          <p:cNvSpPr txBox="1">
            <a:spLocks noChangeArrowheads="1"/>
          </p:cNvSpPr>
          <p:nvPr>
            <p:custDataLst>
              <p:tags r:id="rId6"/>
            </p:custDataLst>
          </p:nvPr>
        </p:nvSpPr>
        <p:spPr bwMode="auto">
          <a:xfrm>
            <a:off x="819150" y="2830937"/>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Workspaces &amp; Projects</a:t>
            </a:r>
            <a:endParaRPr lang="en-US">
              <a:solidFill>
                <a:srgbClr val="000000"/>
              </a:solidFill>
            </a:endParaRPr>
          </a:p>
        </p:txBody>
      </p:sp>
      <p:sp>
        <p:nvSpPr>
          <p:cNvPr id="14" name="Text Box 6">
            <a:hlinkClick r:id="rId19" action="ppaction://hlinksldjump"/>
          </p:cNvPr>
          <p:cNvSpPr txBox="1">
            <a:spLocks noChangeArrowheads="1"/>
          </p:cNvSpPr>
          <p:nvPr>
            <p:custDataLst>
              <p:tags r:id="rId7"/>
            </p:custDataLst>
          </p:nvPr>
        </p:nvSpPr>
        <p:spPr bwMode="auto">
          <a:xfrm>
            <a:off x="819150" y="3283251"/>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Creating a Project</a:t>
            </a:r>
            <a:endParaRPr lang="en-US">
              <a:solidFill>
                <a:srgbClr val="000000"/>
              </a:solidFill>
            </a:endParaRPr>
          </a:p>
        </p:txBody>
      </p:sp>
      <p:sp>
        <p:nvSpPr>
          <p:cNvPr id="15" name="Text Box 6">
            <a:hlinkClick r:id="rId20" action="ppaction://hlinksldjump"/>
          </p:cNvPr>
          <p:cNvSpPr txBox="1">
            <a:spLocks noChangeArrowheads="1"/>
          </p:cNvSpPr>
          <p:nvPr>
            <p:custDataLst>
              <p:tags r:id="rId8"/>
            </p:custDataLst>
          </p:nvPr>
        </p:nvSpPr>
        <p:spPr bwMode="auto">
          <a:xfrm>
            <a:off x="819150" y="3735565"/>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Build Config &amp; Options</a:t>
            </a:r>
            <a:endParaRPr lang="en-US">
              <a:solidFill>
                <a:srgbClr val="000000"/>
              </a:solidFill>
            </a:endParaRPr>
          </a:p>
        </p:txBody>
      </p:sp>
      <p:sp>
        <p:nvSpPr>
          <p:cNvPr id="16" name="Text Box 4">
            <a:hlinkClick r:id="rId21" action="ppaction://hlinksldjump"/>
          </p:cNvPr>
          <p:cNvSpPr txBox="1">
            <a:spLocks noChangeArrowheads="1"/>
          </p:cNvSpPr>
          <p:nvPr>
            <p:custDataLst>
              <p:tags r:id="rId9"/>
            </p:custDataLst>
          </p:nvPr>
        </p:nvSpPr>
        <p:spPr bwMode="auto">
          <a:xfrm>
            <a:off x="310202" y="4203352"/>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Licensing/Pricing</a:t>
            </a:r>
            <a:endParaRPr lang="en-US" sz="2800">
              <a:solidFill>
                <a:srgbClr val="000000"/>
              </a:solidFill>
            </a:endParaRPr>
          </a:p>
        </p:txBody>
      </p:sp>
      <p:sp>
        <p:nvSpPr>
          <p:cNvPr id="17" name="Text Box 4">
            <a:hlinkClick r:id="rId22" action="ppaction://hlinksldjump"/>
          </p:cNvPr>
          <p:cNvSpPr txBox="1">
            <a:spLocks noChangeArrowheads="1"/>
          </p:cNvSpPr>
          <p:nvPr>
            <p:custDataLst>
              <p:tags r:id="rId10"/>
            </p:custDataLst>
          </p:nvPr>
        </p:nvSpPr>
        <p:spPr bwMode="auto">
          <a:xfrm>
            <a:off x="310202" y="4738169"/>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CCSv6 – For More Info…</a:t>
            </a:r>
            <a:endParaRPr lang="en-US" sz="2800">
              <a:solidFill>
                <a:srgbClr val="000000"/>
              </a:solidFill>
            </a:endParaRPr>
          </a:p>
        </p:txBody>
      </p:sp>
      <p:sp>
        <p:nvSpPr>
          <p:cNvPr id="18" name="Text Box 4">
            <a:hlinkClick r:id="rId23" action="ppaction://hlinksldjump"/>
          </p:cNvPr>
          <p:cNvSpPr txBox="1">
            <a:spLocks noChangeArrowheads="1"/>
          </p:cNvSpPr>
          <p:nvPr>
            <p:custDataLst>
              <p:tags r:id="rId11"/>
            </p:custDataLst>
          </p:nvPr>
        </p:nvSpPr>
        <p:spPr bwMode="auto">
          <a:xfrm>
            <a:off x="310202" y="5272986"/>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a:solidFill>
                <a:srgbClr val="000000"/>
              </a:solidFill>
            </a:endParaRPr>
          </a:p>
        </p:txBody>
      </p:sp>
    </p:spTree>
    <p:custDataLst>
      <p:tags r:id="rId1"/>
    </p:custDataLst>
    <p:extLst>
      <p:ext uri="{BB962C8B-B14F-4D97-AF65-F5344CB8AC3E}">
        <p14:creationId xmlns:p14="http://schemas.microsoft.com/office/powerpoint/2010/main" val="3998749584"/>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a0159877\AppData\Local\Temp\SNAGHTML15dea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708626"/>
            <a:ext cx="8915400" cy="5629276"/>
          </a:xfrm>
          <a:prstGeom prst="rect">
            <a:avLst/>
          </a:prstGeom>
          <a:noFill/>
          <a:extLst>
            <a:ext uri="{909E8E84-426E-40DD-AFC4-6F175D3DCCD1}">
              <a14:hiddenFill xmlns:a14="http://schemas.microsoft.com/office/drawing/2010/main">
                <a:solidFill>
                  <a:srgbClr val="FFFFFF"/>
                </a:solidFill>
              </a14:hiddenFill>
            </a:ext>
          </a:extLst>
        </p:spPr>
      </p:pic>
      <p:sp>
        <p:nvSpPr>
          <p:cNvPr id="7170" name="Title 1"/>
          <p:cNvSpPr>
            <a:spLocks noGrp="1"/>
          </p:cNvSpPr>
          <p:nvPr>
            <p:ph type="title" idx="4294967295"/>
          </p:nvPr>
        </p:nvSpPr>
        <p:spPr>
          <a:xfrm>
            <a:off x="0" y="-4763"/>
            <a:ext cx="9144000" cy="609601"/>
          </a:xfrm>
        </p:spPr>
        <p:txBody>
          <a:bodyPr lIns="91440" tIns="45720" rIns="91440" bIns="45720" anchor="ctr">
            <a:noAutofit/>
          </a:bodyPr>
          <a:lstStyle/>
          <a:p>
            <a:r>
              <a:rPr lang="en-CA" smtClean="0"/>
              <a:t>CCSv6 GUI – EDIT Perspective</a:t>
            </a:r>
          </a:p>
        </p:txBody>
      </p:sp>
      <p:sp>
        <p:nvSpPr>
          <p:cNvPr id="1200143" name="Oval 15"/>
          <p:cNvSpPr>
            <a:spLocks noChangeArrowheads="1"/>
          </p:cNvSpPr>
          <p:nvPr/>
        </p:nvSpPr>
        <p:spPr bwMode="auto">
          <a:xfrm>
            <a:off x="609600" y="6553200"/>
            <a:ext cx="228600" cy="228600"/>
          </a:xfrm>
          <a:prstGeom prst="ellipse">
            <a:avLst/>
          </a:prstGeom>
          <a:noFill/>
          <a:ln w="12700">
            <a:noFill/>
            <a:round/>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grpSp>
        <p:nvGrpSpPr>
          <p:cNvPr id="15" name="Group 14"/>
          <p:cNvGrpSpPr/>
          <p:nvPr/>
        </p:nvGrpSpPr>
        <p:grpSpPr>
          <a:xfrm>
            <a:off x="435934" y="4183619"/>
            <a:ext cx="8295602" cy="1066800"/>
            <a:chOff x="435934" y="3810000"/>
            <a:chExt cx="8295602" cy="1066800"/>
          </a:xfrm>
        </p:grpSpPr>
        <p:sp>
          <p:nvSpPr>
            <p:cNvPr id="5" name="Rounded Rectangle 4"/>
            <p:cNvSpPr/>
            <p:nvPr/>
          </p:nvSpPr>
          <p:spPr bwMode="auto">
            <a:xfrm>
              <a:off x="435934" y="3810000"/>
              <a:ext cx="2057400" cy="1066800"/>
            </a:xfrm>
            <a:prstGeom prst="roundRect">
              <a:avLst/>
            </a:prstGeom>
            <a:solidFill>
              <a:srgbClr val="CCFF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ts val="600"/>
                </a:spcBef>
                <a:spcAft>
                  <a:spcPct val="0"/>
                </a:spcAft>
                <a:buClrTx/>
                <a:buSzTx/>
                <a:buFontTx/>
                <a:buNone/>
                <a:tabLst/>
              </a:pPr>
              <a:r>
                <a:rPr kumimoji="0" lang="en-US" sz="2000" i="0" u="none" strike="noStrike" cap="none" normalizeH="0" baseline="0" smtClean="0">
                  <a:ln>
                    <a:noFill/>
                  </a:ln>
                  <a:solidFill>
                    <a:schemeClr val="dk1"/>
                  </a:solidFill>
                  <a:effectLst/>
                  <a:latin typeface="Calibri" pitchFamily="34" charset="0"/>
                  <a:cs typeface="Calibri" pitchFamily="34" charset="0"/>
                </a:rPr>
                <a:t>Project Explorer</a:t>
              </a:r>
            </a:p>
            <a:p>
              <a:pPr marL="177800" marR="0" indent="-177800" algn="l" defTabSz="914400" rtl="0" eaLnBrk="0" fontAlgn="base" latinLnBrk="0" hangingPunct="0">
                <a:lnSpc>
                  <a:spcPct val="80000"/>
                </a:lnSpc>
                <a:spcBef>
                  <a:spcPts val="600"/>
                </a:spcBef>
                <a:spcAft>
                  <a:spcPct val="0"/>
                </a:spcAft>
                <a:buClrTx/>
                <a:buSzTx/>
                <a:buFont typeface="Arial" pitchFamily="34" charset="0"/>
                <a:buChar char="•"/>
                <a:tabLst/>
              </a:pPr>
              <a:r>
                <a:rPr kumimoji="0" lang="en-US" sz="2000" b="0" i="0" u="none" strike="noStrike" cap="none" normalizeH="0" baseline="0" smtClean="0">
                  <a:ln>
                    <a:noFill/>
                  </a:ln>
                  <a:solidFill>
                    <a:schemeClr val="dk1"/>
                  </a:solidFill>
                  <a:effectLst/>
                  <a:latin typeface="Calibri" pitchFamily="34" charset="0"/>
                  <a:cs typeface="Calibri" pitchFamily="34" charset="0"/>
                </a:rPr>
                <a:t>Project(s)</a:t>
              </a:r>
            </a:p>
            <a:p>
              <a:pPr marL="177800" marR="0" indent="-177800" algn="l" defTabSz="914400" rtl="0" eaLnBrk="0" fontAlgn="base" latinLnBrk="0" hangingPunct="0">
                <a:lnSpc>
                  <a:spcPct val="80000"/>
                </a:lnSpc>
                <a:spcBef>
                  <a:spcPts val="600"/>
                </a:spcBef>
                <a:spcAft>
                  <a:spcPct val="0"/>
                </a:spcAft>
                <a:buClrTx/>
                <a:buSzTx/>
                <a:buFont typeface="Arial" pitchFamily="34" charset="0"/>
                <a:buChar char="•"/>
                <a:tabLst/>
              </a:pPr>
              <a:r>
                <a:rPr kumimoji="0" lang="en-US" sz="2000" b="0" i="0" u="none" strike="noStrike" cap="none" normalizeH="0" baseline="0" smtClean="0">
                  <a:ln>
                    <a:noFill/>
                  </a:ln>
                  <a:solidFill>
                    <a:schemeClr val="dk1"/>
                  </a:solidFill>
                  <a:effectLst/>
                  <a:latin typeface="Calibri" pitchFamily="34" charset="0"/>
                  <a:cs typeface="Calibri" pitchFamily="34" charset="0"/>
                </a:rPr>
                <a:t>Source Files</a:t>
              </a:r>
            </a:p>
          </p:txBody>
        </p:sp>
        <p:sp>
          <p:nvSpPr>
            <p:cNvPr id="11" name="Rounded Rectangle 10"/>
            <p:cNvSpPr/>
            <p:nvPr/>
          </p:nvSpPr>
          <p:spPr bwMode="auto">
            <a:xfrm>
              <a:off x="3543300" y="3810000"/>
              <a:ext cx="2247900" cy="1066800"/>
            </a:xfrm>
            <a:prstGeom prst="roundRect">
              <a:avLst/>
            </a:prstGeom>
            <a:solidFill>
              <a:srgbClr val="CCFF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ts val="600"/>
                </a:spcBef>
                <a:spcAft>
                  <a:spcPct val="0"/>
                </a:spcAft>
                <a:buClrTx/>
                <a:buSzTx/>
                <a:buFontTx/>
                <a:buNone/>
                <a:tabLst/>
              </a:pPr>
              <a:r>
                <a:rPr kumimoji="0" lang="en-US" sz="2000" i="0" u="none" strike="noStrike" cap="none" normalizeH="0" baseline="0" smtClean="0">
                  <a:ln>
                    <a:noFill/>
                  </a:ln>
                  <a:solidFill>
                    <a:schemeClr val="dk1"/>
                  </a:solidFill>
                  <a:effectLst/>
                  <a:latin typeface="Calibri" pitchFamily="34" charset="0"/>
                  <a:cs typeface="Calibri" pitchFamily="34" charset="0"/>
                </a:rPr>
                <a:t>Source </a:t>
              </a:r>
              <a:r>
                <a:rPr kumimoji="0" lang="en-US" sz="2000" i="0" u="none" strike="noStrike" cap="none" normalizeH="0" baseline="0" err="1" smtClean="0">
                  <a:ln>
                    <a:noFill/>
                  </a:ln>
                  <a:solidFill>
                    <a:schemeClr val="dk1"/>
                  </a:solidFill>
                  <a:effectLst/>
                  <a:latin typeface="Calibri" pitchFamily="34" charset="0"/>
                  <a:cs typeface="Calibri" pitchFamily="34" charset="0"/>
                </a:rPr>
                <a:t>EDITing</a:t>
              </a:r>
              <a:endParaRPr kumimoji="0" lang="en-US" sz="2000" i="0" u="none" strike="noStrike" cap="none" normalizeH="0" baseline="0" smtClean="0">
                <a:ln>
                  <a:noFill/>
                </a:ln>
                <a:solidFill>
                  <a:schemeClr val="dk1"/>
                </a:solidFill>
                <a:effectLst/>
                <a:latin typeface="Calibri" pitchFamily="34" charset="0"/>
                <a:cs typeface="Calibri" pitchFamily="34" charset="0"/>
              </a:endParaRPr>
            </a:p>
            <a:p>
              <a:pPr marL="177800" marR="0" indent="-177800" algn="l" defTabSz="914400" rtl="0" eaLnBrk="0" fontAlgn="base" latinLnBrk="0" hangingPunct="0">
                <a:lnSpc>
                  <a:spcPct val="80000"/>
                </a:lnSpc>
                <a:spcBef>
                  <a:spcPts val="600"/>
                </a:spcBef>
                <a:spcAft>
                  <a:spcPct val="0"/>
                </a:spcAft>
                <a:buClrTx/>
                <a:buSzTx/>
                <a:buFont typeface="Arial" pitchFamily="34" charset="0"/>
                <a:buChar char="•"/>
                <a:tabLst/>
              </a:pPr>
              <a:r>
                <a:rPr kumimoji="0" lang="en-US" sz="2000" b="0" i="0" u="none" strike="noStrike" cap="none" normalizeH="0" baseline="0" smtClean="0">
                  <a:ln>
                    <a:noFill/>
                  </a:ln>
                  <a:solidFill>
                    <a:schemeClr val="dk1"/>
                  </a:solidFill>
                  <a:effectLst/>
                  <a:latin typeface="Calibri" pitchFamily="34" charset="0"/>
                  <a:cs typeface="Calibri" pitchFamily="34" charset="0"/>
                </a:rPr>
                <a:t>Tabbed windows</a:t>
              </a:r>
            </a:p>
            <a:p>
              <a:pPr marL="177800" marR="0" indent="-177800" algn="l" defTabSz="914400" rtl="0" eaLnBrk="0" fontAlgn="base" latinLnBrk="0" hangingPunct="0">
                <a:lnSpc>
                  <a:spcPct val="80000"/>
                </a:lnSpc>
                <a:spcBef>
                  <a:spcPts val="600"/>
                </a:spcBef>
                <a:spcAft>
                  <a:spcPct val="0"/>
                </a:spcAft>
                <a:buClrTx/>
                <a:buSzTx/>
                <a:buFont typeface="Arial" pitchFamily="34" charset="0"/>
                <a:buChar char="•"/>
                <a:tabLst/>
              </a:pPr>
              <a:r>
                <a:rPr lang="en-US" sz="2000" b="0" smtClean="0">
                  <a:solidFill>
                    <a:schemeClr val="dk1"/>
                  </a:solidFill>
                  <a:latin typeface="Calibri" pitchFamily="34" charset="0"/>
                  <a:cs typeface="Calibri" pitchFamily="34" charset="0"/>
                </a:rPr>
                <a:t>Color-coded text</a:t>
              </a:r>
              <a:endParaRPr kumimoji="0" lang="en-US" sz="2000" b="0" i="0" u="none" strike="noStrike" cap="none" normalizeH="0" baseline="0" smtClean="0">
                <a:ln>
                  <a:noFill/>
                </a:ln>
                <a:solidFill>
                  <a:schemeClr val="dk1"/>
                </a:solidFill>
                <a:effectLst/>
                <a:latin typeface="Calibri" pitchFamily="34" charset="0"/>
                <a:cs typeface="Calibri" pitchFamily="34" charset="0"/>
              </a:endParaRPr>
            </a:p>
          </p:txBody>
        </p:sp>
        <p:sp>
          <p:nvSpPr>
            <p:cNvPr id="12" name="Rounded Rectangle 11"/>
            <p:cNvSpPr/>
            <p:nvPr/>
          </p:nvSpPr>
          <p:spPr bwMode="auto">
            <a:xfrm>
              <a:off x="6781800" y="3810000"/>
              <a:ext cx="1949736" cy="1066800"/>
            </a:xfrm>
            <a:prstGeom prst="roundRect">
              <a:avLst/>
            </a:prstGeom>
            <a:solidFill>
              <a:srgbClr val="CCFF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ts val="600"/>
                </a:spcBef>
                <a:spcAft>
                  <a:spcPct val="0"/>
                </a:spcAft>
                <a:buClrTx/>
                <a:buSzTx/>
                <a:buFontTx/>
                <a:buNone/>
                <a:tabLst/>
              </a:pPr>
              <a:r>
                <a:rPr kumimoji="0" lang="en-US" sz="2000" i="0" u="none" strike="noStrike" cap="none" normalizeH="0" baseline="0" smtClean="0">
                  <a:ln>
                    <a:noFill/>
                  </a:ln>
                  <a:solidFill>
                    <a:schemeClr val="dk1"/>
                  </a:solidFill>
                  <a:effectLst/>
                  <a:latin typeface="Calibri" pitchFamily="34" charset="0"/>
                  <a:cs typeface="Calibri" pitchFamily="34" charset="0"/>
                </a:rPr>
                <a:t>Outline View</a:t>
              </a:r>
            </a:p>
            <a:p>
              <a:pPr marL="177800" marR="0" indent="-177800" algn="l" defTabSz="914400" rtl="0" eaLnBrk="0" fontAlgn="base" latinLnBrk="0" hangingPunct="0">
                <a:lnSpc>
                  <a:spcPct val="80000"/>
                </a:lnSpc>
                <a:spcBef>
                  <a:spcPts val="600"/>
                </a:spcBef>
                <a:spcAft>
                  <a:spcPct val="0"/>
                </a:spcAft>
                <a:buClrTx/>
                <a:buSzTx/>
                <a:buFont typeface="Arial" pitchFamily="34" charset="0"/>
                <a:buChar char="•"/>
                <a:tabLst/>
              </a:pPr>
              <a:r>
                <a:rPr kumimoji="0" lang="en-US" sz="2000" b="0" i="0" u="none" strike="noStrike" cap="none" normalizeH="0" baseline="0" smtClean="0">
                  <a:ln>
                    <a:noFill/>
                  </a:ln>
                  <a:solidFill>
                    <a:schemeClr val="dk1"/>
                  </a:solidFill>
                  <a:effectLst/>
                  <a:latin typeface="Calibri" pitchFamily="34" charset="0"/>
                  <a:cs typeface="Calibri" pitchFamily="34" charset="0"/>
                </a:rPr>
                <a:t>Declarations and functions</a:t>
              </a:r>
            </a:p>
          </p:txBody>
        </p:sp>
      </p:grpSp>
      <p:grpSp>
        <p:nvGrpSpPr>
          <p:cNvPr id="19" name="Group 18"/>
          <p:cNvGrpSpPr/>
          <p:nvPr/>
        </p:nvGrpSpPr>
        <p:grpSpPr>
          <a:xfrm>
            <a:off x="152400" y="951320"/>
            <a:ext cx="4114800" cy="2078666"/>
            <a:chOff x="152400" y="713937"/>
            <a:chExt cx="4114800" cy="2078666"/>
          </a:xfrm>
        </p:grpSpPr>
        <p:sp>
          <p:nvSpPr>
            <p:cNvPr id="8" name="Rectangle 7"/>
            <p:cNvSpPr/>
            <p:nvPr/>
          </p:nvSpPr>
          <p:spPr bwMode="auto">
            <a:xfrm>
              <a:off x="152400" y="713937"/>
              <a:ext cx="4114800" cy="560696"/>
            </a:xfrm>
            <a:prstGeom prst="rect">
              <a:avLst/>
            </a:prstGeom>
            <a:no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smtClean="0">
                <a:ln>
                  <a:noFill/>
                </a:ln>
                <a:solidFill>
                  <a:schemeClr val="dk1"/>
                </a:solidFill>
                <a:effectLst/>
                <a:latin typeface="Arial Narrow" pitchFamily="34" charset="0"/>
              </a:endParaRPr>
            </a:p>
          </p:txBody>
        </p:sp>
        <p:sp>
          <p:nvSpPr>
            <p:cNvPr id="13" name="Rounded Rectangle 12"/>
            <p:cNvSpPr/>
            <p:nvPr/>
          </p:nvSpPr>
          <p:spPr bwMode="auto">
            <a:xfrm>
              <a:off x="1679812" y="1878203"/>
              <a:ext cx="2479344" cy="914400"/>
            </a:xfrm>
            <a:prstGeom prst="roundRect">
              <a:avLst/>
            </a:prstGeom>
            <a:solidFill>
              <a:schemeClr val="accent5">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ts val="600"/>
                </a:spcBef>
                <a:spcAft>
                  <a:spcPct val="0"/>
                </a:spcAft>
                <a:buClrTx/>
                <a:buSzTx/>
                <a:buFontTx/>
                <a:buNone/>
                <a:tabLst/>
              </a:pPr>
              <a:r>
                <a:rPr kumimoji="0" lang="en-US" sz="2000" i="0" u="none" strike="noStrike" cap="none" normalizeH="0" baseline="0" smtClean="0">
                  <a:ln>
                    <a:noFill/>
                  </a:ln>
                  <a:solidFill>
                    <a:schemeClr val="dk1"/>
                  </a:solidFill>
                  <a:effectLst/>
                  <a:latin typeface="Calibri" pitchFamily="34" charset="0"/>
                  <a:cs typeface="Calibri" pitchFamily="34" charset="0"/>
                </a:rPr>
                <a:t>Menus &amp; Buttons</a:t>
              </a:r>
            </a:p>
            <a:p>
              <a:pPr marL="177800" marR="0" indent="-177800" algn="l" defTabSz="914400" rtl="0" eaLnBrk="0" fontAlgn="base" latinLnBrk="0" hangingPunct="0">
                <a:lnSpc>
                  <a:spcPct val="80000"/>
                </a:lnSpc>
                <a:spcBef>
                  <a:spcPts val="600"/>
                </a:spcBef>
                <a:spcAft>
                  <a:spcPct val="0"/>
                </a:spcAft>
                <a:buClrTx/>
                <a:buSzTx/>
                <a:buFont typeface="Arial" pitchFamily="34" charset="0"/>
                <a:buChar char="•"/>
                <a:tabLst/>
              </a:pPr>
              <a:r>
                <a:rPr kumimoji="0" lang="en-US" sz="2000" b="0" i="0" u="none" strike="noStrike" cap="none" normalizeH="0" baseline="0" smtClean="0">
                  <a:ln>
                    <a:noFill/>
                  </a:ln>
                  <a:solidFill>
                    <a:schemeClr val="dk1"/>
                  </a:solidFill>
                  <a:effectLst/>
                  <a:latin typeface="Calibri" pitchFamily="34" charset="0"/>
                  <a:cs typeface="Calibri" pitchFamily="34" charset="0"/>
                </a:rPr>
                <a:t>Specific actions related to </a:t>
              </a:r>
              <a:r>
                <a:rPr kumimoji="0" lang="en-US" sz="2000" b="0" i="0" u="none" strike="noStrike" cap="none" normalizeH="0" baseline="0" err="1" smtClean="0">
                  <a:ln>
                    <a:noFill/>
                  </a:ln>
                  <a:solidFill>
                    <a:schemeClr val="dk1"/>
                  </a:solidFill>
                  <a:effectLst/>
                  <a:latin typeface="Calibri" pitchFamily="34" charset="0"/>
                  <a:cs typeface="Calibri" pitchFamily="34" charset="0"/>
                </a:rPr>
                <a:t>EDITing</a:t>
              </a:r>
              <a:endParaRPr kumimoji="0" lang="en-US" sz="2000" b="0" i="0" u="none" strike="noStrike" cap="none" normalizeH="0" baseline="0" smtClean="0">
                <a:ln>
                  <a:noFill/>
                </a:ln>
                <a:solidFill>
                  <a:schemeClr val="dk1"/>
                </a:solidFill>
                <a:effectLst/>
                <a:latin typeface="Calibri" pitchFamily="34" charset="0"/>
                <a:cs typeface="Calibri" pitchFamily="34" charset="0"/>
              </a:endParaRPr>
            </a:p>
          </p:txBody>
        </p:sp>
        <p:cxnSp>
          <p:nvCxnSpPr>
            <p:cNvPr id="7" name="Straight Arrow Connector 6"/>
            <p:cNvCxnSpPr/>
            <p:nvPr/>
          </p:nvCxnSpPr>
          <p:spPr bwMode="auto">
            <a:xfrm flipH="1" flipV="1">
              <a:off x="3429000" y="1292566"/>
              <a:ext cx="457200" cy="688634"/>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grpSp>
      <p:grpSp>
        <p:nvGrpSpPr>
          <p:cNvPr id="18" name="Group 17"/>
          <p:cNvGrpSpPr/>
          <p:nvPr/>
        </p:nvGrpSpPr>
        <p:grpSpPr>
          <a:xfrm>
            <a:off x="5369825" y="1075583"/>
            <a:ext cx="3551776" cy="1954403"/>
            <a:chOff x="5369825" y="838200"/>
            <a:chExt cx="3551776" cy="1954403"/>
          </a:xfrm>
        </p:grpSpPr>
        <p:sp>
          <p:nvSpPr>
            <p:cNvPr id="1200142" name="Oval 14"/>
            <p:cNvSpPr>
              <a:spLocks noChangeArrowheads="1"/>
            </p:cNvSpPr>
            <p:nvPr/>
          </p:nvSpPr>
          <p:spPr bwMode="auto">
            <a:xfrm>
              <a:off x="7543800" y="838200"/>
              <a:ext cx="533400" cy="381000"/>
            </a:xfrm>
            <a:prstGeom prst="ellipse">
              <a:avLst/>
            </a:prstGeom>
            <a:noFill/>
            <a:ln w="12700">
              <a:noFill/>
              <a:round/>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 name="Rectangle 1"/>
            <p:cNvSpPr/>
            <p:nvPr/>
          </p:nvSpPr>
          <p:spPr bwMode="auto">
            <a:xfrm>
              <a:off x="6910099" y="949666"/>
              <a:ext cx="2011502" cy="342900"/>
            </a:xfrm>
            <a:prstGeom prst="rect">
              <a:avLst/>
            </a:prstGeom>
            <a:no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smtClean="0">
                <a:ln>
                  <a:noFill/>
                </a:ln>
                <a:solidFill>
                  <a:schemeClr val="dk1"/>
                </a:solidFill>
                <a:effectLst/>
                <a:latin typeface="Arial Narrow" pitchFamily="34" charset="0"/>
              </a:endParaRPr>
            </a:p>
          </p:txBody>
        </p:sp>
        <p:sp>
          <p:nvSpPr>
            <p:cNvPr id="16" name="Rounded Rectangle 15"/>
            <p:cNvSpPr/>
            <p:nvPr/>
          </p:nvSpPr>
          <p:spPr bwMode="auto">
            <a:xfrm>
              <a:off x="5369825" y="1878203"/>
              <a:ext cx="2250175" cy="914400"/>
            </a:xfrm>
            <a:prstGeom prst="roundRect">
              <a:avLst/>
            </a:prstGeom>
            <a:solidFill>
              <a:schemeClr val="accent4">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ts val="600"/>
                </a:spcBef>
                <a:spcAft>
                  <a:spcPct val="0"/>
                </a:spcAft>
                <a:buClrTx/>
                <a:buSzTx/>
                <a:buFontTx/>
                <a:buNone/>
                <a:tabLst/>
              </a:pPr>
              <a:r>
                <a:rPr kumimoji="0" lang="en-US" sz="2000" i="0" u="none" strike="noStrike" cap="none" normalizeH="0" baseline="0" smtClean="0">
                  <a:ln>
                    <a:noFill/>
                  </a:ln>
                  <a:solidFill>
                    <a:schemeClr val="dk1"/>
                  </a:solidFill>
                  <a:effectLst/>
                  <a:latin typeface="Calibri" pitchFamily="34" charset="0"/>
                  <a:cs typeface="Calibri" pitchFamily="34" charset="0"/>
                </a:rPr>
                <a:t>Perspectives</a:t>
              </a:r>
            </a:p>
            <a:p>
              <a:pPr marL="177800" marR="0" indent="-177800" algn="l" defTabSz="914400" rtl="0" eaLnBrk="0" fontAlgn="base" latinLnBrk="0" hangingPunct="0">
                <a:lnSpc>
                  <a:spcPct val="80000"/>
                </a:lnSpc>
                <a:spcBef>
                  <a:spcPts val="600"/>
                </a:spcBef>
                <a:spcAft>
                  <a:spcPct val="0"/>
                </a:spcAft>
                <a:buClrTx/>
                <a:buSzTx/>
                <a:buFont typeface="Arial" pitchFamily="34" charset="0"/>
                <a:buChar char="•"/>
                <a:tabLst/>
              </a:pPr>
              <a:r>
                <a:rPr kumimoji="0" lang="en-US" sz="2000" b="0" i="0" u="none" strike="noStrike" cap="none" normalizeH="0" baseline="0" smtClean="0">
                  <a:ln>
                    <a:noFill/>
                  </a:ln>
                  <a:solidFill>
                    <a:schemeClr val="dk1"/>
                  </a:solidFill>
                  <a:effectLst/>
                  <a:latin typeface="Calibri" pitchFamily="34" charset="0"/>
                  <a:cs typeface="Calibri" pitchFamily="34" charset="0"/>
                </a:rPr>
                <a:t>EDIT and DEBUG</a:t>
              </a:r>
            </a:p>
          </p:txBody>
        </p:sp>
        <p:cxnSp>
          <p:nvCxnSpPr>
            <p:cNvPr id="17" name="Straight Arrow Connector 16"/>
            <p:cNvCxnSpPr/>
            <p:nvPr/>
          </p:nvCxnSpPr>
          <p:spPr bwMode="auto">
            <a:xfrm flipV="1">
              <a:off x="7256912" y="1292566"/>
              <a:ext cx="820288" cy="841034"/>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grpSp>
      <p:sp>
        <p:nvSpPr>
          <p:cNvPr id="14" name="Leading Question"/>
          <p:cNvSpPr txBox="1"/>
          <p:nvPr/>
        </p:nvSpPr>
        <p:spPr>
          <a:xfrm>
            <a:off x="2623137" y="6425711"/>
            <a:ext cx="6012863" cy="246221"/>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r">
              <a:spcBef>
                <a:spcPct val="0"/>
              </a:spcBef>
            </a:pPr>
            <a:r>
              <a:rPr lang="en-US" sz="2000" b="0" smtClean="0">
                <a:solidFill>
                  <a:schemeClr val="tx2"/>
                </a:solidFill>
                <a:effectLst/>
                <a:latin typeface="Arial Narrow"/>
              </a:rPr>
              <a:t>If you click on the "Debug" perspective, the windows change to...</a:t>
            </a:r>
          </a:p>
        </p:txBody>
      </p:sp>
    </p:spTree>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dissolv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dissolv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a0159877\AppData\Local\Temp\SNAGHTML131c0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915" y="492254"/>
            <a:ext cx="9126652" cy="6344480"/>
          </a:xfrm>
          <a:prstGeom prst="rect">
            <a:avLst/>
          </a:prstGeom>
          <a:noFill/>
          <a:extLst>
            <a:ext uri="{909E8E84-426E-40DD-AFC4-6F175D3DCCD1}">
              <a14:hiddenFill xmlns:a14="http://schemas.microsoft.com/office/drawing/2010/main">
                <a:solidFill>
                  <a:srgbClr val="FFFFFF"/>
                </a:solidFill>
              </a14:hiddenFill>
            </a:ext>
          </a:extLst>
        </p:spPr>
      </p:pic>
      <p:sp>
        <p:nvSpPr>
          <p:cNvPr id="7170" name="Title 1"/>
          <p:cNvSpPr>
            <a:spLocks noGrp="1"/>
          </p:cNvSpPr>
          <p:nvPr>
            <p:ph type="title" idx="4294967295"/>
          </p:nvPr>
        </p:nvSpPr>
        <p:spPr>
          <a:xfrm>
            <a:off x="0" y="-55563"/>
            <a:ext cx="9144000" cy="609601"/>
          </a:xfrm>
        </p:spPr>
        <p:txBody>
          <a:bodyPr lIns="91440" tIns="45720" rIns="91440" bIns="45720" anchor="ctr">
            <a:noAutofit/>
          </a:bodyPr>
          <a:lstStyle/>
          <a:p>
            <a:r>
              <a:rPr lang="en-CA" sz="3200" smtClean="0"/>
              <a:t>CCSv6 GUI – DEBUG Perspective</a:t>
            </a:r>
          </a:p>
        </p:txBody>
      </p:sp>
      <p:sp>
        <p:nvSpPr>
          <p:cNvPr id="1200142" name="Oval 14"/>
          <p:cNvSpPr>
            <a:spLocks noChangeArrowheads="1"/>
          </p:cNvSpPr>
          <p:nvPr/>
        </p:nvSpPr>
        <p:spPr bwMode="auto">
          <a:xfrm>
            <a:off x="7543800" y="838200"/>
            <a:ext cx="533400" cy="381000"/>
          </a:xfrm>
          <a:prstGeom prst="ellipse">
            <a:avLst/>
          </a:prstGeom>
          <a:noFill/>
          <a:ln w="12700">
            <a:noFill/>
            <a:round/>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200143" name="Oval 15"/>
          <p:cNvSpPr>
            <a:spLocks noChangeArrowheads="1"/>
          </p:cNvSpPr>
          <p:nvPr/>
        </p:nvSpPr>
        <p:spPr bwMode="auto">
          <a:xfrm>
            <a:off x="609600" y="6553200"/>
            <a:ext cx="228600" cy="228600"/>
          </a:xfrm>
          <a:prstGeom prst="ellipse">
            <a:avLst/>
          </a:prstGeom>
          <a:noFill/>
          <a:ln w="12700">
            <a:noFill/>
            <a:round/>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21" name="Rectangle 20"/>
          <p:cNvSpPr/>
          <p:nvPr/>
        </p:nvSpPr>
        <p:spPr bwMode="auto">
          <a:xfrm>
            <a:off x="96943" y="762000"/>
            <a:ext cx="5415887" cy="457200"/>
          </a:xfrm>
          <a:prstGeom prst="rect">
            <a:avLst/>
          </a:prstGeom>
          <a:no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smtClean="0">
              <a:ln>
                <a:noFill/>
              </a:ln>
              <a:solidFill>
                <a:schemeClr val="dk1"/>
              </a:solidFill>
              <a:effectLst/>
              <a:latin typeface="Arial Narrow" pitchFamily="34" charset="0"/>
            </a:endParaRPr>
          </a:p>
        </p:txBody>
      </p:sp>
      <p:sp>
        <p:nvSpPr>
          <p:cNvPr id="22" name="Rounded Rectangle 21"/>
          <p:cNvSpPr/>
          <p:nvPr/>
        </p:nvSpPr>
        <p:spPr bwMode="auto">
          <a:xfrm>
            <a:off x="228600" y="2619121"/>
            <a:ext cx="3086100" cy="962279"/>
          </a:xfrm>
          <a:prstGeom prst="roundRect">
            <a:avLst/>
          </a:prstGeom>
          <a:solidFill>
            <a:schemeClr val="accent5">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ts val="600"/>
              </a:spcBef>
              <a:spcAft>
                <a:spcPct val="0"/>
              </a:spcAft>
              <a:buClrTx/>
              <a:buSzTx/>
              <a:buFontTx/>
              <a:buNone/>
              <a:tabLst/>
            </a:pPr>
            <a:r>
              <a:rPr kumimoji="0" lang="en-US" sz="2000" i="0" u="none" strike="noStrike" cap="none" normalizeH="0" baseline="0" smtClean="0">
                <a:ln>
                  <a:noFill/>
                </a:ln>
                <a:solidFill>
                  <a:schemeClr val="dk1"/>
                </a:solidFill>
                <a:effectLst/>
                <a:latin typeface="Calibri" pitchFamily="34" charset="0"/>
                <a:cs typeface="Calibri" pitchFamily="34" charset="0"/>
              </a:rPr>
              <a:t>Menus &amp; Buttons</a:t>
            </a:r>
          </a:p>
          <a:p>
            <a:pPr marL="177800" marR="0" indent="-177800" algn="l" defTabSz="914400" rtl="0" eaLnBrk="0" fontAlgn="base" latinLnBrk="0" hangingPunct="0">
              <a:lnSpc>
                <a:spcPct val="80000"/>
              </a:lnSpc>
              <a:spcBef>
                <a:spcPts val="600"/>
              </a:spcBef>
              <a:spcAft>
                <a:spcPct val="0"/>
              </a:spcAft>
              <a:buClrTx/>
              <a:buSzTx/>
              <a:buFont typeface="Arial" pitchFamily="34" charset="0"/>
              <a:buChar char="•"/>
              <a:tabLst/>
            </a:pPr>
            <a:r>
              <a:rPr lang="en-US" sz="2000" b="0" smtClean="0">
                <a:solidFill>
                  <a:schemeClr val="dk1"/>
                </a:solidFill>
                <a:latin typeface="Calibri" pitchFamily="34" charset="0"/>
                <a:cs typeface="Calibri" pitchFamily="34" charset="0"/>
              </a:rPr>
              <a:t>Related to </a:t>
            </a:r>
            <a:r>
              <a:rPr lang="en-US" sz="2000" b="0" err="1" smtClean="0">
                <a:solidFill>
                  <a:schemeClr val="dk1"/>
                </a:solidFill>
                <a:latin typeface="Calibri" pitchFamily="34" charset="0"/>
                <a:cs typeface="Calibri" pitchFamily="34" charset="0"/>
              </a:rPr>
              <a:t>DEBUGing</a:t>
            </a:r>
            <a:endParaRPr lang="en-US" sz="2000" b="0" smtClean="0">
              <a:solidFill>
                <a:schemeClr val="dk1"/>
              </a:solidFill>
              <a:latin typeface="Calibri" pitchFamily="34" charset="0"/>
              <a:cs typeface="Calibri" pitchFamily="34" charset="0"/>
            </a:endParaRPr>
          </a:p>
          <a:p>
            <a:pPr marL="177800" marR="0" indent="-177800" algn="l" defTabSz="914400" rtl="0" eaLnBrk="0" fontAlgn="base" latinLnBrk="0" hangingPunct="0">
              <a:lnSpc>
                <a:spcPct val="80000"/>
              </a:lnSpc>
              <a:spcBef>
                <a:spcPts val="600"/>
              </a:spcBef>
              <a:spcAft>
                <a:spcPct val="0"/>
              </a:spcAft>
              <a:buClrTx/>
              <a:buSzTx/>
              <a:buFont typeface="Arial" pitchFamily="34" charset="0"/>
              <a:buChar char="•"/>
              <a:tabLst/>
            </a:pPr>
            <a:r>
              <a:rPr kumimoji="0" lang="en-US" sz="2000" b="0" i="0" u="none" strike="noStrike" cap="none" normalizeH="0" baseline="0" smtClean="0">
                <a:ln>
                  <a:noFill/>
                </a:ln>
                <a:solidFill>
                  <a:schemeClr val="dk1"/>
                </a:solidFill>
                <a:effectLst/>
                <a:latin typeface="Calibri" pitchFamily="34" charset="0"/>
                <a:cs typeface="Calibri" pitchFamily="34" charset="0"/>
              </a:rPr>
              <a:t>Run, Suspend, Terminate</a:t>
            </a:r>
          </a:p>
        </p:txBody>
      </p:sp>
      <p:cxnSp>
        <p:nvCxnSpPr>
          <p:cNvPr id="23" name="Straight Arrow Connector 22"/>
          <p:cNvCxnSpPr/>
          <p:nvPr/>
        </p:nvCxnSpPr>
        <p:spPr bwMode="auto">
          <a:xfrm flipV="1">
            <a:off x="723900" y="1219200"/>
            <a:ext cx="647700" cy="1447801"/>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sp>
        <p:nvSpPr>
          <p:cNvPr id="32" name="Rounded Rectangle 31"/>
          <p:cNvSpPr/>
          <p:nvPr/>
        </p:nvSpPr>
        <p:spPr bwMode="auto">
          <a:xfrm>
            <a:off x="3657600" y="4267200"/>
            <a:ext cx="2590800" cy="1752600"/>
          </a:xfrm>
          <a:prstGeom prst="roundRect">
            <a:avLst/>
          </a:prstGeom>
          <a:solidFill>
            <a:srgbClr val="CCFF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ts val="600"/>
              </a:spcBef>
              <a:spcAft>
                <a:spcPct val="0"/>
              </a:spcAft>
              <a:buClrTx/>
              <a:buSzTx/>
              <a:buFontTx/>
              <a:buNone/>
              <a:tabLst/>
            </a:pPr>
            <a:r>
              <a:rPr kumimoji="0" lang="en-US" sz="2000" i="0" u="none" strike="noStrike" cap="none" normalizeH="0" baseline="0" smtClean="0">
                <a:ln>
                  <a:noFill/>
                </a:ln>
                <a:solidFill>
                  <a:schemeClr val="dk1"/>
                </a:solidFill>
                <a:effectLst/>
                <a:latin typeface="Calibri" pitchFamily="34" charset="0"/>
                <a:cs typeface="Calibri" pitchFamily="34" charset="0"/>
              </a:rPr>
              <a:t>DEBUG</a:t>
            </a:r>
            <a:r>
              <a:rPr kumimoji="0" lang="en-US" sz="2000" i="0" u="none" strike="noStrike" cap="none" normalizeH="0" smtClean="0">
                <a:ln>
                  <a:noFill/>
                </a:ln>
                <a:solidFill>
                  <a:schemeClr val="dk1"/>
                </a:solidFill>
                <a:effectLst/>
                <a:latin typeface="Calibri" pitchFamily="34" charset="0"/>
                <a:cs typeface="Calibri" pitchFamily="34" charset="0"/>
              </a:rPr>
              <a:t> Windows</a:t>
            </a:r>
            <a:endParaRPr kumimoji="0" lang="en-US" sz="2000" i="0" u="none" strike="noStrike" cap="none" normalizeH="0" baseline="0" smtClean="0">
              <a:ln>
                <a:noFill/>
              </a:ln>
              <a:solidFill>
                <a:schemeClr val="dk1"/>
              </a:solidFill>
              <a:effectLst/>
              <a:latin typeface="Calibri" pitchFamily="34" charset="0"/>
              <a:cs typeface="Calibri" pitchFamily="34" charset="0"/>
            </a:endParaRPr>
          </a:p>
          <a:p>
            <a:pPr marL="177800" marR="0" indent="-177800" algn="l" defTabSz="914400" rtl="0" eaLnBrk="0" fontAlgn="base" latinLnBrk="0" hangingPunct="0">
              <a:lnSpc>
                <a:spcPct val="80000"/>
              </a:lnSpc>
              <a:spcBef>
                <a:spcPts val="600"/>
              </a:spcBef>
              <a:spcAft>
                <a:spcPct val="0"/>
              </a:spcAft>
              <a:buClrTx/>
              <a:buSzTx/>
              <a:buFont typeface="Arial" pitchFamily="34" charset="0"/>
              <a:buChar char="•"/>
              <a:tabLst/>
            </a:pPr>
            <a:r>
              <a:rPr lang="en-US" sz="2000" b="0" smtClean="0">
                <a:solidFill>
                  <a:schemeClr val="dk1"/>
                </a:solidFill>
                <a:latin typeface="Calibri" pitchFamily="34" charset="0"/>
                <a:cs typeface="Calibri" pitchFamily="34" charset="0"/>
              </a:rPr>
              <a:t>Watch Variables</a:t>
            </a:r>
          </a:p>
          <a:p>
            <a:pPr marL="177800" marR="0" indent="-177800" algn="l" defTabSz="914400" rtl="0" eaLnBrk="0" fontAlgn="base" latinLnBrk="0" hangingPunct="0">
              <a:lnSpc>
                <a:spcPct val="80000"/>
              </a:lnSpc>
              <a:spcBef>
                <a:spcPts val="600"/>
              </a:spcBef>
              <a:spcAft>
                <a:spcPct val="0"/>
              </a:spcAft>
              <a:buClrTx/>
              <a:buSzTx/>
              <a:buFont typeface="Arial" pitchFamily="34" charset="0"/>
              <a:buChar char="•"/>
              <a:tabLst/>
            </a:pPr>
            <a:r>
              <a:rPr kumimoji="0" lang="en-US" sz="2000" b="0" i="0" u="none" strike="noStrike" cap="none" normalizeH="0" baseline="0" smtClean="0">
                <a:ln>
                  <a:noFill/>
                </a:ln>
                <a:solidFill>
                  <a:schemeClr val="dk1"/>
                </a:solidFill>
                <a:effectLst/>
                <a:latin typeface="Calibri" pitchFamily="34" charset="0"/>
                <a:cs typeface="Calibri" pitchFamily="34" charset="0"/>
              </a:rPr>
              <a:t>Memory Browser</a:t>
            </a:r>
          </a:p>
          <a:p>
            <a:pPr marL="177800" marR="0" indent="-177800" algn="l" defTabSz="914400" rtl="0" eaLnBrk="0" fontAlgn="base" latinLnBrk="0" hangingPunct="0">
              <a:lnSpc>
                <a:spcPct val="80000"/>
              </a:lnSpc>
              <a:spcBef>
                <a:spcPts val="600"/>
              </a:spcBef>
              <a:spcAft>
                <a:spcPct val="0"/>
              </a:spcAft>
              <a:buClrTx/>
              <a:buSzTx/>
              <a:buFont typeface="Arial" pitchFamily="34" charset="0"/>
              <a:buChar char="•"/>
              <a:tabLst/>
            </a:pPr>
            <a:r>
              <a:rPr lang="en-US" sz="2000" b="0" smtClean="0">
                <a:solidFill>
                  <a:schemeClr val="dk1"/>
                </a:solidFill>
                <a:latin typeface="Calibri" pitchFamily="34" charset="0"/>
                <a:cs typeface="Calibri" pitchFamily="34" charset="0"/>
              </a:rPr>
              <a:t>PC execution point</a:t>
            </a:r>
          </a:p>
          <a:p>
            <a:pPr marL="177800" marR="0" indent="-177800" algn="l" defTabSz="914400" rtl="0" eaLnBrk="0" fontAlgn="base" latinLnBrk="0" hangingPunct="0">
              <a:lnSpc>
                <a:spcPct val="80000"/>
              </a:lnSpc>
              <a:spcBef>
                <a:spcPts val="600"/>
              </a:spcBef>
              <a:spcAft>
                <a:spcPct val="0"/>
              </a:spcAft>
              <a:buClrTx/>
              <a:buSzTx/>
              <a:buFont typeface="Arial" pitchFamily="34" charset="0"/>
              <a:buChar char="•"/>
              <a:tabLst/>
            </a:pPr>
            <a:r>
              <a:rPr kumimoji="0" lang="en-US" sz="2000" b="0" i="0" u="none" strike="noStrike" cap="none" normalizeH="0" baseline="0" smtClean="0">
                <a:ln>
                  <a:noFill/>
                </a:ln>
                <a:solidFill>
                  <a:schemeClr val="dk1"/>
                </a:solidFill>
                <a:effectLst/>
                <a:latin typeface="Calibri" pitchFamily="34" charset="0"/>
                <a:cs typeface="Calibri" pitchFamily="34" charset="0"/>
              </a:rPr>
              <a:t>Console Window</a:t>
            </a:r>
          </a:p>
        </p:txBody>
      </p:sp>
      <p:sp>
        <p:nvSpPr>
          <p:cNvPr id="38" name="Rectangle 37"/>
          <p:cNvSpPr/>
          <p:nvPr/>
        </p:nvSpPr>
        <p:spPr bwMode="auto">
          <a:xfrm>
            <a:off x="2156756" y="1532864"/>
            <a:ext cx="3689500" cy="1066800"/>
          </a:xfrm>
          <a:prstGeom prst="rect">
            <a:avLst/>
          </a:prstGeom>
          <a:no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smtClean="0">
              <a:ln>
                <a:noFill/>
              </a:ln>
              <a:solidFill>
                <a:schemeClr val="dk1"/>
              </a:solidFill>
              <a:effectLst/>
              <a:latin typeface="Arial Narrow" pitchFamily="34" charset="0"/>
            </a:endParaRPr>
          </a:p>
        </p:txBody>
      </p:sp>
      <p:sp>
        <p:nvSpPr>
          <p:cNvPr id="37" name="Rounded Rectangle 36"/>
          <p:cNvSpPr/>
          <p:nvPr/>
        </p:nvSpPr>
        <p:spPr bwMode="auto">
          <a:xfrm>
            <a:off x="5105400" y="2285999"/>
            <a:ext cx="3651694" cy="1399921"/>
          </a:xfrm>
          <a:prstGeom prst="roundRect">
            <a:avLst/>
          </a:prstGeom>
          <a:solidFill>
            <a:schemeClr val="accent4">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ts val="600"/>
              </a:spcBef>
              <a:spcAft>
                <a:spcPct val="0"/>
              </a:spcAft>
              <a:buClrTx/>
              <a:buSzTx/>
              <a:buFontTx/>
              <a:buNone/>
              <a:tabLst/>
            </a:pPr>
            <a:r>
              <a:rPr kumimoji="0" lang="en-US" sz="2000" i="0" u="none" strike="noStrike" cap="none" normalizeH="0" baseline="0" smtClean="0">
                <a:ln>
                  <a:noFill/>
                </a:ln>
                <a:solidFill>
                  <a:schemeClr val="dk1"/>
                </a:solidFill>
                <a:effectLst/>
                <a:latin typeface="Calibri" pitchFamily="34" charset="0"/>
                <a:cs typeface="Calibri" pitchFamily="34" charset="0"/>
              </a:rPr>
              <a:t>Connection Type</a:t>
            </a:r>
          </a:p>
          <a:p>
            <a:pPr marL="177800" marR="0" indent="-177800" algn="l" defTabSz="914400" rtl="0" eaLnBrk="0" fontAlgn="base" latinLnBrk="0" hangingPunct="0">
              <a:lnSpc>
                <a:spcPct val="80000"/>
              </a:lnSpc>
              <a:spcBef>
                <a:spcPts val="600"/>
              </a:spcBef>
              <a:spcAft>
                <a:spcPct val="0"/>
              </a:spcAft>
              <a:buClrTx/>
              <a:buSzTx/>
              <a:buFont typeface="Arial" pitchFamily="34" charset="0"/>
              <a:buChar char="•"/>
              <a:tabLst/>
            </a:pPr>
            <a:r>
              <a:rPr lang="en-US" sz="2000" b="0" smtClean="0">
                <a:solidFill>
                  <a:schemeClr val="dk1"/>
                </a:solidFill>
                <a:latin typeface="Calibri" pitchFamily="34" charset="0"/>
                <a:cs typeface="Calibri" pitchFamily="34" charset="0"/>
              </a:rPr>
              <a:t>Specified in Target Cfg file</a:t>
            </a:r>
          </a:p>
          <a:p>
            <a:pPr marL="177800" marR="0" indent="-177800" algn="l" defTabSz="914400" rtl="0" eaLnBrk="0" fontAlgn="base" latinLnBrk="0" hangingPunct="0">
              <a:lnSpc>
                <a:spcPct val="80000"/>
              </a:lnSpc>
              <a:spcBef>
                <a:spcPts val="600"/>
              </a:spcBef>
              <a:spcAft>
                <a:spcPct val="0"/>
              </a:spcAft>
              <a:buClrTx/>
              <a:buSzTx/>
              <a:buFont typeface="Arial" pitchFamily="34" charset="0"/>
              <a:buChar char="•"/>
              <a:tabLst/>
            </a:pPr>
            <a:r>
              <a:rPr lang="en-US" sz="2000" b="0" smtClean="0">
                <a:solidFill>
                  <a:schemeClr val="dk1"/>
                </a:solidFill>
                <a:latin typeface="Calibri" pitchFamily="34" charset="0"/>
                <a:cs typeface="Calibri" pitchFamily="34" charset="0"/>
              </a:rPr>
              <a:t>What options do users have when connecting to a target?</a:t>
            </a:r>
            <a:endParaRPr kumimoji="0" lang="en-US" sz="2000" b="0" i="0" u="none" strike="noStrike" cap="none" normalizeH="0" baseline="0" smtClean="0">
              <a:ln>
                <a:noFill/>
              </a:ln>
              <a:solidFill>
                <a:schemeClr val="dk1"/>
              </a:solidFill>
              <a:effectLst/>
              <a:latin typeface="Calibri" pitchFamily="34" charset="0"/>
              <a:cs typeface="Calibri" pitchFamily="34" charset="0"/>
            </a:endParaRPr>
          </a:p>
        </p:txBody>
      </p:sp>
      <p:cxnSp>
        <p:nvCxnSpPr>
          <p:cNvPr id="27" name="Straight Arrow Connector 26"/>
          <p:cNvCxnSpPr/>
          <p:nvPr/>
        </p:nvCxnSpPr>
        <p:spPr bwMode="auto">
          <a:xfrm flipH="1" flipV="1">
            <a:off x="4191000" y="1875764"/>
            <a:ext cx="1371600" cy="562636"/>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cxnSp>
        <p:nvCxnSpPr>
          <p:cNvPr id="15" name="Straight Arrow Connector 14"/>
          <p:cNvCxnSpPr/>
          <p:nvPr/>
        </p:nvCxnSpPr>
        <p:spPr bwMode="auto">
          <a:xfrm flipV="1">
            <a:off x="719468" y="1600200"/>
            <a:ext cx="1449388" cy="1077435"/>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14385" y="932120"/>
            <a:ext cx="20193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931703144"/>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dissolve">
                                      <p:cBhvr>
                                        <p:cTn id="7" dur="1000"/>
                                        <p:tgtEl>
                                          <p:spTgt spid="37"/>
                                        </p:tgtEl>
                                      </p:cBhvr>
                                    </p:animEffect>
                                  </p:childTnLst>
                                </p:cTn>
                              </p:par>
                            </p:childTnLst>
                          </p:cTn>
                        </p:par>
                        <p:par>
                          <p:cTn id="8" fill="hold">
                            <p:stCondLst>
                              <p:cond delay="1000"/>
                            </p:stCondLst>
                            <p:childTnLst>
                              <p:par>
                                <p:cTn id="9" presetID="22" presetClass="entr" presetSubtype="2"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ipe(right)">
                                      <p:cBhvr>
                                        <p:cTn id="11"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838200"/>
            <a:ext cx="5562600" cy="5181600"/>
          </a:xfrm>
          <a:prstGeom prst="rect">
            <a:avLst/>
          </a:prstGeom>
          <a:solidFill>
            <a:srgbClr val="92D050"/>
          </a:solidFill>
          <a:ln w="19050">
            <a:solidFill>
              <a:schemeClr val="tx1"/>
            </a:solidFill>
            <a:miter lim="800000"/>
            <a:headEnd type="none" w="sm" len="sm"/>
            <a:tailEnd type="none" w="sm" len="sm"/>
          </a:ln>
          <a:effectLst>
            <a:outerShdw blurRad="50800" dist="889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3" cstate="print"/>
          <a:srcRect/>
          <a:stretch>
            <a:fillRect/>
          </a:stretch>
        </p:blipFill>
        <p:spPr bwMode="auto">
          <a:xfrm>
            <a:off x="6160824" y="1316817"/>
            <a:ext cx="2819400" cy="4172713"/>
          </a:xfrm>
          <a:prstGeom prst="rect">
            <a:avLst/>
          </a:prstGeom>
          <a:noFill/>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9" name="Text Box 4">
            <a:hlinkClick r:id="rId14" action="ppaction://hlinksldjump"/>
          </p:cNvPr>
          <p:cNvSpPr txBox="1">
            <a:spLocks noChangeArrowheads="1"/>
          </p:cNvSpPr>
          <p:nvPr>
            <p:custDataLst>
              <p:tags r:id="rId2"/>
            </p:custDataLst>
          </p:nvPr>
        </p:nvSpPr>
        <p:spPr bwMode="auto">
          <a:xfrm>
            <a:off x="310202" y="954651"/>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Intro to CCSv6</a:t>
            </a:r>
            <a:endParaRPr lang="en-US" sz="2800">
              <a:solidFill>
                <a:srgbClr val="000000"/>
              </a:solidFill>
            </a:endParaRPr>
          </a:p>
        </p:txBody>
      </p:sp>
      <p:sp>
        <p:nvSpPr>
          <p:cNvPr id="10" name="Text Box 6">
            <a:hlinkClick r:id="rId15" action="ppaction://hlinksldjump"/>
          </p:cNvPr>
          <p:cNvSpPr txBox="1">
            <a:spLocks noChangeArrowheads="1"/>
          </p:cNvSpPr>
          <p:nvPr>
            <p:custDataLst>
              <p:tags r:id="rId3"/>
            </p:custDataLst>
          </p:nvPr>
        </p:nvSpPr>
        <p:spPr bwMode="auto">
          <a:xfrm>
            <a:off x="819150" y="1473995"/>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Functional Overview</a:t>
            </a:r>
            <a:endParaRPr lang="en-US">
              <a:solidFill>
                <a:srgbClr val="000000"/>
              </a:solidFill>
            </a:endParaRPr>
          </a:p>
        </p:txBody>
      </p:sp>
      <p:sp>
        <p:nvSpPr>
          <p:cNvPr id="11" name="Text Box 6">
            <a:hlinkClick r:id="rId16" action="ppaction://hlinksldjump"/>
          </p:cNvPr>
          <p:cNvSpPr txBox="1">
            <a:spLocks noChangeArrowheads="1"/>
          </p:cNvSpPr>
          <p:nvPr>
            <p:custDataLst>
              <p:tags r:id="rId4"/>
            </p:custDataLst>
          </p:nvPr>
        </p:nvSpPr>
        <p:spPr bwMode="auto">
          <a:xfrm>
            <a:off x="819150" y="1926309"/>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Perspectives</a:t>
            </a:r>
            <a:endParaRPr lang="en-US">
              <a:solidFill>
                <a:srgbClr val="000000"/>
              </a:solidFill>
            </a:endParaRPr>
          </a:p>
        </p:txBody>
      </p:sp>
      <p:sp>
        <p:nvSpPr>
          <p:cNvPr id="12" name="Text Box 5">
            <a:hlinkClick r:id="rId17" action="ppaction://hlinksldjump"/>
          </p:cNvPr>
          <p:cNvSpPr txBox="1">
            <a:spLocks noChangeArrowheads="1"/>
          </p:cNvSpPr>
          <p:nvPr>
            <p:custDataLst>
              <p:tags r:id="rId5"/>
            </p:custDataLst>
          </p:nvPr>
        </p:nvSpPr>
        <p:spPr bwMode="auto">
          <a:xfrm>
            <a:off x="823273" y="2378623"/>
            <a:ext cx="4600575" cy="387798"/>
          </a:xfrm>
          <a:prstGeom prst="rect">
            <a:avLst/>
          </a:prstGeom>
          <a:solidFill>
            <a:schemeClr val="bg1"/>
          </a:solidFill>
          <a:ln w="19050">
            <a:solidFill>
              <a:schemeClr val="tx1"/>
            </a:solid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Target Config &amp; Emulators</a:t>
            </a:r>
            <a:endParaRPr lang="en-US">
              <a:solidFill>
                <a:srgbClr val="000000"/>
              </a:solidFill>
            </a:endParaRPr>
          </a:p>
        </p:txBody>
      </p:sp>
      <p:sp>
        <p:nvSpPr>
          <p:cNvPr id="13" name="Text Box 6">
            <a:hlinkClick r:id="rId18" action="ppaction://hlinksldjump"/>
          </p:cNvPr>
          <p:cNvSpPr txBox="1">
            <a:spLocks noChangeArrowheads="1"/>
          </p:cNvSpPr>
          <p:nvPr>
            <p:custDataLst>
              <p:tags r:id="rId6"/>
            </p:custDataLst>
          </p:nvPr>
        </p:nvSpPr>
        <p:spPr bwMode="auto">
          <a:xfrm>
            <a:off x="819150" y="2830937"/>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Workspaces &amp; Projects</a:t>
            </a:r>
            <a:endParaRPr lang="en-US">
              <a:solidFill>
                <a:srgbClr val="000000"/>
              </a:solidFill>
            </a:endParaRPr>
          </a:p>
        </p:txBody>
      </p:sp>
      <p:sp>
        <p:nvSpPr>
          <p:cNvPr id="14" name="Text Box 6">
            <a:hlinkClick r:id="rId19" action="ppaction://hlinksldjump"/>
          </p:cNvPr>
          <p:cNvSpPr txBox="1">
            <a:spLocks noChangeArrowheads="1"/>
          </p:cNvSpPr>
          <p:nvPr>
            <p:custDataLst>
              <p:tags r:id="rId7"/>
            </p:custDataLst>
          </p:nvPr>
        </p:nvSpPr>
        <p:spPr bwMode="auto">
          <a:xfrm>
            <a:off x="819150" y="3283251"/>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Creating a Project</a:t>
            </a:r>
            <a:endParaRPr lang="en-US">
              <a:solidFill>
                <a:srgbClr val="000000"/>
              </a:solidFill>
            </a:endParaRPr>
          </a:p>
        </p:txBody>
      </p:sp>
      <p:sp>
        <p:nvSpPr>
          <p:cNvPr id="15" name="Text Box 6">
            <a:hlinkClick r:id="rId20" action="ppaction://hlinksldjump"/>
          </p:cNvPr>
          <p:cNvSpPr txBox="1">
            <a:spLocks noChangeArrowheads="1"/>
          </p:cNvSpPr>
          <p:nvPr>
            <p:custDataLst>
              <p:tags r:id="rId8"/>
            </p:custDataLst>
          </p:nvPr>
        </p:nvSpPr>
        <p:spPr bwMode="auto">
          <a:xfrm>
            <a:off x="819150" y="3735565"/>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Build Config &amp; Options</a:t>
            </a:r>
            <a:endParaRPr lang="en-US">
              <a:solidFill>
                <a:srgbClr val="000000"/>
              </a:solidFill>
            </a:endParaRPr>
          </a:p>
        </p:txBody>
      </p:sp>
      <p:sp>
        <p:nvSpPr>
          <p:cNvPr id="16" name="Text Box 4">
            <a:hlinkClick r:id="rId21" action="ppaction://hlinksldjump"/>
          </p:cNvPr>
          <p:cNvSpPr txBox="1">
            <a:spLocks noChangeArrowheads="1"/>
          </p:cNvSpPr>
          <p:nvPr>
            <p:custDataLst>
              <p:tags r:id="rId9"/>
            </p:custDataLst>
          </p:nvPr>
        </p:nvSpPr>
        <p:spPr bwMode="auto">
          <a:xfrm>
            <a:off x="310202" y="4203352"/>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Licensing/Pricing</a:t>
            </a:r>
            <a:endParaRPr lang="en-US" sz="2800">
              <a:solidFill>
                <a:srgbClr val="000000"/>
              </a:solidFill>
            </a:endParaRPr>
          </a:p>
        </p:txBody>
      </p:sp>
      <p:sp>
        <p:nvSpPr>
          <p:cNvPr id="17" name="Text Box 4">
            <a:hlinkClick r:id="rId22" action="ppaction://hlinksldjump"/>
          </p:cNvPr>
          <p:cNvSpPr txBox="1">
            <a:spLocks noChangeArrowheads="1"/>
          </p:cNvSpPr>
          <p:nvPr>
            <p:custDataLst>
              <p:tags r:id="rId10"/>
            </p:custDataLst>
          </p:nvPr>
        </p:nvSpPr>
        <p:spPr bwMode="auto">
          <a:xfrm>
            <a:off x="310202" y="4738169"/>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CCSv6 – For More Info…</a:t>
            </a:r>
            <a:endParaRPr lang="en-US" sz="2800">
              <a:solidFill>
                <a:srgbClr val="000000"/>
              </a:solidFill>
            </a:endParaRPr>
          </a:p>
        </p:txBody>
      </p:sp>
      <p:sp>
        <p:nvSpPr>
          <p:cNvPr id="18" name="Text Box 4">
            <a:hlinkClick r:id="rId23" action="ppaction://hlinksldjump"/>
          </p:cNvPr>
          <p:cNvSpPr txBox="1">
            <a:spLocks noChangeArrowheads="1"/>
          </p:cNvSpPr>
          <p:nvPr>
            <p:custDataLst>
              <p:tags r:id="rId11"/>
            </p:custDataLst>
          </p:nvPr>
        </p:nvSpPr>
        <p:spPr bwMode="auto">
          <a:xfrm>
            <a:off x="310202" y="5272986"/>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a:solidFill>
                <a:srgbClr val="000000"/>
              </a:solidFill>
            </a:endParaRPr>
          </a:p>
        </p:txBody>
      </p:sp>
    </p:spTree>
    <p:custDataLst>
      <p:tags r:id="rId1"/>
    </p:custDataLst>
    <p:extLst>
      <p:ext uri="{BB962C8B-B14F-4D97-AF65-F5344CB8AC3E}">
        <p14:creationId xmlns:p14="http://schemas.microsoft.com/office/powerpoint/2010/main" val="3280997716"/>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a0159877\AppData\Local\Temp\SNAGHTMLd9842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998" y="685800"/>
            <a:ext cx="2980602" cy="4191000"/>
          </a:xfrm>
          <a:prstGeom prst="rect">
            <a:avLst/>
          </a:prstGeom>
          <a:noFill/>
          <a:extLst>
            <a:ext uri="{909E8E84-426E-40DD-AFC4-6F175D3DCCD1}">
              <a14:hiddenFill xmlns:a14="http://schemas.microsoft.com/office/drawing/2010/main">
                <a:solidFill>
                  <a:srgbClr val="FFFFFF"/>
                </a:solidFill>
              </a14:hiddenFill>
            </a:ext>
          </a:extLst>
        </p:spPr>
      </p:pic>
      <p:sp>
        <p:nvSpPr>
          <p:cNvPr id="17410" name="Rectangle 2"/>
          <p:cNvSpPr>
            <a:spLocks noGrp="1" noChangeArrowheads="1"/>
          </p:cNvSpPr>
          <p:nvPr>
            <p:ph type="title"/>
          </p:nvPr>
        </p:nvSpPr>
        <p:spPr/>
        <p:txBody>
          <a:bodyPr>
            <a:normAutofit/>
          </a:bodyPr>
          <a:lstStyle/>
          <a:p>
            <a:r>
              <a:rPr lang="en-US" smtClean="0"/>
              <a:t>Target Configuration and Emulators</a:t>
            </a:r>
          </a:p>
        </p:txBody>
      </p:sp>
      <p:sp>
        <p:nvSpPr>
          <p:cNvPr id="12" name="TextBox 11"/>
          <p:cNvSpPr txBox="1"/>
          <p:nvPr/>
        </p:nvSpPr>
        <p:spPr>
          <a:xfrm>
            <a:off x="3298208" y="868706"/>
            <a:ext cx="5530553" cy="1363450"/>
          </a:xfrm>
          <a:prstGeom prst="rect">
            <a:avLst/>
          </a:prstGeom>
          <a:noFill/>
        </p:spPr>
        <p:txBody>
          <a:bodyPr wrap="none" rtlCol="0" anchor="ctr" anchorCtr="0">
            <a:spAutoFit/>
          </a:bodyPr>
          <a:lstStyle/>
          <a:p>
            <a:pPr marL="342900" indent="-342900">
              <a:spcBef>
                <a:spcPts val="600"/>
              </a:spcBef>
              <a:buClr>
                <a:schemeClr val="tx2"/>
              </a:buClr>
              <a:buSzPct val="75000"/>
              <a:buFont typeface="Wingdings"/>
              <a:buChar char=""/>
            </a:pPr>
            <a:r>
              <a:rPr lang="en-US" b="0" smtClean="0">
                <a:solidFill>
                  <a:schemeClr val="dk1"/>
                </a:solidFill>
                <a:effectLst/>
                <a:latin typeface="Calibri" pitchFamily="34" charset="0"/>
                <a:cs typeface="Calibri" pitchFamily="34" charset="0"/>
              </a:rPr>
              <a:t>The Target Configuration File specifies:</a:t>
            </a:r>
          </a:p>
          <a:p>
            <a:pPr marL="682625" indent="-287338">
              <a:spcBef>
                <a:spcPts val="600"/>
              </a:spcBef>
              <a:buSzPct val="100000"/>
              <a:buFont typeface="Arial" pitchFamily="34" charset="0"/>
              <a:buChar char="•"/>
            </a:pPr>
            <a:r>
              <a:rPr lang="en-US" sz="2000" b="0" smtClean="0">
                <a:solidFill>
                  <a:schemeClr val="dk1"/>
                </a:solidFill>
                <a:latin typeface="Calibri" pitchFamily="34" charset="0"/>
                <a:cs typeface="Calibri" pitchFamily="34" charset="0"/>
              </a:rPr>
              <a:t>Connection to the target </a:t>
            </a:r>
            <a:r>
              <a:rPr lang="en-US" sz="2000" b="0" smtClean="0">
                <a:solidFill>
                  <a:schemeClr val="dk1"/>
                </a:solidFill>
                <a:latin typeface="Calibri" pitchFamily="34" charset="0"/>
                <a:cs typeface="Calibri" pitchFamily="34" charset="0"/>
              </a:rPr>
              <a:t>(XDS</a:t>
            </a:r>
            <a:r>
              <a:rPr lang="en-US" sz="2000" b="0" smtClean="0">
                <a:solidFill>
                  <a:schemeClr val="dk1"/>
                </a:solidFill>
                <a:latin typeface="Calibri" pitchFamily="34" charset="0"/>
                <a:cs typeface="Calibri" pitchFamily="34" charset="0"/>
              </a:rPr>
              <a:t>, FET, etc.)</a:t>
            </a:r>
          </a:p>
          <a:p>
            <a:pPr marL="682625" indent="-287338">
              <a:spcBef>
                <a:spcPts val="600"/>
              </a:spcBef>
              <a:buSzPct val="100000"/>
              <a:buFont typeface="Arial" pitchFamily="34" charset="0"/>
              <a:buChar char="•"/>
            </a:pPr>
            <a:r>
              <a:rPr lang="en-US" sz="2000" b="0" smtClean="0">
                <a:solidFill>
                  <a:schemeClr val="dk1"/>
                </a:solidFill>
                <a:effectLst/>
                <a:latin typeface="Calibri" pitchFamily="34" charset="0"/>
                <a:cs typeface="Calibri" pitchFamily="34" charset="0"/>
              </a:rPr>
              <a:t>Target device (e.g. TM4C123, C28027, etc.)</a:t>
            </a:r>
          </a:p>
          <a:p>
            <a:pPr marL="682625" indent="-287338">
              <a:spcBef>
                <a:spcPts val="600"/>
              </a:spcBef>
              <a:buSzPct val="100000"/>
              <a:buFont typeface="Arial" pitchFamily="34" charset="0"/>
              <a:buChar char="•"/>
            </a:pPr>
            <a:r>
              <a:rPr lang="en-US" sz="2000" b="0" smtClean="0">
                <a:solidFill>
                  <a:schemeClr val="dk1"/>
                </a:solidFill>
                <a:latin typeface="Calibri" pitchFamily="34" charset="0"/>
                <a:cs typeface="Calibri" pitchFamily="34" charset="0"/>
              </a:rPr>
              <a:t>GEL file (if applicable) for h/w setup</a:t>
            </a:r>
            <a:endParaRPr lang="en-US" sz="2000" b="0" smtClean="0">
              <a:solidFill>
                <a:schemeClr val="dk1"/>
              </a:solidFill>
              <a:effectLst/>
              <a:latin typeface="Calibri" pitchFamily="34" charset="0"/>
              <a:cs typeface="Calibri" pitchFamily="34" charset="0"/>
            </a:endParaRPr>
          </a:p>
        </p:txBody>
      </p:sp>
      <p:sp>
        <p:nvSpPr>
          <p:cNvPr id="13" name="TextBox 12"/>
          <p:cNvSpPr txBox="1"/>
          <p:nvPr/>
        </p:nvSpPr>
        <p:spPr>
          <a:xfrm>
            <a:off x="1600200" y="4910468"/>
            <a:ext cx="6199005" cy="1718932"/>
          </a:xfrm>
          <a:prstGeom prst="rect">
            <a:avLst/>
          </a:prstGeom>
          <a:noFill/>
        </p:spPr>
        <p:txBody>
          <a:bodyPr wrap="none" rtlCol="0" anchor="ctr" anchorCtr="0">
            <a:spAutoFit/>
          </a:bodyPr>
          <a:lstStyle/>
          <a:p>
            <a:pPr marL="342900" indent="-342900">
              <a:spcBef>
                <a:spcPts val="900"/>
              </a:spcBef>
              <a:buClr>
                <a:schemeClr val="tx2"/>
              </a:buClr>
              <a:buSzPct val="75000"/>
              <a:buFont typeface="Wingdings"/>
              <a:buChar char=""/>
            </a:pPr>
            <a:r>
              <a:rPr lang="en-US" b="0" smtClean="0">
                <a:solidFill>
                  <a:schemeClr val="dk1"/>
                </a:solidFill>
                <a:effectLst/>
                <a:latin typeface="Calibri" pitchFamily="34" charset="0"/>
                <a:cs typeface="Calibri" pitchFamily="34" charset="0"/>
              </a:rPr>
              <a:t>EMU Connection Options</a:t>
            </a:r>
          </a:p>
          <a:p>
            <a:pPr marL="682625" indent="-287338">
              <a:spcBef>
                <a:spcPts val="900"/>
              </a:spcBef>
              <a:buSzPct val="100000"/>
              <a:buFont typeface="Arial" pitchFamily="34" charset="0"/>
              <a:buChar char="•"/>
            </a:pPr>
            <a:r>
              <a:rPr lang="en-US" sz="2000" b="0" smtClean="0">
                <a:solidFill>
                  <a:schemeClr val="dk1"/>
                </a:solidFill>
                <a:latin typeface="Calibri" pitchFamily="34" charset="0"/>
                <a:cs typeface="Calibri" pitchFamily="34" charset="0"/>
              </a:rPr>
              <a:t>Built-in and external emulators from TI, Blackhawk,</a:t>
            </a:r>
            <a:br>
              <a:rPr lang="en-US" sz="2000" b="0" smtClean="0">
                <a:solidFill>
                  <a:schemeClr val="dk1"/>
                </a:solidFill>
                <a:latin typeface="Calibri" pitchFamily="34" charset="0"/>
                <a:cs typeface="Calibri" pitchFamily="34" charset="0"/>
              </a:rPr>
            </a:br>
            <a:r>
              <a:rPr lang="en-US" sz="2000" b="0" smtClean="0">
                <a:solidFill>
                  <a:schemeClr val="dk1"/>
                </a:solidFill>
                <a:latin typeface="Calibri" pitchFamily="34" charset="0"/>
                <a:cs typeface="Calibri" pitchFamily="34" charset="0"/>
              </a:rPr>
              <a:t>Spectrum Digital and others</a:t>
            </a:r>
          </a:p>
          <a:p>
            <a:pPr marL="682625" indent="-287338">
              <a:spcBef>
                <a:spcPts val="900"/>
              </a:spcBef>
              <a:buSzPct val="100000"/>
              <a:buFont typeface="Arial" pitchFamily="34" charset="0"/>
              <a:buChar char="•"/>
            </a:pPr>
            <a:r>
              <a:rPr lang="en-US" sz="2000" b="0" smtClean="0">
                <a:solidFill>
                  <a:schemeClr val="dk1"/>
                </a:solidFill>
                <a:latin typeface="Calibri" pitchFamily="34" charset="0"/>
                <a:cs typeface="Calibri" pitchFamily="34" charset="0"/>
              </a:rPr>
              <a:t>XDS100v1/v2, 200, 510, 560, 560v2</a:t>
            </a:r>
          </a:p>
          <a:p>
            <a:pPr marL="682625" indent="-287338">
              <a:spcBef>
                <a:spcPts val="900"/>
              </a:spcBef>
              <a:buSzPct val="100000"/>
              <a:buFont typeface="Arial" pitchFamily="34" charset="0"/>
              <a:buChar char="•"/>
            </a:pPr>
            <a:r>
              <a:rPr lang="en-US" sz="2000" b="0" smtClean="0">
                <a:solidFill>
                  <a:schemeClr val="dk1"/>
                </a:solidFill>
                <a:effectLst/>
                <a:latin typeface="Calibri" pitchFamily="34" charset="0"/>
                <a:cs typeface="Calibri" pitchFamily="34" charset="0"/>
              </a:rPr>
              <a:t>MSP-FET430</a:t>
            </a:r>
          </a:p>
        </p:txBody>
      </p:sp>
      <p:sp>
        <p:nvSpPr>
          <p:cNvPr id="2" name="Action Button: Forward or Next 1">
            <a:hlinkClick r:id="rId3" action="ppaction://hlinksldjump" highlightClick="1"/>
          </p:cNvPr>
          <p:cNvSpPr/>
          <p:nvPr/>
        </p:nvSpPr>
        <p:spPr bwMode="auto">
          <a:xfrm>
            <a:off x="8839200" y="0"/>
            <a:ext cx="304800" cy="292100"/>
          </a:xfrm>
          <a:prstGeom prst="actionButtonForwardNext">
            <a:avLst/>
          </a:prstGeom>
          <a:solidFill>
            <a:schemeClr val="bg1"/>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sp>
        <p:nvSpPr>
          <p:cNvPr id="5" name="Rounded Rectangle 4"/>
          <p:cNvSpPr/>
          <p:nvPr/>
        </p:nvSpPr>
        <p:spPr bwMode="auto">
          <a:xfrm>
            <a:off x="476250" y="738778"/>
            <a:ext cx="962120" cy="933116"/>
          </a:xfrm>
          <a:prstGeom prst="roundRect">
            <a:avLst/>
          </a:prstGeom>
          <a:no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pic>
        <p:nvPicPr>
          <p:cNvPr id="2052" name="Picture 4" descr="C:\Users\a0159877\AppData\Local\Temp\SNAGHTML120fb44.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7064" y="2384556"/>
            <a:ext cx="5290736" cy="2492244"/>
          </a:xfrm>
          <a:prstGeom prst="rect">
            <a:avLst/>
          </a:prstGeom>
          <a:noFill/>
          <a:extLst>
            <a:ext uri="{909E8E84-426E-40DD-AFC4-6F175D3DCCD1}">
              <a14:hiddenFill xmlns:a14="http://schemas.microsoft.com/office/drawing/2010/main">
                <a:solidFill>
                  <a:srgbClr val="FFFFFF"/>
                </a:solidFill>
              </a14:hiddenFill>
            </a:ext>
          </a:extLst>
        </p:spPr>
      </p:pic>
      <p:sp>
        <p:nvSpPr>
          <p:cNvPr id="3" name="Leading Question"/>
          <p:cNvSpPr txBox="1"/>
          <p:nvPr/>
        </p:nvSpPr>
        <p:spPr>
          <a:xfrm>
            <a:off x="7286080" y="6512800"/>
            <a:ext cx="1534651" cy="221599"/>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r">
              <a:spcBef>
                <a:spcPct val="0"/>
              </a:spcBef>
            </a:pPr>
            <a:r>
              <a:rPr lang="en-US" sz="1800" b="0" smtClean="0">
                <a:solidFill>
                  <a:schemeClr val="tx2"/>
                </a:solidFill>
                <a:effectLst/>
                <a:latin typeface="Arial Narrow"/>
              </a:rPr>
              <a:t>JTAG Emulators...</a:t>
            </a:r>
            <a:endParaRPr lang="en-US" sz="1800" b="0" dirty="0" smtClean="0">
              <a:solidFill>
                <a:schemeClr val="tx2"/>
              </a:solidFill>
              <a:effectLst/>
              <a:latin typeface="Arial Narrow"/>
            </a:endParaRPr>
          </a:p>
        </p:txBody>
      </p:sp>
    </p:spTree>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chemeClr val="accent2"/>
        </a:solidFill>
        <a:effectLst/>
      </p:bgPr>
    </p:bg>
    <p:spTree>
      <p:nvGrpSpPr>
        <p:cNvPr id="1" name=""/>
        <p:cNvGrpSpPr/>
        <p:nvPr/>
      </p:nvGrpSpPr>
      <p:grpSpPr>
        <a:xfrm>
          <a:off x="0" y="0"/>
          <a:ext cx="0" cy="0"/>
          <a:chOff x="0" y="0"/>
          <a:chExt cx="0" cy="0"/>
        </a:xfrm>
      </p:grpSpPr>
      <p:pic>
        <p:nvPicPr>
          <p:cNvPr id="1026" name="Picture 2" descr="C:\Users\a0159877\AppData\Local\Temp\SNAGHTML8dbba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155" y="1906978"/>
            <a:ext cx="4646644" cy="418902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Users\a0159877\AppData\Local\Temp\SNAGHTML92846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3497" y="4572000"/>
            <a:ext cx="5095658" cy="202430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a0159877\AppData\Local\Temp\SNAGHTML910494.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96316" y="2406711"/>
            <a:ext cx="3213981" cy="2089089"/>
          </a:xfrm>
          <a:prstGeom prst="rect">
            <a:avLst/>
          </a:prstGeom>
          <a:noFill/>
          <a:extLst>
            <a:ext uri="{909E8E84-426E-40DD-AFC4-6F175D3DCCD1}">
              <a14:hiddenFill xmlns:a14="http://schemas.microsoft.com/office/drawing/2010/main">
                <a:solidFill>
                  <a:srgbClr val="FFFFFF"/>
                </a:solidFill>
              </a14:hiddenFill>
            </a:ext>
          </a:extLst>
        </p:spPr>
      </p:pic>
      <p:sp>
        <p:nvSpPr>
          <p:cNvPr id="17410" name="Rectangle 2"/>
          <p:cNvSpPr>
            <a:spLocks noGrp="1" noChangeArrowheads="1"/>
          </p:cNvSpPr>
          <p:nvPr>
            <p:ph type="title"/>
          </p:nvPr>
        </p:nvSpPr>
        <p:spPr/>
        <p:txBody>
          <a:bodyPr/>
          <a:lstStyle/>
          <a:p>
            <a:r>
              <a:rPr lang="en-US" sz="3200" smtClean="0"/>
              <a:t>Creating a New Target Config File (.ccxml)</a:t>
            </a:r>
          </a:p>
        </p:txBody>
      </p:sp>
      <p:sp>
        <p:nvSpPr>
          <p:cNvPr id="17411" name="Text Box 25"/>
          <p:cNvSpPr txBox="1">
            <a:spLocks noChangeArrowheads="1"/>
          </p:cNvSpPr>
          <p:nvPr/>
        </p:nvSpPr>
        <p:spPr bwMode="auto">
          <a:xfrm>
            <a:off x="209550" y="584200"/>
            <a:ext cx="8934450" cy="1261884"/>
          </a:xfrm>
          <a:prstGeom prst="rect">
            <a:avLst/>
          </a:prstGeom>
          <a:noFill/>
          <a:ln w="12700">
            <a:noFill/>
            <a:miter lim="800000"/>
            <a:headEnd type="none" w="sm" len="sm"/>
            <a:tailEnd type="none" w="sm" len="sm"/>
          </a:ln>
        </p:spPr>
        <p:txBody>
          <a:bodyPr wrap="square">
            <a:spAutoFit/>
          </a:bodyPr>
          <a:lstStyle/>
          <a:p>
            <a:pPr marL="342900" indent="-342900">
              <a:lnSpc>
                <a:spcPct val="110000"/>
              </a:lnSpc>
              <a:buClr>
                <a:schemeClr val="tx2"/>
              </a:buClr>
              <a:buSzPct val="75000"/>
              <a:buFont typeface="Wingdings" pitchFamily="2" charset="2"/>
              <a:buChar char=""/>
            </a:pPr>
            <a:r>
              <a:rPr lang="en-US" sz="2000" i="1" u="sng">
                <a:latin typeface="Calibri" pitchFamily="34" charset="0"/>
                <a:cs typeface="Calibri" pitchFamily="34" charset="0"/>
              </a:rPr>
              <a:t>Target Configuration</a:t>
            </a:r>
            <a:r>
              <a:rPr lang="en-US" sz="2000">
                <a:latin typeface="Calibri" pitchFamily="34" charset="0"/>
                <a:cs typeface="Calibri" pitchFamily="34" charset="0"/>
              </a:rPr>
              <a:t> –  defines your “target” – i.e. emulator/device used, GEL scripts (replaces the old CCS Setup)</a:t>
            </a:r>
          </a:p>
          <a:p>
            <a:pPr marL="342900" indent="-342900">
              <a:lnSpc>
                <a:spcPct val="110000"/>
              </a:lnSpc>
              <a:buClr>
                <a:schemeClr val="tx2"/>
              </a:buClr>
              <a:buSzPct val="75000"/>
              <a:buFont typeface="Wingdings" pitchFamily="2" charset="2"/>
              <a:buChar char=""/>
            </a:pPr>
            <a:r>
              <a:rPr lang="en-US" sz="2000" smtClean="0">
                <a:latin typeface="Calibri" pitchFamily="34" charset="0"/>
                <a:cs typeface="Calibri" pitchFamily="34" charset="0"/>
              </a:rPr>
              <a:t>Create </a:t>
            </a:r>
            <a:r>
              <a:rPr lang="en-US" sz="2000" u="sng" smtClean="0">
                <a:latin typeface="Calibri" pitchFamily="34" charset="0"/>
                <a:cs typeface="Calibri" pitchFamily="34" charset="0"/>
              </a:rPr>
              <a:t>user-defined configurations </a:t>
            </a:r>
            <a:r>
              <a:rPr lang="en-US" sz="2000" smtClean="0">
                <a:latin typeface="Calibri" pitchFamily="34" charset="0"/>
                <a:cs typeface="Calibri" pitchFamily="34" charset="0"/>
              </a:rPr>
              <a:t>(select based on chosen board)</a:t>
            </a:r>
            <a:endParaRPr lang="en-US" sz="2000">
              <a:latin typeface="Calibri" pitchFamily="34" charset="0"/>
              <a:cs typeface="Calibri" pitchFamily="34" charset="0"/>
            </a:endParaRPr>
          </a:p>
        </p:txBody>
      </p:sp>
      <p:sp>
        <p:nvSpPr>
          <p:cNvPr id="17414" name="Text Box 32"/>
          <p:cNvSpPr txBox="1">
            <a:spLocks noChangeArrowheads="1"/>
          </p:cNvSpPr>
          <p:nvPr/>
        </p:nvSpPr>
        <p:spPr bwMode="auto">
          <a:xfrm>
            <a:off x="7736775" y="3407816"/>
            <a:ext cx="928459" cy="313932"/>
          </a:xfrm>
          <a:prstGeom prst="rect">
            <a:avLst/>
          </a:prstGeom>
          <a:solidFill>
            <a:schemeClr val="accent5">
              <a:lumMod val="40000"/>
              <a:lumOff val="60000"/>
            </a:schemeClr>
          </a:solidFill>
          <a:ln w="12700">
            <a:solidFill>
              <a:schemeClr val="tx1"/>
            </a:solidFill>
            <a:miter lim="800000"/>
            <a:headEnd type="none" w="sm" len="sm"/>
            <a:tailEnd type="none" w="sm" len="sm"/>
          </a:ln>
        </p:spPr>
        <p:txBody>
          <a:bodyPr wrap="none">
            <a:spAutoFit/>
          </a:bodyPr>
          <a:lstStyle/>
          <a:p>
            <a:r>
              <a:rPr lang="en-US" sz="1800"/>
              <a:t>“click”</a:t>
            </a:r>
          </a:p>
        </p:txBody>
      </p:sp>
      <p:sp>
        <p:nvSpPr>
          <p:cNvPr id="1227809" name="Line 33"/>
          <p:cNvSpPr>
            <a:spLocks noChangeShapeType="1"/>
          </p:cNvSpPr>
          <p:nvPr/>
        </p:nvSpPr>
        <p:spPr bwMode="auto">
          <a:xfrm flipH="1">
            <a:off x="7313225" y="3636416"/>
            <a:ext cx="423550" cy="304800"/>
          </a:xfrm>
          <a:prstGeom prst="line">
            <a:avLst/>
          </a:prstGeom>
          <a:noFill/>
          <a:ln w="19050">
            <a:solidFill>
              <a:schemeClr val="tx1"/>
            </a:solidFill>
            <a:round/>
            <a:headEnd type="none" w="sm" len="sm"/>
            <a:tailEnd type="triangle" w="med" len="med"/>
          </a:ln>
          <a:effectLst/>
        </p:spPr>
        <p:txBody>
          <a:bodyPr/>
          <a:lstStyle/>
          <a:p>
            <a:pPr>
              <a:defRPr/>
            </a:pPr>
            <a:endParaRPr lang="en-US">
              <a:effectLst>
                <a:outerShdw blurRad="38100" dist="38100" dir="2700000" algn="tl">
                  <a:srgbClr val="000000">
                    <a:alpha val="43137"/>
                  </a:srgbClr>
                </a:outerShdw>
              </a:effectLst>
            </a:endParaRPr>
          </a:p>
        </p:txBody>
      </p:sp>
      <p:sp>
        <p:nvSpPr>
          <p:cNvPr id="17421" name="AutoShape 42"/>
          <p:cNvSpPr>
            <a:spLocks noChangeArrowheads="1"/>
          </p:cNvSpPr>
          <p:nvPr/>
        </p:nvSpPr>
        <p:spPr bwMode="auto">
          <a:xfrm>
            <a:off x="5867400" y="1905000"/>
            <a:ext cx="1600200" cy="381000"/>
          </a:xfrm>
          <a:prstGeom prst="flowChartPunchedCard">
            <a:avLst/>
          </a:prstGeom>
          <a:solidFill>
            <a:schemeClr val="accent2"/>
          </a:solidFill>
          <a:ln w="12700">
            <a:solidFill>
              <a:schemeClr val="tx1"/>
            </a:solidFill>
            <a:miter lim="800000"/>
            <a:headEnd type="none" w="sm" len="sm"/>
            <a:tailEnd type="none" w="sm" len="sm"/>
          </a:ln>
        </p:spPr>
        <p:txBody>
          <a:bodyPr wrap="none" anchor="ctr"/>
          <a:lstStyle/>
          <a:p>
            <a:pPr algn="ctr"/>
            <a:r>
              <a:rPr lang="en-US" sz="1800">
                <a:latin typeface="Arial Narrow" pitchFamily="34" charset="0"/>
              </a:rPr>
              <a:t>Advanced Tab</a:t>
            </a:r>
          </a:p>
        </p:txBody>
      </p:sp>
      <p:sp>
        <p:nvSpPr>
          <p:cNvPr id="18" name="Leading Question"/>
          <p:cNvSpPr txBox="1"/>
          <p:nvPr/>
        </p:nvSpPr>
        <p:spPr>
          <a:xfrm>
            <a:off x="6599231" y="6544880"/>
            <a:ext cx="2030428" cy="221599"/>
          </a:xfrm>
          <a:prstGeom prst="rect">
            <a:avLst/>
          </a:prstGeom>
          <a:noFill/>
        </p:spPr>
        <p:txBody>
          <a:bodyPr vert="horz" wrap="none" lIns="0" tIns="0" rIns="0" bIns="0" rtlCol="0" anchor="b" anchorCtr="0">
            <a:spAutoFit/>
          </a:bodyPr>
          <a:lstStyle/>
          <a:p>
            <a:pPr algn="r">
              <a:spcBef>
                <a:spcPct val="0"/>
              </a:spcBef>
            </a:pPr>
            <a:r>
              <a:rPr lang="en-US" sz="1800" b="0" smtClean="0">
                <a:solidFill>
                  <a:schemeClr val="tx2"/>
                </a:solidFill>
                <a:latin typeface="+mj-lt"/>
              </a:rPr>
              <a:t>More on GEL files...</a:t>
            </a:r>
          </a:p>
        </p:txBody>
      </p:sp>
      <p:sp>
        <p:nvSpPr>
          <p:cNvPr id="1227814" name="Rectangle 38"/>
          <p:cNvSpPr>
            <a:spLocks noChangeArrowheads="1"/>
          </p:cNvSpPr>
          <p:nvPr/>
        </p:nvSpPr>
        <p:spPr bwMode="auto">
          <a:xfrm>
            <a:off x="492825" y="3180744"/>
            <a:ext cx="3458462" cy="304800"/>
          </a:xfrm>
          <a:prstGeom prst="rect">
            <a:avLst/>
          </a:prstGeom>
          <a:noFill/>
          <a:ln w="38100">
            <a:solidFill>
              <a:srgbClr val="FF0000"/>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227813" name="Rectangle 37"/>
          <p:cNvSpPr>
            <a:spLocks noChangeArrowheads="1"/>
          </p:cNvSpPr>
          <p:nvPr/>
        </p:nvSpPr>
        <p:spPr bwMode="auto">
          <a:xfrm>
            <a:off x="1530925" y="3835462"/>
            <a:ext cx="1905000" cy="304800"/>
          </a:xfrm>
          <a:prstGeom prst="rect">
            <a:avLst/>
          </a:prstGeom>
          <a:noFill/>
          <a:ln w="38100">
            <a:solidFill>
              <a:srgbClr val="FF0000"/>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227824" name="AutoShape 48"/>
          <p:cNvSpPr>
            <a:spLocks noChangeArrowheads="1"/>
          </p:cNvSpPr>
          <p:nvPr/>
        </p:nvSpPr>
        <p:spPr bwMode="auto">
          <a:xfrm rot="5400000">
            <a:off x="847323" y="5848377"/>
            <a:ext cx="500304" cy="304800"/>
          </a:xfrm>
          <a:prstGeom prst="leftArrow">
            <a:avLst>
              <a:gd name="adj1" fmla="val 50000"/>
              <a:gd name="adj2" fmla="val 56250"/>
            </a:avLst>
          </a:prstGeom>
          <a:solidFill>
            <a:schemeClr val="tx2"/>
          </a:solidFill>
          <a:ln w="12700">
            <a:solidFill>
              <a:schemeClr val="tx2"/>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17417" name="Text Box 34"/>
          <p:cNvSpPr txBox="1">
            <a:spLocks noChangeArrowheads="1"/>
          </p:cNvSpPr>
          <p:nvPr/>
        </p:nvSpPr>
        <p:spPr bwMode="auto">
          <a:xfrm>
            <a:off x="5903025" y="4953000"/>
            <a:ext cx="2783775" cy="313932"/>
          </a:xfrm>
          <a:prstGeom prst="rect">
            <a:avLst/>
          </a:prstGeom>
          <a:solidFill>
            <a:schemeClr val="accent5">
              <a:lumMod val="40000"/>
              <a:lumOff val="60000"/>
            </a:schemeClr>
          </a:solidFill>
          <a:ln w="12700">
            <a:solidFill>
              <a:schemeClr val="tx1"/>
            </a:solidFill>
            <a:miter lim="800000"/>
            <a:headEnd type="none" w="sm" len="sm"/>
            <a:tailEnd type="none" w="sm" len="sm"/>
          </a:ln>
        </p:spPr>
        <p:txBody>
          <a:bodyPr wrap="none">
            <a:spAutoFit/>
          </a:bodyPr>
          <a:lstStyle/>
          <a:p>
            <a:r>
              <a:rPr lang="en-US" sz="1800"/>
              <a:t>Specify GEL script here</a:t>
            </a:r>
          </a:p>
        </p:txBody>
      </p:sp>
      <p:cxnSp>
        <p:nvCxnSpPr>
          <p:cNvPr id="20" name="Straight Arrow Connector 19"/>
          <p:cNvCxnSpPr/>
          <p:nvPr/>
        </p:nvCxnSpPr>
        <p:spPr bwMode="auto">
          <a:xfrm flipH="1">
            <a:off x="6321164" y="5240976"/>
            <a:ext cx="621674" cy="685800"/>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spTree>
    <p:custDataLst>
      <p:tags r:id="rId1"/>
    </p:custDataLst>
    <p:extLst>
      <p:ext uri="{BB962C8B-B14F-4D97-AF65-F5344CB8AC3E}">
        <p14:creationId xmlns:p14="http://schemas.microsoft.com/office/powerpoint/2010/main" val="990856096"/>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chemeClr val="accent2"/>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sz="3200" smtClean="0"/>
              <a:t>What is a GEL File ?</a:t>
            </a:r>
          </a:p>
        </p:txBody>
      </p:sp>
      <p:sp>
        <p:nvSpPr>
          <p:cNvPr id="17411" name="Text Box 25"/>
          <p:cNvSpPr txBox="1">
            <a:spLocks noChangeArrowheads="1"/>
          </p:cNvSpPr>
          <p:nvPr/>
        </p:nvSpPr>
        <p:spPr bwMode="auto">
          <a:xfrm>
            <a:off x="228600" y="590550"/>
            <a:ext cx="8934450" cy="1243417"/>
          </a:xfrm>
          <a:prstGeom prst="rect">
            <a:avLst/>
          </a:prstGeom>
          <a:noFill/>
          <a:ln w="12700">
            <a:noFill/>
            <a:miter lim="800000"/>
            <a:headEnd type="none" w="sm" len="sm"/>
            <a:tailEnd type="none" w="sm" len="sm"/>
          </a:ln>
        </p:spPr>
        <p:txBody>
          <a:bodyPr wrap="square">
            <a:spAutoFit/>
          </a:bodyPr>
          <a:lstStyle/>
          <a:p>
            <a:pPr marL="342900" indent="-342900">
              <a:lnSpc>
                <a:spcPct val="90000"/>
              </a:lnSpc>
              <a:spcBef>
                <a:spcPts val="1200"/>
              </a:spcBef>
              <a:buClr>
                <a:schemeClr val="tx2"/>
              </a:buClr>
              <a:buSzPct val="75000"/>
              <a:buFont typeface="Wingdings" pitchFamily="2" charset="2"/>
              <a:buChar char=""/>
            </a:pPr>
            <a:r>
              <a:rPr lang="en-US" smtClean="0">
                <a:latin typeface="Calibri" pitchFamily="34" charset="0"/>
                <a:cs typeface="Calibri" pitchFamily="34" charset="0"/>
              </a:rPr>
              <a:t>GEL – General Extension Language  </a:t>
            </a:r>
            <a:r>
              <a:rPr lang="en-US" sz="1800" b="0" i="1" smtClean="0">
                <a:latin typeface="Calibri" pitchFamily="34" charset="0"/>
                <a:cs typeface="Calibri" pitchFamily="34" charset="0"/>
              </a:rPr>
              <a:t>(not much help, but there you go…)</a:t>
            </a:r>
            <a:endParaRPr lang="en-US" b="0" i="1" smtClean="0">
              <a:latin typeface="Calibri" pitchFamily="34" charset="0"/>
              <a:cs typeface="Calibri" pitchFamily="34" charset="0"/>
            </a:endParaRPr>
          </a:p>
          <a:p>
            <a:pPr marL="342900" indent="-342900">
              <a:lnSpc>
                <a:spcPct val="90000"/>
              </a:lnSpc>
              <a:spcBef>
                <a:spcPts val="1200"/>
              </a:spcBef>
              <a:buClr>
                <a:schemeClr val="tx2"/>
              </a:buClr>
              <a:buSzPct val="75000"/>
              <a:buFont typeface="Wingdings" pitchFamily="2" charset="2"/>
              <a:buChar char=""/>
            </a:pPr>
            <a:r>
              <a:rPr lang="en-US" smtClean="0">
                <a:latin typeface="Calibri" pitchFamily="34" charset="0"/>
                <a:cs typeface="Calibri" pitchFamily="34" charset="0"/>
              </a:rPr>
              <a:t>A GEL file is basically a “batch file” that sets up the CCS debug</a:t>
            </a:r>
            <a:br>
              <a:rPr lang="en-US" smtClean="0">
                <a:latin typeface="Calibri" pitchFamily="34" charset="0"/>
                <a:cs typeface="Calibri" pitchFamily="34" charset="0"/>
              </a:rPr>
            </a:br>
            <a:r>
              <a:rPr lang="en-US" smtClean="0">
                <a:latin typeface="Calibri" pitchFamily="34" charset="0"/>
                <a:cs typeface="Calibri" pitchFamily="34" charset="0"/>
              </a:rPr>
              <a:t>environment including:</a:t>
            </a:r>
            <a:endParaRPr lang="en-US">
              <a:latin typeface="Calibri" pitchFamily="34" charset="0"/>
              <a:cs typeface="Calibri" pitchFamily="34" charset="0"/>
            </a:endParaRPr>
          </a:p>
        </p:txBody>
      </p:sp>
      <p:sp>
        <p:nvSpPr>
          <p:cNvPr id="17" name="TextBox 16"/>
          <p:cNvSpPr txBox="1"/>
          <p:nvPr/>
        </p:nvSpPr>
        <p:spPr>
          <a:xfrm>
            <a:off x="937807" y="2355433"/>
            <a:ext cx="2110193" cy="1835567"/>
          </a:xfrm>
          <a:prstGeom prst="rect">
            <a:avLst/>
          </a:prstGeom>
          <a:noFill/>
        </p:spPr>
        <p:txBody>
          <a:bodyPr wrap="none" rtlCol="0" anchor="ctr" anchorCtr="0">
            <a:spAutoFit/>
          </a:bodyPr>
          <a:lstStyle/>
          <a:p>
            <a:pPr marL="177800" indent="-177800">
              <a:buFont typeface="Arial" pitchFamily="34" charset="0"/>
              <a:buChar char="•"/>
            </a:pPr>
            <a:r>
              <a:rPr lang="en-US" i="1" smtClean="0">
                <a:solidFill>
                  <a:schemeClr val="tx2"/>
                </a:solidFill>
                <a:latin typeface="Calibri" pitchFamily="34" charset="0"/>
                <a:cs typeface="Calibri" pitchFamily="34" charset="0"/>
              </a:rPr>
              <a:t>Memory Map</a:t>
            </a:r>
          </a:p>
          <a:p>
            <a:pPr marL="177800" indent="-177800">
              <a:buFont typeface="Arial" pitchFamily="34" charset="0"/>
              <a:buChar char="•"/>
            </a:pPr>
            <a:r>
              <a:rPr lang="en-US" i="1" smtClean="0">
                <a:solidFill>
                  <a:schemeClr val="tx2"/>
                </a:solidFill>
                <a:latin typeface="Calibri" pitchFamily="34" charset="0"/>
                <a:cs typeface="Calibri" pitchFamily="34" charset="0"/>
              </a:rPr>
              <a:t>Watchdog</a:t>
            </a:r>
          </a:p>
          <a:p>
            <a:pPr marL="177800" indent="-177800">
              <a:buFont typeface="Arial" pitchFamily="34" charset="0"/>
              <a:buChar char="•"/>
            </a:pPr>
            <a:r>
              <a:rPr lang="en-US" i="1" smtClean="0">
                <a:solidFill>
                  <a:schemeClr val="tx2"/>
                </a:solidFill>
                <a:latin typeface="Calibri" pitchFamily="34" charset="0"/>
                <a:cs typeface="Calibri" pitchFamily="34" charset="0"/>
              </a:rPr>
              <a:t>UART</a:t>
            </a:r>
          </a:p>
          <a:p>
            <a:pPr marL="177800" indent="-177800">
              <a:buFont typeface="Arial" pitchFamily="34" charset="0"/>
              <a:buChar char="•"/>
            </a:pPr>
            <a:r>
              <a:rPr lang="en-US" i="1" smtClean="0">
                <a:solidFill>
                  <a:schemeClr val="tx2"/>
                </a:solidFill>
                <a:latin typeface="Calibri" pitchFamily="34" charset="0"/>
                <a:cs typeface="Calibri" pitchFamily="34" charset="0"/>
              </a:rPr>
              <a:t>Other periphs</a:t>
            </a:r>
          </a:p>
        </p:txBody>
      </p:sp>
      <p:sp>
        <p:nvSpPr>
          <p:cNvPr id="18" name="Text Box 25"/>
          <p:cNvSpPr txBox="1">
            <a:spLocks noChangeArrowheads="1"/>
          </p:cNvSpPr>
          <p:nvPr/>
        </p:nvSpPr>
        <p:spPr bwMode="auto">
          <a:xfrm>
            <a:off x="228600" y="5081400"/>
            <a:ext cx="8934450" cy="1575816"/>
          </a:xfrm>
          <a:prstGeom prst="rect">
            <a:avLst/>
          </a:prstGeom>
          <a:noFill/>
          <a:ln w="12700">
            <a:noFill/>
            <a:miter lim="800000"/>
            <a:headEnd type="none" w="sm" len="sm"/>
            <a:tailEnd type="none" w="sm" len="sm"/>
          </a:ln>
        </p:spPr>
        <p:txBody>
          <a:bodyPr wrap="square">
            <a:spAutoFit/>
          </a:bodyPr>
          <a:lstStyle/>
          <a:p>
            <a:pPr marL="342900" indent="-342900">
              <a:lnSpc>
                <a:spcPct val="90000"/>
              </a:lnSpc>
              <a:spcBef>
                <a:spcPts val="1200"/>
              </a:spcBef>
              <a:buClr>
                <a:schemeClr val="tx2"/>
              </a:buClr>
              <a:buSzPct val="75000"/>
              <a:buFont typeface="Wingdings" pitchFamily="2" charset="2"/>
              <a:buChar char=""/>
            </a:pPr>
            <a:r>
              <a:rPr lang="en-US" smtClean="0">
                <a:latin typeface="Calibri" pitchFamily="34" charset="0"/>
                <a:cs typeface="Calibri" pitchFamily="34" charset="0"/>
              </a:rPr>
              <a:t>The board manufacturer (e.g. SD or </a:t>
            </a:r>
            <a:r>
              <a:rPr lang="en-US" err="1" smtClean="0">
                <a:latin typeface="Calibri" pitchFamily="34" charset="0"/>
                <a:cs typeface="Calibri" pitchFamily="34" charset="0"/>
              </a:rPr>
              <a:t>LogicPD</a:t>
            </a:r>
            <a:r>
              <a:rPr lang="en-US" smtClean="0">
                <a:latin typeface="Calibri" pitchFamily="34" charset="0"/>
                <a:cs typeface="Calibri" pitchFamily="34" charset="0"/>
              </a:rPr>
              <a:t>) supplies GEL files</a:t>
            </a:r>
            <a:br>
              <a:rPr lang="en-US" smtClean="0">
                <a:latin typeface="Calibri" pitchFamily="34" charset="0"/>
                <a:cs typeface="Calibri" pitchFamily="34" charset="0"/>
              </a:rPr>
            </a:br>
            <a:r>
              <a:rPr lang="en-US" smtClean="0">
                <a:latin typeface="Calibri" pitchFamily="34" charset="0"/>
                <a:cs typeface="Calibri" pitchFamily="34" charset="0"/>
              </a:rPr>
              <a:t>with each board.</a:t>
            </a:r>
          </a:p>
          <a:p>
            <a:pPr marL="342900" indent="-342900">
              <a:lnSpc>
                <a:spcPct val="90000"/>
              </a:lnSpc>
              <a:spcBef>
                <a:spcPts val="1200"/>
              </a:spcBef>
              <a:buClr>
                <a:schemeClr val="tx2"/>
              </a:buClr>
              <a:buSzPct val="75000"/>
              <a:buFont typeface="Wingdings" pitchFamily="2" charset="2"/>
              <a:buChar char=""/>
            </a:pPr>
            <a:r>
              <a:rPr lang="en-US" smtClean="0">
                <a:latin typeface="Calibri" pitchFamily="34" charset="0"/>
                <a:cs typeface="Calibri" pitchFamily="34" charset="0"/>
              </a:rPr>
              <a:t>To create a “stand-alone” or “bootable” system, the user must</a:t>
            </a:r>
            <a:br>
              <a:rPr lang="en-US" smtClean="0">
                <a:latin typeface="Calibri" pitchFamily="34" charset="0"/>
                <a:cs typeface="Calibri" pitchFamily="34" charset="0"/>
              </a:rPr>
            </a:br>
            <a:r>
              <a:rPr lang="en-US" smtClean="0">
                <a:latin typeface="Calibri" pitchFamily="34" charset="0"/>
                <a:cs typeface="Calibri" pitchFamily="34" charset="0"/>
              </a:rPr>
              <a:t>write code to perform these actions </a:t>
            </a:r>
            <a:r>
              <a:rPr lang="en-US" sz="1800" b="0" i="1" smtClean="0">
                <a:latin typeface="Calibri" pitchFamily="34" charset="0"/>
                <a:cs typeface="Calibri" pitchFamily="34" charset="0"/>
              </a:rPr>
              <a:t>(optional chapter covers these details)</a:t>
            </a:r>
            <a:endParaRPr lang="en-US" sz="1800" b="0" i="1">
              <a:latin typeface="Calibri" pitchFamily="34" charset="0"/>
              <a:cs typeface="Calibri" pitchFamily="34"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1606852"/>
            <a:ext cx="4445000" cy="3385197"/>
          </a:xfrm>
          <a:prstGeom prst="rect">
            <a:avLst/>
          </a:prstGeom>
          <a:noFill/>
          <a:ln w="9525">
            <a:solidFill>
              <a:schemeClr val="tx1"/>
            </a:solidFill>
            <a:miter lim="800000"/>
            <a:headEnd/>
            <a:tailEnd/>
          </a:ln>
          <a:effectLst>
            <a:outerShdw blurRad="50800" dist="76200" dir="2700000" algn="ctr" rotWithShape="0">
              <a:schemeClr val="tx1">
                <a:alpha val="48000"/>
              </a:schemeClr>
            </a:outerShdw>
          </a:effectLst>
          <a:extLst>
            <a:ext uri="{909E8E84-426E-40DD-AFC4-6F175D3DCCD1}">
              <a14:hiddenFill xmlns:a14="http://schemas.microsoft.com/office/drawing/2010/main">
                <a:solidFill>
                  <a:schemeClr val="accent1"/>
                </a:solidFill>
              </a14:hiddenFill>
            </a:ext>
          </a:extLst>
        </p:spPr>
      </p:pic>
    </p:spTree>
    <p:custDataLst>
      <p:tags r:id="rId1"/>
    </p:custData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sz="3200" smtClean="0"/>
              <a:t>JTAG Emulators</a:t>
            </a:r>
          </a:p>
        </p:txBody>
      </p:sp>
      <p:sp>
        <p:nvSpPr>
          <p:cNvPr id="36" name="Rectangle 35"/>
          <p:cNvSpPr/>
          <p:nvPr/>
        </p:nvSpPr>
        <p:spPr>
          <a:xfrm>
            <a:off x="4800600" y="838200"/>
            <a:ext cx="3962400" cy="2590800"/>
          </a:xfrm>
          <a:prstGeom prst="rect">
            <a:avLst/>
          </a:prstGeom>
          <a:noFill/>
          <a:ln w="34925">
            <a:solidFill>
              <a:srgbClr val="808080"/>
            </a:solidFill>
          </a:ln>
          <a:effectLst/>
        </p:spPr>
        <p:txBody>
          <a:bodyPr spcFirstLastPara="0" vert="horz" wrap="square" lIns="91440" tIns="91440" rIns="91440" bIns="91440" numCol="1" spcCol="1270" anchor="t" anchorCtr="0">
            <a:noAutofit/>
          </a:bodyPr>
          <a:lstStyle/>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Excellent balance of performance and cost</a:t>
            </a: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USB interface (Ethernet version available)</a:t>
            </a: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20pin TI, 14pin TI, 20pin ARM and 10pin ARM connectors</a:t>
            </a: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$295</a:t>
            </a: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p:txBody>
      </p:sp>
      <p:sp>
        <p:nvSpPr>
          <p:cNvPr id="37" name="Rectangle 36"/>
          <p:cNvSpPr/>
          <p:nvPr/>
        </p:nvSpPr>
        <p:spPr>
          <a:xfrm>
            <a:off x="381000" y="838200"/>
            <a:ext cx="3962400" cy="2590800"/>
          </a:xfrm>
          <a:prstGeom prst="rect">
            <a:avLst/>
          </a:prstGeom>
          <a:noFill/>
          <a:ln w="34925">
            <a:solidFill>
              <a:srgbClr val="808080"/>
            </a:solidFill>
          </a:ln>
          <a:effectLst/>
        </p:spPr>
        <p:txBody>
          <a:bodyPr spcFirstLastPara="0" vert="horz" wrap="square" lIns="91440" tIns="91440" rIns="91440" bIns="91440" numCol="1" spcCol="1270" anchor="t" anchorCtr="0">
            <a:noAutofit/>
          </a:bodyPr>
          <a:lstStyle/>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Entry level JTAG emulator</a:t>
            </a: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USB interface</a:t>
            </a: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3 models based on JTAG headers (14pin TI, 20pin TI, 20/10pin ARM)</a:t>
            </a: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$79</a:t>
            </a: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p:txBody>
      </p:sp>
      <p:pic>
        <p:nvPicPr>
          <p:cNvPr id="38" name="Picture 37" descr="tmdsemu100v2u-14t_t.jpg"/>
          <p:cNvPicPr>
            <a:picLocks noChangeAspect="1"/>
          </p:cNvPicPr>
          <p:nvPr/>
        </p:nvPicPr>
        <p:blipFill>
          <a:blip r:embed="rId3" cstate="print"/>
          <a:stretch>
            <a:fillRect/>
          </a:stretch>
        </p:blipFill>
        <p:spPr>
          <a:xfrm>
            <a:off x="1972102" y="1371600"/>
            <a:ext cx="1837898" cy="1026160"/>
          </a:xfrm>
          <a:prstGeom prst="rect">
            <a:avLst/>
          </a:prstGeom>
        </p:spPr>
      </p:pic>
      <p:sp>
        <p:nvSpPr>
          <p:cNvPr id="39" name="Rounded Rectangle 38"/>
          <p:cNvSpPr/>
          <p:nvPr/>
        </p:nvSpPr>
        <p:spPr>
          <a:xfrm>
            <a:off x="457199" y="914399"/>
            <a:ext cx="3753853" cy="442800"/>
          </a:xfrm>
          <a:prstGeom prst="roundRect">
            <a:avLst/>
          </a:prstGeom>
          <a:solidFill>
            <a:srgbClr val="FF0000"/>
          </a:solidFill>
          <a:ln w="25400" cap="flat" cmpd="sng" algn="ctr">
            <a:solidFill>
              <a:srgbClr val="FFFFFF">
                <a:hueOff val="0"/>
                <a:satOff val="0"/>
                <a:lumOff val="0"/>
                <a:alphaOff val="0"/>
              </a:srgbClr>
            </a:solidFill>
            <a:prstDash val="solid"/>
          </a:ln>
          <a:effectLst/>
        </p:spPr>
        <p:txBody>
          <a:bodyPr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smtClean="0">
                <a:ln>
                  <a:noFill/>
                </a:ln>
                <a:solidFill>
                  <a:srgbClr val="FFFFFF"/>
                </a:solidFill>
                <a:effectLst/>
                <a:uLnTx/>
                <a:uFillTx/>
                <a:latin typeface="Arial Black" pitchFamily="34" charset="0"/>
                <a:ea typeface="+mn-ea"/>
                <a:cs typeface="Aharoni" pitchFamily="2" charset="-79"/>
              </a:rPr>
              <a:t>XDS100v2</a:t>
            </a:r>
            <a:endParaRPr kumimoji="0" lang="en-US" sz="1400" b="0" i="0" u="none" strike="noStrike" kern="0" cap="none" spc="0" normalizeH="0" baseline="0" noProof="0" dirty="0">
              <a:ln>
                <a:noFill/>
              </a:ln>
              <a:solidFill>
                <a:srgbClr val="FFFFFF"/>
              </a:solidFill>
              <a:effectLst/>
              <a:uLnTx/>
              <a:uFillTx/>
              <a:latin typeface="Arial Black" pitchFamily="34" charset="0"/>
              <a:ea typeface="+mn-ea"/>
              <a:cs typeface="Aharoni" pitchFamily="2" charset="-79"/>
            </a:endParaRPr>
          </a:p>
        </p:txBody>
      </p:sp>
      <p:pic>
        <p:nvPicPr>
          <p:cNvPr id="40" name="Picture 39" descr="BH_USB100v2.jpg"/>
          <p:cNvPicPr>
            <a:picLocks noChangeAspect="1"/>
          </p:cNvPicPr>
          <p:nvPr/>
        </p:nvPicPr>
        <p:blipFill>
          <a:blip r:embed="rId4" cstate="print"/>
          <a:stretch>
            <a:fillRect/>
          </a:stretch>
        </p:blipFill>
        <p:spPr>
          <a:xfrm>
            <a:off x="593314" y="1524000"/>
            <a:ext cx="930686" cy="609600"/>
          </a:xfrm>
          <a:prstGeom prst="rect">
            <a:avLst/>
          </a:prstGeom>
        </p:spPr>
      </p:pic>
      <p:sp>
        <p:nvSpPr>
          <p:cNvPr id="41" name="Rounded Rectangle 40"/>
          <p:cNvSpPr/>
          <p:nvPr/>
        </p:nvSpPr>
        <p:spPr>
          <a:xfrm>
            <a:off x="4876799" y="914399"/>
            <a:ext cx="3753853" cy="442800"/>
          </a:xfrm>
          <a:prstGeom prst="roundRect">
            <a:avLst/>
          </a:prstGeom>
          <a:solidFill>
            <a:srgbClr val="FF0000"/>
          </a:solidFill>
          <a:ln w="25400" cap="flat" cmpd="sng" algn="ctr">
            <a:solidFill>
              <a:srgbClr val="FFFFFF">
                <a:hueOff val="0"/>
                <a:satOff val="0"/>
                <a:lumOff val="0"/>
                <a:alphaOff val="0"/>
              </a:srgbClr>
            </a:solidFill>
            <a:prstDash val="solid"/>
          </a:ln>
          <a:effectLst/>
        </p:spPr>
        <p:txBody>
          <a:bodyPr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smtClean="0">
                <a:ln>
                  <a:noFill/>
                </a:ln>
                <a:solidFill>
                  <a:srgbClr val="FFFFFF"/>
                </a:solidFill>
                <a:effectLst/>
                <a:uLnTx/>
                <a:uFillTx/>
                <a:latin typeface="Arial Black" pitchFamily="34" charset="0"/>
                <a:ea typeface="+mn-ea"/>
                <a:cs typeface="Aharoni" pitchFamily="2" charset="-79"/>
              </a:rPr>
              <a:t>XDS200</a:t>
            </a:r>
            <a:endParaRPr kumimoji="0" lang="en-US" sz="1400" b="0" i="0" u="none" strike="noStrike" kern="0" cap="none" spc="0" normalizeH="0" baseline="0" noProof="0" dirty="0">
              <a:ln>
                <a:noFill/>
              </a:ln>
              <a:solidFill>
                <a:srgbClr val="FFFFFF"/>
              </a:solidFill>
              <a:effectLst/>
              <a:uLnTx/>
              <a:uFillTx/>
              <a:latin typeface="Arial Black" pitchFamily="34" charset="0"/>
              <a:ea typeface="+mn-ea"/>
              <a:cs typeface="Aharoni" pitchFamily="2" charset="-79"/>
            </a:endParaRPr>
          </a:p>
        </p:txBody>
      </p:sp>
      <p:sp>
        <p:nvSpPr>
          <p:cNvPr id="42" name="Rectangle 41"/>
          <p:cNvSpPr/>
          <p:nvPr/>
        </p:nvSpPr>
        <p:spPr>
          <a:xfrm>
            <a:off x="383696" y="3505200"/>
            <a:ext cx="3959704" cy="2590800"/>
          </a:xfrm>
          <a:prstGeom prst="rect">
            <a:avLst/>
          </a:prstGeom>
          <a:noFill/>
          <a:ln w="34925">
            <a:solidFill>
              <a:srgbClr val="808080"/>
            </a:solidFill>
          </a:ln>
          <a:effectLst/>
        </p:spPr>
        <p:txBody>
          <a:bodyPr spcFirstLastPara="0" vert="horz" wrap="square" lIns="91440" tIns="91440" rIns="91440" bIns="91440" numCol="1" spcCol="1270" anchor="t" anchorCtr="0">
            <a:noAutofit/>
          </a:bodyPr>
          <a:lstStyle/>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High performance JTAG emulator</a:t>
            </a: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USB or USB + Ethernet interfaces</a:t>
            </a: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Includes multiple JTAG adapters (14pin TI, 20pin TI, 20pin ARM, 60pin MIPI, some include 60pin TI)</a:t>
            </a: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System Trace</a:t>
            </a: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$995 - $1495</a:t>
            </a:r>
          </a:p>
        </p:txBody>
      </p:sp>
      <p:sp>
        <p:nvSpPr>
          <p:cNvPr id="43" name="Rectangle 42"/>
          <p:cNvSpPr/>
          <p:nvPr/>
        </p:nvSpPr>
        <p:spPr>
          <a:xfrm>
            <a:off x="4803296" y="3505200"/>
            <a:ext cx="3959704" cy="2590800"/>
          </a:xfrm>
          <a:prstGeom prst="rect">
            <a:avLst/>
          </a:prstGeom>
          <a:noFill/>
          <a:ln w="34925">
            <a:solidFill>
              <a:srgbClr val="808080"/>
            </a:solidFill>
          </a:ln>
          <a:effectLst/>
        </p:spPr>
        <p:txBody>
          <a:bodyPr spcFirstLastPara="0" vert="horz" wrap="square" lIns="91440" tIns="91440" rIns="91440" bIns="91440" numCol="1" spcCol="1270" anchor="t" anchorCtr="0">
            <a:noAutofit/>
          </a:bodyPr>
          <a:lstStyle/>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Trace Receiver &amp; XDS560v2 JTAG emulator</a:t>
            </a: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USB + Ethernet interfaces</a:t>
            </a: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MIPI60 and 60pin TI adapters</a:t>
            </a: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DSP &amp; </a:t>
            </a:r>
            <a:r>
              <a:rPr kumimoji="0" lang="en-CA" sz="1200" b="0" i="0" u="none" strike="noStrike" kern="0" cap="none" spc="0" normalizeH="0" baseline="0" noProof="0" smtClean="0">
                <a:ln>
                  <a:noFill/>
                </a:ln>
                <a:solidFill>
                  <a:prstClr val="black">
                    <a:hueOff val="0"/>
                    <a:satOff val="0"/>
                    <a:lumOff val="0"/>
                    <a:alphaOff val="0"/>
                  </a:prstClr>
                </a:solidFill>
                <a:effectLst/>
                <a:uLnTx/>
                <a:uFillTx/>
                <a:latin typeface="Arial"/>
                <a:ea typeface="+mn-ea"/>
                <a:cs typeface="+mn-cs"/>
              </a:rPr>
              <a:t>ARM Trace to pins</a:t>
            </a: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System Trace</a:t>
            </a: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$3495</a:t>
            </a:r>
          </a:p>
        </p:txBody>
      </p:sp>
      <p:pic>
        <p:nvPicPr>
          <p:cNvPr id="44" name="Picture 43" descr="USB560v2+ADP_angle.jpg"/>
          <p:cNvPicPr>
            <a:picLocks noChangeAspect="1"/>
          </p:cNvPicPr>
          <p:nvPr/>
        </p:nvPicPr>
        <p:blipFill>
          <a:blip r:embed="rId5" cstate="print"/>
          <a:stretch>
            <a:fillRect/>
          </a:stretch>
        </p:blipFill>
        <p:spPr>
          <a:xfrm>
            <a:off x="1295400" y="4212791"/>
            <a:ext cx="1055883" cy="587809"/>
          </a:xfrm>
          <a:prstGeom prst="rect">
            <a:avLst/>
          </a:prstGeom>
        </p:spPr>
      </p:pic>
      <p:sp>
        <p:nvSpPr>
          <p:cNvPr id="45" name="Rounded Rectangle 44"/>
          <p:cNvSpPr/>
          <p:nvPr/>
        </p:nvSpPr>
        <p:spPr>
          <a:xfrm>
            <a:off x="457200" y="3592460"/>
            <a:ext cx="3754794" cy="442800"/>
          </a:xfrm>
          <a:prstGeom prst="roundRect">
            <a:avLst/>
          </a:prstGeom>
          <a:solidFill>
            <a:srgbClr val="FF0000"/>
          </a:solidFill>
          <a:ln w="25400" cap="flat" cmpd="sng" algn="ctr">
            <a:solidFill>
              <a:srgbClr val="FFFFFF">
                <a:hueOff val="0"/>
                <a:satOff val="0"/>
                <a:lumOff val="0"/>
                <a:alphaOff val="0"/>
              </a:srgbClr>
            </a:solidFill>
            <a:prstDash val="solid"/>
          </a:ln>
          <a:effectLst/>
        </p:spPr>
        <p:txBody>
          <a:bodyPr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smtClean="0">
                <a:ln>
                  <a:noFill/>
                </a:ln>
                <a:solidFill>
                  <a:srgbClr val="FFFFFF"/>
                </a:solidFill>
                <a:effectLst/>
                <a:uLnTx/>
                <a:uFillTx/>
                <a:latin typeface="Arial Black" pitchFamily="34" charset="0"/>
                <a:ea typeface="+mn-ea"/>
                <a:cs typeface="Aharoni" pitchFamily="2" charset="-79"/>
              </a:rPr>
              <a:t>XDS560v2</a:t>
            </a:r>
            <a:endParaRPr kumimoji="0" lang="en-US" sz="1400" b="0" i="0" u="none" strike="noStrike" kern="0" cap="none" spc="0" normalizeH="0" baseline="0" noProof="0" dirty="0">
              <a:ln>
                <a:noFill/>
              </a:ln>
              <a:solidFill>
                <a:srgbClr val="FFFFFF"/>
              </a:solidFill>
              <a:effectLst/>
              <a:uLnTx/>
              <a:uFillTx/>
              <a:latin typeface="Arial Black" pitchFamily="34" charset="0"/>
              <a:ea typeface="+mn-ea"/>
              <a:cs typeface="Aharoni" pitchFamily="2" charset="-79"/>
            </a:endParaRPr>
          </a:p>
        </p:txBody>
      </p:sp>
      <p:sp>
        <p:nvSpPr>
          <p:cNvPr id="46" name="Rounded Rectangle 45"/>
          <p:cNvSpPr/>
          <p:nvPr/>
        </p:nvSpPr>
        <p:spPr>
          <a:xfrm>
            <a:off x="4876800" y="3592460"/>
            <a:ext cx="3754794" cy="442800"/>
          </a:xfrm>
          <a:prstGeom prst="roundRect">
            <a:avLst/>
          </a:prstGeom>
          <a:solidFill>
            <a:srgbClr val="FF0000"/>
          </a:solidFill>
          <a:ln w="25400" cap="flat" cmpd="sng" algn="ctr">
            <a:solidFill>
              <a:srgbClr val="FFFFFF">
                <a:hueOff val="0"/>
                <a:satOff val="0"/>
                <a:lumOff val="0"/>
                <a:alphaOff val="0"/>
              </a:srgbClr>
            </a:solidFill>
            <a:prstDash val="solid"/>
          </a:ln>
          <a:effectLst/>
        </p:spPr>
        <p:txBody>
          <a:bodyPr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smtClean="0">
                <a:ln>
                  <a:noFill/>
                </a:ln>
                <a:solidFill>
                  <a:srgbClr val="FFFFFF"/>
                </a:solidFill>
                <a:effectLst/>
                <a:uLnTx/>
                <a:uFillTx/>
                <a:latin typeface="Arial Black" pitchFamily="34" charset="0"/>
                <a:ea typeface="+mn-ea"/>
                <a:cs typeface="Aharoni" pitchFamily="2" charset="-79"/>
              </a:rPr>
              <a:t>Pro Trace</a:t>
            </a:r>
            <a:endParaRPr kumimoji="0" lang="en-US" sz="1400" b="0" i="0" u="none" strike="noStrike" kern="0" cap="none" spc="0" normalizeH="0" baseline="0" noProof="0" dirty="0">
              <a:ln>
                <a:noFill/>
              </a:ln>
              <a:solidFill>
                <a:srgbClr val="FFFFFF"/>
              </a:solidFill>
              <a:effectLst/>
              <a:uLnTx/>
              <a:uFillTx/>
              <a:latin typeface="Arial Black" pitchFamily="34" charset="0"/>
              <a:ea typeface="+mn-ea"/>
              <a:cs typeface="Aharoni" pitchFamily="2" charset="-79"/>
            </a:endParaRPr>
          </a:p>
        </p:txBody>
      </p:sp>
      <p:pic>
        <p:nvPicPr>
          <p:cNvPr id="47" name="Picture 46" descr="SD_XDS_PRO_TRACE.jpg"/>
          <p:cNvPicPr>
            <a:picLocks noChangeAspect="1"/>
          </p:cNvPicPr>
          <p:nvPr/>
        </p:nvPicPr>
        <p:blipFill>
          <a:blip r:embed="rId6" cstate="print"/>
          <a:stretch>
            <a:fillRect/>
          </a:stretch>
        </p:blipFill>
        <p:spPr>
          <a:xfrm>
            <a:off x="6167902" y="4038600"/>
            <a:ext cx="1147298" cy="810260"/>
          </a:xfrm>
          <a:prstGeom prst="rect">
            <a:avLst/>
          </a:prstGeom>
        </p:spPr>
      </p:pic>
      <p:pic>
        <p:nvPicPr>
          <p:cNvPr id="48" name="Picture 47" descr="xds200_1c.jpg"/>
          <p:cNvPicPr>
            <a:picLocks noChangeAspect="1"/>
          </p:cNvPicPr>
          <p:nvPr/>
        </p:nvPicPr>
        <p:blipFill>
          <a:blip r:embed="rId7" cstate="print"/>
          <a:stretch>
            <a:fillRect/>
          </a:stretch>
        </p:blipFill>
        <p:spPr>
          <a:xfrm>
            <a:off x="5867400" y="1524000"/>
            <a:ext cx="2057400" cy="760600"/>
          </a:xfrm>
          <a:prstGeom prst="rect">
            <a:avLst/>
          </a:prstGeom>
        </p:spPr>
      </p:pic>
    </p:spTree>
    <p:custDataLst>
      <p:tags r:id="rId1"/>
    </p:custDataLst>
    <p:extLst>
      <p:ext uri="{BB962C8B-B14F-4D97-AF65-F5344CB8AC3E}">
        <p14:creationId xmlns:p14="http://schemas.microsoft.com/office/powerpoint/2010/main" val="1135967505"/>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sz="3200" smtClean="0"/>
              <a:t>MSP430 JTAG Emulators</a:t>
            </a:r>
          </a:p>
        </p:txBody>
      </p:sp>
      <p:grpSp>
        <p:nvGrpSpPr>
          <p:cNvPr id="25" name="Group 24"/>
          <p:cNvGrpSpPr/>
          <p:nvPr/>
        </p:nvGrpSpPr>
        <p:grpSpPr>
          <a:xfrm>
            <a:off x="4650896" y="1371600"/>
            <a:ext cx="2892904" cy="3810000"/>
            <a:chOff x="4650896" y="1524000"/>
            <a:chExt cx="2892904" cy="3810000"/>
          </a:xfrm>
        </p:grpSpPr>
        <p:sp>
          <p:nvSpPr>
            <p:cNvPr id="26" name="Rectangle 25"/>
            <p:cNvSpPr/>
            <p:nvPr/>
          </p:nvSpPr>
          <p:spPr>
            <a:xfrm>
              <a:off x="4650896" y="1524000"/>
              <a:ext cx="2892904" cy="3810000"/>
            </a:xfrm>
            <a:prstGeom prst="rect">
              <a:avLst/>
            </a:prstGeom>
            <a:noFill/>
            <a:ln w="34925">
              <a:solidFill>
                <a:srgbClr val="808080"/>
              </a:solidFill>
            </a:ln>
            <a:effectLst/>
          </p:spPr>
          <p:txBody>
            <a:bodyPr spcFirstLastPara="0" vert="horz" wrap="square" lIns="91440" tIns="91440" rIns="91440" bIns="91440" numCol="1" spcCol="1270" anchor="t" anchorCtr="0">
              <a:noAutofit/>
            </a:bodyPr>
            <a:lstStyle/>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Parallel Port Interface</a:t>
              </a: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Compatible with CCS, IAR and other debuggers</a:t>
              </a: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$49</a:t>
              </a:r>
            </a:p>
          </p:txBody>
        </p:sp>
        <p:sp>
          <p:nvSpPr>
            <p:cNvPr id="27" name="Rounded Rectangle 26"/>
            <p:cNvSpPr/>
            <p:nvPr/>
          </p:nvSpPr>
          <p:spPr>
            <a:xfrm>
              <a:off x="4724400" y="1611260"/>
              <a:ext cx="2743200" cy="442800"/>
            </a:xfrm>
            <a:prstGeom prst="roundRect">
              <a:avLst/>
            </a:prstGeom>
            <a:solidFill>
              <a:srgbClr val="FF0000"/>
            </a:solidFill>
            <a:ln w="25400" cap="flat" cmpd="sng" algn="ctr">
              <a:solidFill>
                <a:srgbClr val="FFFFFF">
                  <a:hueOff val="0"/>
                  <a:satOff val="0"/>
                  <a:lumOff val="0"/>
                  <a:alphaOff val="0"/>
                </a:srgbClr>
              </a:solidFill>
              <a:prstDash val="solid"/>
            </a:ln>
            <a:effectLst/>
          </p:spPr>
          <p:txBody>
            <a:bodyPr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smtClean="0">
                  <a:ln>
                    <a:noFill/>
                  </a:ln>
                  <a:solidFill>
                    <a:srgbClr val="FFFFFF"/>
                  </a:solidFill>
                  <a:effectLst/>
                  <a:uLnTx/>
                  <a:uFillTx/>
                  <a:latin typeface="Arial Black" pitchFamily="34" charset="0"/>
                  <a:ea typeface="+mn-ea"/>
                  <a:cs typeface="Aharoni" pitchFamily="2" charset="-79"/>
                </a:rPr>
                <a:t>MSP-FET430PIF</a:t>
              </a:r>
              <a:endParaRPr kumimoji="0" lang="en-US" sz="1400" b="0" i="0" u="none" strike="noStrike" kern="0" cap="none" spc="0" normalizeH="0" baseline="0" noProof="0" dirty="0">
                <a:ln>
                  <a:noFill/>
                </a:ln>
                <a:solidFill>
                  <a:srgbClr val="FFFFFF"/>
                </a:solidFill>
                <a:effectLst/>
                <a:uLnTx/>
                <a:uFillTx/>
                <a:latin typeface="Arial Black" pitchFamily="34" charset="0"/>
                <a:ea typeface="+mn-ea"/>
                <a:cs typeface="Aharoni" pitchFamily="2" charset="-79"/>
              </a:endParaRPr>
            </a:p>
          </p:txBody>
        </p:sp>
        <p:pic>
          <p:nvPicPr>
            <p:cNvPr id="28" name="Picture 2" descr="MSP430 Parallel Port Debugging Interface"/>
            <p:cNvPicPr>
              <a:picLocks noChangeAspect="1" noChangeArrowheads="1"/>
            </p:cNvPicPr>
            <p:nvPr/>
          </p:nvPicPr>
          <p:blipFill>
            <a:blip r:embed="rId3" cstate="print"/>
            <a:srcRect/>
            <a:stretch>
              <a:fillRect/>
            </a:stretch>
          </p:blipFill>
          <p:spPr bwMode="auto">
            <a:xfrm>
              <a:off x="5105403" y="2819400"/>
              <a:ext cx="2133597" cy="1066800"/>
            </a:xfrm>
            <a:prstGeom prst="rect">
              <a:avLst/>
            </a:prstGeom>
            <a:noFill/>
          </p:spPr>
        </p:pic>
      </p:grpSp>
      <p:grpSp>
        <p:nvGrpSpPr>
          <p:cNvPr id="29" name="Group 28"/>
          <p:cNvGrpSpPr/>
          <p:nvPr/>
        </p:nvGrpSpPr>
        <p:grpSpPr>
          <a:xfrm>
            <a:off x="1600200" y="1371600"/>
            <a:ext cx="2895600" cy="3810000"/>
            <a:chOff x="1600200" y="1524000"/>
            <a:chExt cx="2895600" cy="3810000"/>
          </a:xfrm>
        </p:grpSpPr>
        <p:sp>
          <p:nvSpPr>
            <p:cNvPr id="30" name="Rectangle 29"/>
            <p:cNvSpPr/>
            <p:nvPr/>
          </p:nvSpPr>
          <p:spPr>
            <a:xfrm>
              <a:off x="1600200" y="1524000"/>
              <a:ext cx="2895600" cy="3810000"/>
            </a:xfrm>
            <a:prstGeom prst="rect">
              <a:avLst/>
            </a:prstGeom>
            <a:noFill/>
            <a:ln w="34925">
              <a:solidFill>
                <a:srgbClr val="808080"/>
              </a:solidFill>
            </a:ln>
            <a:effectLst/>
          </p:spPr>
          <p:txBody>
            <a:bodyPr spcFirstLastPara="0" vert="horz" wrap="square" lIns="91440" tIns="91440" rIns="91440" bIns="91440" numCol="1" spcCol="1270" anchor="t" anchorCtr="0">
              <a:noAutofit/>
            </a:bodyPr>
            <a:lstStyle/>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USB Interface</a:t>
              </a: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Compatible with CCS, IAR and other debuggers</a:t>
              </a:r>
            </a:p>
            <a:p>
              <a:pPr marL="114300" marR="0" lvl="1" indent="-114300" defTabSz="533400" eaLnBrk="1" fontAlgn="auto" latinLnBrk="0" hangingPunct="1">
                <a:lnSpc>
                  <a:spcPct val="90000"/>
                </a:lnSpc>
                <a:spcBef>
                  <a:spcPts val="0"/>
                </a:spcBef>
                <a:spcAft>
                  <a:spcPct val="15000"/>
                </a:spcAft>
                <a:buClrTx/>
                <a:buSzTx/>
                <a:buFontTx/>
                <a:buChar char="••"/>
                <a:tabLst/>
                <a:defRPr/>
              </a:pPr>
              <a:r>
                <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rPr>
                <a:t>$99</a:t>
              </a:r>
            </a:p>
            <a:p>
              <a:pPr marL="114300" marR="0" lvl="1" indent="-114300" defTabSz="533400" eaLnBrk="1" fontAlgn="auto" latinLnBrk="0" hangingPunct="1">
                <a:lnSpc>
                  <a:spcPct val="90000"/>
                </a:lnSpc>
                <a:spcBef>
                  <a:spcPts val="0"/>
                </a:spcBef>
                <a:spcAft>
                  <a:spcPct val="15000"/>
                </a:spcAft>
                <a:buClrTx/>
                <a:buSzTx/>
                <a:buFontTx/>
                <a:buChar char="••"/>
                <a:tabLst/>
                <a:defRPr/>
              </a:pPr>
              <a:endParaRPr kumimoji="0" lang="en-CA" sz="1200" b="0" i="0" u="none" strike="noStrike" kern="0" cap="none" spc="0" normalizeH="0" baseline="0" noProof="0" dirty="0" smtClean="0">
                <a:ln>
                  <a:noFill/>
                </a:ln>
                <a:solidFill>
                  <a:prstClr val="black">
                    <a:hueOff val="0"/>
                    <a:satOff val="0"/>
                    <a:lumOff val="0"/>
                    <a:alphaOff val="0"/>
                  </a:prstClr>
                </a:solidFill>
                <a:effectLst/>
                <a:uLnTx/>
                <a:uFillTx/>
                <a:latin typeface="Arial"/>
                <a:ea typeface="+mn-ea"/>
                <a:cs typeface="+mn-cs"/>
              </a:endParaRPr>
            </a:p>
          </p:txBody>
        </p:sp>
        <p:sp>
          <p:nvSpPr>
            <p:cNvPr id="31" name="Rounded Rectangle 30"/>
            <p:cNvSpPr/>
            <p:nvPr/>
          </p:nvSpPr>
          <p:spPr>
            <a:xfrm>
              <a:off x="1676400" y="1600199"/>
              <a:ext cx="2743200" cy="442800"/>
            </a:xfrm>
            <a:prstGeom prst="roundRect">
              <a:avLst/>
            </a:prstGeom>
            <a:solidFill>
              <a:srgbClr val="FF0000"/>
            </a:solidFill>
            <a:ln w="25400" cap="flat" cmpd="sng" algn="ctr">
              <a:solidFill>
                <a:srgbClr val="FFFFFF">
                  <a:hueOff val="0"/>
                  <a:satOff val="0"/>
                  <a:lumOff val="0"/>
                  <a:alphaOff val="0"/>
                </a:srgbClr>
              </a:solidFill>
              <a:prstDash val="solid"/>
            </a:ln>
            <a:effectLst/>
          </p:spPr>
          <p:txBody>
            <a:bodyPr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smtClean="0">
                  <a:ln>
                    <a:noFill/>
                  </a:ln>
                  <a:solidFill>
                    <a:srgbClr val="FFFFFF"/>
                  </a:solidFill>
                  <a:effectLst/>
                  <a:uLnTx/>
                  <a:uFillTx/>
                  <a:latin typeface="Arial Black" pitchFamily="34" charset="0"/>
                  <a:ea typeface="+mn-ea"/>
                  <a:cs typeface="Aharoni" pitchFamily="2" charset="-79"/>
                </a:rPr>
                <a:t>MSP-FET430UIF</a:t>
              </a:r>
              <a:endParaRPr kumimoji="0" lang="en-US" sz="1400" b="0" i="0" u="none" strike="noStrike" kern="0" cap="none" spc="0" normalizeH="0" baseline="0" noProof="0" dirty="0">
                <a:ln>
                  <a:noFill/>
                </a:ln>
                <a:solidFill>
                  <a:srgbClr val="FFFFFF"/>
                </a:solidFill>
                <a:effectLst/>
                <a:uLnTx/>
                <a:uFillTx/>
                <a:latin typeface="Arial Black" pitchFamily="34" charset="0"/>
                <a:ea typeface="+mn-ea"/>
                <a:cs typeface="Aharoni" pitchFamily="2" charset="-79"/>
              </a:endParaRPr>
            </a:p>
          </p:txBody>
        </p:sp>
        <p:pic>
          <p:nvPicPr>
            <p:cNvPr id="32" name="Picture 2"/>
            <p:cNvPicPr>
              <a:picLocks noChangeAspect="1" noChangeArrowheads="1"/>
            </p:cNvPicPr>
            <p:nvPr/>
          </p:nvPicPr>
          <p:blipFill>
            <a:blip r:embed="rId4" cstate="print"/>
            <a:srcRect/>
            <a:stretch>
              <a:fillRect/>
            </a:stretch>
          </p:blipFill>
          <p:spPr bwMode="auto">
            <a:xfrm>
              <a:off x="2041046" y="2743200"/>
              <a:ext cx="1997554" cy="1238250"/>
            </a:xfrm>
            <a:prstGeom prst="rect">
              <a:avLst/>
            </a:prstGeom>
            <a:noFill/>
            <a:ln w="9525">
              <a:noFill/>
              <a:miter lim="800000"/>
              <a:headEnd/>
              <a:tailEnd/>
            </a:ln>
          </p:spPr>
        </p:pic>
      </p:grpSp>
    </p:spTree>
    <p:custDataLst>
      <p:tags r:id="rId1"/>
    </p:custDataLst>
    <p:extLst>
      <p:ext uri="{BB962C8B-B14F-4D97-AF65-F5344CB8AC3E}">
        <p14:creationId xmlns:p14="http://schemas.microsoft.com/office/powerpoint/2010/main" val="4227297530"/>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838200"/>
            <a:ext cx="5562600" cy="5181600"/>
          </a:xfrm>
          <a:prstGeom prst="rect">
            <a:avLst/>
          </a:prstGeom>
          <a:solidFill>
            <a:srgbClr val="92D050"/>
          </a:solidFill>
          <a:ln w="19050">
            <a:solidFill>
              <a:schemeClr val="tx1"/>
            </a:solidFill>
            <a:miter lim="800000"/>
            <a:headEnd type="none" w="sm" len="sm"/>
            <a:tailEnd type="none" w="sm" len="sm"/>
          </a:ln>
          <a:effectLst>
            <a:outerShdw blurRad="50800" dist="889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3" cstate="print"/>
          <a:srcRect/>
          <a:stretch>
            <a:fillRect/>
          </a:stretch>
        </p:blipFill>
        <p:spPr bwMode="auto">
          <a:xfrm>
            <a:off x="6160824" y="1316817"/>
            <a:ext cx="2819400" cy="4172713"/>
          </a:xfrm>
          <a:prstGeom prst="rect">
            <a:avLst/>
          </a:prstGeom>
          <a:noFill/>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9" name="Text Box 4">
            <a:hlinkClick r:id="rId14" action="ppaction://hlinksldjump"/>
          </p:cNvPr>
          <p:cNvSpPr txBox="1">
            <a:spLocks noChangeArrowheads="1"/>
          </p:cNvSpPr>
          <p:nvPr>
            <p:custDataLst>
              <p:tags r:id="rId2"/>
            </p:custDataLst>
          </p:nvPr>
        </p:nvSpPr>
        <p:spPr bwMode="auto">
          <a:xfrm>
            <a:off x="310202" y="954651"/>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Intro to CCSv6</a:t>
            </a:r>
            <a:endParaRPr lang="en-US" sz="2800">
              <a:solidFill>
                <a:srgbClr val="000000"/>
              </a:solidFill>
            </a:endParaRPr>
          </a:p>
        </p:txBody>
      </p:sp>
      <p:sp>
        <p:nvSpPr>
          <p:cNvPr id="10" name="Text Box 6">
            <a:hlinkClick r:id="rId15" action="ppaction://hlinksldjump"/>
          </p:cNvPr>
          <p:cNvSpPr txBox="1">
            <a:spLocks noChangeArrowheads="1"/>
          </p:cNvSpPr>
          <p:nvPr>
            <p:custDataLst>
              <p:tags r:id="rId3"/>
            </p:custDataLst>
          </p:nvPr>
        </p:nvSpPr>
        <p:spPr bwMode="auto">
          <a:xfrm>
            <a:off x="819150" y="1473995"/>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Functional Overview</a:t>
            </a:r>
            <a:endParaRPr lang="en-US">
              <a:solidFill>
                <a:srgbClr val="000000"/>
              </a:solidFill>
            </a:endParaRPr>
          </a:p>
        </p:txBody>
      </p:sp>
      <p:sp>
        <p:nvSpPr>
          <p:cNvPr id="11" name="Text Box 6">
            <a:hlinkClick r:id="rId16" action="ppaction://hlinksldjump"/>
          </p:cNvPr>
          <p:cNvSpPr txBox="1">
            <a:spLocks noChangeArrowheads="1"/>
          </p:cNvSpPr>
          <p:nvPr>
            <p:custDataLst>
              <p:tags r:id="rId4"/>
            </p:custDataLst>
          </p:nvPr>
        </p:nvSpPr>
        <p:spPr bwMode="auto">
          <a:xfrm>
            <a:off x="819150" y="1926309"/>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Perspectives</a:t>
            </a:r>
            <a:endParaRPr lang="en-US">
              <a:solidFill>
                <a:srgbClr val="000000"/>
              </a:solidFill>
            </a:endParaRPr>
          </a:p>
        </p:txBody>
      </p:sp>
      <p:sp>
        <p:nvSpPr>
          <p:cNvPr id="12" name="Text Box 6">
            <a:hlinkClick r:id="rId17" action="ppaction://hlinksldjump"/>
          </p:cNvPr>
          <p:cNvSpPr txBox="1">
            <a:spLocks noChangeArrowheads="1"/>
          </p:cNvSpPr>
          <p:nvPr>
            <p:custDataLst>
              <p:tags r:id="rId5"/>
            </p:custDataLst>
          </p:nvPr>
        </p:nvSpPr>
        <p:spPr bwMode="auto">
          <a:xfrm>
            <a:off x="819150" y="2378623"/>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Target Config &amp; Emulators</a:t>
            </a:r>
            <a:endParaRPr lang="en-US">
              <a:solidFill>
                <a:srgbClr val="000000"/>
              </a:solidFill>
            </a:endParaRPr>
          </a:p>
        </p:txBody>
      </p:sp>
      <p:sp>
        <p:nvSpPr>
          <p:cNvPr id="13" name="Text Box 5">
            <a:hlinkClick r:id="rId18" action="ppaction://hlinksldjump"/>
          </p:cNvPr>
          <p:cNvSpPr txBox="1">
            <a:spLocks noChangeArrowheads="1"/>
          </p:cNvSpPr>
          <p:nvPr>
            <p:custDataLst>
              <p:tags r:id="rId6"/>
            </p:custDataLst>
          </p:nvPr>
        </p:nvSpPr>
        <p:spPr bwMode="auto">
          <a:xfrm>
            <a:off x="823273" y="2830937"/>
            <a:ext cx="4600575" cy="387798"/>
          </a:xfrm>
          <a:prstGeom prst="rect">
            <a:avLst/>
          </a:prstGeom>
          <a:solidFill>
            <a:schemeClr val="bg1"/>
          </a:solidFill>
          <a:ln w="19050">
            <a:solidFill>
              <a:schemeClr val="tx1"/>
            </a:solid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Workspaces &amp; Projects</a:t>
            </a:r>
            <a:endParaRPr lang="en-US">
              <a:solidFill>
                <a:srgbClr val="000000"/>
              </a:solidFill>
            </a:endParaRPr>
          </a:p>
        </p:txBody>
      </p:sp>
      <p:sp>
        <p:nvSpPr>
          <p:cNvPr id="14" name="Text Box 6">
            <a:hlinkClick r:id="rId19" action="ppaction://hlinksldjump"/>
          </p:cNvPr>
          <p:cNvSpPr txBox="1">
            <a:spLocks noChangeArrowheads="1"/>
          </p:cNvSpPr>
          <p:nvPr>
            <p:custDataLst>
              <p:tags r:id="rId7"/>
            </p:custDataLst>
          </p:nvPr>
        </p:nvSpPr>
        <p:spPr bwMode="auto">
          <a:xfrm>
            <a:off x="819150" y="3283251"/>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Creating a Project</a:t>
            </a:r>
            <a:endParaRPr lang="en-US">
              <a:solidFill>
                <a:srgbClr val="000000"/>
              </a:solidFill>
            </a:endParaRPr>
          </a:p>
        </p:txBody>
      </p:sp>
      <p:sp>
        <p:nvSpPr>
          <p:cNvPr id="15" name="Text Box 6">
            <a:hlinkClick r:id="rId20" action="ppaction://hlinksldjump"/>
          </p:cNvPr>
          <p:cNvSpPr txBox="1">
            <a:spLocks noChangeArrowheads="1"/>
          </p:cNvSpPr>
          <p:nvPr>
            <p:custDataLst>
              <p:tags r:id="rId8"/>
            </p:custDataLst>
          </p:nvPr>
        </p:nvSpPr>
        <p:spPr bwMode="auto">
          <a:xfrm>
            <a:off x="819150" y="3735565"/>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Build Config &amp; Options</a:t>
            </a:r>
            <a:endParaRPr lang="en-US">
              <a:solidFill>
                <a:srgbClr val="000000"/>
              </a:solidFill>
            </a:endParaRPr>
          </a:p>
        </p:txBody>
      </p:sp>
      <p:sp>
        <p:nvSpPr>
          <p:cNvPr id="16" name="Text Box 4">
            <a:hlinkClick r:id="rId21" action="ppaction://hlinksldjump"/>
          </p:cNvPr>
          <p:cNvSpPr txBox="1">
            <a:spLocks noChangeArrowheads="1"/>
          </p:cNvSpPr>
          <p:nvPr>
            <p:custDataLst>
              <p:tags r:id="rId9"/>
            </p:custDataLst>
          </p:nvPr>
        </p:nvSpPr>
        <p:spPr bwMode="auto">
          <a:xfrm>
            <a:off x="310202" y="4203352"/>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Licensing/Pricing</a:t>
            </a:r>
            <a:endParaRPr lang="en-US" sz="2800">
              <a:solidFill>
                <a:srgbClr val="000000"/>
              </a:solidFill>
            </a:endParaRPr>
          </a:p>
        </p:txBody>
      </p:sp>
      <p:sp>
        <p:nvSpPr>
          <p:cNvPr id="17" name="Text Box 4">
            <a:hlinkClick r:id="rId22" action="ppaction://hlinksldjump"/>
          </p:cNvPr>
          <p:cNvSpPr txBox="1">
            <a:spLocks noChangeArrowheads="1"/>
          </p:cNvSpPr>
          <p:nvPr>
            <p:custDataLst>
              <p:tags r:id="rId10"/>
            </p:custDataLst>
          </p:nvPr>
        </p:nvSpPr>
        <p:spPr bwMode="auto">
          <a:xfrm>
            <a:off x="310202" y="4738169"/>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CCSv6 – For More Info…</a:t>
            </a:r>
            <a:endParaRPr lang="en-US" sz="2800">
              <a:solidFill>
                <a:srgbClr val="000000"/>
              </a:solidFill>
            </a:endParaRPr>
          </a:p>
        </p:txBody>
      </p:sp>
      <p:sp>
        <p:nvSpPr>
          <p:cNvPr id="18" name="Text Box 4">
            <a:hlinkClick r:id="rId23" action="ppaction://hlinksldjump"/>
          </p:cNvPr>
          <p:cNvSpPr txBox="1">
            <a:spLocks noChangeArrowheads="1"/>
          </p:cNvSpPr>
          <p:nvPr>
            <p:custDataLst>
              <p:tags r:id="rId11"/>
            </p:custDataLst>
          </p:nvPr>
        </p:nvSpPr>
        <p:spPr bwMode="auto">
          <a:xfrm>
            <a:off x="310202" y="5272986"/>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a:solidFill>
                <a:srgbClr val="000000"/>
              </a:solidFill>
            </a:endParaRPr>
          </a:p>
        </p:txBody>
      </p:sp>
    </p:spTree>
    <p:custDataLst>
      <p:tags r:id="rId1"/>
    </p:custDataLst>
    <p:extLst>
      <p:ext uri="{BB962C8B-B14F-4D97-AF65-F5344CB8AC3E}">
        <p14:creationId xmlns:p14="http://schemas.microsoft.com/office/powerpoint/2010/main" val="179422758"/>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4" descr="C:\Users\a0159877\AppData\Local\Temp\SNAGHTML421368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775700"/>
            <a:ext cx="4191000" cy="570689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smtClean="0">
                <a:solidFill>
                  <a:schemeClr val="tx1"/>
                </a:solidFill>
              </a:rPr>
              <a:t>Workspaces and Projects (GUI)</a:t>
            </a:r>
            <a:endParaRPr lang="en-US">
              <a:solidFill>
                <a:schemeClr val="tx1"/>
              </a:solidFill>
            </a:endParaRPr>
          </a:p>
        </p:txBody>
      </p:sp>
      <p:sp>
        <p:nvSpPr>
          <p:cNvPr id="28" name="TextBox 27"/>
          <p:cNvSpPr txBox="1"/>
          <p:nvPr/>
        </p:nvSpPr>
        <p:spPr>
          <a:xfrm>
            <a:off x="6305550" y="3178625"/>
            <a:ext cx="2192975" cy="504924"/>
          </a:xfrm>
          <a:prstGeom prst="rect">
            <a:avLst/>
          </a:prstGeom>
          <a:solidFill>
            <a:schemeClr val="accent5">
              <a:lumMod val="40000"/>
              <a:lumOff val="60000"/>
            </a:schemeClr>
          </a:solidFill>
          <a:ln>
            <a:solidFill>
              <a:schemeClr val="tx1"/>
            </a:solidFill>
          </a:ln>
          <a:effectLst>
            <a:outerShdw blurRad="50800" dist="76200" dir="2700000" algn="tl" rotWithShape="0">
              <a:prstClr val="black">
                <a:alpha val="40000"/>
              </a:prstClr>
            </a:outerShdw>
          </a:effectLst>
        </p:spPr>
        <p:txBody>
          <a:bodyPr wrap="square" rtlCol="0" anchor="ctr" anchorCtr="1">
            <a:noAutofit/>
          </a:bodyPr>
          <a:lstStyle/>
          <a:p>
            <a:pPr>
              <a:spcBef>
                <a:spcPts val="900"/>
              </a:spcBef>
              <a:buClr>
                <a:schemeClr val="tx2"/>
              </a:buClr>
              <a:buSzPct val="75000"/>
            </a:pPr>
            <a:r>
              <a:rPr lang="en-US" sz="2800" smtClean="0">
                <a:solidFill>
                  <a:schemeClr val="dk1"/>
                </a:solidFill>
                <a:effectLst/>
                <a:latin typeface="Calibri" pitchFamily="34" charset="0"/>
                <a:cs typeface="Calibri" pitchFamily="34" charset="0"/>
              </a:rPr>
              <a:t>WORKSPACE</a:t>
            </a:r>
          </a:p>
        </p:txBody>
      </p:sp>
      <p:sp>
        <p:nvSpPr>
          <p:cNvPr id="5" name="Right Brace 4"/>
          <p:cNvSpPr/>
          <p:nvPr/>
        </p:nvSpPr>
        <p:spPr bwMode="auto">
          <a:xfrm>
            <a:off x="5486400" y="785224"/>
            <a:ext cx="685800" cy="5310776"/>
          </a:xfrm>
          <a:prstGeom prst="rightBrace">
            <a:avLst>
              <a:gd name="adj1" fmla="val 41899"/>
              <a:gd name="adj2" fmla="val 49776"/>
            </a:avLst>
          </a:prstGeom>
          <a:noFill/>
          <a:ln w="28575"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smtClean="0">
              <a:ln>
                <a:noFill/>
              </a:ln>
              <a:solidFill>
                <a:schemeClr val="tx1"/>
              </a:solidFill>
              <a:effectLst>
                <a:outerShdw blurRad="38100" dist="38100" dir="2700000" algn="tl">
                  <a:srgbClr val="000000">
                    <a:alpha val="43137"/>
                  </a:srgbClr>
                </a:outerShdw>
              </a:effectLst>
              <a:latin typeface="Arial Narrow" pitchFamily="34" charset="0"/>
            </a:endParaRPr>
          </a:p>
        </p:txBody>
      </p:sp>
      <p:sp>
        <p:nvSpPr>
          <p:cNvPr id="7" name="Right Brace 6"/>
          <p:cNvSpPr/>
          <p:nvPr/>
        </p:nvSpPr>
        <p:spPr bwMode="auto">
          <a:xfrm>
            <a:off x="4507675" y="3629147"/>
            <a:ext cx="457200" cy="2162053"/>
          </a:xfrm>
          <a:prstGeom prst="rightBrace">
            <a:avLst>
              <a:gd name="adj1" fmla="val 44696"/>
              <a:gd name="adj2" fmla="val 50000"/>
            </a:avLst>
          </a:prstGeom>
          <a:solidFill>
            <a:schemeClr val="accent4">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smtClean="0">
              <a:ln>
                <a:noFill/>
              </a:ln>
              <a:solidFill>
                <a:schemeClr val="tx1"/>
              </a:solidFill>
              <a:effectLst>
                <a:outerShdw blurRad="38100" dist="38100" dir="2700000" algn="tl">
                  <a:srgbClr val="000000">
                    <a:alpha val="43137"/>
                  </a:srgbClr>
                </a:outerShdw>
              </a:effectLst>
              <a:latin typeface="Arial Narrow" pitchFamily="34" charset="0"/>
            </a:endParaRPr>
          </a:p>
        </p:txBody>
      </p:sp>
      <p:sp>
        <p:nvSpPr>
          <p:cNvPr id="30" name="TextBox 29"/>
          <p:cNvSpPr txBox="1"/>
          <p:nvPr/>
        </p:nvSpPr>
        <p:spPr>
          <a:xfrm>
            <a:off x="5239000" y="4444581"/>
            <a:ext cx="1695200" cy="504924"/>
          </a:xfrm>
          <a:prstGeom prst="rect">
            <a:avLst/>
          </a:prstGeom>
          <a:solidFill>
            <a:schemeClr val="accent4">
              <a:lumMod val="40000"/>
              <a:lumOff val="60000"/>
            </a:schemeClr>
          </a:solidFill>
          <a:ln>
            <a:solidFill>
              <a:schemeClr val="tx1"/>
            </a:solidFill>
          </a:ln>
          <a:effectLst>
            <a:outerShdw blurRad="50800" dist="76200" dir="2700000" algn="tl" rotWithShape="0">
              <a:prstClr val="black">
                <a:alpha val="40000"/>
              </a:prstClr>
            </a:outerShdw>
          </a:effectLst>
        </p:spPr>
        <p:txBody>
          <a:bodyPr wrap="square" rtlCol="0" anchor="ctr" anchorCtr="1">
            <a:noAutofit/>
          </a:bodyPr>
          <a:lstStyle/>
          <a:p>
            <a:pPr>
              <a:spcBef>
                <a:spcPts val="900"/>
              </a:spcBef>
              <a:buClr>
                <a:schemeClr val="tx2"/>
              </a:buClr>
              <a:buSzPct val="75000"/>
            </a:pPr>
            <a:r>
              <a:rPr lang="en-US" sz="2800" smtClean="0">
                <a:solidFill>
                  <a:schemeClr val="dk1"/>
                </a:solidFill>
                <a:effectLst/>
                <a:latin typeface="Calibri" pitchFamily="34" charset="0"/>
                <a:cs typeface="Calibri" pitchFamily="34" charset="0"/>
              </a:rPr>
              <a:t>PROJECT</a:t>
            </a:r>
          </a:p>
        </p:txBody>
      </p:sp>
      <p:sp>
        <p:nvSpPr>
          <p:cNvPr id="10" name="TextBox 9"/>
          <p:cNvSpPr txBox="1"/>
          <p:nvPr/>
        </p:nvSpPr>
        <p:spPr>
          <a:xfrm>
            <a:off x="3016831" y="4423146"/>
            <a:ext cx="1097969" cy="301193"/>
          </a:xfrm>
          <a:prstGeom prst="rect">
            <a:avLst/>
          </a:prstGeom>
          <a:solidFill>
            <a:srgbClr val="CCFF33"/>
          </a:solidFill>
          <a:ln>
            <a:solidFill>
              <a:schemeClr val="tx1"/>
            </a:solidFill>
          </a:ln>
          <a:effectLst>
            <a:outerShdw blurRad="50800" dist="76200" dir="2700000" algn="tl" rotWithShape="0">
              <a:prstClr val="black">
                <a:alpha val="40000"/>
              </a:prstClr>
            </a:outerShdw>
          </a:effectLst>
        </p:spPr>
        <p:txBody>
          <a:bodyPr wrap="square" rtlCol="0" anchor="ctr" anchorCtr="1">
            <a:noAutofit/>
          </a:bodyPr>
          <a:lstStyle/>
          <a:p>
            <a:pPr>
              <a:spcBef>
                <a:spcPts val="900"/>
              </a:spcBef>
              <a:buClr>
                <a:schemeClr val="tx2"/>
              </a:buClr>
              <a:buSzPct val="75000"/>
            </a:pPr>
            <a:r>
              <a:rPr lang="en-US" sz="2000" smtClean="0">
                <a:solidFill>
                  <a:schemeClr val="dk1"/>
                </a:solidFill>
                <a:effectLst/>
                <a:latin typeface="Calibri" pitchFamily="34" charset="0"/>
                <a:cs typeface="Calibri" pitchFamily="34" charset="0"/>
              </a:rPr>
              <a:t>Source</a:t>
            </a:r>
          </a:p>
        </p:txBody>
      </p:sp>
      <p:sp>
        <p:nvSpPr>
          <p:cNvPr id="3" name="Right Brace 2"/>
          <p:cNvSpPr/>
          <p:nvPr/>
        </p:nvSpPr>
        <p:spPr bwMode="auto">
          <a:xfrm>
            <a:off x="2744634" y="4395850"/>
            <a:ext cx="228600" cy="356019"/>
          </a:xfrm>
          <a:prstGeom prst="rightBrace">
            <a:avLst>
              <a:gd name="adj1" fmla="val 23427"/>
              <a:gd name="adj2" fmla="val 50000"/>
            </a:avLst>
          </a:prstGeom>
          <a:solidFill>
            <a:srgbClr val="CCFF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smtClean="0">
              <a:ln>
                <a:noFill/>
              </a:ln>
              <a:solidFill>
                <a:schemeClr val="tx1"/>
              </a:solidFill>
              <a:effectLst>
                <a:outerShdw blurRad="38100" dist="38100" dir="2700000" algn="tl">
                  <a:srgbClr val="000000">
                    <a:alpha val="43137"/>
                  </a:srgbClr>
                </a:outerShdw>
              </a:effectLst>
              <a:latin typeface="Arial Narrow" pitchFamily="34" charset="0"/>
            </a:endParaRPr>
          </a:p>
        </p:txBody>
      </p:sp>
      <p:sp>
        <p:nvSpPr>
          <p:cNvPr id="6" name="Leading Question"/>
          <p:cNvSpPr txBox="1"/>
          <p:nvPr/>
        </p:nvSpPr>
        <p:spPr>
          <a:xfrm>
            <a:off x="3811411" y="6451404"/>
            <a:ext cx="4824589" cy="246221"/>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r">
              <a:spcBef>
                <a:spcPct val="0"/>
              </a:spcBef>
            </a:pPr>
            <a:r>
              <a:rPr lang="en-US" sz="2000" b="0" smtClean="0">
                <a:solidFill>
                  <a:schemeClr val="tx2"/>
                </a:solidFill>
                <a:effectLst/>
                <a:latin typeface="Arial Narrow"/>
              </a:rPr>
              <a:t>Looking more closely at Projects and Workspaces...</a:t>
            </a:r>
            <a:endParaRPr lang="en-US" sz="2000" b="0" dirty="0" smtClean="0">
              <a:solidFill>
                <a:schemeClr val="tx2"/>
              </a:solidFill>
              <a:effectLst/>
              <a:latin typeface="Arial Narrow"/>
            </a:endParaRPr>
          </a:p>
        </p:txBody>
      </p:sp>
    </p:spTree>
    <p:extLst>
      <p:ext uri="{BB962C8B-B14F-4D97-AF65-F5344CB8AC3E}">
        <p14:creationId xmlns:p14="http://schemas.microsoft.com/office/powerpoint/2010/main" val="3369270390"/>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ormAutofit/>
          </a:bodyPr>
          <a:lstStyle/>
          <a:p>
            <a:r>
              <a:rPr lang="en-US" smtClean="0"/>
              <a:t>Projects and Workspaces</a:t>
            </a:r>
          </a:p>
        </p:txBody>
      </p:sp>
      <p:sp>
        <p:nvSpPr>
          <p:cNvPr id="13" name="TextBox 12"/>
          <p:cNvSpPr txBox="1"/>
          <p:nvPr/>
        </p:nvSpPr>
        <p:spPr>
          <a:xfrm>
            <a:off x="4876800" y="3429167"/>
            <a:ext cx="4113177" cy="2819233"/>
          </a:xfrm>
          <a:prstGeom prst="rect">
            <a:avLst/>
          </a:prstGeom>
          <a:noFill/>
        </p:spPr>
        <p:txBody>
          <a:bodyPr wrap="square" rtlCol="0" anchor="ctr" anchorCtr="0">
            <a:spAutoFit/>
          </a:bodyPr>
          <a:lstStyle/>
          <a:p>
            <a:pPr marL="342900" indent="-342900">
              <a:spcBef>
                <a:spcPts val="900"/>
              </a:spcBef>
              <a:buClr>
                <a:schemeClr val="tx2"/>
              </a:buClr>
              <a:buSzPct val="75000"/>
              <a:buFont typeface="Wingdings"/>
              <a:buChar char=""/>
            </a:pPr>
            <a:r>
              <a:rPr lang="en-US" smtClean="0">
                <a:solidFill>
                  <a:schemeClr val="tx2"/>
                </a:solidFill>
                <a:effectLst/>
                <a:latin typeface="Calibri" pitchFamily="34" charset="0"/>
                <a:cs typeface="Calibri" pitchFamily="34" charset="0"/>
              </a:rPr>
              <a:t>Project</a:t>
            </a:r>
            <a:r>
              <a:rPr lang="en-US" b="0" smtClean="0">
                <a:solidFill>
                  <a:schemeClr val="dk1"/>
                </a:solidFill>
                <a:effectLst/>
                <a:latin typeface="Calibri" pitchFamily="34" charset="0"/>
                <a:cs typeface="Calibri" pitchFamily="34" charset="0"/>
              </a:rPr>
              <a:t> \folder contains:</a:t>
            </a:r>
          </a:p>
          <a:p>
            <a:pPr marL="682625" indent="-287338">
              <a:spcBef>
                <a:spcPts val="900"/>
              </a:spcBef>
              <a:buSzPct val="100000"/>
              <a:buFont typeface="Arial" pitchFamily="34" charset="0"/>
              <a:buChar char="•"/>
            </a:pPr>
            <a:r>
              <a:rPr lang="en-US" sz="2000" b="0" smtClean="0">
                <a:solidFill>
                  <a:schemeClr val="dk1"/>
                </a:solidFill>
                <a:latin typeface="Calibri" pitchFamily="34" charset="0"/>
                <a:cs typeface="Calibri" pitchFamily="34" charset="0"/>
              </a:rPr>
              <a:t>Build and tool settings (for use</a:t>
            </a:r>
            <a:br>
              <a:rPr lang="en-US" sz="2000" b="0" smtClean="0">
                <a:solidFill>
                  <a:schemeClr val="dk1"/>
                </a:solidFill>
                <a:latin typeface="Calibri" pitchFamily="34" charset="0"/>
                <a:cs typeface="Calibri" pitchFamily="34" charset="0"/>
              </a:rPr>
            </a:br>
            <a:r>
              <a:rPr lang="en-US" sz="2000" b="0" smtClean="0">
                <a:solidFill>
                  <a:schemeClr val="dk1"/>
                </a:solidFill>
                <a:latin typeface="Calibri" pitchFamily="34" charset="0"/>
                <a:cs typeface="Calibri" pitchFamily="34" charset="0"/>
              </a:rPr>
              <a:t>in managed MAKE projects)</a:t>
            </a:r>
          </a:p>
          <a:p>
            <a:pPr marL="682625" indent="-287338">
              <a:spcBef>
                <a:spcPts val="900"/>
              </a:spcBef>
              <a:buSzPct val="100000"/>
              <a:buFont typeface="Arial" pitchFamily="34" charset="0"/>
              <a:buChar char="•"/>
            </a:pPr>
            <a:r>
              <a:rPr lang="en-US" sz="2000" b="0" smtClean="0">
                <a:solidFill>
                  <a:schemeClr val="dk1"/>
                </a:solidFill>
                <a:latin typeface="Calibri" pitchFamily="34" charset="0"/>
                <a:cs typeface="Calibri" pitchFamily="34" charset="0"/>
              </a:rPr>
              <a:t>Files can be </a:t>
            </a:r>
            <a:r>
              <a:rPr lang="en-US" sz="2000" i="1" smtClean="0">
                <a:solidFill>
                  <a:schemeClr val="tx2"/>
                </a:solidFill>
                <a:latin typeface="Calibri" pitchFamily="34" charset="0"/>
                <a:cs typeface="Calibri" pitchFamily="34" charset="0"/>
              </a:rPr>
              <a:t>linked to</a:t>
            </a:r>
            <a:r>
              <a:rPr lang="en-US" sz="2000" b="0" smtClean="0">
                <a:solidFill>
                  <a:schemeClr val="dk1"/>
                </a:solidFill>
                <a:latin typeface="Calibri" pitchFamily="34" charset="0"/>
                <a:cs typeface="Calibri" pitchFamily="34" charset="0"/>
              </a:rPr>
              <a:t> or </a:t>
            </a:r>
            <a:br>
              <a:rPr lang="en-US" sz="2000" b="0" smtClean="0">
                <a:solidFill>
                  <a:schemeClr val="dk1"/>
                </a:solidFill>
                <a:latin typeface="Calibri" pitchFamily="34" charset="0"/>
                <a:cs typeface="Calibri" pitchFamily="34" charset="0"/>
              </a:rPr>
            </a:br>
            <a:r>
              <a:rPr lang="en-US" sz="2000" i="1" smtClean="0">
                <a:solidFill>
                  <a:schemeClr val="tx2"/>
                </a:solidFill>
                <a:latin typeface="Calibri" pitchFamily="34" charset="0"/>
                <a:cs typeface="Calibri" pitchFamily="34" charset="0"/>
              </a:rPr>
              <a:t>reside in</a:t>
            </a:r>
            <a:r>
              <a:rPr lang="en-US" sz="2000" b="0" smtClean="0">
                <a:solidFill>
                  <a:schemeClr val="dk1"/>
                </a:solidFill>
                <a:latin typeface="Calibri" pitchFamily="34" charset="0"/>
                <a:cs typeface="Calibri" pitchFamily="34" charset="0"/>
              </a:rPr>
              <a:t> the project folder</a:t>
            </a:r>
          </a:p>
          <a:p>
            <a:pPr marL="682625" indent="-287338">
              <a:spcBef>
                <a:spcPts val="900"/>
              </a:spcBef>
              <a:buSzPct val="100000"/>
              <a:buFont typeface="Arial" pitchFamily="34" charset="0"/>
              <a:buChar char="•"/>
            </a:pPr>
            <a:r>
              <a:rPr lang="en-US" sz="2000" b="0" smtClean="0">
                <a:solidFill>
                  <a:schemeClr val="dk1"/>
                </a:solidFill>
                <a:effectLst/>
                <a:latin typeface="Calibri" pitchFamily="34" charset="0"/>
                <a:cs typeface="Calibri" pitchFamily="34" charset="0"/>
              </a:rPr>
              <a:t>Deleting a linked file from Project Explorer only deletes the link</a:t>
            </a:r>
          </a:p>
          <a:p>
            <a:pPr marL="682625" indent="-287338">
              <a:spcBef>
                <a:spcPts val="900"/>
              </a:spcBef>
              <a:buSzPct val="100000"/>
              <a:buFont typeface="Arial" pitchFamily="34" charset="0"/>
              <a:buChar char="•"/>
            </a:pPr>
            <a:r>
              <a:rPr lang="en-US" sz="2000" b="0" smtClean="0">
                <a:solidFill>
                  <a:schemeClr val="dk1"/>
                </a:solidFill>
                <a:latin typeface="Calibri" pitchFamily="34" charset="0"/>
                <a:cs typeface="Calibri" pitchFamily="34" charset="0"/>
              </a:rPr>
              <a:t>Example of linked library:</a:t>
            </a:r>
            <a:endParaRPr lang="en-US" sz="2000" b="0" smtClean="0">
              <a:solidFill>
                <a:schemeClr val="dk1"/>
              </a:solidFill>
              <a:effectLst/>
              <a:latin typeface="Calibri" pitchFamily="34" charset="0"/>
              <a:cs typeface="Calibri" pitchFamily="34" charset="0"/>
            </a:endParaRPr>
          </a:p>
        </p:txBody>
      </p:sp>
      <p:sp>
        <p:nvSpPr>
          <p:cNvPr id="2" name="Rounded Rectangle 1"/>
          <p:cNvSpPr/>
          <p:nvPr/>
        </p:nvSpPr>
        <p:spPr bwMode="auto">
          <a:xfrm>
            <a:off x="228600" y="762000"/>
            <a:ext cx="2590800" cy="2133600"/>
          </a:xfrm>
          <a:prstGeom prst="roundRect">
            <a:avLst/>
          </a:prstGeom>
          <a:solidFill>
            <a:schemeClr val="accent5">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b="1" i="0" u="none" strike="noStrike" cap="none" normalizeH="0" baseline="0" smtClean="0">
                <a:ln>
                  <a:noFill/>
                </a:ln>
                <a:solidFill>
                  <a:schemeClr val="dk1"/>
                </a:solidFill>
                <a:effectLst/>
                <a:latin typeface="Calibri" pitchFamily="34" charset="0"/>
                <a:cs typeface="Calibri" pitchFamily="34" charset="0"/>
              </a:rPr>
              <a:t>Workspace</a:t>
            </a:r>
          </a:p>
          <a:p>
            <a:pPr marL="225425" marR="0" indent="-225425" algn="l" defTabSz="914400" rtl="0" eaLnBrk="0" fontAlgn="base" latinLnBrk="0" hangingPunct="0">
              <a:lnSpc>
                <a:spcPct val="80000"/>
              </a:lnSpc>
              <a:spcBef>
                <a:spcPct val="50000"/>
              </a:spcBef>
              <a:spcAft>
                <a:spcPct val="0"/>
              </a:spcAft>
              <a:buClrTx/>
              <a:buSzTx/>
              <a:buFont typeface="Arial" pitchFamily="34" charset="0"/>
              <a:buChar char="•"/>
              <a:tabLst/>
            </a:pPr>
            <a:r>
              <a:rPr lang="en-US" sz="1800" b="0" smtClean="0">
                <a:solidFill>
                  <a:schemeClr val="dk1"/>
                </a:solidFill>
                <a:latin typeface="Calibri" pitchFamily="34" charset="0"/>
                <a:cs typeface="Calibri" pitchFamily="34" charset="0"/>
              </a:rPr>
              <a:t>Project 1</a:t>
            </a:r>
          </a:p>
          <a:p>
            <a:pPr marL="225425" marR="0" indent="-225425" algn="l" defTabSz="914400" rtl="0" eaLnBrk="0" fontAlgn="base" latinLnBrk="0" hangingPunct="0">
              <a:lnSpc>
                <a:spcPct val="80000"/>
              </a:lnSpc>
              <a:spcBef>
                <a:spcPct val="50000"/>
              </a:spcBef>
              <a:spcAft>
                <a:spcPct val="0"/>
              </a:spcAft>
              <a:buClrTx/>
              <a:buSzTx/>
              <a:buFont typeface="Arial" pitchFamily="34" charset="0"/>
              <a:buChar char="•"/>
              <a:tabLst/>
            </a:pPr>
            <a:r>
              <a:rPr kumimoji="0" lang="en-US" sz="1800" b="0" i="0" u="none" strike="noStrike" cap="none" normalizeH="0" baseline="0" smtClean="0">
                <a:ln>
                  <a:noFill/>
                </a:ln>
                <a:solidFill>
                  <a:schemeClr val="dk1"/>
                </a:solidFill>
                <a:effectLst/>
                <a:latin typeface="Calibri" pitchFamily="34" charset="0"/>
                <a:cs typeface="Calibri" pitchFamily="34" charset="0"/>
              </a:rPr>
              <a:t>Project</a:t>
            </a:r>
            <a:r>
              <a:rPr kumimoji="0" lang="en-US" sz="1800" b="0" i="0" u="none" strike="noStrike" cap="none" normalizeH="0" smtClean="0">
                <a:ln>
                  <a:noFill/>
                </a:ln>
                <a:solidFill>
                  <a:schemeClr val="dk1"/>
                </a:solidFill>
                <a:effectLst/>
                <a:latin typeface="Calibri" pitchFamily="34" charset="0"/>
                <a:cs typeface="Calibri" pitchFamily="34" charset="0"/>
              </a:rPr>
              <a:t> 2</a:t>
            </a:r>
          </a:p>
          <a:p>
            <a:pPr marL="225425" marR="0" indent="-225425" algn="l" defTabSz="914400" rtl="0" eaLnBrk="0" fontAlgn="base" latinLnBrk="0" hangingPunct="0">
              <a:lnSpc>
                <a:spcPct val="80000"/>
              </a:lnSpc>
              <a:spcBef>
                <a:spcPct val="50000"/>
              </a:spcBef>
              <a:spcAft>
                <a:spcPct val="0"/>
              </a:spcAft>
              <a:buClrTx/>
              <a:buSzTx/>
              <a:buFont typeface="Arial" pitchFamily="34" charset="0"/>
              <a:buChar char="•"/>
              <a:tabLst/>
            </a:pPr>
            <a:r>
              <a:rPr lang="en-US" sz="1800" b="0" baseline="0" smtClean="0">
                <a:solidFill>
                  <a:schemeClr val="dk1"/>
                </a:solidFill>
                <a:latin typeface="Calibri" pitchFamily="34" charset="0"/>
                <a:cs typeface="Calibri" pitchFamily="34" charset="0"/>
              </a:rPr>
              <a:t>Project 3</a:t>
            </a:r>
          </a:p>
          <a:p>
            <a:pPr marL="225425" marR="0" indent="-225425" algn="l" defTabSz="914400" rtl="0" eaLnBrk="0" fontAlgn="base" latinLnBrk="0" hangingPunct="0">
              <a:lnSpc>
                <a:spcPct val="80000"/>
              </a:lnSpc>
              <a:spcBef>
                <a:spcPct val="50000"/>
              </a:spcBef>
              <a:spcAft>
                <a:spcPct val="0"/>
              </a:spcAft>
              <a:buClrTx/>
              <a:buSzTx/>
              <a:buFont typeface="Arial" pitchFamily="34" charset="0"/>
              <a:buChar char="•"/>
              <a:tabLst/>
            </a:pPr>
            <a:r>
              <a:rPr kumimoji="0" lang="en-US" sz="1800" b="0" i="0" u="none" strike="noStrike" cap="none" normalizeH="0" smtClean="0">
                <a:ln>
                  <a:noFill/>
                </a:ln>
                <a:solidFill>
                  <a:schemeClr val="dk1"/>
                </a:solidFill>
                <a:effectLst/>
                <a:latin typeface="Calibri" pitchFamily="34" charset="0"/>
                <a:cs typeface="Calibri" pitchFamily="34" charset="0"/>
              </a:rPr>
              <a:t>Settings/preferences</a:t>
            </a:r>
            <a:endParaRPr kumimoji="0" lang="en-US" sz="1800" b="0" i="0" u="none" strike="noStrike" cap="none" normalizeH="0" baseline="0" dirty="0" smtClean="0">
              <a:ln>
                <a:noFill/>
              </a:ln>
              <a:solidFill>
                <a:schemeClr val="dk1"/>
              </a:solidFill>
              <a:effectLst/>
              <a:latin typeface="Calibri" pitchFamily="34" charset="0"/>
              <a:cs typeface="Calibri" pitchFamily="34" charset="0"/>
            </a:endParaRPr>
          </a:p>
        </p:txBody>
      </p:sp>
      <p:sp>
        <p:nvSpPr>
          <p:cNvPr id="15" name="Rounded Rectangle 14"/>
          <p:cNvSpPr/>
          <p:nvPr/>
        </p:nvSpPr>
        <p:spPr bwMode="auto">
          <a:xfrm>
            <a:off x="3657600" y="1066800"/>
            <a:ext cx="2362200" cy="2133600"/>
          </a:xfrm>
          <a:prstGeom prst="roundRect">
            <a:avLst/>
          </a:prstGeom>
          <a:solidFill>
            <a:schemeClr val="accent4">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1800" b="0" i="0" u="none" strike="noStrike" cap="none" normalizeH="0" baseline="0" dirty="0" smtClean="0">
              <a:ln>
                <a:noFill/>
              </a:ln>
              <a:solidFill>
                <a:schemeClr val="dk1"/>
              </a:solidFill>
              <a:effectLst/>
              <a:latin typeface="Calibri" pitchFamily="34" charset="0"/>
              <a:cs typeface="Calibri" pitchFamily="34" charset="0"/>
            </a:endParaRPr>
          </a:p>
        </p:txBody>
      </p:sp>
      <p:sp>
        <p:nvSpPr>
          <p:cNvPr id="14" name="Rounded Rectangle 13"/>
          <p:cNvSpPr/>
          <p:nvPr/>
        </p:nvSpPr>
        <p:spPr bwMode="auto">
          <a:xfrm>
            <a:off x="3810000" y="914400"/>
            <a:ext cx="2362200" cy="2133600"/>
          </a:xfrm>
          <a:prstGeom prst="roundRect">
            <a:avLst/>
          </a:prstGeom>
          <a:solidFill>
            <a:schemeClr val="accent4">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1800" b="0" i="0" u="none" strike="noStrike" cap="none" normalizeH="0" baseline="0" dirty="0" smtClean="0">
              <a:ln>
                <a:noFill/>
              </a:ln>
              <a:solidFill>
                <a:schemeClr val="dk1"/>
              </a:solidFill>
              <a:effectLst/>
              <a:latin typeface="Calibri" pitchFamily="34" charset="0"/>
              <a:cs typeface="Calibri" pitchFamily="34" charset="0"/>
            </a:endParaRPr>
          </a:p>
        </p:txBody>
      </p:sp>
      <p:sp>
        <p:nvSpPr>
          <p:cNvPr id="11" name="Rounded Rectangle 10"/>
          <p:cNvSpPr/>
          <p:nvPr/>
        </p:nvSpPr>
        <p:spPr bwMode="auto">
          <a:xfrm>
            <a:off x="3962400" y="762000"/>
            <a:ext cx="2362200" cy="2133600"/>
          </a:xfrm>
          <a:prstGeom prst="roundRect">
            <a:avLst/>
          </a:prstGeom>
          <a:solidFill>
            <a:schemeClr val="accent4">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b="1" i="0" u="none" strike="noStrike" cap="none" normalizeH="0" baseline="0" smtClean="0">
                <a:ln>
                  <a:noFill/>
                </a:ln>
                <a:solidFill>
                  <a:schemeClr val="dk1"/>
                </a:solidFill>
                <a:effectLst/>
                <a:latin typeface="Calibri" pitchFamily="34" charset="0"/>
                <a:cs typeface="Calibri" pitchFamily="34" charset="0"/>
              </a:rPr>
              <a:t>Project</a:t>
            </a:r>
          </a:p>
          <a:p>
            <a:pPr marL="225425" marR="0" indent="-225425" algn="l" defTabSz="914400" rtl="0" eaLnBrk="0" fontAlgn="base" latinLnBrk="0" hangingPunct="0">
              <a:lnSpc>
                <a:spcPct val="80000"/>
              </a:lnSpc>
              <a:spcBef>
                <a:spcPct val="50000"/>
              </a:spcBef>
              <a:spcAft>
                <a:spcPct val="0"/>
              </a:spcAft>
              <a:buClrTx/>
              <a:buSzTx/>
              <a:buFont typeface="Arial" pitchFamily="34" charset="0"/>
              <a:buChar char="•"/>
              <a:tabLst/>
            </a:pPr>
            <a:r>
              <a:rPr lang="en-US" sz="1800" b="0" smtClean="0">
                <a:solidFill>
                  <a:schemeClr val="dk1"/>
                </a:solidFill>
                <a:latin typeface="Calibri" pitchFamily="34" charset="0"/>
                <a:cs typeface="Calibri" pitchFamily="34" charset="0"/>
              </a:rPr>
              <a:t>Source Files</a:t>
            </a:r>
          </a:p>
          <a:p>
            <a:pPr marL="225425" marR="0" indent="-225425" algn="l" defTabSz="914400" rtl="0" eaLnBrk="0" fontAlgn="base" latinLnBrk="0" hangingPunct="0">
              <a:lnSpc>
                <a:spcPct val="80000"/>
              </a:lnSpc>
              <a:spcBef>
                <a:spcPct val="50000"/>
              </a:spcBef>
              <a:spcAft>
                <a:spcPct val="0"/>
              </a:spcAft>
              <a:buClrTx/>
              <a:buSzTx/>
              <a:buFont typeface="Arial" pitchFamily="34" charset="0"/>
              <a:buChar char="•"/>
              <a:tabLst/>
            </a:pPr>
            <a:r>
              <a:rPr kumimoji="0" lang="en-US" sz="1800" b="0" i="0" u="none" strike="noStrike" cap="none" normalizeH="0" baseline="0" smtClean="0">
                <a:ln>
                  <a:noFill/>
                </a:ln>
                <a:solidFill>
                  <a:schemeClr val="dk1"/>
                </a:solidFill>
                <a:effectLst/>
                <a:latin typeface="Calibri" pitchFamily="34" charset="0"/>
                <a:cs typeface="Calibri" pitchFamily="34" charset="0"/>
              </a:rPr>
              <a:t>Header Files</a:t>
            </a:r>
            <a:endParaRPr kumimoji="0" lang="en-US" sz="1800" b="0" i="0" u="none" strike="noStrike" cap="none" normalizeH="0" smtClean="0">
              <a:ln>
                <a:noFill/>
              </a:ln>
              <a:solidFill>
                <a:schemeClr val="dk1"/>
              </a:solidFill>
              <a:effectLst/>
              <a:latin typeface="Calibri" pitchFamily="34" charset="0"/>
              <a:cs typeface="Calibri" pitchFamily="34" charset="0"/>
            </a:endParaRPr>
          </a:p>
          <a:p>
            <a:pPr marL="225425" marR="0" indent="-225425" algn="l" defTabSz="914400" rtl="0" eaLnBrk="0" fontAlgn="base" latinLnBrk="0" hangingPunct="0">
              <a:lnSpc>
                <a:spcPct val="80000"/>
              </a:lnSpc>
              <a:spcBef>
                <a:spcPct val="50000"/>
              </a:spcBef>
              <a:spcAft>
                <a:spcPct val="0"/>
              </a:spcAft>
              <a:buClrTx/>
              <a:buSzTx/>
              <a:buFont typeface="Arial" pitchFamily="34" charset="0"/>
              <a:buChar char="•"/>
              <a:tabLst/>
            </a:pPr>
            <a:r>
              <a:rPr lang="en-US" sz="1800" b="0" baseline="0" smtClean="0">
                <a:solidFill>
                  <a:schemeClr val="dk1"/>
                </a:solidFill>
                <a:latin typeface="Calibri" pitchFamily="34" charset="0"/>
                <a:cs typeface="Calibri" pitchFamily="34" charset="0"/>
              </a:rPr>
              <a:t>Library Files</a:t>
            </a:r>
          </a:p>
          <a:p>
            <a:pPr marL="225425" marR="0" indent="-225425" algn="l" defTabSz="914400" rtl="0" eaLnBrk="0" fontAlgn="base" latinLnBrk="0" hangingPunct="0">
              <a:lnSpc>
                <a:spcPct val="80000"/>
              </a:lnSpc>
              <a:spcBef>
                <a:spcPct val="50000"/>
              </a:spcBef>
              <a:spcAft>
                <a:spcPct val="0"/>
              </a:spcAft>
              <a:buClrTx/>
              <a:buSzTx/>
              <a:buFont typeface="Arial" pitchFamily="34" charset="0"/>
              <a:buChar char="•"/>
              <a:tabLst/>
            </a:pPr>
            <a:r>
              <a:rPr kumimoji="0" lang="en-US" sz="1800" b="0" i="0" u="none" strike="noStrike" cap="none" normalizeH="0" smtClean="0">
                <a:ln>
                  <a:noFill/>
                </a:ln>
                <a:solidFill>
                  <a:schemeClr val="dk1"/>
                </a:solidFill>
                <a:effectLst/>
                <a:latin typeface="Calibri" pitchFamily="34" charset="0"/>
                <a:cs typeface="Calibri" pitchFamily="34" charset="0"/>
              </a:rPr>
              <a:t>Build/tool settings</a:t>
            </a:r>
            <a:endParaRPr kumimoji="0" lang="en-US" sz="1800" b="0" i="0" u="none" strike="noStrike" cap="none" normalizeH="0" baseline="0" dirty="0" smtClean="0">
              <a:ln>
                <a:noFill/>
              </a:ln>
              <a:solidFill>
                <a:schemeClr val="dk1"/>
              </a:solidFill>
              <a:effectLst/>
              <a:latin typeface="Calibri" pitchFamily="34" charset="0"/>
              <a:cs typeface="Calibri" pitchFamily="34" charset="0"/>
            </a:endParaRPr>
          </a:p>
        </p:txBody>
      </p:sp>
      <p:sp>
        <p:nvSpPr>
          <p:cNvPr id="19" name="Rounded Rectangle 18"/>
          <p:cNvSpPr/>
          <p:nvPr/>
        </p:nvSpPr>
        <p:spPr bwMode="auto">
          <a:xfrm>
            <a:off x="7027223" y="762000"/>
            <a:ext cx="1888177" cy="609600"/>
          </a:xfrm>
          <a:prstGeom prst="roundRect">
            <a:avLst/>
          </a:prstGeom>
          <a:solidFill>
            <a:srgbClr val="CCFF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spcBef>
                <a:spcPts val="400"/>
              </a:spcBef>
              <a:spcAft>
                <a:spcPct val="0"/>
              </a:spcAft>
              <a:buClrTx/>
              <a:buSzTx/>
              <a:buFontTx/>
              <a:buNone/>
              <a:tabLst/>
            </a:pPr>
            <a:r>
              <a:rPr kumimoji="0" lang="en-US" sz="2000" b="1" i="0" u="none" strike="noStrike" cap="none" normalizeH="0" baseline="0" smtClean="0">
                <a:ln>
                  <a:noFill/>
                </a:ln>
                <a:solidFill>
                  <a:schemeClr val="dk1"/>
                </a:solidFill>
                <a:effectLst/>
                <a:latin typeface="Calibri" pitchFamily="34" charset="0"/>
                <a:cs typeface="Calibri" pitchFamily="34" charset="0"/>
              </a:rPr>
              <a:t>Source Files</a:t>
            </a:r>
          </a:p>
          <a:p>
            <a:pPr marL="225425" marR="0" indent="-225425" algn="l" defTabSz="914400" rtl="0" eaLnBrk="0" fontAlgn="base" latinLnBrk="0" hangingPunct="0">
              <a:spcBef>
                <a:spcPts val="400"/>
              </a:spcBef>
              <a:spcAft>
                <a:spcPct val="0"/>
              </a:spcAft>
              <a:buClrTx/>
              <a:buSzTx/>
              <a:buFont typeface="Arial" pitchFamily="34" charset="0"/>
              <a:buChar char="•"/>
              <a:tabLst/>
            </a:pPr>
            <a:r>
              <a:rPr lang="en-US" sz="1800" b="0" i="1" smtClean="0">
                <a:solidFill>
                  <a:schemeClr val="dk1"/>
                </a:solidFill>
                <a:latin typeface="Calibri" pitchFamily="34" charset="0"/>
                <a:cs typeface="Calibri" pitchFamily="34" charset="0"/>
              </a:rPr>
              <a:t>Code and Data</a:t>
            </a:r>
          </a:p>
        </p:txBody>
      </p:sp>
      <p:sp>
        <p:nvSpPr>
          <p:cNvPr id="20" name="Rounded Rectangle 19"/>
          <p:cNvSpPr/>
          <p:nvPr/>
        </p:nvSpPr>
        <p:spPr bwMode="auto">
          <a:xfrm>
            <a:off x="7027223" y="1447800"/>
            <a:ext cx="1888177" cy="600200"/>
          </a:xfrm>
          <a:prstGeom prst="roundRect">
            <a:avLst/>
          </a:prstGeom>
          <a:solidFill>
            <a:srgbClr val="CCFF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ts val="600"/>
              </a:spcBef>
              <a:spcAft>
                <a:spcPct val="0"/>
              </a:spcAft>
              <a:buClrTx/>
              <a:buSzTx/>
              <a:buFontTx/>
              <a:buNone/>
              <a:tabLst/>
            </a:pPr>
            <a:r>
              <a:rPr kumimoji="0" lang="en-US" sz="2000" b="1" i="0" u="none" strike="noStrike" cap="none" normalizeH="0" baseline="0" smtClean="0">
                <a:ln>
                  <a:noFill/>
                </a:ln>
                <a:solidFill>
                  <a:schemeClr val="dk1"/>
                </a:solidFill>
                <a:effectLst/>
                <a:latin typeface="Calibri" pitchFamily="34" charset="0"/>
                <a:cs typeface="Calibri" pitchFamily="34" charset="0"/>
              </a:rPr>
              <a:t>Header Files</a:t>
            </a:r>
          </a:p>
          <a:p>
            <a:pPr marL="225425" marR="0" indent="-225425" algn="l" defTabSz="914400" rtl="0" eaLnBrk="0" fontAlgn="base" latinLnBrk="0" hangingPunct="0">
              <a:lnSpc>
                <a:spcPct val="80000"/>
              </a:lnSpc>
              <a:spcBef>
                <a:spcPts val="600"/>
              </a:spcBef>
              <a:spcAft>
                <a:spcPct val="0"/>
              </a:spcAft>
              <a:buClrTx/>
              <a:buSzTx/>
              <a:buFont typeface="Arial" pitchFamily="34" charset="0"/>
              <a:buChar char="•"/>
              <a:tabLst/>
            </a:pPr>
            <a:r>
              <a:rPr lang="en-US" sz="1800" b="0" i="1" smtClean="0">
                <a:solidFill>
                  <a:schemeClr val="dk1"/>
                </a:solidFill>
                <a:latin typeface="Calibri" pitchFamily="34" charset="0"/>
                <a:cs typeface="Calibri" pitchFamily="34" charset="0"/>
              </a:rPr>
              <a:t>Declarations</a:t>
            </a:r>
          </a:p>
        </p:txBody>
      </p:sp>
      <p:sp>
        <p:nvSpPr>
          <p:cNvPr id="21" name="Rounded Rectangle 20"/>
          <p:cNvSpPr/>
          <p:nvPr/>
        </p:nvSpPr>
        <p:spPr bwMode="auto">
          <a:xfrm>
            <a:off x="7027223" y="2133600"/>
            <a:ext cx="1888177" cy="609600"/>
          </a:xfrm>
          <a:prstGeom prst="roundRect">
            <a:avLst/>
          </a:prstGeom>
          <a:solidFill>
            <a:srgbClr val="CCFF33"/>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ts val="600"/>
              </a:spcBef>
              <a:spcAft>
                <a:spcPct val="0"/>
              </a:spcAft>
              <a:buClrTx/>
              <a:buSzTx/>
              <a:buFontTx/>
              <a:buNone/>
              <a:tabLst/>
            </a:pPr>
            <a:r>
              <a:rPr kumimoji="0" lang="en-US" sz="2000" b="1" i="0" u="none" strike="noStrike" cap="none" normalizeH="0" baseline="0" smtClean="0">
                <a:ln>
                  <a:noFill/>
                </a:ln>
                <a:solidFill>
                  <a:schemeClr val="dk1"/>
                </a:solidFill>
                <a:effectLst/>
                <a:latin typeface="Calibri" pitchFamily="34" charset="0"/>
                <a:cs typeface="Calibri" pitchFamily="34" charset="0"/>
              </a:rPr>
              <a:t>Library Files</a:t>
            </a:r>
          </a:p>
          <a:p>
            <a:pPr marL="225425" marR="0" indent="-225425" algn="l" defTabSz="914400" rtl="0" eaLnBrk="0" fontAlgn="base" latinLnBrk="0" hangingPunct="0">
              <a:lnSpc>
                <a:spcPct val="80000"/>
              </a:lnSpc>
              <a:spcBef>
                <a:spcPts val="600"/>
              </a:spcBef>
              <a:spcAft>
                <a:spcPct val="0"/>
              </a:spcAft>
              <a:buClrTx/>
              <a:buSzTx/>
              <a:buFont typeface="Arial" pitchFamily="34" charset="0"/>
              <a:buChar char="•"/>
              <a:tabLst/>
            </a:pPr>
            <a:r>
              <a:rPr lang="en-US" sz="1800" b="0" i="1" smtClean="0">
                <a:solidFill>
                  <a:schemeClr val="dk1"/>
                </a:solidFill>
                <a:latin typeface="Calibri" pitchFamily="34" charset="0"/>
                <a:cs typeface="Calibri" pitchFamily="34" charset="0"/>
              </a:rPr>
              <a:t>Code and Data</a:t>
            </a:r>
          </a:p>
        </p:txBody>
      </p:sp>
      <p:grpSp>
        <p:nvGrpSpPr>
          <p:cNvPr id="5" name="Group 4"/>
          <p:cNvGrpSpPr/>
          <p:nvPr/>
        </p:nvGrpSpPr>
        <p:grpSpPr>
          <a:xfrm>
            <a:off x="2819400" y="1548415"/>
            <a:ext cx="838200" cy="344710"/>
            <a:chOff x="2819400" y="1548415"/>
            <a:chExt cx="838200" cy="344710"/>
          </a:xfrm>
        </p:grpSpPr>
        <p:sp>
          <p:nvSpPr>
            <p:cNvPr id="9" name="TextBox 8"/>
            <p:cNvSpPr txBox="1"/>
            <p:nvPr/>
          </p:nvSpPr>
          <p:spPr>
            <a:xfrm>
              <a:off x="2955775" y="1548415"/>
              <a:ext cx="603050" cy="344710"/>
            </a:xfrm>
            <a:prstGeom prst="rect">
              <a:avLst/>
            </a:prstGeom>
            <a:noFill/>
          </p:spPr>
          <p:txBody>
            <a:bodyPr wrap="none" rtlCol="0" anchor="ctr" anchorCtr="0">
              <a:spAutoFit/>
            </a:bodyPr>
            <a:lstStyle/>
            <a:p>
              <a:r>
                <a:rPr lang="en-US" sz="2000" b="0" smtClean="0">
                  <a:solidFill>
                    <a:schemeClr val="dk1"/>
                  </a:solidFill>
                  <a:effectLst/>
                  <a:latin typeface="Calibri" pitchFamily="34" charset="0"/>
                  <a:cs typeface="Calibri" pitchFamily="34" charset="0"/>
                </a:rPr>
                <a:t>Link</a:t>
              </a:r>
              <a:endParaRPr lang="en-US" sz="2000" b="0" dirty="0" smtClean="0">
                <a:solidFill>
                  <a:schemeClr val="dk1"/>
                </a:solidFill>
                <a:effectLst/>
                <a:latin typeface="Calibri" pitchFamily="34" charset="0"/>
                <a:cs typeface="Calibri" pitchFamily="34" charset="0"/>
              </a:endParaRPr>
            </a:p>
          </p:txBody>
        </p:sp>
        <p:cxnSp>
          <p:nvCxnSpPr>
            <p:cNvPr id="22" name="Straight Arrow Connector 21"/>
            <p:cNvCxnSpPr/>
            <p:nvPr/>
          </p:nvCxnSpPr>
          <p:spPr bwMode="auto">
            <a:xfrm flipH="1">
              <a:off x="2819400" y="1857500"/>
              <a:ext cx="838200" cy="0"/>
            </a:xfrm>
            <a:prstGeom prst="straightConnector1">
              <a:avLst/>
            </a:prstGeom>
            <a:solidFill>
              <a:schemeClr val="accent1"/>
            </a:solidFill>
            <a:ln w="38100" cap="flat" cmpd="sng" algn="ctr">
              <a:solidFill>
                <a:schemeClr val="tx1"/>
              </a:solidFill>
              <a:prstDash val="dash"/>
              <a:round/>
              <a:headEnd type="none" w="med" len="med"/>
              <a:tailEnd type="triangle" w="med" len="med"/>
            </a:ln>
            <a:effectLst/>
          </p:spPr>
        </p:cxnSp>
      </p:grpSp>
      <p:sp>
        <p:nvSpPr>
          <p:cNvPr id="26" name="TextBox 25"/>
          <p:cNvSpPr txBox="1"/>
          <p:nvPr/>
        </p:nvSpPr>
        <p:spPr>
          <a:xfrm>
            <a:off x="6395850" y="797625"/>
            <a:ext cx="603050" cy="344710"/>
          </a:xfrm>
          <a:prstGeom prst="rect">
            <a:avLst/>
          </a:prstGeom>
          <a:noFill/>
        </p:spPr>
        <p:txBody>
          <a:bodyPr wrap="none" rtlCol="0" anchor="ctr" anchorCtr="0">
            <a:spAutoFit/>
          </a:bodyPr>
          <a:lstStyle/>
          <a:p>
            <a:r>
              <a:rPr lang="en-US" sz="2000" b="0" smtClean="0">
                <a:solidFill>
                  <a:schemeClr val="dk1"/>
                </a:solidFill>
                <a:effectLst/>
                <a:latin typeface="Calibri" pitchFamily="34" charset="0"/>
                <a:cs typeface="Calibri" pitchFamily="34" charset="0"/>
              </a:rPr>
              <a:t>Link</a:t>
            </a:r>
            <a:endParaRPr lang="en-US" sz="2000" b="0" dirty="0" smtClean="0">
              <a:solidFill>
                <a:schemeClr val="dk1"/>
              </a:solidFill>
              <a:effectLst/>
              <a:latin typeface="Calibri" pitchFamily="34" charset="0"/>
              <a:cs typeface="Calibri" pitchFamily="34" charset="0"/>
            </a:endParaRPr>
          </a:p>
        </p:txBody>
      </p:sp>
      <p:cxnSp>
        <p:nvCxnSpPr>
          <p:cNvPr id="27" name="Straight Arrow Connector 26"/>
          <p:cNvCxnSpPr/>
          <p:nvPr/>
        </p:nvCxnSpPr>
        <p:spPr bwMode="auto">
          <a:xfrm flipH="1">
            <a:off x="6324600" y="1082960"/>
            <a:ext cx="701825" cy="0"/>
          </a:xfrm>
          <a:prstGeom prst="straightConnector1">
            <a:avLst/>
          </a:prstGeom>
          <a:solidFill>
            <a:schemeClr val="accent1"/>
          </a:solidFill>
          <a:ln w="38100" cap="flat" cmpd="sng" algn="ctr">
            <a:solidFill>
              <a:schemeClr val="tx1"/>
            </a:solidFill>
            <a:prstDash val="dash"/>
            <a:round/>
            <a:headEnd type="none" w="med" len="med"/>
            <a:tailEnd type="triangle" w="med" len="med"/>
          </a:ln>
          <a:effectLst/>
        </p:spPr>
      </p:cxnSp>
      <p:cxnSp>
        <p:nvCxnSpPr>
          <p:cNvPr id="29" name="Straight Arrow Connector 28"/>
          <p:cNvCxnSpPr/>
          <p:nvPr/>
        </p:nvCxnSpPr>
        <p:spPr bwMode="auto">
          <a:xfrm flipH="1">
            <a:off x="6324600" y="1747900"/>
            <a:ext cx="701825" cy="0"/>
          </a:xfrm>
          <a:prstGeom prst="straightConnector1">
            <a:avLst/>
          </a:prstGeom>
          <a:solidFill>
            <a:schemeClr val="accent1"/>
          </a:solidFill>
          <a:ln w="38100" cap="flat" cmpd="sng" algn="ctr">
            <a:solidFill>
              <a:schemeClr val="tx1"/>
            </a:solidFill>
            <a:prstDash val="dash"/>
            <a:round/>
            <a:headEnd type="none" w="med" len="med"/>
            <a:tailEnd type="triangle" w="med" len="med"/>
          </a:ln>
          <a:effectLst/>
        </p:spPr>
      </p:cxnSp>
      <p:cxnSp>
        <p:nvCxnSpPr>
          <p:cNvPr id="30" name="Straight Arrow Connector 29"/>
          <p:cNvCxnSpPr/>
          <p:nvPr/>
        </p:nvCxnSpPr>
        <p:spPr bwMode="auto">
          <a:xfrm flipH="1">
            <a:off x="6324600" y="2438400"/>
            <a:ext cx="701825" cy="0"/>
          </a:xfrm>
          <a:prstGeom prst="straightConnector1">
            <a:avLst/>
          </a:prstGeom>
          <a:solidFill>
            <a:schemeClr val="accent1"/>
          </a:solidFill>
          <a:ln w="38100" cap="flat" cmpd="sng" algn="ctr">
            <a:solidFill>
              <a:schemeClr val="tx1"/>
            </a:solidFill>
            <a:prstDash val="dash"/>
            <a:round/>
            <a:headEnd type="none" w="med" len="med"/>
            <a:tailEnd type="triangle" w="med" len="med"/>
          </a:ln>
          <a:effectLst/>
        </p:spPr>
      </p:cxnSp>
      <p:sp>
        <p:nvSpPr>
          <p:cNvPr id="31" name="TextBox 30"/>
          <p:cNvSpPr txBox="1"/>
          <p:nvPr/>
        </p:nvSpPr>
        <p:spPr>
          <a:xfrm>
            <a:off x="6395850" y="1429986"/>
            <a:ext cx="603050" cy="344710"/>
          </a:xfrm>
          <a:prstGeom prst="rect">
            <a:avLst/>
          </a:prstGeom>
          <a:noFill/>
        </p:spPr>
        <p:txBody>
          <a:bodyPr wrap="none" rtlCol="0" anchor="ctr" anchorCtr="0">
            <a:spAutoFit/>
          </a:bodyPr>
          <a:lstStyle/>
          <a:p>
            <a:r>
              <a:rPr lang="en-US" sz="2000" b="0" smtClean="0">
                <a:solidFill>
                  <a:schemeClr val="dk1"/>
                </a:solidFill>
                <a:effectLst/>
                <a:latin typeface="Calibri" pitchFamily="34" charset="0"/>
                <a:cs typeface="Calibri" pitchFamily="34" charset="0"/>
              </a:rPr>
              <a:t>Link</a:t>
            </a:r>
            <a:endParaRPr lang="en-US" sz="2000" b="0" dirty="0" smtClean="0">
              <a:solidFill>
                <a:schemeClr val="dk1"/>
              </a:solidFill>
              <a:effectLst/>
              <a:latin typeface="Calibri" pitchFamily="34" charset="0"/>
              <a:cs typeface="Calibri" pitchFamily="34" charset="0"/>
            </a:endParaRPr>
          </a:p>
        </p:txBody>
      </p:sp>
      <p:sp>
        <p:nvSpPr>
          <p:cNvPr id="32" name="TextBox 31"/>
          <p:cNvSpPr txBox="1"/>
          <p:nvPr/>
        </p:nvSpPr>
        <p:spPr>
          <a:xfrm>
            <a:off x="6395850" y="2133600"/>
            <a:ext cx="603050" cy="344710"/>
          </a:xfrm>
          <a:prstGeom prst="rect">
            <a:avLst/>
          </a:prstGeom>
          <a:noFill/>
        </p:spPr>
        <p:txBody>
          <a:bodyPr wrap="none" rtlCol="0" anchor="ctr" anchorCtr="0">
            <a:spAutoFit/>
          </a:bodyPr>
          <a:lstStyle/>
          <a:p>
            <a:r>
              <a:rPr lang="en-US" sz="2000" b="0" smtClean="0">
                <a:solidFill>
                  <a:schemeClr val="dk1"/>
                </a:solidFill>
                <a:effectLst/>
                <a:latin typeface="Calibri" pitchFamily="34" charset="0"/>
                <a:cs typeface="Calibri" pitchFamily="34" charset="0"/>
              </a:rPr>
              <a:t>Link</a:t>
            </a:r>
            <a:endParaRPr lang="en-US" sz="2000" b="0" dirty="0" smtClean="0">
              <a:solidFill>
                <a:schemeClr val="dk1"/>
              </a:solidFill>
              <a:effectLst/>
              <a:latin typeface="Calibri" pitchFamily="34" charset="0"/>
              <a:cs typeface="Calibri" pitchFamily="34" charset="0"/>
            </a:endParaRPr>
          </a:p>
        </p:txBody>
      </p:sp>
      <p:sp>
        <p:nvSpPr>
          <p:cNvPr id="35" name="TextBox 34"/>
          <p:cNvSpPr txBox="1"/>
          <p:nvPr/>
        </p:nvSpPr>
        <p:spPr>
          <a:xfrm>
            <a:off x="152400" y="3429000"/>
            <a:ext cx="4762500" cy="2573012"/>
          </a:xfrm>
          <a:prstGeom prst="rect">
            <a:avLst/>
          </a:prstGeom>
          <a:noFill/>
        </p:spPr>
        <p:txBody>
          <a:bodyPr wrap="square" rtlCol="0" anchor="ctr" anchorCtr="0">
            <a:spAutoFit/>
          </a:bodyPr>
          <a:lstStyle/>
          <a:p>
            <a:pPr marL="342900" indent="-342900">
              <a:spcBef>
                <a:spcPts val="900"/>
              </a:spcBef>
              <a:buClr>
                <a:schemeClr val="tx2"/>
              </a:buClr>
              <a:buSzPct val="75000"/>
              <a:buFont typeface="Wingdings"/>
              <a:buChar char=""/>
            </a:pPr>
            <a:r>
              <a:rPr lang="en-US" smtClean="0">
                <a:solidFill>
                  <a:schemeClr val="tx2"/>
                </a:solidFill>
                <a:effectLst/>
                <a:latin typeface="Calibri" pitchFamily="34" charset="0"/>
                <a:cs typeface="Calibri" pitchFamily="34" charset="0"/>
              </a:rPr>
              <a:t>Workspace</a:t>
            </a:r>
            <a:r>
              <a:rPr lang="en-US" b="0" smtClean="0">
                <a:solidFill>
                  <a:schemeClr val="dk1"/>
                </a:solidFill>
                <a:effectLst/>
                <a:latin typeface="Calibri" pitchFamily="34" charset="0"/>
                <a:cs typeface="Calibri" pitchFamily="34" charset="0"/>
              </a:rPr>
              <a:t> \folder contains:</a:t>
            </a:r>
          </a:p>
          <a:p>
            <a:pPr marL="682625" indent="-287338">
              <a:spcBef>
                <a:spcPts val="900"/>
              </a:spcBef>
              <a:buSzPct val="100000"/>
              <a:buFont typeface="Arial" pitchFamily="34" charset="0"/>
              <a:buChar char="•"/>
            </a:pPr>
            <a:r>
              <a:rPr lang="en-US" sz="2000" b="0" smtClean="0">
                <a:solidFill>
                  <a:schemeClr val="dk1"/>
                </a:solidFill>
                <a:latin typeface="Calibri" pitchFamily="34" charset="0"/>
                <a:cs typeface="Calibri" pitchFamily="34" charset="0"/>
              </a:rPr>
              <a:t>IDE settings and preferences</a:t>
            </a:r>
          </a:p>
          <a:p>
            <a:pPr marL="682625" indent="-287338">
              <a:spcBef>
                <a:spcPts val="900"/>
              </a:spcBef>
              <a:buSzPct val="100000"/>
              <a:buFont typeface="Arial" pitchFamily="34" charset="0"/>
              <a:buChar char="•"/>
            </a:pPr>
            <a:r>
              <a:rPr lang="en-US" sz="2000" b="0" smtClean="0">
                <a:solidFill>
                  <a:schemeClr val="dk1"/>
                </a:solidFill>
                <a:latin typeface="Calibri" pitchFamily="34" charset="0"/>
                <a:cs typeface="Calibri" pitchFamily="34" charset="0"/>
              </a:rPr>
              <a:t>Projects can </a:t>
            </a:r>
            <a:r>
              <a:rPr lang="en-US" sz="2000" i="1" smtClean="0">
                <a:solidFill>
                  <a:schemeClr val="tx2"/>
                </a:solidFill>
                <a:latin typeface="Calibri" pitchFamily="34" charset="0"/>
                <a:cs typeface="Calibri" pitchFamily="34" charset="0"/>
              </a:rPr>
              <a:t>reside in</a:t>
            </a:r>
            <a:r>
              <a:rPr lang="en-US" sz="2000" b="0" smtClean="0">
                <a:solidFill>
                  <a:schemeClr val="dk1"/>
                </a:solidFill>
                <a:latin typeface="Calibri" pitchFamily="34" charset="0"/>
                <a:cs typeface="Calibri" pitchFamily="34" charset="0"/>
              </a:rPr>
              <a:t> the workspace folder or be </a:t>
            </a:r>
            <a:r>
              <a:rPr lang="en-US" sz="2000" i="1" smtClean="0">
                <a:solidFill>
                  <a:schemeClr val="tx2"/>
                </a:solidFill>
                <a:latin typeface="Calibri" pitchFamily="34" charset="0"/>
                <a:cs typeface="Calibri" pitchFamily="34" charset="0"/>
              </a:rPr>
              <a:t>linked</a:t>
            </a:r>
            <a:r>
              <a:rPr lang="en-US" sz="2000" b="0" smtClean="0">
                <a:solidFill>
                  <a:schemeClr val="dk1"/>
                </a:solidFill>
                <a:latin typeface="Calibri" pitchFamily="34" charset="0"/>
                <a:cs typeface="Calibri" pitchFamily="34" charset="0"/>
              </a:rPr>
              <a:t> from elsewhere</a:t>
            </a:r>
          </a:p>
          <a:p>
            <a:pPr marL="682625" indent="-287338">
              <a:spcBef>
                <a:spcPts val="900"/>
              </a:spcBef>
              <a:buSzPct val="100000"/>
              <a:buFont typeface="Arial" pitchFamily="34" charset="0"/>
              <a:buChar char="•"/>
            </a:pPr>
            <a:r>
              <a:rPr lang="en-US" sz="2000" b="0" smtClean="0">
                <a:solidFill>
                  <a:schemeClr val="dk1"/>
                </a:solidFill>
                <a:latin typeface="Calibri" pitchFamily="34" charset="0"/>
                <a:cs typeface="Calibri" pitchFamily="34" charset="0"/>
              </a:rPr>
              <a:t>When importing projects into the workspace, linking is recommended</a:t>
            </a:r>
          </a:p>
          <a:p>
            <a:pPr marL="682625" indent="-287338">
              <a:spcBef>
                <a:spcPts val="900"/>
              </a:spcBef>
              <a:buSzPct val="100000"/>
              <a:buFont typeface="Arial" pitchFamily="34" charset="0"/>
              <a:buChar char="•"/>
            </a:pPr>
            <a:r>
              <a:rPr lang="en-US" sz="2000" b="0" smtClean="0">
                <a:solidFill>
                  <a:schemeClr val="dk1"/>
                </a:solidFill>
                <a:effectLst/>
                <a:latin typeface="Calibri" pitchFamily="34" charset="0"/>
                <a:cs typeface="Calibri" pitchFamily="34" charset="0"/>
              </a:rPr>
              <a:t>Deleting a project from the Project Explorer only deletes the link</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2955" y="6220456"/>
            <a:ext cx="1805040" cy="39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6687382"/>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500"/>
                                        <p:tgtEl>
                                          <p:spTgt spid="5"/>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dissolve">
                                      <p:cBhvr>
                                        <p:cTn id="11" dur="500"/>
                                        <p:tgtEl>
                                          <p:spTgt spid="2"/>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wipe(up)">
                                      <p:cBhvr>
                                        <p:cTn id="1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35"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chemeClr val="accent2"/>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smtClean="0"/>
              <a:t>Eclipse “Workspace”</a:t>
            </a:r>
          </a:p>
        </p:txBody>
      </p:sp>
      <p:pic>
        <p:nvPicPr>
          <p:cNvPr id="20" name="Picture 3" descr="new_project_3_name_then_browse"/>
          <p:cNvPicPr>
            <a:picLocks noChangeAspect="1" noChangeArrowheads="1"/>
          </p:cNvPicPr>
          <p:nvPr/>
        </p:nvPicPr>
        <p:blipFill>
          <a:blip r:embed="rId2" cstate="print"/>
          <a:srcRect/>
          <a:stretch>
            <a:fillRect/>
          </a:stretch>
        </p:blipFill>
        <p:spPr bwMode="auto">
          <a:xfrm>
            <a:off x="2514600" y="4567238"/>
            <a:ext cx="3962400" cy="2165350"/>
          </a:xfrm>
          <a:prstGeom prst="rect">
            <a:avLst/>
          </a:prstGeom>
          <a:noFill/>
          <a:ln w="19050">
            <a:solidFill>
              <a:schemeClr val="tx1"/>
            </a:solidFill>
            <a:miter lim="800000"/>
            <a:headEnd/>
            <a:tailEnd/>
          </a:ln>
          <a:effectLst>
            <a:outerShdw dist="107763" dir="2700000" algn="ctr" rotWithShape="0">
              <a:srgbClr val="808080">
                <a:alpha val="50000"/>
              </a:srgbClr>
            </a:outerShdw>
          </a:effectLst>
        </p:spPr>
      </p:pic>
      <p:sp>
        <p:nvSpPr>
          <p:cNvPr id="22" name="Rectangle 21"/>
          <p:cNvSpPr/>
          <p:nvPr/>
        </p:nvSpPr>
        <p:spPr bwMode="auto">
          <a:xfrm>
            <a:off x="2590800" y="6046788"/>
            <a:ext cx="1219200" cy="228600"/>
          </a:xfrm>
          <a:prstGeom prst="rect">
            <a:avLst/>
          </a:prstGeom>
          <a:noFill/>
          <a:ln w="38100" cap="flat" cmpd="sng" algn="ctr">
            <a:solidFill>
              <a:srgbClr val="FF0000"/>
            </a:solidFill>
            <a:prstDash val="solid"/>
            <a:round/>
            <a:headEnd type="none" w="sm" len="sm"/>
            <a:tailEnd type="none" w="sm" len="sm"/>
          </a:ln>
          <a:effectLst/>
        </p:spPr>
        <p:txBody>
          <a:bodyPr/>
          <a:lstStyle/>
          <a:p>
            <a:pPr>
              <a:defRPr/>
            </a:pPr>
            <a:endParaRPr lang="en-US">
              <a:effectLst>
                <a:outerShdw blurRad="38100" dist="38100" dir="2700000" algn="tl">
                  <a:srgbClr val="000000">
                    <a:alpha val="43137"/>
                  </a:srgbClr>
                </a:outerShdw>
              </a:effectLst>
            </a:endParaRPr>
          </a:p>
        </p:txBody>
      </p:sp>
      <p:sp>
        <p:nvSpPr>
          <p:cNvPr id="15366" name="Text Box 9"/>
          <p:cNvSpPr txBox="1">
            <a:spLocks noChangeArrowheads="1"/>
          </p:cNvSpPr>
          <p:nvPr/>
        </p:nvSpPr>
        <p:spPr bwMode="auto">
          <a:xfrm>
            <a:off x="228600" y="600075"/>
            <a:ext cx="7397025" cy="1169551"/>
          </a:xfrm>
          <a:prstGeom prst="rect">
            <a:avLst/>
          </a:prstGeom>
          <a:noFill/>
          <a:ln w="12700">
            <a:noFill/>
            <a:miter lim="800000"/>
            <a:headEnd type="none" w="sm" len="sm"/>
            <a:tailEnd type="none" w="sm" len="sm"/>
          </a:ln>
        </p:spPr>
        <p:txBody>
          <a:bodyPr wrap="none">
            <a:spAutoFit/>
          </a:bodyPr>
          <a:lstStyle/>
          <a:p>
            <a:pPr marL="342900" indent="-342900">
              <a:lnSpc>
                <a:spcPct val="100000"/>
              </a:lnSpc>
              <a:buClr>
                <a:schemeClr val="tx2"/>
              </a:buClr>
              <a:buSzPct val="75000"/>
              <a:buFont typeface="Wingdings" pitchFamily="2" charset="2"/>
              <a:buChar char=""/>
            </a:pPr>
            <a:r>
              <a:rPr lang="en-US" sz="2000" i="1" u="sng">
                <a:latin typeface="Calibri" pitchFamily="34" charset="0"/>
                <a:cs typeface="Calibri" pitchFamily="34" charset="0"/>
              </a:rPr>
              <a:t>Workspace</a:t>
            </a:r>
            <a:r>
              <a:rPr lang="en-US" sz="2000">
                <a:latin typeface="Calibri" pitchFamily="34" charset="0"/>
                <a:cs typeface="Calibri" pitchFamily="34" charset="0"/>
              </a:rPr>
              <a:t> –  a “container” for Eclipse metadata </a:t>
            </a:r>
            <a:r>
              <a:rPr lang="en-US" sz="2000" smtClean="0">
                <a:latin typeface="Calibri" pitchFamily="34" charset="0"/>
                <a:cs typeface="Calibri" pitchFamily="34" charset="0"/>
              </a:rPr>
              <a:t>and the </a:t>
            </a:r>
            <a:r>
              <a:rPr lang="en-US" sz="2000">
                <a:latin typeface="Calibri" pitchFamily="34" charset="0"/>
                <a:cs typeface="Calibri" pitchFamily="34" charset="0"/>
              </a:rPr>
              <a:t>default </a:t>
            </a:r>
            <a:r>
              <a:rPr lang="en-US" sz="2000" smtClean="0">
                <a:latin typeface="Calibri" pitchFamily="34" charset="0"/>
                <a:cs typeface="Calibri" pitchFamily="34" charset="0"/>
              </a:rPr>
              <a:t/>
            </a:r>
            <a:br>
              <a:rPr lang="en-US" sz="2000" smtClean="0">
                <a:latin typeface="Calibri" pitchFamily="34" charset="0"/>
                <a:cs typeface="Calibri" pitchFamily="34" charset="0"/>
              </a:rPr>
            </a:br>
            <a:r>
              <a:rPr lang="en-US" sz="2000" smtClean="0">
                <a:latin typeface="Calibri" pitchFamily="34" charset="0"/>
                <a:cs typeface="Calibri" pitchFamily="34" charset="0"/>
              </a:rPr>
              <a:t>location </a:t>
            </a:r>
            <a:r>
              <a:rPr lang="en-US" sz="2000">
                <a:latin typeface="Calibri" pitchFamily="34" charset="0"/>
                <a:cs typeface="Calibri" pitchFamily="34" charset="0"/>
              </a:rPr>
              <a:t>for all projects</a:t>
            </a:r>
          </a:p>
          <a:p>
            <a:pPr marL="342900" indent="-342900">
              <a:lnSpc>
                <a:spcPct val="100000"/>
              </a:lnSpc>
              <a:buClr>
                <a:schemeClr val="tx2"/>
              </a:buClr>
              <a:buSzPct val="75000"/>
              <a:buFont typeface="Wingdings" pitchFamily="2" charset="2"/>
              <a:buChar char=""/>
            </a:pPr>
            <a:r>
              <a:rPr lang="en-US" sz="2000">
                <a:latin typeface="Calibri" pitchFamily="34" charset="0"/>
                <a:cs typeface="Calibri" pitchFamily="34" charset="0"/>
              </a:rPr>
              <a:t>Default </a:t>
            </a:r>
            <a:r>
              <a:rPr lang="en-US" sz="2000" smtClean="0">
                <a:latin typeface="Calibri" pitchFamily="34" charset="0"/>
                <a:cs typeface="Calibri" pitchFamily="34" charset="0"/>
              </a:rPr>
              <a:t>Location (as shown):</a:t>
            </a:r>
            <a:endParaRPr lang="en-US" sz="2000">
              <a:latin typeface="Calibri" pitchFamily="34" charset="0"/>
              <a:cs typeface="Calibri" pitchFamily="34" charset="0"/>
            </a:endParaRPr>
          </a:p>
        </p:txBody>
      </p:sp>
      <p:sp>
        <p:nvSpPr>
          <p:cNvPr id="15367" name="Text Box 9"/>
          <p:cNvSpPr txBox="1">
            <a:spLocks noChangeArrowheads="1"/>
          </p:cNvSpPr>
          <p:nvPr/>
        </p:nvSpPr>
        <p:spPr bwMode="auto">
          <a:xfrm>
            <a:off x="228600" y="3758824"/>
            <a:ext cx="5528052" cy="800219"/>
          </a:xfrm>
          <a:prstGeom prst="rect">
            <a:avLst/>
          </a:prstGeom>
          <a:noFill/>
          <a:ln w="12700">
            <a:noFill/>
            <a:miter lim="800000"/>
            <a:headEnd type="none" w="sm" len="sm"/>
            <a:tailEnd type="none" w="sm" len="sm"/>
          </a:ln>
        </p:spPr>
        <p:txBody>
          <a:bodyPr wrap="none">
            <a:spAutoFit/>
          </a:bodyPr>
          <a:lstStyle/>
          <a:p>
            <a:pPr marL="342900" indent="-342900">
              <a:lnSpc>
                <a:spcPct val="90000"/>
              </a:lnSpc>
              <a:buClr>
                <a:schemeClr val="tx2"/>
              </a:buClr>
              <a:buSzPct val="75000"/>
              <a:buFont typeface="Wingdings" pitchFamily="2" charset="2"/>
              <a:buChar char=""/>
            </a:pPr>
            <a:r>
              <a:rPr lang="en-US" sz="2000">
                <a:latin typeface="Calibri" pitchFamily="34" charset="0"/>
                <a:cs typeface="Calibri" pitchFamily="34" charset="0"/>
              </a:rPr>
              <a:t>Can change </a:t>
            </a:r>
            <a:r>
              <a:rPr lang="en-US" sz="2000" smtClean="0">
                <a:latin typeface="Calibri" pitchFamily="34" charset="0"/>
                <a:cs typeface="Calibri" pitchFamily="34" charset="0"/>
              </a:rPr>
              <a:t>workspace </a:t>
            </a:r>
            <a:r>
              <a:rPr lang="en-US" sz="2000">
                <a:latin typeface="Calibri" pitchFamily="34" charset="0"/>
                <a:cs typeface="Calibri" pitchFamily="34" charset="0"/>
              </a:rPr>
              <a:t>location if desired</a:t>
            </a:r>
          </a:p>
          <a:p>
            <a:pPr marL="342900" indent="-342900">
              <a:lnSpc>
                <a:spcPct val="90000"/>
              </a:lnSpc>
              <a:buClr>
                <a:schemeClr val="tx2"/>
              </a:buClr>
              <a:buSzPct val="75000"/>
              <a:buFont typeface="Wingdings" pitchFamily="2" charset="2"/>
              <a:buChar char=""/>
            </a:pPr>
            <a:r>
              <a:rPr lang="en-US" sz="2000">
                <a:latin typeface="Calibri" pitchFamily="34" charset="0"/>
                <a:cs typeface="Calibri" pitchFamily="34" charset="0"/>
              </a:rPr>
              <a:t>User can also locate projects in specific folders:</a:t>
            </a:r>
          </a:p>
        </p:txBody>
      </p:sp>
      <p:pic>
        <p:nvPicPr>
          <p:cNvPr id="5122" name="Picture 2"/>
          <p:cNvPicPr>
            <a:picLocks noChangeAspect="1" noChangeArrowheads="1"/>
          </p:cNvPicPr>
          <p:nvPr/>
        </p:nvPicPr>
        <p:blipFill>
          <a:blip r:embed="rId3" cstate="print"/>
          <a:srcRect/>
          <a:stretch>
            <a:fillRect/>
          </a:stretch>
        </p:blipFill>
        <p:spPr bwMode="auto">
          <a:xfrm>
            <a:off x="1371600" y="1828800"/>
            <a:ext cx="4270537" cy="1676400"/>
          </a:xfrm>
          <a:prstGeom prst="rect">
            <a:avLst/>
          </a:prstGeom>
          <a:noFill/>
          <a:ln w="12700">
            <a:solidFill>
              <a:schemeClr val="tx1"/>
            </a:solidFill>
            <a:miter lim="800000"/>
            <a:headEnd/>
            <a:tailEnd/>
          </a:ln>
          <a:effectLst>
            <a:outerShdw blurRad="50800" dist="76200" dir="2700000" algn="tl" rotWithShape="0">
              <a:prstClr val="black">
                <a:alpha val="40000"/>
              </a:prstClr>
            </a:outerShdw>
          </a:effectLst>
        </p:spPr>
      </p:pic>
    </p:spTree>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838200"/>
            <a:ext cx="5562600" cy="5181600"/>
          </a:xfrm>
          <a:prstGeom prst="rect">
            <a:avLst/>
          </a:prstGeom>
          <a:solidFill>
            <a:srgbClr val="92D050"/>
          </a:solidFill>
          <a:ln w="19050">
            <a:solidFill>
              <a:schemeClr val="tx1"/>
            </a:solidFill>
            <a:miter lim="800000"/>
            <a:headEnd type="none" w="sm" len="sm"/>
            <a:tailEnd type="none" w="sm" len="sm"/>
          </a:ln>
          <a:effectLst>
            <a:outerShdw blurRad="50800" dist="889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3" cstate="print"/>
          <a:srcRect/>
          <a:stretch>
            <a:fillRect/>
          </a:stretch>
        </p:blipFill>
        <p:spPr bwMode="auto">
          <a:xfrm>
            <a:off x="6160824" y="1316817"/>
            <a:ext cx="2819400" cy="4172713"/>
          </a:xfrm>
          <a:prstGeom prst="rect">
            <a:avLst/>
          </a:prstGeom>
          <a:noFill/>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9" name="Text Box 4">
            <a:hlinkClick r:id="rId14" action="ppaction://hlinksldjump"/>
          </p:cNvPr>
          <p:cNvSpPr txBox="1">
            <a:spLocks noChangeArrowheads="1"/>
          </p:cNvSpPr>
          <p:nvPr>
            <p:custDataLst>
              <p:tags r:id="rId2"/>
            </p:custDataLst>
          </p:nvPr>
        </p:nvSpPr>
        <p:spPr bwMode="auto">
          <a:xfrm>
            <a:off x="310202" y="954651"/>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Intro to CCSv6</a:t>
            </a:r>
            <a:endParaRPr lang="en-US" sz="2800">
              <a:solidFill>
                <a:srgbClr val="000000"/>
              </a:solidFill>
            </a:endParaRPr>
          </a:p>
        </p:txBody>
      </p:sp>
      <p:sp>
        <p:nvSpPr>
          <p:cNvPr id="10" name="Text Box 6">
            <a:hlinkClick r:id="rId15" action="ppaction://hlinksldjump"/>
          </p:cNvPr>
          <p:cNvSpPr txBox="1">
            <a:spLocks noChangeArrowheads="1"/>
          </p:cNvSpPr>
          <p:nvPr>
            <p:custDataLst>
              <p:tags r:id="rId3"/>
            </p:custDataLst>
          </p:nvPr>
        </p:nvSpPr>
        <p:spPr bwMode="auto">
          <a:xfrm>
            <a:off x="819150" y="1473995"/>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Functional Overview</a:t>
            </a:r>
            <a:endParaRPr lang="en-US">
              <a:solidFill>
                <a:srgbClr val="000000"/>
              </a:solidFill>
            </a:endParaRPr>
          </a:p>
        </p:txBody>
      </p:sp>
      <p:sp>
        <p:nvSpPr>
          <p:cNvPr id="11" name="Text Box 6">
            <a:hlinkClick r:id="rId16" action="ppaction://hlinksldjump"/>
          </p:cNvPr>
          <p:cNvSpPr txBox="1">
            <a:spLocks noChangeArrowheads="1"/>
          </p:cNvSpPr>
          <p:nvPr>
            <p:custDataLst>
              <p:tags r:id="rId4"/>
            </p:custDataLst>
          </p:nvPr>
        </p:nvSpPr>
        <p:spPr bwMode="auto">
          <a:xfrm>
            <a:off x="819150" y="1926309"/>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Perspectives</a:t>
            </a:r>
            <a:endParaRPr lang="en-US">
              <a:solidFill>
                <a:srgbClr val="000000"/>
              </a:solidFill>
            </a:endParaRPr>
          </a:p>
        </p:txBody>
      </p:sp>
      <p:sp>
        <p:nvSpPr>
          <p:cNvPr id="12" name="Text Box 6">
            <a:hlinkClick r:id="rId17" action="ppaction://hlinksldjump"/>
          </p:cNvPr>
          <p:cNvSpPr txBox="1">
            <a:spLocks noChangeArrowheads="1"/>
          </p:cNvSpPr>
          <p:nvPr>
            <p:custDataLst>
              <p:tags r:id="rId5"/>
            </p:custDataLst>
          </p:nvPr>
        </p:nvSpPr>
        <p:spPr bwMode="auto">
          <a:xfrm>
            <a:off x="819150" y="2378623"/>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Target Config &amp; Emulators</a:t>
            </a:r>
            <a:endParaRPr lang="en-US">
              <a:solidFill>
                <a:srgbClr val="000000"/>
              </a:solidFill>
            </a:endParaRPr>
          </a:p>
        </p:txBody>
      </p:sp>
      <p:sp>
        <p:nvSpPr>
          <p:cNvPr id="13" name="Text Box 6">
            <a:hlinkClick r:id="rId18" action="ppaction://hlinksldjump"/>
          </p:cNvPr>
          <p:cNvSpPr txBox="1">
            <a:spLocks noChangeArrowheads="1"/>
          </p:cNvSpPr>
          <p:nvPr>
            <p:custDataLst>
              <p:tags r:id="rId6"/>
            </p:custDataLst>
          </p:nvPr>
        </p:nvSpPr>
        <p:spPr bwMode="auto">
          <a:xfrm>
            <a:off x="819150" y="2830937"/>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Workspaces &amp; Projects</a:t>
            </a:r>
            <a:endParaRPr lang="en-US">
              <a:solidFill>
                <a:srgbClr val="000000"/>
              </a:solidFill>
            </a:endParaRPr>
          </a:p>
        </p:txBody>
      </p:sp>
      <p:sp>
        <p:nvSpPr>
          <p:cNvPr id="14" name="Text Box 5">
            <a:hlinkClick r:id="rId19" action="ppaction://hlinksldjump"/>
          </p:cNvPr>
          <p:cNvSpPr txBox="1">
            <a:spLocks noChangeArrowheads="1"/>
          </p:cNvSpPr>
          <p:nvPr>
            <p:custDataLst>
              <p:tags r:id="rId7"/>
            </p:custDataLst>
          </p:nvPr>
        </p:nvSpPr>
        <p:spPr bwMode="auto">
          <a:xfrm>
            <a:off x="823273" y="3283251"/>
            <a:ext cx="4600575" cy="387798"/>
          </a:xfrm>
          <a:prstGeom prst="rect">
            <a:avLst/>
          </a:prstGeom>
          <a:solidFill>
            <a:schemeClr val="bg1"/>
          </a:solidFill>
          <a:ln w="19050">
            <a:solidFill>
              <a:schemeClr val="tx1"/>
            </a:solid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Creating a Project</a:t>
            </a:r>
            <a:endParaRPr lang="en-US">
              <a:solidFill>
                <a:srgbClr val="000000"/>
              </a:solidFill>
            </a:endParaRPr>
          </a:p>
        </p:txBody>
      </p:sp>
      <p:sp>
        <p:nvSpPr>
          <p:cNvPr id="15" name="Text Box 6">
            <a:hlinkClick r:id="rId20" action="ppaction://hlinksldjump"/>
          </p:cNvPr>
          <p:cNvSpPr txBox="1">
            <a:spLocks noChangeArrowheads="1"/>
          </p:cNvSpPr>
          <p:nvPr>
            <p:custDataLst>
              <p:tags r:id="rId8"/>
            </p:custDataLst>
          </p:nvPr>
        </p:nvSpPr>
        <p:spPr bwMode="auto">
          <a:xfrm>
            <a:off x="819150" y="3735565"/>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Build Config &amp; Options</a:t>
            </a:r>
            <a:endParaRPr lang="en-US">
              <a:solidFill>
                <a:srgbClr val="000000"/>
              </a:solidFill>
            </a:endParaRPr>
          </a:p>
        </p:txBody>
      </p:sp>
      <p:sp>
        <p:nvSpPr>
          <p:cNvPr id="16" name="Text Box 4">
            <a:hlinkClick r:id="rId21" action="ppaction://hlinksldjump"/>
          </p:cNvPr>
          <p:cNvSpPr txBox="1">
            <a:spLocks noChangeArrowheads="1"/>
          </p:cNvSpPr>
          <p:nvPr>
            <p:custDataLst>
              <p:tags r:id="rId9"/>
            </p:custDataLst>
          </p:nvPr>
        </p:nvSpPr>
        <p:spPr bwMode="auto">
          <a:xfrm>
            <a:off x="310202" y="4203352"/>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Licensing/Pricing</a:t>
            </a:r>
            <a:endParaRPr lang="en-US" sz="2800">
              <a:solidFill>
                <a:srgbClr val="000000"/>
              </a:solidFill>
            </a:endParaRPr>
          </a:p>
        </p:txBody>
      </p:sp>
      <p:sp>
        <p:nvSpPr>
          <p:cNvPr id="17" name="Text Box 4">
            <a:hlinkClick r:id="rId22" action="ppaction://hlinksldjump"/>
          </p:cNvPr>
          <p:cNvSpPr txBox="1">
            <a:spLocks noChangeArrowheads="1"/>
          </p:cNvSpPr>
          <p:nvPr>
            <p:custDataLst>
              <p:tags r:id="rId10"/>
            </p:custDataLst>
          </p:nvPr>
        </p:nvSpPr>
        <p:spPr bwMode="auto">
          <a:xfrm>
            <a:off x="310202" y="4738169"/>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CCSv6 – For More Info…</a:t>
            </a:r>
            <a:endParaRPr lang="en-US" sz="2800">
              <a:solidFill>
                <a:srgbClr val="000000"/>
              </a:solidFill>
            </a:endParaRPr>
          </a:p>
        </p:txBody>
      </p:sp>
      <p:sp>
        <p:nvSpPr>
          <p:cNvPr id="18" name="Text Box 4">
            <a:hlinkClick r:id="rId23" action="ppaction://hlinksldjump"/>
          </p:cNvPr>
          <p:cNvSpPr txBox="1">
            <a:spLocks noChangeArrowheads="1"/>
          </p:cNvSpPr>
          <p:nvPr>
            <p:custDataLst>
              <p:tags r:id="rId11"/>
            </p:custDataLst>
          </p:nvPr>
        </p:nvSpPr>
        <p:spPr bwMode="auto">
          <a:xfrm>
            <a:off x="310202" y="5272986"/>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a:solidFill>
                <a:srgbClr val="000000"/>
              </a:solidFill>
            </a:endParaRPr>
          </a:p>
        </p:txBody>
      </p:sp>
    </p:spTree>
    <p:custDataLst>
      <p:tags r:id="rId1"/>
    </p:custDataLst>
    <p:extLst>
      <p:ext uri="{BB962C8B-B14F-4D97-AF65-F5344CB8AC3E}">
        <p14:creationId xmlns:p14="http://schemas.microsoft.com/office/powerpoint/2010/main" val="2399793530"/>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a0159877\AppData\Local\Temp\SNAGHTML1c212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 y="663615"/>
            <a:ext cx="5153025" cy="5667376"/>
          </a:xfrm>
          <a:prstGeom prst="rect">
            <a:avLst/>
          </a:prstGeom>
          <a:noFill/>
          <a:extLst>
            <a:ext uri="{909E8E84-426E-40DD-AFC4-6F175D3DCCD1}">
              <a14:hiddenFill xmlns:a14="http://schemas.microsoft.com/office/drawing/2010/main">
                <a:solidFill>
                  <a:srgbClr val="FFFFFF"/>
                </a:solidFill>
              </a14:hiddenFill>
            </a:ext>
          </a:extLst>
        </p:spPr>
      </p:pic>
      <p:sp>
        <p:nvSpPr>
          <p:cNvPr id="17410" name="Rectangle 2"/>
          <p:cNvSpPr>
            <a:spLocks noGrp="1" noChangeArrowheads="1"/>
          </p:cNvSpPr>
          <p:nvPr>
            <p:ph type="title"/>
          </p:nvPr>
        </p:nvSpPr>
        <p:spPr/>
        <p:txBody>
          <a:bodyPr>
            <a:normAutofit/>
          </a:bodyPr>
          <a:lstStyle/>
          <a:p>
            <a:r>
              <a:rPr lang="en-US" smtClean="0"/>
              <a:t>Creating a New Project</a:t>
            </a:r>
          </a:p>
        </p:txBody>
      </p:sp>
      <p:grpSp>
        <p:nvGrpSpPr>
          <p:cNvPr id="25" name="Group 6"/>
          <p:cNvGrpSpPr>
            <a:grpSpLocks/>
          </p:cNvGrpSpPr>
          <p:nvPr/>
        </p:nvGrpSpPr>
        <p:grpSpPr bwMode="auto">
          <a:xfrm>
            <a:off x="5334000" y="761999"/>
            <a:ext cx="3821115" cy="381001"/>
            <a:chOff x="182" y="412"/>
            <a:chExt cx="2407" cy="240"/>
          </a:xfrm>
        </p:grpSpPr>
        <p:sp>
          <p:nvSpPr>
            <p:cNvPr id="28" name="Rectangle 7"/>
            <p:cNvSpPr>
              <a:spLocks noChangeArrowheads="1"/>
            </p:cNvSpPr>
            <p:nvPr/>
          </p:nvSpPr>
          <p:spPr bwMode="auto">
            <a:xfrm>
              <a:off x="192" y="412"/>
              <a:ext cx="2317" cy="240"/>
            </a:xfrm>
            <a:prstGeom prst="rect">
              <a:avLst/>
            </a:prstGeom>
            <a:solidFill>
              <a:schemeClr val="accent4">
                <a:lumMod val="40000"/>
                <a:lumOff val="60000"/>
              </a:schemeClr>
            </a:solidFill>
            <a:ln w="12700">
              <a:solidFill>
                <a:schemeClr val="tx1"/>
              </a:solidFill>
              <a:miter lim="800000"/>
              <a:headEnd type="none" w="sm" len="sm"/>
              <a:tailEnd type="none" w="sm" len="sm"/>
            </a:ln>
            <a:effectLst/>
          </p:spPr>
          <p:txBody>
            <a:bodyPr wrap="none" anchor="ctr"/>
            <a:lstStyle/>
            <a:p>
              <a:pPr>
                <a:defRPr/>
              </a:pPr>
              <a:endParaRPr lang="en-US">
                <a:effectLst>
                  <a:outerShdw blurRad="38100" dist="38100" dir="2700000" algn="tl">
                    <a:srgbClr val="000000">
                      <a:alpha val="43137"/>
                    </a:srgbClr>
                  </a:outerShdw>
                </a:effectLst>
              </a:endParaRPr>
            </a:p>
          </p:txBody>
        </p:sp>
        <p:sp>
          <p:nvSpPr>
            <p:cNvPr id="33" name="Text Box 8"/>
            <p:cNvSpPr txBox="1">
              <a:spLocks noChangeArrowheads="1"/>
            </p:cNvSpPr>
            <p:nvPr/>
          </p:nvSpPr>
          <p:spPr bwMode="auto">
            <a:xfrm>
              <a:off x="182" y="434"/>
              <a:ext cx="2407" cy="213"/>
            </a:xfrm>
            <a:prstGeom prst="rect">
              <a:avLst/>
            </a:prstGeom>
            <a:noFill/>
            <a:ln w="12700">
              <a:noFill/>
              <a:miter lim="800000"/>
              <a:headEnd type="none" w="sm" len="sm"/>
              <a:tailEnd type="none" w="sm" len="sm"/>
            </a:ln>
          </p:spPr>
          <p:txBody>
            <a:bodyPr wrap="none">
              <a:spAutoFit/>
            </a:bodyPr>
            <a:lstStyle/>
            <a:p>
              <a:r>
                <a:rPr lang="en-US" sz="2000" smtClean="0">
                  <a:latin typeface="Courier New" pitchFamily="49" charset="0"/>
                </a:rPr>
                <a:t>Project</a:t>
              </a:r>
              <a:r>
                <a:rPr lang="en-US" sz="2000" smtClean="0">
                  <a:latin typeface="Courier New" pitchFamily="49" charset="0"/>
                  <a:sym typeface="Wingdings"/>
                </a:rPr>
                <a:t></a:t>
              </a:r>
              <a:r>
                <a:rPr lang="en-US" sz="2000" smtClean="0">
                  <a:latin typeface="Courier New" pitchFamily="49" charset="0"/>
                </a:rPr>
                <a:t>New CCS </a:t>
              </a:r>
              <a:r>
                <a:rPr lang="en-US" sz="2000">
                  <a:latin typeface="Courier New" pitchFamily="49" charset="0"/>
                </a:rPr>
                <a:t>Project</a:t>
              </a:r>
            </a:p>
          </p:txBody>
        </p:sp>
      </p:grpSp>
      <p:sp>
        <p:nvSpPr>
          <p:cNvPr id="37" name="TextBox 15"/>
          <p:cNvSpPr txBox="1">
            <a:spLocks noChangeArrowheads="1"/>
          </p:cNvSpPr>
          <p:nvPr/>
        </p:nvSpPr>
        <p:spPr bwMode="auto">
          <a:xfrm>
            <a:off x="5976584" y="1189676"/>
            <a:ext cx="2202847" cy="289310"/>
          </a:xfrm>
          <a:prstGeom prst="rect">
            <a:avLst/>
          </a:prstGeom>
          <a:noFill/>
          <a:ln w="9525">
            <a:noFill/>
            <a:miter lim="800000"/>
            <a:headEnd/>
            <a:tailEnd/>
          </a:ln>
        </p:spPr>
        <p:txBody>
          <a:bodyPr wrap="none">
            <a:spAutoFit/>
          </a:bodyPr>
          <a:lstStyle/>
          <a:p>
            <a:r>
              <a:rPr lang="en-US" sz="1600" b="0" i="1"/>
              <a:t>(in </a:t>
            </a:r>
            <a:r>
              <a:rPr lang="en-US" sz="1600" b="0" i="1" smtClean="0"/>
              <a:t>Edit perspective…)</a:t>
            </a:r>
            <a:endParaRPr lang="en-US" sz="1600" b="0" i="1"/>
          </a:p>
        </p:txBody>
      </p:sp>
      <p:sp>
        <p:nvSpPr>
          <p:cNvPr id="47" name="TextBox 46"/>
          <p:cNvSpPr txBox="1"/>
          <p:nvPr/>
        </p:nvSpPr>
        <p:spPr>
          <a:xfrm>
            <a:off x="5261482" y="3048000"/>
            <a:ext cx="3766031" cy="1040285"/>
          </a:xfrm>
          <a:prstGeom prst="rect">
            <a:avLst/>
          </a:prstGeom>
          <a:noFill/>
        </p:spPr>
        <p:txBody>
          <a:bodyPr wrap="none" rtlCol="0" anchor="ctr" anchorCtr="0">
            <a:spAutoFit/>
          </a:bodyPr>
          <a:lstStyle/>
          <a:p>
            <a:pPr marL="342900" indent="-342900">
              <a:spcBef>
                <a:spcPts val="600"/>
              </a:spcBef>
              <a:buClr>
                <a:schemeClr val="tx2"/>
              </a:buClr>
              <a:buSzPct val="75000"/>
              <a:buFont typeface="Wingdings"/>
              <a:buChar char=""/>
            </a:pPr>
            <a:r>
              <a:rPr lang="en-US" smtClean="0">
                <a:solidFill>
                  <a:schemeClr val="tx2"/>
                </a:solidFill>
                <a:latin typeface="Calibri" pitchFamily="34" charset="0"/>
                <a:cs typeface="Calibri" pitchFamily="34" charset="0"/>
              </a:rPr>
              <a:t>Project Location</a:t>
            </a:r>
          </a:p>
          <a:p>
            <a:pPr marL="574675" indent="-169863">
              <a:spcBef>
                <a:spcPts val="600"/>
              </a:spcBef>
              <a:buSzPct val="100000"/>
              <a:buFont typeface="Arial" pitchFamily="34" charset="0"/>
              <a:buChar char="•"/>
            </a:pPr>
            <a:r>
              <a:rPr lang="en-US" sz="2000" b="0" smtClean="0">
                <a:latin typeface="Calibri" pitchFamily="34" charset="0"/>
                <a:cs typeface="Calibri" pitchFamily="34" charset="0"/>
              </a:rPr>
              <a:t>Default = workspace</a:t>
            </a:r>
          </a:p>
          <a:p>
            <a:pPr marL="574675" indent="-169863">
              <a:spcBef>
                <a:spcPts val="600"/>
              </a:spcBef>
              <a:buSzPct val="100000"/>
              <a:buFont typeface="Arial" pitchFamily="34" charset="0"/>
              <a:buChar char="•"/>
            </a:pPr>
            <a:r>
              <a:rPr lang="en-US" sz="2000" b="0" smtClean="0">
                <a:latin typeface="Calibri" pitchFamily="34" charset="0"/>
                <a:cs typeface="Calibri" pitchFamily="34" charset="0"/>
              </a:rPr>
              <a:t>Manual = anywhere you like</a:t>
            </a:r>
          </a:p>
        </p:txBody>
      </p:sp>
      <p:sp>
        <p:nvSpPr>
          <p:cNvPr id="38" name="Rectangle 37"/>
          <p:cNvSpPr/>
          <p:nvPr/>
        </p:nvSpPr>
        <p:spPr bwMode="auto">
          <a:xfrm>
            <a:off x="381000" y="2963238"/>
            <a:ext cx="2743200" cy="533400"/>
          </a:xfrm>
          <a:prstGeom prst="rect">
            <a:avLst/>
          </a:prstGeom>
          <a:noFill/>
          <a:ln w="38100" cap="flat" cmpd="sng" algn="ctr">
            <a:solidFill>
              <a:srgbClr val="FF0000"/>
            </a:solidFill>
            <a:prstDash val="solid"/>
            <a:round/>
            <a:headEnd type="none" w="sm" len="sm"/>
            <a:tailEnd type="none" w="sm" len="sm"/>
          </a:ln>
          <a:effectLst/>
        </p:spPr>
        <p:txBody>
          <a:bodyPr/>
          <a:lstStyle/>
          <a:p>
            <a:pPr>
              <a:defRPr/>
            </a:pPr>
            <a:endParaRPr lang="en-US">
              <a:effectLst>
                <a:outerShdw blurRad="38100" dist="38100" dir="2700000" algn="tl">
                  <a:srgbClr val="000000">
                    <a:alpha val="43137"/>
                  </a:srgbClr>
                </a:outerShdw>
              </a:effectLst>
            </a:endParaRPr>
          </a:p>
        </p:txBody>
      </p:sp>
      <p:sp>
        <p:nvSpPr>
          <p:cNvPr id="45" name="Oval 44"/>
          <p:cNvSpPr/>
          <p:nvPr/>
        </p:nvSpPr>
        <p:spPr bwMode="auto">
          <a:xfrm>
            <a:off x="287083" y="3823510"/>
            <a:ext cx="1295400" cy="381000"/>
          </a:xfrm>
          <a:prstGeom prst="ellipse">
            <a:avLst/>
          </a:prstGeom>
          <a:noFill/>
          <a:ln w="28575" cap="flat" cmpd="sng" algn="ctr">
            <a:solidFill>
              <a:srgbClr val="FF0000"/>
            </a:solidFill>
            <a:prstDash val="dash"/>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smtClean="0">
              <a:ln>
                <a:noFill/>
              </a:ln>
              <a:solidFill>
                <a:schemeClr val="dk1"/>
              </a:solidFill>
              <a:effectLst/>
              <a:latin typeface="Arial Narrow" pitchFamily="34" charset="0"/>
            </a:endParaRPr>
          </a:p>
        </p:txBody>
      </p:sp>
      <p:sp>
        <p:nvSpPr>
          <p:cNvPr id="49" name="TextBox 48"/>
          <p:cNvSpPr txBox="1"/>
          <p:nvPr/>
        </p:nvSpPr>
        <p:spPr>
          <a:xfrm>
            <a:off x="5261482" y="4191000"/>
            <a:ext cx="3882922" cy="1034129"/>
          </a:xfrm>
          <a:prstGeom prst="rect">
            <a:avLst/>
          </a:prstGeom>
          <a:noFill/>
        </p:spPr>
        <p:txBody>
          <a:bodyPr wrap="none" rtlCol="0" anchor="ctr" anchorCtr="0">
            <a:spAutoFit/>
          </a:bodyPr>
          <a:lstStyle/>
          <a:p>
            <a:pPr marL="342900" indent="-342900">
              <a:spcBef>
                <a:spcPts val="600"/>
              </a:spcBef>
              <a:buClr>
                <a:schemeClr val="tx2"/>
              </a:buClr>
              <a:buSzPct val="75000"/>
              <a:buFont typeface="Wingdings"/>
              <a:buChar char=""/>
            </a:pPr>
            <a:r>
              <a:rPr lang="en-US" smtClean="0">
                <a:solidFill>
                  <a:schemeClr val="tx2"/>
                </a:solidFill>
                <a:latin typeface="Calibri" pitchFamily="34" charset="0"/>
                <a:cs typeface="Calibri" pitchFamily="34" charset="0"/>
              </a:rPr>
              <a:t>Templates</a:t>
            </a:r>
          </a:p>
          <a:p>
            <a:pPr marL="574675" indent="-169863">
              <a:spcBef>
                <a:spcPts val="600"/>
              </a:spcBef>
              <a:buSzPct val="100000"/>
              <a:buFont typeface="Arial" pitchFamily="34" charset="0"/>
              <a:buChar char="•"/>
            </a:pPr>
            <a:r>
              <a:rPr lang="en-US" sz="2000" b="0" smtClean="0">
                <a:latin typeface="Calibri" pitchFamily="34" charset="0"/>
                <a:cs typeface="Calibri" pitchFamily="34" charset="0"/>
              </a:rPr>
              <a:t>No BIOS? Choose “Empty”</a:t>
            </a:r>
          </a:p>
          <a:p>
            <a:pPr marL="574675" indent="-169863">
              <a:spcBef>
                <a:spcPts val="600"/>
              </a:spcBef>
              <a:buSzPct val="100000"/>
              <a:buFont typeface="Arial" pitchFamily="34" charset="0"/>
              <a:buChar char="•"/>
            </a:pPr>
            <a:r>
              <a:rPr lang="en-US" sz="2000" b="0" smtClean="0">
                <a:latin typeface="Calibri" pitchFamily="34" charset="0"/>
                <a:cs typeface="Calibri" pitchFamily="34" charset="0"/>
              </a:rPr>
              <a:t>BIOS? Choose BIOS template</a:t>
            </a:r>
          </a:p>
        </p:txBody>
      </p:sp>
      <p:sp>
        <p:nvSpPr>
          <p:cNvPr id="50" name="TextBox 49"/>
          <p:cNvSpPr txBox="1"/>
          <p:nvPr/>
        </p:nvSpPr>
        <p:spPr>
          <a:xfrm>
            <a:off x="5261482" y="1752600"/>
            <a:ext cx="3796809" cy="1203406"/>
          </a:xfrm>
          <a:prstGeom prst="rect">
            <a:avLst/>
          </a:prstGeom>
          <a:noFill/>
        </p:spPr>
        <p:txBody>
          <a:bodyPr wrap="none" rtlCol="0" anchor="ctr" anchorCtr="0">
            <a:spAutoFit/>
          </a:bodyPr>
          <a:lstStyle/>
          <a:p>
            <a:pPr marL="342900" indent="-342900">
              <a:spcBef>
                <a:spcPts val="600"/>
              </a:spcBef>
              <a:buClr>
                <a:schemeClr val="tx2"/>
              </a:buClr>
              <a:buSzPct val="75000"/>
              <a:buFont typeface="Wingdings"/>
              <a:buChar char=""/>
            </a:pPr>
            <a:r>
              <a:rPr lang="en-US" smtClean="0">
                <a:solidFill>
                  <a:schemeClr val="tx2"/>
                </a:solidFill>
                <a:latin typeface="Calibri" pitchFamily="34" charset="0"/>
                <a:cs typeface="Calibri" pitchFamily="34" charset="0"/>
              </a:rPr>
              <a:t>Connection</a:t>
            </a:r>
          </a:p>
          <a:p>
            <a:pPr marL="574675" indent="-169863">
              <a:spcBef>
                <a:spcPts val="600"/>
              </a:spcBef>
              <a:buSzPct val="100000"/>
              <a:buFont typeface="Arial" pitchFamily="34" charset="0"/>
              <a:buChar char="•"/>
            </a:pPr>
            <a:r>
              <a:rPr lang="en-US" sz="2000" b="0" smtClean="0">
                <a:latin typeface="Calibri" pitchFamily="34" charset="0"/>
                <a:cs typeface="Calibri" pitchFamily="34" charset="0"/>
              </a:rPr>
              <a:t>If target is specified, user can</a:t>
            </a:r>
            <a:br>
              <a:rPr lang="en-US" sz="2000" b="0" smtClean="0">
                <a:latin typeface="Calibri" pitchFamily="34" charset="0"/>
                <a:cs typeface="Calibri" pitchFamily="34" charset="0"/>
              </a:rPr>
            </a:br>
            <a:r>
              <a:rPr lang="en-US" sz="2000" b="0" smtClean="0">
                <a:latin typeface="Calibri" pitchFamily="34" charset="0"/>
                <a:cs typeface="Calibri" pitchFamily="34" charset="0"/>
              </a:rPr>
              <a:t>choose “connection” (i.e. the</a:t>
            </a:r>
            <a:br>
              <a:rPr lang="en-US" sz="2000" b="0" smtClean="0">
                <a:latin typeface="Calibri" pitchFamily="34" charset="0"/>
                <a:cs typeface="Calibri" pitchFamily="34" charset="0"/>
              </a:rPr>
            </a:br>
            <a:r>
              <a:rPr lang="en-US" sz="2000" b="0" smtClean="0">
                <a:latin typeface="Calibri" pitchFamily="34" charset="0"/>
                <a:cs typeface="Calibri" pitchFamily="34" charset="0"/>
              </a:rPr>
              <a:t>target config file)</a:t>
            </a:r>
          </a:p>
        </p:txBody>
      </p:sp>
      <p:sp>
        <p:nvSpPr>
          <p:cNvPr id="51" name="Rectangle 50"/>
          <p:cNvSpPr/>
          <p:nvPr/>
        </p:nvSpPr>
        <p:spPr bwMode="auto">
          <a:xfrm>
            <a:off x="297933" y="1956357"/>
            <a:ext cx="2209800" cy="266700"/>
          </a:xfrm>
          <a:prstGeom prst="rect">
            <a:avLst/>
          </a:prstGeom>
          <a:noFill/>
          <a:ln w="38100" cap="flat" cmpd="sng" algn="ctr">
            <a:solidFill>
              <a:srgbClr val="FF0000"/>
            </a:solidFill>
            <a:prstDash val="solid"/>
            <a:round/>
            <a:headEnd type="none" w="sm" len="sm"/>
            <a:tailEnd type="none" w="sm" len="sm"/>
          </a:ln>
          <a:effectLst/>
        </p:spPr>
        <p:txBody>
          <a:bodyPr/>
          <a:lstStyle/>
          <a:p>
            <a:pPr>
              <a:defRPr/>
            </a:pPr>
            <a:endParaRPr lang="en-US">
              <a:effectLst>
                <a:outerShdw blurRad="38100" dist="38100" dir="2700000" algn="tl">
                  <a:srgbClr val="000000">
                    <a:alpha val="43137"/>
                  </a:srgbClr>
                </a:outerShdw>
              </a:effectLst>
            </a:endParaRPr>
          </a:p>
        </p:txBody>
      </p:sp>
      <p:sp>
        <p:nvSpPr>
          <p:cNvPr id="4" name="Leading Question"/>
          <p:cNvSpPr txBox="1"/>
          <p:nvPr/>
        </p:nvSpPr>
        <p:spPr>
          <a:xfrm>
            <a:off x="6194989" y="6125289"/>
            <a:ext cx="2568011" cy="246221"/>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r">
              <a:spcBef>
                <a:spcPct val="0"/>
              </a:spcBef>
            </a:pPr>
            <a:r>
              <a:rPr lang="en-US" sz="2000" b="0" smtClean="0">
                <a:solidFill>
                  <a:schemeClr val="tx2"/>
                </a:solidFill>
                <a:effectLst/>
                <a:latin typeface="Arial Narrow"/>
              </a:rPr>
              <a:t>Adding files to the project…</a:t>
            </a:r>
            <a:endParaRPr lang="en-US" sz="2000" b="0" dirty="0" smtClean="0">
              <a:solidFill>
                <a:schemeClr val="tx2"/>
              </a:solidFill>
              <a:effectLst/>
              <a:latin typeface="Arial Narrow"/>
            </a:endParaRPr>
          </a:p>
        </p:txBody>
      </p:sp>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4876800"/>
            <a:ext cx="3190875" cy="181927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66379"/>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box(out)">
                                      <p:cBhvr>
                                        <p:cTn id="7" dur="500"/>
                                        <p:tgtEl>
                                          <p:spTgt spid="45"/>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2053"/>
                                        </p:tgtEl>
                                        <p:attrNameLst>
                                          <p:attrName>style.visibility</p:attrName>
                                        </p:attrNameLst>
                                      </p:cBhvr>
                                      <p:to>
                                        <p:strVal val="visible"/>
                                      </p:to>
                                    </p:set>
                                    <p:animEffect transition="in" filter="dissolve">
                                      <p:cBhvr>
                                        <p:cTn id="11" dur="1000"/>
                                        <p:tgtEl>
                                          <p:spTgt spid="205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autoUpdateAnimBg="0"/>
      <p:bldP spid="4"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ormAutofit/>
          </a:bodyPr>
          <a:lstStyle/>
          <a:p>
            <a:r>
              <a:rPr lang="en-US" smtClean="0"/>
              <a:t>Adding Files to a Project</a:t>
            </a:r>
          </a:p>
        </p:txBody>
      </p:sp>
      <p:sp>
        <p:nvSpPr>
          <p:cNvPr id="20" name="TextBox 19"/>
          <p:cNvSpPr txBox="1"/>
          <p:nvPr/>
        </p:nvSpPr>
        <p:spPr>
          <a:xfrm>
            <a:off x="304800" y="688878"/>
            <a:ext cx="7055971" cy="1034129"/>
          </a:xfrm>
          <a:prstGeom prst="rect">
            <a:avLst/>
          </a:prstGeom>
          <a:noFill/>
        </p:spPr>
        <p:txBody>
          <a:bodyPr wrap="none" rtlCol="0" anchor="ctr" anchorCtr="0">
            <a:spAutoFit/>
          </a:bodyPr>
          <a:lstStyle/>
          <a:p>
            <a:pPr marL="342900" indent="-342900">
              <a:spcBef>
                <a:spcPts val="600"/>
              </a:spcBef>
              <a:buClr>
                <a:schemeClr val="tx2"/>
              </a:buClr>
              <a:buSzPct val="75000"/>
              <a:buFont typeface="Wingdings"/>
              <a:buChar char=""/>
            </a:pPr>
            <a:r>
              <a:rPr lang="en-US" smtClean="0">
                <a:latin typeface="Calibri" pitchFamily="34" charset="0"/>
                <a:cs typeface="Calibri" pitchFamily="34" charset="0"/>
              </a:rPr>
              <a:t>Users can ADD (copy or link) files into their project</a:t>
            </a:r>
          </a:p>
          <a:p>
            <a:pPr marL="574675" indent="-169863">
              <a:spcBef>
                <a:spcPts val="600"/>
              </a:spcBef>
              <a:buSzPct val="100000"/>
              <a:buFont typeface="Arial" pitchFamily="34" charset="0"/>
              <a:buChar char="•"/>
            </a:pPr>
            <a:r>
              <a:rPr lang="en-US" sz="2000" b="0" smtClean="0">
                <a:latin typeface="Calibri" pitchFamily="34" charset="0"/>
                <a:cs typeface="Calibri" pitchFamily="34" charset="0"/>
              </a:rPr>
              <a:t>SOURCE files are typically COPIED</a:t>
            </a:r>
          </a:p>
          <a:p>
            <a:pPr marL="574675" indent="-169863">
              <a:spcBef>
                <a:spcPts val="600"/>
              </a:spcBef>
              <a:buSzPct val="100000"/>
              <a:buFont typeface="Arial" pitchFamily="34" charset="0"/>
              <a:buChar char="•"/>
            </a:pPr>
            <a:r>
              <a:rPr lang="en-US" sz="2000" b="0" smtClean="0">
                <a:latin typeface="Calibri" pitchFamily="34" charset="0"/>
                <a:cs typeface="Calibri" pitchFamily="34" charset="0"/>
              </a:rPr>
              <a:t>LIBRARY files are typically LINKED (referenced)</a:t>
            </a:r>
          </a:p>
        </p:txBody>
      </p:sp>
      <p:grpSp>
        <p:nvGrpSpPr>
          <p:cNvPr id="6" name="Group 5"/>
          <p:cNvGrpSpPr/>
          <p:nvPr/>
        </p:nvGrpSpPr>
        <p:grpSpPr>
          <a:xfrm>
            <a:off x="304800" y="1908078"/>
            <a:ext cx="3925612" cy="381000"/>
            <a:chOff x="495300" y="1943100"/>
            <a:chExt cx="3925612" cy="381000"/>
          </a:xfrm>
        </p:grpSpPr>
        <p:sp>
          <p:nvSpPr>
            <p:cNvPr id="2" name="Oval 1"/>
            <p:cNvSpPr/>
            <p:nvPr/>
          </p:nvSpPr>
          <p:spPr bwMode="auto">
            <a:xfrm>
              <a:off x="495300" y="1943100"/>
              <a:ext cx="381000" cy="381000"/>
            </a:xfrm>
            <a:prstGeom prst="ellipse">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b="1" i="0" u="none" strike="noStrike" cap="none" normalizeH="0" baseline="0" smtClean="0">
                  <a:ln>
                    <a:noFill/>
                  </a:ln>
                  <a:solidFill>
                    <a:schemeClr val="dk1"/>
                  </a:solidFill>
                  <a:effectLst/>
                  <a:latin typeface="Calibri" pitchFamily="34" charset="0"/>
                  <a:cs typeface="Calibri" pitchFamily="34" charset="0"/>
                </a:rPr>
                <a:t>1</a:t>
              </a:r>
              <a:endParaRPr kumimoji="0" lang="en-US" b="1" i="0" u="none" strike="noStrike" cap="none" normalizeH="0" baseline="0" dirty="0" smtClean="0">
                <a:ln>
                  <a:noFill/>
                </a:ln>
                <a:solidFill>
                  <a:schemeClr val="dk1"/>
                </a:solidFill>
                <a:effectLst/>
                <a:latin typeface="Calibri" pitchFamily="34" charset="0"/>
                <a:cs typeface="Calibri" pitchFamily="34" charset="0"/>
              </a:endParaRPr>
            </a:p>
          </p:txBody>
        </p:sp>
        <p:sp>
          <p:nvSpPr>
            <p:cNvPr id="5" name="TextBox 4"/>
            <p:cNvSpPr txBox="1"/>
            <p:nvPr/>
          </p:nvSpPr>
          <p:spPr>
            <a:xfrm>
              <a:off x="852371" y="1974956"/>
              <a:ext cx="3568541" cy="338554"/>
            </a:xfrm>
            <a:prstGeom prst="rect">
              <a:avLst/>
            </a:prstGeom>
            <a:noFill/>
          </p:spPr>
          <p:txBody>
            <a:bodyPr wrap="none" rtlCol="0" anchor="ctr" anchorCtr="0">
              <a:spAutoFit/>
            </a:bodyPr>
            <a:lstStyle/>
            <a:p>
              <a:r>
                <a:rPr lang="en-US" sz="2000" b="0" smtClean="0">
                  <a:solidFill>
                    <a:schemeClr val="dk1"/>
                  </a:solidFill>
                  <a:effectLst/>
                  <a:latin typeface="Calibri" pitchFamily="34" charset="0"/>
                  <a:cs typeface="Calibri" pitchFamily="34" charset="0"/>
                </a:rPr>
                <a:t>Right-click on project and select:</a:t>
              </a:r>
              <a:endParaRPr lang="en-US" sz="2000" b="0" dirty="0" smtClean="0">
                <a:solidFill>
                  <a:schemeClr val="dk1"/>
                </a:solidFill>
                <a:effectLst/>
                <a:latin typeface="Calibri" pitchFamily="34" charset="0"/>
                <a:cs typeface="Calibri" pitchFamily="34" charset="0"/>
              </a:endParaRPr>
            </a:p>
          </p:txBody>
        </p:sp>
      </p:grpSp>
      <p:grpSp>
        <p:nvGrpSpPr>
          <p:cNvPr id="24" name="Group 23"/>
          <p:cNvGrpSpPr/>
          <p:nvPr/>
        </p:nvGrpSpPr>
        <p:grpSpPr>
          <a:xfrm>
            <a:off x="4825704" y="1908078"/>
            <a:ext cx="4089696" cy="381000"/>
            <a:chOff x="495300" y="1943100"/>
            <a:chExt cx="4089696" cy="381000"/>
          </a:xfrm>
        </p:grpSpPr>
        <p:sp>
          <p:nvSpPr>
            <p:cNvPr id="26" name="Oval 25"/>
            <p:cNvSpPr/>
            <p:nvPr/>
          </p:nvSpPr>
          <p:spPr bwMode="auto">
            <a:xfrm>
              <a:off x="495300" y="1943100"/>
              <a:ext cx="381000" cy="381000"/>
            </a:xfrm>
            <a:prstGeom prst="ellipse">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b="1" i="0" u="none" strike="noStrike" cap="none" normalizeH="0" baseline="0" smtClean="0">
                  <a:ln>
                    <a:noFill/>
                  </a:ln>
                  <a:solidFill>
                    <a:schemeClr val="dk1"/>
                  </a:solidFill>
                  <a:effectLst/>
                  <a:latin typeface="Calibri" pitchFamily="34" charset="0"/>
                  <a:cs typeface="Calibri" pitchFamily="34" charset="0"/>
                </a:rPr>
                <a:t>2</a:t>
              </a:r>
              <a:endParaRPr kumimoji="0" lang="en-US" b="1" i="0" u="none" strike="noStrike" cap="none" normalizeH="0" baseline="0" dirty="0" smtClean="0">
                <a:ln>
                  <a:noFill/>
                </a:ln>
                <a:solidFill>
                  <a:schemeClr val="dk1"/>
                </a:solidFill>
                <a:effectLst/>
                <a:latin typeface="Calibri" pitchFamily="34" charset="0"/>
                <a:cs typeface="Calibri" pitchFamily="34" charset="0"/>
              </a:endParaRPr>
            </a:p>
          </p:txBody>
        </p:sp>
        <p:sp>
          <p:nvSpPr>
            <p:cNvPr id="27" name="TextBox 26"/>
            <p:cNvSpPr txBox="1"/>
            <p:nvPr/>
          </p:nvSpPr>
          <p:spPr>
            <a:xfrm>
              <a:off x="852371" y="1974956"/>
              <a:ext cx="3732625" cy="338554"/>
            </a:xfrm>
            <a:prstGeom prst="rect">
              <a:avLst/>
            </a:prstGeom>
            <a:noFill/>
          </p:spPr>
          <p:txBody>
            <a:bodyPr wrap="none" rtlCol="0" anchor="ctr" anchorCtr="0">
              <a:spAutoFit/>
            </a:bodyPr>
            <a:lstStyle/>
            <a:p>
              <a:r>
                <a:rPr lang="en-US" sz="2000" b="0" smtClean="0">
                  <a:solidFill>
                    <a:schemeClr val="dk1"/>
                  </a:solidFill>
                  <a:effectLst/>
                  <a:latin typeface="Calibri" pitchFamily="34" charset="0"/>
                  <a:cs typeface="Calibri" pitchFamily="34" charset="0"/>
                </a:rPr>
                <a:t>Select file(s) to add to the project:</a:t>
              </a:r>
              <a:endParaRPr lang="en-US" sz="2000" b="0" dirty="0" smtClean="0">
                <a:solidFill>
                  <a:schemeClr val="dk1"/>
                </a:solidFill>
                <a:effectLst/>
                <a:latin typeface="Calibri" pitchFamily="34" charset="0"/>
                <a:cs typeface="Calibri" pitchFamily="34" charset="0"/>
              </a:endParaRPr>
            </a:p>
          </p:txBody>
        </p:sp>
      </p:gr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9316" y="2336039"/>
            <a:ext cx="2459101" cy="1076766"/>
          </a:xfrm>
          <a:prstGeom prst="rect">
            <a:avLst/>
          </a:prstGeom>
          <a:noFill/>
          <a:ln w="12700">
            <a:solidFill>
              <a:schemeClr val="tx1"/>
            </a:solidFill>
            <a:miter lim="800000"/>
            <a:headEnd/>
            <a:tailEnd/>
          </a:ln>
          <a:effectLst>
            <a:outerShdw blurRad="50800" dist="762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grpSp>
        <p:nvGrpSpPr>
          <p:cNvPr id="29" name="Group 28"/>
          <p:cNvGrpSpPr/>
          <p:nvPr/>
        </p:nvGrpSpPr>
        <p:grpSpPr>
          <a:xfrm>
            <a:off x="304800" y="3810000"/>
            <a:ext cx="2944702" cy="381000"/>
            <a:chOff x="495300" y="1943100"/>
            <a:chExt cx="2944702" cy="381000"/>
          </a:xfrm>
        </p:grpSpPr>
        <p:sp>
          <p:nvSpPr>
            <p:cNvPr id="30" name="Oval 29"/>
            <p:cNvSpPr/>
            <p:nvPr/>
          </p:nvSpPr>
          <p:spPr bwMode="auto">
            <a:xfrm>
              <a:off x="495300" y="1943100"/>
              <a:ext cx="381000" cy="381000"/>
            </a:xfrm>
            <a:prstGeom prst="ellipse">
              <a:avLst/>
            </a:prstGeom>
            <a:solidFill>
              <a:schemeClr val="accent1"/>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50000"/>
                </a:spcBef>
                <a:spcAft>
                  <a:spcPct val="0"/>
                </a:spcAft>
                <a:buClrTx/>
                <a:buSzTx/>
                <a:buFontTx/>
                <a:buNone/>
                <a:tabLst/>
              </a:pPr>
              <a:r>
                <a:rPr kumimoji="0" lang="en-US" b="1" i="0" u="none" strike="noStrike" cap="none" normalizeH="0" baseline="0" smtClean="0">
                  <a:ln>
                    <a:noFill/>
                  </a:ln>
                  <a:solidFill>
                    <a:schemeClr val="dk1"/>
                  </a:solidFill>
                  <a:effectLst/>
                  <a:latin typeface="Calibri" pitchFamily="34" charset="0"/>
                  <a:cs typeface="Calibri" pitchFamily="34" charset="0"/>
                </a:rPr>
                <a:t>3</a:t>
              </a:r>
              <a:endParaRPr kumimoji="0" lang="en-US" b="1" i="0" u="none" strike="noStrike" cap="none" normalizeH="0" baseline="0" dirty="0" smtClean="0">
                <a:ln>
                  <a:noFill/>
                </a:ln>
                <a:solidFill>
                  <a:schemeClr val="dk1"/>
                </a:solidFill>
                <a:effectLst/>
                <a:latin typeface="Calibri" pitchFamily="34" charset="0"/>
                <a:cs typeface="Calibri" pitchFamily="34" charset="0"/>
              </a:endParaRPr>
            </a:p>
          </p:txBody>
        </p:sp>
        <p:sp>
          <p:nvSpPr>
            <p:cNvPr id="31" name="TextBox 30"/>
            <p:cNvSpPr txBox="1"/>
            <p:nvPr/>
          </p:nvSpPr>
          <p:spPr>
            <a:xfrm>
              <a:off x="852371" y="1974956"/>
              <a:ext cx="2587631" cy="338554"/>
            </a:xfrm>
            <a:prstGeom prst="rect">
              <a:avLst/>
            </a:prstGeom>
            <a:noFill/>
          </p:spPr>
          <p:txBody>
            <a:bodyPr wrap="none" rtlCol="0" anchor="ctr" anchorCtr="0">
              <a:spAutoFit/>
            </a:bodyPr>
            <a:lstStyle/>
            <a:p>
              <a:r>
                <a:rPr lang="en-US" sz="2000" b="0" smtClean="0">
                  <a:solidFill>
                    <a:schemeClr val="dk1"/>
                  </a:solidFill>
                  <a:effectLst/>
                  <a:latin typeface="Calibri" pitchFamily="34" charset="0"/>
                  <a:cs typeface="Calibri" pitchFamily="34" charset="0"/>
                </a:rPr>
                <a:t>Select “Copy” or “Link”</a:t>
              </a:r>
              <a:endParaRPr lang="en-US" sz="2000" b="0" dirty="0" smtClean="0">
                <a:solidFill>
                  <a:schemeClr val="dk1"/>
                </a:solidFill>
                <a:effectLst/>
                <a:latin typeface="Calibri" pitchFamily="34" charset="0"/>
                <a:cs typeface="Calibri" pitchFamily="34" charset="0"/>
              </a:endParaRPr>
            </a:p>
          </p:txBody>
        </p:sp>
      </p:grpSp>
      <p:sp>
        <p:nvSpPr>
          <p:cNvPr id="8" name="TextBox 7"/>
          <p:cNvSpPr txBox="1"/>
          <p:nvPr/>
        </p:nvSpPr>
        <p:spPr>
          <a:xfrm>
            <a:off x="5408105" y="3841899"/>
            <a:ext cx="3735895" cy="858697"/>
          </a:xfrm>
          <a:prstGeom prst="rect">
            <a:avLst/>
          </a:prstGeom>
          <a:noFill/>
        </p:spPr>
        <p:txBody>
          <a:bodyPr wrap="none" rtlCol="0" anchor="ctr" anchorCtr="0">
            <a:spAutoFit/>
          </a:bodyPr>
          <a:lstStyle/>
          <a:p>
            <a:pPr marL="342900" indent="-342900">
              <a:spcBef>
                <a:spcPts val="600"/>
              </a:spcBef>
              <a:buClr>
                <a:schemeClr val="tx2"/>
              </a:buClr>
              <a:buSzPct val="75000"/>
              <a:buFont typeface="Wingdings"/>
              <a:buChar char=""/>
            </a:pPr>
            <a:r>
              <a:rPr lang="en-US" sz="2000" smtClean="0">
                <a:solidFill>
                  <a:schemeClr val="tx2"/>
                </a:solidFill>
                <a:latin typeface="Calibri" pitchFamily="34" charset="0"/>
                <a:cs typeface="Calibri" pitchFamily="34" charset="0"/>
              </a:rPr>
              <a:t>COPY</a:t>
            </a:r>
          </a:p>
          <a:p>
            <a:pPr marL="509588" indent="-169863">
              <a:spcBef>
                <a:spcPts val="600"/>
              </a:spcBef>
              <a:buSzPct val="100000"/>
              <a:buFont typeface="Arial" pitchFamily="34" charset="0"/>
              <a:buChar char="•"/>
            </a:pPr>
            <a:r>
              <a:rPr lang="en-US" sz="1800" b="0" smtClean="0">
                <a:solidFill>
                  <a:schemeClr val="dk1"/>
                </a:solidFill>
                <a:effectLst/>
                <a:latin typeface="Calibri" pitchFamily="34" charset="0"/>
                <a:cs typeface="Calibri" pitchFamily="34" charset="0"/>
              </a:rPr>
              <a:t>Copies file from original location</a:t>
            </a:r>
            <a:br>
              <a:rPr lang="en-US" sz="1800" b="0" smtClean="0">
                <a:solidFill>
                  <a:schemeClr val="dk1"/>
                </a:solidFill>
                <a:effectLst/>
                <a:latin typeface="Calibri" pitchFamily="34" charset="0"/>
                <a:cs typeface="Calibri" pitchFamily="34" charset="0"/>
              </a:rPr>
            </a:br>
            <a:r>
              <a:rPr lang="en-US" sz="1800" b="0" smtClean="0">
                <a:solidFill>
                  <a:schemeClr val="dk1"/>
                </a:solidFill>
                <a:effectLst/>
                <a:latin typeface="Calibri" pitchFamily="34" charset="0"/>
                <a:cs typeface="Calibri" pitchFamily="34" charset="0"/>
              </a:rPr>
              <a:t>to </a:t>
            </a:r>
            <a:r>
              <a:rPr lang="en-US" sz="1800" b="0" i="1" smtClean="0">
                <a:solidFill>
                  <a:schemeClr val="dk1"/>
                </a:solidFill>
                <a:effectLst/>
                <a:latin typeface="Calibri" pitchFamily="34" charset="0"/>
                <a:cs typeface="Calibri" pitchFamily="34" charset="0"/>
              </a:rPr>
              <a:t>project folder </a:t>
            </a:r>
            <a:r>
              <a:rPr lang="en-US" sz="1800" b="0" smtClean="0">
                <a:solidFill>
                  <a:schemeClr val="dk1"/>
                </a:solidFill>
                <a:effectLst/>
                <a:latin typeface="Calibri" pitchFamily="34" charset="0"/>
                <a:cs typeface="Calibri" pitchFamily="34" charset="0"/>
              </a:rPr>
              <a:t>(two copies)</a:t>
            </a:r>
          </a:p>
        </p:txBody>
      </p:sp>
      <p:sp>
        <p:nvSpPr>
          <p:cNvPr id="35" name="TextBox 34"/>
          <p:cNvSpPr txBox="1"/>
          <p:nvPr/>
        </p:nvSpPr>
        <p:spPr>
          <a:xfrm>
            <a:off x="5410200" y="4796502"/>
            <a:ext cx="3730893" cy="1600438"/>
          </a:xfrm>
          <a:prstGeom prst="rect">
            <a:avLst/>
          </a:prstGeom>
          <a:noFill/>
        </p:spPr>
        <p:txBody>
          <a:bodyPr wrap="none" rtlCol="0" anchor="ctr" anchorCtr="0">
            <a:spAutoFit/>
          </a:bodyPr>
          <a:lstStyle/>
          <a:p>
            <a:pPr marL="342900" indent="-342900">
              <a:spcBef>
                <a:spcPts val="600"/>
              </a:spcBef>
              <a:buClr>
                <a:schemeClr val="tx2"/>
              </a:buClr>
              <a:buSzPct val="75000"/>
              <a:buFont typeface="Wingdings"/>
              <a:buChar char=""/>
            </a:pPr>
            <a:r>
              <a:rPr lang="en-US" sz="2000" smtClean="0">
                <a:solidFill>
                  <a:schemeClr val="tx2"/>
                </a:solidFill>
                <a:latin typeface="Calibri" pitchFamily="34" charset="0"/>
                <a:cs typeface="Calibri" pitchFamily="34" charset="0"/>
              </a:rPr>
              <a:t>LINK</a:t>
            </a:r>
          </a:p>
          <a:p>
            <a:pPr marL="509588" indent="-169863">
              <a:spcBef>
                <a:spcPts val="600"/>
              </a:spcBef>
              <a:buSzPct val="100000"/>
              <a:buFont typeface="Arial" pitchFamily="34" charset="0"/>
              <a:buChar char="•"/>
            </a:pPr>
            <a:r>
              <a:rPr lang="en-US" sz="1800" b="0" smtClean="0">
                <a:solidFill>
                  <a:schemeClr val="dk1"/>
                </a:solidFill>
                <a:effectLst/>
                <a:latin typeface="Calibri" pitchFamily="34" charset="0"/>
                <a:cs typeface="Calibri" pitchFamily="34" charset="0"/>
              </a:rPr>
              <a:t>References (points to) source</a:t>
            </a:r>
            <a:br>
              <a:rPr lang="en-US" sz="1800" b="0" smtClean="0">
                <a:solidFill>
                  <a:schemeClr val="dk1"/>
                </a:solidFill>
                <a:effectLst/>
                <a:latin typeface="Calibri" pitchFamily="34" charset="0"/>
                <a:cs typeface="Calibri" pitchFamily="34" charset="0"/>
              </a:rPr>
            </a:br>
            <a:r>
              <a:rPr lang="en-US" sz="1800" b="0" smtClean="0">
                <a:solidFill>
                  <a:schemeClr val="dk1"/>
                </a:solidFill>
                <a:effectLst/>
                <a:latin typeface="Calibri" pitchFamily="34" charset="0"/>
                <a:cs typeface="Calibri" pitchFamily="34" charset="0"/>
              </a:rPr>
              <a:t>file in the </a:t>
            </a:r>
            <a:r>
              <a:rPr lang="en-US" sz="1800" b="0" i="1" smtClean="0">
                <a:solidFill>
                  <a:schemeClr val="dk1"/>
                </a:solidFill>
                <a:effectLst/>
                <a:latin typeface="Calibri" pitchFamily="34" charset="0"/>
                <a:cs typeface="Calibri" pitchFamily="34" charset="0"/>
              </a:rPr>
              <a:t>original folder</a:t>
            </a:r>
          </a:p>
          <a:p>
            <a:pPr marL="509588" indent="-169863">
              <a:spcBef>
                <a:spcPts val="600"/>
              </a:spcBef>
              <a:buSzPct val="100000"/>
              <a:buFont typeface="Arial" pitchFamily="34" charset="0"/>
              <a:buChar char="•"/>
            </a:pPr>
            <a:r>
              <a:rPr lang="en-US" sz="1800" b="0" smtClean="0">
                <a:solidFill>
                  <a:schemeClr val="dk1"/>
                </a:solidFill>
                <a:latin typeface="Calibri" pitchFamily="34" charset="0"/>
                <a:cs typeface="Calibri" pitchFamily="34" charset="0"/>
              </a:rPr>
              <a:t>Can select a “reference” point – </a:t>
            </a:r>
            <a:br>
              <a:rPr lang="en-US" sz="1800" b="0" smtClean="0">
                <a:solidFill>
                  <a:schemeClr val="dk1"/>
                </a:solidFill>
                <a:latin typeface="Calibri" pitchFamily="34" charset="0"/>
                <a:cs typeface="Calibri" pitchFamily="34" charset="0"/>
              </a:rPr>
            </a:br>
            <a:r>
              <a:rPr lang="en-US" sz="1800" b="0" smtClean="0">
                <a:solidFill>
                  <a:schemeClr val="dk1"/>
                </a:solidFill>
                <a:latin typeface="Calibri" pitchFamily="34" charset="0"/>
                <a:cs typeface="Calibri" pitchFamily="34" charset="0"/>
              </a:rPr>
              <a:t>e.g. PROJECT_LOC or user-</a:t>
            </a:r>
            <a:br>
              <a:rPr lang="en-US" sz="1800" b="0" smtClean="0">
                <a:solidFill>
                  <a:schemeClr val="dk1"/>
                </a:solidFill>
                <a:latin typeface="Calibri" pitchFamily="34" charset="0"/>
                <a:cs typeface="Calibri" pitchFamily="34" charset="0"/>
              </a:rPr>
            </a:br>
            <a:r>
              <a:rPr lang="en-US" sz="1800" b="0" smtClean="0">
                <a:solidFill>
                  <a:schemeClr val="dk1"/>
                </a:solidFill>
                <a:latin typeface="Calibri" pitchFamily="34" charset="0"/>
                <a:cs typeface="Calibri" pitchFamily="34" charset="0"/>
              </a:rPr>
              <a:t>defined VARIABLE (portable)</a:t>
            </a:r>
            <a:endParaRPr lang="en-US" sz="1800" b="0" dirty="0" smtClean="0">
              <a:solidFill>
                <a:schemeClr val="dk1"/>
              </a:solidFill>
              <a:effectLst/>
              <a:latin typeface="Calibri" pitchFamily="34" charset="0"/>
              <a:cs typeface="Calibri" pitchFamily="34" charset="0"/>
            </a:endParaRPr>
          </a:p>
        </p:txBody>
      </p:sp>
      <p:pic>
        <p:nvPicPr>
          <p:cNvPr id="1026" name="Picture 2" descr="C:\Users\a0159877\AppData\Local\Temp\SNAGHTML82146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362" y="2313002"/>
            <a:ext cx="3620743" cy="142079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a0159877\AppData\Local\Temp\SNAGHTML83289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1299" y="2695427"/>
            <a:ext cx="2167137" cy="69611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Users\a0159877\AppData\Local\Temp\SNAGHTML859464.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9629" y="4235300"/>
            <a:ext cx="4792971" cy="1632099"/>
          </a:xfrm>
          <a:prstGeom prst="rect">
            <a:avLst/>
          </a:prstGeom>
          <a:noFill/>
          <a:extLst>
            <a:ext uri="{909E8E84-426E-40DD-AFC4-6F175D3DCCD1}">
              <a14:hiddenFill xmlns:a14="http://schemas.microsoft.com/office/drawing/2010/main">
                <a:solidFill>
                  <a:srgbClr val="FFFFFF"/>
                </a:solidFill>
              </a14:hiddenFill>
            </a:ext>
          </a:extLst>
        </p:spPr>
      </p:pic>
      <p:sp>
        <p:nvSpPr>
          <p:cNvPr id="3" name="Leading Question"/>
          <p:cNvSpPr txBox="1"/>
          <p:nvPr/>
        </p:nvSpPr>
        <p:spPr>
          <a:xfrm>
            <a:off x="5159446" y="6488178"/>
            <a:ext cx="3246081" cy="246221"/>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r">
              <a:spcBef>
                <a:spcPct val="0"/>
              </a:spcBef>
            </a:pPr>
            <a:r>
              <a:rPr lang="en-US" sz="2000" b="0" smtClean="0">
                <a:solidFill>
                  <a:schemeClr val="tx2"/>
                </a:solidFill>
                <a:effectLst/>
                <a:latin typeface="Arial Narrow"/>
              </a:rPr>
              <a:t>Build Configuraitons and Options...</a:t>
            </a:r>
            <a:endParaRPr lang="en-US" sz="2000" b="0" dirty="0" smtClean="0">
              <a:solidFill>
                <a:schemeClr val="tx2"/>
              </a:solidFill>
              <a:effectLst/>
              <a:latin typeface="Arial Narrow"/>
            </a:endParaRPr>
          </a:p>
        </p:txBody>
      </p:sp>
    </p:spTree>
    <p:extLst>
      <p:ext uri="{BB962C8B-B14F-4D97-AF65-F5344CB8AC3E}">
        <p14:creationId xmlns:p14="http://schemas.microsoft.com/office/powerpoint/2010/main" val="1863135723"/>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838200"/>
            <a:ext cx="5562600" cy="5181600"/>
          </a:xfrm>
          <a:prstGeom prst="rect">
            <a:avLst/>
          </a:prstGeom>
          <a:solidFill>
            <a:srgbClr val="92D050"/>
          </a:solidFill>
          <a:ln w="19050">
            <a:solidFill>
              <a:schemeClr val="tx1"/>
            </a:solidFill>
            <a:miter lim="800000"/>
            <a:headEnd type="none" w="sm" len="sm"/>
            <a:tailEnd type="none" w="sm" len="sm"/>
          </a:ln>
          <a:effectLst>
            <a:outerShdw blurRad="50800" dist="889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3" cstate="print"/>
          <a:srcRect/>
          <a:stretch>
            <a:fillRect/>
          </a:stretch>
        </p:blipFill>
        <p:spPr bwMode="auto">
          <a:xfrm>
            <a:off x="6160824" y="1316817"/>
            <a:ext cx="2819400" cy="4172713"/>
          </a:xfrm>
          <a:prstGeom prst="rect">
            <a:avLst/>
          </a:prstGeom>
          <a:noFill/>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9" name="Text Box 4">
            <a:hlinkClick r:id="rId14" action="ppaction://hlinksldjump"/>
          </p:cNvPr>
          <p:cNvSpPr txBox="1">
            <a:spLocks noChangeArrowheads="1"/>
          </p:cNvSpPr>
          <p:nvPr>
            <p:custDataLst>
              <p:tags r:id="rId2"/>
            </p:custDataLst>
          </p:nvPr>
        </p:nvSpPr>
        <p:spPr bwMode="auto">
          <a:xfrm>
            <a:off x="310202" y="954651"/>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Intro to CCSv6</a:t>
            </a:r>
            <a:endParaRPr lang="en-US" sz="2800">
              <a:solidFill>
                <a:srgbClr val="000000"/>
              </a:solidFill>
            </a:endParaRPr>
          </a:p>
        </p:txBody>
      </p:sp>
      <p:sp>
        <p:nvSpPr>
          <p:cNvPr id="10" name="Text Box 6">
            <a:hlinkClick r:id="rId15" action="ppaction://hlinksldjump"/>
          </p:cNvPr>
          <p:cNvSpPr txBox="1">
            <a:spLocks noChangeArrowheads="1"/>
          </p:cNvSpPr>
          <p:nvPr>
            <p:custDataLst>
              <p:tags r:id="rId3"/>
            </p:custDataLst>
          </p:nvPr>
        </p:nvSpPr>
        <p:spPr bwMode="auto">
          <a:xfrm>
            <a:off x="819150" y="1473995"/>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Functional Overview</a:t>
            </a:r>
            <a:endParaRPr lang="en-US">
              <a:solidFill>
                <a:srgbClr val="000000"/>
              </a:solidFill>
            </a:endParaRPr>
          </a:p>
        </p:txBody>
      </p:sp>
      <p:sp>
        <p:nvSpPr>
          <p:cNvPr id="11" name="Text Box 6">
            <a:hlinkClick r:id="rId16" action="ppaction://hlinksldjump"/>
          </p:cNvPr>
          <p:cNvSpPr txBox="1">
            <a:spLocks noChangeArrowheads="1"/>
          </p:cNvSpPr>
          <p:nvPr>
            <p:custDataLst>
              <p:tags r:id="rId4"/>
            </p:custDataLst>
          </p:nvPr>
        </p:nvSpPr>
        <p:spPr bwMode="auto">
          <a:xfrm>
            <a:off x="819150" y="1926309"/>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Perspectives</a:t>
            </a:r>
            <a:endParaRPr lang="en-US">
              <a:solidFill>
                <a:srgbClr val="000000"/>
              </a:solidFill>
            </a:endParaRPr>
          </a:p>
        </p:txBody>
      </p:sp>
      <p:sp>
        <p:nvSpPr>
          <p:cNvPr id="12" name="Text Box 6">
            <a:hlinkClick r:id="rId17" action="ppaction://hlinksldjump"/>
          </p:cNvPr>
          <p:cNvSpPr txBox="1">
            <a:spLocks noChangeArrowheads="1"/>
          </p:cNvSpPr>
          <p:nvPr>
            <p:custDataLst>
              <p:tags r:id="rId5"/>
            </p:custDataLst>
          </p:nvPr>
        </p:nvSpPr>
        <p:spPr bwMode="auto">
          <a:xfrm>
            <a:off x="819150" y="2378623"/>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Target Config &amp; Emulators</a:t>
            </a:r>
            <a:endParaRPr lang="en-US">
              <a:solidFill>
                <a:srgbClr val="000000"/>
              </a:solidFill>
            </a:endParaRPr>
          </a:p>
        </p:txBody>
      </p:sp>
      <p:sp>
        <p:nvSpPr>
          <p:cNvPr id="13" name="Text Box 6">
            <a:hlinkClick r:id="rId18" action="ppaction://hlinksldjump"/>
          </p:cNvPr>
          <p:cNvSpPr txBox="1">
            <a:spLocks noChangeArrowheads="1"/>
          </p:cNvSpPr>
          <p:nvPr>
            <p:custDataLst>
              <p:tags r:id="rId6"/>
            </p:custDataLst>
          </p:nvPr>
        </p:nvSpPr>
        <p:spPr bwMode="auto">
          <a:xfrm>
            <a:off x="819150" y="2830937"/>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Workspaces &amp; Projects</a:t>
            </a:r>
            <a:endParaRPr lang="en-US">
              <a:solidFill>
                <a:srgbClr val="000000"/>
              </a:solidFill>
            </a:endParaRPr>
          </a:p>
        </p:txBody>
      </p:sp>
      <p:sp>
        <p:nvSpPr>
          <p:cNvPr id="14" name="Text Box 6">
            <a:hlinkClick r:id="rId19" action="ppaction://hlinksldjump"/>
          </p:cNvPr>
          <p:cNvSpPr txBox="1">
            <a:spLocks noChangeArrowheads="1"/>
          </p:cNvSpPr>
          <p:nvPr>
            <p:custDataLst>
              <p:tags r:id="rId7"/>
            </p:custDataLst>
          </p:nvPr>
        </p:nvSpPr>
        <p:spPr bwMode="auto">
          <a:xfrm>
            <a:off x="819150" y="3283251"/>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Creating a Project</a:t>
            </a:r>
            <a:endParaRPr lang="en-US">
              <a:solidFill>
                <a:srgbClr val="000000"/>
              </a:solidFill>
            </a:endParaRPr>
          </a:p>
        </p:txBody>
      </p:sp>
      <p:sp>
        <p:nvSpPr>
          <p:cNvPr id="15" name="Text Box 5">
            <a:hlinkClick r:id="rId20" action="ppaction://hlinksldjump"/>
          </p:cNvPr>
          <p:cNvSpPr txBox="1">
            <a:spLocks noChangeArrowheads="1"/>
          </p:cNvSpPr>
          <p:nvPr>
            <p:custDataLst>
              <p:tags r:id="rId8"/>
            </p:custDataLst>
          </p:nvPr>
        </p:nvSpPr>
        <p:spPr bwMode="auto">
          <a:xfrm>
            <a:off x="823273" y="3735565"/>
            <a:ext cx="4600575" cy="387798"/>
          </a:xfrm>
          <a:prstGeom prst="rect">
            <a:avLst/>
          </a:prstGeom>
          <a:solidFill>
            <a:schemeClr val="bg1"/>
          </a:solidFill>
          <a:ln w="19050">
            <a:solidFill>
              <a:schemeClr val="tx1"/>
            </a:solid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Build Config &amp; Options</a:t>
            </a:r>
            <a:endParaRPr lang="en-US">
              <a:solidFill>
                <a:srgbClr val="000000"/>
              </a:solidFill>
            </a:endParaRPr>
          </a:p>
        </p:txBody>
      </p:sp>
      <p:sp>
        <p:nvSpPr>
          <p:cNvPr id="16" name="Text Box 4">
            <a:hlinkClick r:id="rId21" action="ppaction://hlinksldjump"/>
          </p:cNvPr>
          <p:cNvSpPr txBox="1">
            <a:spLocks noChangeArrowheads="1"/>
          </p:cNvSpPr>
          <p:nvPr>
            <p:custDataLst>
              <p:tags r:id="rId9"/>
            </p:custDataLst>
          </p:nvPr>
        </p:nvSpPr>
        <p:spPr bwMode="auto">
          <a:xfrm>
            <a:off x="310202" y="4203352"/>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Licensing/Pricing</a:t>
            </a:r>
            <a:endParaRPr lang="en-US" sz="2800">
              <a:solidFill>
                <a:srgbClr val="000000"/>
              </a:solidFill>
            </a:endParaRPr>
          </a:p>
        </p:txBody>
      </p:sp>
      <p:sp>
        <p:nvSpPr>
          <p:cNvPr id="17" name="Text Box 4">
            <a:hlinkClick r:id="rId22" action="ppaction://hlinksldjump"/>
          </p:cNvPr>
          <p:cNvSpPr txBox="1">
            <a:spLocks noChangeArrowheads="1"/>
          </p:cNvSpPr>
          <p:nvPr>
            <p:custDataLst>
              <p:tags r:id="rId10"/>
            </p:custDataLst>
          </p:nvPr>
        </p:nvSpPr>
        <p:spPr bwMode="auto">
          <a:xfrm>
            <a:off x="310202" y="4738169"/>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CCSv6 – For More Info…</a:t>
            </a:r>
            <a:endParaRPr lang="en-US" sz="2800">
              <a:solidFill>
                <a:srgbClr val="000000"/>
              </a:solidFill>
            </a:endParaRPr>
          </a:p>
        </p:txBody>
      </p:sp>
      <p:sp>
        <p:nvSpPr>
          <p:cNvPr id="18" name="Text Box 4">
            <a:hlinkClick r:id="rId23" action="ppaction://hlinksldjump"/>
          </p:cNvPr>
          <p:cNvSpPr txBox="1">
            <a:spLocks noChangeArrowheads="1"/>
          </p:cNvSpPr>
          <p:nvPr>
            <p:custDataLst>
              <p:tags r:id="rId11"/>
            </p:custDataLst>
          </p:nvPr>
        </p:nvSpPr>
        <p:spPr bwMode="auto">
          <a:xfrm>
            <a:off x="310202" y="5272986"/>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a:solidFill>
                <a:srgbClr val="000000"/>
              </a:solidFill>
            </a:endParaRPr>
          </a:p>
        </p:txBody>
      </p:sp>
    </p:spTree>
    <p:custDataLst>
      <p:tags r:id="rId1"/>
    </p:custDataLst>
    <p:extLst>
      <p:ext uri="{BB962C8B-B14F-4D97-AF65-F5344CB8AC3E}">
        <p14:creationId xmlns:p14="http://schemas.microsoft.com/office/powerpoint/2010/main" val="3679368571"/>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ormAutofit/>
          </a:bodyPr>
          <a:lstStyle/>
          <a:p>
            <a:r>
              <a:rPr lang="en-US" smtClean="0"/>
              <a:t>Compiler Build Options</a:t>
            </a:r>
          </a:p>
        </p:txBody>
      </p:sp>
      <p:sp>
        <p:nvSpPr>
          <p:cNvPr id="20" name="TextBox 19"/>
          <p:cNvSpPr txBox="1"/>
          <p:nvPr/>
        </p:nvSpPr>
        <p:spPr>
          <a:xfrm>
            <a:off x="304800" y="609600"/>
            <a:ext cx="7971798" cy="1055674"/>
          </a:xfrm>
          <a:prstGeom prst="rect">
            <a:avLst/>
          </a:prstGeom>
          <a:noFill/>
        </p:spPr>
        <p:txBody>
          <a:bodyPr wrap="none" rtlCol="0" anchor="ctr" anchorCtr="0">
            <a:spAutoFit/>
          </a:bodyPr>
          <a:lstStyle/>
          <a:p>
            <a:pPr marL="342900" indent="-342900">
              <a:spcBef>
                <a:spcPts val="600"/>
              </a:spcBef>
              <a:buClr>
                <a:schemeClr val="tx2"/>
              </a:buClr>
              <a:buSzPct val="75000"/>
              <a:buFont typeface="Wingdings"/>
              <a:buChar char=""/>
            </a:pPr>
            <a:r>
              <a:rPr lang="en-US" b="0" smtClean="0">
                <a:latin typeface="Calibri" pitchFamily="34" charset="0"/>
                <a:cs typeface="Calibri" pitchFamily="34" charset="0"/>
              </a:rPr>
              <a:t>Nearly 100 compiler options available to tune your code’s</a:t>
            </a:r>
            <a:br>
              <a:rPr lang="en-US" b="0" smtClean="0">
                <a:latin typeface="Calibri" pitchFamily="34" charset="0"/>
                <a:cs typeface="Calibri" pitchFamily="34" charset="0"/>
              </a:rPr>
            </a:br>
            <a:r>
              <a:rPr lang="en-US" b="0" smtClean="0">
                <a:latin typeface="Calibri" pitchFamily="34" charset="0"/>
                <a:cs typeface="Calibri" pitchFamily="34" charset="0"/>
              </a:rPr>
              <a:t>performance, size, etc.</a:t>
            </a:r>
          </a:p>
          <a:p>
            <a:pPr marL="342900" indent="-342900">
              <a:spcBef>
                <a:spcPts val="600"/>
              </a:spcBef>
              <a:buClr>
                <a:schemeClr val="tx2"/>
              </a:buClr>
              <a:buSzPct val="75000"/>
              <a:buFont typeface="Wingdings"/>
              <a:buChar char=""/>
            </a:pPr>
            <a:r>
              <a:rPr lang="en-US" b="0" smtClean="0">
                <a:latin typeface="Calibri" pitchFamily="34" charset="0"/>
                <a:cs typeface="Calibri" pitchFamily="34" charset="0"/>
              </a:rPr>
              <a:t>The following table lists the most commonly used options:</a:t>
            </a:r>
          </a:p>
        </p:txBody>
      </p:sp>
      <p:graphicFrame>
        <p:nvGraphicFramePr>
          <p:cNvPr id="21" name="Group 268"/>
          <p:cNvGraphicFramePr>
            <a:graphicFrameLocks noGrp="1"/>
          </p:cNvGraphicFramePr>
          <p:nvPr>
            <p:extLst>
              <p:ext uri="{D42A27DB-BD31-4B8C-83A1-F6EECF244321}">
                <p14:modId xmlns:p14="http://schemas.microsoft.com/office/powerpoint/2010/main" val="709510990"/>
              </p:ext>
            </p:extLst>
          </p:nvPr>
        </p:nvGraphicFramePr>
        <p:xfrm>
          <a:off x="249866" y="1763233"/>
          <a:ext cx="8610600" cy="3048000"/>
        </p:xfrm>
        <a:graphic>
          <a:graphicData uri="http://schemas.openxmlformats.org/drawingml/2006/table">
            <a:tbl>
              <a:tblPr/>
              <a:tblGrid>
                <a:gridCol w="1295576"/>
                <a:gridCol w="1890213"/>
                <a:gridCol w="5424811"/>
              </a:tblGrid>
              <a:tr h="274638">
                <a:tc>
                  <a:txBody>
                    <a:bodyPr/>
                    <a:lstStyle/>
                    <a:p>
                      <a:pPr marL="0" marR="0" lvl="0" indent="0" algn="ctr" defTabSz="914400" rtl="0" eaLnBrk="0" fontAlgn="base" latinLnBrk="0" hangingPunct="0">
                        <a:lnSpc>
                          <a:spcPct val="80000"/>
                        </a:lnSpc>
                        <a:spcBef>
                          <a:spcPct val="40000"/>
                        </a:spcBef>
                        <a:spcAft>
                          <a:spcPct val="0"/>
                        </a:spcAft>
                        <a:buClr>
                          <a:schemeClr val="tx2"/>
                        </a:buClr>
                        <a:buSzPct val="75000"/>
                        <a:buFont typeface="Wingdings" pitchFamily="2" charset="2"/>
                        <a:buNone/>
                        <a:tabLst/>
                      </a:pPr>
                      <a:endParaRPr kumimoji="0" lang="en-US" sz="2000" b="1" i="0" u="none" strike="noStrike" cap="none" normalizeH="0" baseline="0" smtClean="0">
                        <a:ln>
                          <a:noFill/>
                        </a:ln>
                        <a:solidFill>
                          <a:schemeClr val="tx1"/>
                        </a:solidFill>
                        <a:effectLst/>
                        <a:latin typeface="Arial" charset="0"/>
                      </a:endParaRPr>
                    </a:p>
                  </a:txBody>
                  <a:tcPr anchor="ctr" horzOverflow="overflow">
                    <a:lnL cap="flat">
                      <a:noFill/>
                    </a:lnL>
                    <a:lnR w="19050" cap="flat" cmpd="sng" algn="ctr">
                      <a:solidFill>
                        <a:schemeClr val="tx1"/>
                      </a:solidFill>
                      <a:prstDash val="solid"/>
                      <a:round/>
                      <a:headEnd type="none" w="sm" len="sm"/>
                      <a:tailEnd type="none" w="med" len="med"/>
                    </a:lnR>
                    <a:lnT cap="fla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2"/>
                          </a:solidFill>
                          <a:effectLst/>
                          <a:latin typeface="Arial" charset="0"/>
                          <a:cs typeface="Times New Roman" pitchFamily="18" charset="0"/>
                        </a:rPr>
                        <a:t>Options</a:t>
                      </a:r>
                      <a:endParaRPr kumimoji="0" lang="en-US" sz="2000" b="1" i="0" u="none" strike="noStrike" cap="none" normalizeH="0" baseline="0" smtClean="0">
                        <a:ln>
                          <a:noFill/>
                        </a:ln>
                        <a:solidFill>
                          <a:schemeClr val="tx2"/>
                        </a:solidFill>
                        <a:effectLst/>
                        <a:latin typeface="Arial" charset="0"/>
                      </a:endParaRPr>
                    </a:p>
                  </a:txBody>
                  <a:tcPr anchor="ctr" horzOverflow="overflow">
                    <a:lnL w="19050" cap="flat" cmpd="sng" algn="ctr">
                      <a:solidFill>
                        <a:schemeClr val="tx1"/>
                      </a:solidFill>
                      <a:prstDash val="solid"/>
                      <a:round/>
                      <a:headEnd type="none" w="sm" len="sm"/>
                      <a:tailEnd type="none" w="med" len="med"/>
                    </a:lnL>
                    <a:lnR>
                      <a:noFill/>
                    </a:lnR>
                    <a:lnT w="19050" cap="flat" cmpd="sng" algn="ctr">
                      <a:solidFill>
                        <a:schemeClr val="tx1"/>
                      </a:solidFill>
                      <a:prstDash val="solid"/>
                      <a:round/>
                      <a:headEnd type="none" w="sm" len="sm"/>
                      <a:tailEnd type="none" w="med" len="med"/>
                    </a:lnT>
                    <a:lnB w="12700" cap="flat" cmpd="sng" algn="ctr">
                      <a:solidFill>
                        <a:srgbClr val="969696"/>
                      </a:solidFill>
                      <a:prstDash val="solid"/>
                      <a:round/>
                      <a:headEnd type="none" w="sm" len="sm"/>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smtClean="0">
                          <a:ln>
                            <a:noFill/>
                          </a:ln>
                          <a:solidFill>
                            <a:schemeClr val="tx2"/>
                          </a:solidFill>
                          <a:effectLst/>
                          <a:latin typeface="Arial" charset="0"/>
                          <a:cs typeface="Times New Roman" pitchFamily="18" charset="0"/>
                        </a:rPr>
                        <a:t>Description</a:t>
                      </a:r>
                      <a:endParaRPr kumimoji="0" lang="en-US" sz="2000" b="1" i="0" u="none" strike="noStrike" cap="none" normalizeH="0" baseline="0" smtClean="0">
                        <a:ln>
                          <a:noFill/>
                        </a:ln>
                        <a:solidFill>
                          <a:schemeClr val="tx2"/>
                        </a:solidFill>
                        <a:effectLst/>
                        <a:latin typeface="Arial" charset="0"/>
                      </a:endParaRPr>
                    </a:p>
                  </a:txBody>
                  <a:tcPr anchor="ctr" horzOverflow="overflow">
                    <a:lnL>
                      <a:noFill/>
                    </a:lnL>
                    <a:lnR w="19050" cap="flat" cmpd="sng" algn="ctr">
                      <a:solidFill>
                        <a:schemeClr val="tx1"/>
                      </a:solidFill>
                      <a:prstDash val="solid"/>
                      <a:round/>
                      <a:headEnd type="none" w="sm" len="sm"/>
                      <a:tailEnd type="none" w="med" len="med"/>
                    </a:lnR>
                    <a:lnT w="19050" cap="flat" cmpd="sng" algn="ctr">
                      <a:solidFill>
                        <a:schemeClr val="tx1"/>
                      </a:solidFill>
                      <a:prstDash val="solid"/>
                      <a:round/>
                      <a:headEnd type="none" w="sm" len="sm"/>
                      <a:tailEnd type="none" w="med" len="med"/>
                    </a:lnT>
                    <a:lnB w="12700" cap="flat" cmpd="sng" algn="ctr">
                      <a:solidFill>
                        <a:srgbClr val="969696"/>
                      </a:solidFill>
                      <a:prstDash val="solid"/>
                      <a:round/>
                      <a:headEnd type="none" w="sm" len="sm"/>
                      <a:tailEnd type="none" w="med" len="med"/>
                    </a:lnB>
                    <a:lnTlToBr>
                      <a:noFill/>
                    </a:lnTlToBr>
                    <a:lnBlToTr>
                      <a:noFill/>
                    </a:lnBlToTr>
                    <a:solidFill>
                      <a:schemeClr val="accent1"/>
                    </a:solidFill>
                  </a:tcPr>
                </a:tc>
              </a:tr>
              <a:tr h="274638">
                <a:tc>
                  <a:txBody>
                    <a:bodyPr/>
                    <a:lstStyle/>
                    <a:p>
                      <a:pPr marL="0" marR="0" lvl="0" indent="0" algn="ctr" defTabSz="914400" rtl="0" eaLnBrk="0" fontAlgn="base" latinLnBrk="0" hangingPunct="0">
                        <a:lnSpc>
                          <a:spcPct val="80000"/>
                        </a:lnSpc>
                        <a:spcBef>
                          <a:spcPct val="0"/>
                        </a:spcBef>
                        <a:spcAft>
                          <a:spcPct val="0"/>
                        </a:spcAft>
                        <a:buClr>
                          <a:schemeClr val="tx2"/>
                        </a:buClr>
                        <a:buSzPct val="75000"/>
                        <a:buFont typeface="Wingdings" pitchFamily="2" charset="2"/>
                        <a:buNone/>
                        <a:tabLst/>
                      </a:pPr>
                      <a:endParaRPr kumimoji="0" lang="en-US" sz="2000" b="1" i="0" u="none" strike="noStrike" cap="none" normalizeH="0" baseline="0" smtClean="0">
                        <a:ln>
                          <a:noFill/>
                        </a:ln>
                        <a:solidFill>
                          <a:schemeClr val="tx1"/>
                        </a:solidFill>
                        <a:effectLst/>
                        <a:latin typeface="Arial" charset="0"/>
                      </a:endParaRPr>
                    </a:p>
                  </a:txBody>
                  <a:tcPr anchor="ctr" horzOverflow="overflow">
                    <a:lnL cap="flat">
                      <a:noFill/>
                    </a:lnL>
                    <a:lnR w="19050" cap="flat" cmpd="sng" algn="ctr">
                      <a:solidFill>
                        <a:schemeClr val="tx1"/>
                      </a:solidFill>
                      <a:prstDash val="solid"/>
                      <a:round/>
                      <a:headEnd type="none" w="sm" len="sm"/>
                      <a:tailEnd type="none" w="med" len="med"/>
                    </a:lnR>
                    <a:lnT>
                      <a:noFill/>
                    </a:lnT>
                    <a:lnB>
                      <a:noFill/>
                    </a:lnB>
                    <a:lnTlToBr>
                      <a:noFill/>
                    </a:lnTlToBr>
                    <a:lnBlToTr>
                      <a:noFill/>
                    </a:lnBlToTr>
                    <a:noFill/>
                  </a:tcPr>
                </a:tc>
                <a:tc>
                  <a:txBody>
                    <a:bodyPr/>
                    <a:lstStyle/>
                    <a:p>
                      <a:pPr marL="231775" marR="0" lvl="0" indent="0" algn="l" defTabSz="914400" rtl="0" eaLnBrk="0" fontAlgn="base" latinLnBrk="0" hangingPunct="0">
                        <a:lnSpc>
                          <a:spcPct val="8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Times New Roman" pitchFamily="18" charset="0"/>
                        </a:rPr>
                        <a:t>-mv7M4</a:t>
                      </a:r>
                      <a:endParaRPr kumimoji="0" lang="en-US" sz="2000" b="0" i="0" u="none" strike="noStrike" cap="none" normalizeH="0" baseline="0" smtClean="0">
                        <a:ln>
                          <a:noFill/>
                        </a:ln>
                        <a:solidFill>
                          <a:schemeClr val="tx1"/>
                        </a:solidFill>
                        <a:effectLst/>
                        <a:latin typeface="Arial" charset="0"/>
                      </a:endParaRPr>
                    </a:p>
                  </a:txBody>
                  <a:tcPr anchor="ctr" horzOverflow="overflow">
                    <a:lnL w="19050" cap="flat" cmpd="sng" algn="ctr">
                      <a:solidFill>
                        <a:schemeClr val="tx1"/>
                      </a:solidFill>
                      <a:prstDash val="solid"/>
                      <a:round/>
                      <a:headEnd type="none" w="sm" len="sm"/>
                      <a:tailEnd type="none" w="med" len="med"/>
                    </a:lnL>
                    <a:lnR>
                      <a:noFill/>
                    </a:lnR>
                    <a:lnT w="12700" cap="flat" cmpd="sng" algn="ctr">
                      <a:solidFill>
                        <a:srgbClr val="969696"/>
                      </a:solidFill>
                      <a:prstDash val="solid"/>
                      <a:round/>
                      <a:headEnd type="none" w="sm" len="sm"/>
                      <a:tailEnd type="none" w="med" len="med"/>
                    </a:lnT>
                    <a:lnB>
                      <a:noFill/>
                    </a:lnB>
                    <a:lnTlToBr>
                      <a:noFill/>
                    </a:lnTlToBr>
                    <a:lnBlToTr>
                      <a:noFill/>
                    </a:lnBlToTr>
                    <a:solidFill>
                      <a:srgbClr val="CCFF33"/>
                    </a:solidFill>
                  </a:tcPr>
                </a:tc>
                <a:tc>
                  <a:txBody>
                    <a:bodyPr/>
                    <a:lstStyle/>
                    <a:p>
                      <a:pPr marL="0" marR="0" lvl="0" indent="0" algn="l" defTabSz="914400" rtl="0" eaLnBrk="0" fontAlgn="base" latinLnBrk="0" hangingPunct="0">
                        <a:lnSpc>
                          <a:spcPct val="8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Times New Roman" pitchFamily="18" charset="0"/>
                        </a:rPr>
                        <a:t>Generate Cortex M4 code</a:t>
                      </a:r>
                      <a:endParaRPr kumimoji="0" lang="en-US" sz="2000" b="0" i="0" u="none" strike="noStrike" cap="none" normalizeH="0" baseline="0" smtClean="0">
                        <a:ln>
                          <a:noFill/>
                        </a:ln>
                        <a:solidFill>
                          <a:schemeClr val="tx1"/>
                        </a:solidFill>
                        <a:effectLst/>
                        <a:latin typeface="Arial" charset="0"/>
                      </a:endParaRPr>
                    </a:p>
                  </a:txBody>
                  <a:tcPr anchor="ctr" horzOverflow="overflow">
                    <a:lnL>
                      <a:noFill/>
                    </a:lnL>
                    <a:lnR w="19050" cap="flat" cmpd="sng" algn="ctr">
                      <a:solidFill>
                        <a:schemeClr val="tx1"/>
                      </a:solidFill>
                      <a:prstDash val="solid"/>
                      <a:round/>
                      <a:headEnd type="none" w="sm" len="sm"/>
                      <a:tailEnd type="none" w="med" len="med"/>
                    </a:lnR>
                    <a:lnT w="12700" cap="flat" cmpd="sng" algn="ctr">
                      <a:solidFill>
                        <a:srgbClr val="969696"/>
                      </a:solidFill>
                      <a:prstDash val="solid"/>
                      <a:round/>
                      <a:headEnd type="none" w="sm" len="sm"/>
                      <a:tailEnd type="none" w="med" len="med"/>
                    </a:lnT>
                    <a:lnB>
                      <a:noFill/>
                    </a:lnB>
                    <a:lnTlToBr>
                      <a:noFill/>
                    </a:lnTlToBr>
                    <a:lnBlToTr>
                      <a:noFill/>
                    </a:lnBlToTr>
                    <a:solidFill>
                      <a:srgbClr val="CCFF33"/>
                    </a:solidFill>
                  </a:tcPr>
                </a:tc>
              </a:tr>
              <a:tr h="274638">
                <a:tc>
                  <a:txBody>
                    <a:bodyPr/>
                    <a:lstStyle/>
                    <a:p>
                      <a:pPr marL="0" marR="0" lvl="0" indent="0" algn="ctr" defTabSz="914400" rtl="0" eaLnBrk="0" fontAlgn="base" latinLnBrk="0" hangingPunct="0">
                        <a:lnSpc>
                          <a:spcPct val="80000"/>
                        </a:lnSpc>
                        <a:spcBef>
                          <a:spcPct val="0"/>
                        </a:spcBef>
                        <a:spcAft>
                          <a:spcPct val="0"/>
                        </a:spcAft>
                        <a:buClr>
                          <a:schemeClr val="tx2"/>
                        </a:buClr>
                        <a:buSzPct val="75000"/>
                        <a:buFont typeface="Wingdings" pitchFamily="2" charset="2"/>
                        <a:buNone/>
                        <a:tabLst/>
                      </a:pPr>
                      <a:endParaRPr kumimoji="0" lang="en-US" sz="2000" b="1" i="0" u="none" strike="noStrike" cap="none" normalizeH="0" baseline="0" smtClean="0">
                        <a:ln>
                          <a:noFill/>
                        </a:ln>
                        <a:solidFill>
                          <a:schemeClr val="tx1"/>
                        </a:solidFill>
                        <a:effectLst/>
                        <a:latin typeface="Arial" charset="0"/>
                      </a:endParaRPr>
                    </a:p>
                  </a:txBody>
                  <a:tcPr anchor="ctr" horzOverflow="overflow">
                    <a:lnL cap="flat">
                      <a:noFill/>
                    </a:lnL>
                    <a:lnR w="19050" cap="flat" cmpd="sng" algn="ctr">
                      <a:solidFill>
                        <a:schemeClr val="tx1"/>
                      </a:solidFill>
                      <a:prstDash val="solid"/>
                      <a:round/>
                      <a:headEnd type="none" w="sm" len="sm"/>
                      <a:tailEnd type="none" w="med" len="med"/>
                    </a:lnR>
                    <a:lnT>
                      <a:noFill/>
                    </a:lnT>
                    <a:lnB>
                      <a:noFill/>
                    </a:lnB>
                    <a:lnTlToBr>
                      <a:noFill/>
                    </a:lnTlToBr>
                    <a:lnBlToTr>
                      <a:noFill/>
                    </a:lnBlToTr>
                    <a:noFill/>
                  </a:tcPr>
                </a:tc>
                <a:tc>
                  <a:txBody>
                    <a:bodyPr/>
                    <a:lstStyle/>
                    <a:p>
                      <a:pPr marL="231775" marR="0" lvl="0" indent="0" algn="l" defTabSz="914400" rtl="0" eaLnBrk="0" fontAlgn="base" latinLnBrk="0" hangingPunct="0">
                        <a:lnSpc>
                          <a:spcPct val="8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Times New Roman" pitchFamily="18" charset="0"/>
                        </a:rPr>
                        <a:t>-vmsp</a:t>
                      </a:r>
                      <a:r>
                        <a:rPr kumimoji="0" lang="en-US" sz="2000" b="0" i="0" u="none" strike="noStrike" cap="none" normalizeH="0" baseline="0" smtClean="0">
                          <a:ln>
                            <a:noFill/>
                          </a:ln>
                          <a:solidFill>
                            <a:schemeClr val="tx1"/>
                          </a:solidFill>
                          <a:effectLst/>
                          <a:latin typeface="Arial" charset="0"/>
                          <a:ea typeface="Times New Roman" pitchFamily="18" charset="0"/>
                          <a:cs typeface="Arial" charset="0"/>
                        </a:rPr>
                        <a:t> </a:t>
                      </a:r>
                      <a:endParaRPr kumimoji="0" lang="en-US" sz="2000" b="0" i="0" u="none" strike="noStrike" cap="none" normalizeH="0" baseline="0" smtClean="0">
                        <a:ln>
                          <a:noFill/>
                        </a:ln>
                        <a:solidFill>
                          <a:schemeClr val="tx1"/>
                        </a:solidFill>
                        <a:effectLst/>
                        <a:latin typeface="Arial" charset="0"/>
                        <a:cs typeface="Arial" charset="0"/>
                      </a:endParaRPr>
                    </a:p>
                  </a:txBody>
                  <a:tcPr anchor="ctr" horzOverflow="overflow">
                    <a:lnL w="19050" cap="flat" cmpd="sng" algn="ctr">
                      <a:solidFill>
                        <a:schemeClr val="tx1"/>
                      </a:solidFill>
                      <a:prstDash val="solid"/>
                      <a:round/>
                      <a:headEnd type="none" w="sm" len="sm"/>
                      <a:tailEnd type="none" w="med" len="med"/>
                    </a:lnL>
                    <a:lnR>
                      <a:noFill/>
                    </a:lnR>
                    <a:lnT>
                      <a:noFill/>
                    </a:lnT>
                    <a:lnB>
                      <a:noFill/>
                    </a:lnB>
                    <a:lnTlToBr>
                      <a:noFill/>
                    </a:lnTlToBr>
                    <a:lnBlToTr>
                      <a:noFill/>
                    </a:lnBlToTr>
                    <a:solidFill>
                      <a:srgbClr val="CCFF33"/>
                    </a:solidFill>
                  </a:tcPr>
                </a:tc>
                <a:tc>
                  <a:txBody>
                    <a:bodyPr/>
                    <a:lstStyle/>
                    <a:p>
                      <a:pPr marL="0" marR="0" lvl="0" indent="0" algn="l" defTabSz="914400" rtl="0" eaLnBrk="0" fontAlgn="base" latinLnBrk="0" hangingPunct="0">
                        <a:lnSpc>
                          <a:spcPct val="8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Times New Roman" pitchFamily="18" charset="0"/>
                        </a:rPr>
                        <a:t>Generate MSP430 code</a:t>
                      </a:r>
                    </a:p>
                  </a:txBody>
                  <a:tcPr anchor="ctr" horzOverflow="overflow">
                    <a:lnL>
                      <a:noFill/>
                    </a:lnL>
                    <a:lnR w="19050" cap="flat" cmpd="sng" algn="ctr">
                      <a:solidFill>
                        <a:schemeClr val="tx1"/>
                      </a:solidFill>
                      <a:prstDash val="solid"/>
                      <a:round/>
                      <a:headEnd type="none" w="sm" len="sm"/>
                      <a:tailEnd type="none" w="med" len="med"/>
                    </a:lnR>
                    <a:lnT>
                      <a:noFill/>
                    </a:lnT>
                    <a:lnB>
                      <a:noFill/>
                    </a:lnB>
                    <a:lnTlToBr>
                      <a:noFill/>
                    </a:lnTlToBr>
                    <a:lnBlToTr>
                      <a:noFill/>
                    </a:lnBlToTr>
                    <a:solidFill>
                      <a:srgbClr val="CCFF33"/>
                    </a:solidFill>
                  </a:tcPr>
                </a:tc>
              </a:tr>
              <a:tr h="371475">
                <a:tc rowSpan="2">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2"/>
                          </a:solidFill>
                          <a:effectLst/>
                          <a:latin typeface="Arial" charset="0"/>
                          <a:cs typeface="Times New Roman" pitchFamily="18" charset="0"/>
                        </a:rPr>
                        <a:t>Debug</a:t>
                      </a:r>
                      <a:endParaRPr kumimoji="0" lang="en-US" sz="2000" b="0" i="0" u="none" strike="noStrike" cap="none" normalizeH="0" baseline="0" smtClean="0">
                        <a:ln>
                          <a:noFill/>
                        </a:ln>
                        <a:solidFill>
                          <a:schemeClr val="tx2"/>
                        </a:solidFill>
                        <a:effectLst/>
                        <a:latin typeface="Arial" charset="0"/>
                      </a:endParaRPr>
                    </a:p>
                  </a:txBody>
                  <a:tcPr anchor="ctr" horzOverflow="overflow">
                    <a:lnL cap="flat">
                      <a:noFill/>
                    </a:lnL>
                    <a:lnR w="19050" cap="flat" cmpd="sng" algn="ctr">
                      <a:solidFill>
                        <a:schemeClr val="tx1"/>
                      </a:solidFill>
                      <a:prstDash val="solid"/>
                      <a:round/>
                      <a:headEnd type="none" w="sm" len="sm"/>
                      <a:tailEnd type="none" w="med" len="med"/>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Times New Roman" pitchFamily="18" charset="0"/>
                        </a:rPr>
                        <a:t>-g</a:t>
                      </a:r>
                      <a:endParaRPr kumimoji="0" lang="en-US" sz="2000" b="0" i="0" u="none" strike="noStrike" cap="none" normalizeH="0" baseline="0" smtClean="0">
                        <a:ln>
                          <a:noFill/>
                        </a:ln>
                        <a:solidFill>
                          <a:schemeClr val="tx1"/>
                        </a:solidFill>
                        <a:effectLst/>
                        <a:latin typeface="Arial" charset="0"/>
                      </a:endParaRPr>
                    </a:p>
                  </a:txBody>
                  <a:tcPr anchor="ctr" horzOverflow="overflow">
                    <a:lnL w="19050" cap="flat" cmpd="sng" algn="ctr">
                      <a:solidFill>
                        <a:schemeClr val="tx1"/>
                      </a:solidFill>
                      <a:prstDash val="solid"/>
                      <a:round/>
                      <a:headEnd type="none" w="sm" len="sm"/>
                      <a:tailEnd type="none" w="med" len="med"/>
                    </a:lnL>
                    <a:lnR>
                      <a:noFill/>
                    </a:lnR>
                    <a:lnT w="12700" cap="flat" cmpd="sng" algn="ctr">
                      <a:noFill/>
                      <a:prstDash val="solid"/>
                      <a:round/>
                      <a:headEnd type="none" w="sm" len="sm"/>
                      <a:tailEnd type="none" w="sm" len="sm"/>
                    </a:lnT>
                    <a:lnB>
                      <a:noFill/>
                    </a:lnB>
                    <a:lnTlToBr>
                      <a:noFill/>
                    </a:lnTlToBr>
                    <a:lnBlToTr>
                      <a:noFill/>
                    </a:lnBlToTr>
                    <a:solidFill>
                      <a:schemeClr val="accent4">
                        <a:lumMod val="40000"/>
                        <a:lumOff val="60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Times New Roman" pitchFamily="18" charset="0"/>
                        </a:rPr>
                        <a:t>Enables src-level symbolic debugging</a:t>
                      </a:r>
                      <a:endParaRPr kumimoji="0" lang="en-US" sz="2000" b="0" i="0" u="none" strike="noStrike" cap="none" normalizeH="0" baseline="0" smtClean="0">
                        <a:ln>
                          <a:noFill/>
                        </a:ln>
                        <a:solidFill>
                          <a:schemeClr val="tx1"/>
                        </a:solidFill>
                        <a:effectLst/>
                        <a:latin typeface="Arial" charset="0"/>
                      </a:endParaRPr>
                    </a:p>
                  </a:txBody>
                  <a:tcPr anchor="ctr" horzOverflow="overflow">
                    <a:lnL>
                      <a:noFill/>
                    </a:lnL>
                    <a:lnR w="19050" cap="flat" cmpd="sng" algn="ctr">
                      <a:solidFill>
                        <a:schemeClr val="tx1"/>
                      </a:solidFill>
                      <a:prstDash val="solid"/>
                      <a:round/>
                      <a:headEnd type="none" w="sm" len="sm"/>
                      <a:tailEnd type="none" w="med" len="med"/>
                    </a:lnR>
                    <a:lnT w="12700" cap="flat" cmpd="sng" algn="ctr">
                      <a:noFill/>
                      <a:prstDash val="solid"/>
                      <a:round/>
                      <a:headEnd type="none" w="sm" len="sm"/>
                      <a:tailEnd type="none" w="sm" len="sm"/>
                    </a:lnT>
                    <a:lnB>
                      <a:noFill/>
                    </a:lnB>
                    <a:lnTlToBr>
                      <a:noFill/>
                    </a:lnTlToBr>
                    <a:lnBlToTr>
                      <a:noFill/>
                    </a:lnBlToTr>
                    <a:solidFill>
                      <a:schemeClr val="accent4">
                        <a:lumMod val="40000"/>
                        <a:lumOff val="60000"/>
                      </a:schemeClr>
                    </a:solidFill>
                  </a:tcPr>
                </a:tc>
              </a:tr>
              <a:tr h="274638">
                <a:tc vMerge="1">
                  <a:txBody>
                    <a:bodyPr/>
                    <a:lstStyle/>
                    <a:p>
                      <a:endParaRPr 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Times New Roman" pitchFamily="18" charset="0"/>
                        </a:rPr>
                        <a:t>-ss</a:t>
                      </a:r>
                      <a:endParaRPr kumimoji="0" lang="en-US" sz="2000" b="0" i="0" u="none" strike="noStrike" cap="none" normalizeH="0" baseline="0" smtClean="0">
                        <a:ln>
                          <a:noFill/>
                        </a:ln>
                        <a:solidFill>
                          <a:schemeClr val="tx1"/>
                        </a:solidFill>
                        <a:effectLst/>
                        <a:latin typeface="Arial" charset="0"/>
                      </a:endParaRPr>
                    </a:p>
                  </a:txBody>
                  <a:tcPr anchor="ctr" horzOverflow="overflow">
                    <a:lnL w="19050" cap="flat" cmpd="sng" algn="ctr">
                      <a:solidFill>
                        <a:schemeClr val="tx1"/>
                      </a:solidFill>
                      <a:prstDash val="solid"/>
                      <a:round/>
                      <a:headEnd type="none" w="sm" len="sm"/>
                      <a:tailEnd type="none" w="med" len="med"/>
                    </a:lnL>
                    <a:lnR>
                      <a:noFill/>
                    </a:lnR>
                    <a:lnT>
                      <a:noFill/>
                    </a:lnT>
                    <a:lnB w="12700" cap="flat" cmpd="sng" algn="ctr">
                      <a:solidFill>
                        <a:srgbClr val="969696"/>
                      </a:solidFill>
                      <a:prstDash val="solid"/>
                      <a:round/>
                      <a:headEnd type="none" w="sm" len="sm"/>
                      <a:tailEnd type="none" w="med" len="med"/>
                    </a:lnB>
                    <a:lnTlToBr>
                      <a:noFill/>
                    </a:lnTlToBr>
                    <a:lnBlToTr>
                      <a:noFill/>
                    </a:lnBlToTr>
                    <a:solidFill>
                      <a:schemeClr val="accent4">
                        <a:lumMod val="40000"/>
                        <a:lumOff val="60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Times New Roman" pitchFamily="18" charset="0"/>
                        </a:rPr>
                        <a:t>Interlist C statements into assembly listing</a:t>
                      </a:r>
                      <a:endParaRPr kumimoji="0" lang="en-US" sz="2000" b="0" i="0" u="none" strike="noStrike" cap="none" normalizeH="0" baseline="0" smtClean="0">
                        <a:ln>
                          <a:noFill/>
                        </a:ln>
                        <a:solidFill>
                          <a:schemeClr val="tx1"/>
                        </a:solidFill>
                        <a:effectLst/>
                        <a:latin typeface="Arial" charset="0"/>
                      </a:endParaRPr>
                    </a:p>
                  </a:txBody>
                  <a:tcPr anchor="ctr" horzOverflow="overflow">
                    <a:lnL>
                      <a:noFill/>
                    </a:lnL>
                    <a:lnR w="19050" cap="flat" cmpd="sng" algn="ctr">
                      <a:solidFill>
                        <a:schemeClr val="tx1"/>
                      </a:solidFill>
                      <a:prstDash val="solid"/>
                      <a:round/>
                      <a:headEnd type="none" w="sm" len="sm"/>
                      <a:tailEnd type="none" w="med" len="med"/>
                    </a:lnR>
                    <a:lnT>
                      <a:noFill/>
                    </a:lnT>
                    <a:lnB w="12700" cap="flat" cmpd="sng" algn="ctr">
                      <a:solidFill>
                        <a:srgbClr val="969696"/>
                      </a:solidFill>
                      <a:prstDash val="solid"/>
                      <a:round/>
                      <a:headEnd type="none" w="sm" len="sm"/>
                      <a:tailEnd type="none" w="med" len="med"/>
                    </a:lnB>
                    <a:lnTlToBr>
                      <a:noFill/>
                    </a:lnTlToBr>
                    <a:lnBlToTr>
                      <a:noFill/>
                    </a:lnBlToTr>
                    <a:solidFill>
                      <a:schemeClr val="accent4">
                        <a:lumMod val="40000"/>
                        <a:lumOff val="60000"/>
                      </a:schemeClr>
                    </a:solidFill>
                  </a:tcPr>
                </a:tc>
              </a:tr>
              <a:tr h="274638">
                <a:tc rowSpan="3">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2"/>
                          </a:solidFill>
                          <a:effectLst/>
                          <a:latin typeface="Arial" charset="0"/>
                          <a:cs typeface="Times New Roman" pitchFamily="18" charset="0"/>
                        </a:rPr>
                        <a:t>Optimize (release)</a:t>
                      </a:r>
                      <a:endParaRPr kumimoji="0" lang="en-US" sz="2000" b="0" i="0" u="none" strike="noStrike" cap="none" normalizeH="0" baseline="0" smtClean="0">
                        <a:ln>
                          <a:noFill/>
                        </a:ln>
                        <a:solidFill>
                          <a:schemeClr val="tx2"/>
                        </a:solidFill>
                        <a:effectLst/>
                        <a:latin typeface="Arial" charset="0"/>
                      </a:endParaRPr>
                    </a:p>
                  </a:txBody>
                  <a:tcPr anchor="ctr" horzOverflow="overflow">
                    <a:lnL cap="flat">
                      <a:noFill/>
                    </a:lnL>
                    <a:lnR w="19050" cap="flat" cmpd="sng" algn="ctr">
                      <a:solidFill>
                        <a:schemeClr val="tx1"/>
                      </a:solidFill>
                      <a:prstDash val="solid"/>
                      <a:round/>
                      <a:headEnd type="none" w="sm" len="sm"/>
                      <a:tailEnd type="none" w="med" len="med"/>
                    </a:lnR>
                    <a:lnT>
                      <a:noFill/>
                    </a:lnT>
                    <a:lnB cap="flat">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Times New Roman" pitchFamily="18" charset="0"/>
                        </a:rPr>
                        <a:t>-o3</a:t>
                      </a:r>
                      <a:endParaRPr kumimoji="0" lang="en-US" sz="2000" b="0" i="0" u="none" strike="noStrike" cap="none" normalizeH="0" baseline="0" smtClean="0">
                        <a:ln>
                          <a:noFill/>
                        </a:ln>
                        <a:solidFill>
                          <a:schemeClr val="tx1"/>
                        </a:solidFill>
                        <a:effectLst/>
                        <a:latin typeface="Arial" charset="0"/>
                      </a:endParaRPr>
                    </a:p>
                  </a:txBody>
                  <a:tcPr anchor="ctr" horzOverflow="overflow">
                    <a:lnL w="19050" cap="flat" cmpd="sng" algn="ctr">
                      <a:solidFill>
                        <a:schemeClr val="tx1"/>
                      </a:solidFill>
                      <a:prstDash val="solid"/>
                      <a:round/>
                      <a:headEnd type="none" w="sm" len="sm"/>
                      <a:tailEnd type="none" w="med" len="med"/>
                    </a:lnL>
                    <a:lnR>
                      <a:noFill/>
                    </a:lnR>
                    <a:lnT w="12700" cap="flat" cmpd="sng" algn="ctr">
                      <a:solidFill>
                        <a:srgbClr val="969696"/>
                      </a:solidFill>
                      <a:prstDash val="solid"/>
                      <a:round/>
                      <a:headEnd type="none" w="sm" len="sm"/>
                      <a:tailEnd type="none" w="med" len="med"/>
                    </a:lnT>
                    <a:lnB>
                      <a:noFill/>
                    </a:lnB>
                    <a:lnTlToBr>
                      <a:noFill/>
                    </a:lnTlToBr>
                    <a:lnBlToTr>
                      <a:noFill/>
                    </a:lnBlToTr>
                    <a:solidFill>
                      <a:schemeClr val="accent5">
                        <a:lumMod val="20000"/>
                        <a:lumOff val="80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Times New Roman" pitchFamily="18" charset="0"/>
                        </a:rPr>
                        <a:t>Invoke optimizer (-o0, -o1, -o2/-o, -o3)</a:t>
                      </a:r>
                      <a:endParaRPr kumimoji="0" lang="en-US" sz="2000" b="0" i="0" u="none" strike="noStrike" cap="none" normalizeH="0" baseline="0" smtClean="0">
                        <a:ln>
                          <a:noFill/>
                        </a:ln>
                        <a:solidFill>
                          <a:schemeClr val="tx1"/>
                        </a:solidFill>
                        <a:effectLst/>
                        <a:latin typeface="Arial" charset="0"/>
                      </a:endParaRPr>
                    </a:p>
                  </a:txBody>
                  <a:tcPr anchor="ctr" horzOverflow="overflow">
                    <a:lnL>
                      <a:noFill/>
                    </a:lnL>
                    <a:lnR w="19050" cap="flat" cmpd="sng" algn="ctr">
                      <a:solidFill>
                        <a:schemeClr val="tx1"/>
                      </a:solidFill>
                      <a:prstDash val="solid"/>
                      <a:round/>
                      <a:headEnd type="none" w="sm" len="sm"/>
                      <a:tailEnd type="none" w="med" len="med"/>
                    </a:lnR>
                    <a:lnT w="12700" cap="flat" cmpd="sng" algn="ctr">
                      <a:solidFill>
                        <a:srgbClr val="969696"/>
                      </a:solidFill>
                      <a:prstDash val="solid"/>
                      <a:round/>
                      <a:headEnd type="none" w="sm" len="sm"/>
                      <a:tailEnd type="none" w="med" len="med"/>
                    </a:lnT>
                    <a:lnB>
                      <a:noFill/>
                    </a:lnB>
                    <a:lnTlToBr>
                      <a:noFill/>
                    </a:lnTlToBr>
                    <a:lnBlToTr>
                      <a:noFill/>
                    </a:lnBlToTr>
                    <a:solidFill>
                      <a:schemeClr val="accent5">
                        <a:lumMod val="20000"/>
                        <a:lumOff val="80000"/>
                      </a:schemeClr>
                    </a:solidFill>
                  </a:tcPr>
                </a:tc>
              </a:tr>
              <a:tr h="274638">
                <a:tc vMerge="1">
                  <a:txBody>
                    <a:bodyPr/>
                    <a:lstStyle/>
                    <a:p>
                      <a:endParaRPr 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-mf/-ms</a:t>
                      </a:r>
                    </a:p>
                  </a:txBody>
                  <a:tcPr anchor="ctr" horzOverflow="overflow">
                    <a:lnL w="19050" cap="flat" cmpd="sng" algn="ctr">
                      <a:solidFill>
                        <a:schemeClr val="tx1"/>
                      </a:solidFill>
                      <a:prstDash val="solid"/>
                      <a:round/>
                      <a:headEnd type="none" w="sm" len="sm"/>
                      <a:tailEnd type="none" w="med" len="med"/>
                    </a:lnL>
                    <a:lnR>
                      <a:noFill/>
                    </a:lnR>
                    <a:lnT>
                      <a:noFill/>
                    </a:lnT>
                    <a:lnB w="19050" cap="flat" cmpd="sng" algn="ctr">
                      <a:noFill/>
                      <a:prstDash val="solid"/>
                      <a:round/>
                      <a:headEnd type="none" w="sm" len="sm"/>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rPr>
                        <a:t>Speed/code size tradeoff (</a:t>
                      </a:r>
                      <a:r>
                        <a:rPr kumimoji="0" lang="en-US" sz="1600" b="0" i="0" u="none" strike="noStrike" cap="none" normalizeH="0" baseline="0" smtClean="0">
                          <a:ln>
                            <a:noFill/>
                          </a:ln>
                          <a:solidFill>
                            <a:schemeClr val="tx1"/>
                          </a:solidFill>
                          <a:effectLst/>
                          <a:latin typeface="Arial Narrow" pitchFamily="34" charset="0"/>
                        </a:rPr>
                        <a:t>-mf M4/MSP, -ms C28/C6000</a:t>
                      </a:r>
                      <a:r>
                        <a:rPr kumimoji="0" lang="en-US" sz="2000" b="0" i="0" u="none" strike="noStrike" cap="none" normalizeH="0" baseline="0" smtClean="0">
                          <a:ln>
                            <a:noFill/>
                          </a:ln>
                          <a:solidFill>
                            <a:schemeClr val="tx1"/>
                          </a:solidFill>
                          <a:effectLst/>
                          <a:latin typeface="Arial" charset="0"/>
                        </a:rPr>
                        <a:t>)</a:t>
                      </a:r>
                    </a:p>
                  </a:txBody>
                  <a:tcPr anchor="ctr" horzOverflow="overflow">
                    <a:lnL>
                      <a:noFill/>
                    </a:lnL>
                    <a:lnR w="19050" cap="flat" cmpd="sng" algn="ctr">
                      <a:solidFill>
                        <a:schemeClr val="tx1"/>
                      </a:solidFill>
                      <a:prstDash val="solid"/>
                      <a:round/>
                      <a:headEnd type="none" w="sm" len="sm"/>
                      <a:tailEnd type="none" w="med" len="med"/>
                    </a:lnR>
                    <a:lnT>
                      <a:noFill/>
                    </a:lnT>
                    <a:lnB w="19050" cap="flat" cmpd="sng" algn="ctr">
                      <a:noFill/>
                      <a:prstDash val="solid"/>
                      <a:round/>
                      <a:headEnd type="none" w="sm" len="sm"/>
                      <a:tailEnd type="none" w="med" len="med"/>
                    </a:lnB>
                    <a:lnTlToBr>
                      <a:noFill/>
                    </a:lnTlToBr>
                    <a:lnBlToTr>
                      <a:noFill/>
                    </a:lnBlToTr>
                    <a:solidFill>
                      <a:schemeClr val="accent5">
                        <a:lumMod val="20000"/>
                        <a:lumOff val="80000"/>
                      </a:schemeClr>
                    </a:solidFill>
                  </a:tcPr>
                </a:tc>
              </a:tr>
              <a:tr h="274638">
                <a:tc vMerge="1">
                  <a:txBody>
                    <a:bodyPr/>
                    <a:lstStyle/>
                    <a:p>
                      <a:endParaRPr lang="en-US"/>
                    </a:p>
                  </a:txBody>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Times New Roman" pitchFamily="18" charset="0"/>
                        </a:rPr>
                        <a:t>-k</a:t>
                      </a:r>
                      <a:endParaRPr kumimoji="0" lang="en-US" sz="2000" b="0" i="0" u="none" strike="noStrike" cap="none" normalizeH="0" baseline="0" smtClean="0">
                        <a:ln>
                          <a:noFill/>
                        </a:ln>
                        <a:solidFill>
                          <a:schemeClr val="tx1"/>
                        </a:solidFill>
                        <a:effectLst/>
                        <a:latin typeface="Arial" charset="0"/>
                      </a:endParaRPr>
                    </a:p>
                  </a:txBody>
                  <a:tcPr anchor="ctr" horzOverflow="overflow">
                    <a:lnL w="19050" cap="flat" cmpd="sng" algn="ctr">
                      <a:solidFill>
                        <a:schemeClr val="tx1"/>
                      </a:solidFill>
                      <a:prstDash val="solid"/>
                      <a:round/>
                      <a:headEnd type="none" w="sm" len="sm"/>
                      <a:tailEnd type="none" w="med" len="med"/>
                    </a:lnL>
                    <a:lnR>
                      <a:noFill/>
                    </a:lnR>
                    <a:lnT>
                      <a:noFill/>
                    </a:lnT>
                    <a:lnB w="19050" cap="flat" cmpd="sng" algn="ctr">
                      <a:solidFill>
                        <a:schemeClr val="tx1"/>
                      </a:solidFill>
                      <a:prstDash val="solid"/>
                      <a:round/>
                      <a:headEnd type="none" w="sm" len="sm"/>
                      <a:tailEnd type="none" w="med" len="med"/>
                    </a:lnB>
                    <a:lnTlToBr>
                      <a:noFill/>
                    </a:lnTlToBr>
                    <a:lnBlToTr>
                      <a:noFill/>
                    </a:lnBlToTr>
                    <a:solidFill>
                      <a:schemeClr val="accent5">
                        <a:lumMod val="20000"/>
                        <a:lumOff val="80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smtClean="0">
                          <a:ln>
                            <a:noFill/>
                          </a:ln>
                          <a:solidFill>
                            <a:schemeClr val="tx1"/>
                          </a:solidFill>
                          <a:effectLst/>
                          <a:latin typeface="Arial" charset="0"/>
                          <a:cs typeface="Times New Roman" pitchFamily="18" charset="0"/>
                        </a:rPr>
                        <a:t>Keep asm files, but don't interlist</a:t>
                      </a:r>
                      <a:endParaRPr kumimoji="0" lang="en-US" sz="2000" b="0" i="0" u="none" strike="noStrike" cap="none" normalizeH="0" baseline="0" smtClean="0">
                        <a:ln>
                          <a:noFill/>
                        </a:ln>
                        <a:solidFill>
                          <a:schemeClr val="tx1"/>
                        </a:solidFill>
                        <a:effectLst/>
                        <a:latin typeface="Arial" charset="0"/>
                      </a:endParaRPr>
                    </a:p>
                  </a:txBody>
                  <a:tcPr anchor="ctr" horzOverflow="overflow">
                    <a:lnL>
                      <a:noFill/>
                    </a:lnL>
                    <a:lnR w="19050" cap="flat" cmpd="sng" algn="ctr">
                      <a:solidFill>
                        <a:schemeClr val="tx1"/>
                      </a:solidFill>
                      <a:prstDash val="solid"/>
                      <a:round/>
                      <a:headEnd type="none" w="sm" len="sm"/>
                      <a:tailEnd type="none" w="med" len="med"/>
                    </a:lnR>
                    <a:lnT>
                      <a:noFill/>
                    </a:lnT>
                    <a:lnB w="19050" cap="flat" cmpd="sng" algn="ctr">
                      <a:solidFill>
                        <a:schemeClr val="tx1"/>
                      </a:solidFill>
                      <a:prstDash val="solid"/>
                      <a:round/>
                      <a:headEnd type="none" w="sm" len="sm"/>
                      <a:tailEnd type="none" w="med" len="med"/>
                    </a:lnB>
                    <a:lnTlToBr>
                      <a:noFill/>
                    </a:lnTlToBr>
                    <a:lnBlToTr>
                      <a:noFill/>
                    </a:lnBlToTr>
                    <a:solidFill>
                      <a:schemeClr val="accent5">
                        <a:lumMod val="20000"/>
                        <a:lumOff val="80000"/>
                      </a:schemeClr>
                    </a:solidFill>
                  </a:tcPr>
                </a:tc>
              </a:tr>
            </a:tbl>
          </a:graphicData>
        </a:graphic>
      </p:graphicFrame>
      <p:sp>
        <p:nvSpPr>
          <p:cNvPr id="23" name="TextBox 22"/>
          <p:cNvSpPr txBox="1"/>
          <p:nvPr/>
        </p:nvSpPr>
        <p:spPr>
          <a:xfrm>
            <a:off x="304800" y="4950506"/>
            <a:ext cx="8868646" cy="1478866"/>
          </a:xfrm>
          <a:prstGeom prst="rect">
            <a:avLst/>
          </a:prstGeom>
          <a:noFill/>
        </p:spPr>
        <p:txBody>
          <a:bodyPr wrap="none" rtlCol="0" anchor="ctr" anchorCtr="0">
            <a:spAutoFit/>
          </a:bodyPr>
          <a:lstStyle/>
          <a:p>
            <a:pPr marL="342900" indent="-342900">
              <a:spcBef>
                <a:spcPts val="900"/>
              </a:spcBef>
              <a:buClr>
                <a:schemeClr val="tx2"/>
              </a:buClr>
              <a:buSzPct val="75000"/>
              <a:buFont typeface="Wingdings"/>
              <a:buChar char=""/>
            </a:pPr>
            <a:r>
              <a:rPr lang="en-US" b="0" smtClean="0">
                <a:latin typeface="Calibri" pitchFamily="34" charset="0"/>
                <a:cs typeface="Calibri" pitchFamily="34" charset="0"/>
              </a:rPr>
              <a:t>To make things easier, TI has created two BUILD CONFIGURATIONS:</a:t>
            </a:r>
          </a:p>
          <a:p>
            <a:pPr marL="574675" indent="-169863">
              <a:spcBef>
                <a:spcPts val="900"/>
              </a:spcBef>
              <a:buSzPct val="100000"/>
              <a:buFont typeface="Arial" pitchFamily="34" charset="0"/>
              <a:buChar char="•"/>
            </a:pPr>
            <a:r>
              <a:rPr lang="en-US" sz="2000" b="0" i="1" smtClean="0">
                <a:latin typeface="Calibri" pitchFamily="34" charset="0"/>
                <a:cs typeface="Calibri" pitchFamily="34" charset="0"/>
              </a:rPr>
              <a:t>Debug</a:t>
            </a:r>
            <a:r>
              <a:rPr lang="en-US" sz="2000" b="0" smtClean="0">
                <a:latin typeface="Calibri" pitchFamily="34" charset="0"/>
                <a:cs typeface="Calibri" pitchFamily="34" charset="0"/>
              </a:rPr>
              <a:t> (-g, no opt) – great for LOGICAL debug</a:t>
            </a:r>
          </a:p>
          <a:p>
            <a:pPr marL="574675" indent="-169863">
              <a:spcBef>
                <a:spcPts val="900"/>
              </a:spcBef>
              <a:buSzPct val="100000"/>
              <a:buFont typeface="Arial" pitchFamily="34" charset="0"/>
              <a:buChar char="•"/>
            </a:pPr>
            <a:r>
              <a:rPr lang="en-US" sz="2000" b="0" i="1" smtClean="0">
                <a:latin typeface="Calibri" pitchFamily="34" charset="0"/>
                <a:cs typeface="Calibri" pitchFamily="34" charset="0"/>
              </a:rPr>
              <a:t>Release</a:t>
            </a:r>
            <a:r>
              <a:rPr lang="en-US" sz="2000" b="0" smtClean="0">
                <a:latin typeface="Calibri" pitchFamily="34" charset="0"/>
                <a:cs typeface="Calibri" pitchFamily="34" charset="0"/>
              </a:rPr>
              <a:t> (no –g, opt) – great for PERFORMANCE</a:t>
            </a:r>
          </a:p>
          <a:p>
            <a:pPr marL="574675" indent="-169863">
              <a:spcBef>
                <a:spcPts val="900"/>
              </a:spcBef>
              <a:buSzPct val="100000"/>
              <a:buFont typeface="Arial" pitchFamily="34" charset="0"/>
              <a:buChar char="•"/>
            </a:pPr>
            <a:r>
              <a:rPr lang="en-US" sz="2000" b="0" smtClean="0">
                <a:latin typeface="Calibri" pitchFamily="34" charset="0"/>
                <a:cs typeface="Calibri" pitchFamily="34" charset="0"/>
              </a:rPr>
              <a:t>Users can create their own custom build configs</a:t>
            </a:r>
          </a:p>
        </p:txBody>
      </p:sp>
      <p:pic>
        <p:nvPicPr>
          <p:cNvPr id="25" name="Picture 2"/>
          <p:cNvPicPr>
            <a:picLocks noChangeAspect="1" noChangeArrowheads="1"/>
          </p:cNvPicPr>
          <p:nvPr/>
        </p:nvPicPr>
        <p:blipFill>
          <a:blip r:embed="rId3" cstate="print"/>
          <a:srcRect/>
          <a:stretch>
            <a:fillRect/>
          </a:stretch>
        </p:blipFill>
        <p:spPr bwMode="auto">
          <a:xfrm>
            <a:off x="6202331" y="5334000"/>
            <a:ext cx="1460202" cy="997563"/>
          </a:xfrm>
          <a:prstGeom prst="rect">
            <a:avLst/>
          </a:prstGeom>
          <a:noFill/>
          <a:ln w="9525">
            <a:solidFill>
              <a:schemeClr val="tx1"/>
            </a:solidFill>
            <a:miter lim="800000"/>
            <a:headEnd/>
            <a:tailEnd/>
          </a:ln>
          <a:effectLst>
            <a:outerShdw blurRad="50800" dist="63500" dir="2700000" algn="tl" rotWithShape="0">
              <a:prstClr val="black">
                <a:alpha val="40000"/>
              </a:prstClr>
            </a:outerShdw>
          </a:effectLst>
        </p:spPr>
      </p:pic>
      <p:sp>
        <p:nvSpPr>
          <p:cNvPr id="4" name="Leading Question"/>
          <p:cNvSpPr txBox="1"/>
          <p:nvPr/>
        </p:nvSpPr>
        <p:spPr>
          <a:xfrm>
            <a:off x="2624125" y="6535579"/>
            <a:ext cx="3776675" cy="246221"/>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r">
              <a:spcBef>
                <a:spcPct val="0"/>
              </a:spcBef>
            </a:pPr>
            <a:r>
              <a:rPr lang="en-US" sz="2000" b="0" smtClean="0">
                <a:solidFill>
                  <a:schemeClr val="tx2"/>
                </a:solidFill>
                <a:effectLst/>
                <a:latin typeface="Arial Narrow"/>
              </a:rPr>
              <a:t>How do you CHANGE compiler options?</a:t>
            </a:r>
            <a:endParaRPr lang="en-US" sz="2000" b="0" dirty="0" smtClean="0">
              <a:solidFill>
                <a:schemeClr val="tx2"/>
              </a:solidFill>
              <a:effectLst/>
              <a:latin typeface="Arial Narrow"/>
            </a:endParaRPr>
          </a:p>
        </p:txBody>
      </p:sp>
    </p:spTree>
    <p:extLst>
      <p:ext uri="{BB962C8B-B14F-4D97-AF65-F5344CB8AC3E}">
        <p14:creationId xmlns:p14="http://schemas.microsoft.com/office/powerpoint/2010/main" val="258023907"/>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ormAutofit/>
          </a:bodyPr>
          <a:lstStyle/>
          <a:p>
            <a:r>
              <a:rPr lang="en-US" smtClean="0"/>
              <a:t>Modifying Build Configurations</a:t>
            </a:r>
          </a:p>
        </p:txBody>
      </p:sp>
      <p:sp>
        <p:nvSpPr>
          <p:cNvPr id="20" name="TextBox 19"/>
          <p:cNvSpPr txBox="1"/>
          <p:nvPr/>
        </p:nvSpPr>
        <p:spPr>
          <a:xfrm>
            <a:off x="304800" y="843407"/>
            <a:ext cx="8384796" cy="1286506"/>
          </a:xfrm>
          <a:prstGeom prst="rect">
            <a:avLst/>
          </a:prstGeom>
          <a:noFill/>
        </p:spPr>
        <p:txBody>
          <a:bodyPr wrap="none" rtlCol="0" anchor="ctr" anchorCtr="0">
            <a:spAutoFit/>
          </a:bodyPr>
          <a:lstStyle/>
          <a:p>
            <a:pPr marL="342900" indent="-342900">
              <a:spcBef>
                <a:spcPts val="1200"/>
              </a:spcBef>
              <a:buClr>
                <a:schemeClr val="tx2"/>
              </a:buClr>
              <a:buSzPct val="75000"/>
              <a:buFont typeface="Wingdings"/>
              <a:buChar char=""/>
            </a:pPr>
            <a:r>
              <a:rPr lang="en-US" b="0" smtClean="0">
                <a:latin typeface="Calibri" pitchFamily="34" charset="0"/>
                <a:cs typeface="Calibri" pitchFamily="34" charset="0"/>
              </a:rPr>
              <a:t>Select the build configuration: </a:t>
            </a:r>
            <a:r>
              <a:rPr lang="en-US" b="0" i="1" smtClean="0">
                <a:latin typeface="Calibri" pitchFamily="34" charset="0"/>
                <a:cs typeface="Calibri" pitchFamily="34" charset="0"/>
              </a:rPr>
              <a:t> </a:t>
            </a:r>
            <a:r>
              <a:rPr lang="en-US" b="0" i="1" smtClean="0">
                <a:solidFill>
                  <a:schemeClr val="tx2"/>
                </a:solidFill>
                <a:latin typeface="Calibri" pitchFamily="34" charset="0"/>
                <a:cs typeface="Calibri" pitchFamily="34" charset="0"/>
              </a:rPr>
              <a:t>Debug or Release</a:t>
            </a:r>
          </a:p>
          <a:p>
            <a:pPr marL="342900" indent="-342900">
              <a:spcBef>
                <a:spcPts val="1200"/>
              </a:spcBef>
              <a:buClr>
                <a:schemeClr val="tx2"/>
              </a:buClr>
              <a:buSzPct val="75000"/>
              <a:buFont typeface="Wingdings"/>
              <a:buChar char=""/>
            </a:pPr>
            <a:r>
              <a:rPr lang="en-US" b="0" smtClean="0">
                <a:latin typeface="Calibri" pitchFamily="34" charset="0"/>
                <a:cs typeface="Calibri" pitchFamily="34" charset="0"/>
              </a:rPr>
              <a:t>Right-click on the project and select </a:t>
            </a:r>
            <a:r>
              <a:rPr lang="en-US" b="0" i="1" smtClean="0">
                <a:solidFill>
                  <a:schemeClr val="tx2"/>
                </a:solidFill>
                <a:latin typeface="Calibri" pitchFamily="34" charset="0"/>
                <a:cs typeface="Calibri" pitchFamily="34" charset="0"/>
              </a:rPr>
              <a:t>Properties</a:t>
            </a:r>
            <a:endParaRPr lang="en-US" b="0" smtClean="0">
              <a:latin typeface="Calibri" pitchFamily="34" charset="0"/>
              <a:cs typeface="Calibri" pitchFamily="34" charset="0"/>
            </a:endParaRPr>
          </a:p>
          <a:p>
            <a:pPr marL="342900" indent="-342900">
              <a:spcBef>
                <a:spcPts val="1200"/>
              </a:spcBef>
              <a:buClr>
                <a:schemeClr val="tx2"/>
              </a:buClr>
              <a:buSzPct val="75000"/>
              <a:buFont typeface="Wingdings"/>
              <a:buChar char=""/>
            </a:pPr>
            <a:r>
              <a:rPr lang="en-US" b="0" smtClean="0">
                <a:latin typeface="Calibri" pitchFamily="34" charset="0"/>
                <a:cs typeface="Calibri" pitchFamily="34" charset="0"/>
              </a:rPr>
              <a:t>Then click “</a:t>
            </a:r>
            <a:r>
              <a:rPr lang="en-US" b="0" i="1" smtClean="0">
                <a:solidFill>
                  <a:schemeClr val="tx2"/>
                </a:solidFill>
                <a:latin typeface="Calibri" pitchFamily="34" charset="0"/>
                <a:cs typeface="Calibri" pitchFamily="34" charset="0"/>
              </a:rPr>
              <a:t>Processor Options</a:t>
            </a:r>
            <a:r>
              <a:rPr lang="en-US" b="0" smtClean="0">
                <a:latin typeface="Calibri" pitchFamily="34" charset="0"/>
                <a:cs typeface="Calibri" pitchFamily="34" charset="0"/>
              </a:rPr>
              <a:t>” or any other category (</a:t>
            </a:r>
            <a:r>
              <a:rPr lang="en-US" sz="2000" b="0" i="1" smtClean="0">
                <a:latin typeface="Calibri" pitchFamily="34" charset="0"/>
                <a:cs typeface="Calibri" pitchFamily="34" charset="0"/>
              </a:rPr>
              <a:t>like Opt</a:t>
            </a:r>
            <a:r>
              <a:rPr lang="en-US" b="0" smtClean="0">
                <a:latin typeface="Calibri" pitchFamily="34" charset="0"/>
                <a:cs typeface="Calibri" pitchFamily="34" charset="0"/>
              </a:rPr>
              <a:t>):</a:t>
            </a:r>
          </a:p>
        </p:txBody>
      </p:sp>
      <p:pic>
        <p:nvPicPr>
          <p:cNvPr id="3" name="Picture 2" descr="C:\Users\a0159877\AppData\Local\Temp\SNAGHTML4c024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630" y="2362200"/>
            <a:ext cx="8389620" cy="3429000"/>
          </a:xfrm>
          <a:prstGeom prst="rect">
            <a:avLst/>
          </a:prstGeom>
          <a:noFill/>
          <a:extLst>
            <a:ext uri="{909E8E84-426E-40DD-AFC4-6F175D3DCCD1}">
              <a14:hiddenFill xmlns:a14="http://schemas.microsoft.com/office/drawing/2010/main">
                <a:solidFill>
                  <a:srgbClr val="FFFFFF"/>
                </a:solidFill>
              </a14:hiddenFill>
            </a:ext>
          </a:extLst>
        </p:spPr>
      </p:pic>
      <p:sp>
        <p:nvSpPr>
          <p:cNvPr id="2" name="Rounded Rectangle 1"/>
          <p:cNvSpPr/>
          <p:nvPr/>
        </p:nvSpPr>
        <p:spPr bwMode="auto">
          <a:xfrm>
            <a:off x="781050" y="3676650"/>
            <a:ext cx="1676400" cy="1219200"/>
          </a:xfrm>
          <a:prstGeom prst="roundRect">
            <a:avLst/>
          </a:prstGeom>
          <a:no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sp>
        <p:nvSpPr>
          <p:cNvPr id="7" name="Rounded Rectangle 6"/>
          <p:cNvSpPr/>
          <p:nvPr/>
        </p:nvSpPr>
        <p:spPr bwMode="auto">
          <a:xfrm>
            <a:off x="2895600" y="3352800"/>
            <a:ext cx="2286000" cy="361950"/>
          </a:xfrm>
          <a:prstGeom prst="roundRect">
            <a:avLst/>
          </a:prstGeom>
          <a:no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spTree>
    <p:extLst>
      <p:ext uri="{BB962C8B-B14F-4D97-AF65-F5344CB8AC3E}">
        <p14:creationId xmlns:p14="http://schemas.microsoft.com/office/powerpoint/2010/main" val="1103200876"/>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838200"/>
            <a:ext cx="5562600" cy="5181600"/>
          </a:xfrm>
          <a:prstGeom prst="rect">
            <a:avLst/>
          </a:prstGeom>
          <a:solidFill>
            <a:srgbClr val="92D050"/>
          </a:solidFill>
          <a:ln w="19050">
            <a:solidFill>
              <a:schemeClr val="tx1"/>
            </a:solidFill>
            <a:miter lim="800000"/>
            <a:headEnd type="none" w="sm" len="sm"/>
            <a:tailEnd type="none" w="sm" len="sm"/>
          </a:ln>
          <a:effectLst>
            <a:outerShdw blurRad="50800" dist="889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7" cstate="print"/>
          <a:srcRect/>
          <a:stretch>
            <a:fillRect/>
          </a:stretch>
        </p:blipFill>
        <p:spPr bwMode="auto">
          <a:xfrm>
            <a:off x="6160824" y="1316817"/>
            <a:ext cx="2819400" cy="4172713"/>
          </a:xfrm>
          <a:prstGeom prst="rect">
            <a:avLst/>
          </a:prstGeom>
          <a:noFill/>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9" name="Text Box 4">
            <a:hlinkClick r:id="rId8" action="ppaction://hlinksldjump"/>
          </p:cNvPr>
          <p:cNvSpPr txBox="1">
            <a:spLocks noChangeArrowheads="1"/>
          </p:cNvSpPr>
          <p:nvPr>
            <p:custDataLst>
              <p:tags r:id="rId2"/>
            </p:custDataLst>
          </p:nvPr>
        </p:nvSpPr>
        <p:spPr bwMode="auto">
          <a:xfrm>
            <a:off x="310202" y="954651"/>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Intro to CCSv6</a:t>
            </a:r>
            <a:endParaRPr lang="en-US" sz="2800">
              <a:solidFill>
                <a:srgbClr val="000000"/>
              </a:solidFill>
            </a:endParaRPr>
          </a:p>
        </p:txBody>
      </p:sp>
      <p:sp>
        <p:nvSpPr>
          <p:cNvPr id="10" name="Text Box 3">
            <a:hlinkClick r:id="rId9" action="ppaction://hlinksldjump"/>
          </p:cNvPr>
          <p:cNvSpPr txBox="1">
            <a:spLocks noChangeArrowheads="1"/>
          </p:cNvSpPr>
          <p:nvPr>
            <p:custDataLst>
              <p:tags r:id="rId3"/>
            </p:custDataLst>
          </p:nvPr>
        </p:nvSpPr>
        <p:spPr bwMode="auto">
          <a:xfrm>
            <a:off x="304800" y="1489468"/>
            <a:ext cx="5562600" cy="461665"/>
          </a:xfrm>
          <a:prstGeom prst="rect">
            <a:avLst/>
          </a:prstGeom>
          <a:solidFill>
            <a:schemeClr val="bg1"/>
          </a:solidFill>
          <a:ln w="19050">
            <a:solidFill>
              <a:schemeClr val="tx1"/>
            </a:solid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Licensing/Pricing</a:t>
            </a:r>
            <a:endParaRPr lang="en-US" sz="2800">
              <a:solidFill>
                <a:srgbClr val="000000"/>
              </a:solidFill>
            </a:endParaRPr>
          </a:p>
        </p:txBody>
      </p:sp>
      <p:sp>
        <p:nvSpPr>
          <p:cNvPr id="11" name="Text Box 4">
            <a:hlinkClick r:id="rId10" action="ppaction://hlinksldjump"/>
          </p:cNvPr>
          <p:cNvSpPr txBox="1">
            <a:spLocks noChangeArrowheads="1"/>
          </p:cNvSpPr>
          <p:nvPr>
            <p:custDataLst>
              <p:tags r:id="rId4"/>
            </p:custDataLst>
          </p:nvPr>
        </p:nvSpPr>
        <p:spPr bwMode="auto">
          <a:xfrm>
            <a:off x="310202" y="2024285"/>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CCSv6 – For More Info…</a:t>
            </a:r>
            <a:endParaRPr lang="en-US" sz="2800">
              <a:solidFill>
                <a:srgbClr val="000000"/>
              </a:solidFill>
            </a:endParaRPr>
          </a:p>
        </p:txBody>
      </p:sp>
      <p:sp>
        <p:nvSpPr>
          <p:cNvPr id="12" name="Text Box 4">
            <a:hlinkClick r:id="rId11" action="ppaction://hlinksldjump"/>
          </p:cNvPr>
          <p:cNvSpPr txBox="1">
            <a:spLocks noChangeArrowheads="1"/>
          </p:cNvSpPr>
          <p:nvPr>
            <p:custDataLst>
              <p:tags r:id="rId5"/>
            </p:custDataLst>
          </p:nvPr>
        </p:nvSpPr>
        <p:spPr bwMode="auto">
          <a:xfrm>
            <a:off x="310202" y="2559102"/>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a:solidFill>
                <a:srgbClr val="000000"/>
              </a:solidFill>
            </a:endParaRPr>
          </a:p>
        </p:txBody>
      </p:sp>
    </p:spTree>
    <p:custDataLst>
      <p:tags r:id="rId1"/>
    </p:custDataLst>
    <p:extLst>
      <p:ext uri="{BB962C8B-B14F-4D97-AF65-F5344CB8AC3E}">
        <p14:creationId xmlns:p14="http://schemas.microsoft.com/office/powerpoint/2010/main" val="1790511187"/>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ormAutofit/>
          </a:bodyPr>
          <a:lstStyle/>
          <a:p>
            <a:r>
              <a:rPr lang="en-US" smtClean="0"/>
              <a:t>CCSv6 Licensing and Pricing</a:t>
            </a:r>
          </a:p>
        </p:txBody>
      </p:sp>
      <p:sp>
        <p:nvSpPr>
          <p:cNvPr id="20" name="TextBox 19"/>
          <p:cNvSpPr txBox="1"/>
          <p:nvPr/>
        </p:nvSpPr>
        <p:spPr>
          <a:xfrm>
            <a:off x="152400" y="551635"/>
            <a:ext cx="6877588" cy="1926681"/>
          </a:xfrm>
          <a:prstGeom prst="rect">
            <a:avLst/>
          </a:prstGeom>
          <a:noFill/>
        </p:spPr>
        <p:txBody>
          <a:bodyPr wrap="square" rtlCol="0" anchor="ctr" anchorCtr="0">
            <a:spAutoFit/>
          </a:bodyPr>
          <a:lstStyle/>
          <a:p>
            <a:pPr marL="342900" indent="-342900">
              <a:spcBef>
                <a:spcPts val="600"/>
              </a:spcBef>
              <a:buClr>
                <a:schemeClr val="tx2"/>
              </a:buClr>
              <a:buSzPct val="75000"/>
              <a:buFont typeface="Wingdings"/>
              <a:buChar char=""/>
            </a:pPr>
            <a:r>
              <a:rPr lang="en-US" smtClean="0">
                <a:solidFill>
                  <a:schemeClr val="tx2"/>
                </a:solidFill>
                <a:latin typeface="Calibri" pitchFamily="34" charset="0"/>
                <a:cs typeface="Calibri" pitchFamily="34" charset="0"/>
              </a:rPr>
              <a:t>Licensing</a:t>
            </a:r>
            <a:endParaRPr lang="en-US" i="1" smtClean="0">
              <a:solidFill>
                <a:schemeClr val="tx2"/>
              </a:solidFill>
              <a:latin typeface="Calibri" pitchFamily="34" charset="0"/>
              <a:cs typeface="Calibri" pitchFamily="34" charset="0"/>
            </a:endParaRPr>
          </a:p>
          <a:p>
            <a:pPr marL="574675" indent="-169863">
              <a:spcBef>
                <a:spcPts val="600"/>
              </a:spcBef>
              <a:buSzPct val="100000"/>
              <a:buFont typeface="Arial" pitchFamily="34" charset="0"/>
              <a:buChar char="•"/>
            </a:pPr>
            <a:r>
              <a:rPr lang="en-US" sz="2000" b="0" smtClean="0">
                <a:latin typeface="Calibri" pitchFamily="34" charset="0"/>
                <a:cs typeface="Calibri" pitchFamily="34" charset="0"/>
              </a:rPr>
              <a:t>Wide variety of options (node locked, floating, time based)</a:t>
            </a:r>
          </a:p>
          <a:p>
            <a:pPr marL="574675" indent="-169863">
              <a:spcBef>
                <a:spcPts val="600"/>
              </a:spcBef>
              <a:buSzPct val="100000"/>
              <a:buFont typeface="Arial" pitchFamily="34" charset="0"/>
              <a:buChar char="•"/>
            </a:pPr>
            <a:r>
              <a:rPr lang="en-US" sz="2000" b="0" smtClean="0">
                <a:latin typeface="Calibri" pitchFamily="34" charset="0"/>
                <a:cs typeface="Calibri" pitchFamily="34" charset="0"/>
              </a:rPr>
              <a:t>All versions (full, DSK, free tools) use same image</a:t>
            </a:r>
          </a:p>
          <a:p>
            <a:pPr marL="574675" indent="-169863">
              <a:spcBef>
                <a:spcPts val="600"/>
              </a:spcBef>
              <a:buSzPct val="100000"/>
              <a:buFont typeface="Arial" pitchFamily="34" charset="0"/>
              <a:buChar char="•"/>
            </a:pPr>
            <a:r>
              <a:rPr lang="en-US" sz="2000" b="0" smtClean="0">
                <a:latin typeface="Calibri" pitchFamily="34" charset="0"/>
                <a:cs typeface="Calibri" pitchFamily="34" charset="0"/>
              </a:rPr>
              <a:t>Updates readily available online</a:t>
            </a:r>
          </a:p>
          <a:p>
            <a:pPr marL="574675" indent="-169863">
              <a:spcBef>
                <a:spcPts val="600"/>
              </a:spcBef>
              <a:buSzPct val="100000"/>
              <a:buFont typeface="Arial" pitchFamily="34" charset="0"/>
              <a:buChar char="•"/>
            </a:pPr>
            <a:r>
              <a:rPr lang="en-US" sz="2000" b="0" smtClean="0">
                <a:latin typeface="Calibri" pitchFamily="34" charset="0"/>
                <a:cs typeface="Calibri" pitchFamily="34" charset="0"/>
              </a:rPr>
              <a:t>Licenses are “perpetual” – subscriptions only needed to upgrade to next major release (CCSv5 to CCSv6)</a:t>
            </a:r>
          </a:p>
        </p:txBody>
      </p:sp>
      <p:pic>
        <p:nvPicPr>
          <p:cNvPr id="8" name="Picture 2" descr="C:\Documents and Settings\a0159877\Desktop\SYSBIOS Snaps\extra\ccs_plat_node_lock.png"/>
          <p:cNvPicPr>
            <a:picLocks noChangeAspect="1" noChangeArrowheads="1"/>
          </p:cNvPicPr>
          <p:nvPr/>
        </p:nvPicPr>
        <p:blipFill>
          <a:blip r:embed="rId3" cstate="print"/>
          <a:srcRect/>
          <a:stretch>
            <a:fillRect/>
          </a:stretch>
        </p:blipFill>
        <p:spPr bwMode="auto">
          <a:xfrm>
            <a:off x="7029988" y="690513"/>
            <a:ext cx="1809212" cy="2843047"/>
          </a:xfrm>
          <a:prstGeom prst="rect">
            <a:avLst/>
          </a:prstGeom>
          <a:noFill/>
          <a:ln w="19050">
            <a:solidFill>
              <a:schemeClr val="tx1"/>
            </a:solidFill>
          </a:ln>
          <a:effectLst>
            <a:outerShdw blurRad="50800" dist="88900" dir="2700000" algn="tl" rotWithShape="0">
              <a:prstClr val="black">
                <a:alpha val="40000"/>
              </a:prstClr>
            </a:outerShdw>
          </a:effectLst>
        </p:spPr>
      </p:pic>
      <p:sp>
        <p:nvSpPr>
          <p:cNvPr id="9" name="TextBox 8"/>
          <p:cNvSpPr txBox="1"/>
          <p:nvPr/>
        </p:nvSpPr>
        <p:spPr>
          <a:xfrm>
            <a:off x="152400" y="2594771"/>
            <a:ext cx="5849871" cy="1034129"/>
          </a:xfrm>
          <a:prstGeom prst="rect">
            <a:avLst/>
          </a:prstGeom>
          <a:noFill/>
        </p:spPr>
        <p:txBody>
          <a:bodyPr wrap="none" rtlCol="0" anchor="ctr" anchorCtr="0">
            <a:spAutoFit/>
          </a:bodyPr>
          <a:lstStyle/>
          <a:p>
            <a:pPr marL="342900" indent="-342900">
              <a:spcBef>
                <a:spcPts val="600"/>
              </a:spcBef>
              <a:buClr>
                <a:schemeClr val="tx2"/>
              </a:buClr>
              <a:buSzPct val="75000"/>
              <a:buFont typeface="Wingdings"/>
              <a:buChar char=""/>
            </a:pPr>
            <a:r>
              <a:rPr lang="en-US" smtClean="0">
                <a:solidFill>
                  <a:schemeClr val="tx2"/>
                </a:solidFill>
                <a:latin typeface="Calibri" pitchFamily="34" charset="0"/>
                <a:cs typeface="Calibri" pitchFamily="34" charset="0"/>
              </a:rPr>
              <a:t>Pricing</a:t>
            </a:r>
            <a:endParaRPr lang="en-US" i="1" smtClean="0">
              <a:solidFill>
                <a:schemeClr val="tx2"/>
              </a:solidFill>
              <a:latin typeface="Calibri" pitchFamily="34" charset="0"/>
              <a:cs typeface="Calibri" pitchFamily="34" charset="0"/>
            </a:endParaRPr>
          </a:p>
          <a:p>
            <a:pPr marL="574675" indent="-169863">
              <a:spcBef>
                <a:spcPts val="600"/>
              </a:spcBef>
              <a:buSzPct val="100000"/>
              <a:buFont typeface="Arial" pitchFamily="34" charset="0"/>
              <a:buChar char="•"/>
            </a:pPr>
            <a:r>
              <a:rPr lang="en-US" sz="2000" b="0" smtClean="0">
                <a:latin typeface="Calibri" pitchFamily="34" charset="0"/>
                <a:cs typeface="Calibri" pitchFamily="34" charset="0"/>
              </a:rPr>
              <a:t>Reasonable – includes FREE options noted below</a:t>
            </a:r>
          </a:p>
          <a:p>
            <a:pPr marL="574675" indent="-169863">
              <a:spcBef>
                <a:spcPts val="600"/>
              </a:spcBef>
              <a:buSzPct val="100000"/>
              <a:buFont typeface="Arial" pitchFamily="34" charset="0"/>
              <a:buChar char="•"/>
            </a:pPr>
            <a:r>
              <a:rPr lang="en-US" sz="2000" b="0" smtClean="0">
                <a:latin typeface="Calibri" pitchFamily="34" charset="0"/>
                <a:cs typeface="Calibri" pitchFamily="34" charset="0"/>
              </a:rPr>
              <a:t>Annual subscription - $99 </a:t>
            </a:r>
            <a:r>
              <a:rPr lang="en-US" sz="1800" b="0" i="1" smtClean="0">
                <a:latin typeface="Calibri" pitchFamily="34" charset="0"/>
                <a:cs typeface="Calibri" pitchFamily="34" charset="0"/>
              </a:rPr>
              <a:t>($159 for floating)</a:t>
            </a:r>
            <a:endParaRPr lang="en-US" sz="2000" b="0" i="1" smtClean="0">
              <a:latin typeface="Calibri" pitchFamily="34" charset="0"/>
              <a:cs typeface="Calibri" pitchFamily="34" charset="0"/>
            </a:endParaRPr>
          </a:p>
        </p:txBody>
      </p:sp>
      <p:sp>
        <p:nvSpPr>
          <p:cNvPr id="13" name="TextBox 18"/>
          <p:cNvSpPr txBox="1">
            <a:spLocks noChangeArrowheads="1"/>
          </p:cNvSpPr>
          <p:nvPr/>
        </p:nvSpPr>
        <p:spPr bwMode="auto">
          <a:xfrm>
            <a:off x="721237" y="6010668"/>
            <a:ext cx="7651262" cy="313932"/>
          </a:xfrm>
          <a:prstGeom prst="rect">
            <a:avLst/>
          </a:prstGeom>
          <a:noFill/>
          <a:ln w="9525">
            <a:noFill/>
            <a:miter lim="800000"/>
            <a:headEnd/>
            <a:tailEnd/>
          </a:ln>
        </p:spPr>
        <p:txBody>
          <a:bodyPr wrap="none">
            <a:spAutoFit/>
          </a:bodyPr>
          <a:lstStyle/>
          <a:p>
            <a:r>
              <a:rPr lang="en-CA" sz="1800" b="0">
                <a:solidFill>
                  <a:srgbClr val="000000"/>
                </a:solidFill>
                <a:latin typeface="Arial Narrow" pitchFamily="34" charset="0"/>
                <a:sym typeface="Wingdings" pitchFamily="2" charset="2"/>
              </a:rPr>
              <a:t> - recommended option: purchase </a:t>
            </a:r>
            <a:r>
              <a:rPr lang="en-CA" sz="1800" b="0" smtClean="0">
                <a:solidFill>
                  <a:srgbClr val="000000"/>
                </a:solidFill>
                <a:latin typeface="Arial Narrow" pitchFamily="34" charset="0"/>
                <a:sym typeface="Wingdings" pitchFamily="2" charset="2"/>
              </a:rPr>
              <a:t>Dev Kit (LP, etc), use XDS100v1-2, </a:t>
            </a:r>
            <a:r>
              <a:rPr lang="en-CA" sz="1800" b="0">
                <a:solidFill>
                  <a:srgbClr val="000000"/>
                </a:solidFill>
                <a:latin typeface="Arial Narrow" pitchFamily="34" charset="0"/>
                <a:sym typeface="Wingdings" pitchFamily="2" charset="2"/>
              </a:rPr>
              <a:t>&amp; Free </a:t>
            </a:r>
            <a:r>
              <a:rPr lang="en-CA" sz="1800" b="0" smtClean="0">
                <a:solidFill>
                  <a:srgbClr val="000000"/>
                </a:solidFill>
                <a:latin typeface="Arial Narrow" pitchFamily="34" charset="0"/>
                <a:sym typeface="Wingdings" pitchFamily="2" charset="2"/>
              </a:rPr>
              <a:t>CCSv5/6</a:t>
            </a:r>
            <a:endParaRPr lang="en-US" sz="1800"/>
          </a:p>
        </p:txBody>
      </p:sp>
      <p:graphicFrame>
        <p:nvGraphicFramePr>
          <p:cNvPr id="14" name="Group 60"/>
          <p:cNvGraphicFramePr>
            <a:graphicFrameLocks/>
          </p:cNvGraphicFramePr>
          <p:nvPr>
            <p:extLst>
              <p:ext uri="{D42A27DB-BD31-4B8C-83A1-F6EECF244321}">
                <p14:modId xmlns:p14="http://schemas.microsoft.com/office/powerpoint/2010/main" val="746434928"/>
              </p:ext>
            </p:extLst>
          </p:nvPr>
        </p:nvGraphicFramePr>
        <p:xfrm>
          <a:off x="195616" y="3806952"/>
          <a:ext cx="8643584" cy="2133600"/>
        </p:xfrm>
        <a:graphic>
          <a:graphicData uri="http://schemas.openxmlformats.org/drawingml/2006/table">
            <a:tbl>
              <a:tblPr/>
              <a:tblGrid>
                <a:gridCol w="2623784"/>
                <a:gridCol w="3657600"/>
                <a:gridCol w="1143000"/>
                <a:gridCol w="1219200"/>
              </a:tblGrid>
              <a:tr h="280988">
                <a:tc>
                  <a:txBody>
                    <a:bodyPr/>
                    <a:lstStyle/>
                    <a:p>
                      <a:pPr marL="0" marR="0" lvl="0" indent="0" algn="l" defTabSz="914400" rtl="0" eaLnBrk="0" fontAlgn="base" latinLnBrk="0" hangingPunct="0">
                        <a:lnSpc>
                          <a:spcPct val="100000"/>
                        </a:lnSpc>
                        <a:spcBef>
                          <a:spcPct val="0"/>
                        </a:spcBef>
                        <a:spcAft>
                          <a:spcPct val="0"/>
                        </a:spcAft>
                        <a:buClr>
                          <a:schemeClr val="tx2"/>
                        </a:buClr>
                        <a:buSzPct val="75000"/>
                        <a:buFont typeface="Wingdings" pitchFamily="2" charset="2"/>
                        <a:buNone/>
                        <a:tabLst/>
                      </a:pPr>
                      <a:r>
                        <a:rPr kumimoji="0" lang="en-CA" sz="2400" b="1" i="0" u="none" strike="noStrike" cap="none" normalizeH="0" baseline="0" smtClean="0">
                          <a:ln>
                            <a:noFill/>
                          </a:ln>
                          <a:solidFill>
                            <a:schemeClr val="tx2"/>
                          </a:solidFill>
                          <a:effectLst/>
                          <a:latin typeface="Arial" charset="0"/>
                        </a:rPr>
                        <a:t>Item</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00000"/>
                        </a:lnSpc>
                        <a:spcBef>
                          <a:spcPct val="0"/>
                        </a:spcBef>
                        <a:spcAft>
                          <a:spcPct val="0"/>
                        </a:spcAft>
                        <a:buClr>
                          <a:schemeClr val="tx2"/>
                        </a:buClr>
                        <a:buSzPct val="75000"/>
                        <a:buFont typeface="Wingdings" pitchFamily="2" charset="2"/>
                        <a:buNone/>
                        <a:tabLst/>
                      </a:pPr>
                      <a:r>
                        <a:rPr kumimoji="0" lang="en-CA" sz="2400" b="1" i="0" u="none" strike="noStrike" cap="none" normalizeH="0" baseline="0" smtClean="0">
                          <a:ln>
                            <a:noFill/>
                          </a:ln>
                          <a:solidFill>
                            <a:schemeClr val="tx2"/>
                          </a:solidFill>
                          <a:effectLst/>
                          <a:latin typeface="Arial" charset="0"/>
                        </a:rPr>
                        <a:t>Description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00000"/>
                        </a:lnSpc>
                        <a:spcBef>
                          <a:spcPct val="0"/>
                        </a:spcBef>
                        <a:spcAft>
                          <a:spcPct val="0"/>
                        </a:spcAft>
                        <a:buClr>
                          <a:schemeClr val="tx2"/>
                        </a:buClr>
                        <a:buSzPct val="75000"/>
                        <a:buFont typeface="Wingdings" pitchFamily="2" charset="2"/>
                        <a:buNone/>
                        <a:tabLst/>
                      </a:pPr>
                      <a:r>
                        <a:rPr kumimoji="0" lang="en-CA" sz="2400" b="1" i="0" u="none" strike="noStrike" cap="none" normalizeH="0" baseline="0" smtClean="0">
                          <a:ln>
                            <a:noFill/>
                          </a:ln>
                          <a:solidFill>
                            <a:schemeClr val="tx2"/>
                          </a:solidFill>
                          <a:effectLst/>
                          <a:latin typeface="Arial" charset="0"/>
                        </a:rPr>
                        <a:t>Price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0" fontAlgn="base" latinLnBrk="0" hangingPunct="0">
                        <a:lnSpc>
                          <a:spcPct val="100000"/>
                        </a:lnSpc>
                        <a:spcBef>
                          <a:spcPct val="0"/>
                        </a:spcBef>
                        <a:spcAft>
                          <a:spcPct val="0"/>
                        </a:spcAft>
                        <a:buClr>
                          <a:schemeClr val="tx2"/>
                        </a:buClr>
                        <a:buSzPct val="75000"/>
                        <a:buFont typeface="Wingdings" pitchFamily="2" charset="2"/>
                        <a:buNone/>
                        <a:tabLst/>
                      </a:pPr>
                      <a:r>
                        <a:rPr kumimoji="0" lang="en-CA" sz="2400" b="1" i="0" u="none" strike="noStrike" cap="none" normalizeH="0" baseline="0" smtClean="0">
                          <a:ln>
                            <a:noFill/>
                          </a:ln>
                          <a:solidFill>
                            <a:schemeClr val="tx2"/>
                          </a:solidFill>
                          <a:effectLst/>
                          <a:latin typeface="Arial" charset="0"/>
                        </a:rPr>
                        <a:t>Annual</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273050">
                <a:tc>
                  <a:txBody>
                    <a:bodyPr/>
                    <a:lstStyle/>
                    <a:p>
                      <a:pPr marL="0" marR="0" lvl="0" indent="0" algn="l" defTabSz="914400" rtl="0" eaLnBrk="0" fontAlgn="base" latinLnBrk="0" hangingPunct="0">
                        <a:lnSpc>
                          <a:spcPct val="80000"/>
                        </a:lnSpc>
                        <a:spcBef>
                          <a:spcPct val="0"/>
                        </a:spcBef>
                        <a:spcAft>
                          <a:spcPct val="0"/>
                        </a:spcAft>
                        <a:buClr>
                          <a:schemeClr val="tx2"/>
                        </a:buClr>
                        <a:buSzPct val="75000"/>
                        <a:buFont typeface="Wingdings" pitchFamily="2" charset="2"/>
                        <a:buNone/>
                        <a:tabLst/>
                      </a:pPr>
                      <a:r>
                        <a:rPr kumimoji="0" lang="en-CA" sz="2000" b="0" i="0" u="none" strike="noStrike" cap="none" normalizeH="0" baseline="0" smtClean="0">
                          <a:ln>
                            <a:noFill/>
                          </a:ln>
                          <a:solidFill>
                            <a:srgbClr val="000000"/>
                          </a:solidFill>
                          <a:effectLst/>
                          <a:latin typeface="Arial Narrow" pitchFamily="34" charset="0"/>
                        </a:rPr>
                        <a:t>Platinum </a:t>
                      </a:r>
                      <a:r>
                        <a:rPr kumimoji="0" lang="en-CA" sz="2000" b="0" i="0" u="none" strike="noStrike" cap="none" normalizeH="0" baseline="0" err="1" smtClean="0">
                          <a:ln>
                            <a:noFill/>
                          </a:ln>
                          <a:solidFill>
                            <a:srgbClr val="000000"/>
                          </a:solidFill>
                          <a:effectLst/>
                          <a:latin typeface="Arial Narrow" pitchFamily="34" charset="0"/>
                        </a:rPr>
                        <a:t>Eval</a:t>
                      </a:r>
                      <a:r>
                        <a:rPr kumimoji="0" lang="en-CA" sz="2000" b="0" i="0" u="none" strike="noStrike" cap="none" normalizeH="0" baseline="0" smtClean="0">
                          <a:ln>
                            <a:noFill/>
                          </a:ln>
                          <a:solidFill>
                            <a:srgbClr val="000000"/>
                          </a:solidFill>
                          <a:effectLst/>
                          <a:latin typeface="Arial Narrow" pitchFamily="34" charset="0"/>
                        </a:rPr>
                        <a:t> Tools</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l" defTabSz="914400" rtl="0" eaLnBrk="0" fontAlgn="base" latinLnBrk="0" hangingPunct="0">
                        <a:lnSpc>
                          <a:spcPct val="80000"/>
                        </a:lnSpc>
                        <a:spcBef>
                          <a:spcPct val="0"/>
                        </a:spcBef>
                        <a:spcAft>
                          <a:spcPct val="0"/>
                        </a:spcAft>
                        <a:buClr>
                          <a:schemeClr val="tx2"/>
                        </a:buClr>
                        <a:buSzPct val="75000"/>
                        <a:buFont typeface="Wingdings" pitchFamily="2" charset="2"/>
                        <a:buNone/>
                        <a:tabLst/>
                      </a:pPr>
                      <a:r>
                        <a:rPr kumimoji="0" lang="en-CA" sz="2000" b="0" i="0" u="none" strike="noStrike" cap="none" normalizeH="0" baseline="0" smtClean="0">
                          <a:ln>
                            <a:noFill/>
                          </a:ln>
                          <a:solidFill>
                            <a:srgbClr val="000000"/>
                          </a:solidFill>
                          <a:effectLst/>
                          <a:latin typeface="Arial Narrow" pitchFamily="34" charset="0"/>
                        </a:rPr>
                        <a:t>Full tools with 90 day limit (all EMU)</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l" defTabSz="914400" rtl="0" eaLnBrk="0" fontAlgn="base" latinLnBrk="0" hangingPunct="0">
                        <a:lnSpc>
                          <a:spcPct val="80000"/>
                        </a:lnSpc>
                        <a:spcBef>
                          <a:spcPct val="0"/>
                        </a:spcBef>
                        <a:spcAft>
                          <a:spcPct val="0"/>
                        </a:spcAft>
                        <a:buClr>
                          <a:schemeClr val="tx2"/>
                        </a:buClr>
                        <a:buSzPct val="75000"/>
                        <a:buFont typeface="Wingdings" pitchFamily="2" charset="2"/>
                        <a:buNone/>
                        <a:tabLst/>
                      </a:pPr>
                      <a:r>
                        <a:rPr kumimoji="0" lang="en-CA" sz="2000" b="0" i="0" u="none" strike="noStrike" cap="none" normalizeH="0" baseline="0" smtClean="0">
                          <a:ln>
                            <a:noFill/>
                          </a:ln>
                          <a:solidFill>
                            <a:srgbClr val="000000"/>
                          </a:solidFill>
                          <a:effectLst/>
                          <a:latin typeface="Arial Narrow" pitchFamily="34" charset="0"/>
                        </a:rPr>
                        <a:t>FREE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l" defTabSz="914400" rtl="0" eaLnBrk="0" fontAlgn="base" latinLnBrk="0" hangingPunct="0">
                        <a:lnSpc>
                          <a:spcPct val="80000"/>
                        </a:lnSpc>
                        <a:spcBef>
                          <a:spcPct val="0"/>
                        </a:spcBef>
                        <a:spcAft>
                          <a:spcPct val="0"/>
                        </a:spcAft>
                        <a:buClr>
                          <a:schemeClr val="tx2"/>
                        </a:buClr>
                        <a:buSzPct val="75000"/>
                        <a:buFont typeface="Wingdings" pitchFamily="2" charset="2"/>
                        <a:buNone/>
                        <a:tabLst/>
                      </a:pPr>
                      <a:endParaRPr kumimoji="0" lang="en-CA" sz="2000" b="0" i="0" u="none" strike="noStrike" cap="none" normalizeH="0" baseline="0" smtClean="0">
                        <a:ln>
                          <a:noFill/>
                        </a:ln>
                        <a:solidFill>
                          <a:srgbClr val="000000"/>
                        </a:solidFill>
                        <a:effectLst/>
                        <a:latin typeface="Arial Narrow"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r>
              <a:tr h="273050">
                <a:tc>
                  <a:txBody>
                    <a:bodyPr/>
                    <a:lstStyle/>
                    <a:p>
                      <a:pPr marL="0" marR="0" lvl="0" indent="0" algn="l" defTabSz="914400" rtl="0" eaLnBrk="0" fontAlgn="base" latinLnBrk="0" hangingPunct="0">
                        <a:lnSpc>
                          <a:spcPct val="80000"/>
                        </a:lnSpc>
                        <a:spcBef>
                          <a:spcPct val="0"/>
                        </a:spcBef>
                        <a:spcAft>
                          <a:spcPct val="0"/>
                        </a:spcAft>
                        <a:buClr>
                          <a:schemeClr val="tx2"/>
                        </a:buClr>
                        <a:buSzPct val="75000"/>
                        <a:buFont typeface="Wingdings" pitchFamily="2" charset="2"/>
                        <a:buNone/>
                        <a:tabLst/>
                      </a:pPr>
                      <a:r>
                        <a:rPr kumimoji="0" lang="en-CA" sz="2000" b="0" i="0" u="none" strike="noStrike" cap="none" normalizeH="0" baseline="0" smtClean="0">
                          <a:ln>
                            <a:noFill/>
                          </a:ln>
                          <a:solidFill>
                            <a:srgbClr val="000000"/>
                          </a:solidFill>
                          <a:effectLst/>
                          <a:latin typeface="Arial Narrow" pitchFamily="34" charset="0"/>
                        </a:rPr>
                        <a:t>Platinum Bundle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l" defTabSz="914400" rtl="0" eaLnBrk="0" fontAlgn="base" latinLnBrk="0" hangingPunct="0">
                        <a:lnSpc>
                          <a:spcPct val="80000"/>
                        </a:lnSpc>
                        <a:spcBef>
                          <a:spcPct val="0"/>
                        </a:spcBef>
                        <a:spcAft>
                          <a:spcPct val="0"/>
                        </a:spcAft>
                        <a:buClr>
                          <a:schemeClr val="tx2"/>
                        </a:buClr>
                        <a:buSzPct val="75000"/>
                        <a:buFont typeface="Wingdings" pitchFamily="2" charset="2"/>
                        <a:buNone/>
                        <a:tabLst/>
                      </a:pPr>
                      <a:r>
                        <a:rPr kumimoji="0" lang="en-CA" sz="2000" b="0" i="0" u="none" strike="noStrike" cap="none" normalizeH="0" baseline="0" smtClean="0">
                          <a:ln>
                            <a:noFill/>
                          </a:ln>
                          <a:solidFill>
                            <a:srgbClr val="000000"/>
                          </a:solidFill>
                          <a:effectLst/>
                          <a:latin typeface="Arial Narrow" pitchFamily="34" charset="0"/>
                        </a:rPr>
                        <a:t>XDS100 use (EVM/LP) or Simulator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l" defTabSz="914400" rtl="0" eaLnBrk="0" fontAlgn="base" latinLnBrk="0" hangingPunct="0">
                        <a:lnSpc>
                          <a:spcPct val="80000"/>
                        </a:lnSpc>
                        <a:spcBef>
                          <a:spcPct val="0"/>
                        </a:spcBef>
                        <a:spcAft>
                          <a:spcPct val="0"/>
                        </a:spcAft>
                        <a:buClr>
                          <a:schemeClr val="tx2"/>
                        </a:buClr>
                        <a:buSzPct val="75000"/>
                        <a:buFont typeface="Wingdings" pitchFamily="2" charset="2"/>
                        <a:buNone/>
                        <a:tabLst/>
                      </a:pPr>
                      <a:r>
                        <a:rPr kumimoji="0" lang="en-CA" sz="2000" b="0" i="0" u="none" strike="noStrike" cap="none" normalizeH="0" baseline="0" smtClean="0">
                          <a:ln>
                            <a:noFill/>
                          </a:ln>
                          <a:solidFill>
                            <a:srgbClr val="000000"/>
                          </a:solidFill>
                          <a:effectLst/>
                          <a:latin typeface="Arial Narrow" pitchFamily="34" charset="0"/>
                        </a:rPr>
                        <a:t>FREE   </a:t>
                      </a:r>
                      <a:r>
                        <a:rPr kumimoji="0" lang="en-CA" sz="2000" b="0" i="0" u="none" strike="noStrike" cap="none" normalizeH="0" baseline="0" smtClean="0">
                          <a:ln>
                            <a:noFill/>
                          </a:ln>
                          <a:solidFill>
                            <a:srgbClr val="000000"/>
                          </a:solidFill>
                          <a:effectLst/>
                          <a:latin typeface="Arial Narrow" pitchFamily="34" charset="0"/>
                          <a:sym typeface="Wingdings"/>
                        </a:rPr>
                        <a:t></a:t>
                      </a:r>
                      <a:endParaRPr kumimoji="0" lang="en-CA" sz="2000" b="0" i="0" u="none" strike="noStrike" cap="none" normalizeH="0" baseline="0" smtClean="0">
                        <a:ln>
                          <a:noFill/>
                        </a:ln>
                        <a:solidFill>
                          <a:srgbClr val="000000"/>
                        </a:solidFill>
                        <a:effectLst/>
                        <a:latin typeface="Arial Narrow"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c>
                  <a:txBody>
                    <a:bodyPr/>
                    <a:lstStyle/>
                    <a:p>
                      <a:pPr marL="0" marR="0" lvl="0" indent="0" algn="l" defTabSz="914400" rtl="0" eaLnBrk="0" fontAlgn="base" latinLnBrk="0" hangingPunct="0">
                        <a:lnSpc>
                          <a:spcPct val="80000"/>
                        </a:lnSpc>
                        <a:spcBef>
                          <a:spcPct val="0"/>
                        </a:spcBef>
                        <a:spcAft>
                          <a:spcPct val="0"/>
                        </a:spcAft>
                        <a:buClr>
                          <a:schemeClr val="tx2"/>
                        </a:buClr>
                        <a:buSzPct val="75000"/>
                        <a:buFont typeface="Wingdings" pitchFamily="2" charset="2"/>
                        <a:buNone/>
                        <a:tabLst/>
                      </a:pPr>
                      <a:endParaRPr kumimoji="0" lang="en-CA" sz="2000" b="0" i="0" u="none" strike="noStrike" cap="none" normalizeH="0" baseline="0" smtClean="0">
                        <a:ln>
                          <a:noFill/>
                        </a:ln>
                        <a:solidFill>
                          <a:srgbClr val="000000"/>
                        </a:solidFill>
                        <a:effectLst/>
                        <a:latin typeface="Arial Narrow"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40000"/>
                        <a:lumOff val="60000"/>
                      </a:schemeClr>
                    </a:solidFill>
                  </a:tcPr>
                </a:tc>
              </a:tr>
              <a:tr h="274638">
                <a:tc>
                  <a:txBody>
                    <a:bodyPr/>
                    <a:lstStyle/>
                    <a:p>
                      <a:pPr marL="0" marR="0" lvl="0" indent="0" algn="l" defTabSz="914400" rtl="0" eaLnBrk="0" fontAlgn="base" latinLnBrk="0" hangingPunct="0">
                        <a:lnSpc>
                          <a:spcPct val="80000"/>
                        </a:lnSpc>
                        <a:spcBef>
                          <a:spcPct val="0"/>
                        </a:spcBef>
                        <a:spcAft>
                          <a:spcPct val="0"/>
                        </a:spcAft>
                        <a:buClr>
                          <a:schemeClr val="tx2"/>
                        </a:buClr>
                        <a:buSzPct val="75000"/>
                        <a:buFont typeface="Wingdings" pitchFamily="2" charset="2"/>
                        <a:buNone/>
                        <a:tabLst/>
                      </a:pPr>
                      <a:r>
                        <a:rPr kumimoji="0" lang="en-CA" sz="2000" b="0" i="0" u="none" strike="noStrike" cap="none" normalizeH="0" baseline="0" smtClean="0">
                          <a:ln>
                            <a:noFill/>
                          </a:ln>
                          <a:solidFill>
                            <a:srgbClr val="000000"/>
                          </a:solidFill>
                          <a:effectLst/>
                          <a:latin typeface="Arial Narrow" pitchFamily="34" charset="0"/>
                        </a:rPr>
                        <a:t>Platinum Node Lock</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33"/>
                    </a:solidFill>
                  </a:tcPr>
                </a:tc>
                <a:tc>
                  <a:txBody>
                    <a:bodyPr/>
                    <a:lstStyle/>
                    <a:p>
                      <a:pPr marL="0" marR="0" lvl="0" indent="0" algn="l" defTabSz="914400" rtl="0" eaLnBrk="0" fontAlgn="base" latinLnBrk="0" hangingPunct="0">
                        <a:lnSpc>
                          <a:spcPct val="80000"/>
                        </a:lnSpc>
                        <a:spcBef>
                          <a:spcPct val="0"/>
                        </a:spcBef>
                        <a:spcAft>
                          <a:spcPct val="0"/>
                        </a:spcAft>
                        <a:buClr>
                          <a:schemeClr val="tx2"/>
                        </a:buClr>
                        <a:buSzPct val="75000"/>
                        <a:buFont typeface="Wingdings" pitchFamily="2" charset="2"/>
                        <a:buNone/>
                        <a:tabLst/>
                      </a:pPr>
                      <a:r>
                        <a:rPr kumimoji="0" lang="en-CA" sz="2000" b="0" i="0" u="none" strike="noStrike" cap="none" normalizeH="0" baseline="0" smtClean="0">
                          <a:ln>
                            <a:noFill/>
                          </a:ln>
                          <a:solidFill>
                            <a:srgbClr val="000000"/>
                          </a:solidFill>
                          <a:effectLst/>
                          <a:latin typeface="Arial Narrow" pitchFamily="34" charset="0"/>
                        </a:rPr>
                        <a:t>Full tools tied to a machine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33"/>
                    </a:solidFill>
                  </a:tcPr>
                </a:tc>
                <a:tc>
                  <a:txBody>
                    <a:bodyPr/>
                    <a:lstStyle/>
                    <a:p>
                      <a:pPr marL="0" marR="0" lvl="0" indent="0" algn="l" defTabSz="914400" rtl="0" eaLnBrk="0" fontAlgn="base" latinLnBrk="0" hangingPunct="0">
                        <a:lnSpc>
                          <a:spcPct val="80000"/>
                        </a:lnSpc>
                        <a:spcBef>
                          <a:spcPct val="0"/>
                        </a:spcBef>
                        <a:spcAft>
                          <a:spcPct val="0"/>
                        </a:spcAft>
                        <a:buClr>
                          <a:schemeClr val="tx2"/>
                        </a:buClr>
                        <a:buSzPct val="75000"/>
                        <a:buFont typeface="Wingdings" pitchFamily="2" charset="2"/>
                        <a:buNone/>
                        <a:tabLst/>
                      </a:pPr>
                      <a:r>
                        <a:rPr kumimoji="0" lang="en-CA" sz="2000" b="0" i="0" u="none" strike="noStrike" cap="none" normalizeH="0" baseline="0" smtClean="0">
                          <a:ln>
                            <a:noFill/>
                          </a:ln>
                          <a:solidFill>
                            <a:srgbClr val="000000"/>
                          </a:solidFill>
                          <a:effectLst/>
                          <a:latin typeface="Arial Narrow" pitchFamily="34" charset="0"/>
                        </a:rPr>
                        <a:t>$495 (1)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33"/>
                    </a:solidFill>
                  </a:tcPr>
                </a:tc>
                <a:tc>
                  <a:txBody>
                    <a:bodyPr/>
                    <a:lstStyle/>
                    <a:p>
                      <a:pPr marL="0" marR="0" lvl="0" indent="0" algn="ctr" defTabSz="914400" rtl="0" eaLnBrk="0" fontAlgn="base" latinLnBrk="0" hangingPunct="0">
                        <a:lnSpc>
                          <a:spcPct val="80000"/>
                        </a:lnSpc>
                        <a:spcBef>
                          <a:spcPct val="0"/>
                        </a:spcBef>
                        <a:spcAft>
                          <a:spcPct val="0"/>
                        </a:spcAft>
                        <a:buClr>
                          <a:schemeClr val="tx2"/>
                        </a:buClr>
                        <a:buSzPct val="75000"/>
                        <a:buFont typeface="Wingdings" pitchFamily="2" charset="2"/>
                        <a:buNone/>
                        <a:tabLst/>
                      </a:pPr>
                      <a:r>
                        <a:rPr kumimoji="0" lang="en-CA" sz="2000" b="0" i="0" u="none" strike="noStrike" cap="none" normalizeH="0" baseline="0" smtClean="0">
                          <a:ln>
                            <a:noFill/>
                          </a:ln>
                          <a:solidFill>
                            <a:srgbClr val="000000"/>
                          </a:solidFill>
                          <a:effectLst/>
                          <a:latin typeface="Arial Narrow" pitchFamily="34" charset="0"/>
                        </a:rPr>
                        <a:t>$99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33"/>
                    </a:solidFill>
                  </a:tcPr>
                </a:tc>
              </a:tr>
              <a:tr h="246063">
                <a:tc>
                  <a:txBody>
                    <a:bodyPr/>
                    <a:lstStyle/>
                    <a:p>
                      <a:pPr marL="0" marR="0" lvl="0" indent="0" algn="l" defTabSz="914400" rtl="0" eaLnBrk="0" fontAlgn="base" latinLnBrk="0" hangingPunct="0">
                        <a:lnSpc>
                          <a:spcPct val="80000"/>
                        </a:lnSpc>
                        <a:spcBef>
                          <a:spcPct val="0"/>
                        </a:spcBef>
                        <a:spcAft>
                          <a:spcPct val="0"/>
                        </a:spcAft>
                        <a:buClr>
                          <a:schemeClr val="tx2"/>
                        </a:buClr>
                        <a:buSzPct val="75000"/>
                        <a:buFont typeface="Wingdings" pitchFamily="2" charset="2"/>
                        <a:buNone/>
                        <a:tabLst/>
                      </a:pPr>
                      <a:r>
                        <a:rPr kumimoji="0" lang="en-CA" sz="2000" b="0" i="0" u="none" strike="noStrike" cap="none" normalizeH="0" baseline="0" smtClean="0">
                          <a:ln>
                            <a:noFill/>
                          </a:ln>
                          <a:solidFill>
                            <a:srgbClr val="000000"/>
                          </a:solidFill>
                          <a:effectLst/>
                          <a:latin typeface="Arial Narrow" pitchFamily="34" charset="0"/>
                        </a:rPr>
                        <a:t>Platinum Floating</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33"/>
                    </a:solidFill>
                  </a:tcPr>
                </a:tc>
                <a:tc>
                  <a:txBody>
                    <a:bodyPr/>
                    <a:lstStyle/>
                    <a:p>
                      <a:pPr marL="0" marR="0" lvl="0" indent="0" algn="l" defTabSz="914400" rtl="0" eaLnBrk="0" fontAlgn="base" latinLnBrk="0" hangingPunct="0">
                        <a:lnSpc>
                          <a:spcPct val="80000"/>
                        </a:lnSpc>
                        <a:spcBef>
                          <a:spcPct val="0"/>
                        </a:spcBef>
                        <a:spcAft>
                          <a:spcPct val="0"/>
                        </a:spcAft>
                        <a:buClr>
                          <a:schemeClr val="tx2"/>
                        </a:buClr>
                        <a:buSzPct val="75000"/>
                        <a:buFont typeface="Wingdings" pitchFamily="2" charset="2"/>
                        <a:buNone/>
                        <a:tabLst/>
                      </a:pPr>
                      <a:r>
                        <a:rPr kumimoji="0" lang="en-CA" sz="2000" b="0" i="0" u="none" strike="noStrike" cap="none" normalizeH="0" baseline="0" smtClean="0">
                          <a:ln>
                            <a:noFill/>
                          </a:ln>
                          <a:solidFill>
                            <a:srgbClr val="000000"/>
                          </a:solidFill>
                          <a:effectLst/>
                          <a:latin typeface="Arial Narrow" pitchFamily="34" charset="0"/>
                        </a:rPr>
                        <a:t>Full tools shared across machines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33"/>
                    </a:solidFill>
                  </a:tcPr>
                </a:tc>
                <a:tc>
                  <a:txBody>
                    <a:bodyPr/>
                    <a:lstStyle/>
                    <a:p>
                      <a:pPr marL="0" marR="0" lvl="0" indent="0" algn="l" defTabSz="914400" rtl="0" eaLnBrk="0" fontAlgn="base" latinLnBrk="0" hangingPunct="0">
                        <a:lnSpc>
                          <a:spcPct val="80000"/>
                        </a:lnSpc>
                        <a:spcBef>
                          <a:spcPct val="0"/>
                        </a:spcBef>
                        <a:spcAft>
                          <a:spcPct val="0"/>
                        </a:spcAft>
                        <a:buClr>
                          <a:schemeClr val="tx2"/>
                        </a:buClr>
                        <a:buSzPct val="75000"/>
                        <a:buFont typeface="Wingdings" pitchFamily="2" charset="2"/>
                        <a:buNone/>
                        <a:tabLst/>
                      </a:pPr>
                      <a:r>
                        <a:rPr kumimoji="0" lang="en-CA" sz="2000" b="0" i="0" u="none" strike="noStrike" cap="none" normalizeH="0" baseline="0" smtClean="0">
                          <a:ln>
                            <a:noFill/>
                          </a:ln>
                          <a:solidFill>
                            <a:srgbClr val="000000"/>
                          </a:solidFill>
                          <a:effectLst/>
                          <a:latin typeface="Arial Narrow" pitchFamily="34" charset="0"/>
                        </a:rPr>
                        <a:t>$795 (1)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33"/>
                    </a:solidFill>
                  </a:tcPr>
                </a:tc>
                <a:tc>
                  <a:txBody>
                    <a:bodyPr/>
                    <a:lstStyle/>
                    <a:p>
                      <a:pPr marL="0" marR="0" lvl="0" indent="0" algn="ctr" defTabSz="914400" rtl="0" eaLnBrk="0" fontAlgn="base" latinLnBrk="0" hangingPunct="0">
                        <a:lnSpc>
                          <a:spcPct val="80000"/>
                        </a:lnSpc>
                        <a:spcBef>
                          <a:spcPct val="0"/>
                        </a:spcBef>
                        <a:spcAft>
                          <a:spcPct val="0"/>
                        </a:spcAft>
                        <a:buClr>
                          <a:schemeClr val="tx2"/>
                        </a:buClr>
                        <a:buSzPct val="75000"/>
                        <a:buFont typeface="Wingdings" pitchFamily="2" charset="2"/>
                        <a:buNone/>
                        <a:tabLst/>
                      </a:pPr>
                      <a:r>
                        <a:rPr kumimoji="0" lang="en-CA" sz="2000" b="0" i="0" u="none" strike="noStrike" cap="none" normalizeH="0" baseline="0" smtClean="0">
                          <a:ln>
                            <a:noFill/>
                          </a:ln>
                          <a:solidFill>
                            <a:srgbClr val="000000"/>
                          </a:solidFill>
                          <a:effectLst/>
                          <a:latin typeface="Arial Narrow" pitchFamily="34" charset="0"/>
                        </a:rPr>
                        <a:t>$159</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33"/>
                    </a:solidFill>
                  </a:tcPr>
                </a:tc>
              </a:tr>
              <a:tr h="246063">
                <a:tc>
                  <a:txBody>
                    <a:bodyPr/>
                    <a:lstStyle/>
                    <a:p>
                      <a:pPr marL="0" marR="0" lvl="0" indent="0" algn="l" defTabSz="914400" rtl="0" eaLnBrk="0" fontAlgn="base" latinLnBrk="0" hangingPunct="0">
                        <a:lnSpc>
                          <a:spcPct val="80000"/>
                        </a:lnSpc>
                        <a:spcBef>
                          <a:spcPct val="0"/>
                        </a:spcBef>
                        <a:spcAft>
                          <a:spcPct val="0"/>
                        </a:spcAft>
                        <a:buClr>
                          <a:schemeClr val="tx2"/>
                        </a:buClr>
                        <a:buSzPct val="75000"/>
                        <a:buFont typeface="Wingdings" pitchFamily="2" charset="2"/>
                        <a:buNone/>
                        <a:tabLst/>
                      </a:pPr>
                      <a:r>
                        <a:rPr kumimoji="0" lang="en-CA" sz="2000" b="0" i="0" u="none" strike="noStrike" cap="none" normalizeH="0" baseline="0" smtClean="0">
                          <a:ln>
                            <a:noFill/>
                          </a:ln>
                          <a:solidFill>
                            <a:srgbClr val="000000"/>
                          </a:solidFill>
                          <a:effectLst/>
                          <a:latin typeface="Arial Narrow" pitchFamily="34" charset="0"/>
                        </a:rPr>
                        <a:t>MSP430 Code-Limited</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l" defTabSz="914400" rtl="0" eaLnBrk="0" fontAlgn="base" latinLnBrk="0" hangingPunct="0">
                        <a:lnSpc>
                          <a:spcPct val="80000"/>
                        </a:lnSpc>
                        <a:spcBef>
                          <a:spcPct val="0"/>
                        </a:spcBef>
                        <a:spcAft>
                          <a:spcPct val="0"/>
                        </a:spcAft>
                        <a:buClr>
                          <a:schemeClr val="tx2"/>
                        </a:buClr>
                        <a:buSzPct val="75000"/>
                        <a:buFont typeface="Wingdings" pitchFamily="2" charset="2"/>
                        <a:buNone/>
                        <a:tabLst/>
                      </a:pPr>
                      <a:r>
                        <a:rPr kumimoji="0" lang="en-CA" sz="2000" b="0" i="0" u="none" strike="noStrike" cap="none" normalizeH="0" baseline="0" smtClean="0">
                          <a:ln>
                            <a:noFill/>
                          </a:ln>
                          <a:solidFill>
                            <a:srgbClr val="000000"/>
                          </a:solidFill>
                          <a:effectLst/>
                          <a:latin typeface="Arial Narrow" pitchFamily="34" charset="0"/>
                        </a:rPr>
                        <a:t>MSP430 (16KB code limit, GCC)</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l" defTabSz="914400" rtl="0" eaLnBrk="0" fontAlgn="base" latinLnBrk="0" hangingPunct="0">
                        <a:lnSpc>
                          <a:spcPct val="80000"/>
                        </a:lnSpc>
                        <a:spcBef>
                          <a:spcPct val="0"/>
                        </a:spcBef>
                        <a:spcAft>
                          <a:spcPct val="0"/>
                        </a:spcAft>
                        <a:buClr>
                          <a:schemeClr val="tx2"/>
                        </a:buClr>
                        <a:buSzPct val="75000"/>
                        <a:buFont typeface="Wingdings" pitchFamily="2" charset="2"/>
                        <a:buNone/>
                        <a:tabLst/>
                      </a:pPr>
                      <a:r>
                        <a:rPr kumimoji="0" lang="en-CA" sz="2000" b="0" i="0" u="none" strike="noStrike" cap="none" normalizeH="0" baseline="0" smtClean="0">
                          <a:ln>
                            <a:noFill/>
                          </a:ln>
                          <a:solidFill>
                            <a:srgbClr val="000000"/>
                          </a:solidFill>
                          <a:effectLst/>
                          <a:latin typeface="Arial Narrow" pitchFamily="34" charset="0"/>
                        </a:rPr>
                        <a:t>FREE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c>
                  <a:txBody>
                    <a:bodyPr/>
                    <a:lstStyle/>
                    <a:p>
                      <a:pPr marL="0" marR="0" lvl="0" indent="0" algn="ctr" defTabSz="914400" rtl="0" eaLnBrk="0" fontAlgn="base" latinLnBrk="0" hangingPunct="0">
                        <a:lnSpc>
                          <a:spcPct val="80000"/>
                        </a:lnSpc>
                        <a:spcBef>
                          <a:spcPct val="0"/>
                        </a:spcBef>
                        <a:spcAft>
                          <a:spcPct val="0"/>
                        </a:spcAft>
                        <a:buClr>
                          <a:schemeClr val="tx2"/>
                        </a:buClr>
                        <a:buSzPct val="75000"/>
                        <a:buFont typeface="Wingdings" pitchFamily="2" charset="2"/>
                        <a:buNone/>
                        <a:tabLst/>
                      </a:pPr>
                      <a:endParaRPr kumimoji="0" lang="en-CA" sz="2000" b="0" i="0" u="none" strike="noStrike" cap="none" normalizeH="0" baseline="0" smtClean="0">
                        <a:ln>
                          <a:noFill/>
                        </a:ln>
                        <a:solidFill>
                          <a:srgbClr val="000000"/>
                        </a:solidFill>
                        <a:effectLst/>
                        <a:latin typeface="Arial Narrow" pitchFamily="34"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40000"/>
                        <a:lumOff val="60000"/>
                      </a:schemeClr>
                    </a:solidFill>
                  </a:tcPr>
                </a:tc>
              </a:tr>
            </a:tbl>
          </a:graphicData>
        </a:graphic>
      </p:graphicFrame>
      <p:sp>
        <p:nvSpPr>
          <p:cNvPr id="5" name="Leading Question"/>
          <p:cNvSpPr txBox="1"/>
          <p:nvPr/>
        </p:nvSpPr>
        <p:spPr>
          <a:xfrm>
            <a:off x="5791200" y="6488178"/>
            <a:ext cx="2781210" cy="246221"/>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r">
              <a:spcBef>
                <a:spcPct val="0"/>
              </a:spcBef>
            </a:pPr>
            <a:r>
              <a:rPr lang="en-US" sz="2000" b="0" smtClean="0">
                <a:solidFill>
                  <a:schemeClr val="tx2"/>
                </a:solidFill>
                <a:effectLst/>
                <a:latin typeface="Arial Narrow"/>
              </a:rPr>
              <a:t>Managing your CCS license...</a:t>
            </a:r>
            <a:endParaRPr lang="en-US" sz="2000" b="0" dirty="0" smtClean="0">
              <a:solidFill>
                <a:schemeClr val="tx2"/>
              </a:solidFill>
              <a:effectLst/>
              <a:latin typeface="Arial Narrow"/>
            </a:endParaRPr>
          </a:p>
        </p:txBody>
      </p:sp>
    </p:spTree>
    <p:extLst>
      <p:ext uri="{BB962C8B-B14F-4D97-AF65-F5344CB8AC3E}">
        <p14:creationId xmlns:p14="http://schemas.microsoft.com/office/powerpoint/2010/main" val="2103653812"/>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ormAutofit/>
          </a:bodyPr>
          <a:lstStyle/>
          <a:p>
            <a:r>
              <a:rPr lang="en-US" smtClean="0"/>
              <a:t>Changing CCS User License</a:t>
            </a:r>
          </a:p>
        </p:txBody>
      </p:sp>
      <p:sp>
        <p:nvSpPr>
          <p:cNvPr id="7" name="TextBox 6"/>
          <p:cNvSpPr txBox="1"/>
          <p:nvPr/>
        </p:nvSpPr>
        <p:spPr>
          <a:xfrm>
            <a:off x="264673" y="643268"/>
            <a:ext cx="7422096" cy="690638"/>
          </a:xfrm>
          <a:prstGeom prst="rect">
            <a:avLst/>
          </a:prstGeom>
          <a:noFill/>
        </p:spPr>
        <p:txBody>
          <a:bodyPr wrap="none" rtlCol="0" anchor="ctr" anchorCtr="0">
            <a:spAutoFit/>
          </a:bodyPr>
          <a:lstStyle/>
          <a:p>
            <a:pPr marL="342900" indent="-342900">
              <a:spcBef>
                <a:spcPts val="600"/>
              </a:spcBef>
              <a:buClr>
                <a:schemeClr val="tx2"/>
              </a:buClr>
              <a:buSzPct val="75000"/>
              <a:buFont typeface="Wingdings"/>
              <a:buChar char=""/>
            </a:pPr>
            <a:r>
              <a:rPr lang="en-US" b="0" smtClean="0">
                <a:latin typeface="Calibri" pitchFamily="34" charset="0"/>
                <a:cs typeface="Calibri" pitchFamily="34" charset="0"/>
              </a:rPr>
              <a:t>If, for some reason, you need to change the licensing of</a:t>
            </a:r>
            <a:br>
              <a:rPr lang="en-US" b="0" smtClean="0">
                <a:latin typeface="Calibri" pitchFamily="34" charset="0"/>
                <a:cs typeface="Calibri" pitchFamily="34" charset="0"/>
              </a:rPr>
            </a:br>
            <a:r>
              <a:rPr lang="en-US" b="0" smtClean="0">
                <a:latin typeface="Calibri" pitchFamily="34" charset="0"/>
                <a:cs typeface="Calibri" pitchFamily="34" charset="0"/>
              </a:rPr>
              <a:t>CCS to a different type:</a:t>
            </a:r>
            <a:endParaRPr lang="en-US" b="0" i="1" smtClean="0">
              <a:latin typeface="Calibri" pitchFamily="34" charset="0"/>
              <a:cs typeface="Calibri" pitchFamily="34" charset="0"/>
            </a:endParaRPr>
          </a:p>
        </p:txBody>
      </p:sp>
      <p:pic>
        <p:nvPicPr>
          <p:cNvPr id="1027" name="Picture 3" descr="641305521@11032013-2CD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469" y="2316554"/>
            <a:ext cx="6728454" cy="4541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C:\Users\a0159877\AppData\Local\Temp\SNAGHTMLc734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660" y="1421224"/>
            <a:ext cx="4029740" cy="154702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bwMode="auto">
          <a:xfrm>
            <a:off x="609599" y="2378588"/>
            <a:ext cx="3276601" cy="287966"/>
          </a:xfrm>
          <a:prstGeom prst="rect">
            <a:avLst/>
          </a:prstGeom>
          <a:noFill/>
          <a:ln w="38100" cap="flat" cmpd="sng" algn="ctr">
            <a:solidFill>
              <a:srgbClr val="FF00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sp>
        <p:nvSpPr>
          <p:cNvPr id="2" name="Oval 1"/>
          <p:cNvSpPr/>
          <p:nvPr/>
        </p:nvSpPr>
        <p:spPr bwMode="auto">
          <a:xfrm>
            <a:off x="457200" y="4280722"/>
            <a:ext cx="1088988" cy="304800"/>
          </a:xfrm>
          <a:prstGeom prst="ellipse">
            <a:avLst/>
          </a:prstGeom>
          <a:noFill/>
          <a:ln w="38100" cap="flat" cmpd="sng" algn="ctr">
            <a:solidFill>
              <a:srgbClr val="FF33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endParaRPr kumimoji="0" lang="en-US" sz="2800" b="1" i="0" u="none" strike="noStrike" cap="none" normalizeH="0" baseline="0" dirty="0" smtClean="0">
              <a:ln>
                <a:noFill/>
              </a:ln>
              <a:solidFill>
                <a:schemeClr val="dk1"/>
              </a:solidFill>
              <a:effectLst/>
              <a:latin typeface="Arial Narrow" pitchFamily="34" charset="0"/>
            </a:endParaRPr>
          </a:p>
        </p:txBody>
      </p:sp>
      <p:pic>
        <p:nvPicPr>
          <p:cNvPr id="5" name="Picture 2" descr="C:\Users\a0159877\AppData\Local\Temp\SNAGHTML513d9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1421224"/>
            <a:ext cx="4662296" cy="1779176"/>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p:cNvCxnSpPr/>
          <p:nvPr/>
        </p:nvCxnSpPr>
        <p:spPr bwMode="auto">
          <a:xfrm flipV="1">
            <a:off x="3702696" y="1752601"/>
            <a:ext cx="955252" cy="558211"/>
          </a:xfrm>
          <a:prstGeom prst="straightConnector1">
            <a:avLst/>
          </a:prstGeom>
          <a:solidFill>
            <a:schemeClr val="accent1"/>
          </a:solidFill>
          <a:ln w="28575" cap="flat" cmpd="sng" algn="ctr">
            <a:solidFill>
              <a:schemeClr val="tx1"/>
            </a:solidFill>
            <a:prstDash val="solid"/>
            <a:round/>
            <a:headEnd type="none" w="med" len="med"/>
            <a:tailEnd type="triangle" w="med" len="med"/>
          </a:ln>
          <a:effectLst/>
        </p:spPr>
      </p:cxnSp>
      <p:cxnSp>
        <p:nvCxnSpPr>
          <p:cNvPr id="15" name="Straight Arrow Connector 14"/>
          <p:cNvCxnSpPr/>
          <p:nvPr/>
        </p:nvCxnSpPr>
        <p:spPr bwMode="auto">
          <a:xfrm flipV="1">
            <a:off x="3581400" y="2819401"/>
            <a:ext cx="1190940" cy="914399"/>
          </a:xfrm>
          <a:prstGeom prst="straightConnector1">
            <a:avLst/>
          </a:prstGeom>
          <a:solidFill>
            <a:schemeClr val="accent1"/>
          </a:solidFill>
          <a:ln w="28575" cap="flat" cmpd="sng" algn="ctr">
            <a:solidFill>
              <a:schemeClr val="tx1"/>
            </a:solidFill>
            <a:prstDash val="solid"/>
            <a:round/>
            <a:headEnd type="triangle" w="med" len="med"/>
            <a:tailEnd type="none" w="med" len="med"/>
          </a:ln>
          <a:effectLst/>
        </p:spPr>
      </p:cxnSp>
      <p:sp>
        <p:nvSpPr>
          <p:cNvPr id="13" name="TextBox 12"/>
          <p:cNvSpPr txBox="1"/>
          <p:nvPr/>
        </p:nvSpPr>
        <p:spPr>
          <a:xfrm rot="21016722">
            <a:off x="5012108" y="3698610"/>
            <a:ext cx="3276599" cy="978729"/>
          </a:xfrm>
          <a:prstGeom prst="rect">
            <a:avLst/>
          </a:prstGeom>
          <a:solidFill>
            <a:schemeClr val="accent5">
              <a:lumMod val="20000"/>
              <a:lumOff val="80000"/>
            </a:schemeClr>
          </a:solidFill>
          <a:ln w="19050">
            <a:solidFill>
              <a:schemeClr val="tx1"/>
            </a:solidFill>
          </a:ln>
        </p:spPr>
        <p:txBody>
          <a:bodyPr wrap="square" rtlCol="0" anchor="ctr" anchorCtr="0">
            <a:spAutoFit/>
          </a:bodyPr>
          <a:lstStyle/>
          <a:p>
            <a:pPr algn="ctr"/>
            <a:r>
              <a:rPr lang="en-US" b="0" smtClean="0">
                <a:solidFill>
                  <a:schemeClr val="dk1"/>
                </a:solidFill>
                <a:effectLst/>
                <a:latin typeface="Calibri" panose="020F0502020204030204" pitchFamily="34" charset="0"/>
                <a:cs typeface="Calibri" panose="020F0502020204030204" pitchFamily="34" charset="0"/>
              </a:rPr>
              <a:t>Your options here will vary based on the installed targets</a:t>
            </a:r>
            <a:endParaRPr lang="en-US" b="0" dirty="0" smtClean="0">
              <a:solidFill>
                <a:schemeClr val="dk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61208460"/>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838200"/>
            <a:ext cx="5562600" cy="5181600"/>
          </a:xfrm>
          <a:prstGeom prst="rect">
            <a:avLst/>
          </a:prstGeom>
          <a:solidFill>
            <a:srgbClr val="92D050"/>
          </a:solidFill>
          <a:ln w="19050">
            <a:solidFill>
              <a:schemeClr val="tx1"/>
            </a:solidFill>
            <a:miter lim="800000"/>
            <a:headEnd type="none" w="sm" len="sm"/>
            <a:tailEnd type="none" w="sm" len="sm"/>
          </a:ln>
          <a:effectLst>
            <a:outerShdw blurRad="50800" dist="889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7" cstate="print"/>
          <a:srcRect/>
          <a:stretch>
            <a:fillRect/>
          </a:stretch>
        </p:blipFill>
        <p:spPr bwMode="auto">
          <a:xfrm>
            <a:off x="6160824" y="1316817"/>
            <a:ext cx="2819400" cy="4172713"/>
          </a:xfrm>
          <a:prstGeom prst="rect">
            <a:avLst/>
          </a:prstGeom>
          <a:noFill/>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9" name="Text Box 4">
            <a:hlinkClick r:id="rId8" action="ppaction://hlinksldjump"/>
          </p:cNvPr>
          <p:cNvSpPr txBox="1">
            <a:spLocks noChangeArrowheads="1"/>
          </p:cNvSpPr>
          <p:nvPr>
            <p:custDataLst>
              <p:tags r:id="rId2"/>
            </p:custDataLst>
          </p:nvPr>
        </p:nvSpPr>
        <p:spPr bwMode="auto">
          <a:xfrm>
            <a:off x="310202" y="954651"/>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Intro to CCSv6</a:t>
            </a:r>
            <a:endParaRPr lang="en-US" sz="2800">
              <a:solidFill>
                <a:srgbClr val="000000"/>
              </a:solidFill>
            </a:endParaRPr>
          </a:p>
        </p:txBody>
      </p:sp>
      <p:sp>
        <p:nvSpPr>
          <p:cNvPr id="10" name="Text Box 4">
            <a:hlinkClick r:id="rId9" action="ppaction://hlinksldjump"/>
          </p:cNvPr>
          <p:cNvSpPr txBox="1">
            <a:spLocks noChangeArrowheads="1"/>
          </p:cNvSpPr>
          <p:nvPr>
            <p:custDataLst>
              <p:tags r:id="rId3"/>
            </p:custDataLst>
          </p:nvPr>
        </p:nvSpPr>
        <p:spPr bwMode="auto">
          <a:xfrm>
            <a:off x="310202" y="1489468"/>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Licensing/Pricing</a:t>
            </a:r>
            <a:endParaRPr lang="en-US" sz="2800">
              <a:solidFill>
                <a:srgbClr val="000000"/>
              </a:solidFill>
            </a:endParaRPr>
          </a:p>
        </p:txBody>
      </p:sp>
      <p:sp>
        <p:nvSpPr>
          <p:cNvPr id="11" name="Text Box 3">
            <a:hlinkClick r:id="rId10" action="ppaction://hlinksldjump"/>
          </p:cNvPr>
          <p:cNvSpPr txBox="1">
            <a:spLocks noChangeArrowheads="1"/>
          </p:cNvSpPr>
          <p:nvPr>
            <p:custDataLst>
              <p:tags r:id="rId4"/>
            </p:custDataLst>
          </p:nvPr>
        </p:nvSpPr>
        <p:spPr bwMode="auto">
          <a:xfrm>
            <a:off x="304800" y="2024285"/>
            <a:ext cx="5562600" cy="461665"/>
          </a:xfrm>
          <a:prstGeom prst="rect">
            <a:avLst/>
          </a:prstGeom>
          <a:solidFill>
            <a:schemeClr val="bg1"/>
          </a:solidFill>
          <a:ln w="19050">
            <a:solidFill>
              <a:schemeClr val="tx1"/>
            </a:solid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CCSv6 – For More Info…</a:t>
            </a:r>
            <a:endParaRPr lang="en-US" sz="2800">
              <a:solidFill>
                <a:srgbClr val="000000"/>
              </a:solidFill>
            </a:endParaRPr>
          </a:p>
        </p:txBody>
      </p:sp>
      <p:sp>
        <p:nvSpPr>
          <p:cNvPr id="12" name="Text Box 4">
            <a:hlinkClick r:id="rId11" action="ppaction://hlinksldjump"/>
          </p:cNvPr>
          <p:cNvSpPr txBox="1">
            <a:spLocks noChangeArrowheads="1"/>
          </p:cNvSpPr>
          <p:nvPr>
            <p:custDataLst>
              <p:tags r:id="rId5"/>
            </p:custDataLst>
          </p:nvPr>
        </p:nvSpPr>
        <p:spPr bwMode="auto">
          <a:xfrm>
            <a:off x="310202" y="2559102"/>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a:solidFill>
                <a:srgbClr val="000000"/>
              </a:solidFill>
            </a:endParaRPr>
          </a:p>
        </p:txBody>
      </p:sp>
    </p:spTree>
    <p:custDataLst>
      <p:tags r:id="rId1"/>
    </p:custDataLst>
    <p:extLst>
      <p:ext uri="{BB962C8B-B14F-4D97-AF65-F5344CB8AC3E}">
        <p14:creationId xmlns:p14="http://schemas.microsoft.com/office/powerpoint/2010/main" val="2549509682"/>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normAutofit/>
          </a:bodyPr>
          <a:lstStyle/>
          <a:p>
            <a:r>
              <a:rPr lang="en-US" smtClean="0"/>
              <a:t>CCSv6 – For More Information</a:t>
            </a:r>
          </a:p>
        </p:txBody>
      </p:sp>
      <p:sp>
        <p:nvSpPr>
          <p:cNvPr id="4" name="Rectangle 3"/>
          <p:cNvSpPr/>
          <p:nvPr/>
        </p:nvSpPr>
        <p:spPr>
          <a:xfrm>
            <a:off x="1714500" y="6412468"/>
            <a:ext cx="5600700" cy="369332"/>
          </a:xfrm>
          <a:prstGeom prst="rect">
            <a:avLst/>
          </a:prstGeom>
          <a:solidFill>
            <a:schemeClr val="accent5">
              <a:lumMod val="40000"/>
              <a:lumOff val="60000"/>
            </a:schemeClr>
          </a:solidFill>
        </p:spPr>
        <p:txBody>
          <a:bodyPr wrap="square">
            <a:spAutoFit/>
          </a:bodyPr>
          <a:lstStyle/>
          <a:p>
            <a:pPr lvl="0" eaLnBrk="1" fontAlgn="auto" hangingPunct="1">
              <a:lnSpc>
                <a:spcPct val="100000"/>
              </a:lnSpc>
              <a:spcBef>
                <a:spcPts val="0"/>
              </a:spcBef>
              <a:spcAft>
                <a:spcPts val="0"/>
              </a:spcAft>
            </a:pPr>
            <a:r>
              <a:rPr lang="en-US" sz="1800" b="0">
                <a:solidFill>
                  <a:srgbClr val="000000"/>
                </a:solidFill>
                <a:latin typeface="Arial Narrow" pitchFamily="34" charset="0"/>
              </a:rPr>
              <a:t>http://processors.wiki.ti.com/index.php/Category:CCS_Training</a:t>
            </a:r>
            <a:endParaRPr lang="en-US" sz="1800" b="0" dirty="0">
              <a:solidFill>
                <a:srgbClr val="000000"/>
              </a:solidFill>
              <a:latin typeface="Arial Narrow" pitchFamily="34"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448" y="590103"/>
            <a:ext cx="8534400" cy="1425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descr="C:\Users\a0159877\AppData\Local\Temp\SNAGHTML2f161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0048" y="2110978"/>
            <a:ext cx="7156152" cy="4323027"/>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C:\Users\a0159877\AppData\Local\Temp\SNAGHTML30582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3150" y="4444409"/>
            <a:ext cx="2990850" cy="1743076"/>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C:\Users\a0159877\AppData\Local\Temp\SNAGHTML314fa6.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86075" y="2919941"/>
            <a:ext cx="5876925" cy="1352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6974072"/>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chemeClr val="accent2"/>
        </a:solidFill>
        <a:effectLst/>
      </p:bgPr>
    </p:bg>
    <p:spTree>
      <p:nvGrpSpPr>
        <p:cNvPr id="1" name=""/>
        <p:cNvGrpSpPr/>
        <p:nvPr/>
      </p:nvGrpSpPr>
      <p:grpSpPr>
        <a:xfrm>
          <a:off x="0" y="0"/>
          <a:ext cx="0" cy="0"/>
          <a:chOff x="0" y="0"/>
          <a:chExt cx="0" cy="0"/>
        </a:xfrm>
      </p:grpSpPr>
      <p:sp>
        <p:nvSpPr>
          <p:cNvPr id="22530" name="Rectangle 39"/>
          <p:cNvSpPr>
            <a:spLocks noGrp="1" noChangeArrowheads="1"/>
          </p:cNvSpPr>
          <p:nvPr>
            <p:ph type="title" idx="4294967295"/>
          </p:nvPr>
        </p:nvSpPr>
        <p:spPr>
          <a:xfrm>
            <a:off x="196772" y="0"/>
            <a:ext cx="8118633" cy="563231"/>
          </a:xfrm>
        </p:spPr>
        <p:txBody>
          <a:bodyPr wrap="none" lIns="91440" tIns="45720" rIns="91440" bIns="45720">
            <a:spAutoFit/>
          </a:bodyPr>
          <a:lstStyle/>
          <a:p>
            <a:pPr eaLnBrk="1" hangingPunct="1">
              <a:lnSpc>
                <a:spcPct val="85000"/>
              </a:lnSpc>
            </a:pPr>
            <a:r>
              <a:rPr lang="en-US" dirty="0" smtClean="0">
                <a:solidFill>
                  <a:srgbClr val="FF0000"/>
                </a:solidFill>
              </a:rPr>
              <a:t>Development Tools </a:t>
            </a:r>
            <a:r>
              <a:rPr lang="en-US" smtClean="0">
                <a:solidFill>
                  <a:srgbClr val="FF0000"/>
                </a:solidFill>
              </a:rPr>
              <a:t>for Tiva-C </a:t>
            </a:r>
            <a:r>
              <a:rPr lang="en-US" dirty="0" smtClean="0">
                <a:solidFill>
                  <a:srgbClr val="FF0000"/>
                </a:solidFill>
              </a:rPr>
              <a:t>MCUs</a:t>
            </a:r>
          </a:p>
        </p:txBody>
      </p:sp>
      <p:graphicFrame>
        <p:nvGraphicFramePr>
          <p:cNvPr id="10" name="Group 3"/>
          <p:cNvGraphicFramePr>
            <a:graphicFrameLocks noGrp="1"/>
          </p:cNvGraphicFramePr>
          <p:nvPr/>
        </p:nvGraphicFramePr>
        <p:xfrm>
          <a:off x="838200" y="1327150"/>
          <a:ext cx="7467600" cy="3930650"/>
        </p:xfrm>
        <a:graphic>
          <a:graphicData uri="http://schemas.openxmlformats.org/drawingml/2006/table">
            <a:tbl>
              <a:tblPr/>
              <a:tblGrid>
                <a:gridCol w="1295400"/>
                <a:gridCol w="1295400"/>
                <a:gridCol w="1524000"/>
                <a:gridCol w="1600200"/>
                <a:gridCol w="1752600"/>
              </a:tblGrid>
              <a:tr h="492125">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dirty="0" smtClean="0">
                          <a:ln>
                            <a:noFill/>
                          </a:ln>
                          <a:solidFill>
                            <a:schemeClr val="tx1"/>
                          </a:solidFill>
                          <a:effectLst/>
                          <a:latin typeface="Arial" pitchFamily="34" charset="0"/>
                          <a:cs typeface="Arial" pitchFamily="34" charset="0"/>
                        </a:rPr>
                        <a:t> </a:t>
                      </a:r>
                      <a:endParaRPr kumimoji="0" lang="en-US" sz="3200" b="1" i="0" u="none" strike="noStrike" cap="none" normalizeH="0" baseline="0" dirty="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pitchFamily="34" charset="0"/>
                          <a:cs typeface="Arial" pitchFamily="34" charset="0"/>
                        </a:rPr>
                        <a:t> </a:t>
                      </a:r>
                      <a:endParaRPr kumimoji="0" lang="en-US" sz="3200" b="1"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pitchFamily="34" charset="0"/>
                          <a:cs typeface="Arial" pitchFamily="34" charset="0"/>
                        </a:rPr>
                        <a:t> </a:t>
                      </a:r>
                      <a:endParaRPr kumimoji="0" lang="en-US" sz="3200" b="1"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pitchFamily="34" charset="0"/>
                          <a:cs typeface="Arial" pitchFamily="34" charset="0"/>
                        </a:rPr>
                        <a:t> </a:t>
                      </a:r>
                      <a:endParaRPr kumimoji="0" lang="en-US" sz="3200" b="1"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dirty="0" smtClean="0">
                          <a:ln>
                            <a:noFill/>
                          </a:ln>
                          <a:solidFill>
                            <a:schemeClr val="tx1"/>
                          </a:solidFill>
                          <a:effectLst/>
                          <a:latin typeface="Arial" pitchFamily="34" charset="0"/>
                          <a:cs typeface="Arial" pitchFamily="34" charset="0"/>
                        </a:rPr>
                        <a:t> </a:t>
                      </a:r>
                      <a:endParaRPr kumimoji="0" lang="en-US" sz="3200" b="1" i="0" u="none" strike="noStrike" cap="none" normalizeH="0" baseline="0" dirty="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787400">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dirty="0" err="1" smtClean="0">
                          <a:ln>
                            <a:noFill/>
                          </a:ln>
                          <a:solidFill>
                            <a:schemeClr val="tx1"/>
                          </a:solidFill>
                          <a:effectLst/>
                          <a:latin typeface="Arial" pitchFamily="34" charset="0"/>
                          <a:cs typeface="Arial" pitchFamily="34" charset="0"/>
                        </a:rPr>
                        <a:t>Eval</a:t>
                      </a:r>
                      <a:r>
                        <a:rPr kumimoji="0" lang="en-US" sz="1400" b="1" i="0" u="none" strike="noStrike" cap="none" normalizeH="0" baseline="0" dirty="0" smtClean="0">
                          <a:ln>
                            <a:noFill/>
                          </a:ln>
                          <a:solidFill>
                            <a:schemeClr val="tx1"/>
                          </a:solidFill>
                          <a:effectLst/>
                          <a:latin typeface="Arial" pitchFamily="34" charset="0"/>
                          <a:cs typeface="Arial" pitchFamily="34" charset="0"/>
                        </a:rPr>
                        <a:t> Kit License</a:t>
                      </a:r>
                      <a:endParaRPr kumimoji="0" lang="en-US" sz="3200" b="1" i="0" u="none" strike="noStrike" cap="none" normalizeH="0" baseline="0" dirty="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0000"/>
                        </a:lnSpc>
                        <a:spcBef>
                          <a:spcPct val="40000"/>
                        </a:spcBef>
                        <a:spcAft>
                          <a:spcPct val="0"/>
                        </a:spcAft>
                        <a:buClr>
                          <a:schemeClr val="tx2"/>
                        </a:buClr>
                        <a:buSzPct val="75000"/>
                        <a:buFont typeface="Wingdings" pitchFamily="2" charset="2"/>
                        <a:buNone/>
                        <a:tabLst/>
                      </a:pPr>
                      <a:r>
                        <a:rPr kumimoji="0" lang="en-US" sz="1400" b="1" i="0" u="none" strike="noStrike" cap="none" normalizeH="0" baseline="0" dirty="0" smtClean="0">
                          <a:ln>
                            <a:noFill/>
                          </a:ln>
                          <a:solidFill>
                            <a:schemeClr val="tx1"/>
                          </a:solidFill>
                          <a:effectLst/>
                          <a:latin typeface="Arial" pitchFamily="34" charset="0"/>
                          <a:cs typeface="Arial" pitchFamily="34" charset="0"/>
                        </a:rPr>
                        <a:t>30-day full function. Upgradeable </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dirty="0" smtClean="0">
                          <a:ln>
                            <a:noFill/>
                          </a:ln>
                          <a:solidFill>
                            <a:schemeClr val="tx1"/>
                          </a:solidFill>
                          <a:effectLst/>
                          <a:latin typeface="Arial" pitchFamily="34" charset="0"/>
                          <a:cs typeface="Arial" pitchFamily="34" charset="0"/>
                        </a:rPr>
                        <a:t>32KB code size limited. Upgradeable</a:t>
                      </a:r>
                      <a:endParaRPr kumimoji="0" lang="en-US" sz="3200" b="1" i="0" u="none" strike="noStrike" cap="none" normalizeH="0" baseline="0" dirty="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dirty="0" smtClean="0">
                          <a:ln>
                            <a:noFill/>
                          </a:ln>
                          <a:solidFill>
                            <a:schemeClr val="tx1"/>
                          </a:solidFill>
                          <a:effectLst/>
                          <a:latin typeface="Arial" pitchFamily="34" charset="0"/>
                          <a:cs typeface="Arial" pitchFamily="34" charset="0"/>
                        </a:rPr>
                        <a:t>32KB code size limited. Upgradeable</a:t>
                      </a:r>
                      <a:endParaRPr kumimoji="0" lang="en-US" sz="3200" b="1" i="0" u="none" strike="noStrike" cap="none" normalizeH="0" baseline="0" dirty="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pitchFamily="34" charset="0"/>
                          <a:cs typeface="Arial" pitchFamily="34" charset="0"/>
                        </a:rPr>
                        <a:t>Full function. Onboard emulation limited</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r>
              <a:tr h="352425">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pitchFamily="34" charset="0"/>
                          <a:cs typeface="Arial" pitchFamily="34" charset="0"/>
                        </a:rPr>
                        <a:t>Compiler</a:t>
                      </a:r>
                      <a:endParaRPr kumimoji="0" lang="en-US" sz="3200" b="1"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pitchFamily="34" charset="0"/>
                          <a:cs typeface="Arial" pitchFamily="34" charset="0"/>
                        </a:rPr>
                        <a:t>GNU C/C++</a:t>
                      </a:r>
                      <a:endParaRPr kumimoji="0" lang="en-US" sz="3200" b="1"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pitchFamily="34" charset="0"/>
                          <a:cs typeface="Arial" pitchFamily="34" charset="0"/>
                        </a:rPr>
                        <a:t>IAR C/C++</a:t>
                      </a:r>
                      <a:endParaRPr kumimoji="0" lang="en-US" sz="3200" b="1"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pitchFamily="34" charset="0"/>
                          <a:cs typeface="Arial" pitchFamily="34" charset="0"/>
                        </a:rPr>
                        <a:t>RealView C/C++</a:t>
                      </a:r>
                      <a:endParaRPr kumimoji="0" lang="en-US" sz="3200" b="1"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pitchFamily="34" charset="0"/>
                        </a:rPr>
                        <a:t>TI C/C++</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r>
              <a:tr h="806450">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pitchFamily="34" charset="0"/>
                          <a:cs typeface="Arial" pitchFamily="34" charset="0"/>
                        </a:rPr>
                        <a:t>Debugger / IDE</a:t>
                      </a:r>
                      <a:endParaRPr kumimoji="0" lang="en-US" sz="3200" b="1"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pitchFamily="34" charset="0"/>
                          <a:cs typeface="Arial" pitchFamily="34" charset="0"/>
                        </a:rPr>
                        <a:t>gdb / Eclipse</a:t>
                      </a:r>
                      <a:endParaRPr kumimoji="0" lang="en-US" sz="3200" b="1"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pitchFamily="34" charset="0"/>
                          <a:cs typeface="Arial" pitchFamily="34" charset="0"/>
                        </a:rPr>
                        <a:t>C-SPY / Embedded Workbench</a:t>
                      </a:r>
                      <a:endParaRPr kumimoji="0" lang="en-US" sz="3200" b="1"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pitchFamily="34" charset="0"/>
                          <a:cs typeface="Arial" pitchFamily="34" charset="0"/>
                        </a:rPr>
                        <a:t>µVision</a:t>
                      </a:r>
                      <a:endParaRPr kumimoji="0" lang="en-US" sz="3200" b="1"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pitchFamily="34" charset="0"/>
                        </a:rPr>
                        <a:t>CCS/Eclipse-based suite</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r>
              <a:tr h="990600">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pitchFamily="34" charset="0"/>
                          <a:cs typeface="Arial" pitchFamily="34" charset="0"/>
                        </a:rPr>
                        <a:t>Full Upgrade</a:t>
                      </a:r>
                      <a:endParaRPr kumimoji="0" lang="en-US" sz="3200" b="1"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dirty="0" smtClean="0">
                          <a:ln>
                            <a:noFill/>
                          </a:ln>
                          <a:solidFill>
                            <a:schemeClr val="tx1"/>
                          </a:solidFill>
                          <a:effectLst/>
                          <a:latin typeface="Arial" pitchFamily="34" charset="0"/>
                          <a:cs typeface="Arial" pitchFamily="34" charset="0"/>
                        </a:rPr>
                        <a:t>99 USD personal edition / 2800 USD full support</a:t>
                      </a:r>
                      <a:endParaRPr kumimoji="0" lang="en-US" sz="3200" b="1" i="0" u="none" strike="noStrike" cap="none" normalizeH="0" baseline="0" dirty="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dirty="0" smtClean="0">
                          <a:ln>
                            <a:noFill/>
                          </a:ln>
                          <a:solidFill>
                            <a:schemeClr val="tx1"/>
                          </a:solidFill>
                          <a:effectLst/>
                          <a:latin typeface="Arial" pitchFamily="34" charset="0"/>
                          <a:cs typeface="Arial" pitchFamily="34" charset="0"/>
                        </a:rPr>
                        <a:t>2700 USD</a:t>
                      </a:r>
                      <a:endParaRPr kumimoji="0" lang="en-US" sz="3200" b="1" i="0" u="none" strike="noStrike" cap="none" normalizeH="0" baseline="0" dirty="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pitchFamily="34" charset="0"/>
                          <a:cs typeface="Arial" pitchFamily="34" charset="0"/>
                        </a:rPr>
                        <a:t>MDK-Basic (256 KB) = </a:t>
                      </a:r>
                      <a:r>
                        <a:rPr kumimoji="0" lang="en-US" sz="1600" b="1" i="0" u="none" strike="noStrike" cap="none" normalizeH="0" baseline="0" smtClean="0">
                          <a:ln>
                            <a:noFill/>
                          </a:ln>
                          <a:solidFill>
                            <a:schemeClr val="tx1"/>
                          </a:solidFill>
                          <a:effectLst/>
                          <a:latin typeface="Arial" pitchFamily="34" charset="0"/>
                        </a:rPr>
                        <a:t>€</a:t>
                      </a:r>
                      <a:r>
                        <a:rPr kumimoji="0" lang="en-US" sz="1400" b="1" i="0" u="none" strike="noStrike" cap="none" normalizeH="0" baseline="0" smtClean="0">
                          <a:ln>
                            <a:noFill/>
                          </a:ln>
                          <a:solidFill>
                            <a:schemeClr val="tx1"/>
                          </a:solidFill>
                          <a:effectLst/>
                          <a:latin typeface="Arial" pitchFamily="34" charset="0"/>
                        </a:rPr>
                        <a:t>2000 (</a:t>
                      </a:r>
                      <a:r>
                        <a:rPr kumimoji="0" lang="en-US" sz="1400" b="1" i="0" u="none" strike="noStrike" cap="none" normalizeH="0" baseline="0" smtClean="0">
                          <a:ln>
                            <a:noFill/>
                          </a:ln>
                          <a:solidFill>
                            <a:schemeClr val="tx1"/>
                          </a:solidFill>
                          <a:effectLst/>
                          <a:latin typeface="Arial" pitchFamily="34" charset="0"/>
                          <a:cs typeface="Arial" pitchFamily="34" charset="0"/>
                        </a:rPr>
                        <a:t>2895 USD)</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dirty="0" smtClean="0">
                          <a:ln>
                            <a:noFill/>
                          </a:ln>
                          <a:solidFill>
                            <a:schemeClr val="tx1"/>
                          </a:solidFill>
                          <a:effectLst/>
                          <a:latin typeface="Arial" pitchFamily="34" charset="0"/>
                        </a:rPr>
                        <a:t>445 USD</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r>
              <a:tr h="501650">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pitchFamily="34" charset="0"/>
                          <a:cs typeface="Arial" pitchFamily="34" charset="0"/>
                        </a:rPr>
                        <a:t>JTAG Debugger</a:t>
                      </a:r>
                      <a:endParaRPr kumimoji="0" lang="en-US" sz="3200" b="1"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smtClean="0">
                          <a:ln>
                            <a:noFill/>
                          </a:ln>
                          <a:solidFill>
                            <a:schemeClr val="tx1"/>
                          </a:solidFill>
                          <a:effectLst/>
                          <a:latin typeface="Arial" pitchFamily="34" charset="0"/>
                          <a:cs typeface="Arial" pitchFamily="34" charset="0"/>
                        </a:rPr>
                        <a:t> </a:t>
                      </a:r>
                      <a:endParaRPr kumimoji="0" lang="en-US" sz="3200" b="1" i="0" u="none" strike="noStrike" cap="none" normalizeH="0" baseline="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dirty="0" smtClean="0">
                          <a:ln>
                            <a:noFill/>
                          </a:ln>
                          <a:solidFill>
                            <a:schemeClr val="tx1"/>
                          </a:solidFill>
                          <a:effectLst/>
                          <a:latin typeface="Arial" pitchFamily="34" charset="0"/>
                          <a:cs typeface="Arial" pitchFamily="34" charset="0"/>
                        </a:rPr>
                        <a:t>J-Link, 299 USD</a:t>
                      </a:r>
                      <a:endParaRPr kumimoji="0" lang="en-US" sz="3200" b="1" i="0" u="none" strike="noStrike" cap="none" normalizeH="0" baseline="0" dirty="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dirty="0" smtClean="0">
                          <a:ln>
                            <a:noFill/>
                          </a:ln>
                          <a:solidFill>
                            <a:schemeClr val="tx1"/>
                          </a:solidFill>
                          <a:effectLst/>
                          <a:latin typeface="Arial" pitchFamily="34" charset="0"/>
                          <a:cs typeface="Arial" pitchFamily="34" charset="0"/>
                        </a:rPr>
                        <a:t>U-Link, 199 USD</a:t>
                      </a:r>
                      <a:endParaRPr kumimoji="0" lang="en-US" sz="3200" b="1" i="0" u="none" strike="noStrike" cap="none" normalizeH="0" baseline="0" dirty="0" smtClean="0">
                        <a:ln>
                          <a:noFill/>
                        </a:ln>
                        <a:solidFill>
                          <a:schemeClr val="tx1"/>
                        </a:solidFill>
                        <a:effectLst/>
                        <a:latin typeface="Times New Roman" pitchFamily="18" charset="0"/>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 latinLnBrk="0" hangingPunct="1">
                        <a:lnSpc>
                          <a:spcPct val="80000"/>
                        </a:lnSpc>
                        <a:spcBef>
                          <a:spcPct val="0"/>
                        </a:spcBef>
                        <a:spcAft>
                          <a:spcPct val="0"/>
                        </a:spcAft>
                        <a:buClr>
                          <a:schemeClr val="tx2"/>
                        </a:buClr>
                        <a:buSzPct val="75000"/>
                        <a:buFont typeface="Wingdings" pitchFamily="2" charset="2"/>
                        <a:buNone/>
                        <a:tabLst/>
                      </a:pPr>
                      <a:r>
                        <a:rPr kumimoji="0" lang="en-US" sz="1400" b="1" i="0" u="none" strike="noStrike" cap="none" normalizeH="0" baseline="0" dirty="0" smtClean="0">
                          <a:ln>
                            <a:noFill/>
                          </a:ln>
                          <a:solidFill>
                            <a:schemeClr val="tx1"/>
                          </a:solidFill>
                          <a:effectLst/>
                          <a:latin typeface="Arial" pitchFamily="34" charset="0"/>
                        </a:rPr>
                        <a:t>XDS100, 79 USD  </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accent2"/>
                    </a:solidFill>
                  </a:tcPr>
                </a:tc>
              </a:tr>
            </a:tbl>
          </a:graphicData>
        </a:graphic>
      </p:graphicFrame>
      <p:pic>
        <p:nvPicPr>
          <p:cNvPr id="11" name="Picture 40"/>
          <p:cNvPicPr>
            <a:picLocks noChangeArrowheads="1"/>
          </p:cNvPicPr>
          <p:nvPr/>
        </p:nvPicPr>
        <p:blipFill>
          <a:blip r:embed="rId3" cstate="print"/>
          <a:srcRect/>
          <a:stretch>
            <a:fillRect/>
          </a:stretch>
        </p:blipFill>
        <p:spPr bwMode="auto">
          <a:xfrm>
            <a:off x="3867150" y="1406525"/>
            <a:ext cx="628650" cy="381000"/>
          </a:xfrm>
          <a:prstGeom prst="rect">
            <a:avLst/>
          </a:prstGeom>
          <a:noFill/>
          <a:ln w="9525">
            <a:noFill/>
            <a:miter lim="800000"/>
            <a:headEnd/>
            <a:tailEnd/>
          </a:ln>
        </p:spPr>
      </p:pic>
      <p:pic>
        <p:nvPicPr>
          <p:cNvPr id="13" name="Picture 42"/>
          <p:cNvPicPr>
            <a:picLocks noChangeArrowheads="1"/>
          </p:cNvPicPr>
          <p:nvPr/>
        </p:nvPicPr>
        <p:blipFill>
          <a:blip r:embed="rId4" cstate="print"/>
          <a:srcRect/>
          <a:stretch>
            <a:fillRect/>
          </a:stretch>
        </p:blipFill>
        <p:spPr bwMode="auto">
          <a:xfrm>
            <a:off x="5686425" y="1508125"/>
            <a:ext cx="677863" cy="211138"/>
          </a:xfrm>
          <a:prstGeom prst="rect">
            <a:avLst/>
          </a:prstGeom>
          <a:noFill/>
          <a:ln w="9525">
            <a:noFill/>
            <a:miter lim="800000"/>
            <a:headEnd/>
            <a:tailEnd/>
          </a:ln>
        </p:spPr>
      </p:pic>
      <p:pic>
        <p:nvPicPr>
          <p:cNvPr id="14" name="Picture 43"/>
          <p:cNvPicPr>
            <a:picLocks noChangeArrowheads="1"/>
          </p:cNvPicPr>
          <p:nvPr/>
        </p:nvPicPr>
        <p:blipFill>
          <a:blip r:embed="rId5" cstate="print"/>
          <a:srcRect/>
          <a:stretch>
            <a:fillRect/>
          </a:stretch>
        </p:blipFill>
        <p:spPr bwMode="auto">
          <a:xfrm>
            <a:off x="5105400" y="1501775"/>
            <a:ext cx="525463" cy="209550"/>
          </a:xfrm>
          <a:prstGeom prst="rect">
            <a:avLst/>
          </a:prstGeom>
          <a:noFill/>
          <a:ln w="9525">
            <a:noFill/>
            <a:miter lim="800000"/>
            <a:headEnd/>
            <a:tailEnd/>
          </a:ln>
        </p:spPr>
      </p:pic>
      <p:pic>
        <p:nvPicPr>
          <p:cNvPr id="15" name="Picture 73"/>
          <p:cNvPicPr>
            <a:picLocks noChangeAspect="1" noChangeArrowheads="1"/>
          </p:cNvPicPr>
          <p:nvPr/>
        </p:nvPicPr>
        <p:blipFill>
          <a:blip r:embed="rId6" cstate="print"/>
          <a:srcRect/>
          <a:stretch>
            <a:fillRect/>
          </a:stretch>
        </p:blipFill>
        <p:spPr bwMode="auto">
          <a:xfrm>
            <a:off x="6858000" y="1384300"/>
            <a:ext cx="1066800" cy="396875"/>
          </a:xfrm>
          <a:prstGeom prst="rect">
            <a:avLst/>
          </a:prstGeom>
          <a:noFill/>
          <a:ln w="12700" algn="ctr">
            <a:noFill/>
            <a:miter lim="800000"/>
            <a:headEnd/>
            <a:tailEnd/>
          </a:ln>
        </p:spPr>
      </p:pic>
      <p:pic>
        <p:nvPicPr>
          <p:cNvPr id="17" name="Picture 16" descr="MentorEmbedded_brand_lg.jpg"/>
          <p:cNvPicPr>
            <a:picLocks noChangeAspect="1"/>
          </p:cNvPicPr>
          <p:nvPr/>
        </p:nvPicPr>
        <p:blipFill>
          <a:blip r:embed="rId7" cstate="print"/>
          <a:stretch>
            <a:fillRect/>
          </a:stretch>
        </p:blipFill>
        <p:spPr>
          <a:xfrm>
            <a:off x="2185736" y="1395664"/>
            <a:ext cx="1228312" cy="357187"/>
          </a:xfrm>
          <a:prstGeom prst="rect">
            <a:avLst/>
          </a:prstGeom>
        </p:spPr>
      </p:pic>
    </p:spTree>
    <p:extLst>
      <p:ext uri="{BB962C8B-B14F-4D97-AF65-F5344CB8AC3E}">
        <p14:creationId xmlns:p14="http://schemas.microsoft.com/office/powerpoint/2010/main" val="1796060589"/>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838200"/>
            <a:ext cx="5562600" cy="5181600"/>
          </a:xfrm>
          <a:prstGeom prst="rect">
            <a:avLst/>
          </a:prstGeom>
          <a:solidFill>
            <a:srgbClr val="92D050"/>
          </a:solidFill>
          <a:ln w="19050">
            <a:solidFill>
              <a:schemeClr val="tx1"/>
            </a:solidFill>
            <a:miter lim="800000"/>
            <a:headEnd type="none" w="sm" len="sm"/>
            <a:tailEnd type="none" w="sm" len="sm"/>
          </a:ln>
          <a:effectLst>
            <a:outerShdw blurRad="50800" dist="889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pic>
        <p:nvPicPr>
          <p:cNvPr id="72706" name="Picture 2" descr="C:\Documents and Settings\a0159877\Desktop\250px-Operating_system_placement.svg.png"/>
          <p:cNvPicPr>
            <a:picLocks noChangeAspect="1" noChangeArrowheads="1"/>
          </p:cNvPicPr>
          <p:nvPr/>
        </p:nvPicPr>
        <p:blipFill>
          <a:blip r:embed="rId13" cstate="print"/>
          <a:srcRect/>
          <a:stretch>
            <a:fillRect/>
          </a:stretch>
        </p:blipFill>
        <p:spPr bwMode="auto">
          <a:xfrm>
            <a:off x="6160824" y="1316817"/>
            <a:ext cx="2819400" cy="4172713"/>
          </a:xfrm>
          <a:prstGeom prst="rect">
            <a:avLst/>
          </a:prstGeom>
          <a:noFill/>
        </p:spPr>
      </p:pic>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9" name="Text Box 4">
            <a:hlinkClick r:id="rId14" action="ppaction://hlinksldjump"/>
          </p:cNvPr>
          <p:cNvSpPr txBox="1">
            <a:spLocks noChangeArrowheads="1"/>
          </p:cNvSpPr>
          <p:nvPr>
            <p:custDataLst>
              <p:tags r:id="rId2"/>
            </p:custDataLst>
          </p:nvPr>
        </p:nvSpPr>
        <p:spPr bwMode="auto">
          <a:xfrm>
            <a:off x="310202" y="954651"/>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Intro to CCSv6</a:t>
            </a:r>
            <a:endParaRPr lang="en-US" sz="2800">
              <a:solidFill>
                <a:srgbClr val="000000"/>
              </a:solidFill>
            </a:endParaRPr>
          </a:p>
        </p:txBody>
      </p:sp>
      <p:sp>
        <p:nvSpPr>
          <p:cNvPr id="10" name="Text Box 6">
            <a:hlinkClick r:id="rId15" action="ppaction://hlinksldjump"/>
          </p:cNvPr>
          <p:cNvSpPr txBox="1">
            <a:spLocks noChangeArrowheads="1"/>
          </p:cNvSpPr>
          <p:nvPr>
            <p:custDataLst>
              <p:tags r:id="rId3"/>
            </p:custDataLst>
          </p:nvPr>
        </p:nvSpPr>
        <p:spPr bwMode="auto">
          <a:xfrm>
            <a:off x="819150" y="1473995"/>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Functional Overview</a:t>
            </a:r>
            <a:endParaRPr lang="en-US">
              <a:solidFill>
                <a:srgbClr val="000000"/>
              </a:solidFill>
            </a:endParaRPr>
          </a:p>
        </p:txBody>
      </p:sp>
      <p:sp>
        <p:nvSpPr>
          <p:cNvPr id="11" name="Text Box 6">
            <a:hlinkClick r:id="rId16" action="ppaction://hlinksldjump"/>
          </p:cNvPr>
          <p:cNvSpPr txBox="1">
            <a:spLocks noChangeArrowheads="1"/>
          </p:cNvSpPr>
          <p:nvPr>
            <p:custDataLst>
              <p:tags r:id="rId4"/>
            </p:custDataLst>
          </p:nvPr>
        </p:nvSpPr>
        <p:spPr bwMode="auto">
          <a:xfrm>
            <a:off x="819150" y="1926309"/>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Perspectives</a:t>
            </a:r>
            <a:endParaRPr lang="en-US">
              <a:solidFill>
                <a:srgbClr val="000000"/>
              </a:solidFill>
            </a:endParaRPr>
          </a:p>
        </p:txBody>
      </p:sp>
      <p:sp>
        <p:nvSpPr>
          <p:cNvPr id="12" name="Text Box 6">
            <a:hlinkClick r:id="rId17" action="ppaction://hlinksldjump"/>
          </p:cNvPr>
          <p:cNvSpPr txBox="1">
            <a:spLocks noChangeArrowheads="1"/>
          </p:cNvSpPr>
          <p:nvPr>
            <p:custDataLst>
              <p:tags r:id="rId5"/>
            </p:custDataLst>
          </p:nvPr>
        </p:nvSpPr>
        <p:spPr bwMode="auto">
          <a:xfrm>
            <a:off x="819150" y="2378623"/>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Target Config &amp; Emulators</a:t>
            </a:r>
            <a:endParaRPr lang="en-US">
              <a:solidFill>
                <a:srgbClr val="000000"/>
              </a:solidFill>
            </a:endParaRPr>
          </a:p>
        </p:txBody>
      </p:sp>
      <p:sp>
        <p:nvSpPr>
          <p:cNvPr id="13" name="Text Box 6">
            <a:hlinkClick r:id="rId18" action="ppaction://hlinksldjump"/>
          </p:cNvPr>
          <p:cNvSpPr txBox="1">
            <a:spLocks noChangeArrowheads="1"/>
          </p:cNvSpPr>
          <p:nvPr>
            <p:custDataLst>
              <p:tags r:id="rId6"/>
            </p:custDataLst>
          </p:nvPr>
        </p:nvSpPr>
        <p:spPr bwMode="auto">
          <a:xfrm>
            <a:off x="819150" y="2830937"/>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Workspaces &amp; Projects</a:t>
            </a:r>
            <a:endParaRPr lang="en-US">
              <a:solidFill>
                <a:srgbClr val="000000"/>
              </a:solidFill>
            </a:endParaRPr>
          </a:p>
        </p:txBody>
      </p:sp>
      <p:sp>
        <p:nvSpPr>
          <p:cNvPr id="14" name="Text Box 6">
            <a:hlinkClick r:id="rId19" action="ppaction://hlinksldjump"/>
          </p:cNvPr>
          <p:cNvSpPr txBox="1">
            <a:spLocks noChangeArrowheads="1"/>
          </p:cNvSpPr>
          <p:nvPr>
            <p:custDataLst>
              <p:tags r:id="rId7"/>
            </p:custDataLst>
          </p:nvPr>
        </p:nvSpPr>
        <p:spPr bwMode="auto">
          <a:xfrm>
            <a:off x="819150" y="3283251"/>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Creating a Project</a:t>
            </a:r>
            <a:endParaRPr lang="en-US">
              <a:solidFill>
                <a:srgbClr val="000000"/>
              </a:solidFill>
            </a:endParaRPr>
          </a:p>
        </p:txBody>
      </p:sp>
      <p:sp>
        <p:nvSpPr>
          <p:cNvPr id="15" name="Text Box 6">
            <a:hlinkClick r:id="rId20" action="ppaction://hlinksldjump"/>
          </p:cNvPr>
          <p:cNvSpPr txBox="1">
            <a:spLocks noChangeArrowheads="1"/>
          </p:cNvSpPr>
          <p:nvPr>
            <p:custDataLst>
              <p:tags r:id="rId8"/>
            </p:custDataLst>
          </p:nvPr>
        </p:nvSpPr>
        <p:spPr bwMode="auto">
          <a:xfrm>
            <a:off x="819150" y="3735565"/>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smtClean="0">
                <a:solidFill>
                  <a:srgbClr val="000000"/>
                </a:solidFill>
              </a:rPr>
              <a:t>Build Config &amp; Options</a:t>
            </a:r>
            <a:endParaRPr lang="en-US">
              <a:solidFill>
                <a:srgbClr val="000000"/>
              </a:solidFill>
            </a:endParaRPr>
          </a:p>
        </p:txBody>
      </p:sp>
      <p:sp>
        <p:nvSpPr>
          <p:cNvPr id="16" name="Text Box 4">
            <a:hlinkClick r:id="rId21" action="ppaction://hlinksldjump"/>
          </p:cNvPr>
          <p:cNvSpPr txBox="1">
            <a:spLocks noChangeArrowheads="1"/>
          </p:cNvSpPr>
          <p:nvPr>
            <p:custDataLst>
              <p:tags r:id="rId9"/>
            </p:custDataLst>
          </p:nvPr>
        </p:nvSpPr>
        <p:spPr bwMode="auto">
          <a:xfrm>
            <a:off x="310202" y="4203352"/>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Licensing/Pricing</a:t>
            </a:r>
            <a:endParaRPr lang="en-US" sz="2800">
              <a:solidFill>
                <a:srgbClr val="000000"/>
              </a:solidFill>
            </a:endParaRPr>
          </a:p>
        </p:txBody>
      </p:sp>
      <p:sp>
        <p:nvSpPr>
          <p:cNvPr id="17" name="Text Box 4">
            <a:hlinkClick r:id="rId22" action="ppaction://hlinksldjump"/>
          </p:cNvPr>
          <p:cNvSpPr txBox="1">
            <a:spLocks noChangeArrowheads="1"/>
          </p:cNvSpPr>
          <p:nvPr>
            <p:custDataLst>
              <p:tags r:id="rId10"/>
            </p:custDataLst>
          </p:nvPr>
        </p:nvSpPr>
        <p:spPr bwMode="auto">
          <a:xfrm>
            <a:off x="310202" y="4738169"/>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CCSv6 – For More Info…</a:t>
            </a:r>
            <a:endParaRPr lang="en-US" sz="2800">
              <a:solidFill>
                <a:srgbClr val="000000"/>
              </a:solidFill>
            </a:endParaRPr>
          </a:p>
        </p:txBody>
      </p:sp>
      <p:sp>
        <p:nvSpPr>
          <p:cNvPr id="18" name="Text Box 3">
            <a:hlinkClick r:id="rId23" action="ppaction://hlinksldjump"/>
          </p:cNvPr>
          <p:cNvSpPr txBox="1">
            <a:spLocks noChangeArrowheads="1"/>
          </p:cNvSpPr>
          <p:nvPr>
            <p:custDataLst>
              <p:tags r:id="rId11"/>
            </p:custDataLst>
          </p:nvPr>
        </p:nvSpPr>
        <p:spPr bwMode="auto">
          <a:xfrm>
            <a:off x="304800" y="5272986"/>
            <a:ext cx="5562600" cy="461665"/>
          </a:xfrm>
          <a:prstGeom prst="rect">
            <a:avLst/>
          </a:prstGeom>
          <a:solidFill>
            <a:schemeClr val="bg1"/>
          </a:solidFill>
          <a:ln w="19050">
            <a:solidFill>
              <a:schemeClr val="tx1"/>
            </a:solid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smtClean="0">
                <a:solidFill>
                  <a:srgbClr val="000000"/>
                </a:solidFill>
              </a:rPr>
              <a:t>Lab</a:t>
            </a:r>
            <a:endParaRPr lang="en-US" sz="2800">
              <a:solidFill>
                <a:srgbClr val="000000"/>
              </a:solidFill>
            </a:endParaRPr>
          </a:p>
        </p:txBody>
      </p:sp>
    </p:spTree>
    <p:custDataLst>
      <p:tags r:id="rId1"/>
    </p:custDataLst>
    <p:extLst>
      <p:ext uri="{BB962C8B-B14F-4D97-AF65-F5344CB8AC3E}">
        <p14:creationId xmlns:p14="http://schemas.microsoft.com/office/powerpoint/2010/main" val="3479394190"/>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a:bodyPr>
          <a:lstStyle/>
          <a:p>
            <a:r>
              <a:rPr lang="en-US" smtClean="0"/>
              <a:t>If You Finish Early…</a:t>
            </a:r>
          </a:p>
        </p:txBody>
      </p:sp>
      <p:sp>
        <p:nvSpPr>
          <p:cNvPr id="36867" name="Rectangle 6"/>
          <p:cNvSpPr>
            <a:spLocks noChangeArrowheads="1"/>
          </p:cNvSpPr>
          <p:nvPr/>
        </p:nvSpPr>
        <p:spPr bwMode="auto">
          <a:xfrm>
            <a:off x="561975" y="6216650"/>
            <a:ext cx="184150" cy="625475"/>
          </a:xfrm>
          <a:prstGeom prst="rect">
            <a:avLst/>
          </a:prstGeom>
          <a:noFill/>
          <a:ln w="12700">
            <a:noFill/>
            <a:miter lim="800000"/>
            <a:headEnd type="none" w="sm" len="sm"/>
            <a:tailEnd type="none" w="sm" len="sm"/>
          </a:ln>
        </p:spPr>
        <p:txBody>
          <a:bodyPr wrap="none" anchor="ctr">
            <a:spAutoFit/>
          </a:bodyPr>
          <a:lstStyle/>
          <a:p>
            <a:pPr>
              <a:lnSpc>
                <a:spcPct val="100000"/>
              </a:lnSpc>
              <a:spcBef>
                <a:spcPct val="0"/>
              </a:spcBef>
            </a:pPr>
            <a:r>
              <a:rPr lang="en-US" sz="1100" b="0">
                <a:latin typeface="Times New Roman" pitchFamily="18" charset="0"/>
                <a:cs typeface="Times New Roman" pitchFamily="18" charset="0"/>
              </a:rPr>
              <a:t/>
            </a:r>
            <a:br>
              <a:rPr lang="en-US" sz="1100" b="0">
                <a:latin typeface="Times New Roman" pitchFamily="18" charset="0"/>
                <a:cs typeface="Times New Roman" pitchFamily="18" charset="0"/>
              </a:rPr>
            </a:br>
            <a:endParaRPr lang="en-US" b="0">
              <a:latin typeface="Times New Roman" pitchFamily="18" charset="0"/>
            </a:endParaRPr>
          </a:p>
        </p:txBody>
      </p:sp>
      <p:sp>
        <p:nvSpPr>
          <p:cNvPr id="4" name="TextBox 3"/>
          <p:cNvSpPr txBox="1"/>
          <p:nvPr/>
        </p:nvSpPr>
        <p:spPr>
          <a:xfrm>
            <a:off x="152400" y="698278"/>
            <a:ext cx="8534400" cy="2806922"/>
          </a:xfrm>
          <a:prstGeom prst="rect">
            <a:avLst/>
          </a:prstGeom>
          <a:noFill/>
        </p:spPr>
        <p:txBody>
          <a:bodyPr wrap="square" rtlCol="0" anchor="ctr" anchorCtr="0">
            <a:spAutoFit/>
          </a:bodyPr>
          <a:lstStyle/>
          <a:p>
            <a:pPr marL="342900" indent="-342900">
              <a:buClr>
                <a:schemeClr val="tx2"/>
              </a:buClr>
              <a:buSzPct val="75000"/>
              <a:buFont typeface="Wingdings"/>
              <a:buChar char=""/>
            </a:pPr>
            <a:r>
              <a:rPr lang="en-US" sz="2800" b="0" smtClean="0">
                <a:solidFill>
                  <a:schemeClr val="dk1"/>
                </a:solidFill>
                <a:effectLst/>
                <a:latin typeface="Calibri" panose="020F0502020204030204" pitchFamily="34" charset="0"/>
                <a:cs typeface="Calibri" panose="020F0502020204030204" pitchFamily="34" charset="0"/>
              </a:rPr>
              <a:t>Everyone gets through labs at a different </a:t>
            </a:r>
            <a:r>
              <a:rPr lang="en-US" sz="2800" b="0" u="sng" smtClean="0">
                <a:solidFill>
                  <a:schemeClr val="dk1"/>
                </a:solidFill>
                <a:effectLst/>
                <a:latin typeface="Calibri" panose="020F0502020204030204" pitchFamily="34" charset="0"/>
                <a:cs typeface="Calibri" panose="020F0502020204030204" pitchFamily="34" charset="0"/>
              </a:rPr>
              <a:t>pace</a:t>
            </a:r>
            <a:r>
              <a:rPr lang="en-US" sz="2800" b="0" smtClean="0">
                <a:solidFill>
                  <a:schemeClr val="dk1"/>
                </a:solidFill>
                <a:effectLst/>
                <a:latin typeface="Calibri" panose="020F0502020204030204" pitchFamily="34" charset="0"/>
                <a:cs typeface="Calibri" panose="020F0502020204030204" pitchFamily="34" charset="0"/>
              </a:rPr>
              <a:t>. That’s just fine.</a:t>
            </a:r>
          </a:p>
          <a:p>
            <a:pPr marL="342900" indent="-342900">
              <a:buClr>
                <a:schemeClr val="tx2"/>
              </a:buClr>
              <a:buSzPct val="75000"/>
              <a:buFont typeface="Wingdings"/>
              <a:buChar char=""/>
            </a:pPr>
            <a:r>
              <a:rPr lang="en-US" sz="2800" b="0" smtClean="0">
                <a:solidFill>
                  <a:schemeClr val="dk1"/>
                </a:solidFill>
                <a:latin typeface="Calibri" panose="020F0502020204030204" pitchFamily="34" charset="0"/>
                <a:cs typeface="Calibri" panose="020F0502020204030204" pitchFamily="34" charset="0"/>
              </a:rPr>
              <a:t>But what happens if you get done sooner than the rest of the group? </a:t>
            </a:r>
            <a:r>
              <a:rPr lang="en-US" sz="2800" b="0" u="sng" smtClean="0">
                <a:solidFill>
                  <a:schemeClr val="dk1"/>
                </a:solidFill>
                <a:latin typeface="Calibri" panose="020F0502020204030204" pitchFamily="34" charset="0"/>
                <a:cs typeface="Calibri" panose="020F0502020204030204" pitchFamily="34" charset="0"/>
              </a:rPr>
              <a:t>You have OPTIONS</a:t>
            </a:r>
            <a:r>
              <a:rPr lang="en-US" sz="2800" b="0" smtClean="0">
                <a:solidFill>
                  <a:schemeClr val="dk1"/>
                </a:solidFill>
                <a:latin typeface="Calibri" panose="020F0502020204030204" pitchFamily="34" charset="0"/>
                <a:cs typeface="Calibri" panose="020F0502020204030204" pitchFamily="34" charset="0"/>
              </a:rPr>
              <a:t>:</a:t>
            </a:r>
          </a:p>
          <a:p>
            <a:pPr>
              <a:buClr>
                <a:schemeClr val="tx2"/>
              </a:buClr>
              <a:buSzPct val="75000"/>
            </a:pPr>
            <a:r>
              <a:rPr lang="en-US" sz="2800" b="0" smtClean="0">
                <a:solidFill>
                  <a:schemeClr val="dk1"/>
                </a:solidFill>
                <a:effectLst/>
                <a:latin typeface="Calibri" panose="020F0502020204030204" pitchFamily="34" charset="0"/>
                <a:cs typeface="Calibri" panose="020F0502020204030204" pitchFamily="34" charset="0"/>
              </a:rPr>
              <a:t>	Do the OPTIONAL Lab (if it exists)</a:t>
            </a:r>
          </a:p>
          <a:p>
            <a:pPr>
              <a:buClr>
                <a:schemeClr val="tx2"/>
              </a:buClr>
              <a:buSzPct val="75000"/>
            </a:pPr>
            <a:r>
              <a:rPr lang="en-US" sz="2800" b="0" smtClean="0">
                <a:solidFill>
                  <a:schemeClr val="dk1"/>
                </a:solidFill>
                <a:latin typeface="Calibri" panose="020F0502020204030204" pitchFamily="34" charset="0"/>
                <a:cs typeface="Calibri" panose="020F0502020204030204" pitchFamily="34" charset="0"/>
              </a:rPr>
              <a:t>	Watch architecture videos for YOUR target:</a:t>
            </a:r>
            <a:endParaRPr lang="en-US" sz="2800" b="0" dirty="0" smtClean="0">
              <a:solidFill>
                <a:schemeClr val="dk1"/>
              </a:solidFill>
              <a:effectLst/>
              <a:latin typeface="Calibri" panose="020F0502020204030204" pitchFamily="34" charset="0"/>
              <a:cs typeface="Calibri" panose="020F0502020204030204" pitchFamily="34" charset="0"/>
            </a:endParaRPr>
          </a:p>
        </p:txBody>
      </p:sp>
      <p:sp>
        <p:nvSpPr>
          <p:cNvPr id="5" name="Oval 4"/>
          <p:cNvSpPr/>
          <p:nvPr/>
        </p:nvSpPr>
        <p:spPr bwMode="auto">
          <a:xfrm>
            <a:off x="635443" y="2514600"/>
            <a:ext cx="412750" cy="412750"/>
          </a:xfrm>
          <a:prstGeom prst="ellipse">
            <a:avLst/>
          </a:prstGeom>
          <a:solidFill>
            <a:schemeClr val="accent5">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9144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b="1" i="0" u="none" strike="noStrike" cap="none" normalizeH="0" baseline="0" smtClean="0">
                <a:ln>
                  <a:noFill/>
                </a:ln>
                <a:solidFill>
                  <a:schemeClr val="dk1"/>
                </a:solidFill>
                <a:effectLst/>
                <a:latin typeface="Arial Narrow" pitchFamily="34" charset="0"/>
              </a:rPr>
              <a:t>1</a:t>
            </a:r>
            <a:endParaRPr kumimoji="0" lang="en-US" b="1" i="0" u="none" strike="noStrike" cap="none" normalizeH="0" baseline="0" dirty="0" smtClean="0">
              <a:ln>
                <a:noFill/>
              </a:ln>
              <a:solidFill>
                <a:schemeClr val="dk1"/>
              </a:solidFill>
              <a:effectLst/>
              <a:latin typeface="Arial Narrow" pitchFamily="34" charset="0"/>
            </a:endParaRPr>
          </a:p>
        </p:txBody>
      </p:sp>
      <p:sp>
        <p:nvSpPr>
          <p:cNvPr id="24" name="Oval 23"/>
          <p:cNvSpPr/>
          <p:nvPr/>
        </p:nvSpPr>
        <p:spPr bwMode="auto">
          <a:xfrm>
            <a:off x="632784" y="3039285"/>
            <a:ext cx="412750" cy="412750"/>
          </a:xfrm>
          <a:prstGeom prst="ellipse">
            <a:avLst/>
          </a:prstGeom>
          <a:solidFill>
            <a:schemeClr val="accent5">
              <a:lumMod val="40000"/>
              <a:lumOff val="60000"/>
            </a:schemeClr>
          </a:solidFill>
          <a:ln w="12700" cap="flat" cmpd="sng" algn="ctr">
            <a:solidFill>
              <a:schemeClr val="tx1"/>
            </a:solidFill>
            <a:prstDash val="solid"/>
            <a:round/>
            <a:headEnd type="none" w="sm" len="sm"/>
            <a:tailEnd type="none" w="sm" len="sm"/>
          </a:ln>
          <a:effectLst/>
        </p:spPr>
        <p:txBody>
          <a:bodyPr vert="horz" wrap="square" lIns="91440" tIns="91440" rIns="91440" bIns="45720" numCol="1" rtlCol="0" anchor="ctr" anchorCtr="1" compatLnSpc="1">
            <a:prstTxWarp prst="textNoShape">
              <a:avLst/>
            </a:prstTxWarp>
          </a:bodyPr>
          <a:lstStyle/>
          <a:p>
            <a:pPr marL="0" marR="0" indent="0" algn="l" defTabSz="914400" rtl="0" eaLnBrk="0" fontAlgn="base" latinLnBrk="0" hangingPunct="0">
              <a:lnSpc>
                <a:spcPct val="80000"/>
              </a:lnSpc>
              <a:spcBef>
                <a:spcPct val="50000"/>
              </a:spcBef>
              <a:spcAft>
                <a:spcPct val="0"/>
              </a:spcAft>
              <a:buClrTx/>
              <a:buSzTx/>
              <a:buFontTx/>
              <a:buNone/>
              <a:tabLst/>
            </a:pPr>
            <a:r>
              <a:rPr kumimoji="0" lang="en-US" b="1" i="0" u="none" strike="noStrike" cap="none" normalizeH="0" baseline="0" smtClean="0">
                <a:ln>
                  <a:noFill/>
                </a:ln>
                <a:solidFill>
                  <a:schemeClr val="dk1"/>
                </a:solidFill>
                <a:effectLst/>
                <a:latin typeface="Arial Narrow" pitchFamily="34" charset="0"/>
              </a:rPr>
              <a:t>2</a:t>
            </a:r>
            <a:endParaRPr kumimoji="0" lang="en-US" b="1" i="0" u="none" strike="noStrike" cap="none" normalizeH="0" baseline="0" dirty="0" smtClean="0">
              <a:ln>
                <a:noFill/>
              </a:ln>
              <a:solidFill>
                <a:schemeClr val="dk1"/>
              </a:solidFill>
              <a:effectLst/>
              <a:latin typeface="Arial Narrow" pitchFamily="34" charset="0"/>
            </a:endParaRPr>
          </a:p>
        </p:txBody>
      </p:sp>
      <p:pic>
        <p:nvPicPr>
          <p:cNvPr id="4098" name="Picture 2" descr="C:\Users\a0159877\AppData\Local\Temp\SNAGHTML3c6f6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502" y="4280785"/>
            <a:ext cx="2969102" cy="128181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C:\Users\a0159877\AppData\Local\Temp\SNAGHTML3d6f08.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3453" y="4977514"/>
            <a:ext cx="3182662" cy="172808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C:\Users\a0159877\AppData\Local\Temp\SNAGHTML3dc8ac.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4102" y="4038600"/>
            <a:ext cx="3591508" cy="149948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1144769" y="3556544"/>
            <a:ext cx="7082323" cy="338554"/>
          </a:xfrm>
          <a:prstGeom prst="rect">
            <a:avLst/>
          </a:prstGeom>
          <a:noFill/>
        </p:spPr>
        <p:txBody>
          <a:bodyPr wrap="none" rtlCol="0" anchor="ctr" anchorCtr="0">
            <a:spAutoFit/>
          </a:bodyPr>
          <a:lstStyle/>
          <a:p>
            <a:pPr marL="342900" indent="-342900">
              <a:buFont typeface="Wingdings" panose="05000000000000000000" pitchFamily="2" charset="2"/>
              <a:buChar char="Ø"/>
            </a:pPr>
            <a:r>
              <a:rPr lang="en-US" sz="2000" b="0" smtClean="0">
                <a:solidFill>
                  <a:schemeClr val="dk1"/>
                </a:solidFill>
                <a:latin typeface="Calibri" panose="020F0502020204030204" pitchFamily="34" charset="0"/>
                <a:cs typeface="Calibri" panose="020F0502020204030204" pitchFamily="34" charset="0"/>
              </a:rPr>
              <a:t>From your </a:t>
            </a:r>
            <a:r>
              <a:rPr lang="en-US" sz="2000" b="0" i="1" smtClean="0">
                <a:solidFill>
                  <a:schemeClr val="dk1"/>
                </a:solidFill>
                <a:latin typeface="Calibri" panose="020F0502020204030204" pitchFamily="34" charset="0"/>
                <a:cs typeface="Calibri" panose="020F0502020204030204" pitchFamily="34" charset="0"/>
              </a:rPr>
              <a:t>\VIDEOS_Architecture</a:t>
            </a:r>
            <a:r>
              <a:rPr lang="en-US" sz="2000" b="0" smtClean="0">
                <a:solidFill>
                  <a:schemeClr val="dk1"/>
                </a:solidFill>
                <a:latin typeface="Calibri" panose="020F0502020204030204" pitchFamily="34" charset="0"/>
                <a:cs typeface="Calibri" panose="020F0502020204030204" pitchFamily="34" charset="0"/>
              </a:rPr>
              <a:t> folder, click on these in order:</a:t>
            </a:r>
            <a:endParaRPr lang="en-US" sz="2000" b="0" dirty="0" smtClean="0">
              <a:solidFill>
                <a:schemeClr val="dk1"/>
              </a:solidFill>
              <a:effectLst/>
              <a:latin typeface="Calibri" panose="020F0502020204030204" pitchFamily="34" charset="0"/>
              <a:cs typeface="Calibri" panose="020F0502020204030204" pitchFamily="34" charset="0"/>
            </a:endParaRPr>
          </a:p>
        </p:txBody>
      </p:sp>
      <p:pic>
        <p:nvPicPr>
          <p:cNvPr id="4104" name="Picture 8" descr="C:\Users\a0159877\AppData\Local\Temp\SNAGHTML40f71b.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07793" y="5209140"/>
            <a:ext cx="3207607" cy="8051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498338644"/>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fontScale="90000"/>
          </a:bodyPr>
          <a:lstStyle/>
          <a:p>
            <a:r>
              <a:rPr lang="en-US" smtClean="0"/>
              <a:t>Lab 2 – MCU “Hello World” – Blink an LED</a:t>
            </a:r>
          </a:p>
        </p:txBody>
      </p:sp>
      <p:sp>
        <p:nvSpPr>
          <p:cNvPr id="36867" name="Rectangle 6"/>
          <p:cNvSpPr>
            <a:spLocks noChangeArrowheads="1"/>
          </p:cNvSpPr>
          <p:nvPr/>
        </p:nvSpPr>
        <p:spPr bwMode="auto">
          <a:xfrm>
            <a:off x="561975" y="6216650"/>
            <a:ext cx="184150" cy="625475"/>
          </a:xfrm>
          <a:prstGeom prst="rect">
            <a:avLst/>
          </a:prstGeom>
          <a:noFill/>
          <a:ln w="12700">
            <a:noFill/>
            <a:miter lim="800000"/>
            <a:headEnd type="none" w="sm" len="sm"/>
            <a:tailEnd type="none" w="sm" len="sm"/>
          </a:ln>
        </p:spPr>
        <p:txBody>
          <a:bodyPr wrap="none" anchor="ctr">
            <a:spAutoFit/>
          </a:bodyPr>
          <a:lstStyle/>
          <a:p>
            <a:pPr>
              <a:lnSpc>
                <a:spcPct val="100000"/>
              </a:lnSpc>
              <a:spcBef>
                <a:spcPct val="0"/>
              </a:spcBef>
            </a:pPr>
            <a:r>
              <a:rPr lang="en-US" sz="1100" b="0">
                <a:latin typeface="Times New Roman" pitchFamily="18" charset="0"/>
                <a:cs typeface="Times New Roman" pitchFamily="18" charset="0"/>
              </a:rPr>
              <a:t/>
            </a:r>
            <a:br>
              <a:rPr lang="en-US" sz="1100" b="0">
                <a:latin typeface="Times New Roman" pitchFamily="18" charset="0"/>
                <a:cs typeface="Times New Roman" pitchFamily="18" charset="0"/>
              </a:rPr>
            </a:br>
            <a:endParaRPr lang="en-US" b="0">
              <a:latin typeface="Times New Roman" pitchFamily="18" charset="0"/>
            </a:endParaRPr>
          </a:p>
        </p:txBody>
      </p:sp>
      <p:sp>
        <p:nvSpPr>
          <p:cNvPr id="36872" name="Text Box 102"/>
          <p:cNvSpPr txBox="1">
            <a:spLocks noChangeArrowheads="1"/>
          </p:cNvSpPr>
          <p:nvPr/>
        </p:nvSpPr>
        <p:spPr bwMode="auto">
          <a:xfrm>
            <a:off x="3276600" y="6380358"/>
            <a:ext cx="2388795" cy="437043"/>
          </a:xfrm>
          <a:prstGeom prst="rect">
            <a:avLst/>
          </a:prstGeom>
          <a:noFill/>
          <a:ln w="12700">
            <a:noFill/>
            <a:miter lim="800000"/>
            <a:headEnd type="none" w="sm" len="sm"/>
            <a:tailEnd type="none" w="sm" len="sm"/>
          </a:ln>
        </p:spPr>
        <p:txBody>
          <a:bodyPr wrap="none">
            <a:spAutoFit/>
          </a:bodyPr>
          <a:lstStyle/>
          <a:p>
            <a:pPr marL="342900" indent="-342900">
              <a:buClr>
                <a:schemeClr val="tx2"/>
              </a:buClr>
              <a:buSzPct val="75000"/>
              <a:buFont typeface="Wingdings" pitchFamily="2" charset="2"/>
              <a:buChar char=""/>
            </a:pPr>
            <a:r>
              <a:rPr lang="en-US" sz="2800">
                <a:solidFill>
                  <a:schemeClr val="tx2"/>
                </a:solidFill>
                <a:latin typeface="Calibri" pitchFamily="34" charset="0"/>
                <a:cs typeface="Calibri" pitchFamily="34" charset="0"/>
              </a:rPr>
              <a:t>Time: </a:t>
            </a:r>
            <a:r>
              <a:rPr lang="en-US" sz="2800" smtClean="0">
                <a:solidFill>
                  <a:schemeClr val="tx2"/>
                </a:solidFill>
                <a:latin typeface="Calibri" pitchFamily="34" charset="0"/>
                <a:cs typeface="Calibri" pitchFamily="34" charset="0"/>
              </a:rPr>
              <a:t>45min</a:t>
            </a:r>
            <a:endParaRPr lang="en-US" sz="2800">
              <a:solidFill>
                <a:schemeClr val="tx2"/>
              </a:solidFill>
              <a:latin typeface="Calibri" pitchFamily="34" charset="0"/>
              <a:cs typeface="Calibri" pitchFamily="34" charset="0"/>
            </a:endParaRPr>
          </a:p>
        </p:txBody>
      </p:sp>
      <p:sp>
        <p:nvSpPr>
          <p:cNvPr id="12" name="TextBox 11"/>
          <p:cNvSpPr txBox="1"/>
          <p:nvPr/>
        </p:nvSpPr>
        <p:spPr>
          <a:xfrm>
            <a:off x="221675" y="801055"/>
            <a:ext cx="3512125" cy="1734321"/>
          </a:xfrm>
          <a:prstGeom prst="rect">
            <a:avLst/>
          </a:prstGeom>
          <a:solidFill>
            <a:schemeClr val="accent4">
              <a:lumMod val="40000"/>
              <a:lumOff val="60000"/>
            </a:schemeClr>
          </a:solidFill>
          <a:ln>
            <a:solidFill>
              <a:schemeClr val="tx1"/>
            </a:solidFill>
          </a:ln>
          <a:effectLst>
            <a:outerShdw blurRad="50800" dist="76200" dir="2700000" algn="tl" rotWithShape="0">
              <a:prstClr val="black">
                <a:alpha val="40000"/>
              </a:prstClr>
            </a:outerShdw>
          </a:effectLst>
        </p:spPr>
        <p:txBody>
          <a:bodyPr wrap="square" rtlCol="0" anchor="ctr" anchorCtr="0">
            <a:spAutoFit/>
          </a:bodyPr>
          <a:lstStyle/>
          <a:p>
            <a:pPr>
              <a:spcBef>
                <a:spcPts val="900"/>
              </a:spcBef>
            </a:pPr>
            <a:r>
              <a:rPr lang="en-US" u="sng" smtClean="0">
                <a:solidFill>
                  <a:srgbClr val="FF0000"/>
                </a:solidFill>
                <a:latin typeface="Calibri" pitchFamily="34" charset="0"/>
                <a:cs typeface="Calibri" pitchFamily="34" charset="0"/>
              </a:rPr>
              <a:t>Lab Goal:</a:t>
            </a:r>
          </a:p>
          <a:p>
            <a:pPr>
              <a:spcBef>
                <a:spcPts val="900"/>
              </a:spcBef>
            </a:pPr>
            <a:r>
              <a:rPr lang="en-US" sz="2000" b="0" smtClean="0">
                <a:solidFill>
                  <a:schemeClr val="dk1"/>
                </a:solidFill>
                <a:latin typeface="Calibri" pitchFamily="34" charset="0"/>
                <a:cs typeface="Calibri" pitchFamily="34" charset="0"/>
              </a:rPr>
              <a:t>You are new to CCSv6 and simply want to </a:t>
            </a:r>
            <a:r>
              <a:rPr lang="en-US" sz="2000" b="0" u="sng" smtClean="0">
                <a:solidFill>
                  <a:schemeClr val="dk1"/>
                </a:solidFill>
                <a:latin typeface="Calibri" pitchFamily="34" charset="0"/>
                <a:cs typeface="Calibri" pitchFamily="34" charset="0"/>
              </a:rPr>
              <a:t>BLINK AN LED</a:t>
            </a:r>
            <a:r>
              <a:rPr lang="en-US" sz="2000" b="0" smtClean="0">
                <a:solidFill>
                  <a:schemeClr val="dk1"/>
                </a:solidFill>
                <a:latin typeface="Calibri" pitchFamily="34" charset="0"/>
                <a:cs typeface="Calibri" pitchFamily="34" charset="0"/>
              </a:rPr>
              <a:t> (the “hello world” of MCU) on your target board – and learn a few things about the IDE</a:t>
            </a:r>
            <a:endParaRPr lang="en-US" sz="2000" b="0" dirty="0" smtClean="0">
              <a:solidFill>
                <a:schemeClr val="dk1"/>
              </a:solidFill>
              <a:effectLst/>
              <a:latin typeface="Calibri" pitchFamily="34" charset="0"/>
              <a:cs typeface="Calibri" pitchFamily="34" charset="0"/>
            </a:endParaRPr>
          </a:p>
        </p:txBody>
      </p:sp>
      <p:sp>
        <p:nvSpPr>
          <p:cNvPr id="13" name="Text Box 98"/>
          <p:cNvSpPr txBox="1">
            <a:spLocks noChangeArrowheads="1"/>
          </p:cNvSpPr>
          <p:nvPr/>
        </p:nvSpPr>
        <p:spPr bwMode="auto">
          <a:xfrm>
            <a:off x="4384583" y="677945"/>
            <a:ext cx="4522392" cy="437043"/>
          </a:xfrm>
          <a:prstGeom prst="rect">
            <a:avLst/>
          </a:prstGeom>
          <a:noFill/>
          <a:ln w="12700">
            <a:noFill/>
            <a:miter lim="800000"/>
            <a:headEnd type="none" w="sm" len="sm"/>
            <a:tailEnd type="none" w="sm" len="sm"/>
          </a:ln>
        </p:spPr>
        <p:txBody>
          <a:bodyPr wrap="none">
            <a:spAutoFit/>
          </a:bodyPr>
          <a:lstStyle/>
          <a:p>
            <a:pPr marL="342900" indent="-342900">
              <a:buClr>
                <a:schemeClr val="tx2"/>
              </a:buClr>
              <a:buSzPct val="75000"/>
              <a:buFont typeface="Wingdings" pitchFamily="2" charset="2"/>
              <a:buChar char=""/>
            </a:pPr>
            <a:r>
              <a:rPr lang="en-US" sz="2800">
                <a:solidFill>
                  <a:schemeClr val="tx2"/>
                </a:solidFill>
                <a:latin typeface="Calibri" pitchFamily="34" charset="0"/>
                <a:cs typeface="Calibri" pitchFamily="34" charset="0"/>
              </a:rPr>
              <a:t>Lab </a:t>
            </a:r>
            <a:r>
              <a:rPr lang="en-US" sz="2800" smtClean="0">
                <a:solidFill>
                  <a:schemeClr val="tx2"/>
                </a:solidFill>
                <a:latin typeface="Calibri" pitchFamily="34" charset="0"/>
                <a:cs typeface="Calibri" pitchFamily="34" charset="0"/>
              </a:rPr>
              <a:t>2 </a:t>
            </a:r>
            <a:r>
              <a:rPr lang="en-US" sz="2800">
                <a:solidFill>
                  <a:schemeClr val="tx2"/>
                </a:solidFill>
                <a:latin typeface="Calibri" pitchFamily="34" charset="0"/>
                <a:cs typeface="Calibri" pitchFamily="34" charset="0"/>
              </a:rPr>
              <a:t>– </a:t>
            </a:r>
            <a:r>
              <a:rPr lang="en-US" sz="2800" smtClean="0">
                <a:solidFill>
                  <a:schemeClr val="tx2"/>
                </a:solidFill>
                <a:latin typeface="Calibri" pitchFamily="34" charset="0"/>
                <a:cs typeface="Calibri" pitchFamily="34" charset="0"/>
              </a:rPr>
              <a:t>Blink LED (no BIOS)</a:t>
            </a:r>
            <a:endParaRPr lang="en-US" sz="2800">
              <a:solidFill>
                <a:schemeClr val="tx2"/>
              </a:solidFill>
              <a:latin typeface="Calibri" pitchFamily="34" charset="0"/>
              <a:cs typeface="Calibri" pitchFamily="34" charset="0"/>
            </a:endParaRPr>
          </a:p>
        </p:txBody>
      </p:sp>
      <p:sp>
        <p:nvSpPr>
          <p:cNvPr id="14" name="Text Box 100"/>
          <p:cNvSpPr txBox="1">
            <a:spLocks noChangeArrowheads="1"/>
          </p:cNvSpPr>
          <p:nvPr/>
        </p:nvSpPr>
        <p:spPr bwMode="auto">
          <a:xfrm>
            <a:off x="4744317" y="1112622"/>
            <a:ext cx="3755066" cy="1791260"/>
          </a:xfrm>
          <a:prstGeom prst="rect">
            <a:avLst/>
          </a:prstGeom>
          <a:noFill/>
          <a:ln w="12700">
            <a:noFill/>
            <a:miter lim="800000"/>
            <a:headEnd type="none" w="sm" len="sm"/>
            <a:tailEnd type="none" w="sm" len="sm"/>
          </a:ln>
        </p:spPr>
        <p:txBody>
          <a:bodyPr wrap="square">
            <a:spAutoFit/>
          </a:bodyPr>
          <a:lstStyle/>
          <a:p>
            <a:pPr indent="285750">
              <a:spcBef>
                <a:spcPts val="900"/>
              </a:spcBef>
              <a:buClr>
                <a:schemeClr val="accent5"/>
              </a:buClr>
              <a:buSzPct val="90000"/>
              <a:buFontTx/>
              <a:buChar char="•"/>
            </a:pPr>
            <a:r>
              <a:rPr lang="en-US" sz="2000" b="0" smtClean="0">
                <a:latin typeface="Calibri" pitchFamily="34" charset="0"/>
                <a:cs typeface="Calibri" pitchFamily="34" charset="0"/>
              </a:rPr>
              <a:t>Create a new project</a:t>
            </a:r>
          </a:p>
          <a:p>
            <a:pPr indent="285750">
              <a:spcBef>
                <a:spcPts val="900"/>
              </a:spcBef>
              <a:buClr>
                <a:schemeClr val="accent5"/>
              </a:buClr>
              <a:buSzPct val="90000"/>
              <a:buFontTx/>
              <a:buChar char="•"/>
            </a:pPr>
            <a:r>
              <a:rPr lang="en-US" sz="2000" b="0" smtClean="0">
                <a:latin typeface="Calibri" pitchFamily="34" charset="0"/>
                <a:cs typeface="Calibri" pitchFamily="34" charset="0"/>
              </a:rPr>
              <a:t>Add (copy) main.c</a:t>
            </a:r>
          </a:p>
          <a:p>
            <a:pPr indent="285750">
              <a:spcBef>
                <a:spcPts val="900"/>
              </a:spcBef>
              <a:buClr>
                <a:schemeClr val="accent5"/>
              </a:buClr>
              <a:buSzPct val="90000"/>
              <a:buFontTx/>
              <a:buChar char="•"/>
            </a:pPr>
            <a:r>
              <a:rPr lang="en-US" sz="2000" b="0" smtClean="0">
                <a:latin typeface="Calibri" pitchFamily="34" charset="0"/>
                <a:cs typeface="Calibri" pitchFamily="34" charset="0"/>
              </a:rPr>
              <a:t>Add (link/copy) driver “library”</a:t>
            </a:r>
          </a:p>
          <a:p>
            <a:pPr indent="285750">
              <a:spcBef>
                <a:spcPts val="900"/>
              </a:spcBef>
              <a:buClr>
                <a:schemeClr val="accent5"/>
              </a:buClr>
              <a:buSzPct val="90000"/>
              <a:buFontTx/>
              <a:buChar char="•"/>
            </a:pPr>
            <a:r>
              <a:rPr lang="en-US" sz="2000" b="0" smtClean="0">
                <a:latin typeface="Calibri" pitchFamily="34" charset="0"/>
                <a:cs typeface="Calibri" pitchFamily="34" charset="0"/>
              </a:rPr>
              <a:t>Add linker.cmd file</a:t>
            </a:r>
          </a:p>
          <a:p>
            <a:pPr indent="285750">
              <a:spcBef>
                <a:spcPts val="900"/>
              </a:spcBef>
              <a:buClr>
                <a:schemeClr val="accent5"/>
              </a:buClr>
              <a:buSzPct val="90000"/>
              <a:buFontTx/>
              <a:buChar char="•"/>
            </a:pPr>
            <a:r>
              <a:rPr lang="en-US" sz="2000" b="0" smtClean="0">
                <a:latin typeface="Calibri" pitchFamily="34" charset="0"/>
                <a:cs typeface="Calibri" pitchFamily="34" charset="0"/>
              </a:rPr>
              <a:t>Build, load, debug</a:t>
            </a:r>
          </a:p>
        </p:txBody>
      </p:sp>
      <p:grpSp>
        <p:nvGrpSpPr>
          <p:cNvPr id="3" name="Group 2"/>
          <p:cNvGrpSpPr/>
          <p:nvPr/>
        </p:nvGrpSpPr>
        <p:grpSpPr>
          <a:xfrm>
            <a:off x="625268" y="2819400"/>
            <a:ext cx="3001348" cy="3224130"/>
            <a:chOff x="644195" y="3124200"/>
            <a:chExt cx="3262996" cy="3505200"/>
          </a:xfrm>
        </p:grpSpPr>
        <p:pic>
          <p:nvPicPr>
            <p:cNvPr id="17" name="Picture 6" descr="C:\Users\a0192895\Documents\Workshop Tiva LaunchPad\PICS\Transparent TITivaLaunchpad2A.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195" y="3124200"/>
              <a:ext cx="2875404" cy="350520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5" descr="C:\Users\a0159877\Desktop\flash_bulb.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545230">
              <a:off x="3062961" y="3845321"/>
              <a:ext cx="844230" cy="846826"/>
            </a:xfrm>
            <a:prstGeom prst="rect">
              <a:avLst/>
            </a:prstGeom>
            <a:noFill/>
            <a:extLst>
              <a:ext uri="{909E8E84-426E-40DD-AFC4-6F175D3DCCD1}">
                <a14:hiddenFill xmlns:a14="http://schemas.microsoft.com/office/drawing/2010/main">
                  <a:solidFill>
                    <a:srgbClr val="FFFFFF"/>
                  </a:solidFill>
                </a14:hiddenFill>
              </a:ext>
            </a:extLst>
          </p:spPr>
        </p:pic>
      </p:grpSp>
      <p:pic>
        <p:nvPicPr>
          <p:cNvPr id="20" name="Picture 19"/>
          <p:cNvPicPr/>
          <p:nvPr/>
        </p:nvPicPr>
        <p:blipFill>
          <a:blip r:embed="rId5">
            <a:extLst>
              <a:ext uri="{28A0092B-C50C-407E-A947-70E740481C1C}">
                <a14:useLocalDpi xmlns:a14="http://schemas.microsoft.com/office/drawing/2010/main" val="0"/>
              </a:ext>
            </a:extLst>
          </a:blip>
          <a:stretch>
            <a:fillRect/>
          </a:stretch>
        </p:blipFill>
        <p:spPr>
          <a:xfrm>
            <a:off x="5798656" y="4927577"/>
            <a:ext cx="981075" cy="746125"/>
          </a:xfrm>
          <a:prstGeom prst="rect">
            <a:avLst/>
          </a:prstGeom>
        </p:spPr>
      </p:pic>
      <p:pic>
        <p:nvPicPr>
          <p:cNvPr id="21" name="Picture 20"/>
          <p:cNvPicPr/>
          <p:nvPr/>
        </p:nvPicPr>
        <p:blipFill>
          <a:blip r:embed="rId6">
            <a:extLst>
              <a:ext uri="{28A0092B-C50C-407E-A947-70E740481C1C}">
                <a14:useLocalDpi xmlns:a14="http://schemas.microsoft.com/office/drawing/2010/main" val="0"/>
              </a:ext>
            </a:extLst>
          </a:blip>
          <a:stretch>
            <a:fillRect/>
          </a:stretch>
        </p:blipFill>
        <p:spPr>
          <a:xfrm>
            <a:off x="4938866" y="4781526"/>
            <a:ext cx="859790" cy="1038225"/>
          </a:xfrm>
          <a:prstGeom prst="rect">
            <a:avLst/>
          </a:prstGeom>
        </p:spPr>
      </p:pic>
      <p:pic>
        <p:nvPicPr>
          <p:cNvPr id="22" name="Picture 21"/>
          <p:cNvPicPr/>
          <p:nvPr/>
        </p:nvPicPr>
        <p:blipFill>
          <a:blip r:embed="rId7">
            <a:extLst>
              <a:ext uri="{28A0092B-C50C-407E-A947-70E740481C1C}">
                <a14:useLocalDpi xmlns:a14="http://schemas.microsoft.com/office/drawing/2010/main" val="0"/>
              </a:ext>
            </a:extLst>
          </a:blip>
          <a:stretch>
            <a:fillRect/>
          </a:stretch>
        </p:blipFill>
        <p:spPr>
          <a:xfrm>
            <a:off x="8055200" y="4838675"/>
            <a:ext cx="888365" cy="923925"/>
          </a:xfrm>
          <a:prstGeom prst="rect">
            <a:avLst/>
          </a:prstGeom>
        </p:spPr>
      </p:pic>
      <p:pic>
        <p:nvPicPr>
          <p:cNvPr id="23" name="Picture 22"/>
          <p:cNvPicPr/>
          <p:nvPr/>
        </p:nvPicPr>
        <p:blipFill>
          <a:blip r:embed="rId8">
            <a:extLst>
              <a:ext uri="{28A0092B-C50C-407E-A947-70E740481C1C}">
                <a14:useLocalDpi xmlns:a14="http://schemas.microsoft.com/office/drawing/2010/main" val="0"/>
              </a:ext>
            </a:extLst>
          </a:blip>
          <a:stretch>
            <a:fillRect/>
          </a:stretch>
        </p:blipFill>
        <p:spPr>
          <a:xfrm>
            <a:off x="6971351" y="4891063"/>
            <a:ext cx="1064260" cy="819150"/>
          </a:xfrm>
          <a:prstGeom prst="rect">
            <a:avLst/>
          </a:prstGeom>
        </p:spPr>
      </p:pic>
      <p:sp>
        <p:nvSpPr>
          <p:cNvPr id="25" name="TextBox 24"/>
          <p:cNvSpPr txBox="1"/>
          <p:nvPr/>
        </p:nvSpPr>
        <p:spPr>
          <a:xfrm>
            <a:off x="4470997" y="3171111"/>
            <a:ext cx="4444403" cy="1575816"/>
          </a:xfrm>
          <a:prstGeom prst="rect">
            <a:avLst/>
          </a:prstGeom>
          <a:noFill/>
        </p:spPr>
        <p:txBody>
          <a:bodyPr wrap="square" rtlCol="0" anchor="ctr" anchorCtr="0">
            <a:spAutoFit/>
          </a:bodyPr>
          <a:lstStyle/>
          <a:p>
            <a:pPr marL="342900" indent="-342900">
              <a:spcBef>
                <a:spcPts val="600"/>
              </a:spcBef>
              <a:buClr>
                <a:schemeClr val="tx2"/>
              </a:buClr>
              <a:buSzPct val="75000"/>
              <a:buFont typeface="Wingdings"/>
              <a:buChar char=""/>
            </a:pPr>
            <a:r>
              <a:rPr lang="en-US" sz="2800" smtClean="0">
                <a:solidFill>
                  <a:srgbClr val="FF0000"/>
                </a:solidFill>
                <a:latin typeface="Calibri" pitchFamily="34" charset="0"/>
                <a:cs typeface="Calibri" pitchFamily="34" charset="0"/>
              </a:rPr>
              <a:t>Architecture “Markers”</a:t>
            </a:r>
            <a:endParaRPr lang="en-US" sz="2800" dirty="0" smtClean="0">
              <a:solidFill>
                <a:srgbClr val="FF0000"/>
              </a:solidFill>
              <a:latin typeface="Calibri" pitchFamily="34" charset="0"/>
              <a:cs typeface="Calibri" pitchFamily="34" charset="0"/>
            </a:endParaRPr>
          </a:p>
          <a:p>
            <a:pPr marL="628650" lvl="1" indent="-171450">
              <a:spcBef>
                <a:spcPts val="600"/>
              </a:spcBef>
              <a:buClr>
                <a:schemeClr val="tx2"/>
              </a:buClr>
              <a:buSzPct val="100000"/>
              <a:buFont typeface="Arial" pitchFamily="34" charset="0"/>
              <a:buChar char="•"/>
            </a:pPr>
            <a:r>
              <a:rPr lang="en-US" sz="2000" b="0" smtClean="0">
                <a:solidFill>
                  <a:srgbClr val="000000"/>
                </a:solidFill>
                <a:latin typeface="Calibri" pitchFamily="34" charset="0"/>
                <a:cs typeface="Calibri" pitchFamily="34" charset="0"/>
              </a:rPr>
              <a:t>Some labs contain architecture “markers” that differentiate specific instructions for your target</a:t>
            </a:r>
            <a:endParaRPr lang="en-US" sz="2000" b="0" dirty="0" smtClean="0">
              <a:solidFill>
                <a:srgbClr val="000000"/>
              </a:solidFill>
              <a:latin typeface="Calibri" pitchFamily="34" charset="0"/>
              <a:cs typeface="Calibri" pitchFamily="34" charset="0"/>
            </a:endParaRPr>
          </a:p>
          <a:p>
            <a:pPr marL="628650" lvl="1" indent="-171450">
              <a:spcBef>
                <a:spcPts val="600"/>
              </a:spcBef>
              <a:buClr>
                <a:schemeClr val="tx2"/>
              </a:buClr>
              <a:buSzPct val="100000"/>
              <a:buFont typeface="Arial" pitchFamily="34" charset="0"/>
              <a:buChar char="•"/>
            </a:pPr>
            <a:r>
              <a:rPr lang="en-US" sz="2000" b="0" smtClean="0">
                <a:solidFill>
                  <a:srgbClr val="000000"/>
                </a:solidFill>
                <a:latin typeface="Calibri" pitchFamily="34" charset="0"/>
                <a:cs typeface="Calibri" pitchFamily="34" charset="0"/>
              </a:rPr>
              <a:t>Pay close attention to these:</a:t>
            </a:r>
            <a:endParaRPr lang="en-US" sz="2000" b="0" dirty="0" smtClean="0">
              <a:solidFill>
                <a:srgbClr val="000000"/>
              </a:solidFill>
              <a:latin typeface="Courier New" pitchFamily="49" charset="0"/>
              <a:cs typeface="Courier New" pitchFamily="49" charset="0"/>
            </a:endParaRPr>
          </a:p>
        </p:txBody>
      </p:sp>
      <p:sp>
        <p:nvSpPr>
          <p:cNvPr id="2" name="TextBox 1"/>
          <p:cNvSpPr txBox="1"/>
          <p:nvPr/>
        </p:nvSpPr>
        <p:spPr>
          <a:xfrm>
            <a:off x="4820517" y="5856767"/>
            <a:ext cx="4247283" cy="319446"/>
          </a:xfrm>
          <a:prstGeom prst="rect">
            <a:avLst/>
          </a:prstGeom>
          <a:noFill/>
        </p:spPr>
        <p:txBody>
          <a:bodyPr wrap="square" rtlCol="0" anchor="ctr" anchorCtr="0">
            <a:spAutoFit/>
          </a:bodyPr>
          <a:lstStyle/>
          <a:p>
            <a:r>
              <a:rPr lang="en-US" sz="1800" b="0" u="sng" smtClean="0">
                <a:solidFill>
                  <a:schemeClr val="dk1"/>
                </a:solidFill>
                <a:effectLst/>
                <a:latin typeface="Arial Narrow" panose="020B0506020202030204" pitchFamily="34" charset="0"/>
                <a:cs typeface="Calibri" panose="020F0502020204030204" pitchFamily="34" charset="0"/>
              </a:rPr>
              <a:t>Note</a:t>
            </a:r>
            <a:r>
              <a:rPr lang="en-US" sz="1800" b="0" smtClean="0">
                <a:solidFill>
                  <a:schemeClr val="dk1"/>
                </a:solidFill>
                <a:effectLst/>
                <a:latin typeface="Arial Narrow" panose="020B0506020202030204" pitchFamily="34" charset="0"/>
                <a:cs typeface="Calibri" panose="020F0502020204030204" pitchFamily="34" charset="0"/>
              </a:rPr>
              <a:t>: project creation/debug slides at end of lab</a:t>
            </a:r>
            <a:endParaRPr lang="en-US" sz="1800" b="0" dirty="0" smtClean="0">
              <a:solidFill>
                <a:schemeClr val="dk1"/>
              </a:solidFill>
              <a:effectLst/>
              <a:latin typeface="Arial Narrow" panose="020B0506020202030204" pitchFamily="34" charset="0"/>
              <a:cs typeface="Calibri" panose="020F0502020204030204" pitchFamily="34" charset="0"/>
            </a:endParaRPr>
          </a:p>
        </p:txBody>
      </p:sp>
    </p:spTree>
    <p:custDataLst>
      <p:tags r:id="rId1"/>
    </p:custDataLst>
    <p:extLst>
      <p:ext uri="{BB962C8B-B14F-4D97-AF65-F5344CB8AC3E}">
        <p14:creationId xmlns:p14="http://schemas.microsoft.com/office/powerpoint/2010/main" val="895814535"/>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6" name="Rectangle 2"/>
          <p:cNvSpPr>
            <a:spLocks noChangeArrowheads="1"/>
          </p:cNvSpPr>
          <p:nvPr/>
        </p:nvSpPr>
        <p:spPr bwMode="auto">
          <a:xfrm>
            <a:off x="0" y="0"/>
            <a:ext cx="9144000" cy="6858000"/>
          </a:xfrm>
          <a:prstGeom prst="rect">
            <a:avLst/>
          </a:prstGeom>
          <a:solidFill>
            <a:srgbClr val="FFFFFF">
              <a:alpha val="50000"/>
            </a:srgbClr>
          </a:solidFill>
          <a:ln w="12700">
            <a:solidFill>
              <a:schemeClr val="tx1"/>
            </a:solidFill>
            <a:miter lim="800000"/>
            <a:headEnd type="none" w="sm" len="sm"/>
            <a:tailEnd type="none" w="sm" len="sm"/>
          </a:ln>
          <a:effectLst/>
        </p:spPr>
        <p:txBody>
          <a:bodyPr wrap="none" anchor="ctr"/>
          <a:lstStyle/>
          <a:p>
            <a:pPr eaLnBrk="1" hangingPunct="1">
              <a:lnSpc>
                <a:spcPct val="100000"/>
              </a:lnSpc>
              <a:spcBef>
                <a:spcPct val="0"/>
              </a:spcBef>
              <a:defRPr/>
            </a:pPr>
            <a:endParaRPr lang="en-US">
              <a:solidFill>
                <a:srgbClr val="000000"/>
              </a:solidFill>
              <a:effectLst>
                <a:outerShdw blurRad="38100" dist="38100" dir="2700000" algn="tl">
                  <a:srgbClr val="000000">
                    <a:alpha val="43137"/>
                  </a:srgbClr>
                </a:outerShdw>
              </a:effectLst>
              <a:latin typeface="Arial" pitchFamily="34" charset="0"/>
            </a:endParaRPr>
          </a:p>
        </p:txBody>
      </p:sp>
      <p:pic>
        <p:nvPicPr>
          <p:cNvPr id="4" name="Picture 2" descr="ti_stk_2c_pos_rgb_jpg"/>
          <p:cNvPicPr>
            <a:picLocks noChangeAspect="1" noChangeArrowheads="1"/>
          </p:cNvPicPr>
          <p:nvPr/>
        </p:nvPicPr>
        <p:blipFill>
          <a:blip r:embed="rId4" cstate="print"/>
          <a:srcRect/>
          <a:stretch>
            <a:fillRect/>
          </a:stretch>
        </p:blipFill>
        <p:spPr bwMode="auto">
          <a:xfrm>
            <a:off x="76200" y="1752600"/>
            <a:ext cx="8839200" cy="3101975"/>
          </a:xfrm>
          <a:prstGeom prst="rect">
            <a:avLst/>
          </a:prstGeom>
          <a:noFill/>
          <a:ln w="9525">
            <a:noFill/>
            <a:miter lim="800000"/>
            <a:headEnd/>
            <a:tailEnd/>
          </a:ln>
        </p:spPr>
      </p:pic>
    </p:spTree>
    <p:custDataLst>
      <p:tags r:id="rId1"/>
    </p:custData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a:bodyPr>
          <a:lstStyle/>
          <a:p>
            <a:r>
              <a:rPr lang="en-US" smtClean="0"/>
              <a:t>New Project Creation – C28x </a:t>
            </a:r>
          </a:p>
        </p:txBody>
      </p:sp>
      <p:sp>
        <p:nvSpPr>
          <p:cNvPr id="36867" name="Rectangle 6"/>
          <p:cNvSpPr>
            <a:spLocks noChangeArrowheads="1"/>
          </p:cNvSpPr>
          <p:nvPr/>
        </p:nvSpPr>
        <p:spPr bwMode="auto">
          <a:xfrm>
            <a:off x="561975" y="6216650"/>
            <a:ext cx="184150" cy="625475"/>
          </a:xfrm>
          <a:prstGeom prst="rect">
            <a:avLst/>
          </a:prstGeom>
          <a:noFill/>
          <a:ln w="12700">
            <a:noFill/>
            <a:miter lim="800000"/>
            <a:headEnd type="none" w="sm" len="sm"/>
            <a:tailEnd type="none" w="sm" len="sm"/>
          </a:ln>
        </p:spPr>
        <p:txBody>
          <a:bodyPr wrap="none" anchor="ctr">
            <a:spAutoFit/>
          </a:bodyPr>
          <a:lstStyle/>
          <a:p>
            <a:pPr>
              <a:lnSpc>
                <a:spcPct val="100000"/>
              </a:lnSpc>
              <a:spcBef>
                <a:spcPct val="0"/>
              </a:spcBef>
            </a:pPr>
            <a:r>
              <a:rPr lang="en-US" sz="1100" b="0">
                <a:latin typeface="Times New Roman" pitchFamily="18" charset="0"/>
                <a:cs typeface="Times New Roman" pitchFamily="18" charset="0"/>
              </a:rPr>
              <a:t/>
            </a:r>
            <a:br>
              <a:rPr lang="en-US" sz="1100" b="0">
                <a:latin typeface="Times New Roman" pitchFamily="18" charset="0"/>
                <a:cs typeface="Times New Roman" pitchFamily="18" charset="0"/>
              </a:rPr>
            </a:br>
            <a:endParaRPr lang="en-US" b="0">
              <a:latin typeface="Times New Roman" pitchFamily="18" charset="0"/>
            </a:endParaRPr>
          </a:p>
        </p:txBody>
      </p:sp>
      <p:pic>
        <p:nvPicPr>
          <p:cNvPr id="16" name="Picture 15"/>
          <p:cNvPicPr/>
          <p:nvPr/>
        </p:nvPicPr>
        <p:blipFill>
          <a:blip r:embed="rId3">
            <a:extLst>
              <a:ext uri="{28A0092B-C50C-407E-A947-70E740481C1C}">
                <a14:useLocalDpi xmlns:a14="http://schemas.microsoft.com/office/drawing/2010/main" val="0"/>
              </a:ext>
            </a:extLst>
          </a:blip>
          <a:stretch>
            <a:fillRect/>
          </a:stretch>
        </p:blipFill>
        <p:spPr>
          <a:xfrm>
            <a:off x="7839854" y="0"/>
            <a:ext cx="1304146" cy="1574800"/>
          </a:xfrm>
          <a:prstGeom prst="rect">
            <a:avLst/>
          </a:prstGeom>
        </p:spPr>
      </p:pic>
      <p:sp>
        <p:nvSpPr>
          <p:cNvPr id="2" name="TextBox 1"/>
          <p:cNvSpPr txBox="1"/>
          <p:nvPr/>
        </p:nvSpPr>
        <p:spPr>
          <a:xfrm>
            <a:off x="76200" y="1247434"/>
            <a:ext cx="9452588" cy="5636928"/>
          </a:xfrm>
          <a:prstGeom prst="rect">
            <a:avLst/>
          </a:prstGeom>
          <a:noFill/>
        </p:spPr>
        <p:txBody>
          <a:bodyPr wrap="none" rtlCol="0" anchor="ctr" anchorCtr="0">
            <a:spAutoFit/>
          </a:bodyPr>
          <a:lstStyle/>
          <a:p>
            <a:pPr marL="342900" indent="-342900">
              <a:lnSpc>
                <a:spcPct val="90000"/>
              </a:lnSpc>
              <a:spcBef>
                <a:spcPts val="900"/>
              </a:spcBef>
              <a:buAutoNum type="arabicPeriod"/>
            </a:pPr>
            <a:r>
              <a:rPr lang="en-US" sz="1400" b="0" i="1" u="sng" smtClean="0">
                <a:solidFill>
                  <a:schemeClr val="dk1"/>
                </a:solidFill>
                <a:effectLst/>
                <a:latin typeface="Arial Narrow" panose="020B0506020202030204" pitchFamily="34" charset="0"/>
              </a:rPr>
              <a:t>File </a:t>
            </a:r>
            <a:r>
              <a:rPr lang="en-US" sz="1400" b="0" i="1" u="sng" smtClean="0">
                <a:solidFill>
                  <a:schemeClr val="dk1"/>
                </a:solidFill>
                <a:effectLst/>
                <a:latin typeface="Arial Narrow" panose="020B0506020202030204" pitchFamily="34" charset="0"/>
                <a:sym typeface="Wingdings"/>
              </a:rPr>
              <a:t> </a:t>
            </a:r>
            <a:r>
              <a:rPr lang="en-US" sz="1400" b="0" i="1" u="sng" smtClean="0">
                <a:solidFill>
                  <a:schemeClr val="dk1"/>
                </a:solidFill>
                <a:effectLst/>
                <a:latin typeface="Arial Narrow" panose="020B0506020202030204" pitchFamily="34" charset="0"/>
              </a:rPr>
              <a:t>New </a:t>
            </a:r>
            <a:r>
              <a:rPr lang="en-US" sz="1400" b="0" i="1" u="sng">
                <a:solidFill>
                  <a:schemeClr val="dk1"/>
                </a:solidFill>
                <a:latin typeface="Arial Narrow" panose="020B0506020202030204" pitchFamily="34" charset="0"/>
                <a:sym typeface="Wingdings"/>
              </a:rPr>
              <a:t> </a:t>
            </a:r>
            <a:r>
              <a:rPr lang="en-US" sz="1400" b="0" i="1" u="sng" smtClean="0">
                <a:solidFill>
                  <a:schemeClr val="dk1"/>
                </a:solidFill>
                <a:effectLst/>
                <a:latin typeface="Arial Narrow" panose="020B0506020202030204" pitchFamily="34" charset="0"/>
              </a:rPr>
              <a:t>CCS Project</a:t>
            </a:r>
            <a:r>
              <a:rPr lang="en-US" sz="1400" b="0" smtClean="0">
                <a:solidFill>
                  <a:schemeClr val="dk1"/>
                </a:solidFill>
                <a:effectLst/>
                <a:latin typeface="Arial Narrow" panose="020B0506020202030204" pitchFamily="34" charset="0"/>
              </a:rPr>
              <a:t>. Then fill in all target-specific items including Connection type. Use “variant” to filter device list.</a:t>
            </a:r>
          </a:p>
          <a:p>
            <a:pPr marL="342900" indent="-342900">
              <a:lnSpc>
                <a:spcPct val="90000"/>
              </a:lnSpc>
              <a:spcBef>
                <a:spcPts val="900"/>
              </a:spcBef>
              <a:buFontTx/>
              <a:buAutoNum type="arabicPeriod"/>
            </a:pPr>
            <a:r>
              <a:rPr lang="en-US" sz="1400" b="0" i="1" u="sng" smtClean="0">
                <a:solidFill>
                  <a:schemeClr val="dk1"/>
                </a:solidFill>
                <a:latin typeface="Arial Narrow" panose="020B0506020202030204" pitchFamily="34" charset="0"/>
              </a:rPr>
              <a:t>Project path</a:t>
            </a:r>
            <a:r>
              <a:rPr lang="en-US" sz="1400" b="0" smtClean="0">
                <a:solidFill>
                  <a:schemeClr val="dk1"/>
                </a:solidFill>
                <a:latin typeface="Arial Narrow" panose="020B0506020202030204" pitchFamily="34" charset="0"/>
              </a:rPr>
              <a:t>: for </a:t>
            </a:r>
            <a:r>
              <a:rPr lang="en-US" sz="1400" b="0">
                <a:solidFill>
                  <a:schemeClr val="dk1"/>
                </a:solidFill>
                <a:latin typeface="Arial Narrow" panose="020B0506020202030204" pitchFamily="34" charset="0"/>
              </a:rPr>
              <a:t>TI-RTOS workshop labs, choose </a:t>
            </a:r>
            <a:r>
              <a:rPr lang="en-US" sz="1400" b="0" smtClean="0">
                <a:solidFill>
                  <a:schemeClr val="dk1"/>
                </a:solidFill>
                <a:latin typeface="Courier New" panose="02070309020205020404" pitchFamily="49" charset="0"/>
                <a:cs typeface="Courier New" panose="02070309020205020404" pitchFamily="49" charset="0"/>
              </a:rPr>
              <a:t>\</a:t>
            </a:r>
            <a:r>
              <a:rPr lang="en-US" sz="1400" b="0">
                <a:solidFill>
                  <a:schemeClr val="dk1"/>
                </a:solidFill>
                <a:latin typeface="Courier New" panose="02070309020205020404" pitchFamily="49" charset="0"/>
                <a:cs typeface="Courier New" panose="02070309020205020404" pitchFamily="49" charset="0"/>
              </a:rPr>
              <a:t>labx\Project</a:t>
            </a:r>
            <a:r>
              <a:rPr lang="en-US" sz="1400" b="0">
                <a:solidFill>
                  <a:schemeClr val="dk1"/>
                </a:solidFill>
                <a:latin typeface="Arial Narrow" panose="020B0506020202030204" pitchFamily="34" charset="0"/>
              </a:rPr>
              <a:t> </a:t>
            </a:r>
            <a:r>
              <a:rPr lang="en-US" sz="1400" b="0" smtClean="0">
                <a:solidFill>
                  <a:schemeClr val="dk1"/>
                </a:solidFill>
                <a:latin typeface="Arial Narrow" panose="020B0506020202030204" pitchFamily="34" charset="0"/>
              </a:rPr>
              <a:t>for </a:t>
            </a:r>
            <a:r>
              <a:rPr lang="en-US" sz="1400" b="0">
                <a:solidFill>
                  <a:schemeClr val="dk1"/>
                </a:solidFill>
                <a:latin typeface="Arial Narrow" panose="020B0506020202030204" pitchFamily="34" charset="0"/>
              </a:rPr>
              <a:t>your project location (do not use </a:t>
            </a:r>
            <a:r>
              <a:rPr lang="en-US" sz="1400" b="0" smtClean="0">
                <a:solidFill>
                  <a:schemeClr val="dk1"/>
                </a:solidFill>
                <a:latin typeface="Arial Narrow" panose="020B0506020202030204" pitchFamily="34" charset="0"/>
              </a:rPr>
              <a:t>default </a:t>
            </a:r>
            <a:r>
              <a:rPr lang="en-US" sz="1400" b="0">
                <a:solidFill>
                  <a:schemeClr val="dk1"/>
                </a:solidFill>
                <a:latin typeface="Arial Narrow" panose="020B0506020202030204" pitchFamily="34" charset="0"/>
              </a:rPr>
              <a:t>workspace path)</a:t>
            </a:r>
          </a:p>
          <a:p>
            <a:pPr marL="342900" indent="-342900">
              <a:lnSpc>
                <a:spcPct val="90000"/>
              </a:lnSpc>
              <a:spcBef>
                <a:spcPts val="900"/>
              </a:spcBef>
              <a:buAutoNum type="arabicPeriod"/>
            </a:pPr>
            <a:r>
              <a:rPr lang="en-US" sz="1400" b="0" i="1" u="sng" smtClean="0">
                <a:solidFill>
                  <a:schemeClr val="dk1"/>
                </a:solidFill>
                <a:latin typeface="Arial Narrow" panose="020B0506020202030204" pitchFamily="34" charset="0"/>
              </a:rPr>
              <a:t>Device Variant</a:t>
            </a:r>
            <a:r>
              <a:rPr lang="en-US" sz="1400" b="0" smtClean="0">
                <a:solidFill>
                  <a:schemeClr val="dk1"/>
                </a:solidFill>
                <a:latin typeface="Arial Narrow" panose="020B0506020202030204" pitchFamily="34" charset="0"/>
              </a:rPr>
              <a:t> = controlSTICK – Piccolo F28069,   </a:t>
            </a:r>
            <a:r>
              <a:rPr lang="en-US" sz="1400" b="0" i="1" smtClean="0">
                <a:solidFill>
                  <a:schemeClr val="dk1"/>
                </a:solidFill>
                <a:latin typeface="Arial Narrow" panose="020B0506020202030204" pitchFamily="34" charset="0"/>
              </a:rPr>
              <a:t>Connection</a:t>
            </a:r>
            <a:r>
              <a:rPr lang="en-US" sz="1400" b="0" smtClean="0">
                <a:solidFill>
                  <a:schemeClr val="dk1"/>
                </a:solidFill>
                <a:latin typeface="Arial Narrow" panose="020B0506020202030204" pitchFamily="34" charset="0"/>
              </a:rPr>
              <a:t> = Texas Instruments XDS100v1 USB Emulator</a:t>
            </a:r>
            <a:endParaRPr lang="en-US" sz="1400" b="0" smtClean="0">
              <a:solidFill>
                <a:schemeClr val="dk1"/>
              </a:solidFill>
              <a:effectLst/>
              <a:latin typeface="Arial Narrow" panose="020B0506020202030204" pitchFamily="34" charset="0"/>
            </a:endParaRPr>
          </a:p>
          <a:p>
            <a:pPr marL="342900" indent="-342900">
              <a:lnSpc>
                <a:spcPct val="90000"/>
              </a:lnSpc>
              <a:spcBef>
                <a:spcPts val="900"/>
              </a:spcBef>
              <a:buAutoNum type="arabicPeriod"/>
            </a:pPr>
            <a:r>
              <a:rPr lang="en-US" sz="1400" b="0" i="1" u="sng" smtClean="0">
                <a:solidFill>
                  <a:schemeClr val="dk1"/>
                </a:solidFill>
                <a:latin typeface="Arial Narrow" panose="020B0506020202030204" pitchFamily="34" charset="0"/>
              </a:rPr>
              <a:t>Project Template</a:t>
            </a:r>
            <a:r>
              <a:rPr lang="en-US" sz="1400" b="0" smtClean="0">
                <a:solidFill>
                  <a:schemeClr val="dk1"/>
                </a:solidFill>
                <a:latin typeface="Arial Narrow" panose="020B0506020202030204" pitchFamily="34" charset="0"/>
              </a:rPr>
              <a:t>:  For BIOS app, choose TI-RTOS </a:t>
            </a:r>
            <a:r>
              <a:rPr lang="en-US" sz="1400" b="0" i="1">
                <a:solidFill>
                  <a:schemeClr val="dk1"/>
                </a:solidFill>
                <a:latin typeface="Arial Narrow" panose="020B0506020202030204" pitchFamily="34" charset="0"/>
                <a:sym typeface="Wingdings"/>
              </a:rPr>
              <a:t> </a:t>
            </a:r>
            <a:r>
              <a:rPr lang="en-US" sz="1400" b="0" smtClean="0">
                <a:solidFill>
                  <a:schemeClr val="dk1"/>
                </a:solidFill>
                <a:latin typeface="Arial Narrow" panose="020B0506020202030204" pitchFamily="34" charset="0"/>
              </a:rPr>
              <a:t>Kernel </a:t>
            </a:r>
            <a:r>
              <a:rPr lang="en-US" sz="1400" b="0" i="1">
                <a:solidFill>
                  <a:schemeClr val="dk1"/>
                </a:solidFill>
                <a:latin typeface="Arial Narrow" panose="020B0506020202030204" pitchFamily="34" charset="0"/>
                <a:sym typeface="Wingdings"/>
              </a:rPr>
              <a:t> </a:t>
            </a:r>
            <a:r>
              <a:rPr lang="en-US" sz="1400" b="0" smtClean="0">
                <a:solidFill>
                  <a:schemeClr val="dk1"/>
                </a:solidFill>
                <a:latin typeface="Arial Narrow" panose="020B0506020202030204" pitchFamily="34" charset="0"/>
              </a:rPr>
              <a:t>Target </a:t>
            </a:r>
            <a:r>
              <a:rPr lang="en-US" sz="1400" b="0" i="1">
                <a:solidFill>
                  <a:schemeClr val="dk1"/>
                </a:solidFill>
                <a:latin typeface="Arial Narrow" panose="020B0506020202030204" pitchFamily="34" charset="0"/>
                <a:sym typeface="Wingdings"/>
              </a:rPr>
              <a:t> </a:t>
            </a:r>
            <a:r>
              <a:rPr lang="en-US" sz="1400" b="0" smtClean="0">
                <a:solidFill>
                  <a:schemeClr val="dk1"/>
                </a:solidFill>
                <a:latin typeface="Arial Narrow" panose="020B0506020202030204" pitchFamily="34" charset="0"/>
              </a:rPr>
              <a:t>Minimal template. For non-BIOS app, use “Empty Project”</a:t>
            </a:r>
          </a:p>
          <a:p>
            <a:pPr marL="342900" indent="-342900">
              <a:lnSpc>
                <a:spcPct val="90000"/>
              </a:lnSpc>
              <a:spcBef>
                <a:spcPts val="900"/>
              </a:spcBef>
              <a:buAutoNum type="arabicPeriod"/>
            </a:pPr>
            <a:r>
              <a:rPr lang="en-US" sz="1400" b="0" i="1" u="sng" smtClean="0">
                <a:solidFill>
                  <a:schemeClr val="dk1"/>
                </a:solidFill>
                <a:effectLst/>
                <a:latin typeface="Arial Narrow" panose="020B0506020202030204" pitchFamily="34" charset="0"/>
              </a:rPr>
              <a:t>Next/Finish</a:t>
            </a:r>
            <a:r>
              <a:rPr lang="en-US" sz="1400" b="0" smtClean="0">
                <a:solidFill>
                  <a:schemeClr val="dk1"/>
                </a:solidFill>
                <a:effectLst/>
                <a:latin typeface="Arial Narrow" panose="020B0506020202030204" pitchFamily="34" charset="0"/>
              </a:rPr>
              <a:t>: If BIOS app, click “Next” to configure tools – choose latest tools: XDC, TI-RTOS, UIA. If non-BIOS app, click Finish.</a:t>
            </a:r>
          </a:p>
          <a:p>
            <a:pPr marL="342900" indent="-342900">
              <a:lnSpc>
                <a:spcPct val="90000"/>
              </a:lnSpc>
              <a:spcBef>
                <a:spcPts val="900"/>
              </a:spcBef>
              <a:buAutoNum type="arabicPeriod"/>
            </a:pPr>
            <a:r>
              <a:rPr lang="en-US" sz="1400" b="0" i="1" u="sng" smtClean="0">
                <a:solidFill>
                  <a:schemeClr val="dk1"/>
                </a:solidFill>
                <a:latin typeface="Arial Narrow" panose="020B0506020202030204" pitchFamily="34" charset="0"/>
              </a:rPr>
              <a:t>File Mgmt</a:t>
            </a:r>
            <a:r>
              <a:rPr lang="en-US" sz="1400" b="0" smtClean="0">
                <a:solidFill>
                  <a:schemeClr val="dk1"/>
                </a:solidFill>
                <a:latin typeface="Arial Narrow" panose="020B0506020202030204" pitchFamily="34" charset="0"/>
              </a:rPr>
              <a:t>:  If necessary, delete </a:t>
            </a:r>
            <a:r>
              <a:rPr lang="en-US" sz="1400" b="0" smtClean="0">
                <a:solidFill>
                  <a:schemeClr val="dk1"/>
                </a:solidFill>
                <a:latin typeface="Courier New" panose="02070309020205020404" pitchFamily="49" charset="0"/>
                <a:cs typeface="Courier New" panose="02070309020205020404" pitchFamily="49" charset="0"/>
              </a:rPr>
              <a:t>main.c</a:t>
            </a:r>
            <a:r>
              <a:rPr lang="en-US" sz="1400" b="0" smtClean="0">
                <a:solidFill>
                  <a:schemeClr val="dk1"/>
                </a:solidFill>
                <a:latin typeface="Arial Narrow" panose="020B0506020202030204" pitchFamily="34" charset="0"/>
              </a:rPr>
              <a:t> provided by New Project Wizard and add (copy) source files to project as directed in lab.</a:t>
            </a:r>
          </a:p>
          <a:p>
            <a:pPr marL="342900" indent="-342900">
              <a:lnSpc>
                <a:spcPct val="90000"/>
              </a:lnSpc>
              <a:spcBef>
                <a:spcPts val="900"/>
              </a:spcBef>
              <a:buAutoNum type="arabicPeriod"/>
            </a:pPr>
            <a:r>
              <a:rPr lang="en-US" sz="1400" b="0" i="1" u="sng" smtClean="0">
                <a:solidFill>
                  <a:schemeClr val="dk1"/>
                </a:solidFill>
                <a:latin typeface="Arial Narrow" panose="020B0506020202030204" pitchFamily="34" charset="0"/>
              </a:rPr>
              <a:t>Linker Command File</a:t>
            </a:r>
            <a:r>
              <a:rPr lang="en-US" sz="1400" b="0" smtClean="0">
                <a:solidFill>
                  <a:schemeClr val="dk1"/>
                </a:solidFill>
                <a:latin typeface="Arial Narrow" panose="020B0506020202030204" pitchFamily="34" charset="0"/>
              </a:rPr>
              <a:t>:  Double-check that a </a:t>
            </a:r>
            <a:r>
              <a:rPr lang="en-US" sz="1400" b="0" smtClean="0">
                <a:solidFill>
                  <a:schemeClr val="dk1"/>
                </a:solidFill>
                <a:latin typeface="Courier New" panose="02070309020205020404" pitchFamily="49" charset="0"/>
                <a:cs typeface="Courier New" panose="02070309020205020404" pitchFamily="49" charset="0"/>
              </a:rPr>
              <a:t>linker.cmd</a:t>
            </a:r>
            <a:r>
              <a:rPr lang="en-US" sz="1400" b="0" smtClean="0">
                <a:solidFill>
                  <a:schemeClr val="dk1"/>
                </a:solidFill>
                <a:latin typeface="Arial Narrow" panose="020B0506020202030204" pitchFamily="34" charset="0"/>
              </a:rPr>
              <a:t> file has been added already – e.g. </a:t>
            </a:r>
            <a:r>
              <a:rPr lang="en-US" sz="1400" b="0" smtClean="0">
                <a:solidFill>
                  <a:schemeClr val="dk1"/>
                </a:solidFill>
                <a:latin typeface="Courier New" panose="02070309020205020404" pitchFamily="49" charset="0"/>
                <a:cs typeface="Courier New" panose="02070309020205020404" pitchFamily="49" charset="0"/>
              </a:rPr>
              <a:t>TMS320F28069.cmd</a:t>
            </a:r>
          </a:p>
          <a:p>
            <a:pPr marL="342900" indent="-342900">
              <a:lnSpc>
                <a:spcPct val="90000"/>
              </a:lnSpc>
              <a:spcBef>
                <a:spcPts val="900"/>
              </a:spcBef>
              <a:buAutoNum type="arabicPeriod"/>
            </a:pPr>
            <a:r>
              <a:rPr lang="en-US" sz="1400" b="0" i="1" u="sng" smtClean="0">
                <a:solidFill>
                  <a:schemeClr val="dk1"/>
                </a:solidFill>
                <a:latin typeface="Arial Narrow" panose="020B0506020202030204" pitchFamily="34" charset="0"/>
              </a:rPr>
              <a:t>Header Files linker.cmd</a:t>
            </a:r>
            <a:r>
              <a:rPr lang="en-US" sz="1400" b="0" smtClean="0">
                <a:solidFill>
                  <a:schemeClr val="dk1"/>
                </a:solidFill>
                <a:latin typeface="Arial Narrow" panose="020B0506020202030204" pitchFamily="34" charset="0"/>
              </a:rPr>
              <a:t>:  Add add’l linker.cmd file (if BIOS app, choose </a:t>
            </a:r>
            <a:r>
              <a:rPr lang="en-US" sz="1400" b="0" smtClean="0">
                <a:solidFill>
                  <a:schemeClr val="dk1"/>
                </a:solidFill>
                <a:latin typeface="Courier New" panose="02070309020205020404" pitchFamily="49" charset="0"/>
                <a:cs typeface="Courier New" panose="02070309020205020404" pitchFamily="49" charset="0"/>
              </a:rPr>
              <a:t>F2806x_Headers_</a:t>
            </a:r>
            <a:r>
              <a:rPr lang="en-US" sz="1400" smtClean="0">
                <a:solidFill>
                  <a:schemeClr val="dk1"/>
                </a:solidFill>
                <a:latin typeface="Courier New" panose="02070309020205020404" pitchFamily="49" charset="0"/>
                <a:cs typeface="Courier New" panose="02070309020205020404" pitchFamily="49" charset="0"/>
              </a:rPr>
              <a:t>BIOS</a:t>
            </a:r>
            <a:r>
              <a:rPr lang="en-US" sz="1400" b="0" smtClean="0">
                <a:solidFill>
                  <a:schemeClr val="dk1"/>
                </a:solidFill>
                <a:latin typeface="Courier New" panose="02070309020205020404" pitchFamily="49" charset="0"/>
                <a:cs typeface="Courier New" panose="02070309020205020404" pitchFamily="49" charset="0"/>
              </a:rPr>
              <a:t>.cmd</a:t>
            </a:r>
            <a:r>
              <a:rPr lang="en-US" sz="1400" b="0" smtClean="0">
                <a:solidFill>
                  <a:schemeClr val="dk1"/>
                </a:solidFill>
                <a:latin typeface="Arial Narrow" panose="020B0506020202030204" pitchFamily="34" charset="0"/>
              </a:rPr>
              <a:t> from controlSuite)</a:t>
            </a:r>
          </a:p>
          <a:p>
            <a:pPr marL="342900" indent="-342900">
              <a:lnSpc>
                <a:spcPct val="90000"/>
              </a:lnSpc>
              <a:spcBef>
                <a:spcPts val="900"/>
              </a:spcBef>
              <a:buAutoNum type="arabicPeriod"/>
            </a:pPr>
            <a:r>
              <a:rPr lang="en-US" sz="1400" b="0" i="1" u="sng" smtClean="0">
                <a:solidFill>
                  <a:schemeClr val="dk1"/>
                </a:solidFill>
                <a:latin typeface="Arial Narrow" panose="020B0506020202030204" pitchFamily="34" charset="0"/>
              </a:rPr>
              <a:t>ControlSuite Source files</a:t>
            </a:r>
            <a:r>
              <a:rPr lang="en-US" sz="1400" b="0" smtClean="0">
                <a:solidFill>
                  <a:schemeClr val="dk1"/>
                </a:solidFill>
                <a:latin typeface="Arial Narrow" panose="020B0506020202030204" pitchFamily="34" charset="0"/>
              </a:rPr>
              <a:t>:  </a:t>
            </a:r>
            <a:r>
              <a:rPr lang="en-US" sz="1400" b="0" smtClean="0">
                <a:solidFill>
                  <a:schemeClr val="dk1"/>
                </a:solidFill>
                <a:effectLst/>
                <a:latin typeface="Arial Narrow" panose="020B0506020202030204" pitchFamily="34" charset="0"/>
              </a:rPr>
              <a:t>Add controlSUITE source files – if TI-RTOS workshop lab, add folder </a:t>
            </a:r>
            <a:r>
              <a:rPr lang="en-US" sz="1400" b="0" smtClean="0">
                <a:solidFill>
                  <a:schemeClr val="dk1"/>
                </a:solidFill>
                <a:effectLst/>
                <a:latin typeface="Courier New" panose="02070309020205020404" pitchFamily="49" charset="0"/>
                <a:cs typeface="Courier New" panose="02070309020205020404" pitchFamily="49" charset="0"/>
              </a:rPr>
              <a:t>\Eware_F28069_BIOS</a:t>
            </a:r>
            <a:br>
              <a:rPr lang="en-US" sz="1400" b="0" smtClean="0">
                <a:solidFill>
                  <a:schemeClr val="dk1"/>
                </a:solidFill>
                <a:effectLst/>
                <a:latin typeface="Courier New" panose="02070309020205020404" pitchFamily="49" charset="0"/>
                <a:cs typeface="Courier New" panose="02070309020205020404" pitchFamily="49" charset="0"/>
              </a:rPr>
            </a:br>
            <a:r>
              <a:rPr lang="en-US" sz="1400" b="0">
                <a:solidFill>
                  <a:schemeClr val="dk1"/>
                </a:solidFill>
                <a:latin typeface="Arial Narrow" panose="020B0506020202030204" pitchFamily="34" charset="0"/>
              </a:rPr>
              <a:t>(Right-click on project, select </a:t>
            </a:r>
            <a:r>
              <a:rPr lang="en-US" sz="1400" b="0" i="1">
                <a:solidFill>
                  <a:schemeClr val="dk1"/>
                </a:solidFill>
                <a:latin typeface="Arial Narrow" panose="020B0506020202030204" pitchFamily="34" charset="0"/>
              </a:rPr>
              <a:t>Import</a:t>
            </a:r>
            <a:r>
              <a:rPr lang="en-US" sz="1400" b="0">
                <a:solidFill>
                  <a:schemeClr val="dk1"/>
                </a:solidFill>
                <a:latin typeface="Arial Narrow" panose="020B0506020202030204" pitchFamily="34" charset="0"/>
              </a:rPr>
              <a:t>, expand </a:t>
            </a:r>
            <a:r>
              <a:rPr lang="en-US" sz="1400" b="0" i="1">
                <a:solidFill>
                  <a:schemeClr val="dk1"/>
                </a:solidFill>
                <a:latin typeface="Arial Narrow" panose="020B0506020202030204" pitchFamily="34" charset="0"/>
              </a:rPr>
              <a:t>General</a:t>
            </a:r>
            <a:r>
              <a:rPr lang="en-US" sz="1400" b="0">
                <a:solidFill>
                  <a:schemeClr val="dk1"/>
                </a:solidFill>
                <a:latin typeface="Arial Narrow" panose="020B0506020202030204" pitchFamily="34" charset="0"/>
              </a:rPr>
              <a:t>, choose </a:t>
            </a:r>
            <a:r>
              <a:rPr lang="en-US" sz="1400" b="0" i="1">
                <a:solidFill>
                  <a:schemeClr val="dk1"/>
                </a:solidFill>
                <a:latin typeface="Arial Narrow" panose="020B0506020202030204" pitchFamily="34" charset="0"/>
              </a:rPr>
              <a:t>File System</a:t>
            </a:r>
            <a:r>
              <a:rPr lang="en-US" sz="1400" b="0">
                <a:solidFill>
                  <a:schemeClr val="dk1"/>
                </a:solidFill>
                <a:latin typeface="Arial Narrow" panose="020B0506020202030204" pitchFamily="34" charset="0"/>
              </a:rPr>
              <a:t>, </a:t>
            </a:r>
            <a:r>
              <a:rPr lang="en-US" sz="1400" b="0" i="1">
                <a:solidFill>
                  <a:schemeClr val="dk1"/>
                </a:solidFill>
                <a:latin typeface="Arial Narrow" panose="020B0506020202030204" pitchFamily="34" charset="0"/>
              </a:rPr>
              <a:t>Next</a:t>
            </a:r>
            <a:r>
              <a:rPr lang="en-US" sz="1400" b="0">
                <a:solidFill>
                  <a:schemeClr val="dk1"/>
                </a:solidFill>
                <a:latin typeface="Arial Narrow" panose="020B0506020202030204" pitchFamily="34" charset="0"/>
              </a:rPr>
              <a:t>, browse to folder location, check checkbox</a:t>
            </a:r>
            <a:r>
              <a:rPr lang="en-US" sz="1400" b="0" smtClean="0">
                <a:solidFill>
                  <a:schemeClr val="dk1"/>
                </a:solidFill>
                <a:latin typeface="Arial Narrow" panose="020B0506020202030204" pitchFamily="34" charset="0"/>
              </a:rPr>
              <a:t>)</a:t>
            </a:r>
          </a:p>
          <a:p>
            <a:pPr marL="342900" indent="-342900">
              <a:lnSpc>
                <a:spcPct val="90000"/>
              </a:lnSpc>
              <a:spcBef>
                <a:spcPts val="900"/>
              </a:spcBef>
              <a:buAutoNum type="arabicPeriod"/>
            </a:pPr>
            <a:r>
              <a:rPr lang="en-US" sz="1400" b="0" i="1" u="sng" smtClean="0">
                <a:solidFill>
                  <a:schemeClr val="dk1"/>
                </a:solidFill>
                <a:effectLst/>
                <a:latin typeface="Arial Narrow" panose="020B0506020202030204" pitchFamily="34" charset="0"/>
                <a:cs typeface="Courier New" panose="02070309020205020404" pitchFamily="49" charset="0"/>
              </a:rPr>
              <a:t>Edit vars.ini</a:t>
            </a:r>
            <a:r>
              <a:rPr lang="en-US" sz="1400" b="0" smtClean="0">
                <a:solidFill>
                  <a:schemeClr val="dk1"/>
                </a:solidFill>
                <a:effectLst/>
                <a:latin typeface="Arial Narrow" panose="020B0506020202030204" pitchFamily="34" charset="0"/>
                <a:cs typeface="Courier New" panose="02070309020205020404" pitchFamily="49" charset="0"/>
              </a:rPr>
              <a:t>:  Modify </a:t>
            </a:r>
            <a:r>
              <a:rPr lang="en-US" sz="1400" b="0" smtClean="0">
                <a:solidFill>
                  <a:schemeClr val="dk1"/>
                </a:solidFill>
                <a:effectLst/>
                <a:latin typeface="Courier New" panose="02070309020205020404" pitchFamily="49" charset="0"/>
                <a:cs typeface="Courier New" panose="02070309020205020404" pitchFamily="49" charset="0"/>
              </a:rPr>
              <a:t>vars.ini</a:t>
            </a:r>
            <a:r>
              <a:rPr lang="en-US" sz="1400" b="0" smtClean="0">
                <a:solidFill>
                  <a:schemeClr val="dk1"/>
                </a:solidFill>
                <a:effectLst/>
                <a:latin typeface="Arial Narrow" panose="020B0506020202030204" pitchFamily="34" charset="0"/>
                <a:cs typeface="Courier New" panose="02070309020205020404" pitchFamily="49" charset="0"/>
              </a:rPr>
              <a:t> to match your exact controlSUITE path for CONTROLSUITE_F2806x_INSTALL = your path</a:t>
            </a:r>
          </a:p>
          <a:p>
            <a:pPr marL="342900" indent="-342900">
              <a:lnSpc>
                <a:spcPct val="90000"/>
              </a:lnSpc>
              <a:spcBef>
                <a:spcPts val="900"/>
              </a:spcBef>
              <a:buAutoNum type="arabicPeriod"/>
            </a:pPr>
            <a:r>
              <a:rPr lang="en-US" sz="1400" b="0" i="1" u="sng" smtClean="0">
                <a:solidFill>
                  <a:schemeClr val="dk1"/>
                </a:solidFill>
                <a:latin typeface="Arial Narrow" panose="020B0506020202030204" pitchFamily="34" charset="0"/>
                <a:cs typeface="Courier New" panose="02070309020205020404" pitchFamily="49" charset="0"/>
              </a:rPr>
              <a:t>Import vars.ini</a:t>
            </a:r>
            <a:r>
              <a:rPr lang="en-US" sz="1400" b="0" smtClean="0">
                <a:solidFill>
                  <a:schemeClr val="dk1"/>
                </a:solidFill>
                <a:latin typeface="Arial Narrow" panose="020B0506020202030204" pitchFamily="34" charset="0"/>
                <a:cs typeface="Courier New" panose="02070309020205020404" pitchFamily="49" charset="0"/>
              </a:rPr>
              <a:t>:  if not already done </a:t>
            </a:r>
            <a:r>
              <a:rPr lang="en-US" sz="1400" b="0" u="sng" smtClean="0">
                <a:solidFill>
                  <a:schemeClr val="dk1"/>
                </a:solidFill>
                <a:latin typeface="Arial Narrow" panose="020B0506020202030204" pitchFamily="34" charset="0"/>
                <a:cs typeface="Courier New" panose="02070309020205020404" pitchFamily="49" charset="0"/>
              </a:rPr>
              <a:t>once</a:t>
            </a:r>
            <a:r>
              <a:rPr lang="en-US" sz="1400" b="0" smtClean="0">
                <a:solidFill>
                  <a:schemeClr val="dk1"/>
                </a:solidFill>
                <a:latin typeface="Arial Narrow" panose="020B0506020202030204" pitchFamily="34" charset="0"/>
                <a:cs typeface="Courier New" panose="02070309020205020404" pitchFamily="49" charset="0"/>
              </a:rPr>
              <a:t> for workspace, import </a:t>
            </a:r>
            <a:r>
              <a:rPr lang="en-US" sz="1400" b="0" smtClean="0">
                <a:solidFill>
                  <a:schemeClr val="dk1"/>
                </a:solidFill>
                <a:latin typeface="Courier New" panose="02070309020205020404" pitchFamily="49" charset="0"/>
                <a:cs typeface="Courier New" panose="02070309020205020404" pitchFamily="49" charset="0"/>
              </a:rPr>
              <a:t>vars.ini</a:t>
            </a:r>
            <a:r>
              <a:rPr lang="en-US" sz="1400" b="0" smtClean="0">
                <a:solidFill>
                  <a:schemeClr val="dk1"/>
                </a:solidFill>
                <a:latin typeface="Arial Narrow" panose="020B0506020202030204" pitchFamily="34" charset="0"/>
                <a:cs typeface="Courier New" panose="02070309020205020404" pitchFamily="49" charset="0"/>
              </a:rPr>
              <a:t> by choosing </a:t>
            </a:r>
            <a:r>
              <a:rPr lang="en-US" sz="1400" b="0" i="1" smtClean="0">
                <a:solidFill>
                  <a:schemeClr val="dk1"/>
                </a:solidFill>
                <a:latin typeface="Arial Narrow" panose="020B0506020202030204" pitchFamily="34" charset="0"/>
                <a:cs typeface="Courier New" panose="02070309020205020404" pitchFamily="49" charset="0"/>
              </a:rPr>
              <a:t>File </a:t>
            </a:r>
            <a:r>
              <a:rPr lang="en-US" sz="1400" b="0" i="1">
                <a:solidFill>
                  <a:schemeClr val="dk1"/>
                </a:solidFill>
                <a:latin typeface="Arial Narrow" panose="020B0506020202030204" pitchFamily="34" charset="0"/>
                <a:sym typeface="Wingdings"/>
              </a:rPr>
              <a:t></a:t>
            </a:r>
            <a:r>
              <a:rPr lang="en-US" sz="1400" b="0" i="1" smtClean="0">
                <a:solidFill>
                  <a:schemeClr val="dk1"/>
                </a:solidFill>
                <a:latin typeface="Arial Narrow" panose="020B0506020202030204" pitchFamily="34" charset="0"/>
                <a:cs typeface="Courier New" panose="02070309020205020404" pitchFamily="49" charset="0"/>
              </a:rPr>
              <a:t> Import </a:t>
            </a:r>
            <a:r>
              <a:rPr lang="en-US" sz="1400" b="0" i="1">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cs typeface="Courier New" panose="02070309020205020404" pitchFamily="49" charset="0"/>
              </a:rPr>
              <a:t>CCS </a:t>
            </a:r>
            <a:r>
              <a:rPr lang="en-US" sz="1400" b="0" i="1">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cs typeface="Courier New" panose="02070309020205020404" pitchFamily="49" charset="0"/>
              </a:rPr>
              <a:t>Build Variables,</a:t>
            </a:r>
            <a:r>
              <a:rPr lang="en-US" sz="1400" b="0" smtClean="0">
                <a:solidFill>
                  <a:schemeClr val="dk1"/>
                </a:solidFill>
                <a:latin typeface="Arial Narrow" panose="020B0506020202030204" pitchFamily="34" charset="0"/>
                <a:cs typeface="Courier New" panose="02070309020205020404" pitchFamily="49" charset="0"/>
              </a:rPr>
              <a:t/>
            </a:r>
            <a:br>
              <a:rPr lang="en-US" sz="1400" b="0" smtClean="0">
                <a:solidFill>
                  <a:schemeClr val="dk1"/>
                </a:solidFill>
                <a:latin typeface="Arial Narrow" panose="020B0506020202030204" pitchFamily="34" charset="0"/>
                <a:cs typeface="Courier New" panose="02070309020205020404" pitchFamily="49" charset="0"/>
              </a:rPr>
            </a:br>
            <a:r>
              <a:rPr lang="en-US" sz="1400" b="0" smtClean="0">
                <a:solidFill>
                  <a:schemeClr val="dk1"/>
                </a:solidFill>
                <a:latin typeface="Arial Narrow" panose="020B0506020202030204" pitchFamily="34" charset="0"/>
                <a:cs typeface="Courier New" panose="02070309020205020404" pitchFamily="49" charset="0"/>
              </a:rPr>
              <a:t>then click </a:t>
            </a:r>
            <a:r>
              <a:rPr lang="en-US" sz="1400" b="0" i="1" smtClean="0">
                <a:solidFill>
                  <a:schemeClr val="dk1"/>
                </a:solidFill>
                <a:latin typeface="Arial Narrow" panose="020B0506020202030204" pitchFamily="34" charset="0"/>
                <a:cs typeface="Courier New" panose="02070309020205020404" pitchFamily="49" charset="0"/>
              </a:rPr>
              <a:t>Next</a:t>
            </a:r>
            <a:r>
              <a:rPr lang="en-US" sz="1400" b="0" smtClean="0">
                <a:solidFill>
                  <a:schemeClr val="dk1"/>
                </a:solidFill>
                <a:latin typeface="Arial Narrow" panose="020B0506020202030204" pitchFamily="34" charset="0"/>
                <a:cs typeface="Courier New" panose="02070309020205020404" pitchFamily="49" charset="0"/>
              </a:rPr>
              <a:t>, browse to </a:t>
            </a:r>
            <a:r>
              <a:rPr lang="en-US" sz="1400" b="0" smtClean="0">
                <a:solidFill>
                  <a:schemeClr val="dk1"/>
                </a:solidFill>
                <a:latin typeface="Courier New" panose="02070309020205020404" pitchFamily="49" charset="0"/>
                <a:cs typeface="Courier New" panose="02070309020205020404" pitchFamily="49" charset="0"/>
              </a:rPr>
              <a:t>vars.ini</a:t>
            </a:r>
            <a:r>
              <a:rPr lang="en-US" sz="1400" b="0" smtClean="0">
                <a:solidFill>
                  <a:schemeClr val="dk1"/>
                </a:solidFill>
                <a:latin typeface="Arial Narrow" panose="020B0506020202030204" pitchFamily="34" charset="0"/>
                <a:cs typeface="Courier New" panose="02070309020205020404" pitchFamily="49" charset="0"/>
              </a:rPr>
              <a:t> location, check box for “</a:t>
            </a:r>
            <a:r>
              <a:rPr lang="en-US" sz="1400" b="0" i="1" smtClean="0">
                <a:solidFill>
                  <a:schemeClr val="dk1"/>
                </a:solidFill>
                <a:latin typeface="Arial Narrow" panose="020B0506020202030204" pitchFamily="34" charset="0"/>
                <a:cs typeface="Courier New" panose="02070309020205020404" pitchFamily="49" charset="0"/>
              </a:rPr>
              <a:t>Overwrite existing values</a:t>
            </a:r>
            <a:r>
              <a:rPr lang="en-US" sz="1400" b="0" smtClean="0">
                <a:solidFill>
                  <a:schemeClr val="dk1"/>
                </a:solidFill>
                <a:latin typeface="Arial Narrow" panose="020B0506020202030204" pitchFamily="34" charset="0"/>
                <a:cs typeface="Courier New" panose="02070309020205020404" pitchFamily="49" charset="0"/>
              </a:rPr>
              <a:t>”, click </a:t>
            </a:r>
            <a:r>
              <a:rPr lang="en-US" sz="1400" b="0" i="1" smtClean="0">
                <a:solidFill>
                  <a:schemeClr val="dk1"/>
                </a:solidFill>
                <a:latin typeface="Arial Narrow" panose="020B0506020202030204" pitchFamily="34" charset="0"/>
                <a:cs typeface="Courier New" panose="02070309020205020404" pitchFamily="49" charset="0"/>
              </a:rPr>
              <a:t>Finish</a:t>
            </a:r>
            <a:r>
              <a:rPr lang="en-US" sz="1400" b="0" smtClean="0">
                <a:solidFill>
                  <a:schemeClr val="dk1"/>
                </a:solidFill>
                <a:latin typeface="Arial Narrow" panose="020B0506020202030204" pitchFamily="34" charset="0"/>
                <a:cs typeface="Courier New" panose="02070309020205020404" pitchFamily="49" charset="0"/>
              </a:rPr>
              <a:t> to import var into workspace</a:t>
            </a:r>
          </a:p>
          <a:p>
            <a:pPr marL="342900" indent="-342900">
              <a:lnSpc>
                <a:spcPct val="90000"/>
              </a:lnSpc>
              <a:spcBef>
                <a:spcPts val="900"/>
              </a:spcBef>
              <a:buAutoNum type="arabicPeriod"/>
            </a:pPr>
            <a:r>
              <a:rPr lang="en-US" sz="1400" b="0" i="1" u="sng" smtClean="0">
                <a:solidFill>
                  <a:schemeClr val="dk1"/>
                </a:solidFill>
                <a:latin typeface="Arial Narrow" panose="020B0506020202030204" pitchFamily="34" charset="0"/>
                <a:cs typeface="Courier New" panose="02070309020205020404" pitchFamily="49" charset="0"/>
              </a:rPr>
              <a:t>Add Include Search Paths</a:t>
            </a:r>
            <a:r>
              <a:rPr lang="en-US" sz="1400" b="0" smtClean="0">
                <a:solidFill>
                  <a:schemeClr val="dk1"/>
                </a:solidFill>
                <a:latin typeface="Arial Narrow" panose="020B0506020202030204" pitchFamily="34" charset="0"/>
                <a:cs typeface="Courier New" panose="02070309020205020404" pitchFamily="49" charset="0"/>
              </a:rPr>
              <a:t>:  right-click on your project, select </a:t>
            </a:r>
            <a:r>
              <a:rPr lang="en-US" sz="1400" b="0" i="1" smtClean="0">
                <a:solidFill>
                  <a:schemeClr val="dk1"/>
                </a:solidFill>
                <a:latin typeface="Arial Narrow" panose="020B0506020202030204" pitchFamily="34" charset="0"/>
                <a:cs typeface="Courier New" panose="02070309020205020404" pitchFamily="49" charset="0"/>
              </a:rPr>
              <a:t>Properties</a:t>
            </a:r>
            <a:r>
              <a:rPr lang="en-US" sz="1400" b="0" smtClean="0">
                <a:solidFill>
                  <a:schemeClr val="dk1"/>
                </a:solidFill>
                <a:latin typeface="Arial Narrow" panose="020B0506020202030204" pitchFamily="34" charset="0"/>
                <a:cs typeface="Courier New" panose="02070309020205020404" pitchFamily="49" charset="0"/>
              </a:rPr>
              <a:t>, select </a:t>
            </a:r>
            <a:r>
              <a:rPr lang="en-US" sz="1400" b="0" i="1" smtClean="0">
                <a:solidFill>
                  <a:schemeClr val="dk1"/>
                </a:solidFill>
                <a:latin typeface="Arial Narrow" panose="020B0506020202030204" pitchFamily="34" charset="0"/>
                <a:cs typeface="Courier New" panose="02070309020205020404" pitchFamily="49" charset="0"/>
              </a:rPr>
              <a:t>Build </a:t>
            </a:r>
            <a:r>
              <a:rPr lang="en-US" sz="1400" b="0" i="1" smtClean="0">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cs typeface="Courier New" panose="02070309020205020404" pitchFamily="49" charset="0"/>
              </a:rPr>
              <a:t>Compiler </a:t>
            </a:r>
            <a:r>
              <a:rPr lang="en-US" sz="1400" b="0" i="1" smtClean="0">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cs typeface="Courier New" panose="02070309020205020404" pitchFamily="49" charset="0"/>
              </a:rPr>
              <a:t>Include Options</a:t>
            </a:r>
            <a:r>
              <a:rPr lang="en-US" sz="1400" b="0" smtClean="0">
                <a:solidFill>
                  <a:schemeClr val="dk1"/>
                </a:solidFill>
                <a:latin typeface="Arial Narrow" panose="020B0506020202030204" pitchFamily="34" charset="0"/>
                <a:cs typeface="Courier New" panose="02070309020205020404" pitchFamily="49" charset="0"/>
              </a:rPr>
              <a:t>. Then use</a:t>
            </a:r>
            <a:br>
              <a:rPr lang="en-US" sz="1400" b="0" smtClean="0">
                <a:solidFill>
                  <a:schemeClr val="dk1"/>
                </a:solidFill>
                <a:latin typeface="Arial Narrow" panose="020B0506020202030204" pitchFamily="34" charset="0"/>
                <a:cs typeface="Courier New" panose="02070309020205020404" pitchFamily="49" charset="0"/>
              </a:rPr>
            </a:br>
            <a:r>
              <a:rPr lang="en-US" sz="1400" b="0" smtClean="0">
                <a:solidFill>
                  <a:schemeClr val="dk1"/>
                </a:solidFill>
                <a:latin typeface="Arial Narrow" panose="020B0506020202030204" pitchFamily="34" charset="0"/>
                <a:cs typeface="Courier New" panose="02070309020205020404" pitchFamily="49" charset="0"/>
              </a:rPr>
              <a:t>your variable – CONTROLSUITE_F2806x_INSTALL – to add the following paths:</a:t>
            </a:r>
            <a:br>
              <a:rPr lang="en-US" sz="1400" b="0" smtClean="0">
                <a:solidFill>
                  <a:schemeClr val="dk1"/>
                </a:solidFill>
                <a:latin typeface="Arial Narrow" panose="020B0506020202030204" pitchFamily="34" charset="0"/>
                <a:cs typeface="Courier New" panose="02070309020205020404" pitchFamily="49" charset="0"/>
              </a:rPr>
            </a:br>
            <a:r>
              <a:rPr lang="en-US" sz="1400" b="0" smtClean="0">
                <a:solidFill>
                  <a:schemeClr val="dk1"/>
                </a:solidFill>
                <a:latin typeface="Arial Narrow" panose="020B0506020202030204" pitchFamily="34" charset="0"/>
                <a:cs typeface="Courier New" panose="02070309020205020404" pitchFamily="49" charset="0"/>
              </a:rPr>
              <a:t>	</a:t>
            </a:r>
            <a:r>
              <a:rPr lang="en-US" sz="1200" b="0" smtClean="0">
                <a:solidFill>
                  <a:schemeClr val="dk1"/>
                </a:solidFill>
                <a:latin typeface="Courier New" panose="02070309020205020404" pitchFamily="49" charset="0"/>
                <a:cs typeface="Courier New" panose="02070309020205020404" pitchFamily="49" charset="0"/>
              </a:rPr>
              <a:t>${CONTROLSUITE_F2806x_INSTALL}/f2806x_common/include</a:t>
            </a:r>
            <a:br>
              <a:rPr lang="en-US" sz="1200" b="0" smtClean="0">
                <a:solidFill>
                  <a:schemeClr val="dk1"/>
                </a:solidFill>
                <a:latin typeface="Courier New" panose="02070309020205020404" pitchFamily="49" charset="0"/>
                <a:cs typeface="Courier New" panose="02070309020205020404" pitchFamily="49" charset="0"/>
              </a:rPr>
            </a:br>
            <a:r>
              <a:rPr lang="en-US" sz="1200" b="0" smtClean="0">
                <a:solidFill>
                  <a:schemeClr val="dk1"/>
                </a:solidFill>
                <a:latin typeface="Courier New" panose="02070309020205020404" pitchFamily="49" charset="0"/>
                <a:cs typeface="Courier New" panose="02070309020205020404" pitchFamily="49" charset="0"/>
              </a:rPr>
              <a:t>	${CONTROLSUITE_F2806x_INSTALL}/f2806x_headers/include</a:t>
            </a:r>
            <a:endParaRPr lang="en-US" sz="1400" b="0" smtClean="0">
              <a:solidFill>
                <a:schemeClr val="dk1"/>
              </a:solidFill>
              <a:effectLst/>
              <a:latin typeface="Courier New" panose="02070309020205020404" pitchFamily="49" charset="0"/>
              <a:cs typeface="Courier New" panose="02070309020205020404" pitchFamily="49" charset="0"/>
            </a:endParaRPr>
          </a:p>
          <a:p>
            <a:pPr marL="342900" indent="-342900">
              <a:lnSpc>
                <a:spcPct val="90000"/>
              </a:lnSpc>
              <a:spcBef>
                <a:spcPts val="900"/>
              </a:spcBef>
              <a:buAutoNum type="arabicPeriod"/>
            </a:pPr>
            <a:r>
              <a:rPr lang="en-US" sz="1400" b="0" i="1" u="sng" smtClean="0">
                <a:solidFill>
                  <a:schemeClr val="dk1"/>
                </a:solidFill>
                <a:latin typeface="Arial Narrow" panose="020B0506020202030204" pitchFamily="34" charset="0"/>
                <a:cs typeface="Courier New" panose="02070309020205020404" pitchFamily="49" charset="0"/>
              </a:rPr>
              <a:t>Add Pre-defined Symbol</a:t>
            </a:r>
            <a:r>
              <a:rPr lang="en-US" sz="1400" b="0" smtClean="0">
                <a:solidFill>
                  <a:schemeClr val="dk1"/>
                </a:solidFill>
                <a:latin typeface="Arial Narrow" panose="020B0506020202030204" pitchFamily="34" charset="0"/>
                <a:cs typeface="Courier New" panose="02070309020205020404" pitchFamily="49" charset="0"/>
              </a:rPr>
              <a:t>:  If BIOS project, right-click on project and select </a:t>
            </a:r>
            <a:r>
              <a:rPr lang="en-US" sz="1400" b="0" i="1" smtClean="0">
                <a:solidFill>
                  <a:schemeClr val="dk1"/>
                </a:solidFill>
                <a:latin typeface="Arial Narrow" panose="020B0506020202030204" pitchFamily="34" charset="0"/>
                <a:cs typeface="Courier New" panose="02070309020205020404" pitchFamily="49" charset="0"/>
              </a:rPr>
              <a:t>Properties</a:t>
            </a:r>
            <a:r>
              <a:rPr lang="en-US" sz="1400" b="0" smtClean="0">
                <a:solidFill>
                  <a:schemeClr val="dk1"/>
                </a:solidFill>
                <a:latin typeface="Arial Narrow" panose="020B0506020202030204" pitchFamily="34" charset="0"/>
                <a:cs typeface="Courier New" panose="02070309020205020404" pitchFamily="49" charset="0"/>
              </a:rPr>
              <a:t>. Select </a:t>
            </a:r>
            <a:r>
              <a:rPr lang="en-US" sz="1400" b="0" i="1" smtClean="0">
                <a:solidFill>
                  <a:schemeClr val="dk1"/>
                </a:solidFill>
                <a:latin typeface="Arial Narrow" panose="020B0506020202030204" pitchFamily="34" charset="0"/>
                <a:cs typeface="Courier New" panose="02070309020205020404" pitchFamily="49" charset="0"/>
              </a:rPr>
              <a:t>C2000 Compiler </a:t>
            </a:r>
            <a:r>
              <a:rPr lang="en-US" sz="1400" b="0" i="1" smtClean="0">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cs typeface="Courier New" panose="02070309020205020404" pitchFamily="49" charset="0"/>
              </a:rPr>
              <a:t>Advanced Options </a:t>
            </a:r>
            <a:br>
              <a:rPr lang="en-US" sz="1400" b="0" i="1" smtClean="0">
                <a:solidFill>
                  <a:schemeClr val="dk1"/>
                </a:solidFill>
                <a:latin typeface="Arial Narrow" panose="020B0506020202030204" pitchFamily="34" charset="0"/>
                <a:cs typeface="Courier New" panose="02070309020205020404" pitchFamily="49" charset="0"/>
              </a:rPr>
            </a:br>
            <a:r>
              <a:rPr lang="en-US" sz="1400" b="0" i="1" smtClean="0">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cs typeface="Courier New" panose="02070309020205020404" pitchFamily="49" charset="0"/>
              </a:rPr>
              <a:t>Predefined Symbols</a:t>
            </a:r>
            <a:r>
              <a:rPr lang="en-US" sz="1400" b="0" smtClean="0">
                <a:solidFill>
                  <a:schemeClr val="dk1"/>
                </a:solidFill>
                <a:latin typeface="Arial Narrow" panose="020B0506020202030204" pitchFamily="34" charset="0"/>
                <a:cs typeface="Courier New" panose="02070309020205020404" pitchFamily="49" charset="0"/>
              </a:rPr>
              <a:t>, click the “+” sign to add a new NAME and type “</a:t>
            </a:r>
            <a:r>
              <a:rPr lang="en-US" sz="1400" b="0" smtClean="0">
                <a:solidFill>
                  <a:schemeClr val="dk1"/>
                </a:solidFill>
                <a:latin typeface="Courier New" panose="02070309020205020404" pitchFamily="49" charset="0"/>
                <a:cs typeface="Courier New" panose="02070309020205020404" pitchFamily="49" charset="0"/>
              </a:rPr>
              <a:t>xdc__strict</a:t>
            </a:r>
            <a:r>
              <a:rPr lang="en-US" sz="1400" b="0" smtClean="0">
                <a:solidFill>
                  <a:schemeClr val="dk1"/>
                </a:solidFill>
                <a:latin typeface="Arial Narrow" panose="020B0506020202030204" pitchFamily="34" charset="0"/>
                <a:cs typeface="Courier New" panose="02070309020205020404" pitchFamily="49" charset="0"/>
              </a:rPr>
              <a:t>” using TWO underscores “</a:t>
            </a:r>
            <a:r>
              <a:rPr lang="en-US" sz="1400" b="0" smtClean="0">
                <a:solidFill>
                  <a:schemeClr val="dk1"/>
                </a:solidFill>
                <a:latin typeface="Courier New" panose="02070309020205020404" pitchFamily="49" charset="0"/>
                <a:cs typeface="Courier New" panose="02070309020205020404" pitchFamily="49" charset="0"/>
              </a:rPr>
              <a:t>__</a:t>
            </a:r>
            <a:r>
              <a:rPr lang="en-US" sz="1400" b="0" smtClean="0">
                <a:solidFill>
                  <a:schemeClr val="dk1"/>
                </a:solidFill>
                <a:latin typeface="Arial Narrow" panose="020B0506020202030204" pitchFamily="34" charset="0"/>
                <a:cs typeface="Courier New" panose="02070309020205020404" pitchFamily="49" charset="0"/>
              </a:rPr>
              <a:t>”, click Ok.</a:t>
            </a:r>
          </a:p>
          <a:p>
            <a:pPr marL="342900" indent="-342900">
              <a:lnSpc>
                <a:spcPct val="90000"/>
              </a:lnSpc>
              <a:spcBef>
                <a:spcPts val="900"/>
              </a:spcBef>
              <a:buAutoNum type="arabicPeriod"/>
            </a:pPr>
            <a:r>
              <a:rPr lang="en-US" sz="1400" b="0" i="1" u="sng" smtClean="0">
                <a:solidFill>
                  <a:schemeClr val="dk1"/>
                </a:solidFill>
                <a:latin typeface="Arial Narrow" panose="020B0506020202030204" pitchFamily="34" charset="0"/>
                <a:cs typeface="Courier New" panose="02070309020205020404" pitchFamily="49" charset="0"/>
              </a:rPr>
              <a:t>Modify Boot Settings</a:t>
            </a:r>
            <a:r>
              <a:rPr lang="en-US" sz="1400" b="0" smtClean="0">
                <a:solidFill>
                  <a:schemeClr val="dk1"/>
                </a:solidFill>
                <a:latin typeface="Arial Narrow" panose="020B0506020202030204" pitchFamily="34" charset="0"/>
                <a:cs typeface="Courier New" panose="02070309020205020404" pitchFamily="49" charset="0"/>
              </a:rPr>
              <a:t>: open </a:t>
            </a:r>
            <a:r>
              <a:rPr lang="en-US" sz="1400" b="0" smtClean="0">
                <a:solidFill>
                  <a:schemeClr val="dk1"/>
                </a:solidFill>
                <a:latin typeface="Courier New" panose="02070309020205020404" pitchFamily="49" charset="0"/>
                <a:cs typeface="Courier New" panose="02070309020205020404" pitchFamily="49" charset="0"/>
              </a:rPr>
              <a:t>app.cfg</a:t>
            </a:r>
            <a:r>
              <a:rPr lang="en-US" sz="1400" b="0" smtClean="0">
                <a:solidFill>
                  <a:schemeClr val="dk1"/>
                </a:solidFill>
                <a:latin typeface="Arial Narrow" panose="020B0506020202030204" pitchFamily="34" charset="0"/>
                <a:cs typeface="Courier New" panose="02070309020205020404" pitchFamily="49" charset="0"/>
              </a:rPr>
              <a:t>, in the </a:t>
            </a:r>
            <a:r>
              <a:rPr lang="en-US" sz="1400" b="0" i="1" smtClean="0">
                <a:solidFill>
                  <a:schemeClr val="dk1"/>
                </a:solidFill>
                <a:latin typeface="Arial Narrow" panose="020B0506020202030204" pitchFamily="34" charset="0"/>
                <a:cs typeface="Courier New" panose="02070309020205020404" pitchFamily="49" charset="0"/>
              </a:rPr>
              <a:t>Outline</a:t>
            </a:r>
            <a:r>
              <a:rPr lang="en-US" sz="1400" b="0" smtClean="0">
                <a:solidFill>
                  <a:schemeClr val="dk1"/>
                </a:solidFill>
                <a:latin typeface="Arial Narrow" panose="020B0506020202030204" pitchFamily="34" charset="0"/>
                <a:cs typeface="Courier New" panose="02070309020205020404" pitchFamily="49" charset="0"/>
              </a:rPr>
              <a:t> view, click BIOS </a:t>
            </a:r>
            <a:r>
              <a:rPr lang="en-US" sz="1400" b="0" i="1">
                <a:solidFill>
                  <a:schemeClr val="dk1"/>
                </a:solidFill>
                <a:latin typeface="Arial Narrow" panose="020B0506020202030204" pitchFamily="34" charset="0"/>
                <a:sym typeface="Wingdings"/>
              </a:rPr>
              <a:t> </a:t>
            </a:r>
            <a:r>
              <a:rPr lang="en-US" sz="1400" b="0" smtClean="0">
                <a:solidFill>
                  <a:schemeClr val="dk1"/>
                </a:solidFill>
                <a:latin typeface="Arial Narrow" panose="020B0506020202030204" pitchFamily="34" charset="0"/>
                <a:cs typeface="Courier New" panose="02070309020205020404" pitchFamily="49" charset="0"/>
              </a:rPr>
              <a:t>System Overview </a:t>
            </a:r>
            <a:r>
              <a:rPr lang="en-US" sz="1400" b="0" i="1">
                <a:solidFill>
                  <a:schemeClr val="dk1"/>
                </a:solidFill>
                <a:latin typeface="Arial Narrow" panose="020B0506020202030204" pitchFamily="34" charset="0"/>
                <a:sym typeface="Wingdings"/>
              </a:rPr>
              <a:t> </a:t>
            </a:r>
            <a:r>
              <a:rPr lang="en-US" sz="1400" b="0" smtClean="0">
                <a:solidFill>
                  <a:schemeClr val="dk1"/>
                </a:solidFill>
                <a:latin typeface="Arial Narrow" panose="020B0506020202030204" pitchFamily="34" charset="0"/>
                <a:cs typeface="Courier New" panose="02070309020205020404" pitchFamily="49" charset="0"/>
              </a:rPr>
              <a:t>Boot, click “Add C28x boot…” </a:t>
            </a:r>
            <a:br>
              <a:rPr lang="en-US" sz="1400" b="0" smtClean="0">
                <a:solidFill>
                  <a:schemeClr val="dk1"/>
                </a:solidFill>
                <a:latin typeface="Arial Narrow" panose="020B0506020202030204" pitchFamily="34" charset="0"/>
                <a:cs typeface="Courier New" panose="02070309020205020404" pitchFamily="49" charset="0"/>
              </a:rPr>
            </a:br>
            <a:r>
              <a:rPr lang="en-US" sz="1400" b="0" smtClean="0">
                <a:solidFill>
                  <a:schemeClr val="dk1"/>
                </a:solidFill>
                <a:latin typeface="Arial Narrow" panose="020B0506020202030204" pitchFamily="34" charset="0"/>
                <a:cs typeface="Courier New" panose="02070309020205020404" pitchFamily="49" charset="0"/>
              </a:rPr>
              <a:t>checkbox, set DIV setting = 18 to provide 90MHz clock. Save </a:t>
            </a:r>
            <a:r>
              <a:rPr lang="en-US" sz="1400" b="0" smtClean="0">
                <a:solidFill>
                  <a:schemeClr val="dk1"/>
                </a:solidFill>
                <a:latin typeface="Courier New" panose="02070309020205020404" pitchFamily="49" charset="0"/>
                <a:cs typeface="Courier New" panose="02070309020205020404" pitchFamily="49" charset="0"/>
              </a:rPr>
              <a:t>app.cfg</a:t>
            </a:r>
            <a:r>
              <a:rPr lang="en-US" sz="1400" b="0" smtClean="0">
                <a:solidFill>
                  <a:schemeClr val="dk1"/>
                </a:solidFill>
                <a:latin typeface="Arial Narrow" panose="020B0506020202030204" pitchFamily="34" charset="0"/>
                <a:cs typeface="Courier New" panose="02070309020205020404" pitchFamily="49" charset="0"/>
              </a:rPr>
              <a:t>.</a:t>
            </a:r>
            <a:endParaRPr lang="en-US" sz="1400" b="0" dirty="0" smtClean="0">
              <a:solidFill>
                <a:schemeClr val="dk1"/>
              </a:solidFill>
              <a:effectLst/>
              <a:latin typeface="Courier New" panose="02070309020205020404" pitchFamily="49" charset="0"/>
              <a:cs typeface="Courier New" panose="02070309020205020404" pitchFamily="49" charset="0"/>
            </a:endParaRPr>
          </a:p>
        </p:txBody>
      </p:sp>
      <p:sp>
        <p:nvSpPr>
          <p:cNvPr id="4" name="TextBox 3"/>
          <p:cNvSpPr txBox="1"/>
          <p:nvPr/>
        </p:nvSpPr>
        <p:spPr>
          <a:xfrm>
            <a:off x="101499" y="622866"/>
            <a:ext cx="7176965" cy="609398"/>
          </a:xfrm>
          <a:prstGeom prst="rect">
            <a:avLst/>
          </a:prstGeom>
          <a:noFill/>
        </p:spPr>
        <p:txBody>
          <a:bodyPr wrap="none" rtlCol="0" anchor="ctr" anchorCtr="0">
            <a:spAutoFit/>
          </a:bodyPr>
          <a:lstStyle/>
          <a:p>
            <a:pPr marL="225425" indent="-225425">
              <a:buClr>
                <a:schemeClr val="tx2"/>
              </a:buClr>
              <a:buSzPct val="75000"/>
              <a:buFont typeface="Wingdings"/>
              <a:buChar char=""/>
            </a:pPr>
            <a:r>
              <a:rPr lang="en-US" sz="1600" smtClean="0">
                <a:solidFill>
                  <a:schemeClr val="accent4">
                    <a:lumMod val="75000"/>
                  </a:schemeClr>
                </a:solidFill>
                <a:effectLst/>
              </a:rPr>
              <a:t>Shown below is a summary of the steps to create a new C28x project</a:t>
            </a:r>
          </a:p>
          <a:p>
            <a:pPr marL="225425" indent="-225425">
              <a:buClr>
                <a:schemeClr val="tx2"/>
              </a:buClr>
              <a:buSzPct val="75000"/>
              <a:buFont typeface="Wingdings"/>
              <a:buChar char=""/>
            </a:pPr>
            <a:r>
              <a:rPr lang="en-US" sz="1600" smtClean="0">
                <a:solidFill>
                  <a:schemeClr val="accent4">
                    <a:lumMod val="75000"/>
                  </a:schemeClr>
                </a:solidFill>
                <a:effectLst/>
              </a:rPr>
              <a:t>Refer to CCS/BIOS chapters/labs for specific screen shots and steps:</a:t>
            </a:r>
            <a:endParaRPr lang="en-US" sz="1600" dirty="0" smtClean="0">
              <a:solidFill>
                <a:schemeClr val="accent4">
                  <a:lumMod val="75000"/>
                </a:schemeClr>
              </a:solidFill>
              <a:effectLst/>
            </a:endParaRPr>
          </a:p>
        </p:txBody>
      </p:sp>
    </p:spTree>
    <p:custDataLst>
      <p:tags r:id="rId1"/>
    </p:custDataLst>
    <p:extLst>
      <p:ext uri="{BB962C8B-B14F-4D97-AF65-F5344CB8AC3E}">
        <p14:creationId xmlns:p14="http://schemas.microsoft.com/office/powerpoint/2010/main" val="1912521858"/>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a:bodyPr>
          <a:lstStyle/>
          <a:p>
            <a:r>
              <a:rPr lang="en-US" smtClean="0"/>
              <a:t>New Project Creation – C6000 </a:t>
            </a:r>
          </a:p>
        </p:txBody>
      </p:sp>
      <p:sp>
        <p:nvSpPr>
          <p:cNvPr id="36867" name="Rectangle 6"/>
          <p:cNvSpPr>
            <a:spLocks noChangeArrowheads="1"/>
          </p:cNvSpPr>
          <p:nvPr/>
        </p:nvSpPr>
        <p:spPr bwMode="auto">
          <a:xfrm>
            <a:off x="561975" y="6216650"/>
            <a:ext cx="184150" cy="625475"/>
          </a:xfrm>
          <a:prstGeom prst="rect">
            <a:avLst/>
          </a:prstGeom>
          <a:noFill/>
          <a:ln w="12700">
            <a:noFill/>
            <a:miter lim="800000"/>
            <a:headEnd type="none" w="sm" len="sm"/>
            <a:tailEnd type="none" w="sm" len="sm"/>
          </a:ln>
        </p:spPr>
        <p:txBody>
          <a:bodyPr wrap="none" anchor="ctr">
            <a:spAutoFit/>
          </a:bodyPr>
          <a:lstStyle/>
          <a:p>
            <a:pPr>
              <a:lnSpc>
                <a:spcPct val="100000"/>
              </a:lnSpc>
              <a:spcBef>
                <a:spcPct val="0"/>
              </a:spcBef>
            </a:pPr>
            <a:r>
              <a:rPr lang="en-US" sz="1100" b="0">
                <a:latin typeface="Times New Roman" pitchFamily="18" charset="0"/>
                <a:cs typeface="Times New Roman" pitchFamily="18" charset="0"/>
              </a:rPr>
              <a:t/>
            </a:r>
            <a:br>
              <a:rPr lang="en-US" sz="1100" b="0">
                <a:latin typeface="Times New Roman" pitchFamily="18" charset="0"/>
                <a:cs typeface="Times New Roman" pitchFamily="18" charset="0"/>
              </a:rPr>
            </a:br>
            <a:endParaRPr lang="en-US" b="0">
              <a:latin typeface="Times New Roman" pitchFamily="18" charset="0"/>
            </a:endParaRPr>
          </a:p>
        </p:txBody>
      </p:sp>
      <p:pic>
        <p:nvPicPr>
          <p:cNvPr id="5" name="Picture 4"/>
          <p:cNvPicPr/>
          <p:nvPr/>
        </p:nvPicPr>
        <p:blipFill>
          <a:blip r:embed="rId3">
            <a:extLst>
              <a:ext uri="{28A0092B-C50C-407E-A947-70E740481C1C}">
                <a14:useLocalDpi xmlns:a14="http://schemas.microsoft.com/office/drawing/2010/main" val="0"/>
              </a:ext>
            </a:extLst>
          </a:blip>
          <a:stretch>
            <a:fillRect/>
          </a:stretch>
        </p:blipFill>
        <p:spPr>
          <a:xfrm>
            <a:off x="7355852" y="542925"/>
            <a:ext cx="1540497" cy="1171575"/>
          </a:xfrm>
          <a:prstGeom prst="rect">
            <a:avLst/>
          </a:prstGeom>
        </p:spPr>
      </p:pic>
      <p:sp>
        <p:nvSpPr>
          <p:cNvPr id="6" name="TextBox 5"/>
          <p:cNvSpPr txBox="1"/>
          <p:nvPr/>
        </p:nvSpPr>
        <p:spPr>
          <a:xfrm>
            <a:off x="101499" y="718116"/>
            <a:ext cx="7249100" cy="609398"/>
          </a:xfrm>
          <a:prstGeom prst="rect">
            <a:avLst/>
          </a:prstGeom>
          <a:noFill/>
        </p:spPr>
        <p:txBody>
          <a:bodyPr wrap="none" rtlCol="0" anchor="ctr" anchorCtr="0">
            <a:spAutoFit/>
          </a:bodyPr>
          <a:lstStyle/>
          <a:p>
            <a:pPr marL="225425" indent="-225425">
              <a:buClr>
                <a:schemeClr val="tx2"/>
              </a:buClr>
              <a:buSzPct val="75000"/>
              <a:buFont typeface="Wingdings"/>
              <a:buChar char=""/>
            </a:pPr>
            <a:r>
              <a:rPr lang="en-US" sz="1600" smtClean="0">
                <a:solidFill>
                  <a:schemeClr val="accent4">
                    <a:lumMod val="75000"/>
                  </a:schemeClr>
                </a:solidFill>
                <a:effectLst/>
              </a:rPr>
              <a:t>Shown below is a summary of the steps to create a new C6000 project</a:t>
            </a:r>
          </a:p>
          <a:p>
            <a:pPr marL="225425" indent="-225425">
              <a:buClr>
                <a:schemeClr val="tx2"/>
              </a:buClr>
              <a:buSzPct val="75000"/>
              <a:buFont typeface="Wingdings"/>
              <a:buChar char=""/>
            </a:pPr>
            <a:r>
              <a:rPr lang="en-US" sz="1600" smtClean="0">
                <a:solidFill>
                  <a:schemeClr val="accent4">
                    <a:lumMod val="75000"/>
                  </a:schemeClr>
                </a:solidFill>
                <a:effectLst/>
              </a:rPr>
              <a:t>Refer to CCS/BIOS chapters/labs for specific screen shots and steps:</a:t>
            </a:r>
            <a:endParaRPr lang="en-US" sz="1600" dirty="0" smtClean="0">
              <a:solidFill>
                <a:schemeClr val="accent4">
                  <a:lumMod val="75000"/>
                </a:schemeClr>
              </a:solidFill>
              <a:effectLst/>
            </a:endParaRPr>
          </a:p>
        </p:txBody>
      </p:sp>
      <p:sp>
        <p:nvSpPr>
          <p:cNvPr id="8" name="TextBox 7"/>
          <p:cNvSpPr txBox="1"/>
          <p:nvPr/>
        </p:nvSpPr>
        <p:spPr>
          <a:xfrm>
            <a:off x="76200" y="1344699"/>
            <a:ext cx="9220200" cy="4809009"/>
          </a:xfrm>
          <a:prstGeom prst="rect">
            <a:avLst/>
          </a:prstGeom>
          <a:noFill/>
        </p:spPr>
        <p:txBody>
          <a:bodyPr wrap="square" rtlCol="0" anchor="ctr" anchorCtr="0">
            <a:spAutoFit/>
          </a:bodyPr>
          <a:lstStyle/>
          <a:p>
            <a:pPr marL="228600" indent="-228600">
              <a:lnSpc>
                <a:spcPct val="100000"/>
              </a:lnSpc>
              <a:spcBef>
                <a:spcPts val="900"/>
              </a:spcBef>
              <a:buAutoNum type="arabicPeriod"/>
            </a:pPr>
            <a:r>
              <a:rPr lang="en-US" sz="1400" b="0" i="1" u="sng" smtClean="0">
                <a:solidFill>
                  <a:schemeClr val="dk1"/>
                </a:solidFill>
                <a:effectLst/>
                <a:latin typeface="Arial Narrow" panose="020B0506020202030204" pitchFamily="34" charset="0"/>
              </a:rPr>
              <a:t>File </a:t>
            </a:r>
            <a:r>
              <a:rPr lang="en-US" sz="1400" b="0" i="1" u="sng" smtClean="0">
                <a:solidFill>
                  <a:schemeClr val="dk1"/>
                </a:solidFill>
                <a:effectLst/>
                <a:latin typeface="Arial Narrow" panose="020B0506020202030204" pitchFamily="34" charset="0"/>
                <a:sym typeface="Wingdings"/>
              </a:rPr>
              <a:t> </a:t>
            </a:r>
            <a:r>
              <a:rPr lang="en-US" sz="1400" b="0" i="1" u="sng" smtClean="0">
                <a:solidFill>
                  <a:schemeClr val="dk1"/>
                </a:solidFill>
                <a:effectLst/>
                <a:latin typeface="Arial Narrow" panose="020B0506020202030204" pitchFamily="34" charset="0"/>
              </a:rPr>
              <a:t>New </a:t>
            </a:r>
            <a:r>
              <a:rPr lang="en-US" sz="1400" b="0" i="1" u="sng">
                <a:solidFill>
                  <a:schemeClr val="dk1"/>
                </a:solidFill>
                <a:latin typeface="Arial Narrow" panose="020B0506020202030204" pitchFamily="34" charset="0"/>
                <a:sym typeface="Wingdings"/>
              </a:rPr>
              <a:t> </a:t>
            </a:r>
            <a:r>
              <a:rPr lang="en-US" sz="1400" b="0" i="1" u="sng" smtClean="0">
                <a:solidFill>
                  <a:schemeClr val="dk1"/>
                </a:solidFill>
                <a:effectLst/>
                <a:latin typeface="Arial Narrow" panose="020B0506020202030204" pitchFamily="34" charset="0"/>
              </a:rPr>
              <a:t>CCS Project</a:t>
            </a:r>
            <a:r>
              <a:rPr lang="en-US" sz="1400" b="0" smtClean="0">
                <a:solidFill>
                  <a:schemeClr val="dk1"/>
                </a:solidFill>
                <a:effectLst/>
                <a:latin typeface="Arial Narrow" panose="020B0506020202030204" pitchFamily="34" charset="0"/>
              </a:rPr>
              <a:t>. Then fill in all target-specific items. Use “variant” to filter device list (LCDKC6748)</a:t>
            </a:r>
          </a:p>
          <a:p>
            <a:pPr marL="228600" indent="-228600">
              <a:lnSpc>
                <a:spcPct val="100000"/>
              </a:lnSpc>
              <a:spcBef>
                <a:spcPts val="900"/>
              </a:spcBef>
              <a:buFontTx/>
              <a:buAutoNum type="arabicPeriod"/>
            </a:pPr>
            <a:r>
              <a:rPr lang="en-US" sz="1400" b="0" i="1" u="sng" smtClean="0">
                <a:solidFill>
                  <a:schemeClr val="dk1"/>
                </a:solidFill>
                <a:latin typeface="Arial Narrow" panose="020B0506020202030204" pitchFamily="34" charset="0"/>
              </a:rPr>
              <a:t>Project path</a:t>
            </a:r>
            <a:r>
              <a:rPr lang="en-US" sz="1400" b="0" smtClean="0">
                <a:solidFill>
                  <a:schemeClr val="dk1"/>
                </a:solidFill>
                <a:latin typeface="Arial Narrow" panose="020B0506020202030204" pitchFamily="34" charset="0"/>
              </a:rPr>
              <a:t>: for </a:t>
            </a:r>
            <a:r>
              <a:rPr lang="en-US" sz="1400" b="0">
                <a:solidFill>
                  <a:schemeClr val="dk1"/>
                </a:solidFill>
                <a:latin typeface="Arial Narrow" panose="020B0506020202030204" pitchFamily="34" charset="0"/>
              </a:rPr>
              <a:t>TI-RTOS workshop labs, choose </a:t>
            </a:r>
            <a:r>
              <a:rPr lang="en-US" sz="1400" b="0" smtClean="0">
                <a:solidFill>
                  <a:schemeClr val="dk1"/>
                </a:solidFill>
                <a:latin typeface="Courier New" panose="02070309020205020404" pitchFamily="49" charset="0"/>
                <a:cs typeface="Courier New" panose="02070309020205020404" pitchFamily="49" charset="0"/>
              </a:rPr>
              <a:t>\</a:t>
            </a:r>
            <a:r>
              <a:rPr lang="en-US" sz="1400" b="0">
                <a:solidFill>
                  <a:schemeClr val="dk1"/>
                </a:solidFill>
                <a:latin typeface="Courier New" panose="02070309020205020404" pitchFamily="49" charset="0"/>
                <a:cs typeface="Courier New" panose="02070309020205020404" pitchFamily="49" charset="0"/>
              </a:rPr>
              <a:t>labx\Project</a:t>
            </a:r>
            <a:r>
              <a:rPr lang="en-US" sz="1400" b="0">
                <a:solidFill>
                  <a:schemeClr val="dk1"/>
                </a:solidFill>
                <a:latin typeface="Arial Narrow" panose="020B0506020202030204" pitchFamily="34" charset="0"/>
              </a:rPr>
              <a:t> </a:t>
            </a:r>
            <a:r>
              <a:rPr lang="en-US" sz="1400" b="0" smtClean="0">
                <a:solidFill>
                  <a:schemeClr val="dk1"/>
                </a:solidFill>
                <a:latin typeface="Arial Narrow" panose="020B0506020202030204" pitchFamily="34" charset="0"/>
              </a:rPr>
              <a:t>for </a:t>
            </a:r>
            <a:r>
              <a:rPr lang="en-US" sz="1400" b="0">
                <a:solidFill>
                  <a:schemeClr val="dk1"/>
                </a:solidFill>
                <a:latin typeface="Arial Narrow" panose="020B0506020202030204" pitchFamily="34" charset="0"/>
              </a:rPr>
              <a:t>your project location (do not use </a:t>
            </a:r>
            <a:r>
              <a:rPr lang="en-US" sz="1400" b="0" smtClean="0">
                <a:solidFill>
                  <a:schemeClr val="dk1"/>
                </a:solidFill>
                <a:latin typeface="Arial Narrow" panose="020B0506020202030204" pitchFamily="34" charset="0"/>
              </a:rPr>
              <a:t>default </a:t>
            </a:r>
            <a:r>
              <a:rPr lang="en-US" sz="1400" b="0">
                <a:solidFill>
                  <a:schemeClr val="dk1"/>
                </a:solidFill>
                <a:latin typeface="Arial Narrow" panose="020B0506020202030204" pitchFamily="34" charset="0"/>
              </a:rPr>
              <a:t>workspace path)</a:t>
            </a:r>
          </a:p>
          <a:p>
            <a:pPr marL="228600" indent="-228600">
              <a:lnSpc>
                <a:spcPct val="100000"/>
              </a:lnSpc>
              <a:spcBef>
                <a:spcPts val="900"/>
              </a:spcBef>
              <a:buAutoNum type="arabicPeriod"/>
            </a:pPr>
            <a:r>
              <a:rPr lang="en-US" sz="1400" b="0" i="1" u="sng" smtClean="0">
                <a:solidFill>
                  <a:schemeClr val="dk1"/>
                </a:solidFill>
                <a:latin typeface="Arial Narrow" panose="020B0506020202030204" pitchFamily="34" charset="0"/>
              </a:rPr>
              <a:t>Device Variant</a:t>
            </a:r>
            <a:r>
              <a:rPr lang="en-US" sz="1400" b="0" smtClean="0">
                <a:solidFill>
                  <a:schemeClr val="dk1"/>
                </a:solidFill>
                <a:latin typeface="Arial Narrow" panose="020B0506020202030204" pitchFamily="34" charset="0"/>
              </a:rPr>
              <a:t> = LCDKC6748,   </a:t>
            </a:r>
            <a:r>
              <a:rPr lang="en-US" sz="1400" b="0" i="1" smtClean="0">
                <a:solidFill>
                  <a:schemeClr val="dk1"/>
                </a:solidFill>
                <a:latin typeface="Arial Narrow" panose="020B0506020202030204" pitchFamily="34" charset="0"/>
              </a:rPr>
              <a:t>Connection</a:t>
            </a:r>
            <a:r>
              <a:rPr lang="en-US" sz="1400" b="0" smtClean="0">
                <a:solidFill>
                  <a:schemeClr val="dk1"/>
                </a:solidFill>
                <a:latin typeface="Arial Narrow" panose="020B0506020202030204" pitchFamily="34" charset="0"/>
              </a:rPr>
              <a:t> = BLANK (will be chosen via User Defined Target Config File using EMU)</a:t>
            </a:r>
          </a:p>
          <a:p>
            <a:pPr marL="228600" indent="-228600">
              <a:lnSpc>
                <a:spcPct val="100000"/>
              </a:lnSpc>
              <a:spcBef>
                <a:spcPts val="900"/>
              </a:spcBef>
              <a:buAutoNum type="arabicPeriod"/>
            </a:pPr>
            <a:r>
              <a:rPr lang="en-US" sz="1400" b="0" i="1" u="sng" smtClean="0">
                <a:solidFill>
                  <a:schemeClr val="dk1"/>
                </a:solidFill>
                <a:effectLst/>
                <a:latin typeface="Arial Narrow" panose="020B0506020202030204" pitchFamily="34" charset="0"/>
              </a:rPr>
              <a:t>Use ELF Output Format</a:t>
            </a:r>
            <a:r>
              <a:rPr lang="en-US" sz="1400" b="0" smtClean="0">
                <a:solidFill>
                  <a:schemeClr val="dk1"/>
                </a:solidFill>
                <a:effectLst/>
                <a:latin typeface="Arial Narrow" panose="020B0506020202030204" pitchFamily="34" charset="0"/>
              </a:rPr>
              <a:t>:  TI-RTOS for C6000 only supports ELF. Click Advanced Settings and change output format to ELF.</a:t>
            </a:r>
          </a:p>
          <a:p>
            <a:pPr marL="228600" indent="-228600">
              <a:lnSpc>
                <a:spcPct val="100000"/>
              </a:lnSpc>
              <a:spcBef>
                <a:spcPts val="900"/>
              </a:spcBef>
              <a:buAutoNum type="arabicPeriod"/>
            </a:pPr>
            <a:r>
              <a:rPr lang="en-US" sz="1400" b="0" i="1" u="sng" smtClean="0">
                <a:solidFill>
                  <a:schemeClr val="dk1"/>
                </a:solidFill>
                <a:latin typeface="Arial Narrow" panose="020B0506020202030204" pitchFamily="34" charset="0"/>
              </a:rPr>
              <a:t>Project Template</a:t>
            </a:r>
            <a:r>
              <a:rPr lang="en-US" sz="1400" b="0" smtClean="0">
                <a:solidFill>
                  <a:schemeClr val="dk1"/>
                </a:solidFill>
                <a:latin typeface="Arial Narrow" panose="020B0506020202030204" pitchFamily="34" charset="0"/>
              </a:rPr>
              <a:t>:  For BIOS app, choose TI-RTOS </a:t>
            </a:r>
            <a:r>
              <a:rPr lang="en-US" sz="1400" b="0" i="1">
                <a:solidFill>
                  <a:schemeClr val="dk1"/>
                </a:solidFill>
                <a:latin typeface="Arial Narrow" panose="020B0506020202030204" pitchFamily="34" charset="0"/>
                <a:sym typeface="Wingdings"/>
              </a:rPr>
              <a:t> </a:t>
            </a:r>
            <a:r>
              <a:rPr lang="en-US" sz="1400" b="0">
                <a:solidFill>
                  <a:schemeClr val="dk1"/>
                </a:solidFill>
                <a:latin typeface="Arial Narrow" panose="020B0506020202030204" pitchFamily="34" charset="0"/>
              </a:rPr>
              <a:t>Kernel </a:t>
            </a:r>
            <a:r>
              <a:rPr lang="en-US" sz="1400" b="0" i="1">
                <a:solidFill>
                  <a:schemeClr val="dk1"/>
                </a:solidFill>
                <a:latin typeface="Arial Narrow" panose="020B0506020202030204" pitchFamily="34" charset="0"/>
                <a:sym typeface="Wingdings"/>
              </a:rPr>
              <a:t> </a:t>
            </a:r>
            <a:r>
              <a:rPr lang="en-US" sz="1400" b="0">
                <a:solidFill>
                  <a:schemeClr val="dk1"/>
                </a:solidFill>
                <a:latin typeface="Arial Narrow" panose="020B0506020202030204" pitchFamily="34" charset="0"/>
              </a:rPr>
              <a:t>Target </a:t>
            </a:r>
            <a:r>
              <a:rPr lang="en-US" sz="1400" b="0" i="1">
                <a:solidFill>
                  <a:schemeClr val="dk1"/>
                </a:solidFill>
                <a:latin typeface="Arial Narrow" panose="020B0506020202030204" pitchFamily="34" charset="0"/>
                <a:sym typeface="Wingdings"/>
              </a:rPr>
              <a:t> </a:t>
            </a:r>
            <a:r>
              <a:rPr lang="en-US" sz="1400" b="0">
                <a:solidFill>
                  <a:schemeClr val="dk1"/>
                </a:solidFill>
                <a:latin typeface="Arial Narrow" panose="020B0506020202030204" pitchFamily="34" charset="0"/>
              </a:rPr>
              <a:t>Minimal . </a:t>
            </a:r>
            <a:r>
              <a:rPr lang="en-US" sz="1400" b="0" smtClean="0">
                <a:solidFill>
                  <a:schemeClr val="dk1"/>
                </a:solidFill>
                <a:latin typeface="Arial Narrow" panose="020B0506020202030204" pitchFamily="34" charset="0"/>
              </a:rPr>
              <a:t>For non-BIOS app, choose “Empty Project”</a:t>
            </a:r>
          </a:p>
          <a:p>
            <a:pPr marL="228600" indent="-228600">
              <a:lnSpc>
                <a:spcPct val="100000"/>
              </a:lnSpc>
              <a:spcBef>
                <a:spcPts val="900"/>
              </a:spcBef>
              <a:buAutoNum type="arabicPeriod"/>
            </a:pPr>
            <a:r>
              <a:rPr lang="en-US" sz="1400" b="0" i="1" u="sng" smtClean="0">
                <a:solidFill>
                  <a:schemeClr val="dk1"/>
                </a:solidFill>
                <a:latin typeface="Arial Narrow" panose="020B0506020202030204" pitchFamily="34" charset="0"/>
              </a:rPr>
              <a:t>RTSC Settings</a:t>
            </a:r>
            <a:r>
              <a:rPr lang="en-US" sz="1400" b="0" smtClean="0">
                <a:solidFill>
                  <a:schemeClr val="dk1"/>
                </a:solidFill>
                <a:effectLst/>
                <a:latin typeface="Arial Narrow" panose="020B0506020202030204" pitchFamily="34" charset="0"/>
              </a:rPr>
              <a:t>: If BIOS app, click “Next” to configure tools – choose latest tools –XDC, TI-RTOS, UIA. Choose the proper platform</a:t>
            </a:r>
            <a:br>
              <a:rPr lang="en-US" sz="1400" b="0" smtClean="0">
                <a:solidFill>
                  <a:schemeClr val="dk1"/>
                </a:solidFill>
                <a:effectLst/>
                <a:latin typeface="Arial Narrow" panose="020B0506020202030204" pitchFamily="34" charset="0"/>
              </a:rPr>
            </a:br>
            <a:r>
              <a:rPr lang="en-US" sz="1400" b="0" smtClean="0">
                <a:solidFill>
                  <a:schemeClr val="dk1"/>
                </a:solidFill>
                <a:effectLst/>
                <a:latin typeface="Arial Narrow" panose="020B0506020202030204" pitchFamily="34" charset="0"/>
              </a:rPr>
              <a:t>file (</a:t>
            </a:r>
            <a:r>
              <a:rPr lang="en-US" sz="1200" b="0" smtClean="0">
                <a:solidFill>
                  <a:schemeClr val="dk1"/>
                </a:solidFill>
                <a:effectLst/>
                <a:latin typeface="Courier New" panose="02070309020205020404" pitchFamily="49" charset="0"/>
                <a:cs typeface="Courier New" panose="02070309020205020404" pitchFamily="49" charset="0"/>
              </a:rPr>
              <a:t>ti.platforms.evm6748</a:t>
            </a:r>
            <a:r>
              <a:rPr lang="en-US" sz="1400" b="0" smtClean="0">
                <a:solidFill>
                  <a:schemeClr val="dk1"/>
                </a:solidFill>
                <a:effectLst/>
                <a:latin typeface="Arial Narrow" panose="020B0506020202030204" pitchFamily="34" charset="0"/>
              </a:rPr>
              <a:t>) located at </a:t>
            </a:r>
            <a:r>
              <a:rPr lang="en-US" sz="1200" b="0" smtClean="0">
                <a:solidFill>
                  <a:schemeClr val="dk1"/>
                </a:solidFill>
                <a:effectLst/>
                <a:latin typeface="Courier New" panose="02070309020205020404" pitchFamily="49" charset="0"/>
                <a:cs typeface="Courier New" panose="02070309020205020404" pitchFamily="49" charset="0"/>
              </a:rPr>
              <a:t>\xdctools_rev#\packages\ti\platforms</a:t>
            </a:r>
            <a:r>
              <a:rPr lang="en-US" sz="1400" b="0" smtClean="0">
                <a:solidFill>
                  <a:schemeClr val="dk1"/>
                </a:solidFill>
                <a:effectLst/>
                <a:latin typeface="Arial Narrow" panose="020B0506020202030204" pitchFamily="34" charset="0"/>
              </a:rPr>
              <a:t>.   If non-BIOS app, just click Finish.</a:t>
            </a:r>
          </a:p>
          <a:p>
            <a:pPr marL="228600" indent="-228600">
              <a:lnSpc>
                <a:spcPct val="100000"/>
              </a:lnSpc>
              <a:spcBef>
                <a:spcPts val="900"/>
              </a:spcBef>
              <a:buAutoNum type="arabicPeriod"/>
            </a:pPr>
            <a:r>
              <a:rPr lang="en-US" sz="1400" b="0" i="1" u="sng" smtClean="0">
                <a:solidFill>
                  <a:schemeClr val="dk1"/>
                </a:solidFill>
                <a:latin typeface="Arial Narrow" panose="020B0506020202030204" pitchFamily="34" charset="0"/>
              </a:rPr>
              <a:t>File Mgmt</a:t>
            </a:r>
            <a:r>
              <a:rPr lang="en-US" sz="1400" b="0" smtClean="0">
                <a:solidFill>
                  <a:schemeClr val="dk1"/>
                </a:solidFill>
                <a:latin typeface="Arial Narrow" panose="020B0506020202030204" pitchFamily="34" charset="0"/>
              </a:rPr>
              <a:t>:  If necessary, delete </a:t>
            </a:r>
            <a:r>
              <a:rPr lang="en-US" sz="1400" b="0" smtClean="0">
                <a:solidFill>
                  <a:schemeClr val="dk1"/>
                </a:solidFill>
                <a:latin typeface="Courier New" panose="02070309020205020404" pitchFamily="49" charset="0"/>
                <a:cs typeface="Courier New" panose="02070309020205020404" pitchFamily="49" charset="0"/>
              </a:rPr>
              <a:t>main.c</a:t>
            </a:r>
            <a:r>
              <a:rPr lang="en-US" sz="1400" b="0" smtClean="0">
                <a:solidFill>
                  <a:schemeClr val="dk1"/>
                </a:solidFill>
                <a:latin typeface="Arial Narrow" panose="020B0506020202030204" pitchFamily="34" charset="0"/>
              </a:rPr>
              <a:t> provided by New Project Wizard and add (copy) source files to project as directed in lab.</a:t>
            </a:r>
          </a:p>
          <a:p>
            <a:pPr marL="228600" indent="-228600">
              <a:lnSpc>
                <a:spcPct val="100000"/>
              </a:lnSpc>
              <a:spcBef>
                <a:spcPts val="900"/>
              </a:spcBef>
              <a:buAutoNum type="arabicPeriod"/>
            </a:pPr>
            <a:r>
              <a:rPr lang="en-US" sz="1400" b="0" i="1" u="sng" smtClean="0">
                <a:solidFill>
                  <a:schemeClr val="dk1"/>
                </a:solidFill>
                <a:latin typeface="Arial Narrow" panose="020B0506020202030204" pitchFamily="34" charset="0"/>
              </a:rPr>
              <a:t>Linker Command File</a:t>
            </a:r>
            <a:r>
              <a:rPr lang="en-US" sz="1400" b="0" smtClean="0">
                <a:solidFill>
                  <a:schemeClr val="dk1"/>
                </a:solidFill>
                <a:latin typeface="Arial Narrow" panose="020B0506020202030204" pitchFamily="34" charset="0"/>
              </a:rPr>
              <a:t>:  No add’l linker files needed. </a:t>
            </a:r>
            <a:endParaRPr lang="en-US" sz="1400" b="0" smtClean="0">
              <a:solidFill>
                <a:schemeClr val="dk1"/>
              </a:solidFill>
              <a:latin typeface="Courier New" panose="02070309020205020404" pitchFamily="49" charset="0"/>
              <a:cs typeface="Courier New" panose="02070309020205020404" pitchFamily="49" charset="0"/>
            </a:endParaRPr>
          </a:p>
          <a:p>
            <a:pPr marL="228600" indent="-228600">
              <a:lnSpc>
                <a:spcPct val="100000"/>
              </a:lnSpc>
              <a:spcBef>
                <a:spcPts val="900"/>
              </a:spcBef>
              <a:buAutoNum type="arabicPeriod"/>
            </a:pPr>
            <a:r>
              <a:rPr lang="en-US" sz="1400" b="0" i="1" u="sng" smtClean="0">
                <a:solidFill>
                  <a:schemeClr val="dk1"/>
                </a:solidFill>
                <a:effectLst/>
                <a:latin typeface="Arial Narrow" panose="020B0506020202030204" pitchFamily="34" charset="0"/>
                <a:cs typeface="Courier New" panose="02070309020205020404" pitchFamily="49" charset="0"/>
              </a:rPr>
              <a:t>Edit vars.ini</a:t>
            </a:r>
            <a:r>
              <a:rPr lang="en-US" sz="1400" b="0" smtClean="0">
                <a:solidFill>
                  <a:schemeClr val="dk1"/>
                </a:solidFill>
                <a:effectLst/>
                <a:latin typeface="Arial Narrow" panose="020B0506020202030204" pitchFamily="34" charset="0"/>
                <a:cs typeface="Courier New" panose="02070309020205020404" pitchFamily="49" charset="0"/>
              </a:rPr>
              <a:t>:  Modify </a:t>
            </a:r>
            <a:r>
              <a:rPr lang="en-US" sz="1400" b="0" smtClean="0">
                <a:solidFill>
                  <a:schemeClr val="dk1"/>
                </a:solidFill>
                <a:effectLst/>
                <a:latin typeface="Courier New" panose="02070309020205020404" pitchFamily="49" charset="0"/>
                <a:cs typeface="Courier New" panose="02070309020205020404" pitchFamily="49" charset="0"/>
              </a:rPr>
              <a:t>vars.ini</a:t>
            </a:r>
            <a:r>
              <a:rPr lang="en-US" sz="1400" b="0" smtClean="0">
                <a:solidFill>
                  <a:schemeClr val="dk1"/>
                </a:solidFill>
                <a:effectLst/>
                <a:latin typeface="Arial Narrow" panose="020B0506020202030204" pitchFamily="34" charset="0"/>
                <a:cs typeface="Courier New" panose="02070309020205020404" pitchFamily="49" charset="0"/>
              </a:rPr>
              <a:t> to match your exact PDK install path for PDK_INSTALL = your install path</a:t>
            </a:r>
          </a:p>
          <a:p>
            <a:pPr marL="228600" indent="-228600">
              <a:lnSpc>
                <a:spcPct val="100000"/>
              </a:lnSpc>
              <a:spcBef>
                <a:spcPts val="900"/>
              </a:spcBef>
              <a:buAutoNum type="arabicPeriod"/>
            </a:pPr>
            <a:r>
              <a:rPr lang="en-US" sz="1400" b="0" i="1" u="sng" smtClean="0">
                <a:solidFill>
                  <a:schemeClr val="dk1"/>
                </a:solidFill>
                <a:latin typeface="Arial Narrow" panose="020B0506020202030204" pitchFamily="34" charset="0"/>
                <a:cs typeface="Courier New" panose="02070309020205020404" pitchFamily="49" charset="0"/>
              </a:rPr>
              <a:t>Import vars.ini</a:t>
            </a:r>
            <a:r>
              <a:rPr lang="en-US" sz="1400" b="0" smtClean="0">
                <a:solidFill>
                  <a:schemeClr val="dk1"/>
                </a:solidFill>
                <a:latin typeface="Arial Narrow" panose="020B0506020202030204" pitchFamily="34" charset="0"/>
                <a:cs typeface="Courier New" panose="02070309020205020404" pitchFamily="49" charset="0"/>
              </a:rPr>
              <a:t>:  if not already done </a:t>
            </a:r>
            <a:r>
              <a:rPr lang="en-US" sz="1400" b="0" u="sng" smtClean="0">
                <a:solidFill>
                  <a:schemeClr val="dk1"/>
                </a:solidFill>
                <a:latin typeface="Arial Narrow" panose="020B0506020202030204" pitchFamily="34" charset="0"/>
                <a:cs typeface="Courier New" panose="02070309020205020404" pitchFamily="49" charset="0"/>
              </a:rPr>
              <a:t>once</a:t>
            </a:r>
            <a:r>
              <a:rPr lang="en-US" sz="1400" b="0" smtClean="0">
                <a:solidFill>
                  <a:schemeClr val="dk1"/>
                </a:solidFill>
                <a:latin typeface="Arial Narrow" panose="020B0506020202030204" pitchFamily="34" charset="0"/>
                <a:cs typeface="Courier New" panose="02070309020205020404" pitchFamily="49" charset="0"/>
              </a:rPr>
              <a:t> for workspace, import </a:t>
            </a:r>
            <a:r>
              <a:rPr lang="en-US" sz="1400" b="0" smtClean="0">
                <a:solidFill>
                  <a:schemeClr val="dk1"/>
                </a:solidFill>
                <a:latin typeface="Courier New" panose="02070309020205020404" pitchFamily="49" charset="0"/>
                <a:cs typeface="Courier New" panose="02070309020205020404" pitchFamily="49" charset="0"/>
              </a:rPr>
              <a:t>vars.ini</a:t>
            </a:r>
            <a:r>
              <a:rPr lang="en-US" sz="1400" b="0" smtClean="0">
                <a:solidFill>
                  <a:schemeClr val="dk1"/>
                </a:solidFill>
                <a:latin typeface="Arial Narrow" panose="020B0506020202030204" pitchFamily="34" charset="0"/>
                <a:cs typeface="Courier New" panose="02070309020205020404" pitchFamily="49" charset="0"/>
              </a:rPr>
              <a:t> by choosing </a:t>
            </a:r>
            <a:r>
              <a:rPr lang="en-US" sz="1400" b="0" i="1" smtClean="0">
                <a:solidFill>
                  <a:schemeClr val="dk1"/>
                </a:solidFill>
                <a:latin typeface="Arial Narrow" panose="020B0506020202030204" pitchFamily="34" charset="0"/>
                <a:cs typeface="Courier New" panose="02070309020205020404" pitchFamily="49" charset="0"/>
              </a:rPr>
              <a:t>File </a:t>
            </a:r>
            <a:r>
              <a:rPr lang="en-US" sz="1400" b="0" i="1">
                <a:solidFill>
                  <a:schemeClr val="dk1"/>
                </a:solidFill>
                <a:latin typeface="Arial Narrow" panose="020B0506020202030204" pitchFamily="34" charset="0"/>
                <a:sym typeface="Wingdings"/>
              </a:rPr>
              <a:t></a:t>
            </a:r>
            <a:r>
              <a:rPr lang="en-US" sz="1400" b="0" i="1" smtClean="0">
                <a:solidFill>
                  <a:schemeClr val="dk1"/>
                </a:solidFill>
                <a:latin typeface="Arial Narrow" panose="020B0506020202030204" pitchFamily="34" charset="0"/>
                <a:cs typeface="Courier New" panose="02070309020205020404" pitchFamily="49" charset="0"/>
              </a:rPr>
              <a:t> Import </a:t>
            </a:r>
            <a:r>
              <a:rPr lang="en-US" sz="1400" b="0" i="1">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cs typeface="Courier New" panose="02070309020205020404" pitchFamily="49" charset="0"/>
              </a:rPr>
              <a:t>CCS </a:t>
            </a:r>
            <a:r>
              <a:rPr lang="en-US" sz="1400" b="0" i="1">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cs typeface="Courier New" panose="02070309020205020404" pitchFamily="49" charset="0"/>
              </a:rPr>
              <a:t>Build Variables,</a:t>
            </a:r>
            <a:r>
              <a:rPr lang="en-US" sz="1400" b="0" smtClean="0">
                <a:solidFill>
                  <a:schemeClr val="dk1"/>
                </a:solidFill>
                <a:latin typeface="Arial Narrow" panose="020B0506020202030204" pitchFamily="34" charset="0"/>
                <a:cs typeface="Courier New" panose="02070309020205020404" pitchFamily="49" charset="0"/>
              </a:rPr>
              <a:t/>
            </a:r>
            <a:br>
              <a:rPr lang="en-US" sz="1400" b="0" smtClean="0">
                <a:solidFill>
                  <a:schemeClr val="dk1"/>
                </a:solidFill>
                <a:latin typeface="Arial Narrow" panose="020B0506020202030204" pitchFamily="34" charset="0"/>
                <a:cs typeface="Courier New" panose="02070309020205020404" pitchFamily="49" charset="0"/>
              </a:rPr>
            </a:br>
            <a:r>
              <a:rPr lang="en-US" sz="1400" b="0" smtClean="0">
                <a:solidFill>
                  <a:schemeClr val="dk1"/>
                </a:solidFill>
                <a:latin typeface="Arial Narrow" panose="020B0506020202030204" pitchFamily="34" charset="0"/>
                <a:cs typeface="Courier New" panose="02070309020205020404" pitchFamily="49" charset="0"/>
              </a:rPr>
              <a:t>then click </a:t>
            </a:r>
            <a:r>
              <a:rPr lang="en-US" sz="1400" b="0" i="1" smtClean="0">
                <a:solidFill>
                  <a:schemeClr val="dk1"/>
                </a:solidFill>
                <a:latin typeface="Arial Narrow" panose="020B0506020202030204" pitchFamily="34" charset="0"/>
                <a:cs typeface="Courier New" panose="02070309020205020404" pitchFamily="49" charset="0"/>
              </a:rPr>
              <a:t>Next</a:t>
            </a:r>
            <a:r>
              <a:rPr lang="en-US" sz="1400" b="0" smtClean="0">
                <a:solidFill>
                  <a:schemeClr val="dk1"/>
                </a:solidFill>
                <a:latin typeface="Arial Narrow" panose="020B0506020202030204" pitchFamily="34" charset="0"/>
                <a:cs typeface="Courier New" panose="02070309020205020404" pitchFamily="49" charset="0"/>
              </a:rPr>
              <a:t>, browse to </a:t>
            </a:r>
            <a:r>
              <a:rPr lang="en-US" sz="1400" b="0" smtClean="0">
                <a:solidFill>
                  <a:schemeClr val="dk1"/>
                </a:solidFill>
                <a:latin typeface="Courier New" panose="02070309020205020404" pitchFamily="49" charset="0"/>
                <a:cs typeface="Courier New" panose="02070309020205020404" pitchFamily="49" charset="0"/>
              </a:rPr>
              <a:t>vars.ini</a:t>
            </a:r>
            <a:r>
              <a:rPr lang="en-US" sz="1400" b="0" smtClean="0">
                <a:solidFill>
                  <a:schemeClr val="dk1"/>
                </a:solidFill>
                <a:latin typeface="Arial Narrow" panose="020B0506020202030204" pitchFamily="34" charset="0"/>
                <a:cs typeface="Courier New" panose="02070309020205020404" pitchFamily="49" charset="0"/>
              </a:rPr>
              <a:t> location, check box for “</a:t>
            </a:r>
            <a:r>
              <a:rPr lang="en-US" sz="1400" b="0" i="1" smtClean="0">
                <a:solidFill>
                  <a:schemeClr val="dk1"/>
                </a:solidFill>
                <a:latin typeface="Arial Narrow" panose="020B0506020202030204" pitchFamily="34" charset="0"/>
                <a:cs typeface="Courier New" panose="02070309020205020404" pitchFamily="49" charset="0"/>
              </a:rPr>
              <a:t>Overwrite existing values</a:t>
            </a:r>
            <a:r>
              <a:rPr lang="en-US" sz="1400" b="0" smtClean="0">
                <a:solidFill>
                  <a:schemeClr val="dk1"/>
                </a:solidFill>
                <a:latin typeface="Arial Narrow" panose="020B0506020202030204" pitchFamily="34" charset="0"/>
                <a:cs typeface="Courier New" panose="02070309020205020404" pitchFamily="49" charset="0"/>
              </a:rPr>
              <a:t>”, click </a:t>
            </a:r>
            <a:r>
              <a:rPr lang="en-US" sz="1400" b="0" i="1" smtClean="0">
                <a:solidFill>
                  <a:schemeClr val="dk1"/>
                </a:solidFill>
                <a:latin typeface="Arial Narrow" panose="020B0506020202030204" pitchFamily="34" charset="0"/>
                <a:cs typeface="Courier New" panose="02070309020205020404" pitchFamily="49" charset="0"/>
              </a:rPr>
              <a:t>Finish</a:t>
            </a:r>
            <a:r>
              <a:rPr lang="en-US" sz="1400" b="0" smtClean="0">
                <a:solidFill>
                  <a:schemeClr val="dk1"/>
                </a:solidFill>
                <a:latin typeface="Arial Narrow" panose="020B0506020202030204" pitchFamily="34" charset="0"/>
                <a:cs typeface="Courier New" panose="02070309020205020404" pitchFamily="49" charset="0"/>
              </a:rPr>
              <a:t> to import var into workspace</a:t>
            </a:r>
          </a:p>
          <a:p>
            <a:pPr marL="228600" indent="-228600">
              <a:lnSpc>
                <a:spcPct val="100000"/>
              </a:lnSpc>
              <a:spcBef>
                <a:spcPts val="900"/>
              </a:spcBef>
              <a:buAutoNum type="arabicPeriod"/>
            </a:pPr>
            <a:r>
              <a:rPr lang="en-US" sz="1400" b="0" i="1" u="sng" smtClean="0">
                <a:solidFill>
                  <a:schemeClr val="dk1"/>
                </a:solidFill>
                <a:latin typeface="Arial Narrow" panose="020B0506020202030204" pitchFamily="34" charset="0"/>
                <a:cs typeface="Courier New" panose="02070309020205020404" pitchFamily="49" charset="0"/>
              </a:rPr>
              <a:t>Add Include Search Path</a:t>
            </a:r>
            <a:r>
              <a:rPr lang="en-US" sz="1400" b="0" smtClean="0">
                <a:solidFill>
                  <a:schemeClr val="dk1"/>
                </a:solidFill>
                <a:latin typeface="Arial Narrow" panose="020B0506020202030204" pitchFamily="34" charset="0"/>
                <a:cs typeface="Courier New" panose="02070309020205020404" pitchFamily="49" charset="0"/>
              </a:rPr>
              <a:t>:  right-click on your project, select </a:t>
            </a:r>
            <a:r>
              <a:rPr lang="en-US" sz="1400" b="0" i="1" smtClean="0">
                <a:solidFill>
                  <a:schemeClr val="dk1"/>
                </a:solidFill>
                <a:latin typeface="Arial Narrow" panose="020B0506020202030204" pitchFamily="34" charset="0"/>
                <a:cs typeface="Courier New" panose="02070309020205020404" pitchFamily="49" charset="0"/>
              </a:rPr>
              <a:t>Properties</a:t>
            </a:r>
            <a:r>
              <a:rPr lang="en-US" sz="1400" b="0" smtClean="0">
                <a:solidFill>
                  <a:schemeClr val="dk1"/>
                </a:solidFill>
                <a:latin typeface="Arial Narrow" panose="020B0506020202030204" pitchFamily="34" charset="0"/>
                <a:cs typeface="Courier New" panose="02070309020205020404" pitchFamily="49" charset="0"/>
              </a:rPr>
              <a:t>, select </a:t>
            </a:r>
            <a:r>
              <a:rPr lang="en-US" sz="1400" b="0" i="1" smtClean="0">
                <a:solidFill>
                  <a:schemeClr val="dk1"/>
                </a:solidFill>
                <a:latin typeface="Arial Narrow" panose="020B0506020202030204" pitchFamily="34" charset="0"/>
                <a:cs typeface="Courier New" panose="02070309020205020404" pitchFamily="49" charset="0"/>
              </a:rPr>
              <a:t>Build </a:t>
            </a:r>
            <a:r>
              <a:rPr lang="en-US" sz="1400" b="0" i="1" smtClean="0">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cs typeface="Courier New" panose="02070309020205020404" pitchFamily="49" charset="0"/>
              </a:rPr>
              <a:t>Compiler </a:t>
            </a:r>
            <a:r>
              <a:rPr lang="en-US" sz="1400" b="0" i="1" smtClean="0">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cs typeface="Courier New" panose="02070309020205020404" pitchFamily="49" charset="0"/>
              </a:rPr>
              <a:t>Include Options</a:t>
            </a:r>
            <a:r>
              <a:rPr lang="en-US" sz="1400" b="0" smtClean="0">
                <a:solidFill>
                  <a:schemeClr val="dk1"/>
                </a:solidFill>
                <a:latin typeface="Arial Narrow" panose="020B0506020202030204" pitchFamily="34" charset="0"/>
                <a:cs typeface="Courier New" panose="02070309020205020404" pitchFamily="49" charset="0"/>
              </a:rPr>
              <a:t>. Then use</a:t>
            </a:r>
            <a:br>
              <a:rPr lang="en-US" sz="1400" b="0" smtClean="0">
                <a:solidFill>
                  <a:schemeClr val="dk1"/>
                </a:solidFill>
                <a:latin typeface="Arial Narrow" panose="020B0506020202030204" pitchFamily="34" charset="0"/>
                <a:cs typeface="Courier New" panose="02070309020205020404" pitchFamily="49" charset="0"/>
              </a:rPr>
            </a:br>
            <a:r>
              <a:rPr lang="en-US" sz="1400" b="0" smtClean="0">
                <a:solidFill>
                  <a:schemeClr val="dk1"/>
                </a:solidFill>
                <a:latin typeface="Arial Narrow" panose="020B0506020202030204" pitchFamily="34" charset="0"/>
                <a:cs typeface="Courier New" panose="02070309020205020404" pitchFamily="49" charset="0"/>
              </a:rPr>
              <a:t>your variable – PDK_INSTALL – to add the following path:</a:t>
            </a:r>
            <a:br>
              <a:rPr lang="en-US" sz="1400" b="0" smtClean="0">
                <a:solidFill>
                  <a:schemeClr val="dk1"/>
                </a:solidFill>
                <a:latin typeface="Arial Narrow" panose="020B0506020202030204" pitchFamily="34" charset="0"/>
                <a:cs typeface="Courier New" panose="02070309020205020404" pitchFamily="49" charset="0"/>
              </a:rPr>
            </a:br>
            <a:r>
              <a:rPr lang="en-US" sz="1400" b="0" smtClean="0">
                <a:solidFill>
                  <a:schemeClr val="dk1"/>
                </a:solidFill>
                <a:latin typeface="Arial Narrow" panose="020B0506020202030204" pitchFamily="34" charset="0"/>
                <a:cs typeface="Courier New" panose="02070309020205020404" pitchFamily="49" charset="0"/>
              </a:rPr>
              <a:t>	</a:t>
            </a:r>
            <a:r>
              <a:rPr lang="en-US" sz="1400" b="0" smtClean="0">
                <a:solidFill>
                  <a:schemeClr val="dk1"/>
                </a:solidFill>
                <a:latin typeface="Courier New" panose="02070309020205020404" pitchFamily="49" charset="0"/>
                <a:cs typeface="Courier New" panose="02070309020205020404" pitchFamily="49" charset="0"/>
              </a:rPr>
              <a:t>${PDK_INSTALL}/packages</a:t>
            </a:r>
            <a:endParaRPr lang="en-US" sz="1400" b="0" smtClean="0">
              <a:solidFill>
                <a:schemeClr val="dk1"/>
              </a:solidFill>
              <a:effectLst/>
              <a:latin typeface="Courier New" panose="02070309020205020404" pitchFamily="49" charset="0"/>
              <a:cs typeface="Courier New" panose="02070309020205020404" pitchFamily="49" charset="0"/>
            </a:endParaRPr>
          </a:p>
          <a:p>
            <a:pPr marL="228600" indent="-228600">
              <a:lnSpc>
                <a:spcPct val="100000"/>
              </a:lnSpc>
              <a:spcBef>
                <a:spcPts val="900"/>
              </a:spcBef>
              <a:buAutoNum type="arabicPeriod"/>
            </a:pPr>
            <a:r>
              <a:rPr lang="en-US" sz="1400" b="0" i="1" u="sng" smtClean="0">
                <a:solidFill>
                  <a:schemeClr val="dk1"/>
                </a:solidFill>
                <a:latin typeface="Arial Narrow" panose="020B0506020202030204" pitchFamily="34" charset="0"/>
                <a:cs typeface="Courier New" panose="02070309020205020404" pitchFamily="49" charset="0"/>
              </a:rPr>
              <a:t>Add Driver Library</a:t>
            </a:r>
            <a:r>
              <a:rPr lang="en-US" sz="1400" b="0" smtClean="0">
                <a:solidFill>
                  <a:schemeClr val="dk1"/>
                </a:solidFill>
                <a:latin typeface="Arial Narrow" panose="020B0506020202030204" pitchFamily="34" charset="0"/>
                <a:cs typeface="Courier New" panose="02070309020205020404" pitchFamily="49" charset="0"/>
              </a:rPr>
              <a:t>:  If CSL is used – no library is necessary</a:t>
            </a:r>
          </a:p>
        </p:txBody>
      </p:sp>
    </p:spTree>
    <p:custDataLst>
      <p:tags r:id="rId1"/>
    </p:custDataLst>
    <p:extLst>
      <p:ext uri="{BB962C8B-B14F-4D97-AF65-F5344CB8AC3E}">
        <p14:creationId xmlns:p14="http://schemas.microsoft.com/office/powerpoint/2010/main" val="2558192167"/>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a:bodyPr>
          <a:lstStyle/>
          <a:p>
            <a:r>
              <a:rPr lang="en-US" smtClean="0"/>
              <a:t>New Project Creation – MSP430</a:t>
            </a:r>
          </a:p>
        </p:txBody>
      </p:sp>
      <p:sp>
        <p:nvSpPr>
          <p:cNvPr id="36867" name="Rectangle 6"/>
          <p:cNvSpPr>
            <a:spLocks noChangeArrowheads="1"/>
          </p:cNvSpPr>
          <p:nvPr/>
        </p:nvSpPr>
        <p:spPr bwMode="auto">
          <a:xfrm>
            <a:off x="561975" y="6216650"/>
            <a:ext cx="184150" cy="625475"/>
          </a:xfrm>
          <a:prstGeom prst="rect">
            <a:avLst/>
          </a:prstGeom>
          <a:noFill/>
          <a:ln w="12700">
            <a:noFill/>
            <a:miter lim="800000"/>
            <a:headEnd type="none" w="sm" len="sm"/>
            <a:tailEnd type="none" w="sm" len="sm"/>
          </a:ln>
        </p:spPr>
        <p:txBody>
          <a:bodyPr wrap="none" anchor="ctr">
            <a:spAutoFit/>
          </a:bodyPr>
          <a:lstStyle/>
          <a:p>
            <a:pPr>
              <a:lnSpc>
                <a:spcPct val="100000"/>
              </a:lnSpc>
              <a:spcBef>
                <a:spcPct val="0"/>
              </a:spcBef>
            </a:pPr>
            <a:r>
              <a:rPr lang="en-US" sz="1100" b="0">
                <a:latin typeface="Times New Roman" pitchFamily="18" charset="0"/>
                <a:cs typeface="Times New Roman" pitchFamily="18" charset="0"/>
              </a:rPr>
              <a:t/>
            </a:r>
            <a:br>
              <a:rPr lang="en-US" sz="1100" b="0">
                <a:latin typeface="Times New Roman" pitchFamily="18" charset="0"/>
                <a:cs typeface="Times New Roman" pitchFamily="18" charset="0"/>
              </a:rPr>
            </a:br>
            <a:endParaRPr lang="en-US" b="0">
              <a:latin typeface="Times New Roman" pitchFamily="18" charset="0"/>
            </a:endParaRPr>
          </a:p>
        </p:txBody>
      </p:sp>
      <p:pic>
        <p:nvPicPr>
          <p:cNvPr id="5" name="Picture 4"/>
          <p:cNvPicPr/>
          <p:nvPr/>
        </p:nvPicPr>
        <p:blipFill>
          <a:blip r:embed="rId3">
            <a:extLst>
              <a:ext uri="{28A0092B-C50C-407E-A947-70E740481C1C}">
                <a14:useLocalDpi xmlns:a14="http://schemas.microsoft.com/office/drawing/2010/main" val="0"/>
              </a:ext>
            </a:extLst>
          </a:blip>
          <a:stretch>
            <a:fillRect/>
          </a:stretch>
        </p:blipFill>
        <p:spPr>
          <a:xfrm>
            <a:off x="7448550" y="533400"/>
            <a:ext cx="1600200" cy="1231658"/>
          </a:xfrm>
          <a:prstGeom prst="rect">
            <a:avLst/>
          </a:prstGeom>
        </p:spPr>
      </p:pic>
      <p:sp>
        <p:nvSpPr>
          <p:cNvPr id="6" name="TextBox 5"/>
          <p:cNvSpPr txBox="1"/>
          <p:nvPr/>
        </p:nvSpPr>
        <p:spPr>
          <a:xfrm>
            <a:off x="101499" y="718116"/>
            <a:ext cx="7431843" cy="609398"/>
          </a:xfrm>
          <a:prstGeom prst="rect">
            <a:avLst/>
          </a:prstGeom>
          <a:noFill/>
        </p:spPr>
        <p:txBody>
          <a:bodyPr wrap="none" rtlCol="0" anchor="ctr" anchorCtr="0">
            <a:spAutoFit/>
          </a:bodyPr>
          <a:lstStyle/>
          <a:p>
            <a:pPr marL="225425" indent="-225425">
              <a:buClr>
                <a:schemeClr val="tx2"/>
              </a:buClr>
              <a:buSzPct val="75000"/>
              <a:buFont typeface="Wingdings"/>
              <a:buChar char=""/>
            </a:pPr>
            <a:r>
              <a:rPr lang="en-US" sz="1600" smtClean="0">
                <a:solidFill>
                  <a:schemeClr val="accent4">
                    <a:lumMod val="75000"/>
                  </a:schemeClr>
                </a:solidFill>
                <a:effectLst/>
              </a:rPr>
              <a:t>Shown below is a summary of the steps to create a new MSP430 project</a:t>
            </a:r>
          </a:p>
          <a:p>
            <a:pPr marL="225425" indent="-225425">
              <a:buClr>
                <a:schemeClr val="tx2"/>
              </a:buClr>
              <a:buSzPct val="75000"/>
              <a:buFont typeface="Wingdings"/>
              <a:buChar char=""/>
            </a:pPr>
            <a:r>
              <a:rPr lang="en-US" sz="1600" smtClean="0">
                <a:solidFill>
                  <a:schemeClr val="accent4">
                    <a:lumMod val="75000"/>
                  </a:schemeClr>
                </a:solidFill>
                <a:effectLst/>
              </a:rPr>
              <a:t>Refer to CCS/BIOS chapters/labs for specific screen shots and steps:</a:t>
            </a:r>
            <a:endParaRPr lang="en-US" sz="1600" dirty="0" smtClean="0">
              <a:solidFill>
                <a:schemeClr val="accent4">
                  <a:lumMod val="75000"/>
                </a:schemeClr>
              </a:solidFill>
              <a:effectLst/>
            </a:endParaRPr>
          </a:p>
        </p:txBody>
      </p:sp>
      <p:sp>
        <p:nvSpPr>
          <p:cNvPr id="7" name="TextBox 6"/>
          <p:cNvSpPr txBox="1"/>
          <p:nvPr/>
        </p:nvSpPr>
        <p:spPr>
          <a:xfrm>
            <a:off x="76200" y="1389504"/>
            <a:ext cx="9220200" cy="5239896"/>
          </a:xfrm>
          <a:prstGeom prst="rect">
            <a:avLst/>
          </a:prstGeom>
          <a:noFill/>
        </p:spPr>
        <p:txBody>
          <a:bodyPr wrap="square" rtlCol="0" anchor="ctr" anchorCtr="0">
            <a:spAutoFit/>
          </a:bodyPr>
          <a:lstStyle/>
          <a:p>
            <a:pPr marL="228600" indent="-228600">
              <a:lnSpc>
                <a:spcPct val="100000"/>
              </a:lnSpc>
              <a:spcBef>
                <a:spcPts val="900"/>
              </a:spcBef>
              <a:buAutoNum type="arabicPeriod"/>
            </a:pPr>
            <a:r>
              <a:rPr lang="en-US" sz="1400" b="0" i="1" u="sng" smtClean="0">
                <a:solidFill>
                  <a:schemeClr val="dk1"/>
                </a:solidFill>
                <a:effectLst/>
                <a:latin typeface="Arial Narrow" panose="020B0506020202030204" pitchFamily="34" charset="0"/>
              </a:rPr>
              <a:t>File </a:t>
            </a:r>
            <a:r>
              <a:rPr lang="en-US" sz="1400" b="0" i="1" u="sng" smtClean="0">
                <a:solidFill>
                  <a:schemeClr val="dk1"/>
                </a:solidFill>
                <a:effectLst/>
                <a:latin typeface="Arial Narrow" panose="020B0506020202030204" pitchFamily="34" charset="0"/>
                <a:sym typeface="Wingdings"/>
              </a:rPr>
              <a:t> </a:t>
            </a:r>
            <a:r>
              <a:rPr lang="en-US" sz="1400" b="0" i="1" u="sng" smtClean="0">
                <a:solidFill>
                  <a:schemeClr val="dk1"/>
                </a:solidFill>
                <a:effectLst/>
                <a:latin typeface="Arial Narrow" panose="020B0506020202030204" pitchFamily="34" charset="0"/>
              </a:rPr>
              <a:t>New </a:t>
            </a:r>
            <a:r>
              <a:rPr lang="en-US" sz="1400" b="0" i="1" u="sng">
                <a:solidFill>
                  <a:schemeClr val="dk1"/>
                </a:solidFill>
                <a:latin typeface="Arial Narrow" panose="020B0506020202030204" pitchFamily="34" charset="0"/>
                <a:sym typeface="Wingdings"/>
              </a:rPr>
              <a:t> </a:t>
            </a:r>
            <a:r>
              <a:rPr lang="en-US" sz="1400" b="0" i="1" u="sng" smtClean="0">
                <a:solidFill>
                  <a:schemeClr val="dk1"/>
                </a:solidFill>
                <a:effectLst/>
                <a:latin typeface="Arial Narrow" panose="020B0506020202030204" pitchFamily="34" charset="0"/>
              </a:rPr>
              <a:t>CCS Project</a:t>
            </a:r>
            <a:r>
              <a:rPr lang="en-US" sz="1400" b="0" smtClean="0">
                <a:solidFill>
                  <a:schemeClr val="dk1"/>
                </a:solidFill>
                <a:effectLst/>
                <a:latin typeface="Arial Narrow" panose="020B0506020202030204" pitchFamily="34" charset="0"/>
              </a:rPr>
              <a:t>. Then fill in all target-specific items. Use “variant” to filter device list.</a:t>
            </a:r>
          </a:p>
          <a:p>
            <a:pPr marL="228600" indent="-228600">
              <a:lnSpc>
                <a:spcPct val="100000"/>
              </a:lnSpc>
              <a:spcBef>
                <a:spcPts val="900"/>
              </a:spcBef>
              <a:buFontTx/>
              <a:buAutoNum type="arabicPeriod"/>
            </a:pPr>
            <a:r>
              <a:rPr lang="en-US" sz="1400" b="0" i="1" u="sng" smtClean="0">
                <a:solidFill>
                  <a:schemeClr val="dk1"/>
                </a:solidFill>
                <a:latin typeface="Arial Narrow" panose="020B0506020202030204" pitchFamily="34" charset="0"/>
              </a:rPr>
              <a:t>Project path</a:t>
            </a:r>
            <a:r>
              <a:rPr lang="en-US" sz="1400" b="0" smtClean="0">
                <a:solidFill>
                  <a:schemeClr val="dk1"/>
                </a:solidFill>
                <a:latin typeface="Arial Narrow" panose="020B0506020202030204" pitchFamily="34" charset="0"/>
              </a:rPr>
              <a:t>: for </a:t>
            </a:r>
            <a:r>
              <a:rPr lang="en-US" sz="1400" b="0">
                <a:solidFill>
                  <a:schemeClr val="dk1"/>
                </a:solidFill>
                <a:latin typeface="Arial Narrow" panose="020B0506020202030204" pitchFamily="34" charset="0"/>
              </a:rPr>
              <a:t>TI-RTOS workshop labs, choose </a:t>
            </a:r>
            <a:r>
              <a:rPr lang="en-US" sz="1400" b="0" smtClean="0">
                <a:solidFill>
                  <a:schemeClr val="dk1"/>
                </a:solidFill>
                <a:latin typeface="Courier New" panose="02070309020205020404" pitchFamily="49" charset="0"/>
                <a:cs typeface="Courier New" panose="02070309020205020404" pitchFamily="49" charset="0"/>
              </a:rPr>
              <a:t>\</a:t>
            </a:r>
            <a:r>
              <a:rPr lang="en-US" sz="1400" b="0">
                <a:solidFill>
                  <a:schemeClr val="dk1"/>
                </a:solidFill>
                <a:latin typeface="Courier New" panose="02070309020205020404" pitchFamily="49" charset="0"/>
                <a:cs typeface="Courier New" panose="02070309020205020404" pitchFamily="49" charset="0"/>
              </a:rPr>
              <a:t>labx\Project</a:t>
            </a:r>
            <a:r>
              <a:rPr lang="en-US" sz="1400" b="0">
                <a:solidFill>
                  <a:schemeClr val="dk1"/>
                </a:solidFill>
                <a:latin typeface="Arial Narrow" panose="020B0506020202030204" pitchFamily="34" charset="0"/>
              </a:rPr>
              <a:t> </a:t>
            </a:r>
            <a:r>
              <a:rPr lang="en-US" sz="1400" b="0" smtClean="0">
                <a:solidFill>
                  <a:schemeClr val="dk1"/>
                </a:solidFill>
                <a:latin typeface="Arial Narrow" panose="020B0506020202030204" pitchFamily="34" charset="0"/>
              </a:rPr>
              <a:t>for </a:t>
            </a:r>
            <a:r>
              <a:rPr lang="en-US" sz="1400" b="0">
                <a:solidFill>
                  <a:schemeClr val="dk1"/>
                </a:solidFill>
                <a:latin typeface="Arial Narrow" panose="020B0506020202030204" pitchFamily="34" charset="0"/>
              </a:rPr>
              <a:t>your project location (do not use </a:t>
            </a:r>
            <a:r>
              <a:rPr lang="en-US" sz="1400" b="0" smtClean="0">
                <a:solidFill>
                  <a:schemeClr val="dk1"/>
                </a:solidFill>
                <a:latin typeface="Arial Narrow" panose="020B0506020202030204" pitchFamily="34" charset="0"/>
              </a:rPr>
              <a:t>default </a:t>
            </a:r>
            <a:r>
              <a:rPr lang="en-US" sz="1400" b="0">
                <a:solidFill>
                  <a:schemeClr val="dk1"/>
                </a:solidFill>
                <a:latin typeface="Arial Narrow" panose="020B0506020202030204" pitchFamily="34" charset="0"/>
              </a:rPr>
              <a:t>workspace path)</a:t>
            </a:r>
          </a:p>
          <a:p>
            <a:pPr marL="228600" indent="-228600">
              <a:lnSpc>
                <a:spcPct val="100000"/>
              </a:lnSpc>
              <a:spcBef>
                <a:spcPts val="900"/>
              </a:spcBef>
              <a:buAutoNum type="arabicPeriod"/>
            </a:pPr>
            <a:r>
              <a:rPr lang="en-US" sz="1400" b="0" i="1" u="sng" smtClean="0">
                <a:solidFill>
                  <a:schemeClr val="dk1"/>
                </a:solidFill>
                <a:latin typeface="Arial Narrow" panose="020B0506020202030204" pitchFamily="34" charset="0"/>
              </a:rPr>
              <a:t>Device Variant</a:t>
            </a:r>
            <a:r>
              <a:rPr lang="en-US" sz="1400" b="0" smtClean="0">
                <a:solidFill>
                  <a:schemeClr val="dk1"/>
                </a:solidFill>
                <a:latin typeface="Arial Narrow" panose="020B0506020202030204" pitchFamily="34" charset="0"/>
              </a:rPr>
              <a:t> = MSP430F5529,   </a:t>
            </a:r>
            <a:r>
              <a:rPr lang="en-US" sz="1400" b="0" i="1" smtClean="0">
                <a:solidFill>
                  <a:schemeClr val="dk1"/>
                </a:solidFill>
                <a:latin typeface="Arial Narrow" panose="020B0506020202030204" pitchFamily="34" charset="0"/>
              </a:rPr>
              <a:t>Connection</a:t>
            </a:r>
            <a:r>
              <a:rPr lang="en-US" sz="1400" b="0" smtClean="0">
                <a:solidFill>
                  <a:schemeClr val="dk1"/>
                </a:solidFill>
                <a:latin typeface="Arial Narrow" panose="020B0506020202030204" pitchFamily="34" charset="0"/>
              </a:rPr>
              <a:t> = TI MSP430 USB1</a:t>
            </a:r>
            <a:endParaRPr lang="en-US" sz="1400" b="0" smtClean="0">
              <a:solidFill>
                <a:schemeClr val="dk1"/>
              </a:solidFill>
              <a:effectLst/>
              <a:latin typeface="Arial Narrow" panose="020B0506020202030204" pitchFamily="34" charset="0"/>
            </a:endParaRPr>
          </a:p>
          <a:p>
            <a:pPr marL="228600" indent="-228600">
              <a:lnSpc>
                <a:spcPct val="100000"/>
              </a:lnSpc>
              <a:spcBef>
                <a:spcPts val="900"/>
              </a:spcBef>
              <a:buAutoNum type="arabicPeriod"/>
            </a:pPr>
            <a:r>
              <a:rPr lang="en-US" sz="1400" b="0" i="1" u="sng" smtClean="0">
                <a:solidFill>
                  <a:schemeClr val="dk1"/>
                </a:solidFill>
                <a:latin typeface="Arial Narrow" panose="020B0506020202030204" pitchFamily="34" charset="0"/>
              </a:rPr>
              <a:t>Project Template</a:t>
            </a:r>
            <a:r>
              <a:rPr lang="en-US" sz="1400" b="0" smtClean="0">
                <a:solidFill>
                  <a:schemeClr val="dk1"/>
                </a:solidFill>
                <a:latin typeface="Arial Narrow" panose="020B0506020202030204" pitchFamily="34" charset="0"/>
              </a:rPr>
              <a:t>:  BIOS app? Use TI-RTOS </a:t>
            </a:r>
            <a:r>
              <a:rPr lang="en-US" sz="1400" b="0" i="1" smtClean="0">
                <a:solidFill>
                  <a:schemeClr val="dk1"/>
                </a:solidFill>
                <a:latin typeface="Arial Narrow" panose="020B0506020202030204" pitchFamily="34" charset="0"/>
                <a:sym typeface="Wingdings"/>
              </a:rPr>
              <a:t> </a:t>
            </a:r>
            <a:r>
              <a:rPr lang="en-US" sz="1400" b="0" smtClean="0">
                <a:solidFill>
                  <a:schemeClr val="dk1"/>
                </a:solidFill>
                <a:latin typeface="Arial Narrow" panose="020B0506020202030204" pitchFamily="34" charset="0"/>
              </a:rPr>
              <a:t>Driver</a:t>
            </a:r>
            <a:r>
              <a:rPr lang="en-US" sz="1400" b="0" i="1" smtClean="0">
                <a:solidFill>
                  <a:schemeClr val="dk1"/>
                </a:solidFill>
                <a:latin typeface="Arial Narrow" panose="020B0506020202030204" pitchFamily="34" charset="0"/>
                <a:sym typeface="Wingdings"/>
              </a:rPr>
              <a:t> </a:t>
            </a:r>
            <a:r>
              <a:rPr lang="en-US" sz="1400" b="0" smtClean="0">
                <a:solidFill>
                  <a:schemeClr val="dk1"/>
                </a:solidFill>
                <a:latin typeface="Arial Narrow" panose="020B0506020202030204" pitchFamily="34" charset="0"/>
              </a:rPr>
              <a:t>5529 LP</a:t>
            </a:r>
            <a:r>
              <a:rPr lang="en-US" sz="1400" b="0" i="1" smtClean="0">
                <a:solidFill>
                  <a:schemeClr val="dk1"/>
                </a:solidFill>
                <a:latin typeface="Arial Narrow" panose="020B0506020202030204" pitchFamily="34" charset="0"/>
                <a:sym typeface="Wingdings"/>
              </a:rPr>
              <a:t> </a:t>
            </a:r>
            <a:r>
              <a:rPr lang="en-US" sz="1400" b="0" smtClean="0">
                <a:solidFill>
                  <a:schemeClr val="dk1"/>
                </a:solidFill>
                <a:latin typeface="Arial Narrow" panose="020B0506020202030204" pitchFamily="34" charset="0"/>
              </a:rPr>
              <a:t>Example</a:t>
            </a:r>
            <a:r>
              <a:rPr lang="en-US" sz="1400" b="0" i="1" smtClean="0">
                <a:solidFill>
                  <a:schemeClr val="dk1"/>
                </a:solidFill>
                <a:latin typeface="Arial Narrow" panose="020B0506020202030204" pitchFamily="34" charset="0"/>
                <a:sym typeface="Wingdings"/>
              </a:rPr>
              <a:t> </a:t>
            </a:r>
            <a:r>
              <a:rPr lang="en-US" sz="1400" b="0" smtClean="0">
                <a:solidFill>
                  <a:schemeClr val="dk1"/>
                </a:solidFill>
                <a:latin typeface="Arial Narrow" panose="020B0506020202030204" pitchFamily="34" charset="0"/>
              </a:rPr>
              <a:t>Empty template. Non-BIOS? Use “Empty Project”</a:t>
            </a:r>
          </a:p>
          <a:p>
            <a:pPr marL="228600" indent="-228600">
              <a:lnSpc>
                <a:spcPct val="100000"/>
              </a:lnSpc>
              <a:spcBef>
                <a:spcPts val="900"/>
              </a:spcBef>
              <a:buAutoNum type="arabicPeriod"/>
            </a:pPr>
            <a:r>
              <a:rPr lang="en-US" sz="1400" b="0" i="1" u="sng" smtClean="0">
                <a:solidFill>
                  <a:schemeClr val="dk1"/>
                </a:solidFill>
                <a:latin typeface="Arial Narrow" panose="020B0506020202030204" pitchFamily="34" charset="0"/>
              </a:rPr>
              <a:t>RTSC Settings</a:t>
            </a:r>
            <a:r>
              <a:rPr lang="en-US" sz="1400" b="0" smtClean="0">
                <a:solidFill>
                  <a:schemeClr val="dk1"/>
                </a:solidFill>
                <a:effectLst/>
                <a:latin typeface="Arial Narrow" panose="020B0506020202030204" pitchFamily="34" charset="0"/>
              </a:rPr>
              <a:t>: If BIOS app, click “Next” to configure tools – choose latest XDC, TI-RTOS, UIA. If non-BIOS app, click Finish</a:t>
            </a:r>
          </a:p>
          <a:p>
            <a:pPr marL="228600" indent="-228600">
              <a:lnSpc>
                <a:spcPct val="100000"/>
              </a:lnSpc>
              <a:spcBef>
                <a:spcPts val="900"/>
              </a:spcBef>
              <a:buAutoNum type="arabicPeriod"/>
            </a:pPr>
            <a:r>
              <a:rPr lang="en-US" sz="1400" b="0" i="1" u="sng" smtClean="0">
                <a:solidFill>
                  <a:schemeClr val="dk1"/>
                </a:solidFill>
                <a:latin typeface="Arial Narrow" panose="020B0506020202030204" pitchFamily="34" charset="0"/>
              </a:rPr>
              <a:t>File Mgmt</a:t>
            </a:r>
            <a:r>
              <a:rPr lang="en-US" sz="1400" b="0" smtClean="0">
                <a:solidFill>
                  <a:schemeClr val="dk1"/>
                </a:solidFill>
                <a:latin typeface="Arial Narrow" panose="020B0506020202030204" pitchFamily="34" charset="0"/>
              </a:rPr>
              <a:t>:  If necessary, delete </a:t>
            </a:r>
            <a:r>
              <a:rPr lang="en-US" sz="1400" b="0" smtClean="0">
                <a:solidFill>
                  <a:schemeClr val="dk1"/>
                </a:solidFill>
                <a:latin typeface="Courier New" panose="02070309020205020404" pitchFamily="49" charset="0"/>
                <a:cs typeface="Courier New" panose="02070309020205020404" pitchFamily="49" charset="0"/>
              </a:rPr>
              <a:t>main.c</a:t>
            </a:r>
            <a:r>
              <a:rPr lang="en-US" sz="1400" b="0" smtClean="0">
                <a:solidFill>
                  <a:schemeClr val="dk1"/>
                </a:solidFill>
                <a:latin typeface="Arial Narrow" panose="020B0506020202030204" pitchFamily="34" charset="0"/>
              </a:rPr>
              <a:t> provided by New Project Wizard and add (copy) source files to project as directed in lab.</a:t>
            </a:r>
          </a:p>
          <a:p>
            <a:pPr marL="228600" indent="-228600">
              <a:lnSpc>
                <a:spcPct val="100000"/>
              </a:lnSpc>
              <a:spcBef>
                <a:spcPts val="900"/>
              </a:spcBef>
              <a:buAutoNum type="arabicPeriod"/>
            </a:pPr>
            <a:r>
              <a:rPr lang="en-US" sz="1400" b="0" i="1" u="sng" smtClean="0">
                <a:solidFill>
                  <a:schemeClr val="dk1"/>
                </a:solidFill>
                <a:latin typeface="Arial Narrow" panose="020B0506020202030204" pitchFamily="34" charset="0"/>
              </a:rPr>
              <a:t>Linker Command File</a:t>
            </a:r>
            <a:r>
              <a:rPr lang="en-US" sz="1400" b="0" smtClean="0">
                <a:solidFill>
                  <a:schemeClr val="dk1"/>
                </a:solidFill>
                <a:latin typeface="Arial Narrow" panose="020B0506020202030204" pitchFamily="34" charset="0"/>
              </a:rPr>
              <a:t>:  Double check that the proper </a:t>
            </a:r>
            <a:r>
              <a:rPr lang="en-US" sz="1400" b="0" smtClean="0">
                <a:solidFill>
                  <a:schemeClr val="dk1"/>
                </a:solidFill>
                <a:latin typeface="Courier New" panose="02070309020205020404" pitchFamily="49" charset="0"/>
                <a:cs typeface="Courier New" panose="02070309020205020404" pitchFamily="49" charset="0"/>
              </a:rPr>
              <a:t>linker.cmd</a:t>
            </a:r>
            <a:r>
              <a:rPr lang="en-US" sz="1400" b="0" smtClean="0">
                <a:solidFill>
                  <a:schemeClr val="dk1"/>
                </a:solidFill>
                <a:latin typeface="Arial Narrow" panose="020B0506020202030204" pitchFamily="34" charset="0"/>
              </a:rPr>
              <a:t> file has been added to your project. </a:t>
            </a:r>
            <a:endParaRPr lang="en-US" sz="1400" b="0" smtClean="0">
              <a:solidFill>
                <a:schemeClr val="dk1"/>
              </a:solidFill>
              <a:latin typeface="Courier New" panose="02070309020205020404" pitchFamily="49" charset="0"/>
              <a:cs typeface="Courier New" panose="02070309020205020404" pitchFamily="49" charset="0"/>
            </a:endParaRPr>
          </a:p>
          <a:p>
            <a:pPr marL="228600" indent="-228600">
              <a:lnSpc>
                <a:spcPct val="100000"/>
              </a:lnSpc>
              <a:spcBef>
                <a:spcPts val="900"/>
              </a:spcBef>
              <a:buAutoNum type="arabicPeriod"/>
            </a:pPr>
            <a:r>
              <a:rPr lang="en-US" sz="1400" b="0" i="1" u="sng" smtClean="0">
                <a:solidFill>
                  <a:schemeClr val="dk1"/>
                </a:solidFill>
                <a:effectLst/>
                <a:latin typeface="Arial Narrow" panose="020B0506020202030204" pitchFamily="34" charset="0"/>
                <a:cs typeface="Courier New" panose="02070309020205020404" pitchFamily="49" charset="0"/>
              </a:rPr>
              <a:t>Edit vars.ini</a:t>
            </a:r>
            <a:r>
              <a:rPr lang="en-US" sz="1400" b="0" smtClean="0">
                <a:solidFill>
                  <a:schemeClr val="dk1"/>
                </a:solidFill>
                <a:effectLst/>
                <a:latin typeface="Arial Narrow" panose="020B0506020202030204" pitchFamily="34" charset="0"/>
                <a:cs typeface="Courier New" panose="02070309020205020404" pitchFamily="49" charset="0"/>
              </a:rPr>
              <a:t>:  Modify </a:t>
            </a:r>
            <a:r>
              <a:rPr lang="en-US" sz="1400" b="0" smtClean="0">
                <a:solidFill>
                  <a:schemeClr val="dk1"/>
                </a:solidFill>
                <a:effectLst/>
                <a:latin typeface="Courier New" panose="02070309020205020404" pitchFamily="49" charset="0"/>
                <a:cs typeface="Courier New" panose="02070309020205020404" pitchFamily="49" charset="0"/>
              </a:rPr>
              <a:t>vars.ini</a:t>
            </a:r>
            <a:r>
              <a:rPr lang="en-US" sz="1400" b="0" smtClean="0">
                <a:solidFill>
                  <a:schemeClr val="dk1"/>
                </a:solidFill>
                <a:effectLst/>
                <a:latin typeface="Arial Narrow" panose="020B0506020202030204" pitchFamily="34" charset="0"/>
                <a:cs typeface="Courier New" panose="02070309020205020404" pitchFamily="49" charset="0"/>
              </a:rPr>
              <a:t> to match your exact MSP430Ware path for MSP430WARE_INSTALL = your </a:t>
            </a:r>
            <a:r>
              <a:rPr lang="en-US" sz="1400" b="0" smtClean="0">
                <a:solidFill>
                  <a:schemeClr val="dk1"/>
                </a:solidFill>
                <a:latin typeface="Arial Narrow" panose="020B0506020202030204" pitchFamily="34" charset="0"/>
                <a:cs typeface="Courier New" panose="02070309020205020404" pitchFamily="49" charset="0"/>
              </a:rPr>
              <a:t>TI-RTOS </a:t>
            </a:r>
            <a:r>
              <a:rPr lang="en-US" sz="1400" b="0" smtClean="0">
                <a:solidFill>
                  <a:schemeClr val="dk1"/>
                </a:solidFill>
                <a:effectLst/>
                <a:latin typeface="Arial Narrow" panose="020B0506020202030204" pitchFamily="34" charset="0"/>
                <a:cs typeface="Courier New" panose="02070309020205020404" pitchFamily="49" charset="0"/>
              </a:rPr>
              <a:t>install path</a:t>
            </a:r>
          </a:p>
          <a:p>
            <a:pPr marL="228600" indent="-228600">
              <a:lnSpc>
                <a:spcPct val="100000"/>
              </a:lnSpc>
              <a:spcBef>
                <a:spcPts val="900"/>
              </a:spcBef>
              <a:buAutoNum type="arabicPeriod"/>
            </a:pPr>
            <a:r>
              <a:rPr lang="en-US" sz="1400" b="0" i="1" u="sng" smtClean="0">
                <a:solidFill>
                  <a:schemeClr val="dk1"/>
                </a:solidFill>
                <a:latin typeface="Arial Narrow" panose="020B0506020202030204" pitchFamily="34" charset="0"/>
                <a:cs typeface="Courier New" panose="02070309020205020404" pitchFamily="49" charset="0"/>
              </a:rPr>
              <a:t>Import vars.ini</a:t>
            </a:r>
            <a:r>
              <a:rPr lang="en-US" sz="1400" b="0" smtClean="0">
                <a:solidFill>
                  <a:schemeClr val="dk1"/>
                </a:solidFill>
                <a:latin typeface="Arial Narrow" panose="020B0506020202030204" pitchFamily="34" charset="0"/>
                <a:cs typeface="Courier New" panose="02070309020205020404" pitchFamily="49" charset="0"/>
              </a:rPr>
              <a:t>:  if not already done </a:t>
            </a:r>
            <a:r>
              <a:rPr lang="en-US" sz="1400" b="0" u="sng" smtClean="0">
                <a:solidFill>
                  <a:schemeClr val="dk1"/>
                </a:solidFill>
                <a:latin typeface="Arial Narrow" panose="020B0506020202030204" pitchFamily="34" charset="0"/>
                <a:cs typeface="Courier New" panose="02070309020205020404" pitchFamily="49" charset="0"/>
              </a:rPr>
              <a:t>once</a:t>
            </a:r>
            <a:r>
              <a:rPr lang="en-US" sz="1400" b="0" smtClean="0">
                <a:solidFill>
                  <a:schemeClr val="dk1"/>
                </a:solidFill>
                <a:latin typeface="Arial Narrow" panose="020B0506020202030204" pitchFamily="34" charset="0"/>
                <a:cs typeface="Courier New" panose="02070309020205020404" pitchFamily="49" charset="0"/>
              </a:rPr>
              <a:t> for workspace, import </a:t>
            </a:r>
            <a:r>
              <a:rPr lang="en-US" sz="1400" b="0" smtClean="0">
                <a:solidFill>
                  <a:schemeClr val="dk1"/>
                </a:solidFill>
                <a:latin typeface="Courier New" panose="02070309020205020404" pitchFamily="49" charset="0"/>
                <a:cs typeface="Courier New" panose="02070309020205020404" pitchFamily="49" charset="0"/>
              </a:rPr>
              <a:t>vars.ini</a:t>
            </a:r>
            <a:r>
              <a:rPr lang="en-US" sz="1400" b="0" smtClean="0">
                <a:solidFill>
                  <a:schemeClr val="dk1"/>
                </a:solidFill>
                <a:latin typeface="Arial Narrow" panose="020B0506020202030204" pitchFamily="34" charset="0"/>
                <a:cs typeface="Courier New" panose="02070309020205020404" pitchFamily="49" charset="0"/>
              </a:rPr>
              <a:t> by choosing </a:t>
            </a:r>
            <a:r>
              <a:rPr lang="en-US" sz="1400" b="0" i="1" smtClean="0">
                <a:solidFill>
                  <a:schemeClr val="dk1"/>
                </a:solidFill>
                <a:latin typeface="Arial Narrow" panose="020B0506020202030204" pitchFamily="34" charset="0"/>
                <a:cs typeface="Courier New" panose="02070309020205020404" pitchFamily="49" charset="0"/>
              </a:rPr>
              <a:t>File </a:t>
            </a:r>
            <a:r>
              <a:rPr lang="en-US" sz="1400" b="0" i="1">
                <a:solidFill>
                  <a:schemeClr val="dk1"/>
                </a:solidFill>
                <a:latin typeface="Arial Narrow" panose="020B0506020202030204" pitchFamily="34" charset="0"/>
                <a:sym typeface="Wingdings"/>
              </a:rPr>
              <a:t></a:t>
            </a:r>
            <a:r>
              <a:rPr lang="en-US" sz="1400" b="0" i="1" smtClean="0">
                <a:solidFill>
                  <a:schemeClr val="dk1"/>
                </a:solidFill>
                <a:latin typeface="Arial Narrow" panose="020B0506020202030204" pitchFamily="34" charset="0"/>
                <a:cs typeface="Courier New" panose="02070309020205020404" pitchFamily="49" charset="0"/>
              </a:rPr>
              <a:t> Import </a:t>
            </a:r>
            <a:r>
              <a:rPr lang="en-US" sz="1400" b="0" i="1">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cs typeface="Courier New" panose="02070309020205020404" pitchFamily="49" charset="0"/>
              </a:rPr>
              <a:t>CCS </a:t>
            </a:r>
            <a:r>
              <a:rPr lang="en-US" sz="1400" b="0" i="1">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cs typeface="Courier New" panose="02070309020205020404" pitchFamily="49" charset="0"/>
              </a:rPr>
              <a:t>Build Variables,</a:t>
            </a:r>
            <a:r>
              <a:rPr lang="en-US" sz="1400" b="0" smtClean="0">
                <a:solidFill>
                  <a:schemeClr val="dk1"/>
                </a:solidFill>
                <a:latin typeface="Arial Narrow" panose="020B0506020202030204" pitchFamily="34" charset="0"/>
                <a:cs typeface="Courier New" panose="02070309020205020404" pitchFamily="49" charset="0"/>
              </a:rPr>
              <a:t/>
            </a:r>
            <a:br>
              <a:rPr lang="en-US" sz="1400" b="0" smtClean="0">
                <a:solidFill>
                  <a:schemeClr val="dk1"/>
                </a:solidFill>
                <a:latin typeface="Arial Narrow" panose="020B0506020202030204" pitchFamily="34" charset="0"/>
                <a:cs typeface="Courier New" panose="02070309020205020404" pitchFamily="49" charset="0"/>
              </a:rPr>
            </a:br>
            <a:r>
              <a:rPr lang="en-US" sz="1400" b="0" smtClean="0">
                <a:solidFill>
                  <a:schemeClr val="dk1"/>
                </a:solidFill>
                <a:latin typeface="Arial Narrow" panose="020B0506020202030204" pitchFamily="34" charset="0"/>
                <a:cs typeface="Courier New" panose="02070309020205020404" pitchFamily="49" charset="0"/>
              </a:rPr>
              <a:t>then click </a:t>
            </a:r>
            <a:r>
              <a:rPr lang="en-US" sz="1400" b="0" i="1" smtClean="0">
                <a:solidFill>
                  <a:schemeClr val="dk1"/>
                </a:solidFill>
                <a:latin typeface="Arial Narrow" panose="020B0506020202030204" pitchFamily="34" charset="0"/>
                <a:cs typeface="Courier New" panose="02070309020205020404" pitchFamily="49" charset="0"/>
              </a:rPr>
              <a:t>Next</a:t>
            </a:r>
            <a:r>
              <a:rPr lang="en-US" sz="1400" b="0" smtClean="0">
                <a:solidFill>
                  <a:schemeClr val="dk1"/>
                </a:solidFill>
                <a:latin typeface="Arial Narrow" panose="020B0506020202030204" pitchFamily="34" charset="0"/>
                <a:cs typeface="Courier New" panose="02070309020205020404" pitchFamily="49" charset="0"/>
              </a:rPr>
              <a:t>, browse to </a:t>
            </a:r>
            <a:r>
              <a:rPr lang="en-US" sz="1400" b="0" smtClean="0">
                <a:solidFill>
                  <a:schemeClr val="dk1"/>
                </a:solidFill>
                <a:latin typeface="Courier New" panose="02070309020205020404" pitchFamily="49" charset="0"/>
                <a:cs typeface="Courier New" panose="02070309020205020404" pitchFamily="49" charset="0"/>
              </a:rPr>
              <a:t>vars.ini</a:t>
            </a:r>
            <a:r>
              <a:rPr lang="en-US" sz="1400" b="0" smtClean="0">
                <a:solidFill>
                  <a:schemeClr val="dk1"/>
                </a:solidFill>
                <a:latin typeface="Arial Narrow" panose="020B0506020202030204" pitchFamily="34" charset="0"/>
                <a:cs typeface="Courier New" panose="02070309020205020404" pitchFamily="49" charset="0"/>
              </a:rPr>
              <a:t> location, check box for “</a:t>
            </a:r>
            <a:r>
              <a:rPr lang="en-US" sz="1400" b="0" i="1" smtClean="0">
                <a:solidFill>
                  <a:schemeClr val="dk1"/>
                </a:solidFill>
                <a:latin typeface="Arial Narrow" panose="020B0506020202030204" pitchFamily="34" charset="0"/>
                <a:cs typeface="Courier New" panose="02070309020205020404" pitchFamily="49" charset="0"/>
              </a:rPr>
              <a:t>Overwrite existing values</a:t>
            </a:r>
            <a:r>
              <a:rPr lang="en-US" sz="1400" b="0" smtClean="0">
                <a:solidFill>
                  <a:schemeClr val="dk1"/>
                </a:solidFill>
                <a:latin typeface="Arial Narrow" panose="020B0506020202030204" pitchFamily="34" charset="0"/>
                <a:cs typeface="Courier New" panose="02070309020205020404" pitchFamily="49" charset="0"/>
              </a:rPr>
              <a:t>”, click </a:t>
            </a:r>
            <a:r>
              <a:rPr lang="en-US" sz="1400" b="0" i="1" smtClean="0">
                <a:solidFill>
                  <a:schemeClr val="dk1"/>
                </a:solidFill>
                <a:latin typeface="Arial Narrow" panose="020B0506020202030204" pitchFamily="34" charset="0"/>
                <a:cs typeface="Courier New" panose="02070309020205020404" pitchFamily="49" charset="0"/>
              </a:rPr>
              <a:t>Finish</a:t>
            </a:r>
            <a:r>
              <a:rPr lang="en-US" sz="1400" b="0" smtClean="0">
                <a:solidFill>
                  <a:schemeClr val="dk1"/>
                </a:solidFill>
                <a:latin typeface="Arial Narrow" panose="020B0506020202030204" pitchFamily="34" charset="0"/>
                <a:cs typeface="Courier New" panose="02070309020205020404" pitchFamily="49" charset="0"/>
              </a:rPr>
              <a:t> to import  var into workspace</a:t>
            </a:r>
          </a:p>
          <a:p>
            <a:pPr marL="228600" indent="-228600">
              <a:lnSpc>
                <a:spcPct val="100000"/>
              </a:lnSpc>
              <a:spcBef>
                <a:spcPts val="900"/>
              </a:spcBef>
              <a:buAutoNum type="arabicPeriod"/>
            </a:pPr>
            <a:r>
              <a:rPr lang="en-US" sz="1400" b="0" i="1" u="sng" smtClean="0">
                <a:solidFill>
                  <a:schemeClr val="dk1"/>
                </a:solidFill>
                <a:latin typeface="Arial Narrow" panose="020B0506020202030204" pitchFamily="34" charset="0"/>
                <a:cs typeface="Courier New" panose="02070309020205020404" pitchFamily="49" charset="0"/>
              </a:rPr>
              <a:t>Add Include Search Path</a:t>
            </a:r>
            <a:r>
              <a:rPr lang="en-US" sz="1400" b="0" smtClean="0">
                <a:solidFill>
                  <a:schemeClr val="dk1"/>
                </a:solidFill>
                <a:latin typeface="Arial Narrow" panose="020B0506020202030204" pitchFamily="34" charset="0"/>
                <a:cs typeface="Courier New" panose="02070309020205020404" pitchFamily="49" charset="0"/>
              </a:rPr>
              <a:t>:  right-click on your project, select </a:t>
            </a:r>
            <a:r>
              <a:rPr lang="en-US" sz="1400" b="0" i="1" smtClean="0">
                <a:solidFill>
                  <a:schemeClr val="dk1"/>
                </a:solidFill>
                <a:latin typeface="Arial Narrow" panose="020B0506020202030204" pitchFamily="34" charset="0"/>
                <a:cs typeface="Courier New" panose="02070309020205020404" pitchFamily="49" charset="0"/>
              </a:rPr>
              <a:t>Properties</a:t>
            </a:r>
            <a:r>
              <a:rPr lang="en-US" sz="1400" b="0" smtClean="0">
                <a:solidFill>
                  <a:schemeClr val="dk1"/>
                </a:solidFill>
                <a:latin typeface="Arial Narrow" panose="020B0506020202030204" pitchFamily="34" charset="0"/>
                <a:cs typeface="Courier New" panose="02070309020205020404" pitchFamily="49" charset="0"/>
              </a:rPr>
              <a:t>, select </a:t>
            </a:r>
            <a:r>
              <a:rPr lang="en-US" sz="1400" b="0" i="1" smtClean="0">
                <a:solidFill>
                  <a:schemeClr val="dk1"/>
                </a:solidFill>
                <a:latin typeface="Arial Narrow" panose="020B0506020202030204" pitchFamily="34" charset="0"/>
                <a:cs typeface="Courier New" panose="02070309020205020404" pitchFamily="49" charset="0"/>
              </a:rPr>
              <a:t>Build </a:t>
            </a:r>
            <a:r>
              <a:rPr lang="en-US" sz="1400" b="0" i="1" smtClean="0">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cs typeface="Courier New" panose="02070309020205020404" pitchFamily="49" charset="0"/>
              </a:rPr>
              <a:t>Compiler </a:t>
            </a:r>
            <a:r>
              <a:rPr lang="en-US" sz="1400" b="0" i="1" smtClean="0">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cs typeface="Courier New" panose="02070309020205020404" pitchFamily="49" charset="0"/>
              </a:rPr>
              <a:t>Include Options</a:t>
            </a:r>
            <a:r>
              <a:rPr lang="en-US" sz="1400" b="0" smtClean="0">
                <a:solidFill>
                  <a:schemeClr val="dk1"/>
                </a:solidFill>
                <a:latin typeface="Arial Narrow" panose="020B0506020202030204" pitchFamily="34" charset="0"/>
                <a:cs typeface="Courier New" panose="02070309020205020404" pitchFamily="49" charset="0"/>
              </a:rPr>
              <a:t>. Then use</a:t>
            </a:r>
            <a:br>
              <a:rPr lang="en-US" sz="1400" b="0" smtClean="0">
                <a:solidFill>
                  <a:schemeClr val="dk1"/>
                </a:solidFill>
                <a:latin typeface="Arial Narrow" panose="020B0506020202030204" pitchFamily="34" charset="0"/>
                <a:cs typeface="Courier New" panose="02070309020205020404" pitchFamily="49" charset="0"/>
              </a:rPr>
            </a:br>
            <a:r>
              <a:rPr lang="en-US" sz="1400" b="0" smtClean="0">
                <a:solidFill>
                  <a:schemeClr val="dk1"/>
                </a:solidFill>
                <a:latin typeface="Arial Narrow" panose="020B0506020202030204" pitchFamily="34" charset="0"/>
                <a:cs typeface="Courier New" panose="02070309020205020404" pitchFamily="49" charset="0"/>
              </a:rPr>
              <a:t>your variable – </a:t>
            </a:r>
            <a:r>
              <a:rPr lang="en-US" sz="1400" b="0" smtClean="0">
                <a:solidFill>
                  <a:schemeClr val="dk1"/>
                </a:solidFill>
                <a:latin typeface="Courier New" panose="02070309020205020404" pitchFamily="49" charset="0"/>
                <a:cs typeface="Courier New" panose="02070309020205020404" pitchFamily="49" charset="0"/>
              </a:rPr>
              <a:t>MSP430WARE_INSTALL</a:t>
            </a:r>
            <a:r>
              <a:rPr lang="en-US" sz="1400" b="0" smtClean="0">
                <a:solidFill>
                  <a:schemeClr val="dk1"/>
                </a:solidFill>
                <a:latin typeface="Arial Narrow" panose="020B0506020202030204" pitchFamily="34" charset="0"/>
                <a:cs typeface="Courier New" panose="02070309020205020404" pitchFamily="49" charset="0"/>
              </a:rPr>
              <a:t> – to add the following path:</a:t>
            </a:r>
            <a:br>
              <a:rPr lang="en-US" sz="1400" b="0" smtClean="0">
                <a:solidFill>
                  <a:schemeClr val="dk1"/>
                </a:solidFill>
                <a:latin typeface="Arial Narrow" panose="020B0506020202030204" pitchFamily="34" charset="0"/>
                <a:cs typeface="Courier New" panose="02070309020205020404" pitchFamily="49" charset="0"/>
              </a:rPr>
            </a:br>
            <a:r>
              <a:rPr lang="en-US" sz="1400" b="0" smtClean="0">
                <a:solidFill>
                  <a:schemeClr val="dk1"/>
                </a:solidFill>
                <a:latin typeface="Arial Narrow" panose="020B0506020202030204" pitchFamily="34" charset="0"/>
                <a:cs typeface="Courier New" panose="02070309020205020404" pitchFamily="49" charset="0"/>
              </a:rPr>
              <a:t>	</a:t>
            </a:r>
            <a:r>
              <a:rPr lang="en-US" sz="1400" b="0" smtClean="0">
                <a:solidFill>
                  <a:schemeClr val="dk1"/>
                </a:solidFill>
                <a:latin typeface="Courier New" panose="02070309020205020404" pitchFamily="49" charset="0"/>
                <a:cs typeface="Courier New" panose="02070309020205020404" pitchFamily="49" charset="0"/>
              </a:rPr>
              <a:t>${MSP430WARE_INSTALL}/driverlib/MSP430F5xx_6xx</a:t>
            </a:r>
            <a:endParaRPr lang="en-US" sz="1400" b="0" smtClean="0">
              <a:solidFill>
                <a:schemeClr val="dk1"/>
              </a:solidFill>
              <a:effectLst/>
              <a:latin typeface="Courier New" panose="02070309020205020404" pitchFamily="49" charset="0"/>
              <a:cs typeface="Courier New" panose="02070309020205020404" pitchFamily="49" charset="0"/>
            </a:endParaRPr>
          </a:p>
          <a:p>
            <a:pPr marL="228600" indent="-228600">
              <a:lnSpc>
                <a:spcPct val="100000"/>
              </a:lnSpc>
              <a:spcBef>
                <a:spcPts val="900"/>
              </a:spcBef>
              <a:buAutoNum type="arabicPeriod"/>
            </a:pPr>
            <a:r>
              <a:rPr lang="en-US" sz="1400" b="0" i="1" u="sng" smtClean="0">
                <a:solidFill>
                  <a:schemeClr val="dk1"/>
                </a:solidFill>
                <a:latin typeface="Arial Narrow" panose="020B0506020202030204" pitchFamily="34" charset="0"/>
                <a:cs typeface="Courier New" panose="02070309020205020404" pitchFamily="49" charset="0"/>
              </a:rPr>
              <a:t>Add Driver Library</a:t>
            </a:r>
            <a:r>
              <a:rPr lang="en-US" sz="1400" b="0" smtClean="0">
                <a:solidFill>
                  <a:schemeClr val="dk1"/>
                </a:solidFill>
                <a:latin typeface="Arial Narrow" panose="020B0506020202030204" pitchFamily="34" charset="0"/>
                <a:cs typeface="Courier New" panose="02070309020205020404" pitchFamily="49" charset="0"/>
              </a:rPr>
              <a:t>:  </a:t>
            </a:r>
            <a:r>
              <a:rPr lang="en-US" sz="1400" b="0" i="1" smtClean="0">
                <a:solidFill>
                  <a:schemeClr val="dk1"/>
                </a:solidFill>
                <a:latin typeface="Arial Narrow" panose="020B0506020202030204" pitchFamily="34" charset="0"/>
                <a:cs typeface="Courier New" panose="02070309020205020404" pitchFamily="49" charset="0"/>
              </a:rPr>
              <a:t>When using TI-RTOS,</a:t>
            </a:r>
            <a:r>
              <a:rPr lang="en-US" sz="1400" b="0" smtClean="0">
                <a:solidFill>
                  <a:schemeClr val="dk1"/>
                </a:solidFill>
                <a:latin typeface="Arial Narrow" panose="020B0506020202030204" pitchFamily="34" charset="0"/>
                <a:cs typeface="Courier New" panose="02070309020205020404" pitchFamily="49" charset="0"/>
              </a:rPr>
              <a:t> </a:t>
            </a:r>
            <a:r>
              <a:rPr lang="en-US" sz="1400" b="0" i="1" smtClean="0">
                <a:solidFill>
                  <a:schemeClr val="dk1"/>
                </a:solidFill>
                <a:latin typeface="Arial Narrow" panose="020B0506020202030204" pitchFamily="34" charset="0"/>
                <a:cs typeface="Courier New" panose="02070309020205020404" pitchFamily="49" charset="0"/>
              </a:rPr>
              <a:t>links for the driver library and include search paths is done FOR you</a:t>
            </a:r>
            <a:r>
              <a:rPr lang="en-US" sz="1400" b="0" smtClean="0">
                <a:solidFill>
                  <a:schemeClr val="dk1"/>
                </a:solidFill>
                <a:latin typeface="Arial Narrow" panose="020B0506020202030204" pitchFamily="34" charset="0"/>
                <a:cs typeface="Courier New" panose="02070309020205020404" pitchFamily="49" charset="0"/>
              </a:rPr>
              <a:t>. If not using TI-RTOS, Link in the driver library code by doing the following:  right-click on project, select Import, expand General, click</a:t>
            </a:r>
            <a:br>
              <a:rPr lang="en-US" sz="1400" b="0" smtClean="0">
                <a:solidFill>
                  <a:schemeClr val="dk1"/>
                </a:solidFill>
                <a:latin typeface="Arial Narrow" panose="020B0506020202030204" pitchFamily="34" charset="0"/>
                <a:cs typeface="Courier New" panose="02070309020205020404" pitchFamily="49" charset="0"/>
              </a:rPr>
            </a:br>
            <a:r>
              <a:rPr lang="en-US" sz="1400" b="0" smtClean="0">
                <a:solidFill>
                  <a:schemeClr val="dk1"/>
                </a:solidFill>
                <a:latin typeface="Arial Narrow" panose="020B0506020202030204" pitchFamily="34" charset="0"/>
                <a:cs typeface="Courier New" panose="02070309020205020404" pitchFamily="49" charset="0"/>
              </a:rPr>
              <a:t>on File System and click Next. Browse to MSP430Ware location (same location as pointed to by your variable), choose the folder</a:t>
            </a:r>
            <a:br>
              <a:rPr lang="en-US" sz="1400" b="0" smtClean="0">
                <a:solidFill>
                  <a:schemeClr val="dk1"/>
                </a:solidFill>
                <a:latin typeface="Arial Narrow" panose="020B0506020202030204" pitchFamily="34" charset="0"/>
                <a:cs typeface="Courier New" panose="02070309020205020404" pitchFamily="49" charset="0"/>
              </a:rPr>
            </a:br>
            <a:r>
              <a:rPr lang="en-US" sz="1400" b="0" smtClean="0">
                <a:solidFill>
                  <a:schemeClr val="dk1"/>
                </a:solidFill>
                <a:latin typeface="Arial Narrow" panose="020B0506020202030204" pitchFamily="34" charset="0"/>
                <a:cs typeface="Courier New" panose="02070309020205020404" pitchFamily="49" charset="0"/>
              </a:rPr>
              <a:t>MSP430F5xx_6xx (NOT the “FR” version), check this folder in the dialogue, check “create top-level folder”, click Finish.</a:t>
            </a:r>
          </a:p>
          <a:p>
            <a:pPr marL="228600" indent="-228600">
              <a:lnSpc>
                <a:spcPct val="100000"/>
              </a:lnSpc>
              <a:spcBef>
                <a:spcPts val="900"/>
              </a:spcBef>
              <a:buAutoNum type="arabicPeriod"/>
            </a:pPr>
            <a:r>
              <a:rPr lang="en-US" sz="1400" b="0" i="1" u="sng" smtClean="0">
                <a:solidFill>
                  <a:schemeClr val="dk1"/>
                </a:solidFill>
                <a:latin typeface="Arial Narrow" panose="020B0506020202030204" pitchFamily="34" charset="0"/>
                <a:cs typeface="Courier New" panose="02070309020205020404" pitchFamily="49" charset="0"/>
              </a:rPr>
              <a:t>Turn off ULP Advisor</a:t>
            </a:r>
            <a:r>
              <a:rPr lang="en-US" sz="1400" b="0" smtClean="0">
                <a:solidFill>
                  <a:schemeClr val="dk1"/>
                </a:solidFill>
                <a:latin typeface="Arial Narrow" panose="020B0506020202030204" pitchFamily="34" charset="0"/>
                <a:cs typeface="Courier New" panose="02070309020205020404" pitchFamily="49" charset="0"/>
              </a:rPr>
              <a:t>: </a:t>
            </a:r>
            <a:r>
              <a:rPr lang="en-US" sz="1400" b="0" i="1" smtClean="0">
                <a:solidFill>
                  <a:schemeClr val="dk1"/>
                </a:solidFill>
                <a:latin typeface="Arial Narrow" panose="020B0506020202030204" pitchFamily="34" charset="0"/>
                <a:cs typeface="Courier New" panose="02070309020205020404" pitchFamily="49" charset="0"/>
              </a:rPr>
              <a:t>Properties </a:t>
            </a:r>
            <a:r>
              <a:rPr lang="en-US" sz="1400" b="0" i="1">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cs typeface="Courier New" panose="02070309020205020404" pitchFamily="49" charset="0"/>
              </a:rPr>
              <a:t>Build </a:t>
            </a:r>
            <a:r>
              <a:rPr lang="en-US" sz="1400" b="0" i="1">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cs typeface="Courier New" panose="02070309020205020404" pitchFamily="49" charset="0"/>
              </a:rPr>
              <a:t>MSP430 Compiler </a:t>
            </a:r>
            <a:r>
              <a:rPr lang="en-US" sz="1400" b="0" i="1">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cs typeface="Courier New" panose="02070309020205020404" pitchFamily="49" charset="0"/>
              </a:rPr>
              <a:t>ULP Advisor, click None.</a:t>
            </a:r>
          </a:p>
        </p:txBody>
      </p:sp>
    </p:spTree>
    <p:custDataLst>
      <p:tags r:id="rId1"/>
    </p:custDataLst>
    <p:extLst>
      <p:ext uri="{BB962C8B-B14F-4D97-AF65-F5344CB8AC3E}">
        <p14:creationId xmlns:p14="http://schemas.microsoft.com/office/powerpoint/2010/main" val="3929750361"/>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a:bodyPr>
          <a:lstStyle/>
          <a:p>
            <a:r>
              <a:rPr lang="en-US" smtClean="0"/>
              <a:t>New Project Creation – Tiva-C </a:t>
            </a:r>
          </a:p>
        </p:txBody>
      </p:sp>
      <p:sp>
        <p:nvSpPr>
          <p:cNvPr id="36867" name="Rectangle 6"/>
          <p:cNvSpPr>
            <a:spLocks noChangeArrowheads="1"/>
          </p:cNvSpPr>
          <p:nvPr/>
        </p:nvSpPr>
        <p:spPr bwMode="auto">
          <a:xfrm>
            <a:off x="561975" y="6216650"/>
            <a:ext cx="184150" cy="625475"/>
          </a:xfrm>
          <a:prstGeom prst="rect">
            <a:avLst/>
          </a:prstGeom>
          <a:noFill/>
          <a:ln w="12700">
            <a:noFill/>
            <a:miter lim="800000"/>
            <a:headEnd type="none" w="sm" len="sm"/>
            <a:tailEnd type="none" w="sm" len="sm"/>
          </a:ln>
        </p:spPr>
        <p:txBody>
          <a:bodyPr wrap="none" anchor="ctr">
            <a:spAutoFit/>
          </a:bodyPr>
          <a:lstStyle/>
          <a:p>
            <a:pPr>
              <a:lnSpc>
                <a:spcPct val="100000"/>
              </a:lnSpc>
              <a:spcBef>
                <a:spcPct val="0"/>
              </a:spcBef>
            </a:pPr>
            <a:r>
              <a:rPr lang="en-US" sz="1100" b="0">
                <a:latin typeface="Times New Roman" pitchFamily="18" charset="0"/>
                <a:cs typeface="Times New Roman" pitchFamily="18" charset="0"/>
              </a:rPr>
              <a:t/>
            </a:r>
            <a:br>
              <a:rPr lang="en-US" sz="1100" b="0">
                <a:latin typeface="Times New Roman" pitchFamily="18" charset="0"/>
                <a:cs typeface="Times New Roman" pitchFamily="18" charset="0"/>
              </a:rPr>
            </a:br>
            <a:endParaRPr lang="en-US" b="0">
              <a:latin typeface="Times New Roman" pitchFamily="18" charset="0"/>
            </a:endParaRPr>
          </a:p>
        </p:txBody>
      </p:sp>
      <p:pic>
        <p:nvPicPr>
          <p:cNvPr id="5" name="Picture 4"/>
          <p:cNvPicPr/>
          <p:nvPr/>
        </p:nvPicPr>
        <p:blipFill>
          <a:blip r:embed="rId3">
            <a:extLst>
              <a:ext uri="{28A0092B-C50C-407E-A947-70E740481C1C}">
                <a14:useLocalDpi xmlns:a14="http://schemas.microsoft.com/office/drawing/2010/main" val="0"/>
              </a:ext>
            </a:extLst>
          </a:blip>
          <a:stretch>
            <a:fillRect/>
          </a:stretch>
        </p:blipFill>
        <p:spPr>
          <a:xfrm>
            <a:off x="7523817" y="522697"/>
            <a:ext cx="1219200" cy="1268003"/>
          </a:xfrm>
          <a:prstGeom prst="rect">
            <a:avLst/>
          </a:prstGeom>
        </p:spPr>
      </p:pic>
      <p:sp>
        <p:nvSpPr>
          <p:cNvPr id="6" name="TextBox 5"/>
          <p:cNvSpPr txBox="1"/>
          <p:nvPr/>
        </p:nvSpPr>
        <p:spPr>
          <a:xfrm>
            <a:off x="101499" y="718116"/>
            <a:ext cx="7431843" cy="609398"/>
          </a:xfrm>
          <a:prstGeom prst="rect">
            <a:avLst/>
          </a:prstGeom>
          <a:noFill/>
        </p:spPr>
        <p:txBody>
          <a:bodyPr wrap="none" rtlCol="0" anchor="ctr" anchorCtr="0">
            <a:spAutoFit/>
          </a:bodyPr>
          <a:lstStyle/>
          <a:p>
            <a:pPr marL="225425" indent="-225425">
              <a:buClr>
                <a:schemeClr val="tx2"/>
              </a:buClr>
              <a:buSzPct val="75000"/>
              <a:buFont typeface="Wingdings"/>
              <a:buChar char=""/>
            </a:pPr>
            <a:r>
              <a:rPr lang="en-US" sz="1600" smtClean="0">
                <a:solidFill>
                  <a:schemeClr val="accent4">
                    <a:lumMod val="75000"/>
                  </a:schemeClr>
                </a:solidFill>
                <a:effectLst/>
              </a:rPr>
              <a:t>Shown below is a summary of the steps to create a new Tiva-C project</a:t>
            </a:r>
          </a:p>
          <a:p>
            <a:pPr marL="225425" indent="-225425">
              <a:buClr>
                <a:schemeClr val="tx2"/>
              </a:buClr>
              <a:buSzPct val="75000"/>
              <a:buFont typeface="Wingdings"/>
              <a:buChar char=""/>
            </a:pPr>
            <a:r>
              <a:rPr lang="en-US" sz="1600" smtClean="0">
                <a:solidFill>
                  <a:schemeClr val="accent4">
                    <a:lumMod val="75000"/>
                  </a:schemeClr>
                </a:solidFill>
                <a:effectLst/>
              </a:rPr>
              <a:t>Refer to CCS/BIOS chapters/labs for specific screen shots and steps:</a:t>
            </a:r>
            <a:endParaRPr lang="en-US" sz="1600" dirty="0" smtClean="0">
              <a:solidFill>
                <a:schemeClr val="accent4">
                  <a:lumMod val="75000"/>
                </a:schemeClr>
              </a:solidFill>
              <a:effectLst/>
            </a:endParaRPr>
          </a:p>
        </p:txBody>
      </p:sp>
      <p:sp>
        <p:nvSpPr>
          <p:cNvPr id="7" name="TextBox 6"/>
          <p:cNvSpPr txBox="1"/>
          <p:nvPr/>
        </p:nvSpPr>
        <p:spPr>
          <a:xfrm>
            <a:off x="76200" y="1470295"/>
            <a:ext cx="9220200" cy="5078313"/>
          </a:xfrm>
          <a:prstGeom prst="rect">
            <a:avLst/>
          </a:prstGeom>
          <a:noFill/>
        </p:spPr>
        <p:txBody>
          <a:bodyPr wrap="square" rtlCol="0" anchor="ctr" anchorCtr="0">
            <a:spAutoFit/>
          </a:bodyPr>
          <a:lstStyle/>
          <a:p>
            <a:pPr marL="228600" indent="-228600">
              <a:lnSpc>
                <a:spcPct val="100000"/>
              </a:lnSpc>
              <a:spcBef>
                <a:spcPts val="1200"/>
              </a:spcBef>
              <a:buAutoNum type="arabicPeriod"/>
            </a:pPr>
            <a:r>
              <a:rPr lang="en-US" sz="1400" b="0" i="1" u="sng" smtClean="0">
                <a:solidFill>
                  <a:schemeClr val="dk1"/>
                </a:solidFill>
                <a:effectLst/>
                <a:latin typeface="Arial Narrow" panose="020B0506020202030204" pitchFamily="34" charset="0"/>
              </a:rPr>
              <a:t>File </a:t>
            </a:r>
            <a:r>
              <a:rPr lang="en-US" sz="1400" b="0" i="1" u="sng" smtClean="0">
                <a:solidFill>
                  <a:schemeClr val="dk1"/>
                </a:solidFill>
                <a:effectLst/>
                <a:latin typeface="Arial Narrow" panose="020B0506020202030204" pitchFamily="34" charset="0"/>
                <a:sym typeface="Wingdings"/>
              </a:rPr>
              <a:t> </a:t>
            </a:r>
            <a:r>
              <a:rPr lang="en-US" sz="1400" b="0" i="1" u="sng" smtClean="0">
                <a:solidFill>
                  <a:schemeClr val="dk1"/>
                </a:solidFill>
                <a:effectLst/>
                <a:latin typeface="Arial Narrow" panose="020B0506020202030204" pitchFamily="34" charset="0"/>
              </a:rPr>
              <a:t>New </a:t>
            </a:r>
            <a:r>
              <a:rPr lang="en-US" sz="1400" b="0" i="1" u="sng">
                <a:solidFill>
                  <a:schemeClr val="dk1"/>
                </a:solidFill>
                <a:latin typeface="Arial Narrow" panose="020B0506020202030204" pitchFamily="34" charset="0"/>
                <a:sym typeface="Wingdings"/>
              </a:rPr>
              <a:t> </a:t>
            </a:r>
            <a:r>
              <a:rPr lang="en-US" sz="1400" b="0" i="1" u="sng" smtClean="0">
                <a:solidFill>
                  <a:schemeClr val="dk1"/>
                </a:solidFill>
                <a:effectLst/>
                <a:latin typeface="Arial Narrow" panose="020B0506020202030204" pitchFamily="34" charset="0"/>
              </a:rPr>
              <a:t>CCS Project</a:t>
            </a:r>
            <a:r>
              <a:rPr lang="en-US" sz="1400" b="0" smtClean="0">
                <a:solidFill>
                  <a:schemeClr val="dk1"/>
                </a:solidFill>
                <a:effectLst/>
                <a:latin typeface="Arial Narrow" panose="020B0506020202030204" pitchFamily="34" charset="0"/>
              </a:rPr>
              <a:t>. Then fill in all target-specific items. Use “variant” to filter device list.</a:t>
            </a:r>
          </a:p>
          <a:p>
            <a:pPr marL="228600" indent="-228600">
              <a:lnSpc>
                <a:spcPct val="100000"/>
              </a:lnSpc>
              <a:spcBef>
                <a:spcPts val="1200"/>
              </a:spcBef>
              <a:buFontTx/>
              <a:buAutoNum type="arabicPeriod"/>
            </a:pPr>
            <a:r>
              <a:rPr lang="en-US" sz="1400" b="0" i="1" u="sng" smtClean="0">
                <a:solidFill>
                  <a:schemeClr val="dk1"/>
                </a:solidFill>
                <a:latin typeface="Arial Narrow" panose="020B0506020202030204" pitchFamily="34" charset="0"/>
              </a:rPr>
              <a:t>Project path</a:t>
            </a:r>
            <a:r>
              <a:rPr lang="en-US" sz="1400" b="0" smtClean="0">
                <a:solidFill>
                  <a:schemeClr val="dk1"/>
                </a:solidFill>
                <a:latin typeface="Arial Narrow" panose="020B0506020202030204" pitchFamily="34" charset="0"/>
              </a:rPr>
              <a:t>: for </a:t>
            </a:r>
            <a:r>
              <a:rPr lang="en-US" sz="1400" b="0">
                <a:solidFill>
                  <a:schemeClr val="dk1"/>
                </a:solidFill>
                <a:latin typeface="Arial Narrow" panose="020B0506020202030204" pitchFamily="34" charset="0"/>
              </a:rPr>
              <a:t>TI-RTOS workshop labs, choose </a:t>
            </a:r>
            <a:r>
              <a:rPr lang="en-US" sz="1400" b="0" smtClean="0">
                <a:solidFill>
                  <a:schemeClr val="dk1"/>
                </a:solidFill>
                <a:latin typeface="Courier New" panose="02070309020205020404" pitchFamily="49" charset="0"/>
                <a:cs typeface="Courier New" panose="02070309020205020404" pitchFamily="49" charset="0"/>
              </a:rPr>
              <a:t>\</a:t>
            </a:r>
            <a:r>
              <a:rPr lang="en-US" sz="1400" b="0">
                <a:solidFill>
                  <a:schemeClr val="dk1"/>
                </a:solidFill>
                <a:latin typeface="Courier New" panose="02070309020205020404" pitchFamily="49" charset="0"/>
                <a:cs typeface="Courier New" panose="02070309020205020404" pitchFamily="49" charset="0"/>
              </a:rPr>
              <a:t>labx\Project</a:t>
            </a:r>
            <a:r>
              <a:rPr lang="en-US" sz="1400" b="0">
                <a:solidFill>
                  <a:schemeClr val="dk1"/>
                </a:solidFill>
                <a:latin typeface="Arial Narrow" panose="020B0506020202030204" pitchFamily="34" charset="0"/>
              </a:rPr>
              <a:t> </a:t>
            </a:r>
            <a:r>
              <a:rPr lang="en-US" sz="1400" b="0" smtClean="0">
                <a:solidFill>
                  <a:schemeClr val="dk1"/>
                </a:solidFill>
                <a:latin typeface="Arial Narrow" panose="020B0506020202030204" pitchFamily="34" charset="0"/>
              </a:rPr>
              <a:t>for </a:t>
            </a:r>
            <a:r>
              <a:rPr lang="en-US" sz="1400" b="0">
                <a:solidFill>
                  <a:schemeClr val="dk1"/>
                </a:solidFill>
                <a:latin typeface="Arial Narrow" panose="020B0506020202030204" pitchFamily="34" charset="0"/>
              </a:rPr>
              <a:t>your project location (do not use </a:t>
            </a:r>
            <a:r>
              <a:rPr lang="en-US" sz="1400" b="0" smtClean="0">
                <a:solidFill>
                  <a:schemeClr val="dk1"/>
                </a:solidFill>
                <a:latin typeface="Arial Narrow" panose="020B0506020202030204" pitchFamily="34" charset="0"/>
              </a:rPr>
              <a:t>default </a:t>
            </a:r>
            <a:r>
              <a:rPr lang="en-US" sz="1400" b="0">
                <a:solidFill>
                  <a:schemeClr val="dk1"/>
                </a:solidFill>
                <a:latin typeface="Arial Narrow" panose="020B0506020202030204" pitchFamily="34" charset="0"/>
              </a:rPr>
              <a:t>workspace path)</a:t>
            </a:r>
          </a:p>
          <a:p>
            <a:pPr marL="228600" indent="-228600">
              <a:lnSpc>
                <a:spcPct val="100000"/>
              </a:lnSpc>
              <a:spcBef>
                <a:spcPts val="1200"/>
              </a:spcBef>
              <a:buAutoNum type="arabicPeriod"/>
            </a:pPr>
            <a:r>
              <a:rPr lang="en-US" sz="1400" b="0" i="1" u="sng" smtClean="0">
                <a:solidFill>
                  <a:schemeClr val="dk1"/>
                </a:solidFill>
                <a:latin typeface="Arial Narrow" panose="020B0506020202030204" pitchFamily="34" charset="0"/>
              </a:rPr>
              <a:t>Device Variant</a:t>
            </a:r>
            <a:r>
              <a:rPr lang="en-US" sz="1400" b="0" smtClean="0">
                <a:solidFill>
                  <a:schemeClr val="dk1"/>
                </a:solidFill>
                <a:latin typeface="Arial Narrow" panose="020B0506020202030204" pitchFamily="34" charset="0"/>
              </a:rPr>
              <a:t> = TM4C123GH6PM,   </a:t>
            </a:r>
            <a:r>
              <a:rPr lang="en-US" sz="1400" b="0" i="1" smtClean="0">
                <a:solidFill>
                  <a:schemeClr val="dk1"/>
                </a:solidFill>
                <a:latin typeface="Arial Narrow" panose="020B0506020202030204" pitchFamily="34" charset="0"/>
              </a:rPr>
              <a:t>Connection</a:t>
            </a:r>
            <a:r>
              <a:rPr lang="en-US" sz="1400" b="0" smtClean="0">
                <a:solidFill>
                  <a:schemeClr val="dk1"/>
                </a:solidFill>
                <a:latin typeface="Arial Narrow" panose="020B0506020202030204" pitchFamily="34" charset="0"/>
              </a:rPr>
              <a:t> = Stellaris In-Circuit Debug Interface</a:t>
            </a:r>
            <a:endParaRPr lang="en-US" sz="1400" b="0" smtClean="0">
              <a:solidFill>
                <a:schemeClr val="dk1"/>
              </a:solidFill>
              <a:effectLst/>
              <a:latin typeface="Arial Narrow" panose="020B0506020202030204" pitchFamily="34" charset="0"/>
            </a:endParaRPr>
          </a:p>
          <a:p>
            <a:pPr marL="228600" indent="-228600">
              <a:lnSpc>
                <a:spcPct val="100000"/>
              </a:lnSpc>
              <a:spcBef>
                <a:spcPts val="1200"/>
              </a:spcBef>
              <a:buAutoNum type="arabicPeriod"/>
            </a:pPr>
            <a:r>
              <a:rPr lang="en-US" sz="1400" b="0" i="1" u="sng" smtClean="0">
                <a:solidFill>
                  <a:schemeClr val="dk1"/>
                </a:solidFill>
                <a:latin typeface="Arial Narrow" panose="020B0506020202030204" pitchFamily="34" charset="0"/>
              </a:rPr>
              <a:t>Project Template</a:t>
            </a:r>
            <a:r>
              <a:rPr lang="en-US" sz="1400" b="0" smtClean="0">
                <a:solidFill>
                  <a:schemeClr val="dk1"/>
                </a:solidFill>
                <a:latin typeface="Arial Narrow" panose="020B0506020202030204" pitchFamily="34" charset="0"/>
              </a:rPr>
              <a:t>:  BIOS app? Use TI-RTOS</a:t>
            </a:r>
            <a:r>
              <a:rPr lang="en-US" sz="1400" b="0" i="1" smtClean="0">
                <a:solidFill>
                  <a:schemeClr val="dk1"/>
                </a:solidFill>
                <a:latin typeface="Arial Narrow" panose="020B0506020202030204" pitchFamily="34" charset="0"/>
                <a:sym typeface="Wingdings"/>
              </a:rPr>
              <a:t> </a:t>
            </a:r>
            <a:r>
              <a:rPr lang="en-US" sz="1400" b="0" smtClean="0">
                <a:solidFill>
                  <a:schemeClr val="dk1"/>
                </a:solidFill>
                <a:latin typeface="Arial Narrow" panose="020B0506020202030204" pitchFamily="34" charset="0"/>
              </a:rPr>
              <a:t>Driver</a:t>
            </a:r>
            <a:r>
              <a:rPr lang="en-US" sz="1400" b="0" i="1" smtClean="0">
                <a:solidFill>
                  <a:schemeClr val="dk1"/>
                </a:solidFill>
                <a:latin typeface="Arial Narrow" panose="020B0506020202030204" pitchFamily="34" charset="0"/>
                <a:sym typeface="Wingdings"/>
              </a:rPr>
              <a:t> </a:t>
            </a:r>
            <a:r>
              <a:rPr lang="en-US" sz="1400" b="0" smtClean="0">
                <a:solidFill>
                  <a:schemeClr val="dk1"/>
                </a:solidFill>
                <a:latin typeface="Arial Narrow" panose="020B0506020202030204" pitchFamily="34" charset="0"/>
              </a:rPr>
              <a:t>TM4C </a:t>
            </a:r>
            <a:r>
              <a:rPr lang="en-US" sz="1400" b="0">
                <a:solidFill>
                  <a:schemeClr val="dk1"/>
                </a:solidFill>
                <a:latin typeface="Arial Narrow" panose="020B0506020202030204" pitchFamily="34" charset="0"/>
              </a:rPr>
              <a:t>LP</a:t>
            </a:r>
            <a:r>
              <a:rPr lang="en-US" sz="1400" b="0" i="1" smtClean="0">
                <a:solidFill>
                  <a:schemeClr val="dk1"/>
                </a:solidFill>
                <a:latin typeface="Arial Narrow" panose="020B0506020202030204" pitchFamily="34" charset="0"/>
                <a:sym typeface="Wingdings"/>
              </a:rPr>
              <a:t> </a:t>
            </a:r>
            <a:r>
              <a:rPr lang="en-US" sz="1400" b="0" smtClean="0">
                <a:solidFill>
                  <a:schemeClr val="dk1"/>
                </a:solidFill>
                <a:latin typeface="Arial Narrow" panose="020B0506020202030204" pitchFamily="34" charset="0"/>
              </a:rPr>
              <a:t>Ex</a:t>
            </a:r>
            <a:r>
              <a:rPr lang="en-US" sz="1400" b="0" i="1" smtClean="0">
                <a:solidFill>
                  <a:schemeClr val="dk1"/>
                </a:solidFill>
                <a:latin typeface="Arial Narrow" panose="020B0506020202030204" pitchFamily="34" charset="0"/>
                <a:sym typeface="Wingdings"/>
              </a:rPr>
              <a:t> </a:t>
            </a:r>
            <a:r>
              <a:rPr lang="en-US" sz="1400" b="0" smtClean="0">
                <a:solidFill>
                  <a:schemeClr val="dk1"/>
                </a:solidFill>
                <a:latin typeface="Arial Narrow" panose="020B0506020202030204" pitchFamily="34" charset="0"/>
              </a:rPr>
              <a:t>Empty </a:t>
            </a:r>
            <a:r>
              <a:rPr lang="en-US" sz="1400" b="0">
                <a:solidFill>
                  <a:schemeClr val="dk1"/>
                </a:solidFill>
                <a:latin typeface="Arial Narrow" panose="020B0506020202030204" pitchFamily="34" charset="0"/>
              </a:rPr>
              <a:t>template. </a:t>
            </a:r>
            <a:r>
              <a:rPr lang="en-US" sz="1400" b="0" smtClean="0">
                <a:solidFill>
                  <a:schemeClr val="dk1"/>
                </a:solidFill>
                <a:latin typeface="Arial Narrow" panose="020B0506020202030204" pitchFamily="34" charset="0"/>
              </a:rPr>
              <a:t>Non-BIOS app?, choose “Empty Project”</a:t>
            </a:r>
          </a:p>
          <a:p>
            <a:pPr marL="228600" indent="-228600">
              <a:lnSpc>
                <a:spcPct val="100000"/>
              </a:lnSpc>
              <a:spcBef>
                <a:spcPts val="1200"/>
              </a:spcBef>
              <a:buAutoNum type="arabicPeriod"/>
            </a:pPr>
            <a:r>
              <a:rPr lang="en-US" sz="1400" b="0" i="1" u="sng" smtClean="0">
                <a:solidFill>
                  <a:schemeClr val="dk1"/>
                </a:solidFill>
                <a:latin typeface="Arial Narrow" panose="020B0506020202030204" pitchFamily="34" charset="0"/>
              </a:rPr>
              <a:t>RTSC Settings</a:t>
            </a:r>
            <a:r>
              <a:rPr lang="en-US" sz="1400" b="0" smtClean="0">
                <a:solidFill>
                  <a:schemeClr val="dk1"/>
                </a:solidFill>
                <a:effectLst/>
                <a:latin typeface="Arial Narrow" panose="020B0506020202030204" pitchFamily="34" charset="0"/>
              </a:rPr>
              <a:t>: If BIOS app, click “Next” to configure tools – choose latest XDC, TI-RTOS, UIA. If non-BIOS app, click Finish</a:t>
            </a:r>
          </a:p>
          <a:p>
            <a:pPr marL="228600" indent="-228600">
              <a:lnSpc>
                <a:spcPct val="100000"/>
              </a:lnSpc>
              <a:spcBef>
                <a:spcPts val="1200"/>
              </a:spcBef>
              <a:buAutoNum type="arabicPeriod"/>
            </a:pPr>
            <a:r>
              <a:rPr lang="en-US" sz="1400" b="0" i="1" u="sng" smtClean="0">
                <a:solidFill>
                  <a:schemeClr val="dk1"/>
                </a:solidFill>
                <a:latin typeface="Arial Narrow" panose="020B0506020202030204" pitchFamily="34" charset="0"/>
              </a:rPr>
              <a:t>File Mgmt</a:t>
            </a:r>
            <a:r>
              <a:rPr lang="en-US" sz="1400" b="0" smtClean="0">
                <a:solidFill>
                  <a:schemeClr val="dk1"/>
                </a:solidFill>
                <a:latin typeface="Arial Narrow" panose="020B0506020202030204" pitchFamily="34" charset="0"/>
              </a:rPr>
              <a:t>:  If necessary, delete </a:t>
            </a:r>
            <a:r>
              <a:rPr lang="en-US" sz="1400" b="0" smtClean="0">
                <a:solidFill>
                  <a:schemeClr val="dk1"/>
                </a:solidFill>
                <a:latin typeface="Courier New" panose="02070309020205020404" pitchFamily="49" charset="0"/>
                <a:cs typeface="Courier New" panose="02070309020205020404" pitchFamily="49" charset="0"/>
              </a:rPr>
              <a:t>main.c</a:t>
            </a:r>
            <a:r>
              <a:rPr lang="en-US" sz="1400" b="0" smtClean="0">
                <a:solidFill>
                  <a:schemeClr val="dk1"/>
                </a:solidFill>
                <a:latin typeface="Arial Narrow" panose="020B0506020202030204" pitchFamily="34" charset="0"/>
              </a:rPr>
              <a:t> provided by New Project Wizard and add (copy) source files to project as directed in lab.</a:t>
            </a:r>
          </a:p>
          <a:p>
            <a:pPr marL="228600" indent="-228600">
              <a:lnSpc>
                <a:spcPct val="100000"/>
              </a:lnSpc>
              <a:spcBef>
                <a:spcPts val="1200"/>
              </a:spcBef>
              <a:buAutoNum type="arabicPeriod"/>
            </a:pPr>
            <a:r>
              <a:rPr lang="en-US" sz="1400" b="0" i="1" u="sng" smtClean="0">
                <a:solidFill>
                  <a:schemeClr val="dk1"/>
                </a:solidFill>
                <a:latin typeface="Arial Narrow" panose="020B0506020202030204" pitchFamily="34" charset="0"/>
              </a:rPr>
              <a:t>Linker Command File</a:t>
            </a:r>
            <a:r>
              <a:rPr lang="en-US" sz="1400" b="0" smtClean="0">
                <a:solidFill>
                  <a:schemeClr val="dk1"/>
                </a:solidFill>
                <a:latin typeface="Arial Narrow" panose="020B0506020202030204" pitchFamily="34" charset="0"/>
              </a:rPr>
              <a:t>:  Double check that the proper </a:t>
            </a:r>
            <a:r>
              <a:rPr lang="en-US" sz="1400" b="0" smtClean="0">
                <a:solidFill>
                  <a:schemeClr val="dk1"/>
                </a:solidFill>
                <a:latin typeface="Courier New" panose="02070309020205020404" pitchFamily="49" charset="0"/>
                <a:cs typeface="Courier New" panose="02070309020205020404" pitchFamily="49" charset="0"/>
              </a:rPr>
              <a:t>linker.cmd</a:t>
            </a:r>
            <a:r>
              <a:rPr lang="en-US" sz="1400" b="0" smtClean="0">
                <a:solidFill>
                  <a:schemeClr val="dk1"/>
                </a:solidFill>
                <a:latin typeface="Arial Narrow" panose="020B0506020202030204" pitchFamily="34" charset="0"/>
              </a:rPr>
              <a:t> file has been added to your project. </a:t>
            </a:r>
            <a:endParaRPr lang="en-US" sz="1400" b="0" smtClean="0">
              <a:solidFill>
                <a:schemeClr val="dk1"/>
              </a:solidFill>
              <a:latin typeface="Courier New" panose="02070309020205020404" pitchFamily="49" charset="0"/>
              <a:cs typeface="Courier New" panose="02070309020205020404" pitchFamily="49" charset="0"/>
            </a:endParaRPr>
          </a:p>
          <a:p>
            <a:pPr marL="228600" indent="-228600">
              <a:lnSpc>
                <a:spcPct val="100000"/>
              </a:lnSpc>
              <a:spcBef>
                <a:spcPts val="1200"/>
              </a:spcBef>
              <a:buAutoNum type="arabicPeriod"/>
            </a:pPr>
            <a:r>
              <a:rPr lang="en-US" sz="1400" b="0" i="1" u="sng" smtClean="0">
                <a:solidFill>
                  <a:schemeClr val="dk1"/>
                </a:solidFill>
                <a:effectLst/>
                <a:latin typeface="Arial Narrow" panose="020B0506020202030204" pitchFamily="34" charset="0"/>
                <a:cs typeface="Courier New" panose="02070309020205020404" pitchFamily="49" charset="0"/>
              </a:rPr>
              <a:t>Edit vars.ini</a:t>
            </a:r>
            <a:r>
              <a:rPr lang="en-US" sz="1400" b="0" smtClean="0">
                <a:solidFill>
                  <a:schemeClr val="dk1"/>
                </a:solidFill>
                <a:effectLst/>
                <a:latin typeface="Arial Narrow" panose="020B0506020202030204" pitchFamily="34" charset="0"/>
                <a:cs typeface="Courier New" panose="02070309020205020404" pitchFamily="49" charset="0"/>
              </a:rPr>
              <a:t>:  Modify </a:t>
            </a:r>
            <a:r>
              <a:rPr lang="en-US" sz="1400" b="0" smtClean="0">
                <a:solidFill>
                  <a:schemeClr val="dk1"/>
                </a:solidFill>
                <a:effectLst/>
                <a:latin typeface="Courier New" panose="02070309020205020404" pitchFamily="49" charset="0"/>
                <a:cs typeface="Courier New" panose="02070309020205020404" pitchFamily="49" charset="0"/>
              </a:rPr>
              <a:t>vars.ini</a:t>
            </a:r>
            <a:r>
              <a:rPr lang="en-US" sz="1400" b="0" smtClean="0">
                <a:solidFill>
                  <a:schemeClr val="dk1"/>
                </a:solidFill>
                <a:effectLst/>
                <a:latin typeface="Arial Narrow" panose="020B0506020202030204" pitchFamily="34" charset="0"/>
                <a:cs typeface="Courier New" panose="02070309020205020404" pitchFamily="49" charset="0"/>
              </a:rPr>
              <a:t> to match your exact TIVAWare install path for TIVAWARE_INSTALL = your install path</a:t>
            </a:r>
          </a:p>
          <a:p>
            <a:pPr marL="228600" indent="-228600">
              <a:lnSpc>
                <a:spcPct val="100000"/>
              </a:lnSpc>
              <a:spcBef>
                <a:spcPts val="1200"/>
              </a:spcBef>
              <a:buAutoNum type="arabicPeriod"/>
            </a:pPr>
            <a:r>
              <a:rPr lang="en-US" sz="1400" b="0" i="1" u="sng" smtClean="0">
                <a:solidFill>
                  <a:schemeClr val="dk1"/>
                </a:solidFill>
                <a:latin typeface="Arial Narrow" panose="020B0506020202030204" pitchFamily="34" charset="0"/>
                <a:cs typeface="Courier New" panose="02070309020205020404" pitchFamily="49" charset="0"/>
              </a:rPr>
              <a:t>Import vars.ini</a:t>
            </a:r>
            <a:r>
              <a:rPr lang="en-US" sz="1400" b="0" smtClean="0">
                <a:solidFill>
                  <a:schemeClr val="dk1"/>
                </a:solidFill>
                <a:latin typeface="Arial Narrow" panose="020B0506020202030204" pitchFamily="34" charset="0"/>
                <a:cs typeface="Courier New" panose="02070309020205020404" pitchFamily="49" charset="0"/>
              </a:rPr>
              <a:t>:  if not already done </a:t>
            </a:r>
            <a:r>
              <a:rPr lang="en-US" sz="1400" b="0" u="sng" smtClean="0">
                <a:solidFill>
                  <a:schemeClr val="dk1"/>
                </a:solidFill>
                <a:latin typeface="Arial Narrow" panose="020B0506020202030204" pitchFamily="34" charset="0"/>
                <a:cs typeface="Courier New" panose="02070309020205020404" pitchFamily="49" charset="0"/>
              </a:rPr>
              <a:t>once</a:t>
            </a:r>
            <a:r>
              <a:rPr lang="en-US" sz="1400" b="0" smtClean="0">
                <a:solidFill>
                  <a:schemeClr val="dk1"/>
                </a:solidFill>
                <a:latin typeface="Arial Narrow" panose="020B0506020202030204" pitchFamily="34" charset="0"/>
                <a:cs typeface="Courier New" panose="02070309020205020404" pitchFamily="49" charset="0"/>
              </a:rPr>
              <a:t> for workspace, import </a:t>
            </a:r>
            <a:r>
              <a:rPr lang="en-US" sz="1400" b="0" smtClean="0">
                <a:solidFill>
                  <a:schemeClr val="dk1"/>
                </a:solidFill>
                <a:latin typeface="Courier New" panose="02070309020205020404" pitchFamily="49" charset="0"/>
                <a:cs typeface="Courier New" panose="02070309020205020404" pitchFamily="49" charset="0"/>
              </a:rPr>
              <a:t>vars.ini</a:t>
            </a:r>
            <a:r>
              <a:rPr lang="en-US" sz="1400" b="0" smtClean="0">
                <a:solidFill>
                  <a:schemeClr val="dk1"/>
                </a:solidFill>
                <a:latin typeface="Arial Narrow" panose="020B0506020202030204" pitchFamily="34" charset="0"/>
                <a:cs typeface="Courier New" panose="02070309020205020404" pitchFamily="49" charset="0"/>
              </a:rPr>
              <a:t> by choosing </a:t>
            </a:r>
            <a:r>
              <a:rPr lang="en-US" sz="1400" b="0" i="1" smtClean="0">
                <a:solidFill>
                  <a:schemeClr val="dk1"/>
                </a:solidFill>
                <a:latin typeface="Arial Narrow" panose="020B0506020202030204" pitchFamily="34" charset="0"/>
                <a:cs typeface="Courier New" panose="02070309020205020404" pitchFamily="49" charset="0"/>
              </a:rPr>
              <a:t>File </a:t>
            </a:r>
            <a:r>
              <a:rPr lang="en-US" sz="1400" b="0" i="1">
                <a:solidFill>
                  <a:schemeClr val="dk1"/>
                </a:solidFill>
                <a:latin typeface="Arial Narrow" panose="020B0506020202030204" pitchFamily="34" charset="0"/>
                <a:sym typeface="Wingdings"/>
              </a:rPr>
              <a:t></a:t>
            </a:r>
            <a:r>
              <a:rPr lang="en-US" sz="1400" b="0" i="1" smtClean="0">
                <a:solidFill>
                  <a:schemeClr val="dk1"/>
                </a:solidFill>
                <a:latin typeface="Arial Narrow" panose="020B0506020202030204" pitchFamily="34" charset="0"/>
                <a:cs typeface="Courier New" panose="02070309020205020404" pitchFamily="49" charset="0"/>
              </a:rPr>
              <a:t> Import </a:t>
            </a:r>
            <a:r>
              <a:rPr lang="en-US" sz="1400" b="0" i="1">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cs typeface="Courier New" panose="02070309020205020404" pitchFamily="49" charset="0"/>
              </a:rPr>
              <a:t>CCS </a:t>
            </a:r>
            <a:r>
              <a:rPr lang="en-US" sz="1400" b="0" i="1">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cs typeface="Courier New" panose="02070309020205020404" pitchFamily="49" charset="0"/>
              </a:rPr>
              <a:t>Build Variables,</a:t>
            </a:r>
            <a:r>
              <a:rPr lang="en-US" sz="1400" b="0" smtClean="0">
                <a:solidFill>
                  <a:schemeClr val="dk1"/>
                </a:solidFill>
                <a:latin typeface="Arial Narrow" panose="020B0506020202030204" pitchFamily="34" charset="0"/>
                <a:cs typeface="Courier New" panose="02070309020205020404" pitchFamily="49" charset="0"/>
              </a:rPr>
              <a:t/>
            </a:r>
            <a:br>
              <a:rPr lang="en-US" sz="1400" b="0" smtClean="0">
                <a:solidFill>
                  <a:schemeClr val="dk1"/>
                </a:solidFill>
                <a:latin typeface="Arial Narrow" panose="020B0506020202030204" pitchFamily="34" charset="0"/>
                <a:cs typeface="Courier New" panose="02070309020205020404" pitchFamily="49" charset="0"/>
              </a:rPr>
            </a:br>
            <a:r>
              <a:rPr lang="en-US" sz="1400" b="0" smtClean="0">
                <a:solidFill>
                  <a:schemeClr val="dk1"/>
                </a:solidFill>
                <a:latin typeface="Arial Narrow" panose="020B0506020202030204" pitchFamily="34" charset="0"/>
                <a:cs typeface="Courier New" panose="02070309020205020404" pitchFamily="49" charset="0"/>
              </a:rPr>
              <a:t>then click </a:t>
            </a:r>
            <a:r>
              <a:rPr lang="en-US" sz="1400" b="0" i="1" smtClean="0">
                <a:solidFill>
                  <a:schemeClr val="dk1"/>
                </a:solidFill>
                <a:latin typeface="Arial Narrow" panose="020B0506020202030204" pitchFamily="34" charset="0"/>
                <a:cs typeface="Courier New" panose="02070309020205020404" pitchFamily="49" charset="0"/>
              </a:rPr>
              <a:t>Next</a:t>
            </a:r>
            <a:r>
              <a:rPr lang="en-US" sz="1400" b="0" smtClean="0">
                <a:solidFill>
                  <a:schemeClr val="dk1"/>
                </a:solidFill>
                <a:latin typeface="Arial Narrow" panose="020B0506020202030204" pitchFamily="34" charset="0"/>
                <a:cs typeface="Courier New" panose="02070309020205020404" pitchFamily="49" charset="0"/>
              </a:rPr>
              <a:t>, browse to </a:t>
            </a:r>
            <a:r>
              <a:rPr lang="en-US" sz="1400" b="0" smtClean="0">
                <a:solidFill>
                  <a:schemeClr val="dk1"/>
                </a:solidFill>
                <a:latin typeface="Courier New" panose="02070309020205020404" pitchFamily="49" charset="0"/>
                <a:cs typeface="Courier New" panose="02070309020205020404" pitchFamily="49" charset="0"/>
              </a:rPr>
              <a:t>vars.ini</a:t>
            </a:r>
            <a:r>
              <a:rPr lang="en-US" sz="1400" b="0" smtClean="0">
                <a:solidFill>
                  <a:schemeClr val="dk1"/>
                </a:solidFill>
                <a:latin typeface="Arial Narrow" panose="020B0506020202030204" pitchFamily="34" charset="0"/>
                <a:cs typeface="Courier New" panose="02070309020205020404" pitchFamily="49" charset="0"/>
              </a:rPr>
              <a:t> location, check box for “</a:t>
            </a:r>
            <a:r>
              <a:rPr lang="en-US" sz="1400" b="0" i="1" smtClean="0">
                <a:solidFill>
                  <a:schemeClr val="dk1"/>
                </a:solidFill>
                <a:latin typeface="Arial Narrow" panose="020B0506020202030204" pitchFamily="34" charset="0"/>
                <a:cs typeface="Courier New" panose="02070309020205020404" pitchFamily="49" charset="0"/>
              </a:rPr>
              <a:t>Overwrite existing values</a:t>
            </a:r>
            <a:r>
              <a:rPr lang="en-US" sz="1400" b="0" smtClean="0">
                <a:solidFill>
                  <a:schemeClr val="dk1"/>
                </a:solidFill>
                <a:latin typeface="Arial Narrow" panose="020B0506020202030204" pitchFamily="34" charset="0"/>
                <a:cs typeface="Courier New" panose="02070309020205020404" pitchFamily="49" charset="0"/>
              </a:rPr>
              <a:t>”, click </a:t>
            </a:r>
            <a:r>
              <a:rPr lang="en-US" sz="1400" b="0" i="1" smtClean="0">
                <a:solidFill>
                  <a:schemeClr val="dk1"/>
                </a:solidFill>
                <a:latin typeface="Arial Narrow" panose="020B0506020202030204" pitchFamily="34" charset="0"/>
                <a:cs typeface="Courier New" panose="02070309020205020404" pitchFamily="49" charset="0"/>
              </a:rPr>
              <a:t>Finish</a:t>
            </a:r>
            <a:r>
              <a:rPr lang="en-US" sz="1400" b="0" smtClean="0">
                <a:solidFill>
                  <a:schemeClr val="dk1"/>
                </a:solidFill>
                <a:latin typeface="Arial Narrow" panose="020B0506020202030204" pitchFamily="34" charset="0"/>
                <a:cs typeface="Courier New" panose="02070309020205020404" pitchFamily="49" charset="0"/>
              </a:rPr>
              <a:t> to import var into workspace</a:t>
            </a:r>
          </a:p>
          <a:p>
            <a:pPr marL="228600" indent="-228600">
              <a:lnSpc>
                <a:spcPct val="100000"/>
              </a:lnSpc>
              <a:spcBef>
                <a:spcPts val="1200"/>
              </a:spcBef>
              <a:buAutoNum type="arabicPeriod"/>
            </a:pPr>
            <a:r>
              <a:rPr lang="en-US" sz="1400" b="0" i="1" u="sng" smtClean="0">
                <a:solidFill>
                  <a:schemeClr val="dk1"/>
                </a:solidFill>
                <a:latin typeface="Arial Narrow" panose="020B0506020202030204" pitchFamily="34" charset="0"/>
                <a:cs typeface="Courier New" panose="02070309020205020404" pitchFamily="49" charset="0"/>
              </a:rPr>
              <a:t>Add Include Search Path</a:t>
            </a:r>
            <a:r>
              <a:rPr lang="en-US" sz="1400" b="0" smtClean="0">
                <a:solidFill>
                  <a:schemeClr val="dk1"/>
                </a:solidFill>
                <a:latin typeface="Arial Narrow" panose="020B0506020202030204" pitchFamily="34" charset="0"/>
                <a:cs typeface="Courier New" panose="02070309020205020404" pitchFamily="49" charset="0"/>
              </a:rPr>
              <a:t>:  right-click on your project, select </a:t>
            </a:r>
            <a:r>
              <a:rPr lang="en-US" sz="1400" b="0" i="1" smtClean="0">
                <a:solidFill>
                  <a:schemeClr val="dk1"/>
                </a:solidFill>
                <a:latin typeface="Arial Narrow" panose="020B0506020202030204" pitchFamily="34" charset="0"/>
                <a:cs typeface="Courier New" panose="02070309020205020404" pitchFamily="49" charset="0"/>
              </a:rPr>
              <a:t>Properties</a:t>
            </a:r>
            <a:r>
              <a:rPr lang="en-US" sz="1400" b="0" smtClean="0">
                <a:solidFill>
                  <a:schemeClr val="dk1"/>
                </a:solidFill>
                <a:latin typeface="Arial Narrow" panose="020B0506020202030204" pitchFamily="34" charset="0"/>
                <a:cs typeface="Courier New" panose="02070309020205020404" pitchFamily="49" charset="0"/>
              </a:rPr>
              <a:t>, select </a:t>
            </a:r>
            <a:r>
              <a:rPr lang="en-US" sz="1400" b="0" i="1" smtClean="0">
                <a:solidFill>
                  <a:schemeClr val="dk1"/>
                </a:solidFill>
                <a:latin typeface="Arial Narrow" panose="020B0506020202030204" pitchFamily="34" charset="0"/>
                <a:cs typeface="Courier New" panose="02070309020205020404" pitchFamily="49" charset="0"/>
              </a:rPr>
              <a:t>Build </a:t>
            </a:r>
            <a:r>
              <a:rPr lang="en-US" sz="1400" b="0" i="1" smtClean="0">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cs typeface="Courier New" panose="02070309020205020404" pitchFamily="49" charset="0"/>
              </a:rPr>
              <a:t>Compiler </a:t>
            </a:r>
            <a:r>
              <a:rPr lang="en-US" sz="1400" b="0" i="1" smtClean="0">
                <a:solidFill>
                  <a:schemeClr val="dk1"/>
                </a:solidFill>
                <a:latin typeface="Arial Narrow" panose="020B0506020202030204" pitchFamily="34" charset="0"/>
                <a:sym typeface="Wingdings"/>
              </a:rPr>
              <a:t> </a:t>
            </a:r>
            <a:r>
              <a:rPr lang="en-US" sz="1400" b="0" i="1" smtClean="0">
                <a:solidFill>
                  <a:schemeClr val="dk1"/>
                </a:solidFill>
                <a:latin typeface="Arial Narrow" panose="020B0506020202030204" pitchFamily="34" charset="0"/>
                <a:cs typeface="Courier New" panose="02070309020205020404" pitchFamily="49" charset="0"/>
              </a:rPr>
              <a:t>Include Options</a:t>
            </a:r>
            <a:r>
              <a:rPr lang="en-US" sz="1400" b="0" smtClean="0">
                <a:solidFill>
                  <a:schemeClr val="dk1"/>
                </a:solidFill>
                <a:latin typeface="Arial Narrow" panose="020B0506020202030204" pitchFamily="34" charset="0"/>
                <a:cs typeface="Courier New" panose="02070309020205020404" pitchFamily="49" charset="0"/>
              </a:rPr>
              <a:t>. Then use</a:t>
            </a:r>
            <a:br>
              <a:rPr lang="en-US" sz="1400" b="0" smtClean="0">
                <a:solidFill>
                  <a:schemeClr val="dk1"/>
                </a:solidFill>
                <a:latin typeface="Arial Narrow" panose="020B0506020202030204" pitchFamily="34" charset="0"/>
                <a:cs typeface="Courier New" panose="02070309020205020404" pitchFamily="49" charset="0"/>
              </a:rPr>
            </a:br>
            <a:r>
              <a:rPr lang="en-US" sz="1400" b="0" smtClean="0">
                <a:solidFill>
                  <a:schemeClr val="dk1"/>
                </a:solidFill>
                <a:latin typeface="Arial Narrow" panose="020B0506020202030204" pitchFamily="34" charset="0"/>
                <a:cs typeface="Courier New" panose="02070309020205020404" pitchFamily="49" charset="0"/>
              </a:rPr>
              <a:t>your variable – </a:t>
            </a:r>
            <a:r>
              <a:rPr lang="en-US" sz="1400" b="0" smtClean="0">
                <a:solidFill>
                  <a:schemeClr val="dk1"/>
                </a:solidFill>
                <a:latin typeface="Courier New" panose="02070309020205020404" pitchFamily="49" charset="0"/>
                <a:cs typeface="Courier New" panose="02070309020205020404" pitchFamily="49" charset="0"/>
              </a:rPr>
              <a:t>TIVAWARE_INSTALL</a:t>
            </a:r>
            <a:r>
              <a:rPr lang="en-US" sz="1400" b="0" smtClean="0">
                <a:solidFill>
                  <a:schemeClr val="dk1"/>
                </a:solidFill>
                <a:latin typeface="Arial Narrow" panose="020B0506020202030204" pitchFamily="34" charset="0"/>
                <a:cs typeface="Courier New" panose="02070309020205020404" pitchFamily="49" charset="0"/>
              </a:rPr>
              <a:t> – to add the following path:</a:t>
            </a:r>
            <a:br>
              <a:rPr lang="en-US" sz="1400" b="0" smtClean="0">
                <a:solidFill>
                  <a:schemeClr val="dk1"/>
                </a:solidFill>
                <a:latin typeface="Arial Narrow" panose="020B0506020202030204" pitchFamily="34" charset="0"/>
                <a:cs typeface="Courier New" panose="02070309020205020404" pitchFamily="49" charset="0"/>
              </a:rPr>
            </a:br>
            <a:r>
              <a:rPr lang="en-US" sz="1400" b="0" smtClean="0">
                <a:solidFill>
                  <a:schemeClr val="dk1"/>
                </a:solidFill>
                <a:latin typeface="Arial Narrow" panose="020B0506020202030204" pitchFamily="34" charset="0"/>
                <a:cs typeface="Courier New" panose="02070309020205020404" pitchFamily="49" charset="0"/>
              </a:rPr>
              <a:t>	</a:t>
            </a:r>
            <a:r>
              <a:rPr lang="en-US" sz="1400" b="0" smtClean="0">
                <a:solidFill>
                  <a:schemeClr val="dk1"/>
                </a:solidFill>
                <a:latin typeface="Courier New" panose="02070309020205020404" pitchFamily="49" charset="0"/>
                <a:cs typeface="Courier New" panose="02070309020205020404" pitchFamily="49" charset="0"/>
              </a:rPr>
              <a:t>${TIVAWARE_INSTALL}</a:t>
            </a:r>
            <a:endParaRPr lang="en-US" sz="1400" b="0" smtClean="0">
              <a:solidFill>
                <a:schemeClr val="dk1"/>
              </a:solidFill>
              <a:effectLst/>
              <a:latin typeface="Courier New" panose="02070309020205020404" pitchFamily="49" charset="0"/>
              <a:cs typeface="Courier New" panose="02070309020205020404" pitchFamily="49" charset="0"/>
            </a:endParaRPr>
          </a:p>
          <a:p>
            <a:pPr marL="228600" indent="-228600">
              <a:lnSpc>
                <a:spcPct val="100000"/>
              </a:lnSpc>
              <a:spcBef>
                <a:spcPts val="1200"/>
              </a:spcBef>
              <a:buAutoNum type="arabicPeriod"/>
            </a:pPr>
            <a:r>
              <a:rPr lang="en-US" sz="1400" b="0" i="1" u="sng" smtClean="0">
                <a:solidFill>
                  <a:schemeClr val="dk1"/>
                </a:solidFill>
                <a:latin typeface="Arial Narrow" panose="020B0506020202030204" pitchFamily="34" charset="0"/>
                <a:cs typeface="Courier New" panose="02070309020205020404" pitchFamily="49" charset="0"/>
              </a:rPr>
              <a:t>Add Driver Library</a:t>
            </a:r>
            <a:r>
              <a:rPr lang="en-US" sz="1400" b="0" smtClean="0">
                <a:solidFill>
                  <a:schemeClr val="dk1"/>
                </a:solidFill>
                <a:latin typeface="Arial Narrow" panose="020B0506020202030204" pitchFamily="34" charset="0"/>
                <a:cs typeface="Courier New" panose="02070309020205020404" pitchFamily="49" charset="0"/>
              </a:rPr>
              <a:t>:  Link in the driver library code by doing the following (for the main driverlib plus any other libraries needed:  </a:t>
            </a:r>
            <a:br>
              <a:rPr lang="en-US" sz="1400" b="0" smtClean="0">
                <a:solidFill>
                  <a:schemeClr val="dk1"/>
                </a:solidFill>
                <a:latin typeface="Arial Narrow" panose="020B0506020202030204" pitchFamily="34" charset="0"/>
                <a:cs typeface="Courier New" panose="02070309020205020404" pitchFamily="49" charset="0"/>
              </a:rPr>
            </a:br>
            <a:r>
              <a:rPr lang="en-US" sz="1400" b="0" smtClean="0">
                <a:solidFill>
                  <a:schemeClr val="dk1"/>
                </a:solidFill>
                <a:latin typeface="Arial Narrow" panose="020B0506020202030204" pitchFamily="34" charset="0"/>
                <a:cs typeface="Courier New" panose="02070309020205020404" pitchFamily="49" charset="0"/>
              </a:rPr>
              <a:t>add (link) the following file RELATIVE to your variable </a:t>
            </a:r>
            <a:r>
              <a:rPr lang="en-US" sz="1400" b="0" smtClean="0">
                <a:solidFill>
                  <a:schemeClr val="dk1"/>
                </a:solidFill>
                <a:latin typeface="Courier New" panose="02070309020205020404" pitchFamily="49" charset="0"/>
                <a:cs typeface="Courier New" panose="02070309020205020404" pitchFamily="49" charset="0"/>
              </a:rPr>
              <a:t>TIVAWARE_INSTALL</a:t>
            </a:r>
            <a:r>
              <a:rPr lang="en-US" sz="1400" b="0" smtClean="0">
                <a:solidFill>
                  <a:schemeClr val="dk1"/>
                </a:solidFill>
                <a:latin typeface="Arial Narrow" panose="020B0506020202030204" pitchFamily="34" charset="0"/>
                <a:cs typeface="Courier New" panose="02070309020205020404" pitchFamily="49" charset="0"/>
              </a:rPr>
              <a:t>:</a:t>
            </a:r>
            <a:br>
              <a:rPr lang="en-US" sz="1400" b="0" smtClean="0">
                <a:solidFill>
                  <a:schemeClr val="dk1"/>
                </a:solidFill>
                <a:latin typeface="Arial Narrow" panose="020B0506020202030204" pitchFamily="34" charset="0"/>
                <a:cs typeface="Courier New" panose="02070309020205020404" pitchFamily="49" charset="0"/>
              </a:rPr>
            </a:br>
            <a:r>
              <a:rPr lang="en-US" sz="1400" b="0" smtClean="0">
                <a:solidFill>
                  <a:schemeClr val="dk1"/>
                </a:solidFill>
                <a:latin typeface="Arial Narrow" panose="020B0506020202030204" pitchFamily="34" charset="0"/>
                <a:cs typeface="Courier New" panose="02070309020205020404" pitchFamily="49" charset="0"/>
              </a:rPr>
              <a:t>	${</a:t>
            </a:r>
            <a:r>
              <a:rPr lang="en-US" sz="1400" b="0" smtClean="0">
                <a:solidFill>
                  <a:schemeClr val="dk1"/>
                </a:solidFill>
                <a:latin typeface="Courier New" panose="02070309020205020404" pitchFamily="49" charset="0"/>
                <a:cs typeface="Courier New" panose="02070309020205020404" pitchFamily="49" charset="0"/>
              </a:rPr>
              <a:t>TIVAWARE_INSTALL}\driverlib\ccs\debug\driverlib.lib</a:t>
            </a:r>
          </a:p>
        </p:txBody>
      </p:sp>
    </p:spTree>
    <p:custDataLst>
      <p:tags r:id="rId1"/>
    </p:custDataLst>
    <p:extLst>
      <p:ext uri="{BB962C8B-B14F-4D97-AF65-F5344CB8AC3E}">
        <p14:creationId xmlns:p14="http://schemas.microsoft.com/office/powerpoint/2010/main" val="1834278548"/>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a:bodyPr>
          <a:lstStyle/>
          <a:p>
            <a:r>
              <a:rPr lang="en-US" sz="2800" smtClean="0"/>
              <a:t>Checklist – When Things Go Wrong </a:t>
            </a:r>
          </a:p>
        </p:txBody>
      </p:sp>
      <p:sp>
        <p:nvSpPr>
          <p:cNvPr id="36867" name="Rectangle 6"/>
          <p:cNvSpPr>
            <a:spLocks noChangeArrowheads="1"/>
          </p:cNvSpPr>
          <p:nvPr/>
        </p:nvSpPr>
        <p:spPr bwMode="auto">
          <a:xfrm>
            <a:off x="561975" y="6216650"/>
            <a:ext cx="184150" cy="625475"/>
          </a:xfrm>
          <a:prstGeom prst="rect">
            <a:avLst/>
          </a:prstGeom>
          <a:noFill/>
          <a:ln w="12700">
            <a:noFill/>
            <a:miter lim="800000"/>
            <a:headEnd type="none" w="sm" len="sm"/>
            <a:tailEnd type="none" w="sm" len="sm"/>
          </a:ln>
        </p:spPr>
        <p:txBody>
          <a:bodyPr wrap="none" anchor="ctr">
            <a:spAutoFit/>
          </a:bodyPr>
          <a:lstStyle/>
          <a:p>
            <a:pPr>
              <a:lnSpc>
                <a:spcPct val="100000"/>
              </a:lnSpc>
              <a:spcBef>
                <a:spcPct val="0"/>
              </a:spcBef>
            </a:pPr>
            <a:r>
              <a:rPr lang="en-US" sz="1100" b="0">
                <a:latin typeface="Times New Roman" pitchFamily="18" charset="0"/>
                <a:cs typeface="Times New Roman" pitchFamily="18" charset="0"/>
              </a:rPr>
              <a:t/>
            </a:r>
            <a:br>
              <a:rPr lang="en-US" sz="1100" b="0">
                <a:latin typeface="Times New Roman" pitchFamily="18" charset="0"/>
                <a:cs typeface="Times New Roman" pitchFamily="18" charset="0"/>
              </a:rPr>
            </a:br>
            <a:endParaRPr lang="en-US" b="0">
              <a:latin typeface="Times New Roman" pitchFamily="18" charset="0"/>
            </a:endParaRPr>
          </a:p>
        </p:txBody>
      </p:sp>
      <p:sp>
        <p:nvSpPr>
          <p:cNvPr id="6" name="TextBox 5"/>
          <p:cNvSpPr txBox="1"/>
          <p:nvPr/>
        </p:nvSpPr>
        <p:spPr>
          <a:xfrm>
            <a:off x="177699" y="481822"/>
            <a:ext cx="8890101" cy="486287"/>
          </a:xfrm>
          <a:prstGeom prst="rect">
            <a:avLst/>
          </a:prstGeom>
          <a:noFill/>
        </p:spPr>
        <p:txBody>
          <a:bodyPr wrap="square" rtlCol="0" anchor="ctr" anchorCtr="0">
            <a:spAutoFit/>
          </a:bodyPr>
          <a:lstStyle/>
          <a:p>
            <a:pPr marL="225425" indent="-225425">
              <a:buClr>
                <a:schemeClr val="tx2"/>
              </a:buClr>
              <a:buSzPct val="75000"/>
              <a:buFont typeface="Wingdings"/>
              <a:buChar char=""/>
            </a:pPr>
            <a:r>
              <a:rPr lang="en-US" sz="1600" smtClean="0">
                <a:solidFill>
                  <a:schemeClr val="accent4">
                    <a:lumMod val="75000"/>
                  </a:schemeClr>
                </a:solidFill>
                <a:effectLst/>
              </a:rPr>
              <a:t>Shown below is a checklist you can use when you get build errors (build) or you are unable to connect to the target (debug)</a:t>
            </a:r>
          </a:p>
        </p:txBody>
      </p:sp>
      <p:sp>
        <p:nvSpPr>
          <p:cNvPr id="4" name="TextBox 3"/>
          <p:cNvSpPr txBox="1"/>
          <p:nvPr/>
        </p:nvSpPr>
        <p:spPr>
          <a:xfrm>
            <a:off x="184299" y="991713"/>
            <a:ext cx="8731101" cy="3351687"/>
          </a:xfrm>
          <a:prstGeom prst="rect">
            <a:avLst/>
          </a:prstGeom>
          <a:solidFill>
            <a:schemeClr val="accent4">
              <a:lumMod val="20000"/>
              <a:lumOff val="80000"/>
            </a:schemeClr>
          </a:solidFill>
        </p:spPr>
        <p:txBody>
          <a:bodyPr wrap="square" rtlCol="0" anchor="ctr" anchorCtr="0">
            <a:spAutoFit/>
          </a:bodyPr>
          <a:lstStyle/>
          <a:p>
            <a:pPr marL="287338" indent="-287338">
              <a:buClr>
                <a:schemeClr val="tx2"/>
              </a:buClr>
              <a:buSzPct val="75000"/>
              <a:buFont typeface="Wingdings"/>
              <a:buChar char=""/>
            </a:pPr>
            <a:r>
              <a:rPr lang="en-US" sz="1600" smtClean="0">
                <a:solidFill>
                  <a:schemeClr val="dk1"/>
                </a:solidFill>
                <a:effectLst/>
              </a:rPr>
              <a:t>Build Problems</a:t>
            </a:r>
          </a:p>
          <a:p>
            <a:pPr marL="509588" lvl="1" indent="-222250">
              <a:spcBef>
                <a:spcPts val="600"/>
              </a:spcBef>
              <a:buClr>
                <a:schemeClr val="tx2"/>
              </a:buClr>
              <a:buSzPct val="75000"/>
              <a:buFont typeface="+mj-lt"/>
              <a:buAutoNum type="arabicPeriod"/>
            </a:pPr>
            <a:r>
              <a:rPr lang="en-US" sz="1200" b="0" smtClean="0">
                <a:solidFill>
                  <a:schemeClr val="dk1"/>
                </a:solidFill>
              </a:rPr>
              <a:t>Chose wrong device variant when project was created (open project </a:t>
            </a:r>
            <a:r>
              <a:rPr lang="en-US" sz="1200" b="0" i="1" smtClean="0">
                <a:solidFill>
                  <a:schemeClr val="dk1"/>
                </a:solidFill>
              </a:rPr>
              <a:t>Properties</a:t>
            </a:r>
            <a:r>
              <a:rPr lang="en-US" sz="1200" b="0" smtClean="0">
                <a:solidFill>
                  <a:schemeClr val="dk1"/>
                </a:solidFill>
              </a:rPr>
              <a:t> and modify)</a:t>
            </a:r>
          </a:p>
          <a:p>
            <a:pPr marL="509588" lvl="1" indent="-222250">
              <a:spcBef>
                <a:spcPts val="600"/>
              </a:spcBef>
              <a:buClr>
                <a:schemeClr val="tx2"/>
              </a:buClr>
              <a:buSzPct val="75000"/>
              <a:buFont typeface="+mj-lt"/>
              <a:buAutoNum type="arabicPeriod"/>
            </a:pPr>
            <a:r>
              <a:rPr lang="en-US" sz="1200" b="0" smtClean="0">
                <a:solidFill>
                  <a:schemeClr val="dk1"/>
                </a:solidFill>
              </a:rPr>
              <a:t>C28x – did not include the additional linker command file for the header files (add file to project)</a:t>
            </a:r>
          </a:p>
          <a:p>
            <a:pPr marL="509588" lvl="1" indent="-222250">
              <a:spcBef>
                <a:spcPts val="600"/>
              </a:spcBef>
              <a:buClr>
                <a:schemeClr val="tx2"/>
              </a:buClr>
              <a:buSzPct val="75000"/>
              <a:buFont typeface="+mj-lt"/>
              <a:buAutoNum type="arabicPeriod"/>
            </a:pPr>
            <a:r>
              <a:rPr lang="en-US" sz="1200" b="0" smtClean="0">
                <a:solidFill>
                  <a:schemeClr val="dk1"/>
                </a:solidFill>
              </a:rPr>
              <a:t>No include search paths or search path incomplete (check </a:t>
            </a:r>
            <a:r>
              <a:rPr lang="en-US" sz="1200" b="0" i="1" smtClean="0">
                <a:solidFill>
                  <a:schemeClr val="dk1"/>
                </a:solidFill>
              </a:rPr>
              <a:t>Properties </a:t>
            </a:r>
            <a:r>
              <a:rPr lang="en-US" sz="1200" b="0" i="1" smtClean="0">
                <a:solidFill>
                  <a:schemeClr val="dk1"/>
                </a:solidFill>
                <a:sym typeface="Wingdings"/>
              </a:rPr>
              <a:t> </a:t>
            </a:r>
            <a:r>
              <a:rPr lang="en-US" sz="1200" b="0" i="1" smtClean="0">
                <a:solidFill>
                  <a:schemeClr val="dk1"/>
                </a:solidFill>
              </a:rPr>
              <a:t>Build </a:t>
            </a:r>
            <a:r>
              <a:rPr lang="en-US" sz="1200" b="0" i="1">
                <a:solidFill>
                  <a:schemeClr val="dk1"/>
                </a:solidFill>
                <a:sym typeface="Wingdings"/>
              </a:rPr>
              <a:t> </a:t>
            </a:r>
            <a:r>
              <a:rPr lang="en-US" sz="1200" b="0" i="1" smtClean="0">
                <a:solidFill>
                  <a:schemeClr val="dk1"/>
                </a:solidFill>
              </a:rPr>
              <a:t>Compiler </a:t>
            </a:r>
            <a:r>
              <a:rPr lang="en-US" sz="1200" b="0" i="1">
                <a:solidFill>
                  <a:schemeClr val="dk1"/>
                </a:solidFill>
                <a:sym typeface="Wingdings"/>
              </a:rPr>
              <a:t> </a:t>
            </a:r>
            <a:r>
              <a:rPr lang="en-US" sz="1200" b="0" i="1" smtClean="0">
                <a:solidFill>
                  <a:schemeClr val="dk1"/>
                </a:solidFill>
              </a:rPr>
              <a:t>Include Options</a:t>
            </a:r>
            <a:r>
              <a:rPr lang="en-US" sz="1200" b="0" smtClean="0">
                <a:solidFill>
                  <a:schemeClr val="dk1"/>
                </a:solidFill>
              </a:rPr>
              <a:t>). Also double-check entire path from the include search path specified plus the additional paths in your source files to make sure the paths are correct.</a:t>
            </a:r>
          </a:p>
          <a:p>
            <a:pPr marL="509588" lvl="1" indent="-222250">
              <a:spcBef>
                <a:spcPts val="600"/>
              </a:spcBef>
              <a:buClr>
                <a:schemeClr val="tx2"/>
              </a:buClr>
              <a:buSzPct val="75000"/>
              <a:buFont typeface="+mj-lt"/>
              <a:buAutoNum type="arabicPeriod"/>
            </a:pPr>
            <a:r>
              <a:rPr lang="en-US" sz="1200" b="0" smtClean="0">
                <a:solidFill>
                  <a:schemeClr val="dk1"/>
                </a:solidFill>
              </a:rPr>
              <a:t>If using variables and vars.ini to set linked resource and build paths, may need to edit and/or re-import </a:t>
            </a:r>
            <a:r>
              <a:rPr lang="en-US" sz="1200" b="0" smtClean="0">
                <a:solidFill>
                  <a:schemeClr val="dk1"/>
                </a:solidFill>
                <a:latin typeface="Courier New" panose="02070309020205020404" pitchFamily="49" charset="0"/>
                <a:cs typeface="Courier New" panose="02070309020205020404" pitchFamily="49" charset="0"/>
              </a:rPr>
              <a:t>vars.ini</a:t>
            </a:r>
            <a:r>
              <a:rPr lang="en-US" sz="1200" b="0" smtClean="0">
                <a:solidFill>
                  <a:schemeClr val="dk1"/>
                </a:solidFill>
              </a:rPr>
              <a:t> – edit file, then select </a:t>
            </a:r>
            <a:r>
              <a:rPr lang="en-US" sz="1200" b="0" i="1" smtClean="0">
                <a:solidFill>
                  <a:schemeClr val="dk1"/>
                </a:solidFill>
              </a:rPr>
              <a:t>File </a:t>
            </a:r>
            <a:r>
              <a:rPr lang="en-US" sz="1200" b="0" i="1">
                <a:solidFill>
                  <a:schemeClr val="dk1"/>
                </a:solidFill>
                <a:sym typeface="Wingdings"/>
              </a:rPr>
              <a:t> </a:t>
            </a:r>
            <a:r>
              <a:rPr lang="en-US" sz="1200" b="0" i="1" smtClean="0">
                <a:solidFill>
                  <a:schemeClr val="dk1"/>
                </a:solidFill>
              </a:rPr>
              <a:t>Import </a:t>
            </a:r>
            <a:r>
              <a:rPr lang="en-US" sz="1200" b="0" i="1">
                <a:solidFill>
                  <a:schemeClr val="dk1"/>
                </a:solidFill>
                <a:sym typeface="Wingdings"/>
              </a:rPr>
              <a:t> </a:t>
            </a:r>
            <a:r>
              <a:rPr lang="en-US" sz="1200" b="0" i="1" smtClean="0">
                <a:solidFill>
                  <a:schemeClr val="dk1"/>
                </a:solidFill>
              </a:rPr>
              <a:t>CCS </a:t>
            </a:r>
            <a:r>
              <a:rPr lang="en-US" sz="1200" b="0" i="1">
                <a:solidFill>
                  <a:schemeClr val="dk1"/>
                </a:solidFill>
                <a:sym typeface="Wingdings"/>
              </a:rPr>
              <a:t> </a:t>
            </a:r>
            <a:r>
              <a:rPr lang="en-US" sz="1200" b="0" i="1" smtClean="0">
                <a:solidFill>
                  <a:schemeClr val="dk1"/>
                </a:solidFill>
              </a:rPr>
              <a:t>Build Variables</a:t>
            </a:r>
            <a:r>
              <a:rPr lang="en-US" sz="1200" b="0" smtClean="0">
                <a:solidFill>
                  <a:schemeClr val="dk1"/>
                </a:solidFill>
              </a:rPr>
              <a:t>, browse to </a:t>
            </a:r>
            <a:r>
              <a:rPr lang="en-US" sz="1200" b="0" smtClean="0">
                <a:solidFill>
                  <a:schemeClr val="dk1"/>
                </a:solidFill>
                <a:latin typeface="Courier New" panose="02070309020205020404" pitchFamily="49" charset="0"/>
                <a:cs typeface="Courier New" panose="02070309020205020404" pitchFamily="49" charset="0"/>
              </a:rPr>
              <a:t>vars.ini</a:t>
            </a:r>
            <a:r>
              <a:rPr lang="en-US" sz="1200" b="0" smtClean="0">
                <a:solidFill>
                  <a:schemeClr val="dk1"/>
                </a:solidFill>
              </a:rPr>
              <a:t> and open</a:t>
            </a:r>
          </a:p>
          <a:p>
            <a:pPr marL="509588" lvl="1" indent="-222250">
              <a:spcBef>
                <a:spcPts val="600"/>
              </a:spcBef>
              <a:buClr>
                <a:schemeClr val="tx2"/>
              </a:buClr>
              <a:buSzPct val="75000"/>
              <a:buFont typeface="+mj-lt"/>
              <a:buAutoNum type="arabicPeriod"/>
            </a:pPr>
            <a:r>
              <a:rPr lang="en-US" sz="1200" b="0">
                <a:solidFill>
                  <a:schemeClr val="dk1"/>
                </a:solidFill>
              </a:rPr>
              <a:t>Forgot to add the driver library for your specific target and/or linked it </a:t>
            </a:r>
            <a:r>
              <a:rPr lang="en-US" sz="1200" b="0" smtClean="0">
                <a:solidFill>
                  <a:schemeClr val="dk1"/>
                </a:solidFill>
              </a:rPr>
              <a:t>improperly</a:t>
            </a:r>
          </a:p>
          <a:p>
            <a:pPr marL="509588" lvl="1" indent="-222250">
              <a:spcBef>
                <a:spcPts val="600"/>
              </a:spcBef>
              <a:buClr>
                <a:schemeClr val="tx2"/>
              </a:buClr>
              <a:buSzPct val="75000"/>
              <a:buFont typeface="+mj-lt"/>
              <a:buAutoNum type="arabicPeriod"/>
            </a:pPr>
            <a:r>
              <a:rPr lang="en-US" sz="1200" b="0" smtClean="0">
                <a:solidFill>
                  <a:schemeClr val="dk1"/>
                </a:solidFill>
              </a:rPr>
              <a:t>Changed build configurations (</a:t>
            </a:r>
            <a:r>
              <a:rPr lang="en-US" sz="1200" b="0" i="1" smtClean="0">
                <a:solidFill>
                  <a:schemeClr val="dk1"/>
                </a:solidFill>
              </a:rPr>
              <a:t>Debug</a:t>
            </a:r>
            <a:r>
              <a:rPr lang="en-US" sz="1200" b="0" smtClean="0">
                <a:solidFill>
                  <a:schemeClr val="dk1"/>
                </a:solidFill>
              </a:rPr>
              <a:t> to </a:t>
            </a:r>
            <a:r>
              <a:rPr lang="en-US" sz="1200" b="0" i="1" smtClean="0">
                <a:solidFill>
                  <a:schemeClr val="dk1"/>
                </a:solidFill>
              </a:rPr>
              <a:t>Release</a:t>
            </a:r>
            <a:r>
              <a:rPr lang="en-US" sz="1200" b="0" smtClean="0">
                <a:solidFill>
                  <a:schemeClr val="dk1"/>
                </a:solidFill>
              </a:rPr>
              <a:t>) and forgot to copy all settings from one configuration to the other (they are SEPARATE containers of build options)</a:t>
            </a:r>
          </a:p>
          <a:p>
            <a:pPr marL="509588" lvl="1" indent="-222250">
              <a:spcBef>
                <a:spcPts val="600"/>
              </a:spcBef>
              <a:buClr>
                <a:schemeClr val="tx2"/>
              </a:buClr>
              <a:buSzPct val="75000"/>
              <a:buFont typeface="+mj-lt"/>
              <a:buAutoNum type="arabicPeriod"/>
            </a:pPr>
            <a:r>
              <a:rPr lang="en-US" sz="1200" b="0" smtClean="0">
                <a:solidFill>
                  <a:schemeClr val="dk1"/>
                </a:solidFill>
              </a:rPr>
              <a:t>Build does not seem to grab changes. Clean project (right-click on project, clean, then rebuild again).</a:t>
            </a:r>
            <a:endParaRPr lang="en-US" sz="1200" b="0">
              <a:solidFill>
                <a:schemeClr val="dk1"/>
              </a:solidFill>
            </a:endParaRPr>
          </a:p>
          <a:p>
            <a:pPr marL="509588" lvl="1" indent="-222250">
              <a:spcBef>
                <a:spcPts val="600"/>
              </a:spcBef>
              <a:buClr>
                <a:schemeClr val="tx2"/>
              </a:buClr>
              <a:buSzPct val="75000"/>
              <a:buFont typeface="+mj-lt"/>
              <a:buAutoNum type="arabicPeriod"/>
            </a:pPr>
            <a:r>
              <a:rPr lang="en-US" sz="1200" b="0" smtClean="0">
                <a:solidFill>
                  <a:schemeClr val="dk1"/>
                </a:solidFill>
              </a:rPr>
              <a:t>BIOS:  did not start w/BIOS template (re-create project using BIOS template and add source files)</a:t>
            </a:r>
          </a:p>
          <a:p>
            <a:pPr marL="509588" lvl="1" indent="-222250">
              <a:spcBef>
                <a:spcPts val="600"/>
              </a:spcBef>
              <a:buClr>
                <a:schemeClr val="tx2"/>
              </a:buClr>
              <a:buSzPct val="75000"/>
              <a:buFont typeface="+mj-lt"/>
              <a:buAutoNum type="arabicPeriod"/>
            </a:pPr>
            <a:r>
              <a:rPr lang="en-US" sz="1200" b="0" smtClean="0">
                <a:solidFill>
                  <a:schemeClr val="dk1"/>
                </a:solidFill>
              </a:rPr>
              <a:t>BIOS:  did not use updated BIOS/compiler tools (Properties </a:t>
            </a:r>
            <a:r>
              <a:rPr lang="en-US" sz="1200" b="0">
                <a:solidFill>
                  <a:schemeClr val="dk1"/>
                </a:solidFill>
                <a:sym typeface="Wingdings"/>
              </a:rPr>
              <a:t> </a:t>
            </a:r>
            <a:r>
              <a:rPr lang="en-US" sz="1200" b="0" smtClean="0">
                <a:solidFill>
                  <a:schemeClr val="dk1"/>
                </a:solidFill>
                <a:sym typeface="Wingdings"/>
              </a:rPr>
              <a:t>General/</a:t>
            </a:r>
            <a:r>
              <a:rPr lang="en-US" sz="1200" b="0" smtClean="0">
                <a:solidFill>
                  <a:schemeClr val="dk1"/>
                </a:solidFill>
              </a:rPr>
              <a:t>RTSC tabs, make sure latest tools are chosen)</a:t>
            </a:r>
          </a:p>
          <a:p>
            <a:pPr marL="509588" lvl="1" indent="-222250">
              <a:spcBef>
                <a:spcPts val="600"/>
              </a:spcBef>
              <a:buClr>
                <a:schemeClr val="tx2"/>
              </a:buClr>
              <a:buSzPct val="75000"/>
              <a:buFont typeface="+mj-lt"/>
              <a:buAutoNum type="arabicPeriod"/>
            </a:pPr>
            <a:r>
              <a:rPr lang="en-US" sz="1200" b="0" smtClean="0">
                <a:solidFill>
                  <a:schemeClr val="dk1"/>
                </a:solidFill>
              </a:rPr>
              <a:t>BIOS: C6000 – forgot to specify platform file (</a:t>
            </a:r>
            <a:r>
              <a:rPr lang="en-US" sz="1200" b="0" i="1" smtClean="0">
                <a:solidFill>
                  <a:schemeClr val="dk1"/>
                </a:solidFill>
              </a:rPr>
              <a:t>Properties </a:t>
            </a:r>
            <a:r>
              <a:rPr lang="en-US" sz="1200" b="0" i="1">
                <a:solidFill>
                  <a:schemeClr val="dk1"/>
                </a:solidFill>
                <a:sym typeface="Wingdings"/>
              </a:rPr>
              <a:t> </a:t>
            </a:r>
            <a:r>
              <a:rPr lang="en-US" sz="1200" b="0" i="1" smtClean="0">
                <a:solidFill>
                  <a:schemeClr val="dk1"/>
                </a:solidFill>
              </a:rPr>
              <a:t>RTSC tab</a:t>
            </a:r>
            <a:r>
              <a:rPr lang="en-US" sz="1200" b="0" smtClean="0">
                <a:solidFill>
                  <a:schemeClr val="dk1"/>
                </a:solidFill>
              </a:rPr>
              <a:t>, specify proper platform)</a:t>
            </a:r>
          </a:p>
          <a:p>
            <a:pPr marL="509588" lvl="1" indent="-222250">
              <a:spcBef>
                <a:spcPts val="600"/>
              </a:spcBef>
              <a:buClr>
                <a:schemeClr val="tx2"/>
              </a:buClr>
              <a:buSzPct val="75000"/>
              <a:buFont typeface="+mj-lt"/>
              <a:buAutoNum type="arabicPeriod"/>
            </a:pPr>
            <a:r>
              <a:rPr lang="en-US" sz="1200" b="0" smtClean="0">
                <a:solidFill>
                  <a:schemeClr val="dk1"/>
                </a:solidFill>
              </a:rPr>
              <a:t>BIOS: runtime settings incorrect – double check BIOS </a:t>
            </a:r>
            <a:r>
              <a:rPr lang="en-US" sz="1200" b="0">
                <a:solidFill>
                  <a:schemeClr val="dk1"/>
                </a:solidFill>
                <a:sym typeface="Wingdings"/>
              </a:rPr>
              <a:t> </a:t>
            </a:r>
            <a:r>
              <a:rPr lang="en-US" sz="1200" b="0" smtClean="0">
                <a:solidFill>
                  <a:schemeClr val="dk1"/>
                </a:solidFill>
              </a:rPr>
              <a:t>Runtime module in app.cfg</a:t>
            </a:r>
          </a:p>
        </p:txBody>
      </p:sp>
      <p:sp>
        <p:nvSpPr>
          <p:cNvPr id="8" name="TextBox 7"/>
          <p:cNvSpPr txBox="1"/>
          <p:nvPr/>
        </p:nvSpPr>
        <p:spPr>
          <a:xfrm>
            <a:off x="184299" y="4405765"/>
            <a:ext cx="8731101" cy="2376035"/>
          </a:xfrm>
          <a:prstGeom prst="rect">
            <a:avLst/>
          </a:prstGeom>
          <a:solidFill>
            <a:schemeClr val="accent3">
              <a:lumMod val="40000"/>
              <a:lumOff val="60000"/>
            </a:schemeClr>
          </a:solidFill>
        </p:spPr>
        <p:txBody>
          <a:bodyPr wrap="square" rtlCol="0" anchor="ctr" anchorCtr="0">
            <a:spAutoFit/>
          </a:bodyPr>
          <a:lstStyle/>
          <a:p>
            <a:pPr marL="287338" indent="-287338">
              <a:buClr>
                <a:schemeClr val="tx2"/>
              </a:buClr>
              <a:buSzPct val="75000"/>
              <a:buFont typeface="Wingdings"/>
              <a:buChar char=""/>
            </a:pPr>
            <a:r>
              <a:rPr lang="en-US" sz="1600" smtClean="0">
                <a:solidFill>
                  <a:schemeClr val="dk1"/>
                </a:solidFill>
                <a:effectLst/>
              </a:rPr>
              <a:t>Debug/Connection Problems</a:t>
            </a:r>
          </a:p>
          <a:p>
            <a:pPr marL="509588" lvl="1" indent="-222250">
              <a:spcBef>
                <a:spcPts val="600"/>
              </a:spcBef>
              <a:buClr>
                <a:schemeClr val="tx2"/>
              </a:buClr>
              <a:buSzPct val="75000"/>
              <a:buFont typeface="+mj-lt"/>
              <a:buAutoNum type="arabicPeriod"/>
            </a:pPr>
            <a:r>
              <a:rPr lang="en-US" sz="1200" b="0" smtClean="0">
                <a:solidFill>
                  <a:schemeClr val="dk1"/>
                </a:solidFill>
              </a:rPr>
              <a:t>Windows messed up or general odd behavior (either perspective):   Use </a:t>
            </a:r>
            <a:r>
              <a:rPr lang="en-US" sz="1200" b="0" i="1" smtClean="0">
                <a:solidFill>
                  <a:schemeClr val="dk1"/>
                </a:solidFill>
              </a:rPr>
              <a:t>Windows </a:t>
            </a:r>
            <a:r>
              <a:rPr lang="en-US" sz="1200" b="0" i="1">
                <a:solidFill>
                  <a:schemeClr val="dk1"/>
                </a:solidFill>
                <a:sym typeface="Wingdings"/>
              </a:rPr>
              <a:t> </a:t>
            </a:r>
            <a:r>
              <a:rPr lang="en-US" sz="1200" b="0" i="1" smtClean="0">
                <a:solidFill>
                  <a:schemeClr val="dk1"/>
                </a:solidFill>
              </a:rPr>
              <a:t>Reset Perspective</a:t>
            </a:r>
            <a:r>
              <a:rPr lang="en-US" sz="1200" b="0" smtClean="0">
                <a:solidFill>
                  <a:schemeClr val="dk1"/>
                </a:solidFill>
              </a:rPr>
              <a:t> !</a:t>
            </a:r>
          </a:p>
          <a:p>
            <a:pPr marL="509588" lvl="1" indent="-222250">
              <a:spcBef>
                <a:spcPts val="600"/>
              </a:spcBef>
              <a:buClr>
                <a:schemeClr val="tx2"/>
              </a:buClr>
              <a:buSzPct val="75000"/>
              <a:buFont typeface="+mj-lt"/>
              <a:buAutoNum type="arabicPeriod"/>
            </a:pPr>
            <a:r>
              <a:rPr lang="en-US" sz="1200" b="0" smtClean="0">
                <a:solidFill>
                  <a:schemeClr val="dk1"/>
                </a:solidFill>
              </a:rPr>
              <a:t>Used wrong target configuration file and/or GEL file (open project </a:t>
            </a:r>
            <a:r>
              <a:rPr lang="en-US" sz="1200" b="0" i="1" smtClean="0">
                <a:solidFill>
                  <a:schemeClr val="dk1"/>
                </a:solidFill>
              </a:rPr>
              <a:t>Properties</a:t>
            </a:r>
            <a:r>
              <a:rPr lang="en-US" sz="1200" b="0" smtClean="0">
                <a:solidFill>
                  <a:schemeClr val="dk1"/>
                </a:solidFill>
              </a:rPr>
              <a:t> or </a:t>
            </a:r>
            <a:r>
              <a:rPr lang="en-US" sz="1200" b="0" i="1" smtClean="0">
                <a:solidFill>
                  <a:schemeClr val="dk1"/>
                </a:solidFill>
              </a:rPr>
              <a:t>User Defined Target Configurations</a:t>
            </a:r>
            <a:r>
              <a:rPr lang="en-US" sz="1200" b="0" smtClean="0">
                <a:solidFill>
                  <a:schemeClr val="dk1"/>
                </a:solidFill>
              </a:rPr>
              <a:t> and modify/relaunch)</a:t>
            </a:r>
          </a:p>
          <a:p>
            <a:pPr marL="509588" lvl="1" indent="-222250">
              <a:spcBef>
                <a:spcPts val="600"/>
              </a:spcBef>
              <a:buClr>
                <a:schemeClr val="tx2"/>
              </a:buClr>
              <a:buSzPct val="75000"/>
              <a:buFont typeface="+mj-lt"/>
              <a:buAutoNum type="arabicPeriod"/>
            </a:pPr>
            <a:r>
              <a:rPr lang="en-US" sz="1200" b="0" smtClean="0">
                <a:solidFill>
                  <a:schemeClr val="dk1"/>
                </a:solidFill>
              </a:rPr>
              <a:t>“Bug” used for build/launch/connect/reload. This does not work sometimes – especially the first time. If you have problems, perform each step individually to find the problem. Your previous connection is stored in the </a:t>
            </a:r>
            <a:r>
              <a:rPr lang="en-US" sz="1200" b="0" smtClean="0">
                <a:solidFill>
                  <a:schemeClr val="dk1"/>
                </a:solidFill>
                <a:latin typeface="Courier New" panose="02070309020205020404" pitchFamily="49" charset="0"/>
                <a:cs typeface="Courier New" panose="02070309020205020404" pitchFamily="49" charset="0"/>
              </a:rPr>
              <a:t>.launches</a:t>
            </a:r>
            <a:r>
              <a:rPr lang="en-US" sz="1200" b="0" smtClean="0">
                <a:solidFill>
                  <a:schemeClr val="dk1"/>
                </a:solidFill>
              </a:rPr>
              <a:t> folder in your project directory. You can delete this folder and try the bug again. Or simply go through the steps ONCE and then use the bug after that – because CCS should remember your “previous” launch steps.</a:t>
            </a:r>
          </a:p>
          <a:p>
            <a:pPr marL="509588" lvl="1" indent="-222250">
              <a:spcBef>
                <a:spcPts val="600"/>
              </a:spcBef>
              <a:buClr>
                <a:schemeClr val="tx2"/>
              </a:buClr>
              <a:buSzPct val="75000"/>
              <a:buFont typeface="+mj-lt"/>
              <a:buAutoNum type="arabicPeriod"/>
            </a:pPr>
            <a:r>
              <a:rPr lang="en-US" sz="1200" b="0" smtClean="0">
                <a:solidFill>
                  <a:schemeClr val="dk1"/>
                </a:solidFill>
              </a:rPr>
              <a:t>Did not properly terminate previous debug session. This can cause any number of errors. Close CCS, power cycle the board, relaunch CCS and relaunch debug session.</a:t>
            </a:r>
          </a:p>
          <a:p>
            <a:pPr marL="509588" lvl="1" indent="-222250">
              <a:spcBef>
                <a:spcPts val="600"/>
              </a:spcBef>
              <a:buClr>
                <a:schemeClr val="tx2"/>
              </a:buClr>
              <a:buSzPct val="75000"/>
              <a:buFont typeface="+mj-lt"/>
              <a:buAutoNum type="arabicPeriod"/>
            </a:pPr>
            <a:r>
              <a:rPr lang="en-US" sz="1200" b="0" smtClean="0">
                <a:solidFill>
                  <a:schemeClr val="dk1"/>
                </a:solidFill>
              </a:rPr>
              <a:t>Workspace may be corrupt. Switch workspaces using </a:t>
            </a:r>
            <a:r>
              <a:rPr lang="en-US" sz="1200" b="0" i="1" smtClean="0">
                <a:solidFill>
                  <a:schemeClr val="dk1"/>
                </a:solidFill>
              </a:rPr>
              <a:t>File </a:t>
            </a:r>
            <a:r>
              <a:rPr lang="en-US" sz="1200" b="0" i="1">
                <a:solidFill>
                  <a:schemeClr val="dk1"/>
                </a:solidFill>
                <a:sym typeface="Wingdings"/>
              </a:rPr>
              <a:t> </a:t>
            </a:r>
            <a:r>
              <a:rPr lang="en-US" sz="1200" b="0" i="1" smtClean="0">
                <a:solidFill>
                  <a:schemeClr val="dk1"/>
                </a:solidFill>
              </a:rPr>
              <a:t>Switch Workspace</a:t>
            </a:r>
            <a:r>
              <a:rPr lang="en-US" sz="1200" b="0" smtClean="0">
                <a:solidFill>
                  <a:schemeClr val="dk1"/>
                </a:solidFill>
              </a:rPr>
              <a:t>.</a:t>
            </a:r>
          </a:p>
          <a:p>
            <a:pPr marL="509588" lvl="1" indent="-222250">
              <a:spcBef>
                <a:spcPts val="600"/>
              </a:spcBef>
              <a:buClr>
                <a:schemeClr val="tx2"/>
              </a:buClr>
              <a:buSzPct val="75000"/>
              <a:buFont typeface="+mj-lt"/>
              <a:buAutoNum type="arabicPeriod"/>
            </a:pPr>
            <a:r>
              <a:rPr lang="en-US" sz="1200" b="0" smtClean="0">
                <a:solidFill>
                  <a:schemeClr val="dk1"/>
                </a:solidFill>
              </a:rPr>
              <a:t>BIOS Runtime: use ROV to see the state of any problem area including stack overflow</a:t>
            </a:r>
          </a:p>
        </p:txBody>
      </p:sp>
    </p:spTree>
    <p:custDataLst>
      <p:tags r:id="rId1"/>
    </p:custDataLst>
    <p:extLst>
      <p:ext uri="{BB962C8B-B14F-4D97-AF65-F5344CB8AC3E}">
        <p14:creationId xmlns:p14="http://schemas.microsoft.com/office/powerpoint/2010/main" val="1645386285"/>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fontScale="90000"/>
          </a:bodyPr>
          <a:lstStyle/>
          <a:p>
            <a:r>
              <a:rPr lang="en-US" smtClean="0"/>
              <a:t>Troubleshooting Checklist – For More Info </a:t>
            </a:r>
          </a:p>
        </p:txBody>
      </p:sp>
      <p:sp>
        <p:nvSpPr>
          <p:cNvPr id="36867" name="Rectangle 6"/>
          <p:cNvSpPr>
            <a:spLocks noChangeArrowheads="1"/>
          </p:cNvSpPr>
          <p:nvPr/>
        </p:nvSpPr>
        <p:spPr bwMode="auto">
          <a:xfrm>
            <a:off x="561975" y="6216650"/>
            <a:ext cx="184150" cy="625475"/>
          </a:xfrm>
          <a:prstGeom prst="rect">
            <a:avLst/>
          </a:prstGeom>
          <a:noFill/>
          <a:ln w="12700">
            <a:noFill/>
            <a:miter lim="800000"/>
            <a:headEnd type="none" w="sm" len="sm"/>
            <a:tailEnd type="none" w="sm" len="sm"/>
          </a:ln>
        </p:spPr>
        <p:txBody>
          <a:bodyPr wrap="none" anchor="ctr">
            <a:spAutoFit/>
          </a:bodyPr>
          <a:lstStyle/>
          <a:p>
            <a:pPr>
              <a:lnSpc>
                <a:spcPct val="100000"/>
              </a:lnSpc>
              <a:spcBef>
                <a:spcPct val="0"/>
              </a:spcBef>
            </a:pPr>
            <a:r>
              <a:rPr lang="en-US" sz="1100" b="0">
                <a:latin typeface="Times New Roman" pitchFamily="18" charset="0"/>
                <a:cs typeface="Times New Roman" pitchFamily="18" charset="0"/>
              </a:rPr>
              <a:t/>
            </a:r>
            <a:br>
              <a:rPr lang="en-US" sz="1100" b="0">
                <a:latin typeface="Times New Roman" pitchFamily="18" charset="0"/>
                <a:cs typeface="Times New Roman" pitchFamily="18" charset="0"/>
              </a:rPr>
            </a:br>
            <a:endParaRPr lang="en-US" b="0">
              <a:latin typeface="Times New Roman" pitchFamily="18" charset="0"/>
            </a:endParaRPr>
          </a:p>
        </p:txBody>
      </p:sp>
      <p:sp>
        <p:nvSpPr>
          <p:cNvPr id="6" name="TextBox 5"/>
          <p:cNvSpPr txBox="1"/>
          <p:nvPr/>
        </p:nvSpPr>
        <p:spPr>
          <a:xfrm>
            <a:off x="101499" y="735247"/>
            <a:ext cx="8890101" cy="584775"/>
          </a:xfrm>
          <a:prstGeom prst="rect">
            <a:avLst/>
          </a:prstGeom>
          <a:noFill/>
        </p:spPr>
        <p:txBody>
          <a:bodyPr wrap="square" rtlCol="0" anchor="ctr" anchorCtr="0">
            <a:spAutoFit/>
          </a:bodyPr>
          <a:lstStyle/>
          <a:p>
            <a:pPr marL="225425" indent="-225425">
              <a:buClr>
                <a:schemeClr val="tx2"/>
              </a:buClr>
              <a:buSzPct val="75000"/>
              <a:buFont typeface="Wingdings"/>
              <a:buChar char=""/>
            </a:pPr>
            <a:r>
              <a:rPr lang="en-US" sz="2000" b="0" smtClean="0">
                <a:effectLst/>
              </a:rPr>
              <a:t>Shown below are several wiki pages that may help you debug your problem beyond the typical errors talked about on the previous pages… </a:t>
            </a:r>
          </a:p>
        </p:txBody>
      </p:sp>
      <p:sp>
        <p:nvSpPr>
          <p:cNvPr id="4" name="TextBox 3"/>
          <p:cNvSpPr txBox="1"/>
          <p:nvPr/>
        </p:nvSpPr>
        <p:spPr>
          <a:xfrm>
            <a:off x="152400" y="1504197"/>
            <a:ext cx="7447295" cy="560153"/>
          </a:xfrm>
          <a:prstGeom prst="rect">
            <a:avLst/>
          </a:prstGeom>
          <a:noFill/>
        </p:spPr>
        <p:txBody>
          <a:bodyPr wrap="none" rtlCol="0" anchor="ctr" anchorCtr="0">
            <a:spAutoFit/>
          </a:bodyPr>
          <a:lstStyle/>
          <a:p>
            <a:pPr marL="342900" indent="-342900">
              <a:buClr>
                <a:schemeClr val="tx2"/>
              </a:buClr>
              <a:buSzPct val="75000"/>
              <a:buFont typeface="Wingdings"/>
              <a:buChar char=""/>
            </a:pPr>
            <a:r>
              <a:rPr lang="en-US" sz="2000" smtClean="0">
                <a:solidFill>
                  <a:schemeClr val="accent4">
                    <a:lumMod val="75000"/>
                  </a:schemeClr>
                </a:solidFill>
                <a:effectLst/>
              </a:rPr>
              <a:t>BIOS Debug Tips</a:t>
            </a:r>
            <a:br>
              <a:rPr lang="en-US" sz="2000" smtClean="0">
                <a:solidFill>
                  <a:schemeClr val="accent4">
                    <a:lumMod val="75000"/>
                  </a:schemeClr>
                </a:solidFill>
                <a:effectLst/>
              </a:rPr>
            </a:br>
            <a:r>
              <a:rPr lang="en-US" sz="1800" b="0" smtClean="0">
                <a:solidFill>
                  <a:schemeClr val="dk1"/>
                </a:solidFill>
              </a:rPr>
              <a:t>http</a:t>
            </a:r>
            <a:r>
              <a:rPr lang="en-US" sz="1800" b="0">
                <a:solidFill>
                  <a:schemeClr val="dk1"/>
                </a:solidFill>
              </a:rPr>
              <a:t>://</a:t>
            </a:r>
            <a:r>
              <a:rPr lang="en-US" sz="1800" b="0" smtClean="0">
                <a:solidFill>
                  <a:schemeClr val="dk1"/>
                </a:solidFill>
              </a:rPr>
              <a:t>processors.wiki.ti.com/index.php/DSP_BIOS_Debugging_Tips</a:t>
            </a:r>
            <a:endParaRPr lang="en-US" sz="1800" b="0">
              <a:solidFill>
                <a:schemeClr val="dk1"/>
              </a:solidFill>
            </a:endParaRPr>
          </a:p>
        </p:txBody>
      </p:sp>
      <p:sp>
        <p:nvSpPr>
          <p:cNvPr id="8" name="TextBox 7"/>
          <p:cNvSpPr txBox="1"/>
          <p:nvPr/>
        </p:nvSpPr>
        <p:spPr>
          <a:xfrm>
            <a:off x="152400" y="2209800"/>
            <a:ext cx="7007046" cy="560153"/>
          </a:xfrm>
          <a:prstGeom prst="rect">
            <a:avLst/>
          </a:prstGeom>
          <a:noFill/>
        </p:spPr>
        <p:txBody>
          <a:bodyPr wrap="none" rtlCol="0" anchor="ctr" anchorCtr="0">
            <a:spAutoFit/>
          </a:bodyPr>
          <a:lstStyle/>
          <a:p>
            <a:pPr marL="342900" indent="-342900">
              <a:buClr>
                <a:schemeClr val="tx2"/>
              </a:buClr>
              <a:buSzPct val="75000"/>
              <a:buFont typeface="Wingdings"/>
              <a:buChar char=""/>
            </a:pPr>
            <a:r>
              <a:rPr lang="en-US" sz="2000" smtClean="0">
                <a:solidFill>
                  <a:schemeClr val="accent4">
                    <a:lumMod val="75000"/>
                  </a:schemeClr>
                </a:solidFill>
                <a:effectLst/>
              </a:rPr>
              <a:t>Debugging Boot Issues</a:t>
            </a:r>
            <a:br>
              <a:rPr lang="en-US" sz="2000" smtClean="0">
                <a:solidFill>
                  <a:schemeClr val="accent4">
                    <a:lumMod val="75000"/>
                  </a:schemeClr>
                </a:solidFill>
                <a:effectLst/>
              </a:rPr>
            </a:br>
            <a:r>
              <a:rPr lang="en-US" sz="1800" b="0" smtClean="0">
                <a:solidFill>
                  <a:schemeClr val="dk1"/>
                </a:solidFill>
              </a:rPr>
              <a:t>http</a:t>
            </a:r>
            <a:r>
              <a:rPr lang="en-US" sz="1800" b="0">
                <a:solidFill>
                  <a:schemeClr val="dk1"/>
                </a:solidFill>
              </a:rPr>
              <a:t>://</a:t>
            </a:r>
            <a:r>
              <a:rPr lang="en-US" sz="1800" b="0" smtClean="0">
                <a:solidFill>
                  <a:schemeClr val="dk1"/>
                </a:solidFill>
              </a:rPr>
              <a:t>processors.wiki.ti.com/index.php/Debugging_Boot_Issues</a:t>
            </a:r>
            <a:endParaRPr lang="en-US" sz="1800" b="0">
              <a:solidFill>
                <a:schemeClr val="dk1"/>
              </a:solidFill>
            </a:endParaRPr>
          </a:p>
        </p:txBody>
      </p:sp>
      <p:sp>
        <p:nvSpPr>
          <p:cNvPr id="9" name="TextBox 8"/>
          <p:cNvSpPr txBox="1"/>
          <p:nvPr/>
        </p:nvSpPr>
        <p:spPr>
          <a:xfrm>
            <a:off x="152400" y="2895600"/>
            <a:ext cx="7494359" cy="560153"/>
          </a:xfrm>
          <a:prstGeom prst="rect">
            <a:avLst/>
          </a:prstGeom>
          <a:noFill/>
        </p:spPr>
        <p:txBody>
          <a:bodyPr wrap="none" rtlCol="0" anchor="ctr" anchorCtr="0">
            <a:spAutoFit/>
          </a:bodyPr>
          <a:lstStyle/>
          <a:p>
            <a:pPr marL="342900" indent="-342900">
              <a:buClr>
                <a:schemeClr val="tx2"/>
              </a:buClr>
              <a:buSzPct val="75000"/>
              <a:buFont typeface="Wingdings"/>
              <a:buChar char=""/>
            </a:pPr>
            <a:r>
              <a:rPr lang="en-US" sz="2000" smtClean="0">
                <a:solidFill>
                  <a:schemeClr val="accent4">
                    <a:lumMod val="75000"/>
                  </a:schemeClr>
                </a:solidFill>
                <a:effectLst/>
              </a:rPr>
              <a:t>Debugging CCSv5 Projects</a:t>
            </a:r>
            <a:br>
              <a:rPr lang="en-US" sz="2000" smtClean="0">
                <a:solidFill>
                  <a:schemeClr val="accent4">
                    <a:lumMod val="75000"/>
                  </a:schemeClr>
                </a:solidFill>
                <a:effectLst/>
              </a:rPr>
            </a:br>
            <a:r>
              <a:rPr lang="en-US" sz="1800" b="0" smtClean="0">
                <a:solidFill>
                  <a:schemeClr val="dk1"/>
                </a:solidFill>
              </a:rPr>
              <a:t>http</a:t>
            </a:r>
            <a:r>
              <a:rPr lang="en-US" sz="1800" b="0">
                <a:solidFill>
                  <a:schemeClr val="dk1"/>
                </a:solidFill>
              </a:rPr>
              <a:t>://</a:t>
            </a:r>
            <a:r>
              <a:rPr lang="en-US" sz="1800" b="0" smtClean="0">
                <a:solidFill>
                  <a:schemeClr val="dk1"/>
                </a:solidFill>
              </a:rPr>
              <a:t>processors.wiki.ti.com/index.php/GSG:Debugging_projects_v5</a:t>
            </a:r>
            <a:endParaRPr lang="en-US" sz="1800" b="0">
              <a:solidFill>
                <a:schemeClr val="dk1"/>
              </a:solidFill>
            </a:endParaRPr>
          </a:p>
        </p:txBody>
      </p:sp>
      <p:sp>
        <p:nvSpPr>
          <p:cNvPr id="10" name="TextBox 9"/>
          <p:cNvSpPr txBox="1"/>
          <p:nvPr/>
        </p:nvSpPr>
        <p:spPr>
          <a:xfrm>
            <a:off x="152400" y="3581400"/>
            <a:ext cx="6998454" cy="560153"/>
          </a:xfrm>
          <a:prstGeom prst="rect">
            <a:avLst/>
          </a:prstGeom>
          <a:noFill/>
        </p:spPr>
        <p:txBody>
          <a:bodyPr wrap="none" rtlCol="0" anchor="ctr" anchorCtr="0">
            <a:spAutoFit/>
          </a:bodyPr>
          <a:lstStyle/>
          <a:p>
            <a:pPr marL="342900" indent="-342900">
              <a:buClr>
                <a:schemeClr val="tx2"/>
              </a:buClr>
              <a:buSzPct val="75000"/>
              <a:buFont typeface="Wingdings"/>
              <a:buChar char=""/>
            </a:pPr>
            <a:r>
              <a:rPr lang="en-US" sz="2000" smtClean="0">
                <a:solidFill>
                  <a:schemeClr val="accent4">
                    <a:lumMod val="75000"/>
                  </a:schemeClr>
                </a:solidFill>
                <a:effectLst/>
              </a:rPr>
              <a:t>Troubleshooting CCSv5</a:t>
            </a:r>
            <a:br>
              <a:rPr lang="en-US" sz="2000" smtClean="0">
                <a:solidFill>
                  <a:schemeClr val="accent4">
                    <a:lumMod val="75000"/>
                  </a:schemeClr>
                </a:solidFill>
                <a:effectLst/>
              </a:rPr>
            </a:br>
            <a:r>
              <a:rPr lang="en-US" sz="1800" b="0" smtClean="0">
                <a:solidFill>
                  <a:schemeClr val="dk1"/>
                </a:solidFill>
              </a:rPr>
              <a:t>http</a:t>
            </a:r>
            <a:r>
              <a:rPr lang="en-US" sz="1800" b="0">
                <a:solidFill>
                  <a:schemeClr val="dk1"/>
                </a:solidFill>
              </a:rPr>
              <a:t>://</a:t>
            </a:r>
            <a:r>
              <a:rPr lang="en-US" sz="1800" b="0" smtClean="0">
                <a:solidFill>
                  <a:schemeClr val="dk1"/>
                </a:solidFill>
              </a:rPr>
              <a:t>processors.wiki.ti.com/index.php/Troubleshooting_CCSv5</a:t>
            </a:r>
            <a:endParaRPr lang="en-US" sz="1800" b="0">
              <a:solidFill>
                <a:schemeClr val="dk1"/>
              </a:solidFill>
            </a:endParaRPr>
          </a:p>
        </p:txBody>
      </p:sp>
      <p:sp>
        <p:nvSpPr>
          <p:cNvPr id="11" name="TextBox 10"/>
          <p:cNvSpPr txBox="1"/>
          <p:nvPr/>
        </p:nvSpPr>
        <p:spPr>
          <a:xfrm>
            <a:off x="152400" y="4267200"/>
            <a:ext cx="8798114" cy="560153"/>
          </a:xfrm>
          <a:prstGeom prst="rect">
            <a:avLst/>
          </a:prstGeom>
          <a:noFill/>
        </p:spPr>
        <p:txBody>
          <a:bodyPr wrap="none" rtlCol="0" anchor="ctr" anchorCtr="0">
            <a:spAutoFit/>
          </a:bodyPr>
          <a:lstStyle/>
          <a:p>
            <a:pPr marL="342900" indent="-342900">
              <a:buClr>
                <a:schemeClr val="tx2"/>
              </a:buClr>
              <a:buSzPct val="75000"/>
              <a:buFont typeface="Wingdings"/>
              <a:buChar char=""/>
            </a:pPr>
            <a:r>
              <a:rPr lang="en-US" sz="2000" smtClean="0">
                <a:solidFill>
                  <a:schemeClr val="accent4">
                    <a:lumMod val="75000"/>
                  </a:schemeClr>
                </a:solidFill>
                <a:effectLst/>
              </a:rPr>
              <a:t>Debugging JTAG Connectivity Problems</a:t>
            </a:r>
            <a:br>
              <a:rPr lang="en-US" sz="2000" smtClean="0">
                <a:solidFill>
                  <a:schemeClr val="accent4">
                    <a:lumMod val="75000"/>
                  </a:schemeClr>
                </a:solidFill>
                <a:effectLst/>
              </a:rPr>
            </a:br>
            <a:r>
              <a:rPr lang="en-US" sz="1800" b="0" smtClean="0">
                <a:solidFill>
                  <a:schemeClr val="dk1"/>
                </a:solidFill>
              </a:rPr>
              <a:t>http</a:t>
            </a:r>
            <a:r>
              <a:rPr lang="en-US" sz="1800" b="0">
                <a:solidFill>
                  <a:schemeClr val="dk1"/>
                </a:solidFill>
              </a:rPr>
              <a:t>://</a:t>
            </a:r>
            <a:r>
              <a:rPr lang="en-US" sz="1800" b="0" smtClean="0">
                <a:solidFill>
                  <a:schemeClr val="dk1"/>
                </a:solidFill>
              </a:rPr>
              <a:t>processors.wiki.ti.com/index.php/Debugging_JTAG_Connectivity_Problems</a:t>
            </a:r>
            <a:endParaRPr lang="en-US" sz="1800" b="0">
              <a:solidFill>
                <a:schemeClr val="dk1"/>
              </a:solidFill>
            </a:endParaRPr>
          </a:p>
        </p:txBody>
      </p:sp>
      <p:sp>
        <p:nvSpPr>
          <p:cNvPr id="12" name="TextBox 11"/>
          <p:cNvSpPr txBox="1"/>
          <p:nvPr/>
        </p:nvSpPr>
        <p:spPr>
          <a:xfrm>
            <a:off x="152400" y="4953000"/>
            <a:ext cx="6135077" cy="560153"/>
          </a:xfrm>
          <a:prstGeom prst="rect">
            <a:avLst/>
          </a:prstGeom>
          <a:noFill/>
        </p:spPr>
        <p:txBody>
          <a:bodyPr wrap="none" rtlCol="0" anchor="ctr" anchorCtr="0">
            <a:spAutoFit/>
          </a:bodyPr>
          <a:lstStyle/>
          <a:p>
            <a:pPr marL="342900" indent="-342900">
              <a:buClr>
                <a:schemeClr val="tx2"/>
              </a:buClr>
              <a:buSzPct val="75000"/>
              <a:buFont typeface="Wingdings"/>
              <a:buChar char=""/>
            </a:pPr>
            <a:r>
              <a:rPr lang="en-US" sz="2000" smtClean="0">
                <a:solidFill>
                  <a:schemeClr val="accent4">
                    <a:lumMod val="75000"/>
                  </a:schemeClr>
                </a:solidFill>
                <a:effectLst/>
              </a:rPr>
              <a:t>CCS FAQ</a:t>
            </a:r>
            <a:br>
              <a:rPr lang="en-US" sz="2000" smtClean="0">
                <a:solidFill>
                  <a:schemeClr val="accent4">
                    <a:lumMod val="75000"/>
                  </a:schemeClr>
                </a:solidFill>
                <a:effectLst/>
              </a:rPr>
            </a:br>
            <a:r>
              <a:rPr lang="en-US" sz="1800" b="0" smtClean="0">
                <a:solidFill>
                  <a:schemeClr val="dk1"/>
                </a:solidFill>
              </a:rPr>
              <a:t>http</a:t>
            </a:r>
            <a:r>
              <a:rPr lang="en-US" sz="1800" b="0">
                <a:solidFill>
                  <a:schemeClr val="dk1"/>
                </a:solidFill>
              </a:rPr>
              <a:t>://</a:t>
            </a:r>
            <a:r>
              <a:rPr lang="en-US" sz="1800" b="0" smtClean="0">
                <a:solidFill>
                  <a:schemeClr val="dk1"/>
                </a:solidFill>
              </a:rPr>
              <a:t>processors.wiki.ti.com/index.php/CCStudio_FAQ </a:t>
            </a:r>
            <a:endParaRPr lang="en-US" sz="1800" b="0">
              <a:solidFill>
                <a:schemeClr val="dk1"/>
              </a:solidFill>
            </a:endParaRPr>
          </a:p>
        </p:txBody>
      </p:sp>
    </p:spTree>
    <p:custDataLst>
      <p:tags r:id="rId1"/>
    </p:custDataLst>
    <p:extLst>
      <p:ext uri="{BB962C8B-B14F-4D97-AF65-F5344CB8AC3E}">
        <p14:creationId xmlns:p14="http://schemas.microsoft.com/office/powerpoint/2010/main" val="3286565436"/>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Portable Projects</a:t>
            </a:r>
            <a:endParaRPr lang="en-US" dirty="0"/>
          </a:p>
        </p:txBody>
      </p:sp>
      <p:sp>
        <p:nvSpPr>
          <p:cNvPr id="5" name="TextBox 4"/>
          <p:cNvSpPr txBox="1"/>
          <p:nvPr/>
        </p:nvSpPr>
        <p:spPr>
          <a:xfrm>
            <a:off x="738554" y="622002"/>
            <a:ext cx="7939560" cy="1241878"/>
          </a:xfrm>
          <a:prstGeom prst="rect">
            <a:avLst/>
          </a:prstGeom>
          <a:noFill/>
        </p:spPr>
        <p:txBody>
          <a:bodyPr wrap="square" rtlCol="0" anchor="t" anchorCtr="0">
            <a:spAutoFit/>
          </a:bodyPr>
          <a:lstStyle/>
          <a:p>
            <a:pPr marL="342900" indent="-342900">
              <a:spcBef>
                <a:spcPts val="600"/>
              </a:spcBef>
              <a:buClr>
                <a:srgbClr val="0066FF"/>
              </a:buClr>
              <a:buSzPct val="75000"/>
              <a:buFont typeface="Wingdings"/>
              <a:buChar char=""/>
            </a:pPr>
            <a:r>
              <a:rPr lang="en-US" dirty="0" smtClean="0">
                <a:solidFill>
                  <a:srgbClr val="000000"/>
                </a:solidFill>
                <a:latin typeface="Calibri" pitchFamily="34" charset="0"/>
                <a:cs typeface="Calibri" pitchFamily="34" charset="0"/>
              </a:rPr>
              <a:t>Why make your projects “portable”?</a:t>
            </a:r>
          </a:p>
          <a:p>
            <a:pPr marL="574675" indent="-169863">
              <a:spcBef>
                <a:spcPts val="300"/>
              </a:spcBef>
              <a:buSzPct val="100000"/>
              <a:buFont typeface="Arial" pitchFamily="34" charset="0"/>
              <a:buChar char="•"/>
            </a:pPr>
            <a:r>
              <a:rPr lang="en-US" sz="2000" b="0" dirty="0" smtClean="0">
                <a:solidFill>
                  <a:srgbClr val="000000"/>
                </a:solidFill>
                <a:latin typeface="Calibri" pitchFamily="34" charset="0"/>
                <a:cs typeface="Calibri" pitchFamily="34" charset="0"/>
              </a:rPr>
              <a:t>Simplifies project sharing </a:t>
            </a:r>
          </a:p>
          <a:p>
            <a:pPr marL="574675" indent="-169863">
              <a:spcBef>
                <a:spcPts val="300"/>
              </a:spcBef>
              <a:buSzPct val="100000"/>
              <a:buFont typeface="Arial" pitchFamily="34" charset="0"/>
              <a:buChar char="•"/>
            </a:pPr>
            <a:r>
              <a:rPr lang="en-US" sz="2000" b="0" dirty="0">
                <a:solidFill>
                  <a:srgbClr val="000000"/>
                </a:solidFill>
                <a:latin typeface="Calibri" pitchFamily="34" charset="0"/>
                <a:cs typeface="Calibri" pitchFamily="34" charset="0"/>
              </a:rPr>
              <a:t>Y</a:t>
            </a:r>
            <a:r>
              <a:rPr lang="en-US" sz="2000" b="0" dirty="0" smtClean="0">
                <a:solidFill>
                  <a:srgbClr val="000000"/>
                </a:solidFill>
                <a:latin typeface="Calibri" pitchFamily="34" charset="0"/>
                <a:cs typeface="Calibri" pitchFamily="34" charset="0"/>
              </a:rPr>
              <a:t>ou can easily re-locate your projects – or use source control tools</a:t>
            </a:r>
          </a:p>
          <a:p>
            <a:pPr marL="574675" indent="-169863">
              <a:spcBef>
                <a:spcPts val="300"/>
              </a:spcBef>
              <a:buSzPct val="100000"/>
              <a:buFont typeface="Arial" pitchFamily="34" charset="0"/>
              <a:buChar char="•"/>
            </a:pPr>
            <a:r>
              <a:rPr lang="en-US" sz="2000" b="0" dirty="0" smtClean="0">
                <a:solidFill>
                  <a:srgbClr val="000000"/>
                </a:solidFill>
                <a:latin typeface="Calibri" pitchFamily="34" charset="0"/>
                <a:cs typeface="Calibri" pitchFamily="34" charset="0"/>
              </a:rPr>
              <a:t>Allow simple changes to link to new releases of software libraries</a:t>
            </a:r>
          </a:p>
        </p:txBody>
      </p:sp>
      <p:sp>
        <p:nvSpPr>
          <p:cNvPr id="6" name="TextBox 5"/>
          <p:cNvSpPr txBox="1"/>
          <p:nvPr/>
        </p:nvSpPr>
        <p:spPr>
          <a:xfrm>
            <a:off x="5051106" y="2345271"/>
            <a:ext cx="3845605" cy="646331"/>
          </a:xfrm>
          <a:prstGeom prst="rect">
            <a:avLst/>
          </a:prstGeom>
          <a:noFill/>
        </p:spPr>
        <p:txBody>
          <a:bodyPr wrap="none" rtlCol="0" anchor="t" anchorCtr="0">
            <a:spAutoFit/>
          </a:bodyPr>
          <a:lstStyle/>
          <a:p>
            <a:pPr>
              <a:lnSpc>
                <a:spcPct val="90000"/>
              </a:lnSpc>
              <a:spcBef>
                <a:spcPts val="600"/>
              </a:spcBef>
              <a:buClr>
                <a:srgbClr val="0066FF"/>
              </a:buClr>
              <a:buSzPct val="75000"/>
            </a:pPr>
            <a:r>
              <a:rPr lang="en-US" sz="2000" b="0" u="sng" dirty="0" smtClean="0">
                <a:solidFill>
                  <a:srgbClr val="0066FF"/>
                </a:solidFill>
                <a:latin typeface="Calibri" pitchFamily="34" charset="0"/>
                <a:cs typeface="Calibri" pitchFamily="34" charset="0"/>
              </a:rPr>
              <a:t>Copied</a:t>
            </a:r>
            <a:r>
              <a:rPr lang="en-US" sz="2000" b="0" dirty="0" smtClean="0">
                <a:solidFill>
                  <a:srgbClr val="0066FF"/>
                </a:solidFill>
                <a:latin typeface="Calibri" pitchFamily="34" charset="0"/>
                <a:cs typeface="Calibri" pitchFamily="34" charset="0"/>
              </a:rPr>
              <a:t> </a:t>
            </a:r>
            <a:r>
              <a:rPr lang="en-US" sz="2000" b="0" dirty="0" smtClean="0">
                <a:solidFill>
                  <a:srgbClr val="000000"/>
                </a:solidFill>
                <a:latin typeface="Calibri" pitchFamily="34" charset="0"/>
                <a:cs typeface="Calibri" pitchFamily="34" charset="0"/>
              </a:rPr>
              <a:t>files are not a problem </a:t>
            </a:r>
            <a:br>
              <a:rPr lang="en-US" sz="2000" b="0" dirty="0" smtClean="0">
                <a:solidFill>
                  <a:srgbClr val="000000"/>
                </a:solidFill>
                <a:latin typeface="Calibri" pitchFamily="34" charset="0"/>
                <a:cs typeface="Calibri" pitchFamily="34" charset="0"/>
              </a:rPr>
            </a:br>
            <a:r>
              <a:rPr lang="en-US" sz="2000" b="0" dirty="0" smtClean="0">
                <a:solidFill>
                  <a:srgbClr val="000000"/>
                </a:solidFill>
                <a:latin typeface="Calibri" pitchFamily="34" charset="0"/>
                <a:cs typeface="Calibri" pitchFamily="34" charset="0"/>
              </a:rPr>
              <a:t>(they move with the project folder)</a:t>
            </a:r>
          </a:p>
        </p:txBody>
      </p:sp>
      <p:sp>
        <p:nvSpPr>
          <p:cNvPr id="7" name="TextBox 6"/>
          <p:cNvSpPr txBox="1"/>
          <p:nvPr/>
        </p:nvSpPr>
        <p:spPr>
          <a:xfrm>
            <a:off x="5051105" y="3016812"/>
            <a:ext cx="4092895" cy="1483483"/>
          </a:xfrm>
          <a:prstGeom prst="rect">
            <a:avLst/>
          </a:prstGeom>
          <a:noFill/>
        </p:spPr>
        <p:txBody>
          <a:bodyPr wrap="square" rtlCol="0" anchor="t" anchorCtr="0">
            <a:spAutoFit/>
          </a:bodyPr>
          <a:lstStyle/>
          <a:p>
            <a:pPr>
              <a:spcBef>
                <a:spcPts val="600"/>
              </a:spcBef>
              <a:buClr>
                <a:srgbClr val="0066FF"/>
              </a:buClr>
              <a:buSzPct val="75000"/>
            </a:pPr>
            <a:r>
              <a:rPr lang="en-US" sz="2000" b="0" u="sng" dirty="0" smtClean="0">
                <a:solidFill>
                  <a:srgbClr val="0066FF"/>
                </a:solidFill>
                <a:latin typeface="Calibri" pitchFamily="34" charset="0"/>
                <a:cs typeface="Calibri" pitchFamily="34" charset="0"/>
              </a:rPr>
              <a:t>Linked</a:t>
            </a:r>
            <a:r>
              <a:rPr lang="en-US" sz="2000" b="0" dirty="0" smtClean="0">
                <a:solidFill>
                  <a:srgbClr val="0066FF"/>
                </a:solidFill>
                <a:latin typeface="Calibri" pitchFamily="34" charset="0"/>
                <a:cs typeface="Calibri" pitchFamily="34" charset="0"/>
              </a:rPr>
              <a:t> </a:t>
            </a:r>
            <a:r>
              <a:rPr lang="en-US" sz="2000" b="0" dirty="0" smtClean="0">
                <a:solidFill>
                  <a:srgbClr val="000000"/>
                </a:solidFill>
                <a:latin typeface="Calibri" pitchFamily="34" charset="0"/>
                <a:cs typeface="Calibri" pitchFamily="34" charset="0"/>
              </a:rPr>
              <a:t>files may be an issue - located  outside the project folder, they may be referenced via:</a:t>
            </a:r>
          </a:p>
          <a:p>
            <a:pPr marL="742950" lvl="1" indent="-285750">
              <a:spcBef>
                <a:spcPts val="600"/>
              </a:spcBef>
              <a:buClr>
                <a:srgbClr val="0066FF"/>
              </a:buClr>
              <a:buSzPct val="75000"/>
              <a:buFont typeface="Arial" pitchFamily="34" charset="0"/>
              <a:buChar char="•"/>
            </a:pPr>
            <a:r>
              <a:rPr lang="en-US" sz="2000" b="0" dirty="0" smtClean="0">
                <a:solidFill>
                  <a:srgbClr val="000000"/>
                </a:solidFill>
                <a:latin typeface="Calibri" pitchFamily="34" charset="0"/>
                <a:cs typeface="Calibri" pitchFamily="34" charset="0"/>
              </a:rPr>
              <a:t>absolute path, or</a:t>
            </a:r>
          </a:p>
          <a:p>
            <a:pPr marL="742950" lvl="1" indent="-285750">
              <a:lnSpc>
                <a:spcPct val="100000"/>
              </a:lnSpc>
              <a:spcBef>
                <a:spcPts val="0"/>
              </a:spcBef>
              <a:buClr>
                <a:srgbClr val="0066FF"/>
              </a:buClr>
              <a:buSzPct val="75000"/>
              <a:buFont typeface="Arial" pitchFamily="34" charset="0"/>
              <a:buChar char="•"/>
            </a:pPr>
            <a:r>
              <a:rPr lang="en-US" sz="2000" b="0" dirty="0" smtClean="0">
                <a:solidFill>
                  <a:srgbClr val="000000"/>
                </a:solidFill>
                <a:latin typeface="Calibri" pitchFamily="34" charset="0"/>
                <a:cs typeface="Calibri" pitchFamily="34" charset="0"/>
              </a:rPr>
              <a:t>relative path</a:t>
            </a:r>
          </a:p>
        </p:txBody>
      </p:sp>
      <p:sp>
        <p:nvSpPr>
          <p:cNvPr id="9" name="TextBox 8"/>
          <p:cNvSpPr txBox="1"/>
          <p:nvPr/>
        </p:nvSpPr>
        <p:spPr>
          <a:xfrm>
            <a:off x="5838825" y="5189066"/>
            <a:ext cx="2839289" cy="590931"/>
          </a:xfrm>
          <a:prstGeom prst="rect">
            <a:avLst/>
          </a:prstGeom>
          <a:noFill/>
          <a:ln w="19050">
            <a:noFill/>
          </a:ln>
        </p:spPr>
        <p:txBody>
          <a:bodyPr wrap="square" rtlCol="0" anchor="t" anchorCtr="0">
            <a:spAutoFit/>
          </a:bodyPr>
          <a:lstStyle/>
          <a:p>
            <a:pPr>
              <a:spcBef>
                <a:spcPts val="600"/>
              </a:spcBef>
              <a:buClr>
                <a:srgbClr val="0066FF"/>
              </a:buClr>
              <a:buSzPct val="75000"/>
            </a:pPr>
            <a:r>
              <a:rPr lang="en-US" sz="2000" b="0" dirty="0" smtClean="0">
                <a:solidFill>
                  <a:srgbClr val="000000"/>
                </a:solidFill>
                <a:latin typeface="Calibri" pitchFamily="34" charset="0"/>
                <a:cs typeface="Calibri" pitchFamily="34" charset="0"/>
              </a:rPr>
              <a:t>Choose a </a:t>
            </a:r>
            <a:r>
              <a:rPr lang="en-US" sz="2000" b="0" u="sng" dirty="0" smtClean="0">
                <a:solidFill>
                  <a:srgbClr val="0066FF"/>
                </a:solidFill>
                <a:latin typeface="Calibri" pitchFamily="34" charset="0"/>
                <a:cs typeface="Calibri" pitchFamily="34" charset="0"/>
              </a:rPr>
              <a:t>Path Variable </a:t>
            </a:r>
            <a:r>
              <a:rPr lang="en-US" sz="2000" b="0" dirty="0" smtClean="0">
                <a:solidFill>
                  <a:srgbClr val="000000"/>
                </a:solidFill>
                <a:latin typeface="Calibri" pitchFamily="34" charset="0"/>
                <a:cs typeface="Calibri" pitchFamily="34" charset="0"/>
              </a:rPr>
              <a:t>for a relative path</a:t>
            </a:r>
          </a:p>
        </p:txBody>
      </p:sp>
      <p:sp>
        <p:nvSpPr>
          <p:cNvPr id="17" name="Oval 16"/>
          <p:cNvSpPr/>
          <p:nvPr/>
        </p:nvSpPr>
        <p:spPr bwMode="auto">
          <a:xfrm>
            <a:off x="2990850" y="5895975"/>
            <a:ext cx="1790700" cy="533400"/>
          </a:xfrm>
          <a:prstGeom prst="ellipse">
            <a:avLst/>
          </a:prstGeom>
          <a:noFill/>
          <a:ln w="19050" cap="flat" cmpd="sng" algn="ctr">
            <a:solidFill>
              <a:schemeClr val="accent4"/>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endParaRPr lang="en-US" sz="2800" dirty="0" smtClean="0">
              <a:solidFill>
                <a:srgbClr val="000000"/>
              </a:solidFill>
              <a:latin typeface="Arial Narrow" pitchFamily="34" charset="0"/>
            </a:endParaRPr>
          </a:p>
        </p:txBody>
      </p:sp>
      <p:sp>
        <p:nvSpPr>
          <p:cNvPr id="21" name="Leading Question"/>
          <p:cNvSpPr txBox="1"/>
          <p:nvPr/>
        </p:nvSpPr>
        <p:spPr>
          <a:xfrm>
            <a:off x="6172200" y="6324600"/>
            <a:ext cx="2442976" cy="246221"/>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r">
              <a:spcBef>
                <a:spcPct val="0"/>
              </a:spcBef>
            </a:pPr>
            <a:r>
              <a:rPr lang="en-US" sz="2000" b="0" dirty="0" smtClean="0">
                <a:solidFill>
                  <a:srgbClr val="0066FF"/>
                </a:solidFill>
                <a:latin typeface="Arial Narrow"/>
              </a:rPr>
              <a:t>What are these variables?</a:t>
            </a:r>
          </a:p>
        </p:txBody>
      </p:sp>
      <p:pic>
        <p:nvPicPr>
          <p:cNvPr id="18" name="Picture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9007" y="4686838"/>
            <a:ext cx="4828597" cy="2042413"/>
          </a:xfrm>
          <a:prstGeom prst="rect">
            <a:avLst/>
          </a:prstGeom>
        </p:spPr>
      </p:pic>
      <p:pic>
        <p:nvPicPr>
          <p:cNvPr id="1032" name="Picture 8" descr="C:\Users\a0159712\AppData\Local\Temp\SNAGHTML197a3b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007" y="1927678"/>
            <a:ext cx="3274793" cy="2767818"/>
          </a:xfrm>
          <a:prstGeom prst="rect">
            <a:avLst/>
          </a:prstGeom>
          <a:noFill/>
          <a:extLst>
            <a:ext uri="{909E8E84-426E-40DD-AFC4-6F175D3DCCD1}">
              <a14:hiddenFill xmlns:a14="http://schemas.microsoft.com/office/drawing/2010/main">
                <a:solidFill>
                  <a:srgbClr val="FFFFFF"/>
                </a:solidFill>
              </a14:hiddenFill>
            </a:ext>
          </a:extLst>
        </p:spPr>
      </p:pic>
      <p:sp>
        <p:nvSpPr>
          <p:cNvPr id="13" name="Rounded Rectangle 12"/>
          <p:cNvSpPr/>
          <p:nvPr/>
        </p:nvSpPr>
        <p:spPr bwMode="auto">
          <a:xfrm>
            <a:off x="738554" y="3321112"/>
            <a:ext cx="1733184" cy="474601"/>
          </a:xfrm>
          <a:prstGeom prst="roundRect">
            <a:avLst/>
          </a:prstGeom>
          <a:noFill/>
          <a:ln w="28575" cap="flat" cmpd="sng" algn="ctr">
            <a:solidFill>
              <a:srgbClr val="0000FF"/>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endParaRPr lang="en-US" sz="2800" dirty="0" smtClean="0">
              <a:solidFill>
                <a:srgbClr val="000000"/>
              </a:solidFill>
              <a:latin typeface="Arial Narrow" pitchFamily="34" charset="0"/>
            </a:endParaRPr>
          </a:p>
        </p:txBody>
      </p:sp>
      <p:sp>
        <p:nvSpPr>
          <p:cNvPr id="23" name="Rounded Rectangle 22"/>
          <p:cNvSpPr/>
          <p:nvPr/>
        </p:nvSpPr>
        <p:spPr bwMode="auto">
          <a:xfrm>
            <a:off x="738554" y="4049776"/>
            <a:ext cx="1733184" cy="279338"/>
          </a:xfrm>
          <a:prstGeom prst="roundRect">
            <a:avLst/>
          </a:prstGeom>
          <a:noFill/>
          <a:ln w="28575" cap="flat" cmpd="sng" algn="ctr">
            <a:solidFill>
              <a:srgbClr val="FF33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endParaRPr lang="en-US" sz="2800" dirty="0" smtClean="0">
              <a:solidFill>
                <a:srgbClr val="000000"/>
              </a:solidFill>
              <a:latin typeface="Arial Narrow" pitchFamily="34" charset="0"/>
            </a:endParaRPr>
          </a:p>
        </p:txBody>
      </p:sp>
      <p:cxnSp>
        <p:nvCxnSpPr>
          <p:cNvPr id="12" name="Straight Arrow Connector 11"/>
          <p:cNvCxnSpPr>
            <a:stCxn id="6" idx="1"/>
          </p:cNvCxnSpPr>
          <p:nvPr/>
        </p:nvCxnSpPr>
        <p:spPr bwMode="auto">
          <a:xfrm flipH="1">
            <a:off x="2573080" y="2668437"/>
            <a:ext cx="2478026" cy="889975"/>
          </a:xfrm>
          <a:prstGeom prst="straightConnector1">
            <a:avLst/>
          </a:prstGeom>
          <a:solidFill>
            <a:schemeClr val="accent1"/>
          </a:solidFill>
          <a:ln w="38100" cap="flat" cmpd="sng" algn="ctr">
            <a:solidFill>
              <a:srgbClr val="0000FF"/>
            </a:solidFill>
            <a:prstDash val="solid"/>
            <a:round/>
            <a:headEnd type="none" w="sm" len="sm"/>
            <a:tailEnd type="arrow"/>
          </a:ln>
          <a:effectLst/>
        </p:spPr>
      </p:cxnSp>
      <p:cxnSp>
        <p:nvCxnSpPr>
          <p:cNvPr id="15" name="Straight Arrow Connector 14"/>
          <p:cNvCxnSpPr/>
          <p:nvPr/>
        </p:nvCxnSpPr>
        <p:spPr bwMode="auto">
          <a:xfrm flipH="1">
            <a:off x="2573079" y="3244103"/>
            <a:ext cx="2478027" cy="945342"/>
          </a:xfrm>
          <a:prstGeom prst="straightConnector1">
            <a:avLst/>
          </a:prstGeom>
          <a:solidFill>
            <a:schemeClr val="accent1"/>
          </a:solidFill>
          <a:ln w="38100" cap="flat" cmpd="sng" algn="ctr">
            <a:solidFill>
              <a:srgbClr val="FF3300"/>
            </a:solidFill>
            <a:prstDash val="solid"/>
            <a:round/>
            <a:headEnd type="none" w="sm" len="sm"/>
            <a:tailEnd type="arrow"/>
          </a:ln>
          <a:effectLst/>
        </p:spPr>
      </p:cxnSp>
      <p:cxnSp>
        <p:nvCxnSpPr>
          <p:cNvPr id="19" name="Straight Arrow Connector 18"/>
          <p:cNvCxnSpPr>
            <a:stCxn id="9" idx="1"/>
          </p:cNvCxnSpPr>
          <p:nvPr/>
        </p:nvCxnSpPr>
        <p:spPr bwMode="auto">
          <a:xfrm flipH="1">
            <a:off x="4699591" y="5484532"/>
            <a:ext cx="1139234" cy="411443"/>
          </a:xfrm>
          <a:prstGeom prst="straightConnector1">
            <a:avLst/>
          </a:prstGeom>
          <a:solidFill>
            <a:schemeClr val="accent1"/>
          </a:solidFill>
          <a:ln w="38100" cap="flat" cmpd="sng" algn="ctr">
            <a:solidFill>
              <a:srgbClr val="000000"/>
            </a:solidFill>
            <a:prstDash val="solid"/>
            <a:round/>
            <a:headEnd type="none" w="sm" len="sm"/>
            <a:tailEnd type="arrow"/>
          </a:ln>
          <a:effectLst/>
        </p:spPr>
      </p:cxnSp>
    </p:spTree>
    <p:extLst>
      <p:ext uri="{BB962C8B-B14F-4D97-AF65-F5344CB8AC3E}">
        <p14:creationId xmlns:p14="http://schemas.microsoft.com/office/powerpoint/2010/main" val="9965831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 name="Rectangle 26"/>
          <p:cNvSpPr/>
          <p:nvPr/>
        </p:nvSpPr>
        <p:spPr bwMode="auto">
          <a:xfrm>
            <a:off x="0" y="914399"/>
            <a:ext cx="9144000" cy="5571347"/>
          </a:xfrm>
          <a:prstGeom prst="rect">
            <a:avLst/>
          </a:prstGeom>
          <a:solidFill>
            <a:schemeClr val="accent1">
              <a:lumMod val="90000"/>
            </a:schemeClr>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endParaRPr lang="en-US" sz="2800" dirty="0" smtClean="0">
              <a:solidFill>
                <a:srgbClr val="000000"/>
              </a:solidFill>
              <a:latin typeface="Arial Narrow" pitchFamily="34" charset="0"/>
            </a:endParaRPr>
          </a:p>
        </p:txBody>
      </p:sp>
      <p:sp>
        <p:nvSpPr>
          <p:cNvPr id="2" name="Title 1"/>
          <p:cNvSpPr>
            <a:spLocks noGrp="1"/>
          </p:cNvSpPr>
          <p:nvPr>
            <p:ph type="title"/>
          </p:nvPr>
        </p:nvSpPr>
        <p:spPr/>
        <p:txBody>
          <a:bodyPr/>
          <a:lstStyle/>
          <a:p>
            <a:r>
              <a:rPr lang="en-US" dirty="0" smtClean="0"/>
              <a:t>Two Types of Path Variables</a:t>
            </a:r>
            <a:endParaRPr lang="en-US" dirty="0"/>
          </a:p>
        </p:txBody>
      </p:sp>
      <p:sp>
        <p:nvSpPr>
          <p:cNvPr id="14" name="TextBox 13"/>
          <p:cNvSpPr txBox="1"/>
          <p:nvPr/>
        </p:nvSpPr>
        <p:spPr>
          <a:xfrm>
            <a:off x="863293" y="609600"/>
            <a:ext cx="7417415" cy="341632"/>
          </a:xfrm>
          <a:prstGeom prst="rect">
            <a:avLst/>
          </a:prstGeom>
          <a:noFill/>
        </p:spPr>
        <p:txBody>
          <a:bodyPr wrap="none" rtlCol="0" anchor="t" anchorCtr="0">
            <a:spAutoFit/>
          </a:bodyPr>
          <a:lstStyle/>
          <a:p>
            <a:pPr>
              <a:lnSpc>
                <a:spcPct val="90000"/>
              </a:lnSpc>
              <a:spcBef>
                <a:spcPts val="600"/>
              </a:spcBef>
            </a:pPr>
            <a:r>
              <a:rPr lang="en-US" sz="1800" dirty="0" smtClean="0">
                <a:solidFill>
                  <a:srgbClr val="000000"/>
                </a:solidFill>
              </a:rPr>
              <a:t>Eclipse implements portable projects with two types of variables: </a:t>
            </a:r>
          </a:p>
        </p:txBody>
      </p:sp>
      <p:grpSp>
        <p:nvGrpSpPr>
          <p:cNvPr id="25" name="Group 24"/>
          <p:cNvGrpSpPr/>
          <p:nvPr/>
        </p:nvGrpSpPr>
        <p:grpSpPr>
          <a:xfrm>
            <a:off x="155575" y="904875"/>
            <a:ext cx="8772041" cy="3007382"/>
            <a:chOff x="155575" y="1057275"/>
            <a:chExt cx="8772041" cy="3007382"/>
          </a:xfrm>
        </p:grpSpPr>
        <p:grpSp>
          <p:nvGrpSpPr>
            <p:cNvPr id="4" name="Group 3"/>
            <p:cNvGrpSpPr/>
            <p:nvPr/>
          </p:nvGrpSpPr>
          <p:grpSpPr>
            <a:xfrm>
              <a:off x="6160340" y="1480879"/>
              <a:ext cx="2767276" cy="2473890"/>
              <a:chOff x="459007" y="1927678"/>
              <a:chExt cx="3274793" cy="2767818"/>
            </a:xfrm>
          </p:grpSpPr>
          <p:pic>
            <p:nvPicPr>
              <p:cNvPr id="5" name="Picture 8" descr="C:\Users\a0159712\AppData\Local\Temp\SNAGHTML197a3b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007" y="1927678"/>
                <a:ext cx="3274793" cy="2767818"/>
              </a:xfrm>
              <a:prstGeom prst="rect">
                <a:avLst/>
              </a:prstGeom>
              <a:noFill/>
              <a:extLst>
                <a:ext uri="{909E8E84-426E-40DD-AFC4-6F175D3DCCD1}">
                  <a14:hiddenFill xmlns:a14="http://schemas.microsoft.com/office/drawing/2010/main">
                    <a:solidFill>
                      <a:srgbClr val="FFFFFF"/>
                    </a:solidFill>
                  </a14:hiddenFill>
                </a:ext>
              </a:extLst>
            </p:spPr>
          </p:pic>
          <p:sp>
            <p:nvSpPr>
              <p:cNvPr id="6" name="Rounded Rectangle 5"/>
              <p:cNvSpPr/>
              <p:nvPr/>
            </p:nvSpPr>
            <p:spPr bwMode="auto">
              <a:xfrm>
                <a:off x="738554" y="4049776"/>
                <a:ext cx="1733184" cy="279338"/>
              </a:xfrm>
              <a:prstGeom prst="roundRect">
                <a:avLst/>
              </a:prstGeom>
              <a:noFill/>
              <a:ln w="57150" cap="flat" cmpd="sng" algn="ctr">
                <a:solidFill>
                  <a:srgbClr val="FF3300"/>
                </a:solidFill>
                <a:prstDash val="sysDot"/>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endParaRPr lang="en-US" sz="2800" dirty="0" smtClean="0">
                  <a:solidFill>
                    <a:srgbClr val="000000"/>
                  </a:solidFill>
                  <a:latin typeface="Arial Narrow" pitchFamily="34" charset="0"/>
                </a:endParaRPr>
              </a:p>
            </p:txBody>
          </p:sp>
        </p:grpSp>
        <p:grpSp>
          <p:nvGrpSpPr>
            <p:cNvPr id="15" name="Group 14"/>
            <p:cNvGrpSpPr/>
            <p:nvPr/>
          </p:nvGrpSpPr>
          <p:grpSpPr>
            <a:xfrm>
              <a:off x="155575" y="1057275"/>
              <a:ext cx="3884798" cy="3007382"/>
              <a:chOff x="155575" y="761908"/>
              <a:chExt cx="3884798" cy="3007382"/>
            </a:xfrm>
          </p:grpSpPr>
          <p:grpSp>
            <p:nvGrpSpPr>
              <p:cNvPr id="12" name="Group 11"/>
              <p:cNvGrpSpPr/>
              <p:nvPr/>
            </p:nvGrpSpPr>
            <p:grpSpPr>
              <a:xfrm>
                <a:off x="155575" y="1143000"/>
                <a:ext cx="3884798" cy="2626290"/>
                <a:chOff x="155575" y="1143000"/>
                <a:chExt cx="3884798" cy="2626290"/>
              </a:xfrm>
            </p:grpSpPr>
            <p:pic>
              <p:nvPicPr>
                <p:cNvPr id="2057" name="Picture 9" descr="C:\Users\a0159712\AppData\Local\Temp\SNAGHTML1b82988.PNG"/>
                <p:cNvPicPr>
                  <a:picLocks noChangeAspect="1" noChangeArrowheads="1"/>
                </p:cNvPicPr>
                <p:nvPr/>
              </p:nvPicPr>
              <p:blipFill rotWithShape="1">
                <a:blip r:embed="rId4">
                  <a:extLst>
                    <a:ext uri="{28A0092B-C50C-407E-A947-70E740481C1C}">
                      <a14:useLocalDpi xmlns:a14="http://schemas.microsoft.com/office/drawing/2010/main" val="0"/>
                    </a:ext>
                  </a:extLst>
                </a:blip>
                <a:srcRect r="24359"/>
                <a:stretch/>
              </p:blipFill>
              <p:spPr bwMode="auto">
                <a:xfrm>
                  <a:off x="155575" y="1143000"/>
                  <a:ext cx="3884798" cy="2626290"/>
                </a:xfrm>
                <a:prstGeom prst="rect">
                  <a:avLst/>
                </a:prstGeom>
                <a:noFill/>
                <a:extLst>
                  <a:ext uri="{909E8E84-426E-40DD-AFC4-6F175D3DCCD1}">
                    <a14:hiddenFill xmlns:a14="http://schemas.microsoft.com/office/drawing/2010/main">
                      <a:solidFill>
                        <a:srgbClr val="FFFFFF"/>
                      </a:solidFill>
                    </a14:hiddenFill>
                  </a:ext>
                </a:extLst>
              </p:spPr>
            </p:pic>
            <p:sp>
              <p:nvSpPr>
                <p:cNvPr id="16" name="Rounded Rectangle 15"/>
                <p:cNvSpPr/>
                <p:nvPr/>
              </p:nvSpPr>
              <p:spPr bwMode="auto">
                <a:xfrm>
                  <a:off x="467834" y="1754661"/>
                  <a:ext cx="1066799" cy="249674"/>
                </a:xfrm>
                <a:prstGeom prst="roundRect">
                  <a:avLst/>
                </a:prstGeom>
                <a:noFill/>
                <a:ln w="57150" cap="flat" cmpd="sng" algn="ctr">
                  <a:solidFill>
                    <a:srgbClr val="FF33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endParaRPr lang="en-US" sz="2800" dirty="0" smtClean="0">
                    <a:solidFill>
                      <a:srgbClr val="000000"/>
                    </a:solidFill>
                    <a:latin typeface="Arial Narrow" pitchFamily="34" charset="0"/>
                  </a:endParaRPr>
                </a:p>
              </p:txBody>
            </p:sp>
            <p:sp>
              <p:nvSpPr>
                <p:cNvPr id="19" name="Rounded Rectangle 18"/>
                <p:cNvSpPr/>
                <p:nvPr/>
              </p:nvSpPr>
              <p:spPr bwMode="auto">
                <a:xfrm>
                  <a:off x="1678173" y="3409728"/>
                  <a:ext cx="1217427" cy="249674"/>
                </a:xfrm>
                <a:prstGeom prst="roundRect">
                  <a:avLst/>
                </a:prstGeom>
                <a:noFill/>
                <a:ln w="57150" cap="flat" cmpd="sng" algn="ctr">
                  <a:solidFill>
                    <a:srgbClr val="FF3300"/>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endParaRPr lang="en-US" sz="2800" dirty="0" smtClean="0">
                    <a:solidFill>
                      <a:srgbClr val="000000"/>
                    </a:solidFill>
                    <a:latin typeface="Arial Narrow" pitchFamily="34" charset="0"/>
                  </a:endParaRPr>
                </a:p>
              </p:txBody>
            </p:sp>
          </p:grpSp>
          <p:sp>
            <p:nvSpPr>
              <p:cNvPr id="3" name="TextBox 2"/>
              <p:cNvSpPr txBox="1"/>
              <p:nvPr/>
            </p:nvSpPr>
            <p:spPr>
              <a:xfrm>
                <a:off x="192789" y="761908"/>
                <a:ext cx="3618939" cy="424732"/>
              </a:xfrm>
              <a:prstGeom prst="rect">
                <a:avLst/>
              </a:prstGeom>
              <a:noFill/>
            </p:spPr>
            <p:txBody>
              <a:bodyPr wrap="none" rtlCol="0" anchor="t" anchorCtr="0">
                <a:spAutoFit/>
              </a:bodyPr>
              <a:lstStyle/>
              <a:p>
                <a:pPr>
                  <a:lnSpc>
                    <a:spcPct val="90000"/>
                  </a:lnSpc>
                  <a:spcBef>
                    <a:spcPts val="600"/>
                  </a:spcBef>
                </a:pPr>
                <a:r>
                  <a:rPr lang="en-US" dirty="0" smtClean="0">
                    <a:solidFill>
                      <a:srgbClr val="0066FF"/>
                    </a:solidFill>
                  </a:rPr>
                  <a:t>   Linked</a:t>
                </a:r>
                <a:r>
                  <a:rPr lang="en-US" dirty="0" smtClean="0">
                    <a:solidFill>
                      <a:srgbClr val="000000"/>
                    </a:solidFill>
                  </a:rPr>
                  <a:t> Path Variables</a:t>
                </a:r>
              </a:p>
            </p:txBody>
          </p:sp>
        </p:grpSp>
        <p:sp>
          <p:nvSpPr>
            <p:cNvPr id="21" name="TextBox 20"/>
            <p:cNvSpPr txBox="1"/>
            <p:nvPr/>
          </p:nvSpPr>
          <p:spPr>
            <a:xfrm>
              <a:off x="4003158" y="2143323"/>
              <a:ext cx="2119968" cy="1089529"/>
            </a:xfrm>
            <a:prstGeom prst="rect">
              <a:avLst/>
            </a:prstGeom>
            <a:noFill/>
          </p:spPr>
          <p:txBody>
            <a:bodyPr wrap="square" rtlCol="0" anchor="t" anchorCtr="0">
              <a:spAutoFit/>
            </a:bodyPr>
            <a:lstStyle/>
            <a:p>
              <a:pPr algn="ctr">
                <a:lnSpc>
                  <a:spcPct val="90000"/>
                </a:lnSpc>
                <a:spcBef>
                  <a:spcPts val="600"/>
                </a:spcBef>
              </a:pPr>
              <a:r>
                <a:rPr lang="en-US" sz="1800" dirty="0" smtClean="0">
                  <a:solidFill>
                    <a:srgbClr val="000000"/>
                  </a:solidFill>
                  <a:latin typeface="Arial Narrow" pitchFamily="34" charset="0"/>
                </a:rPr>
                <a:t>Linked path variables  are for references to files </a:t>
              </a:r>
              <a:r>
                <a:rPr lang="en-US" sz="1800" u="sng" dirty="0" smtClean="0">
                  <a:solidFill>
                    <a:srgbClr val="0066FF"/>
                  </a:solidFill>
                  <a:latin typeface="Arial Narrow" pitchFamily="34" charset="0"/>
                </a:rPr>
                <a:t>linked</a:t>
              </a:r>
              <a:r>
                <a:rPr lang="en-US" sz="1800" dirty="0" smtClean="0">
                  <a:solidFill>
                    <a:srgbClr val="0066FF"/>
                  </a:solidFill>
                  <a:latin typeface="Arial Narrow" pitchFamily="34" charset="0"/>
                </a:rPr>
                <a:t> </a:t>
              </a:r>
              <a:r>
                <a:rPr lang="en-US" sz="1800" dirty="0" smtClean="0">
                  <a:solidFill>
                    <a:srgbClr val="000000"/>
                  </a:solidFill>
                  <a:latin typeface="Arial Narrow" pitchFamily="34" charset="0"/>
                </a:rPr>
                <a:t>to a project</a:t>
              </a:r>
            </a:p>
          </p:txBody>
        </p:sp>
      </p:grpSp>
      <p:grpSp>
        <p:nvGrpSpPr>
          <p:cNvPr id="28" name="Group 27"/>
          <p:cNvGrpSpPr/>
          <p:nvPr/>
        </p:nvGrpSpPr>
        <p:grpSpPr>
          <a:xfrm>
            <a:off x="155575" y="3975910"/>
            <a:ext cx="8866813" cy="2541499"/>
            <a:chOff x="155575" y="4029075"/>
            <a:chExt cx="8866813" cy="2541499"/>
          </a:xfrm>
        </p:grpSpPr>
        <p:grpSp>
          <p:nvGrpSpPr>
            <p:cNvPr id="8" name="Group 7"/>
            <p:cNvGrpSpPr/>
            <p:nvPr/>
          </p:nvGrpSpPr>
          <p:grpSpPr>
            <a:xfrm>
              <a:off x="5943599" y="4267200"/>
              <a:ext cx="3078789" cy="2271712"/>
              <a:chOff x="4642145" y="3733800"/>
              <a:chExt cx="4422816" cy="2912957"/>
            </a:xfrm>
          </p:grpSpPr>
          <p:pic>
            <p:nvPicPr>
              <p:cNvPr id="2053" name="Picture 5" descr="C:\Users\a0159712\AppData\Local\Temp\SNAGHTML1a5c93f.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2145" y="3733800"/>
                <a:ext cx="4310469" cy="48451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50" name="Picture 2" descr="C:\Users\a0159712\AppData\Local\Temp\SNAGHTML1a28ccc.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2145" y="4250648"/>
                <a:ext cx="4422816" cy="2396109"/>
              </a:xfrm>
              <a:prstGeom prst="rect">
                <a:avLst/>
              </a:prstGeom>
              <a:noFill/>
              <a:extLst>
                <a:ext uri="{909E8E84-426E-40DD-AFC4-6F175D3DCCD1}">
                  <a14:hiddenFill xmlns:a14="http://schemas.microsoft.com/office/drawing/2010/main">
                    <a:solidFill>
                      <a:srgbClr val="FFFFFF"/>
                    </a:solidFill>
                  </a14:hiddenFill>
                </a:ext>
              </a:extLst>
            </p:spPr>
          </p:pic>
          <p:sp>
            <p:nvSpPr>
              <p:cNvPr id="11" name="Rounded Rectangle 10"/>
              <p:cNvSpPr/>
              <p:nvPr/>
            </p:nvSpPr>
            <p:spPr bwMode="auto">
              <a:xfrm>
                <a:off x="6387985" y="3735042"/>
                <a:ext cx="597604" cy="500259"/>
              </a:xfrm>
              <a:prstGeom prst="roundRect">
                <a:avLst/>
              </a:prstGeom>
              <a:noFill/>
              <a:ln w="57150" cap="flat" cmpd="sng" algn="ctr">
                <a:solidFill>
                  <a:srgbClr val="0000FF"/>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endParaRPr lang="en-US" sz="2800" dirty="0" smtClean="0">
                  <a:solidFill>
                    <a:srgbClr val="000000"/>
                  </a:solidFill>
                  <a:latin typeface="Arial Narrow" pitchFamily="34" charset="0"/>
                </a:endParaRPr>
              </a:p>
            </p:txBody>
          </p:sp>
        </p:grpSp>
        <p:grpSp>
          <p:nvGrpSpPr>
            <p:cNvPr id="24" name="Group 23"/>
            <p:cNvGrpSpPr/>
            <p:nvPr/>
          </p:nvGrpSpPr>
          <p:grpSpPr>
            <a:xfrm>
              <a:off x="155575" y="4029075"/>
              <a:ext cx="3476625" cy="2541499"/>
              <a:chOff x="155575" y="4087901"/>
              <a:chExt cx="3476625" cy="2541499"/>
            </a:xfrm>
          </p:grpSpPr>
          <p:pic>
            <p:nvPicPr>
              <p:cNvPr id="33" name="Picture 17" descr="C:\Users\a0159712\AppData\Local\Temp\SNAGHTML1dcb064.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5575" y="4467224"/>
                <a:ext cx="3476625" cy="2162176"/>
              </a:xfrm>
              <a:prstGeom prst="rect">
                <a:avLst/>
              </a:prstGeom>
              <a:noFill/>
              <a:extLst>
                <a:ext uri="{909E8E84-426E-40DD-AFC4-6F175D3DCCD1}">
                  <a14:hiddenFill xmlns:a14="http://schemas.microsoft.com/office/drawing/2010/main">
                    <a:solidFill>
                      <a:srgbClr val="FFFFFF"/>
                    </a:solidFill>
                  </a14:hiddenFill>
                </a:ext>
              </a:extLst>
            </p:spPr>
          </p:pic>
          <p:sp>
            <p:nvSpPr>
              <p:cNvPr id="17" name="Rounded Rectangle 16"/>
              <p:cNvSpPr/>
              <p:nvPr/>
            </p:nvSpPr>
            <p:spPr bwMode="auto">
              <a:xfrm>
                <a:off x="289224" y="5688385"/>
                <a:ext cx="708835" cy="249674"/>
              </a:xfrm>
              <a:prstGeom prst="roundRect">
                <a:avLst/>
              </a:prstGeom>
              <a:noFill/>
              <a:ln w="57150" cap="flat" cmpd="sng" algn="ctr">
                <a:solidFill>
                  <a:srgbClr val="0000FF"/>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endParaRPr lang="en-US" sz="2800" dirty="0" smtClean="0">
                  <a:solidFill>
                    <a:srgbClr val="000000"/>
                  </a:solidFill>
                  <a:latin typeface="Arial Narrow" pitchFamily="34" charset="0"/>
                </a:endParaRPr>
              </a:p>
            </p:txBody>
          </p:sp>
          <p:sp>
            <p:nvSpPr>
              <p:cNvPr id="18" name="Rounded Rectangle 17"/>
              <p:cNvSpPr/>
              <p:nvPr/>
            </p:nvSpPr>
            <p:spPr bwMode="auto">
              <a:xfrm>
                <a:off x="1898245" y="5358889"/>
                <a:ext cx="1302155" cy="249674"/>
              </a:xfrm>
              <a:prstGeom prst="roundRect">
                <a:avLst/>
              </a:prstGeom>
              <a:noFill/>
              <a:ln w="57150" cap="flat" cmpd="sng" algn="ctr">
                <a:solidFill>
                  <a:srgbClr val="0000FF"/>
                </a:solid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endParaRPr lang="en-US" sz="2800" dirty="0" smtClean="0">
                  <a:solidFill>
                    <a:srgbClr val="000000"/>
                  </a:solidFill>
                  <a:latin typeface="Arial Narrow" pitchFamily="34" charset="0"/>
                </a:endParaRPr>
              </a:p>
            </p:txBody>
          </p:sp>
          <p:sp>
            <p:nvSpPr>
              <p:cNvPr id="22" name="TextBox 21"/>
              <p:cNvSpPr txBox="1"/>
              <p:nvPr/>
            </p:nvSpPr>
            <p:spPr>
              <a:xfrm>
                <a:off x="190500" y="4087901"/>
                <a:ext cx="3396123" cy="424732"/>
              </a:xfrm>
              <a:prstGeom prst="rect">
                <a:avLst/>
              </a:prstGeom>
              <a:noFill/>
            </p:spPr>
            <p:txBody>
              <a:bodyPr wrap="none" rtlCol="0" anchor="t" anchorCtr="0">
                <a:spAutoFit/>
              </a:bodyPr>
              <a:lstStyle/>
              <a:p>
                <a:pPr>
                  <a:lnSpc>
                    <a:spcPct val="90000"/>
                  </a:lnSpc>
                  <a:spcBef>
                    <a:spcPts val="600"/>
                  </a:spcBef>
                </a:pPr>
                <a:r>
                  <a:rPr lang="en-US" dirty="0" smtClean="0">
                    <a:solidFill>
                      <a:srgbClr val="0066FF"/>
                    </a:solidFill>
                  </a:rPr>
                  <a:t>   Build </a:t>
                </a:r>
                <a:r>
                  <a:rPr lang="en-US" dirty="0" smtClean="0">
                    <a:solidFill>
                      <a:srgbClr val="000000"/>
                    </a:solidFill>
                  </a:rPr>
                  <a:t>Path Variables</a:t>
                </a:r>
              </a:p>
            </p:txBody>
          </p:sp>
        </p:grpSp>
        <p:sp>
          <p:nvSpPr>
            <p:cNvPr id="35" name="TextBox 34"/>
            <p:cNvSpPr txBox="1"/>
            <p:nvPr/>
          </p:nvSpPr>
          <p:spPr>
            <a:xfrm>
              <a:off x="3572800" y="4644156"/>
              <a:ext cx="2119968" cy="1415772"/>
            </a:xfrm>
            <a:prstGeom prst="rect">
              <a:avLst/>
            </a:prstGeom>
            <a:noFill/>
          </p:spPr>
          <p:txBody>
            <a:bodyPr wrap="square" rtlCol="0" anchor="t" anchorCtr="0">
              <a:spAutoFit/>
            </a:bodyPr>
            <a:lstStyle/>
            <a:p>
              <a:pPr algn="ctr">
                <a:lnSpc>
                  <a:spcPct val="90000"/>
                </a:lnSpc>
                <a:spcBef>
                  <a:spcPts val="600"/>
                </a:spcBef>
              </a:pPr>
              <a:r>
                <a:rPr lang="en-US" sz="1800" dirty="0" smtClean="0">
                  <a:solidFill>
                    <a:srgbClr val="000000"/>
                  </a:solidFill>
                  <a:latin typeface="Arial Narrow" pitchFamily="34" charset="0"/>
                </a:rPr>
                <a:t>Build path variables  are for references during </a:t>
              </a:r>
              <a:r>
                <a:rPr lang="en-US" sz="1800" u="sng" dirty="0" smtClean="0">
                  <a:solidFill>
                    <a:srgbClr val="0066FF"/>
                  </a:solidFill>
                  <a:latin typeface="Arial Narrow" pitchFamily="34" charset="0"/>
                </a:rPr>
                <a:t>builds</a:t>
              </a:r>
            </a:p>
            <a:p>
              <a:pPr algn="ctr">
                <a:lnSpc>
                  <a:spcPct val="90000"/>
                </a:lnSpc>
                <a:spcBef>
                  <a:spcPts val="600"/>
                </a:spcBef>
              </a:pPr>
              <a:r>
                <a:rPr lang="en-US" sz="1800" dirty="0" smtClean="0">
                  <a:solidFill>
                    <a:srgbClr val="000000"/>
                  </a:solidFill>
                  <a:latin typeface="Arial Narrow" pitchFamily="34" charset="0"/>
                </a:rPr>
                <a:t>Use these </a:t>
              </a:r>
              <a:r>
                <a:rPr lang="en-US" sz="1800" dirty="0" err="1" smtClean="0">
                  <a:solidFill>
                    <a:srgbClr val="000000"/>
                  </a:solidFill>
                  <a:latin typeface="Arial Narrow" pitchFamily="34" charset="0"/>
                </a:rPr>
                <a:t>var’s</a:t>
              </a:r>
              <a:r>
                <a:rPr lang="en-US" sz="1800" dirty="0" smtClean="0">
                  <a:solidFill>
                    <a:srgbClr val="000000"/>
                  </a:solidFill>
                  <a:latin typeface="Arial Narrow" pitchFamily="34" charset="0"/>
                </a:rPr>
                <a:t> for </a:t>
              </a:r>
              <a:r>
                <a:rPr lang="en-US" sz="1800" u="sng" dirty="0" smtClean="0">
                  <a:solidFill>
                    <a:srgbClr val="0066FF"/>
                  </a:solidFill>
                  <a:latin typeface="Arial Narrow" pitchFamily="34" charset="0"/>
                </a:rPr>
                <a:t>tool search paths</a:t>
              </a:r>
            </a:p>
          </p:txBody>
        </p:sp>
      </p:grpSp>
      <p:sp>
        <p:nvSpPr>
          <p:cNvPr id="41" name="TextBox 40"/>
          <p:cNvSpPr txBox="1"/>
          <p:nvPr/>
        </p:nvSpPr>
        <p:spPr>
          <a:xfrm>
            <a:off x="1349098" y="6505622"/>
            <a:ext cx="6445804" cy="341632"/>
          </a:xfrm>
          <a:prstGeom prst="rect">
            <a:avLst/>
          </a:prstGeom>
          <a:noFill/>
        </p:spPr>
        <p:txBody>
          <a:bodyPr wrap="none" rtlCol="0" anchor="t" anchorCtr="0">
            <a:spAutoFit/>
          </a:bodyPr>
          <a:lstStyle/>
          <a:p>
            <a:pPr>
              <a:lnSpc>
                <a:spcPct val="90000"/>
              </a:lnSpc>
              <a:spcBef>
                <a:spcPts val="600"/>
              </a:spcBef>
            </a:pPr>
            <a:r>
              <a:rPr lang="en-US" sz="1800" b="0" dirty="0" smtClean="0">
                <a:solidFill>
                  <a:srgbClr val="000000"/>
                </a:solidFill>
                <a:latin typeface="Arial Narrow" pitchFamily="34" charset="0"/>
              </a:rPr>
              <a:t>Hint:  To avoid confusion, always create both variables with the same name</a:t>
            </a:r>
          </a:p>
        </p:txBody>
      </p:sp>
      <p:sp>
        <p:nvSpPr>
          <p:cNvPr id="29" name="TextBox 28"/>
          <p:cNvSpPr txBox="1"/>
          <p:nvPr/>
        </p:nvSpPr>
        <p:spPr>
          <a:xfrm>
            <a:off x="56680" y="3915048"/>
            <a:ext cx="550151" cy="535531"/>
          </a:xfrm>
          <a:prstGeom prst="rect">
            <a:avLst/>
          </a:prstGeom>
          <a:noFill/>
        </p:spPr>
        <p:txBody>
          <a:bodyPr wrap="none" rtlCol="0" anchor="t" anchorCtr="0">
            <a:spAutoFit/>
          </a:bodyPr>
          <a:lstStyle/>
          <a:p>
            <a:pPr>
              <a:lnSpc>
                <a:spcPct val="90000"/>
              </a:lnSpc>
              <a:spcBef>
                <a:spcPts val="600"/>
              </a:spcBef>
            </a:pPr>
            <a:r>
              <a:rPr lang="en-US" sz="3200" dirty="0">
                <a:solidFill>
                  <a:srgbClr val="000000"/>
                </a:solidFill>
                <a:sym typeface="Wingdings 2"/>
              </a:rPr>
              <a:t></a:t>
            </a:r>
            <a:endParaRPr lang="en-US" sz="3200" dirty="0">
              <a:solidFill>
                <a:srgbClr val="000000"/>
              </a:solidFill>
            </a:endParaRPr>
          </a:p>
        </p:txBody>
      </p:sp>
      <p:sp>
        <p:nvSpPr>
          <p:cNvPr id="43" name="TextBox 42"/>
          <p:cNvSpPr txBox="1"/>
          <p:nvPr/>
        </p:nvSpPr>
        <p:spPr>
          <a:xfrm>
            <a:off x="56680" y="850602"/>
            <a:ext cx="550151" cy="535531"/>
          </a:xfrm>
          <a:prstGeom prst="rect">
            <a:avLst/>
          </a:prstGeom>
          <a:noFill/>
        </p:spPr>
        <p:txBody>
          <a:bodyPr wrap="none" rtlCol="0" anchor="t" anchorCtr="0">
            <a:spAutoFit/>
          </a:bodyPr>
          <a:lstStyle/>
          <a:p>
            <a:pPr>
              <a:lnSpc>
                <a:spcPct val="90000"/>
              </a:lnSpc>
              <a:spcBef>
                <a:spcPts val="600"/>
              </a:spcBef>
            </a:pPr>
            <a:r>
              <a:rPr lang="en-US" sz="3200" dirty="0" smtClean="0">
                <a:solidFill>
                  <a:srgbClr val="000000"/>
                </a:solidFill>
                <a:sym typeface="Wingdings 2"/>
              </a:rPr>
              <a:t></a:t>
            </a:r>
            <a:endParaRPr lang="en-US" sz="3200" dirty="0" smtClean="0">
              <a:solidFill>
                <a:srgbClr val="000000"/>
              </a:solidFill>
            </a:endParaRPr>
          </a:p>
        </p:txBody>
      </p:sp>
      <p:sp>
        <p:nvSpPr>
          <p:cNvPr id="7" name="Leading Question"/>
          <p:cNvSpPr txBox="1"/>
          <p:nvPr/>
        </p:nvSpPr>
        <p:spPr>
          <a:xfrm>
            <a:off x="7848600" y="6563436"/>
            <a:ext cx="714939" cy="246221"/>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r">
              <a:spcBef>
                <a:spcPct val="0"/>
              </a:spcBef>
            </a:pPr>
            <a:r>
              <a:rPr lang="en-US" sz="2000" b="0" dirty="0" smtClean="0">
                <a:solidFill>
                  <a:srgbClr val="0066FF"/>
                </a:solidFill>
                <a:latin typeface="Arial Narrow"/>
              </a:rPr>
              <a:t>Scope?</a:t>
            </a:r>
          </a:p>
        </p:txBody>
      </p:sp>
    </p:spTree>
    <p:custDataLst>
      <p:tags r:id="rId1"/>
    </p:custDataLst>
    <p:extLst>
      <p:ext uri="{BB962C8B-B14F-4D97-AF65-F5344CB8AC3E}">
        <p14:creationId xmlns:p14="http://schemas.microsoft.com/office/powerpoint/2010/main" val="6618092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8" name="Picture 4" descr="C:\Users\a0159877\AppData\Local\Temp\SNAGHTML421368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775700"/>
            <a:ext cx="4191000" cy="5706894"/>
          </a:xfrm>
          <a:prstGeom prst="rect">
            <a:avLst/>
          </a:prstGeom>
          <a:noFill/>
          <a:extLst>
            <a:ext uri="{909E8E84-426E-40DD-AFC4-6F175D3DCCD1}">
              <a14:hiddenFill xmlns:a14="http://schemas.microsoft.com/office/drawing/2010/main">
                <a:solidFill>
                  <a:srgbClr val="FFFFFF"/>
                </a:solidFill>
              </a14:hiddenFill>
            </a:ext>
          </a:extLst>
        </p:spPr>
      </p:pic>
      <p:sp>
        <p:nvSpPr>
          <p:cNvPr id="14" name="Action Button: Forward or Next 13">
            <a:hlinkClick r:id="rId4" action="ppaction://hlinksldjump" highlightClick="1"/>
          </p:cNvPr>
          <p:cNvSpPr/>
          <p:nvPr/>
        </p:nvSpPr>
        <p:spPr bwMode="auto">
          <a:xfrm>
            <a:off x="8839200" y="0"/>
            <a:ext cx="304800" cy="292100"/>
          </a:xfrm>
          <a:prstGeom prst="actionButtonForwardNext">
            <a:avLst/>
          </a:prstGeom>
          <a:solidFill>
            <a:schemeClr val="bg1"/>
          </a:solidFill>
          <a:ln w="12700" cap="flat" cmpd="sng" algn="ctr">
            <a:noFill/>
            <a:prstDash val="solid"/>
            <a:round/>
            <a:headEnd type="none" w="sm" len="sm"/>
            <a:tailEnd type="none" w="sm" len="sm"/>
          </a:ln>
          <a:effectLst/>
        </p:spPr>
        <p:txBody>
          <a:bodyPr vert="horz" wrap="square" lIns="91440" tIns="45720" rIns="91440" bIns="45720" numCol="1" rtlCol="0" anchor="ctr" anchorCtr="0" compatLnSpc="1">
            <a:prstTxWarp prst="textNoShape">
              <a:avLst/>
            </a:prstTxWarp>
          </a:bodyPr>
          <a:lstStyle/>
          <a:p>
            <a:endParaRPr lang="en-US" sz="2800" b="0" dirty="0" smtClean="0">
              <a:solidFill>
                <a:srgbClr val="000000"/>
              </a:solidFill>
              <a:latin typeface="Arial Narrow" pitchFamily="34" charset="0"/>
            </a:endParaRPr>
          </a:p>
        </p:txBody>
      </p:sp>
      <p:sp>
        <p:nvSpPr>
          <p:cNvPr id="2" name="Title 1"/>
          <p:cNvSpPr>
            <a:spLocks noGrp="1"/>
          </p:cNvSpPr>
          <p:nvPr>
            <p:ph type="title"/>
          </p:nvPr>
        </p:nvSpPr>
        <p:spPr>
          <a:xfrm>
            <a:off x="0" y="1"/>
            <a:ext cx="8991600" cy="742950"/>
          </a:xfrm>
        </p:spPr>
        <p:txBody>
          <a:bodyPr>
            <a:normAutofit/>
          </a:bodyPr>
          <a:lstStyle/>
          <a:p>
            <a:r>
              <a:rPr lang="en-US" dirty="0" smtClean="0"/>
              <a:t>Variable Scope: </a:t>
            </a:r>
            <a:r>
              <a:rPr lang="en-US" u="sng" dirty="0" smtClean="0"/>
              <a:t>Projects</a:t>
            </a:r>
            <a:r>
              <a:rPr lang="en-US" dirty="0" smtClean="0"/>
              <a:t> or </a:t>
            </a:r>
            <a:r>
              <a:rPr lang="en-US" u="sng" dirty="0" smtClean="0"/>
              <a:t>Workspaces</a:t>
            </a:r>
            <a:endParaRPr lang="en-US" u="sng" dirty="0"/>
          </a:p>
        </p:txBody>
      </p:sp>
      <p:sp>
        <p:nvSpPr>
          <p:cNvPr id="28" name="TextBox 27"/>
          <p:cNvSpPr txBox="1"/>
          <p:nvPr/>
        </p:nvSpPr>
        <p:spPr>
          <a:xfrm>
            <a:off x="5619998" y="4800600"/>
            <a:ext cx="2192975" cy="504924"/>
          </a:xfrm>
          <a:prstGeom prst="rect">
            <a:avLst/>
          </a:prstGeom>
          <a:solidFill>
            <a:schemeClr val="accent5">
              <a:lumMod val="40000"/>
              <a:lumOff val="60000"/>
            </a:schemeClr>
          </a:solidFill>
          <a:ln>
            <a:solidFill>
              <a:schemeClr val="tx1"/>
            </a:solidFill>
          </a:ln>
          <a:effectLst>
            <a:outerShdw blurRad="50800" dist="76200" dir="2700000" algn="tl" rotWithShape="0">
              <a:prstClr val="black">
                <a:alpha val="40000"/>
              </a:prstClr>
            </a:outerShdw>
          </a:effectLst>
        </p:spPr>
        <p:txBody>
          <a:bodyPr wrap="square" rtlCol="0" anchor="ctr" anchorCtr="1">
            <a:noAutofit/>
          </a:bodyPr>
          <a:lstStyle/>
          <a:p>
            <a:pPr>
              <a:lnSpc>
                <a:spcPct val="100000"/>
              </a:lnSpc>
              <a:spcBef>
                <a:spcPts val="0"/>
              </a:spcBef>
              <a:buClr>
                <a:srgbClr val="0066FF"/>
              </a:buClr>
              <a:buSzPct val="75000"/>
            </a:pPr>
            <a:r>
              <a:rPr lang="en-US" sz="2800" dirty="0" smtClean="0">
                <a:solidFill>
                  <a:srgbClr val="000000"/>
                </a:solidFill>
                <a:latin typeface="Calibri" pitchFamily="34" charset="0"/>
                <a:cs typeface="Calibri" pitchFamily="34" charset="0"/>
              </a:rPr>
              <a:t>WORKSPACE</a:t>
            </a:r>
          </a:p>
        </p:txBody>
      </p:sp>
      <p:sp>
        <p:nvSpPr>
          <p:cNvPr id="5" name="Right Brace 4"/>
          <p:cNvSpPr/>
          <p:nvPr/>
        </p:nvSpPr>
        <p:spPr bwMode="auto">
          <a:xfrm>
            <a:off x="4775860" y="785224"/>
            <a:ext cx="685800" cy="5310776"/>
          </a:xfrm>
          <a:prstGeom prst="rightBrace">
            <a:avLst>
              <a:gd name="adj1" fmla="val 41899"/>
              <a:gd name="adj2" fmla="val 80207"/>
            </a:avLst>
          </a:prstGeom>
          <a:noFill/>
          <a:ln w="28575"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endParaRPr lang="en-US" sz="2800" smtClean="0">
              <a:solidFill>
                <a:srgbClr val="000000"/>
              </a:solidFill>
              <a:effectLst>
                <a:outerShdw blurRad="38100" dist="38100" dir="2700000" algn="tl">
                  <a:srgbClr val="000000">
                    <a:alpha val="43137"/>
                  </a:srgbClr>
                </a:outerShdw>
              </a:effectLst>
              <a:latin typeface="Arial Narrow" pitchFamily="34" charset="0"/>
            </a:endParaRPr>
          </a:p>
        </p:txBody>
      </p:sp>
      <p:sp>
        <p:nvSpPr>
          <p:cNvPr id="7" name="Right Brace 6"/>
          <p:cNvSpPr/>
          <p:nvPr/>
        </p:nvSpPr>
        <p:spPr bwMode="auto">
          <a:xfrm>
            <a:off x="3774375" y="1295400"/>
            <a:ext cx="457200" cy="2209800"/>
          </a:xfrm>
          <a:prstGeom prst="rightBrace">
            <a:avLst>
              <a:gd name="adj1" fmla="val 44696"/>
              <a:gd name="adj2" fmla="val 18172"/>
            </a:avLst>
          </a:prstGeom>
          <a:solidFill>
            <a:schemeClr val="accent2"/>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endParaRPr lang="en-US" sz="2800" smtClean="0">
              <a:solidFill>
                <a:srgbClr val="000000"/>
              </a:solidFill>
              <a:effectLst>
                <a:outerShdw blurRad="38100" dist="38100" dir="2700000" algn="tl">
                  <a:srgbClr val="000000">
                    <a:alpha val="43137"/>
                  </a:srgbClr>
                </a:outerShdw>
              </a:effectLst>
              <a:latin typeface="Arial Narrow" pitchFamily="34" charset="0"/>
            </a:endParaRPr>
          </a:p>
        </p:txBody>
      </p:sp>
      <p:sp>
        <p:nvSpPr>
          <p:cNvPr id="30" name="TextBox 29"/>
          <p:cNvSpPr txBox="1"/>
          <p:nvPr/>
        </p:nvSpPr>
        <p:spPr>
          <a:xfrm>
            <a:off x="4688775" y="1447800"/>
            <a:ext cx="1695200" cy="504924"/>
          </a:xfrm>
          <a:prstGeom prst="rect">
            <a:avLst/>
          </a:prstGeom>
          <a:solidFill>
            <a:schemeClr val="accent4">
              <a:lumMod val="40000"/>
              <a:lumOff val="60000"/>
            </a:schemeClr>
          </a:solidFill>
          <a:ln>
            <a:solidFill>
              <a:schemeClr val="tx1"/>
            </a:solidFill>
          </a:ln>
          <a:effectLst>
            <a:outerShdw blurRad="50800" dist="76200" dir="2700000" algn="tl" rotWithShape="0">
              <a:prstClr val="black">
                <a:alpha val="40000"/>
              </a:prstClr>
            </a:outerShdw>
          </a:effectLst>
        </p:spPr>
        <p:txBody>
          <a:bodyPr wrap="square" rtlCol="0" anchor="ctr" anchorCtr="1">
            <a:noAutofit/>
          </a:bodyPr>
          <a:lstStyle/>
          <a:p>
            <a:pPr>
              <a:lnSpc>
                <a:spcPct val="100000"/>
              </a:lnSpc>
              <a:spcBef>
                <a:spcPts val="0"/>
              </a:spcBef>
              <a:buClr>
                <a:srgbClr val="0066FF"/>
              </a:buClr>
              <a:buSzPct val="75000"/>
            </a:pPr>
            <a:r>
              <a:rPr lang="en-US" sz="2800" smtClean="0">
                <a:solidFill>
                  <a:srgbClr val="000000"/>
                </a:solidFill>
                <a:latin typeface="Calibri" pitchFamily="34" charset="0"/>
                <a:cs typeface="Calibri" pitchFamily="34" charset="0"/>
              </a:rPr>
              <a:t>PROJECT</a:t>
            </a:r>
          </a:p>
        </p:txBody>
      </p:sp>
      <p:sp>
        <p:nvSpPr>
          <p:cNvPr id="13" name="TextBox 12"/>
          <p:cNvSpPr txBox="1"/>
          <p:nvPr/>
        </p:nvSpPr>
        <p:spPr>
          <a:xfrm>
            <a:off x="6060375" y="2444955"/>
            <a:ext cx="2119968" cy="1991314"/>
          </a:xfrm>
          <a:prstGeom prst="rect">
            <a:avLst/>
          </a:prstGeom>
          <a:noFill/>
        </p:spPr>
        <p:txBody>
          <a:bodyPr wrap="square" rtlCol="0" anchor="t" anchorCtr="0">
            <a:spAutoFit/>
          </a:bodyPr>
          <a:lstStyle/>
          <a:p>
            <a:pPr algn="ctr">
              <a:lnSpc>
                <a:spcPct val="90000"/>
              </a:lnSpc>
              <a:spcBef>
                <a:spcPts val="600"/>
              </a:spcBef>
            </a:pPr>
            <a:r>
              <a:rPr lang="en-US" sz="1800" dirty="0" smtClean="0">
                <a:solidFill>
                  <a:srgbClr val="000000"/>
                </a:solidFill>
                <a:latin typeface="Arial Narrow" pitchFamily="34" charset="0"/>
              </a:rPr>
              <a:t>Add </a:t>
            </a:r>
            <a:r>
              <a:rPr lang="en-US" sz="1800" i="1" dirty="0" smtClean="0">
                <a:solidFill>
                  <a:srgbClr val="000000"/>
                </a:solidFill>
                <a:latin typeface="Arial Narrow" pitchFamily="34" charset="0"/>
              </a:rPr>
              <a:t>path variables </a:t>
            </a:r>
            <a:r>
              <a:rPr lang="en-US" sz="1800" dirty="0" smtClean="0">
                <a:solidFill>
                  <a:srgbClr val="000000"/>
                </a:solidFill>
                <a:latin typeface="Arial Narrow" pitchFamily="34" charset="0"/>
              </a:rPr>
              <a:t>to each </a:t>
            </a:r>
            <a:r>
              <a:rPr lang="en-US" sz="1800" u="sng" dirty="0" smtClean="0">
                <a:solidFill>
                  <a:srgbClr val="0066FF"/>
                </a:solidFill>
                <a:latin typeface="Arial Narrow" pitchFamily="34" charset="0"/>
              </a:rPr>
              <a:t>project</a:t>
            </a:r>
            <a:endParaRPr lang="en-US" sz="1800" u="sng" dirty="0">
              <a:solidFill>
                <a:srgbClr val="0066FF"/>
              </a:solidFill>
              <a:latin typeface="Arial Narrow" pitchFamily="34" charset="0"/>
            </a:endParaRPr>
          </a:p>
          <a:p>
            <a:pPr algn="ctr">
              <a:lnSpc>
                <a:spcPct val="90000"/>
              </a:lnSpc>
              <a:spcBef>
                <a:spcPts val="600"/>
              </a:spcBef>
            </a:pPr>
            <a:r>
              <a:rPr lang="en-US" sz="1800" dirty="0" smtClean="0">
                <a:solidFill>
                  <a:srgbClr val="000000"/>
                </a:solidFill>
                <a:latin typeface="Arial Narrow" pitchFamily="34" charset="0"/>
              </a:rPr>
              <a:t>or </a:t>
            </a:r>
          </a:p>
          <a:p>
            <a:pPr algn="ctr">
              <a:lnSpc>
                <a:spcPct val="90000"/>
              </a:lnSpc>
              <a:spcBef>
                <a:spcPts val="600"/>
              </a:spcBef>
            </a:pPr>
            <a:r>
              <a:rPr lang="en-US" sz="1800" dirty="0">
                <a:solidFill>
                  <a:srgbClr val="000000"/>
                </a:solidFill>
                <a:latin typeface="Arial Narrow" pitchFamily="34" charset="0"/>
              </a:rPr>
              <a:t>A</a:t>
            </a:r>
            <a:r>
              <a:rPr lang="en-US" sz="1800" dirty="0" smtClean="0">
                <a:solidFill>
                  <a:srgbClr val="000000"/>
                </a:solidFill>
                <a:latin typeface="Arial Narrow" pitchFamily="34" charset="0"/>
              </a:rPr>
              <a:t>dd them to the </a:t>
            </a:r>
            <a:r>
              <a:rPr lang="en-US" sz="1800" u="sng" dirty="0">
                <a:solidFill>
                  <a:srgbClr val="0066FF"/>
                </a:solidFill>
                <a:latin typeface="Arial Narrow" pitchFamily="34" charset="0"/>
              </a:rPr>
              <a:t>workspace</a:t>
            </a:r>
            <a:r>
              <a:rPr lang="en-US" sz="1800" dirty="0" smtClean="0">
                <a:solidFill>
                  <a:srgbClr val="000000"/>
                </a:solidFill>
                <a:latin typeface="Arial Narrow" pitchFamily="34" charset="0"/>
              </a:rPr>
              <a:t> to make them available to all projects</a:t>
            </a:r>
          </a:p>
        </p:txBody>
      </p:sp>
      <p:sp>
        <p:nvSpPr>
          <p:cNvPr id="8" name="Freeform 7"/>
          <p:cNvSpPr/>
          <p:nvPr/>
        </p:nvSpPr>
        <p:spPr bwMode="auto">
          <a:xfrm>
            <a:off x="5461660" y="2255875"/>
            <a:ext cx="733647" cy="703965"/>
          </a:xfrm>
          <a:custGeom>
            <a:avLst/>
            <a:gdLst>
              <a:gd name="connsiteX0" fmla="*/ 733647 w 733647"/>
              <a:gd name="connsiteY0" fmla="*/ 701749 h 703965"/>
              <a:gd name="connsiteX1" fmla="*/ 233917 w 733647"/>
              <a:gd name="connsiteY1" fmla="*/ 595423 h 703965"/>
              <a:gd name="connsiteX2" fmla="*/ 0 w 733647"/>
              <a:gd name="connsiteY2" fmla="*/ 0 h 703965"/>
            </a:gdLst>
            <a:ahLst/>
            <a:cxnLst>
              <a:cxn ang="0">
                <a:pos x="connsiteX0" y="connsiteY0"/>
              </a:cxn>
              <a:cxn ang="0">
                <a:pos x="connsiteX1" y="connsiteY1"/>
              </a:cxn>
              <a:cxn ang="0">
                <a:pos x="connsiteX2" y="connsiteY2"/>
              </a:cxn>
            </a:cxnLst>
            <a:rect l="l" t="t" r="r" b="b"/>
            <a:pathLst>
              <a:path w="733647" h="703965">
                <a:moveTo>
                  <a:pt x="733647" y="701749"/>
                </a:moveTo>
                <a:cubicBezTo>
                  <a:pt x="544919" y="707065"/>
                  <a:pt x="356191" y="712381"/>
                  <a:pt x="233917" y="595423"/>
                </a:cubicBezTo>
                <a:cubicBezTo>
                  <a:pt x="111642" y="478465"/>
                  <a:pt x="55821" y="239232"/>
                  <a:pt x="0" y="0"/>
                </a:cubicBezTo>
              </a:path>
            </a:pathLst>
          </a:custGeom>
          <a:noFill/>
          <a:ln w="38100" cap="flat" cmpd="sng" algn="ctr">
            <a:solidFill>
              <a:schemeClr val="tx2"/>
            </a:solidFill>
            <a:prstDash val="sysDot"/>
            <a:round/>
            <a:headEnd type="none" w="med" len="med"/>
            <a:tailEnd type="triangle" w="med" len="med"/>
          </a:ln>
          <a:effectLst/>
        </p:spPr>
        <p:txBody>
          <a:bodyPr vert="horz" wrap="square" lIns="91440" tIns="45720" rIns="91440" bIns="45720" numCol="1" rtlCol="0" anchor="t" anchorCtr="0" compatLnSpc="1">
            <a:prstTxWarp prst="textNoShape">
              <a:avLst/>
            </a:prstTxWarp>
          </a:bodyPr>
          <a:lstStyle/>
          <a:p>
            <a:endParaRPr lang="en-US" sz="2800" smtClean="0">
              <a:solidFill>
                <a:srgbClr val="000000"/>
              </a:solidFill>
              <a:effectLst>
                <a:outerShdw blurRad="38100" dist="38100" dir="2700000" algn="tl">
                  <a:srgbClr val="000000">
                    <a:alpha val="43137"/>
                  </a:srgbClr>
                </a:outerShdw>
              </a:effectLst>
              <a:latin typeface="Arial Narrow" pitchFamily="34" charset="0"/>
            </a:endParaRPr>
          </a:p>
        </p:txBody>
      </p:sp>
      <p:cxnSp>
        <p:nvCxnSpPr>
          <p:cNvPr id="11" name="Straight Arrow Connector 10"/>
          <p:cNvCxnSpPr/>
          <p:nvPr/>
        </p:nvCxnSpPr>
        <p:spPr bwMode="auto">
          <a:xfrm flipH="1">
            <a:off x="6289641" y="4207669"/>
            <a:ext cx="188668" cy="457200"/>
          </a:xfrm>
          <a:prstGeom prst="straightConnector1">
            <a:avLst/>
          </a:prstGeom>
          <a:solidFill>
            <a:schemeClr val="accent1"/>
          </a:solidFill>
          <a:ln w="38100" cap="flat" cmpd="sng" algn="ctr">
            <a:solidFill>
              <a:schemeClr val="tx2"/>
            </a:solidFill>
            <a:prstDash val="sysDot"/>
            <a:round/>
            <a:headEnd type="none" w="med" len="med"/>
            <a:tailEnd type="triangle" w="med" len="med"/>
          </a:ln>
          <a:effectLst/>
        </p:spPr>
      </p:cxnSp>
      <p:sp>
        <p:nvSpPr>
          <p:cNvPr id="16" name="TextBox 15"/>
          <p:cNvSpPr txBox="1"/>
          <p:nvPr/>
        </p:nvSpPr>
        <p:spPr>
          <a:xfrm>
            <a:off x="2483351" y="6405988"/>
            <a:ext cx="4403731" cy="341632"/>
          </a:xfrm>
          <a:prstGeom prst="rect">
            <a:avLst/>
          </a:prstGeom>
          <a:noFill/>
        </p:spPr>
        <p:txBody>
          <a:bodyPr wrap="square" rtlCol="0" anchor="t" anchorCtr="0">
            <a:spAutoFit/>
          </a:bodyPr>
          <a:lstStyle/>
          <a:p>
            <a:pPr>
              <a:lnSpc>
                <a:spcPct val="90000"/>
              </a:lnSpc>
              <a:spcBef>
                <a:spcPts val="600"/>
              </a:spcBef>
              <a:buClr>
                <a:srgbClr val="0066FF"/>
              </a:buClr>
              <a:buSzPct val="75000"/>
            </a:pPr>
            <a:r>
              <a:rPr lang="en-US" sz="1800" dirty="0" smtClean="0">
                <a:solidFill>
                  <a:srgbClr val="000000"/>
                </a:solidFill>
                <a:latin typeface="Arial Narrow" pitchFamily="34" charset="0"/>
              </a:rPr>
              <a:t>Note: See lab for “how to use” details</a:t>
            </a:r>
          </a:p>
        </p:txBody>
      </p:sp>
      <p:sp>
        <p:nvSpPr>
          <p:cNvPr id="9" name="TextBox 8"/>
          <p:cNvSpPr txBox="1"/>
          <p:nvPr/>
        </p:nvSpPr>
        <p:spPr>
          <a:xfrm>
            <a:off x="5917500" y="5410200"/>
            <a:ext cx="2637130" cy="757130"/>
          </a:xfrm>
          <a:prstGeom prst="rect">
            <a:avLst/>
          </a:prstGeom>
          <a:solidFill>
            <a:schemeClr val="accent1"/>
          </a:solidFill>
        </p:spPr>
        <p:txBody>
          <a:bodyPr wrap="square" rtlCol="0" anchor="t" anchorCtr="0">
            <a:spAutoFit/>
          </a:bodyPr>
          <a:lstStyle/>
          <a:p>
            <a:pPr>
              <a:lnSpc>
                <a:spcPct val="90000"/>
              </a:lnSpc>
              <a:spcBef>
                <a:spcPts val="600"/>
              </a:spcBef>
            </a:pPr>
            <a:r>
              <a:rPr lang="en-US" sz="1600" b="0" i="1" smtClean="0">
                <a:solidFill>
                  <a:schemeClr val="dk1"/>
                </a:solidFill>
                <a:effectLst/>
                <a:latin typeface="Arial Narrow" pitchFamily="34" charset="0"/>
              </a:rPr>
              <a:t>Users can also import </a:t>
            </a:r>
            <a:r>
              <a:rPr lang="en-US" sz="1600" i="1" smtClean="0">
                <a:solidFill>
                  <a:schemeClr val="tx2"/>
                </a:solidFill>
                <a:effectLst/>
                <a:latin typeface="Arial Narrow" pitchFamily="34" charset="0"/>
              </a:rPr>
              <a:t>vars.ini </a:t>
            </a:r>
            <a:r>
              <a:rPr lang="en-US" sz="1600" b="0" i="1" smtClean="0">
                <a:solidFill>
                  <a:schemeClr val="dk1"/>
                </a:solidFill>
                <a:effectLst/>
                <a:latin typeface="Arial Narrow" pitchFamily="34" charset="0"/>
              </a:rPr>
              <a:t>containing path variables – auto  sets WORKSPACE level vars</a:t>
            </a:r>
            <a:endParaRPr lang="en-US" sz="1600" b="0" i="1" dirty="0" smtClean="0">
              <a:solidFill>
                <a:schemeClr val="dk1"/>
              </a:solidFill>
              <a:effectLst/>
              <a:latin typeface="Arial Narrow" pitchFamily="34" charset="0"/>
            </a:endParaRPr>
          </a:p>
        </p:txBody>
      </p:sp>
    </p:spTree>
    <p:extLst>
      <p:ext uri="{BB962C8B-B14F-4D97-AF65-F5344CB8AC3E}">
        <p14:creationId xmlns:p14="http://schemas.microsoft.com/office/powerpoint/2010/main" val="2165439724"/>
      </p:ext>
    </p:extLst>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Path Variables and Build Variables</a:t>
            </a:r>
            <a:endParaRPr lang="en-US" dirty="0"/>
          </a:p>
        </p:txBody>
      </p:sp>
      <p:sp>
        <p:nvSpPr>
          <p:cNvPr id="5" name="TextBox 4"/>
          <p:cNvSpPr txBox="1"/>
          <p:nvPr/>
        </p:nvSpPr>
        <p:spPr>
          <a:xfrm>
            <a:off x="738554" y="784774"/>
            <a:ext cx="7340471" cy="1898981"/>
          </a:xfrm>
          <a:prstGeom prst="rect">
            <a:avLst/>
          </a:prstGeom>
          <a:noFill/>
        </p:spPr>
        <p:txBody>
          <a:bodyPr wrap="none" rtlCol="0" anchor="ctr" anchorCtr="0">
            <a:spAutoFit/>
          </a:bodyPr>
          <a:lstStyle/>
          <a:p>
            <a:pPr marL="342900" indent="-342900">
              <a:spcBef>
                <a:spcPts val="600"/>
              </a:spcBef>
              <a:buClr>
                <a:srgbClr val="0066FF"/>
              </a:buClr>
              <a:buSzPct val="75000"/>
              <a:buFont typeface="Wingdings"/>
              <a:buChar char=""/>
            </a:pPr>
            <a:r>
              <a:rPr lang="en-US" dirty="0" smtClean="0">
                <a:solidFill>
                  <a:srgbClr val="000000"/>
                </a:solidFill>
                <a:latin typeface="Calibri" pitchFamily="34" charset="0"/>
                <a:cs typeface="Calibri" pitchFamily="34" charset="0"/>
              </a:rPr>
              <a:t>Path Variables</a:t>
            </a:r>
          </a:p>
          <a:p>
            <a:pPr marL="574675" indent="-169863">
              <a:spcBef>
                <a:spcPts val="600"/>
              </a:spcBef>
              <a:buSzPct val="100000"/>
              <a:buFont typeface="Arial" pitchFamily="34" charset="0"/>
              <a:buChar char="•"/>
            </a:pPr>
            <a:r>
              <a:rPr lang="en-US" sz="2000" b="0" dirty="0" smtClean="0">
                <a:solidFill>
                  <a:srgbClr val="000000"/>
                </a:solidFill>
                <a:latin typeface="Calibri" pitchFamily="34" charset="0"/>
                <a:cs typeface="Calibri" pitchFamily="34" charset="0"/>
              </a:rPr>
              <a:t>Used by CCS (Eclipse) to store base path for relative linked files </a:t>
            </a:r>
          </a:p>
          <a:p>
            <a:pPr marL="574675" indent="-169863">
              <a:spcBef>
                <a:spcPts val="600"/>
              </a:spcBef>
              <a:buSzPct val="100000"/>
              <a:buFont typeface="Arial" pitchFamily="34" charset="0"/>
              <a:buChar char="•"/>
            </a:pPr>
            <a:r>
              <a:rPr lang="en-US" sz="2000" b="0" dirty="0" smtClean="0">
                <a:solidFill>
                  <a:srgbClr val="000000"/>
                </a:solidFill>
                <a:latin typeface="Calibri" pitchFamily="34" charset="0"/>
                <a:cs typeface="Calibri" pitchFamily="34" charset="0"/>
              </a:rPr>
              <a:t>Example: </a:t>
            </a:r>
            <a:r>
              <a:rPr lang="en-US" sz="2000" b="0" dirty="0" smtClean="0">
                <a:solidFill>
                  <a:srgbClr val="0066FF"/>
                </a:solidFill>
                <a:latin typeface="Calibri" pitchFamily="34" charset="0"/>
                <a:cs typeface="Calibri" pitchFamily="34" charset="0"/>
              </a:rPr>
              <a:t>PROJECT_LOC</a:t>
            </a:r>
            <a:r>
              <a:rPr lang="en-US" sz="2000" b="0" dirty="0" smtClean="0">
                <a:solidFill>
                  <a:srgbClr val="000000"/>
                </a:solidFill>
                <a:latin typeface="Calibri" pitchFamily="34" charset="0"/>
                <a:cs typeface="Calibri" pitchFamily="34" charset="0"/>
              </a:rPr>
              <a:t> is set to the path of your project, say</a:t>
            </a:r>
            <a:br>
              <a:rPr lang="en-US" sz="2000" b="0" dirty="0" smtClean="0">
                <a:solidFill>
                  <a:srgbClr val="000000"/>
                </a:solidFill>
                <a:latin typeface="Calibri" pitchFamily="34" charset="0"/>
                <a:cs typeface="Calibri" pitchFamily="34" charset="0"/>
              </a:rPr>
            </a:br>
            <a:r>
              <a:rPr lang="en-US" sz="2000" b="0" dirty="0" smtClean="0">
                <a:solidFill>
                  <a:srgbClr val="000000"/>
                </a:solidFill>
                <a:latin typeface="Calibri" pitchFamily="34" charset="0"/>
                <a:cs typeface="Calibri" pitchFamily="34" charset="0"/>
              </a:rPr>
              <a:t>	</a:t>
            </a:r>
            <a:r>
              <a:rPr lang="en-US" sz="1600" b="0" dirty="0" smtClean="0">
                <a:solidFill>
                  <a:srgbClr val="000000"/>
                </a:solidFill>
                <a:latin typeface="Courier New" pitchFamily="49" charset="0"/>
                <a:cs typeface="Courier New" pitchFamily="49" charset="0"/>
              </a:rPr>
              <a:t>c:/Tiva_LaunchPad_Workshop/lab2/project</a:t>
            </a:r>
          </a:p>
          <a:p>
            <a:pPr marL="574675" indent="-169863">
              <a:spcBef>
                <a:spcPts val="600"/>
              </a:spcBef>
              <a:buSzPct val="100000"/>
              <a:buFont typeface="Arial" pitchFamily="34" charset="0"/>
              <a:buChar char="•"/>
            </a:pPr>
            <a:r>
              <a:rPr lang="en-US" sz="2000" b="0" dirty="0" smtClean="0">
                <a:solidFill>
                  <a:srgbClr val="000000"/>
                </a:solidFill>
                <a:latin typeface="Calibri" pitchFamily="34" charset="0"/>
                <a:cs typeface="Calibri" pitchFamily="34" charset="0"/>
              </a:rPr>
              <a:t>Used as a reference point for relative path, e.g.</a:t>
            </a:r>
            <a:br>
              <a:rPr lang="en-US" sz="2000" b="0" dirty="0" smtClean="0">
                <a:solidFill>
                  <a:srgbClr val="000000"/>
                </a:solidFill>
                <a:latin typeface="Calibri" pitchFamily="34" charset="0"/>
                <a:cs typeface="Calibri" pitchFamily="34" charset="0"/>
              </a:rPr>
            </a:br>
            <a:r>
              <a:rPr lang="en-US" sz="2000" b="0" dirty="0" smtClean="0">
                <a:solidFill>
                  <a:srgbClr val="000000"/>
                </a:solidFill>
                <a:latin typeface="Calibri" pitchFamily="34" charset="0"/>
                <a:cs typeface="Calibri" pitchFamily="34" charset="0"/>
              </a:rPr>
              <a:t>	</a:t>
            </a:r>
            <a:r>
              <a:rPr lang="en-US" sz="1600" b="0" dirty="0" smtClean="0">
                <a:solidFill>
                  <a:srgbClr val="000000"/>
                </a:solidFill>
                <a:latin typeface="Courier New" pitchFamily="49" charset="0"/>
                <a:cs typeface="Courier New" pitchFamily="49" charset="0"/>
              </a:rPr>
              <a:t>${PROJECT_LOC}/../files/</a:t>
            </a:r>
            <a:r>
              <a:rPr lang="en-US" sz="1600" b="0" dirty="0" err="1" smtClean="0">
                <a:solidFill>
                  <a:srgbClr val="000000"/>
                </a:solidFill>
                <a:latin typeface="Courier New" pitchFamily="49" charset="0"/>
                <a:cs typeface="Courier New" pitchFamily="49" charset="0"/>
              </a:rPr>
              <a:t>main.c</a:t>
            </a:r>
            <a:endParaRPr lang="en-US" sz="1600" b="0" dirty="0" smtClean="0">
              <a:solidFill>
                <a:srgbClr val="000000"/>
              </a:solidFill>
              <a:latin typeface="Calibri" pitchFamily="34" charset="0"/>
              <a:cs typeface="Calibri" pitchFamily="34" charset="0"/>
            </a:endParaRPr>
          </a:p>
        </p:txBody>
      </p:sp>
      <p:sp>
        <p:nvSpPr>
          <p:cNvPr id="11" name="TextBox 10"/>
          <p:cNvSpPr txBox="1"/>
          <p:nvPr/>
        </p:nvSpPr>
        <p:spPr>
          <a:xfrm>
            <a:off x="738554" y="2754053"/>
            <a:ext cx="7760458" cy="1898981"/>
          </a:xfrm>
          <a:prstGeom prst="rect">
            <a:avLst/>
          </a:prstGeom>
          <a:noFill/>
        </p:spPr>
        <p:txBody>
          <a:bodyPr wrap="none" rtlCol="0" anchor="ctr" anchorCtr="0">
            <a:spAutoFit/>
          </a:bodyPr>
          <a:lstStyle/>
          <a:p>
            <a:pPr marL="342900" indent="-342900">
              <a:spcBef>
                <a:spcPts val="600"/>
              </a:spcBef>
              <a:buClr>
                <a:srgbClr val="0066FF"/>
              </a:buClr>
              <a:buSzPct val="75000"/>
              <a:buFont typeface="Wingdings"/>
              <a:buChar char=""/>
            </a:pPr>
            <a:r>
              <a:rPr lang="en-US" dirty="0" smtClean="0">
                <a:solidFill>
                  <a:srgbClr val="000000"/>
                </a:solidFill>
                <a:latin typeface="Calibri" pitchFamily="34" charset="0"/>
                <a:cs typeface="Calibri" pitchFamily="34" charset="0"/>
              </a:rPr>
              <a:t>Build Variables</a:t>
            </a:r>
          </a:p>
          <a:p>
            <a:pPr marL="574675" indent="-169863">
              <a:spcBef>
                <a:spcPts val="600"/>
              </a:spcBef>
              <a:buSzPct val="100000"/>
              <a:buFont typeface="Arial" pitchFamily="34" charset="0"/>
              <a:buChar char="•"/>
            </a:pPr>
            <a:r>
              <a:rPr lang="en-US" sz="2000" b="0" dirty="0" smtClean="0">
                <a:solidFill>
                  <a:srgbClr val="000000"/>
                </a:solidFill>
                <a:latin typeface="Calibri" pitchFamily="34" charset="0"/>
                <a:cs typeface="Calibri" pitchFamily="34" charset="0"/>
              </a:rPr>
              <a:t>Used by CCS (Eclipse) to store base path for build libraries or files </a:t>
            </a:r>
          </a:p>
          <a:p>
            <a:pPr marL="574675" indent="-169863">
              <a:spcBef>
                <a:spcPts val="600"/>
              </a:spcBef>
              <a:buSzPct val="100000"/>
              <a:buFont typeface="Arial" pitchFamily="34" charset="0"/>
              <a:buChar char="•"/>
            </a:pPr>
            <a:r>
              <a:rPr lang="en-US" sz="2000" b="0" dirty="0" smtClean="0">
                <a:solidFill>
                  <a:srgbClr val="000000"/>
                </a:solidFill>
                <a:latin typeface="Calibri" pitchFamily="34" charset="0"/>
                <a:cs typeface="Calibri" pitchFamily="34" charset="0"/>
              </a:rPr>
              <a:t>Example: </a:t>
            </a:r>
            <a:r>
              <a:rPr lang="en-US" sz="2000" b="0" dirty="0" smtClean="0">
                <a:solidFill>
                  <a:srgbClr val="0066FF"/>
                </a:solidFill>
                <a:latin typeface="Calibri" pitchFamily="34" charset="0"/>
                <a:cs typeface="Calibri" pitchFamily="34" charset="0"/>
              </a:rPr>
              <a:t>CG_TOOL_ROOT</a:t>
            </a:r>
            <a:r>
              <a:rPr lang="en-US" sz="2000" b="0" dirty="0" smtClean="0">
                <a:solidFill>
                  <a:srgbClr val="000000"/>
                </a:solidFill>
                <a:latin typeface="Calibri" pitchFamily="34" charset="0"/>
                <a:cs typeface="Calibri" pitchFamily="34" charset="0"/>
              </a:rPr>
              <a:t> is set to the path for the code </a:t>
            </a:r>
            <a:br>
              <a:rPr lang="en-US" sz="2000" b="0" dirty="0" smtClean="0">
                <a:solidFill>
                  <a:srgbClr val="000000"/>
                </a:solidFill>
                <a:latin typeface="Calibri" pitchFamily="34" charset="0"/>
                <a:cs typeface="Calibri" pitchFamily="34" charset="0"/>
              </a:rPr>
            </a:br>
            <a:r>
              <a:rPr lang="en-US" sz="2000" b="0" dirty="0" smtClean="0">
                <a:solidFill>
                  <a:srgbClr val="000000"/>
                </a:solidFill>
                <a:latin typeface="Calibri" pitchFamily="34" charset="0"/>
                <a:cs typeface="Calibri" pitchFamily="34" charset="0"/>
              </a:rPr>
              <a:t>generation tools (compiler/linker)</a:t>
            </a:r>
          </a:p>
          <a:p>
            <a:pPr marL="574675" indent="-169863">
              <a:spcBef>
                <a:spcPts val="600"/>
              </a:spcBef>
              <a:buSzPct val="100000"/>
              <a:buFont typeface="Arial" pitchFamily="34" charset="0"/>
              <a:buChar char="•"/>
            </a:pPr>
            <a:r>
              <a:rPr lang="en-US" sz="2000" b="0" dirty="0" smtClean="0">
                <a:solidFill>
                  <a:srgbClr val="000000"/>
                </a:solidFill>
                <a:latin typeface="Calibri" pitchFamily="34" charset="0"/>
                <a:cs typeface="Calibri" pitchFamily="34" charset="0"/>
              </a:rPr>
              <a:t>Used to find #include .h files, or object libraries, e.g.</a:t>
            </a:r>
            <a:br>
              <a:rPr lang="en-US" sz="2000" b="0" dirty="0" smtClean="0">
                <a:solidFill>
                  <a:srgbClr val="000000"/>
                </a:solidFill>
                <a:latin typeface="Calibri" pitchFamily="34" charset="0"/>
                <a:cs typeface="Calibri" pitchFamily="34" charset="0"/>
              </a:rPr>
            </a:br>
            <a:r>
              <a:rPr lang="en-US" sz="2000" b="0" dirty="0" smtClean="0">
                <a:solidFill>
                  <a:srgbClr val="000000"/>
                </a:solidFill>
                <a:latin typeface="Calibri" pitchFamily="34" charset="0"/>
                <a:cs typeface="Calibri" pitchFamily="34" charset="0"/>
              </a:rPr>
              <a:t>	</a:t>
            </a:r>
            <a:r>
              <a:rPr lang="en-US" sz="1600" b="0" dirty="0" smtClean="0">
                <a:solidFill>
                  <a:srgbClr val="000000"/>
                </a:solidFill>
                <a:latin typeface="Courier New" pitchFamily="49" charset="0"/>
                <a:cs typeface="Courier New" pitchFamily="49" charset="0"/>
              </a:rPr>
              <a:t>${CG_TOOL_ROOT}/include </a:t>
            </a:r>
            <a:r>
              <a:rPr lang="en-US" sz="2000" b="0" dirty="0" smtClean="0">
                <a:solidFill>
                  <a:srgbClr val="000000"/>
                </a:solidFill>
                <a:latin typeface="Calibri" pitchFamily="34" charset="0"/>
                <a:cs typeface="Courier New" pitchFamily="49" charset="0"/>
              </a:rPr>
              <a:t>or</a:t>
            </a:r>
            <a:r>
              <a:rPr lang="en-US" sz="2000" b="0" dirty="0">
                <a:solidFill>
                  <a:srgbClr val="000000"/>
                </a:solidFill>
                <a:latin typeface="Courier New" pitchFamily="49" charset="0"/>
                <a:cs typeface="Courier New" pitchFamily="49" charset="0"/>
              </a:rPr>
              <a:t> </a:t>
            </a:r>
            <a:r>
              <a:rPr lang="en-US" sz="1600" b="0" dirty="0">
                <a:solidFill>
                  <a:srgbClr val="000000"/>
                </a:solidFill>
                <a:latin typeface="Courier New" pitchFamily="49" charset="0"/>
                <a:cs typeface="Courier New" pitchFamily="49" charset="0"/>
              </a:rPr>
              <a:t>${CG_TOOL_ROOT</a:t>
            </a:r>
            <a:r>
              <a:rPr lang="en-US" sz="1600" b="0" dirty="0" smtClean="0">
                <a:solidFill>
                  <a:srgbClr val="000000"/>
                </a:solidFill>
                <a:latin typeface="Courier New" pitchFamily="49" charset="0"/>
                <a:cs typeface="Courier New" pitchFamily="49" charset="0"/>
              </a:rPr>
              <a:t>}/lib</a:t>
            </a:r>
          </a:p>
        </p:txBody>
      </p:sp>
      <p:sp>
        <p:nvSpPr>
          <p:cNvPr id="12" name="TextBox 11"/>
          <p:cNvSpPr txBox="1"/>
          <p:nvPr/>
        </p:nvSpPr>
        <p:spPr>
          <a:xfrm>
            <a:off x="748454" y="4749926"/>
            <a:ext cx="7997061" cy="1822037"/>
          </a:xfrm>
          <a:prstGeom prst="rect">
            <a:avLst/>
          </a:prstGeom>
          <a:noFill/>
        </p:spPr>
        <p:txBody>
          <a:bodyPr wrap="none" rtlCol="0" anchor="ctr" anchorCtr="0">
            <a:spAutoFit/>
          </a:bodyPr>
          <a:lstStyle/>
          <a:p>
            <a:pPr marL="342900" indent="-342900">
              <a:spcBef>
                <a:spcPts val="600"/>
              </a:spcBef>
              <a:buClr>
                <a:srgbClr val="0066FF"/>
              </a:buClr>
              <a:buSzPct val="75000"/>
              <a:buFont typeface="Wingdings"/>
              <a:buChar char=""/>
            </a:pPr>
            <a:r>
              <a:rPr lang="en-US" dirty="0" smtClean="0">
                <a:solidFill>
                  <a:srgbClr val="000000"/>
                </a:solidFill>
                <a:latin typeface="Calibri" pitchFamily="34" charset="0"/>
                <a:cs typeface="Calibri" pitchFamily="34" charset="0"/>
              </a:rPr>
              <a:t>How are these variables defined?</a:t>
            </a:r>
          </a:p>
          <a:p>
            <a:pPr marL="574675" indent="-169863">
              <a:spcBef>
                <a:spcPts val="600"/>
              </a:spcBef>
              <a:buSzPct val="100000"/>
              <a:buFont typeface="Arial" pitchFamily="34" charset="0"/>
              <a:buChar char="•"/>
            </a:pPr>
            <a:r>
              <a:rPr lang="en-US" sz="2000" b="0" dirty="0" smtClean="0">
                <a:solidFill>
                  <a:srgbClr val="000000"/>
                </a:solidFill>
                <a:latin typeface="Calibri" pitchFamily="34" charset="0"/>
                <a:cs typeface="Calibri" pitchFamily="34" charset="0"/>
              </a:rPr>
              <a:t>The variables in these examples are </a:t>
            </a:r>
            <a:r>
              <a:rPr lang="en-US" sz="2000" b="0" u="sng" dirty="0" smtClean="0">
                <a:solidFill>
                  <a:srgbClr val="000000"/>
                </a:solidFill>
                <a:latin typeface="Calibri" pitchFamily="34" charset="0"/>
                <a:cs typeface="Calibri" pitchFamily="34" charset="0"/>
              </a:rPr>
              <a:t>automatically defined</a:t>
            </a:r>
            <a:r>
              <a:rPr lang="en-US" sz="2000" b="0" dirty="0" smtClean="0">
                <a:solidFill>
                  <a:srgbClr val="000000"/>
                </a:solidFill>
                <a:latin typeface="Calibri" pitchFamily="34" charset="0"/>
                <a:cs typeface="Calibri" pitchFamily="34" charset="0"/>
              </a:rPr>
              <a:t/>
            </a:r>
            <a:br>
              <a:rPr lang="en-US" sz="2000" b="0" dirty="0" smtClean="0">
                <a:solidFill>
                  <a:srgbClr val="000000"/>
                </a:solidFill>
                <a:latin typeface="Calibri" pitchFamily="34" charset="0"/>
                <a:cs typeface="Calibri" pitchFamily="34" charset="0"/>
              </a:rPr>
            </a:br>
            <a:r>
              <a:rPr lang="en-US" sz="2000" b="0" dirty="0" smtClean="0">
                <a:solidFill>
                  <a:srgbClr val="000000"/>
                </a:solidFill>
                <a:latin typeface="Calibri" pitchFamily="34" charset="0"/>
                <a:cs typeface="Calibri" pitchFamily="34" charset="0"/>
              </a:rPr>
              <a:t>when you create a new project (PROJECT_LOC) and when you</a:t>
            </a:r>
            <a:br>
              <a:rPr lang="en-US" sz="2000" b="0" dirty="0" smtClean="0">
                <a:solidFill>
                  <a:srgbClr val="000000"/>
                </a:solidFill>
                <a:latin typeface="Calibri" pitchFamily="34" charset="0"/>
                <a:cs typeface="Calibri" pitchFamily="34" charset="0"/>
              </a:rPr>
            </a:br>
            <a:r>
              <a:rPr lang="en-US" sz="2000" b="0" dirty="0" smtClean="0">
                <a:solidFill>
                  <a:srgbClr val="000000"/>
                </a:solidFill>
                <a:latin typeface="Calibri" pitchFamily="34" charset="0"/>
                <a:cs typeface="Calibri" pitchFamily="34" charset="0"/>
              </a:rPr>
              <a:t>install CCS with the build tools (CG_TOOL_ROOT) – nice!</a:t>
            </a:r>
          </a:p>
          <a:p>
            <a:pPr marL="574675" indent="-169863">
              <a:spcBef>
                <a:spcPts val="600"/>
              </a:spcBef>
              <a:buSzPct val="100000"/>
              <a:buFont typeface="Arial" pitchFamily="34" charset="0"/>
              <a:buChar char="•"/>
            </a:pPr>
            <a:r>
              <a:rPr lang="en-US" sz="2000" b="0" dirty="0" smtClean="0">
                <a:solidFill>
                  <a:srgbClr val="000000"/>
                </a:solidFill>
                <a:latin typeface="Calibri" pitchFamily="34" charset="0"/>
                <a:cs typeface="Calibri" pitchFamily="34" charset="0"/>
              </a:rPr>
              <a:t>What about </a:t>
            </a:r>
            <a:r>
              <a:rPr lang="en-US" sz="2000" b="0" dirty="0" err="1" smtClean="0">
                <a:solidFill>
                  <a:srgbClr val="000000"/>
                </a:solidFill>
                <a:latin typeface="Calibri" pitchFamily="34" charset="0"/>
                <a:cs typeface="Calibri" pitchFamily="34" charset="0"/>
              </a:rPr>
              <a:t>TivaWare</a:t>
            </a:r>
            <a:r>
              <a:rPr lang="en-US" sz="2000" b="0" dirty="0" smtClean="0">
                <a:solidFill>
                  <a:srgbClr val="000000"/>
                </a:solidFill>
                <a:latin typeface="Calibri" pitchFamily="34" charset="0"/>
                <a:cs typeface="Calibri" pitchFamily="34" charset="0"/>
              </a:rPr>
              <a:t> or additional software libraries? You can define</a:t>
            </a:r>
            <a:br>
              <a:rPr lang="en-US" sz="2000" b="0" dirty="0" smtClean="0">
                <a:solidFill>
                  <a:srgbClr val="000000"/>
                </a:solidFill>
                <a:latin typeface="Calibri" pitchFamily="34" charset="0"/>
                <a:cs typeface="Calibri" pitchFamily="34" charset="0"/>
              </a:rPr>
            </a:br>
            <a:r>
              <a:rPr lang="en-US" sz="2000" b="0" dirty="0" smtClean="0">
                <a:solidFill>
                  <a:srgbClr val="000000"/>
                </a:solidFill>
                <a:latin typeface="Calibri" pitchFamily="34" charset="0"/>
                <a:cs typeface="Calibri" pitchFamily="34" charset="0"/>
              </a:rPr>
              <a:t>some new variables yourself</a:t>
            </a:r>
            <a:endParaRPr lang="en-US" sz="2000" b="0" dirty="0" smtClean="0">
              <a:solidFill>
                <a:srgbClr val="000000"/>
              </a:solidFill>
              <a:latin typeface="Courier New" pitchFamily="49" charset="0"/>
              <a:cs typeface="Courier New" pitchFamily="49" charset="0"/>
            </a:endParaRPr>
          </a:p>
        </p:txBody>
      </p:sp>
      <p:sp>
        <p:nvSpPr>
          <p:cNvPr id="8" name="Leading Question"/>
          <p:cNvSpPr txBox="1"/>
          <p:nvPr/>
        </p:nvSpPr>
        <p:spPr>
          <a:xfrm>
            <a:off x="4894976" y="6512801"/>
            <a:ext cx="3925755" cy="246221"/>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chorCtr="0">
            <a:spAutoFit/>
          </a:bodyPr>
          <a:lstStyle/>
          <a:p>
            <a:pPr algn="r">
              <a:spcBef>
                <a:spcPct val="0"/>
              </a:spcBef>
            </a:pPr>
            <a:r>
              <a:rPr lang="en-US" sz="2000" b="0" dirty="0" smtClean="0">
                <a:solidFill>
                  <a:srgbClr val="0066FF"/>
                </a:solidFill>
                <a:latin typeface="Arial Narrow"/>
              </a:rPr>
              <a:t>How  and where do I add these variables?</a:t>
            </a:r>
          </a:p>
        </p:txBody>
      </p:sp>
    </p:spTree>
    <p:extLst>
      <p:ext uri="{BB962C8B-B14F-4D97-AF65-F5344CB8AC3E}">
        <p14:creationId xmlns:p14="http://schemas.microsoft.com/office/powerpoint/2010/main" val="31202311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Adding Variables</a:t>
            </a:r>
            <a:endParaRPr lang="en-US" dirty="0"/>
          </a:p>
        </p:txBody>
      </p:sp>
      <p:sp>
        <p:nvSpPr>
          <p:cNvPr id="5" name="TextBox 4"/>
          <p:cNvSpPr txBox="1"/>
          <p:nvPr/>
        </p:nvSpPr>
        <p:spPr>
          <a:xfrm>
            <a:off x="445966" y="599330"/>
            <a:ext cx="8701934" cy="2714589"/>
          </a:xfrm>
          <a:prstGeom prst="rect">
            <a:avLst/>
          </a:prstGeom>
          <a:noFill/>
        </p:spPr>
        <p:txBody>
          <a:bodyPr wrap="none" rtlCol="0" anchor="ctr" anchorCtr="0">
            <a:spAutoFit/>
          </a:bodyPr>
          <a:lstStyle/>
          <a:p>
            <a:pPr marL="342900" indent="-342900">
              <a:spcBef>
                <a:spcPts val="600"/>
              </a:spcBef>
              <a:buClr>
                <a:srgbClr val="0066FF"/>
              </a:buClr>
              <a:buSzPct val="75000"/>
              <a:buFont typeface="Wingdings"/>
              <a:buChar char=""/>
            </a:pPr>
            <a:r>
              <a:rPr lang="en-US" dirty="0" smtClean="0">
                <a:solidFill>
                  <a:srgbClr val="000000"/>
                </a:solidFill>
                <a:latin typeface="Calibri" pitchFamily="34" charset="0"/>
                <a:cs typeface="Calibri" pitchFamily="34" charset="0"/>
              </a:rPr>
              <a:t>Why are we doing this?</a:t>
            </a:r>
          </a:p>
          <a:p>
            <a:pPr marL="574675" indent="-169863">
              <a:spcBef>
                <a:spcPts val="600"/>
              </a:spcBef>
              <a:buSzPct val="100000"/>
              <a:buFont typeface="Arial" pitchFamily="34" charset="0"/>
              <a:buChar char="•"/>
            </a:pPr>
            <a:r>
              <a:rPr lang="en-US" sz="2000" b="0" dirty="0" smtClean="0">
                <a:solidFill>
                  <a:srgbClr val="000000"/>
                </a:solidFill>
                <a:latin typeface="Calibri" pitchFamily="34" charset="0"/>
                <a:cs typeface="Calibri" pitchFamily="34" charset="0"/>
              </a:rPr>
              <a:t>We could use PROJECT_LOC for all linked resources or PROJECT_ROOT as</a:t>
            </a:r>
            <a:br>
              <a:rPr lang="en-US" sz="2000" b="0" dirty="0" smtClean="0">
                <a:solidFill>
                  <a:srgbClr val="000000"/>
                </a:solidFill>
                <a:latin typeface="Calibri" pitchFamily="34" charset="0"/>
                <a:cs typeface="Calibri" pitchFamily="34" charset="0"/>
              </a:rPr>
            </a:br>
            <a:r>
              <a:rPr lang="en-US" sz="2000" b="0" dirty="0" smtClean="0">
                <a:solidFill>
                  <a:srgbClr val="000000"/>
                </a:solidFill>
                <a:latin typeface="Calibri" pitchFamily="34" charset="0"/>
                <a:cs typeface="Calibri" pitchFamily="34" charset="0"/>
              </a:rPr>
              <a:t>the base for build variables</a:t>
            </a:r>
          </a:p>
          <a:p>
            <a:pPr marL="574675" indent="-169863">
              <a:spcBef>
                <a:spcPts val="600"/>
              </a:spcBef>
              <a:buSzPct val="100000"/>
              <a:buFont typeface="Arial" pitchFamily="34" charset="0"/>
              <a:buChar char="•"/>
            </a:pPr>
            <a:r>
              <a:rPr lang="en-US" sz="2000" b="0" dirty="0" smtClean="0">
                <a:solidFill>
                  <a:srgbClr val="000000"/>
                </a:solidFill>
                <a:latin typeface="Calibri" pitchFamily="34" charset="0"/>
                <a:cs typeface="Calibri" pitchFamily="34" charset="0"/>
              </a:rPr>
              <a:t>It is “almost” portable, BUT if you move or copy your project, you have</a:t>
            </a:r>
            <a:br>
              <a:rPr lang="en-US" sz="2000" b="0" dirty="0" smtClean="0">
                <a:solidFill>
                  <a:srgbClr val="000000"/>
                </a:solidFill>
                <a:latin typeface="Calibri" pitchFamily="34" charset="0"/>
                <a:cs typeface="Calibri" pitchFamily="34" charset="0"/>
              </a:rPr>
            </a:br>
            <a:r>
              <a:rPr lang="en-US" sz="2000" b="0" dirty="0" smtClean="0">
                <a:solidFill>
                  <a:srgbClr val="000000"/>
                </a:solidFill>
                <a:latin typeface="Calibri" pitchFamily="34" charset="0"/>
                <a:cs typeface="Calibri" pitchFamily="34" charset="0"/>
              </a:rPr>
              <a:t>to put it at the same “level” in the file system</a:t>
            </a:r>
          </a:p>
          <a:p>
            <a:pPr marL="574675" indent="-169863">
              <a:spcBef>
                <a:spcPts val="600"/>
              </a:spcBef>
              <a:buSzPct val="100000"/>
              <a:buFont typeface="Arial" pitchFamily="34" charset="0"/>
              <a:buChar char="•"/>
            </a:pPr>
            <a:r>
              <a:rPr lang="en-US" sz="2000" b="0" dirty="0" smtClean="0">
                <a:solidFill>
                  <a:srgbClr val="000000"/>
                </a:solidFill>
                <a:latin typeface="Calibri" pitchFamily="34" charset="0"/>
                <a:cs typeface="Calibri" pitchFamily="34" charset="0"/>
              </a:rPr>
              <a:t>Defining a link and build variable for </a:t>
            </a:r>
            <a:r>
              <a:rPr lang="en-US" sz="2000" b="0" dirty="0" err="1" smtClean="0">
                <a:solidFill>
                  <a:srgbClr val="000000"/>
                </a:solidFill>
                <a:latin typeface="Calibri" pitchFamily="34" charset="0"/>
                <a:cs typeface="Calibri" pitchFamily="34" charset="0"/>
              </a:rPr>
              <a:t>TivaWare</a:t>
            </a:r>
            <a:r>
              <a:rPr lang="en-US" sz="2000" b="0" dirty="0" smtClean="0">
                <a:solidFill>
                  <a:srgbClr val="000000"/>
                </a:solidFill>
                <a:latin typeface="Calibri" pitchFamily="34" charset="0"/>
                <a:cs typeface="Calibri" pitchFamily="34" charset="0"/>
              </a:rPr>
              <a:t> location gives us a relative</a:t>
            </a:r>
            <a:br>
              <a:rPr lang="en-US" sz="2000" b="0" dirty="0" smtClean="0">
                <a:solidFill>
                  <a:srgbClr val="000000"/>
                </a:solidFill>
                <a:latin typeface="Calibri" pitchFamily="34" charset="0"/>
                <a:cs typeface="Calibri" pitchFamily="34" charset="0"/>
              </a:rPr>
            </a:br>
            <a:r>
              <a:rPr lang="en-US" sz="2000" b="0" dirty="0" smtClean="0">
                <a:solidFill>
                  <a:srgbClr val="000000"/>
                </a:solidFill>
                <a:latin typeface="Calibri" pitchFamily="34" charset="0"/>
                <a:cs typeface="Calibri" pitchFamily="34" charset="0"/>
              </a:rPr>
              <a:t>path that does NOT depend on location of the project (much more portable)</a:t>
            </a:r>
          </a:p>
          <a:p>
            <a:pPr marL="574675" indent="-169863">
              <a:spcBef>
                <a:spcPts val="600"/>
              </a:spcBef>
              <a:buSzPct val="100000"/>
              <a:buFont typeface="Arial" pitchFamily="34" charset="0"/>
              <a:buChar char="•"/>
            </a:pPr>
            <a:r>
              <a:rPr lang="en-US" sz="2000" b="0" dirty="0" smtClean="0">
                <a:solidFill>
                  <a:srgbClr val="000000"/>
                </a:solidFill>
                <a:latin typeface="Calibri" pitchFamily="34" charset="0"/>
                <a:cs typeface="Calibri" pitchFamily="34" charset="0"/>
              </a:rPr>
              <a:t>Also, if we install a new version of </a:t>
            </a:r>
            <a:r>
              <a:rPr lang="en-US" sz="2000" b="0" dirty="0" err="1" smtClean="0">
                <a:solidFill>
                  <a:srgbClr val="000000"/>
                </a:solidFill>
                <a:latin typeface="Calibri" pitchFamily="34" charset="0"/>
                <a:cs typeface="Calibri" pitchFamily="34" charset="0"/>
              </a:rPr>
              <a:t>TivaWare</a:t>
            </a:r>
            <a:r>
              <a:rPr lang="en-US" sz="2000" b="0" dirty="0" smtClean="0">
                <a:solidFill>
                  <a:srgbClr val="000000"/>
                </a:solidFill>
                <a:latin typeface="Calibri" pitchFamily="34" charset="0"/>
                <a:cs typeface="Calibri" pitchFamily="34" charset="0"/>
              </a:rPr>
              <a:t>, we only need to change these</a:t>
            </a:r>
            <a:br>
              <a:rPr lang="en-US" sz="2000" b="0" dirty="0" smtClean="0">
                <a:solidFill>
                  <a:srgbClr val="000000"/>
                </a:solidFill>
                <a:latin typeface="Calibri" pitchFamily="34" charset="0"/>
                <a:cs typeface="Calibri" pitchFamily="34" charset="0"/>
              </a:rPr>
            </a:br>
            <a:r>
              <a:rPr lang="en-US" sz="2000" b="0" dirty="0" smtClean="0">
                <a:solidFill>
                  <a:srgbClr val="000000"/>
                </a:solidFill>
                <a:latin typeface="Calibri" pitchFamily="34" charset="0"/>
                <a:cs typeface="Calibri" pitchFamily="34" charset="0"/>
              </a:rPr>
              <a:t>variables – much easier than creating new relative links</a:t>
            </a:r>
            <a:endParaRPr lang="en-US" sz="1600" b="0" dirty="0">
              <a:solidFill>
                <a:srgbClr val="000000"/>
              </a:solidFill>
              <a:latin typeface="Calibri" pitchFamily="34" charset="0"/>
              <a:cs typeface="Calibri" pitchFamily="34" charset="0"/>
            </a:endParaRPr>
          </a:p>
        </p:txBody>
      </p:sp>
      <p:sp>
        <p:nvSpPr>
          <p:cNvPr id="7" name="TextBox 6"/>
          <p:cNvSpPr txBox="1"/>
          <p:nvPr/>
        </p:nvSpPr>
        <p:spPr>
          <a:xfrm>
            <a:off x="445966" y="3268520"/>
            <a:ext cx="8371314" cy="2391424"/>
          </a:xfrm>
          <a:prstGeom prst="rect">
            <a:avLst/>
          </a:prstGeom>
          <a:noFill/>
        </p:spPr>
        <p:txBody>
          <a:bodyPr wrap="square" rtlCol="0" anchor="ctr" anchorCtr="0">
            <a:spAutoFit/>
          </a:bodyPr>
          <a:lstStyle/>
          <a:p>
            <a:pPr marL="342900" indent="-342900">
              <a:spcBef>
                <a:spcPts val="600"/>
              </a:spcBef>
              <a:buClr>
                <a:srgbClr val="0066FF"/>
              </a:buClr>
              <a:buSzPct val="75000"/>
              <a:buFont typeface="Wingdings"/>
              <a:buChar char=""/>
            </a:pPr>
            <a:r>
              <a:rPr lang="en-US" dirty="0" smtClean="0">
                <a:solidFill>
                  <a:srgbClr val="000000"/>
                </a:solidFill>
                <a:latin typeface="Calibri" pitchFamily="34" charset="0"/>
                <a:cs typeface="Calibri" pitchFamily="34" charset="0"/>
              </a:rPr>
              <a:t>How to add Path and Build Variables</a:t>
            </a:r>
          </a:p>
          <a:p>
            <a:pPr marL="574675" indent="-169863">
              <a:spcBef>
                <a:spcPts val="600"/>
              </a:spcBef>
              <a:buSzPct val="100000"/>
              <a:buFont typeface="Arial" pitchFamily="34" charset="0"/>
              <a:buChar char="•"/>
            </a:pPr>
            <a:r>
              <a:rPr lang="en-US" sz="2000" b="0" i="1" dirty="0" smtClean="0">
                <a:solidFill>
                  <a:srgbClr val="000000"/>
                </a:solidFill>
                <a:latin typeface="Calibri" pitchFamily="34" charset="0"/>
                <a:cs typeface="Calibri" pitchFamily="34" charset="0"/>
              </a:rPr>
              <a:t>Project </a:t>
            </a:r>
            <a:r>
              <a:rPr lang="en-US" sz="2000" b="0" i="1" dirty="0" smtClean="0">
                <a:solidFill>
                  <a:srgbClr val="000000"/>
                </a:solidFill>
                <a:latin typeface="Calibri" pitchFamily="34" charset="0"/>
                <a:cs typeface="Calibri" pitchFamily="34" charset="0"/>
                <a:sym typeface="Symbol"/>
              </a:rPr>
              <a:t> Properties</a:t>
            </a:r>
            <a:r>
              <a:rPr lang="en-US" sz="2000" b="0" dirty="0" smtClean="0">
                <a:solidFill>
                  <a:srgbClr val="000000"/>
                </a:solidFill>
                <a:latin typeface="Calibri" pitchFamily="34" charset="0"/>
                <a:cs typeface="Calibri" pitchFamily="34" charset="0"/>
                <a:sym typeface="Symbol"/>
              </a:rPr>
              <a:t>, expand the </a:t>
            </a:r>
            <a:r>
              <a:rPr lang="en-US" sz="2000" b="0" i="1" dirty="0" smtClean="0">
                <a:solidFill>
                  <a:srgbClr val="000000"/>
                </a:solidFill>
                <a:latin typeface="Calibri" pitchFamily="34" charset="0"/>
                <a:cs typeface="Calibri" pitchFamily="34" charset="0"/>
                <a:sym typeface="Symbol"/>
              </a:rPr>
              <a:t>Resource</a:t>
            </a:r>
            <a:r>
              <a:rPr lang="en-US" sz="2000" b="0" dirty="0" smtClean="0">
                <a:solidFill>
                  <a:srgbClr val="000000"/>
                </a:solidFill>
                <a:latin typeface="Calibri" pitchFamily="34" charset="0"/>
                <a:cs typeface="Calibri" pitchFamily="34" charset="0"/>
                <a:sym typeface="Symbol"/>
              </a:rPr>
              <a:t> category, click on</a:t>
            </a:r>
            <a:br>
              <a:rPr lang="en-US" sz="2000" b="0" dirty="0" smtClean="0">
                <a:solidFill>
                  <a:srgbClr val="000000"/>
                </a:solidFill>
                <a:latin typeface="Calibri" pitchFamily="34" charset="0"/>
                <a:cs typeface="Calibri" pitchFamily="34" charset="0"/>
                <a:sym typeface="Symbol"/>
              </a:rPr>
            </a:br>
            <a:r>
              <a:rPr lang="en-US" sz="2000" b="0" i="1" dirty="0" smtClean="0">
                <a:solidFill>
                  <a:srgbClr val="000000"/>
                </a:solidFill>
                <a:latin typeface="Calibri" pitchFamily="34" charset="0"/>
                <a:cs typeface="Calibri" pitchFamily="34" charset="0"/>
                <a:sym typeface="Symbol"/>
              </a:rPr>
              <a:t>Linked Resources</a:t>
            </a:r>
            <a:r>
              <a:rPr lang="en-US" sz="2000" b="0" dirty="0" smtClean="0">
                <a:solidFill>
                  <a:srgbClr val="000000"/>
                </a:solidFill>
                <a:latin typeface="Calibri" pitchFamily="34" charset="0"/>
                <a:cs typeface="Calibri" pitchFamily="34" charset="0"/>
                <a:sym typeface="Symbol"/>
              </a:rPr>
              <a:t>. You will see a tab for </a:t>
            </a:r>
            <a:r>
              <a:rPr lang="en-US" sz="2000" b="0" i="1" u="sng" dirty="0" smtClean="0">
                <a:solidFill>
                  <a:srgbClr val="000000"/>
                </a:solidFill>
                <a:latin typeface="Calibri" pitchFamily="34" charset="0"/>
                <a:cs typeface="Calibri" pitchFamily="34" charset="0"/>
                <a:sym typeface="Symbol"/>
              </a:rPr>
              <a:t>Path Variables</a:t>
            </a:r>
            <a:r>
              <a:rPr lang="en-US" sz="2000" b="0" dirty="0" smtClean="0">
                <a:solidFill>
                  <a:srgbClr val="000000"/>
                </a:solidFill>
                <a:latin typeface="Calibri" pitchFamily="34" charset="0"/>
                <a:cs typeface="Calibri" pitchFamily="34" charset="0"/>
                <a:sym typeface="Symbol"/>
              </a:rPr>
              <a:t>, click </a:t>
            </a:r>
            <a:r>
              <a:rPr lang="en-US" sz="2000" b="0" i="1" dirty="0" smtClean="0">
                <a:solidFill>
                  <a:srgbClr val="000000"/>
                </a:solidFill>
                <a:latin typeface="Calibri" pitchFamily="34" charset="0"/>
                <a:cs typeface="Calibri" pitchFamily="34" charset="0"/>
                <a:sym typeface="Symbol"/>
              </a:rPr>
              <a:t>New</a:t>
            </a:r>
            <a:r>
              <a:rPr lang="en-US" sz="2000" b="0" dirty="0" smtClean="0">
                <a:solidFill>
                  <a:srgbClr val="000000"/>
                </a:solidFill>
                <a:latin typeface="Calibri" pitchFamily="34" charset="0"/>
                <a:cs typeface="Calibri" pitchFamily="34" charset="0"/>
                <a:sym typeface="Symbol"/>
              </a:rPr>
              <a:t/>
            </a:r>
            <a:br>
              <a:rPr lang="en-US" sz="2000" b="0" dirty="0" smtClean="0">
                <a:solidFill>
                  <a:srgbClr val="000000"/>
                </a:solidFill>
                <a:latin typeface="Calibri" pitchFamily="34" charset="0"/>
                <a:cs typeface="Calibri" pitchFamily="34" charset="0"/>
                <a:sym typeface="Symbol"/>
              </a:rPr>
            </a:br>
            <a:r>
              <a:rPr lang="en-US" sz="2000" b="0" dirty="0" smtClean="0">
                <a:solidFill>
                  <a:srgbClr val="000000"/>
                </a:solidFill>
                <a:latin typeface="Calibri" pitchFamily="34" charset="0"/>
                <a:cs typeface="Calibri" pitchFamily="34" charset="0"/>
                <a:sym typeface="Symbol"/>
              </a:rPr>
              <a:t>to add a new </a:t>
            </a:r>
            <a:r>
              <a:rPr lang="en-US" sz="2000" b="0" u="sng" dirty="0" smtClean="0">
                <a:solidFill>
                  <a:srgbClr val="000000"/>
                </a:solidFill>
                <a:latin typeface="Calibri" pitchFamily="34" charset="0"/>
                <a:cs typeface="Calibri" pitchFamily="34" charset="0"/>
                <a:sym typeface="Symbol"/>
              </a:rPr>
              <a:t>path variable</a:t>
            </a:r>
          </a:p>
          <a:p>
            <a:pPr marL="574675" indent="-169863">
              <a:spcBef>
                <a:spcPts val="600"/>
              </a:spcBef>
              <a:buSzPct val="100000"/>
              <a:buFont typeface="Arial" pitchFamily="34" charset="0"/>
              <a:buChar char="•"/>
            </a:pPr>
            <a:r>
              <a:rPr lang="en-US" sz="2000" b="0" i="1" dirty="0" smtClean="0">
                <a:solidFill>
                  <a:srgbClr val="000000"/>
                </a:solidFill>
                <a:latin typeface="Calibri" pitchFamily="34" charset="0"/>
                <a:cs typeface="Calibri" pitchFamily="34" charset="0"/>
              </a:rPr>
              <a:t>Project </a:t>
            </a:r>
            <a:r>
              <a:rPr lang="en-US" sz="2000" b="0" i="1" dirty="0">
                <a:solidFill>
                  <a:srgbClr val="000000"/>
                </a:solidFill>
                <a:latin typeface="Calibri" pitchFamily="34" charset="0"/>
                <a:cs typeface="Calibri" pitchFamily="34" charset="0"/>
                <a:sym typeface="Symbol"/>
              </a:rPr>
              <a:t> Properties</a:t>
            </a:r>
            <a:r>
              <a:rPr lang="en-US" sz="2000" b="0" dirty="0">
                <a:solidFill>
                  <a:srgbClr val="000000"/>
                </a:solidFill>
                <a:latin typeface="Calibri" pitchFamily="34" charset="0"/>
                <a:cs typeface="Calibri" pitchFamily="34" charset="0"/>
                <a:sym typeface="Symbol"/>
              </a:rPr>
              <a:t>, </a:t>
            </a:r>
            <a:r>
              <a:rPr lang="en-US" sz="2000" b="0" dirty="0" smtClean="0">
                <a:solidFill>
                  <a:srgbClr val="000000"/>
                </a:solidFill>
                <a:latin typeface="Calibri" pitchFamily="34" charset="0"/>
                <a:cs typeface="Calibri" pitchFamily="34" charset="0"/>
                <a:sym typeface="Symbol"/>
              </a:rPr>
              <a:t>click on </a:t>
            </a:r>
            <a:r>
              <a:rPr lang="en-US" sz="2000" b="0" i="1" dirty="0" smtClean="0">
                <a:solidFill>
                  <a:srgbClr val="000000"/>
                </a:solidFill>
                <a:latin typeface="Calibri" pitchFamily="34" charset="0"/>
                <a:cs typeface="Calibri" pitchFamily="34" charset="0"/>
                <a:sym typeface="Symbol"/>
              </a:rPr>
              <a:t>Build</a:t>
            </a:r>
            <a:r>
              <a:rPr lang="en-US" sz="2000" b="0" dirty="0" smtClean="0">
                <a:solidFill>
                  <a:srgbClr val="000000"/>
                </a:solidFill>
                <a:latin typeface="Calibri" pitchFamily="34" charset="0"/>
                <a:cs typeface="Calibri" pitchFamily="34" charset="0"/>
                <a:sym typeface="Symbol"/>
              </a:rPr>
              <a:t> </a:t>
            </a:r>
            <a:r>
              <a:rPr lang="en-US" sz="2000" b="0" dirty="0">
                <a:solidFill>
                  <a:srgbClr val="000000"/>
                </a:solidFill>
                <a:latin typeface="Calibri" pitchFamily="34" charset="0"/>
                <a:cs typeface="Calibri" pitchFamily="34" charset="0"/>
                <a:sym typeface="Symbol"/>
              </a:rPr>
              <a:t>category, click </a:t>
            </a:r>
            <a:r>
              <a:rPr lang="en-US" sz="2000" b="0" dirty="0" smtClean="0">
                <a:solidFill>
                  <a:srgbClr val="000000"/>
                </a:solidFill>
                <a:latin typeface="Calibri" pitchFamily="34" charset="0"/>
                <a:cs typeface="Calibri" pitchFamily="34" charset="0"/>
                <a:sym typeface="Symbol"/>
              </a:rPr>
              <a:t>on the </a:t>
            </a:r>
            <a:r>
              <a:rPr lang="en-US" sz="2000" b="0" i="1" u="sng" dirty="0" smtClean="0">
                <a:solidFill>
                  <a:srgbClr val="000000"/>
                </a:solidFill>
                <a:latin typeface="Calibri" pitchFamily="34" charset="0"/>
                <a:cs typeface="Calibri" pitchFamily="34" charset="0"/>
                <a:sym typeface="Symbol"/>
              </a:rPr>
              <a:t>Variables</a:t>
            </a:r>
            <a:r>
              <a:rPr lang="en-US" sz="2000" b="0" dirty="0" smtClean="0">
                <a:solidFill>
                  <a:srgbClr val="000000"/>
                </a:solidFill>
                <a:latin typeface="Calibri" pitchFamily="34" charset="0"/>
                <a:cs typeface="Calibri" pitchFamily="34" charset="0"/>
                <a:sym typeface="Symbol"/>
              </a:rPr>
              <a:t> tab,</a:t>
            </a:r>
            <a:r>
              <a:rPr lang="en-US" sz="2000" b="0" dirty="0">
                <a:solidFill>
                  <a:srgbClr val="000000"/>
                </a:solidFill>
                <a:latin typeface="Calibri" pitchFamily="34" charset="0"/>
                <a:cs typeface="Calibri" pitchFamily="34" charset="0"/>
                <a:sym typeface="Symbol"/>
              </a:rPr>
              <a:t/>
            </a:r>
            <a:br>
              <a:rPr lang="en-US" sz="2000" b="0" dirty="0">
                <a:solidFill>
                  <a:srgbClr val="000000"/>
                </a:solidFill>
                <a:latin typeface="Calibri" pitchFamily="34" charset="0"/>
                <a:cs typeface="Calibri" pitchFamily="34" charset="0"/>
                <a:sym typeface="Symbol"/>
              </a:rPr>
            </a:br>
            <a:r>
              <a:rPr lang="en-US" sz="2000" b="0" dirty="0" smtClean="0">
                <a:solidFill>
                  <a:srgbClr val="000000"/>
                </a:solidFill>
                <a:latin typeface="Calibri" pitchFamily="34" charset="0"/>
                <a:cs typeface="Calibri" pitchFamily="34" charset="0"/>
                <a:sym typeface="Symbol"/>
              </a:rPr>
              <a:t>Click </a:t>
            </a:r>
            <a:r>
              <a:rPr lang="en-US" sz="2000" b="0" i="1" dirty="0" smtClean="0">
                <a:solidFill>
                  <a:srgbClr val="000000"/>
                </a:solidFill>
                <a:latin typeface="Calibri" pitchFamily="34" charset="0"/>
                <a:cs typeface="Calibri" pitchFamily="34" charset="0"/>
                <a:sym typeface="Symbol"/>
              </a:rPr>
              <a:t>New </a:t>
            </a:r>
            <a:r>
              <a:rPr lang="en-US" sz="2000" b="0" dirty="0" smtClean="0">
                <a:solidFill>
                  <a:srgbClr val="000000"/>
                </a:solidFill>
                <a:latin typeface="Calibri" pitchFamily="34" charset="0"/>
                <a:cs typeface="Calibri" pitchFamily="34" charset="0"/>
                <a:sym typeface="Symbol"/>
              </a:rPr>
              <a:t>to </a:t>
            </a:r>
            <a:r>
              <a:rPr lang="en-US" sz="2000" b="0" dirty="0">
                <a:solidFill>
                  <a:srgbClr val="000000"/>
                </a:solidFill>
                <a:latin typeface="Calibri" pitchFamily="34" charset="0"/>
                <a:cs typeface="Calibri" pitchFamily="34" charset="0"/>
                <a:sym typeface="Symbol"/>
              </a:rPr>
              <a:t>add a new </a:t>
            </a:r>
            <a:r>
              <a:rPr lang="en-US" sz="2000" b="0" u="sng" dirty="0" smtClean="0">
                <a:solidFill>
                  <a:srgbClr val="000000"/>
                </a:solidFill>
                <a:latin typeface="Calibri" pitchFamily="34" charset="0"/>
                <a:cs typeface="Calibri" pitchFamily="34" charset="0"/>
                <a:sym typeface="Symbol"/>
              </a:rPr>
              <a:t>build variable</a:t>
            </a:r>
            <a:endParaRPr lang="en-US" sz="2000" b="0" u="sng" dirty="0">
              <a:solidFill>
                <a:srgbClr val="000000"/>
              </a:solidFill>
              <a:latin typeface="Calibri" pitchFamily="34" charset="0"/>
              <a:cs typeface="Calibri" pitchFamily="34" charset="0"/>
              <a:sym typeface="Symbol"/>
            </a:endParaRPr>
          </a:p>
          <a:p>
            <a:pPr marL="574675" indent="-169863">
              <a:spcBef>
                <a:spcPts val="600"/>
              </a:spcBef>
              <a:buSzPct val="100000"/>
              <a:buFont typeface="Arial" pitchFamily="34" charset="0"/>
              <a:buChar char="•"/>
            </a:pPr>
            <a:r>
              <a:rPr lang="en-US" sz="2000" b="0" dirty="0" smtClean="0">
                <a:solidFill>
                  <a:srgbClr val="000000"/>
                </a:solidFill>
                <a:latin typeface="Calibri" pitchFamily="34" charset="0"/>
                <a:cs typeface="Calibri" pitchFamily="34" charset="0"/>
                <a:sym typeface="Symbol"/>
              </a:rPr>
              <a:t>In </a:t>
            </a:r>
            <a:r>
              <a:rPr lang="en-US" sz="2000" b="0" dirty="0">
                <a:solidFill>
                  <a:srgbClr val="000000"/>
                </a:solidFill>
                <a:latin typeface="Calibri" pitchFamily="34" charset="0"/>
                <a:cs typeface="Calibri" pitchFamily="34" charset="0"/>
                <a:sym typeface="Symbol"/>
              </a:rPr>
              <a:t>the lab, we’ll add </a:t>
            </a:r>
            <a:r>
              <a:rPr lang="en-US" sz="2000" b="0" dirty="0" smtClean="0">
                <a:solidFill>
                  <a:srgbClr val="000000"/>
                </a:solidFill>
                <a:latin typeface="Calibri" pitchFamily="34" charset="0"/>
                <a:cs typeface="Calibri" pitchFamily="34" charset="0"/>
                <a:sym typeface="Symbol"/>
              </a:rPr>
              <a:t>a path variable and build variable TIVAWARE_INSTALL</a:t>
            </a:r>
            <a:br>
              <a:rPr lang="en-US" sz="2000" b="0" dirty="0" smtClean="0">
                <a:solidFill>
                  <a:srgbClr val="000000"/>
                </a:solidFill>
                <a:latin typeface="Calibri" pitchFamily="34" charset="0"/>
                <a:cs typeface="Calibri" pitchFamily="34" charset="0"/>
                <a:sym typeface="Symbol"/>
              </a:rPr>
            </a:br>
            <a:r>
              <a:rPr lang="en-US" sz="2000" b="0" dirty="0" smtClean="0">
                <a:solidFill>
                  <a:srgbClr val="000000"/>
                </a:solidFill>
                <a:latin typeface="Calibri" pitchFamily="34" charset="0"/>
                <a:cs typeface="Calibri" pitchFamily="34" charset="0"/>
                <a:sym typeface="Symbol"/>
              </a:rPr>
              <a:t>to </a:t>
            </a:r>
            <a:r>
              <a:rPr lang="en-US" sz="2000" b="0" dirty="0">
                <a:solidFill>
                  <a:srgbClr val="000000"/>
                </a:solidFill>
                <a:latin typeface="Calibri" pitchFamily="34" charset="0"/>
                <a:cs typeface="Calibri" pitchFamily="34" charset="0"/>
                <a:sym typeface="Symbol"/>
              </a:rPr>
              <a:t>be the </a:t>
            </a:r>
            <a:r>
              <a:rPr lang="en-US" sz="2000" b="0" dirty="0" smtClean="0">
                <a:solidFill>
                  <a:srgbClr val="000000"/>
                </a:solidFill>
                <a:latin typeface="Calibri" pitchFamily="34" charset="0"/>
                <a:cs typeface="Calibri" pitchFamily="34" charset="0"/>
                <a:sym typeface="Symbol"/>
              </a:rPr>
              <a:t>path of </a:t>
            </a:r>
            <a:r>
              <a:rPr lang="en-US" sz="2000" b="0" dirty="0">
                <a:solidFill>
                  <a:srgbClr val="000000"/>
                </a:solidFill>
                <a:latin typeface="Calibri" pitchFamily="34" charset="0"/>
                <a:cs typeface="Calibri" pitchFamily="34" charset="0"/>
                <a:sym typeface="Symbol"/>
              </a:rPr>
              <a:t>the </a:t>
            </a:r>
            <a:r>
              <a:rPr lang="en-US" sz="2000" b="0" dirty="0" smtClean="0">
                <a:solidFill>
                  <a:srgbClr val="000000"/>
                </a:solidFill>
                <a:latin typeface="Calibri" pitchFamily="34" charset="0"/>
                <a:cs typeface="Calibri" pitchFamily="34" charset="0"/>
                <a:sym typeface="Symbol"/>
              </a:rPr>
              <a:t>latest </a:t>
            </a:r>
            <a:r>
              <a:rPr lang="en-US" sz="2000" b="0" dirty="0" err="1" smtClean="0">
                <a:solidFill>
                  <a:srgbClr val="000000"/>
                </a:solidFill>
                <a:latin typeface="Calibri" pitchFamily="34" charset="0"/>
                <a:cs typeface="Calibri" pitchFamily="34" charset="0"/>
                <a:sym typeface="Symbol"/>
              </a:rPr>
              <a:t>TivaWare</a:t>
            </a:r>
            <a:r>
              <a:rPr lang="en-US" sz="2000" b="0" dirty="0" smtClean="0">
                <a:solidFill>
                  <a:srgbClr val="000000"/>
                </a:solidFill>
                <a:latin typeface="Calibri" pitchFamily="34" charset="0"/>
                <a:cs typeface="Calibri" pitchFamily="34" charset="0"/>
                <a:sym typeface="Symbol"/>
              </a:rPr>
              <a:t> release</a:t>
            </a:r>
            <a:endParaRPr lang="en-US" sz="1600" b="0" dirty="0" smtClean="0">
              <a:solidFill>
                <a:srgbClr val="000000"/>
              </a:solidFill>
              <a:latin typeface="Calibri" pitchFamily="34" charset="0"/>
              <a:cs typeface="Calibri" pitchFamily="34" charset="0"/>
            </a:endParaRPr>
          </a:p>
        </p:txBody>
      </p:sp>
      <p:sp>
        <p:nvSpPr>
          <p:cNvPr id="9" name="TextBox 8"/>
          <p:cNvSpPr txBox="1"/>
          <p:nvPr/>
        </p:nvSpPr>
        <p:spPr>
          <a:xfrm>
            <a:off x="455866" y="5583069"/>
            <a:ext cx="8371314" cy="1083374"/>
          </a:xfrm>
          <a:prstGeom prst="rect">
            <a:avLst/>
          </a:prstGeom>
          <a:solidFill>
            <a:schemeClr val="accent2"/>
          </a:solidFill>
        </p:spPr>
        <p:txBody>
          <a:bodyPr wrap="square" rtlCol="0" anchor="ctr" anchorCtr="0">
            <a:spAutoFit/>
          </a:bodyPr>
          <a:lstStyle/>
          <a:p>
            <a:pPr marL="342900" indent="-342900">
              <a:spcBef>
                <a:spcPts val="600"/>
              </a:spcBef>
              <a:buClr>
                <a:srgbClr val="0066FF"/>
              </a:buClr>
              <a:buSzPct val="75000"/>
              <a:buFont typeface="Wingdings"/>
              <a:buChar char=""/>
            </a:pPr>
            <a:r>
              <a:rPr lang="en-US" dirty="0" smtClean="0">
                <a:solidFill>
                  <a:srgbClr val="000000"/>
                </a:solidFill>
                <a:latin typeface="Calibri" pitchFamily="34" charset="0"/>
                <a:cs typeface="Calibri" pitchFamily="34" charset="0"/>
              </a:rPr>
              <a:t>Note:</a:t>
            </a:r>
          </a:p>
          <a:p>
            <a:pPr marL="574675" indent="-169863">
              <a:spcBef>
                <a:spcPts val="600"/>
              </a:spcBef>
              <a:buSzPct val="100000"/>
              <a:buFont typeface="Arial" pitchFamily="34" charset="0"/>
              <a:buChar char="•"/>
            </a:pPr>
            <a:r>
              <a:rPr lang="en-US" sz="2000" b="0" dirty="0" smtClean="0">
                <a:solidFill>
                  <a:srgbClr val="000000"/>
                </a:solidFill>
                <a:latin typeface="Calibri" pitchFamily="34" charset="0"/>
                <a:cs typeface="Calibri" pitchFamily="34" charset="0"/>
                <a:sym typeface="Symbol"/>
              </a:rPr>
              <a:t>This method defines the variables as part of the </a:t>
            </a:r>
            <a:r>
              <a:rPr lang="en-US" sz="2000" b="0" u="sng" dirty="0" smtClean="0">
                <a:solidFill>
                  <a:srgbClr val="000000"/>
                </a:solidFill>
                <a:latin typeface="Calibri" pitchFamily="34" charset="0"/>
                <a:cs typeface="Calibri" pitchFamily="34" charset="0"/>
                <a:sym typeface="Symbol"/>
              </a:rPr>
              <a:t>project</a:t>
            </a:r>
            <a:r>
              <a:rPr lang="en-US" sz="2000" b="0" dirty="0" smtClean="0">
                <a:solidFill>
                  <a:srgbClr val="000000"/>
                </a:solidFill>
                <a:latin typeface="Calibri" pitchFamily="34" charset="0"/>
                <a:cs typeface="Calibri" pitchFamily="34" charset="0"/>
                <a:sym typeface="Symbol"/>
              </a:rPr>
              <a:t> (finer control)</a:t>
            </a:r>
          </a:p>
          <a:p>
            <a:pPr marL="574675" indent="-169863">
              <a:spcBef>
                <a:spcPts val="600"/>
              </a:spcBef>
              <a:buSzPct val="100000"/>
              <a:buFont typeface="Arial" pitchFamily="34" charset="0"/>
              <a:buChar char="•"/>
            </a:pPr>
            <a:r>
              <a:rPr lang="en-US" sz="2000" b="0" dirty="0" smtClean="0">
                <a:solidFill>
                  <a:srgbClr val="000000"/>
                </a:solidFill>
                <a:latin typeface="Calibri" pitchFamily="34" charset="0"/>
                <a:cs typeface="Calibri" pitchFamily="34" charset="0"/>
                <a:sym typeface="Symbol"/>
              </a:rPr>
              <a:t>You can also define variables as part of your </a:t>
            </a:r>
            <a:r>
              <a:rPr lang="en-US" sz="2000" b="0" u="sng" dirty="0" smtClean="0">
                <a:solidFill>
                  <a:srgbClr val="000000"/>
                </a:solidFill>
                <a:latin typeface="Calibri" pitchFamily="34" charset="0"/>
                <a:cs typeface="Calibri" pitchFamily="34" charset="0"/>
                <a:sym typeface="Symbol"/>
              </a:rPr>
              <a:t>workspace</a:t>
            </a:r>
            <a:r>
              <a:rPr lang="en-US" sz="2000" b="0" dirty="0" smtClean="0">
                <a:solidFill>
                  <a:srgbClr val="000000"/>
                </a:solidFill>
                <a:latin typeface="Calibri" pitchFamily="34" charset="0"/>
                <a:cs typeface="Calibri" pitchFamily="34" charset="0"/>
                <a:sym typeface="Symbol"/>
              </a:rPr>
              <a:t> (do it once)</a:t>
            </a:r>
          </a:p>
        </p:txBody>
      </p:sp>
    </p:spTree>
    <p:extLst>
      <p:ext uri="{BB962C8B-B14F-4D97-AF65-F5344CB8AC3E}">
        <p14:creationId xmlns:p14="http://schemas.microsoft.com/office/powerpoint/2010/main" val="151097933"/>
      </p:ext>
    </p:extLst>
  </p:cSld>
  <p:clrMapOvr>
    <a:masterClrMapping/>
  </p:clrMapOvr>
  <p:transition>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0">
  <p:cSld>
    <p:bg>
      <p:bgPr>
        <a:solidFill>
          <a:srgbClr val="FFFF66"/>
        </a:solidFill>
        <a:effectLst/>
      </p:bgPr>
    </p:bg>
    <p:spTree>
      <p:nvGrpSpPr>
        <p:cNvPr id="1" name=""/>
        <p:cNvGrpSpPr/>
        <p:nvPr/>
      </p:nvGrpSpPr>
      <p:grpSpPr>
        <a:xfrm>
          <a:off x="0" y="0"/>
          <a:ext cx="0" cy="0"/>
          <a:chOff x="0" y="0"/>
          <a:chExt cx="0" cy="0"/>
        </a:xfrm>
      </p:grpSpPr>
      <p:sp>
        <p:nvSpPr>
          <p:cNvPr id="669704" name="Rectangle 8"/>
          <p:cNvSpPr>
            <a:spLocks noChangeArrowheads="1"/>
          </p:cNvSpPr>
          <p:nvPr/>
        </p:nvSpPr>
        <p:spPr bwMode="auto">
          <a:xfrm>
            <a:off x="304800" y="838200"/>
            <a:ext cx="5562600" cy="5181600"/>
          </a:xfrm>
          <a:prstGeom prst="rect">
            <a:avLst/>
          </a:prstGeom>
          <a:solidFill>
            <a:srgbClr val="92D050"/>
          </a:solidFill>
          <a:ln w="19050">
            <a:solidFill>
              <a:schemeClr val="tx1"/>
            </a:solidFill>
            <a:miter lim="800000"/>
            <a:headEnd type="none" w="sm" len="sm"/>
            <a:tailEnd type="none" w="sm" len="sm"/>
          </a:ln>
          <a:effectLst>
            <a:outerShdw blurRad="50800" dist="88900" dir="2700000" algn="tl" rotWithShape="0">
              <a:prstClr val="black">
                <a:alpha val="40000"/>
              </a:prstClr>
            </a:outerShdw>
          </a:effectLst>
        </p:spPr>
        <p:txBody>
          <a:bodyPr wrap="none" anchor="ctr"/>
          <a:lstStyle/>
          <a:p>
            <a:pPr>
              <a:defRPr/>
            </a:pPr>
            <a:endParaRPr lang="en-US">
              <a:solidFill>
                <a:srgbClr val="000000"/>
              </a:solidFill>
              <a:effectLst>
                <a:outerShdw blurRad="38100" dist="38100" dir="2700000" algn="tl">
                  <a:srgbClr val="000000">
                    <a:alpha val="43137"/>
                  </a:srgbClr>
                </a:outerShdw>
              </a:effectLst>
            </a:endParaRPr>
          </a:p>
        </p:txBody>
      </p:sp>
      <p:sp>
        <p:nvSpPr>
          <p:cNvPr id="41987" name="Rectangle 2"/>
          <p:cNvSpPr>
            <a:spLocks noGrp="1" noChangeArrowheads="1"/>
          </p:cNvSpPr>
          <p:nvPr>
            <p:ph type="title"/>
          </p:nvPr>
        </p:nvSpPr>
        <p:spPr/>
        <p:txBody>
          <a:bodyPr/>
          <a:lstStyle/>
          <a:p>
            <a:r>
              <a:rPr lang="en-US" smtClean="0">
                <a:solidFill>
                  <a:schemeClr val="tx1"/>
                </a:solidFill>
              </a:rPr>
              <a:t>Outline</a:t>
            </a:r>
          </a:p>
        </p:txBody>
      </p:sp>
      <p:sp>
        <p:nvSpPr>
          <p:cNvPr id="41988" name="Text Box 3"/>
          <p:cNvSpPr txBox="1">
            <a:spLocks noChangeArrowheads="1"/>
          </p:cNvSpPr>
          <p:nvPr>
            <p:custDataLst>
              <p:tags r:id="rId2"/>
            </p:custDataLst>
          </p:nvPr>
        </p:nvSpPr>
        <p:spPr bwMode="auto">
          <a:xfrm>
            <a:off x="304800" y="939178"/>
            <a:ext cx="5562600" cy="461665"/>
          </a:xfrm>
          <a:prstGeom prst="rect">
            <a:avLst/>
          </a:prstGeom>
          <a:solidFill>
            <a:schemeClr val="bg1"/>
          </a:solidFill>
          <a:ln w="19050">
            <a:solidFill>
              <a:schemeClr val="tx1"/>
            </a:solid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err="1">
                <a:solidFill>
                  <a:srgbClr val="000000"/>
                </a:solidFill>
              </a:rPr>
              <a:t>MainHighlight</a:t>
            </a:r>
            <a:endParaRPr lang="en-US" sz="2800">
              <a:solidFill>
                <a:srgbClr val="000000"/>
              </a:solidFill>
            </a:endParaRPr>
          </a:p>
        </p:txBody>
      </p:sp>
      <p:sp>
        <p:nvSpPr>
          <p:cNvPr id="41989" name="Text Box 4"/>
          <p:cNvSpPr txBox="1">
            <a:spLocks noChangeArrowheads="1"/>
          </p:cNvSpPr>
          <p:nvPr>
            <p:custDataLst>
              <p:tags r:id="rId3"/>
            </p:custDataLst>
          </p:nvPr>
        </p:nvSpPr>
        <p:spPr bwMode="auto">
          <a:xfrm>
            <a:off x="310202" y="1416316"/>
            <a:ext cx="5543550" cy="461665"/>
          </a:xfrm>
          <a:prstGeom prst="rect">
            <a:avLst/>
          </a:prstGeom>
          <a:noFill/>
          <a:ln w="12700">
            <a:noFill/>
            <a:miter lim="800000"/>
            <a:headEnd type="none" w="sm" len="sm"/>
            <a:tailEnd type="none" w="sm" len="sm"/>
          </a:ln>
        </p:spPr>
        <p:txBody>
          <a:bodyPr tIns="36576" bIns="36576" anchor="ctr" anchorCtr="0">
            <a:spAutoFit/>
          </a:bodyPr>
          <a:lstStyle/>
          <a:p>
            <a:pPr marL="342900" indent="-342900">
              <a:lnSpc>
                <a:spcPct val="90000"/>
              </a:lnSpc>
              <a:spcBef>
                <a:spcPct val="0"/>
              </a:spcBef>
              <a:buClr>
                <a:srgbClr val="0066FF"/>
              </a:buClr>
              <a:buSzPct val="75000"/>
              <a:buFont typeface="Wingdings" pitchFamily="2" charset="2"/>
              <a:buChar char=""/>
            </a:pPr>
            <a:r>
              <a:rPr lang="en-US" sz="2800" err="1">
                <a:solidFill>
                  <a:srgbClr val="000000"/>
                </a:solidFill>
              </a:rPr>
              <a:t>MainNormal</a:t>
            </a:r>
            <a:endParaRPr lang="en-US" sz="2800">
              <a:solidFill>
                <a:srgbClr val="000000"/>
              </a:solidFill>
            </a:endParaRPr>
          </a:p>
        </p:txBody>
      </p:sp>
      <p:sp>
        <p:nvSpPr>
          <p:cNvPr id="41990" name="Text Box 5"/>
          <p:cNvSpPr txBox="1">
            <a:spLocks noChangeArrowheads="1"/>
          </p:cNvSpPr>
          <p:nvPr>
            <p:custDataLst>
              <p:tags r:id="rId4"/>
            </p:custDataLst>
          </p:nvPr>
        </p:nvSpPr>
        <p:spPr bwMode="auto">
          <a:xfrm>
            <a:off x="823273" y="1869205"/>
            <a:ext cx="4600575" cy="387798"/>
          </a:xfrm>
          <a:prstGeom prst="rect">
            <a:avLst/>
          </a:prstGeom>
          <a:solidFill>
            <a:schemeClr val="bg1"/>
          </a:solidFill>
          <a:ln w="19050">
            <a:solidFill>
              <a:schemeClr val="tx1"/>
            </a:solid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err="1">
                <a:solidFill>
                  <a:srgbClr val="000000"/>
                </a:solidFill>
              </a:rPr>
              <a:t>SubHighlight</a:t>
            </a:r>
            <a:endParaRPr lang="en-US">
              <a:solidFill>
                <a:srgbClr val="000000"/>
              </a:solidFill>
            </a:endParaRPr>
          </a:p>
        </p:txBody>
      </p:sp>
      <p:sp>
        <p:nvSpPr>
          <p:cNvPr id="41991" name="Text Box 6"/>
          <p:cNvSpPr txBox="1">
            <a:spLocks noChangeArrowheads="1"/>
          </p:cNvSpPr>
          <p:nvPr>
            <p:custDataLst>
              <p:tags r:id="rId5"/>
            </p:custDataLst>
          </p:nvPr>
        </p:nvSpPr>
        <p:spPr bwMode="auto">
          <a:xfrm>
            <a:off x="819150" y="2254205"/>
            <a:ext cx="4667250" cy="387798"/>
          </a:xfrm>
          <a:prstGeom prst="rect">
            <a:avLst/>
          </a:prstGeom>
          <a:noFill/>
          <a:ln w="12700">
            <a:noFill/>
            <a:miter lim="800000"/>
            <a:headEnd type="none" w="sm" len="sm"/>
            <a:tailEnd type="none" w="sm" len="sm"/>
          </a:ln>
        </p:spPr>
        <p:txBody>
          <a:bodyPr tIns="27432" bIns="27432" anchor="ctr" anchorCtr="0">
            <a:spAutoFit/>
          </a:bodyPr>
          <a:lstStyle/>
          <a:p>
            <a:pPr marL="342900" indent="-342900">
              <a:lnSpc>
                <a:spcPct val="90000"/>
              </a:lnSpc>
              <a:spcBef>
                <a:spcPct val="0"/>
              </a:spcBef>
              <a:buClr>
                <a:srgbClr val="0066FF"/>
              </a:buClr>
              <a:buSzPct val="75000"/>
              <a:buFont typeface="Wingdings" pitchFamily="2" charset="2"/>
              <a:buChar char=""/>
            </a:pPr>
            <a:r>
              <a:rPr lang="en-US" err="1">
                <a:solidFill>
                  <a:srgbClr val="000000"/>
                </a:solidFill>
              </a:rPr>
              <a:t>SubNormal</a:t>
            </a:r>
            <a:endParaRPr lang="en-US">
              <a:solidFill>
                <a:srgbClr val="000000"/>
              </a:solidFill>
            </a:endParaRPr>
          </a:p>
        </p:txBody>
      </p:sp>
      <p:pic>
        <p:nvPicPr>
          <p:cNvPr id="72706" name="Picture 2" descr="C:\Documents and Settings\a0159877\Desktop\250px-Operating_system_placement.svg.png"/>
          <p:cNvPicPr>
            <a:picLocks noChangeAspect="1" noChangeArrowheads="1"/>
          </p:cNvPicPr>
          <p:nvPr/>
        </p:nvPicPr>
        <p:blipFill>
          <a:blip r:embed="rId7" cstate="print"/>
          <a:srcRect/>
          <a:stretch>
            <a:fillRect/>
          </a:stretch>
        </p:blipFill>
        <p:spPr bwMode="auto">
          <a:xfrm>
            <a:off x="6160824" y="1316817"/>
            <a:ext cx="2819400" cy="4172713"/>
          </a:xfrm>
          <a:prstGeom prst="rect">
            <a:avLst/>
          </a:prstGeom>
          <a:noFill/>
        </p:spPr>
      </p:pic>
    </p:spTree>
    <p:custDataLst>
      <p:tags r:id="rId1"/>
    </p:custData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NO LOGOS" val="true"/>
  <p:tag name="ADMINISTRATIVESLIDE" val="True"/>
</p:tagLst>
</file>

<file path=ppt/tags/tag2.xml><?xml version="1.0" encoding="utf-8"?>
<p:tagLst xmlns:a="http://schemas.openxmlformats.org/drawingml/2006/main" xmlns:r="http://schemas.openxmlformats.org/officeDocument/2006/relationships" xmlns:p="http://schemas.openxmlformats.org/presentationml/2006/main">
  <p:tag name="NO LOGOS" val="true"/>
  <p:tag name="ADMINISTRATIVESLIDE" val="True"/>
</p:tagLst>
</file>

<file path=ppt/tags/tag3.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1"/>
</p:tagLst>
</file>

<file path=ppt/tags/tag4.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5.xml><?xml version="1.0" encoding="utf-8"?>
<p:tagLst xmlns:a="http://schemas.openxmlformats.org/drawingml/2006/main" xmlns:r="http://schemas.openxmlformats.org/officeDocument/2006/relationships" xmlns:p="http://schemas.openxmlformats.org/presentationml/2006/main">
  <p:tag name="MILELISTITEM" val=""/>
</p:tagLst>
</file>

<file path=ppt/tags/tag6.xml><?xml version="1.0" encoding="utf-8"?>
<p:tagLst xmlns:a="http://schemas.openxmlformats.org/drawingml/2006/main" xmlns:r="http://schemas.openxmlformats.org/officeDocument/2006/relationships" xmlns:p="http://schemas.openxmlformats.org/presentationml/2006/main">
  <p:tag name="MILELISTITEM" val=""/>
</p:tagLst>
</file>

<file path=ppt/tags/tag7.xml><?xml version="1.0" encoding="utf-8"?>
<p:tagLst xmlns:a="http://schemas.openxmlformats.org/drawingml/2006/main" xmlns:r="http://schemas.openxmlformats.org/officeDocument/2006/relationships" xmlns:p="http://schemas.openxmlformats.org/presentationml/2006/main">
  <p:tag name="MILELISTITEM" val=""/>
</p:tagLst>
</file>

<file path=ppt/tags/tag8.xml><?xml version="1.0" encoding="utf-8"?>
<p:tagLst xmlns:a="http://schemas.openxmlformats.org/drawingml/2006/main" xmlns:r="http://schemas.openxmlformats.org/officeDocument/2006/relationships" xmlns:p="http://schemas.openxmlformats.org/presentationml/2006/main">
  <p:tag name="MILELISTITEM" val=""/>
</p:tagLst>
</file>

<file path=ppt/tags/tag9.xml><?xml version="1.0" encoding="utf-8"?>
<p:tagLst xmlns:a="http://schemas.openxmlformats.org/drawingml/2006/main" xmlns:r="http://schemas.openxmlformats.org/officeDocument/2006/relationships" xmlns:p="http://schemas.openxmlformats.org/presentationml/2006/main">
  <p:tag name="MILELISTITEM" val=""/>
</p:tagLst>
</file>

<file path=ppt/tags/tag10.xml><?xml version="1.0" encoding="utf-8"?>
<p:tagLst xmlns:a="http://schemas.openxmlformats.org/drawingml/2006/main" xmlns:r="http://schemas.openxmlformats.org/officeDocument/2006/relationships" xmlns:p="http://schemas.openxmlformats.org/presentationml/2006/main">
  <p:tag name="MILELISTITEM" val=""/>
</p:tagLst>
</file>

<file path=ppt/tags/tag11.xml><?xml version="1.0" encoding="utf-8"?>
<p:tagLst xmlns:a="http://schemas.openxmlformats.org/drawingml/2006/main" xmlns:r="http://schemas.openxmlformats.org/officeDocument/2006/relationships" xmlns:p="http://schemas.openxmlformats.org/presentationml/2006/main">
  <p:tag name="MILELISTITEM" val=""/>
</p:tagLst>
</file>

<file path=ppt/tags/tag12.xml><?xml version="1.0" encoding="utf-8"?>
<p:tagLst xmlns:a="http://schemas.openxmlformats.org/drawingml/2006/main" xmlns:r="http://schemas.openxmlformats.org/officeDocument/2006/relationships" xmlns:p="http://schemas.openxmlformats.org/presentationml/2006/main">
  <p:tag name="MILELISTITEM" val=""/>
</p:tagLst>
</file>

<file path=ppt/tags/tag13.xml><?xml version="1.0" encoding="utf-8"?>
<p:tagLst xmlns:a="http://schemas.openxmlformats.org/drawingml/2006/main" xmlns:r="http://schemas.openxmlformats.org/officeDocument/2006/relationships" xmlns:p="http://schemas.openxmlformats.org/presentationml/2006/main">
  <p:tag name="MILELISTITEM" val=""/>
</p:tagLst>
</file>

<file path=ppt/tags/tag14.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2"/>
</p:tagLst>
</file>

<file path=ppt/tags/tag15.xml><?xml version="1.0" encoding="utf-8"?>
<p:tagLst xmlns:a="http://schemas.openxmlformats.org/drawingml/2006/main" xmlns:r="http://schemas.openxmlformats.org/officeDocument/2006/relationships" xmlns:p="http://schemas.openxmlformats.org/presentationml/2006/main">
  <p:tag name="MILELISTITEM" val=""/>
</p:tagLst>
</file>

<file path=ppt/tags/tag16.xml><?xml version="1.0" encoding="utf-8"?>
<p:tagLst xmlns:a="http://schemas.openxmlformats.org/drawingml/2006/main" xmlns:r="http://schemas.openxmlformats.org/officeDocument/2006/relationships" xmlns:p="http://schemas.openxmlformats.org/presentationml/2006/main">
  <p:tag name="MILELISTITEM" val="Level_2_Hilite"/>
</p:tagLst>
</file>

<file path=ppt/tags/tag17.xml><?xml version="1.0" encoding="utf-8"?>
<p:tagLst xmlns:a="http://schemas.openxmlformats.org/drawingml/2006/main" xmlns:r="http://schemas.openxmlformats.org/officeDocument/2006/relationships" xmlns:p="http://schemas.openxmlformats.org/presentationml/2006/main">
  <p:tag name="MILELISTITEM" val=""/>
</p:tagLst>
</file>

<file path=ppt/tags/tag18.xml><?xml version="1.0" encoding="utf-8"?>
<p:tagLst xmlns:a="http://schemas.openxmlformats.org/drawingml/2006/main" xmlns:r="http://schemas.openxmlformats.org/officeDocument/2006/relationships" xmlns:p="http://schemas.openxmlformats.org/presentationml/2006/main">
  <p:tag name="MILELISTITEM" val=""/>
</p:tagLst>
</file>

<file path=ppt/tags/tag19.xml><?xml version="1.0" encoding="utf-8"?>
<p:tagLst xmlns:a="http://schemas.openxmlformats.org/drawingml/2006/main" xmlns:r="http://schemas.openxmlformats.org/officeDocument/2006/relationships" xmlns:p="http://schemas.openxmlformats.org/presentationml/2006/main">
  <p:tag name="MILELISTITEM" val=""/>
</p:tagLst>
</file>

<file path=ppt/tags/tag20.xml><?xml version="1.0" encoding="utf-8"?>
<p:tagLst xmlns:a="http://schemas.openxmlformats.org/drawingml/2006/main" xmlns:r="http://schemas.openxmlformats.org/officeDocument/2006/relationships" xmlns:p="http://schemas.openxmlformats.org/presentationml/2006/main">
  <p:tag name="MILELISTITEM" val=""/>
</p:tagLst>
</file>

<file path=ppt/tags/tag21.xml><?xml version="1.0" encoding="utf-8"?>
<p:tagLst xmlns:a="http://schemas.openxmlformats.org/drawingml/2006/main" xmlns:r="http://schemas.openxmlformats.org/officeDocument/2006/relationships" xmlns:p="http://schemas.openxmlformats.org/presentationml/2006/main">
  <p:tag name="MILELISTITEM" val=""/>
</p:tagLst>
</file>

<file path=ppt/tags/tag22.xml><?xml version="1.0" encoding="utf-8"?>
<p:tagLst xmlns:a="http://schemas.openxmlformats.org/drawingml/2006/main" xmlns:r="http://schemas.openxmlformats.org/officeDocument/2006/relationships" xmlns:p="http://schemas.openxmlformats.org/presentationml/2006/main">
  <p:tag name="MILELISTITEM" val=""/>
</p:tagLst>
</file>

<file path=ppt/tags/tag23.xml><?xml version="1.0" encoding="utf-8"?>
<p:tagLst xmlns:a="http://schemas.openxmlformats.org/drawingml/2006/main" xmlns:r="http://schemas.openxmlformats.org/officeDocument/2006/relationships" xmlns:p="http://schemas.openxmlformats.org/presentationml/2006/main">
  <p:tag name="MILELISTITEM" val=""/>
</p:tagLst>
</file>

<file path=ppt/tags/tag24.xml><?xml version="1.0" encoding="utf-8"?>
<p:tagLst xmlns:a="http://schemas.openxmlformats.org/drawingml/2006/main" xmlns:r="http://schemas.openxmlformats.org/officeDocument/2006/relationships" xmlns:p="http://schemas.openxmlformats.org/presentationml/2006/main">
  <p:tag name="MILELISTITEM" val=""/>
</p:tagLst>
</file>

<file path=ppt/tags/tag25.xml><?xml version="1.0" encoding="utf-8"?>
<p:tagLst xmlns:a="http://schemas.openxmlformats.org/drawingml/2006/main" xmlns:r="http://schemas.openxmlformats.org/officeDocument/2006/relationships" xmlns:p="http://schemas.openxmlformats.org/presentationml/2006/main">
  <p:tag name="COLORSCHEMEINDEX" val="4"/>
  <p:tag name="NO LOGOS" val="true"/>
</p:tagLst>
</file>

<file path=ppt/tags/tag26.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2"/>
</p:tagLst>
</file>

<file path=ppt/tags/tag27.xml><?xml version="1.0" encoding="utf-8"?>
<p:tagLst xmlns:a="http://schemas.openxmlformats.org/drawingml/2006/main" xmlns:r="http://schemas.openxmlformats.org/officeDocument/2006/relationships" xmlns:p="http://schemas.openxmlformats.org/presentationml/2006/main">
  <p:tag name="MILELISTITEM" val=""/>
</p:tagLst>
</file>

<file path=ppt/tags/tag28.xml><?xml version="1.0" encoding="utf-8"?>
<p:tagLst xmlns:a="http://schemas.openxmlformats.org/drawingml/2006/main" xmlns:r="http://schemas.openxmlformats.org/officeDocument/2006/relationships" xmlns:p="http://schemas.openxmlformats.org/presentationml/2006/main">
  <p:tag name="MILELISTITEM" val=""/>
</p:tagLst>
</file>

<file path=ppt/tags/tag29.xml><?xml version="1.0" encoding="utf-8"?>
<p:tagLst xmlns:a="http://schemas.openxmlformats.org/drawingml/2006/main" xmlns:r="http://schemas.openxmlformats.org/officeDocument/2006/relationships" xmlns:p="http://schemas.openxmlformats.org/presentationml/2006/main">
  <p:tag name="MILELISTITEM" val="Level_2_Hilite"/>
</p:tagLst>
</file>

<file path=ppt/tags/tag30.xml><?xml version="1.0" encoding="utf-8"?>
<p:tagLst xmlns:a="http://schemas.openxmlformats.org/drawingml/2006/main" xmlns:r="http://schemas.openxmlformats.org/officeDocument/2006/relationships" xmlns:p="http://schemas.openxmlformats.org/presentationml/2006/main">
  <p:tag name="MILELISTITEM" val=""/>
</p:tagLst>
</file>

<file path=ppt/tags/tag31.xml><?xml version="1.0" encoding="utf-8"?>
<p:tagLst xmlns:a="http://schemas.openxmlformats.org/drawingml/2006/main" xmlns:r="http://schemas.openxmlformats.org/officeDocument/2006/relationships" xmlns:p="http://schemas.openxmlformats.org/presentationml/2006/main">
  <p:tag name="MILELISTITEM" val=""/>
</p:tagLst>
</file>

<file path=ppt/tags/tag32.xml><?xml version="1.0" encoding="utf-8"?>
<p:tagLst xmlns:a="http://schemas.openxmlformats.org/drawingml/2006/main" xmlns:r="http://schemas.openxmlformats.org/officeDocument/2006/relationships" xmlns:p="http://schemas.openxmlformats.org/presentationml/2006/main">
  <p:tag name="MILELISTITEM" val=""/>
</p:tagLst>
</file>

<file path=ppt/tags/tag33.xml><?xml version="1.0" encoding="utf-8"?>
<p:tagLst xmlns:a="http://schemas.openxmlformats.org/drawingml/2006/main" xmlns:r="http://schemas.openxmlformats.org/officeDocument/2006/relationships" xmlns:p="http://schemas.openxmlformats.org/presentationml/2006/main">
  <p:tag name="MILELISTITEM" val=""/>
</p:tagLst>
</file>

<file path=ppt/tags/tag34.xml><?xml version="1.0" encoding="utf-8"?>
<p:tagLst xmlns:a="http://schemas.openxmlformats.org/drawingml/2006/main" xmlns:r="http://schemas.openxmlformats.org/officeDocument/2006/relationships" xmlns:p="http://schemas.openxmlformats.org/presentationml/2006/main">
  <p:tag name="MILELISTITEM" val=""/>
</p:tagLst>
</file>

<file path=ppt/tags/tag35.xml><?xml version="1.0" encoding="utf-8"?>
<p:tagLst xmlns:a="http://schemas.openxmlformats.org/drawingml/2006/main" xmlns:r="http://schemas.openxmlformats.org/officeDocument/2006/relationships" xmlns:p="http://schemas.openxmlformats.org/presentationml/2006/main">
  <p:tag name="MILELISTITEM" val=""/>
</p:tagLst>
</file>

<file path=ppt/tags/tag36.xml><?xml version="1.0" encoding="utf-8"?>
<p:tagLst xmlns:a="http://schemas.openxmlformats.org/drawingml/2006/main" xmlns:r="http://schemas.openxmlformats.org/officeDocument/2006/relationships" xmlns:p="http://schemas.openxmlformats.org/presentationml/2006/main">
  <p:tag name="MILELISTITEM" val=""/>
</p:tagLst>
</file>

<file path=ppt/tags/tag37.xml><?xml version="1.0" encoding="utf-8"?>
<p:tagLst xmlns:a="http://schemas.openxmlformats.org/drawingml/2006/main" xmlns:r="http://schemas.openxmlformats.org/officeDocument/2006/relationships" xmlns:p="http://schemas.openxmlformats.org/presentationml/2006/main">
  <p:tag name="NO LOGOS" val="true"/>
</p:tagLst>
</file>

<file path=ppt/tags/tag38.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2"/>
</p:tagLst>
</file>

<file path=ppt/tags/tag39.xml><?xml version="1.0" encoding="utf-8"?>
<p:tagLst xmlns:a="http://schemas.openxmlformats.org/drawingml/2006/main" xmlns:r="http://schemas.openxmlformats.org/officeDocument/2006/relationships" xmlns:p="http://schemas.openxmlformats.org/presentationml/2006/main">
  <p:tag name="MILELISTITEM" val=""/>
</p:tagLst>
</file>

<file path=ppt/tags/tag40.xml><?xml version="1.0" encoding="utf-8"?>
<p:tagLst xmlns:a="http://schemas.openxmlformats.org/drawingml/2006/main" xmlns:r="http://schemas.openxmlformats.org/officeDocument/2006/relationships" xmlns:p="http://schemas.openxmlformats.org/presentationml/2006/main">
  <p:tag name="MILELISTITEM" val=""/>
</p:tagLst>
</file>

<file path=ppt/tags/tag41.xml><?xml version="1.0" encoding="utf-8"?>
<p:tagLst xmlns:a="http://schemas.openxmlformats.org/drawingml/2006/main" xmlns:r="http://schemas.openxmlformats.org/officeDocument/2006/relationships" xmlns:p="http://schemas.openxmlformats.org/presentationml/2006/main">
  <p:tag name="MILELISTITEM" val=""/>
</p:tagLst>
</file>

<file path=ppt/tags/tag42.xml><?xml version="1.0" encoding="utf-8"?>
<p:tagLst xmlns:a="http://schemas.openxmlformats.org/drawingml/2006/main" xmlns:r="http://schemas.openxmlformats.org/officeDocument/2006/relationships" xmlns:p="http://schemas.openxmlformats.org/presentationml/2006/main">
  <p:tag name="MILELISTITEM" val="Level_2_Hilite"/>
</p:tagLst>
</file>

<file path=ppt/tags/tag43.xml><?xml version="1.0" encoding="utf-8"?>
<p:tagLst xmlns:a="http://schemas.openxmlformats.org/drawingml/2006/main" xmlns:r="http://schemas.openxmlformats.org/officeDocument/2006/relationships" xmlns:p="http://schemas.openxmlformats.org/presentationml/2006/main">
  <p:tag name="MILELISTITEM" val=""/>
</p:tagLst>
</file>

<file path=ppt/tags/tag44.xml><?xml version="1.0" encoding="utf-8"?>
<p:tagLst xmlns:a="http://schemas.openxmlformats.org/drawingml/2006/main" xmlns:r="http://schemas.openxmlformats.org/officeDocument/2006/relationships" xmlns:p="http://schemas.openxmlformats.org/presentationml/2006/main">
  <p:tag name="MILELISTITEM" val=""/>
</p:tagLst>
</file>

<file path=ppt/tags/tag45.xml><?xml version="1.0" encoding="utf-8"?>
<p:tagLst xmlns:a="http://schemas.openxmlformats.org/drawingml/2006/main" xmlns:r="http://schemas.openxmlformats.org/officeDocument/2006/relationships" xmlns:p="http://schemas.openxmlformats.org/presentationml/2006/main">
  <p:tag name="MILELISTITEM" val=""/>
</p:tagLst>
</file>

<file path=ppt/tags/tag46.xml><?xml version="1.0" encoding="utf-8"?>
<p:tagLst xmlns:a="http://schemas.openxmlformats.org/drawingml/2006/main" xmlns:r="http://schemas.openxmlformats.org/officeDocument/2006/relationships" xmlns:p="http://schemas.openxmlformats.org/presentationml/2006/main">
  <p:tag name="MILELISTITEM" val=""/>
</p:tagLst>
</file>

<file path=ppt/tags/tag47.xml><?xml version="1.0" encoding="utf-8"?>
<p:tagLst xmlns:a="http://schemas.openxmlformats.org/drawingml/2006/main" xmlns:r="http://schemas.openxmlformats.org/officeDocument/2006/relationships" xmlns:p="http://schemas.openxmlformats.org/presentationml/2006/main">
  <p:tag name="MILELISTITEM" val=""/>
</p:tagLst>
</file>

<file path=ppt/tags/tag48.xml><?xml version="1.0" encoding="utf-8"?>
<p:tagLst xmlns:a="http://schemas.openxmlformats.org/drawingml/2006/main" xmlns:r="http://schemas.openxmlformats.org/officeDocument/2006/relationships" xmlns:p="http://schemas.openxmlformats.org/presentationml/2006/main">
  <p:tag name="MILELISTITEM" val=""/>
</p:tagLst>
</file>

<file path=ppt/tags/tag49.xml><?xml version="1.0" encoding="utf-8"?>
<p:tagLst xmlns:a="http://schemas.openxmlformats.org/drawingml/2006/main" xmlns:r="http://schemas.openxmlformats.org/officeDocument/2006/relationships" xmlns:p="http://schemas.openxmlformats.org/presentationml/2006/main">
  <p:tag name="NO LOGOS" val="true"/>
  <p:tag name="ADMINISTRATIVESLIDE" val="True"/>
</p:tagLst>
</file>

<file path=ppt/tags/tag50.xml><?xml version="1.0" encoding="utf-8"?>
<p:tagLst xmlns:a="http://schemas.openxmlformats.org/drawingml/2006/main" xmlns:r="http://schemas.openxmlformats.org/officeDocument/2006/relationships" xmlns:p="http://schemas.openxmlformats.org/presentationml/2006/main">
  <p:tag name="NO LOGOS" val="true"/>
  <p:tag name="ADMINISTRATIVESLIDE" val="True"/>
</p:tagLst>
</file>

<file path=ppt/tags/tag51.xml><?xml version="1.0" encoding="utf-8"?>
<p:tagLst xmlns:a="http://schemas.openxmlformats.org/drawingml/2006/main" xmlns:r="http://schemas.openxmlformats.org/officeDocument/2006/relationships" xmlns:p="http://schemas.openxmlformats.org/presentationml/2006/main">
  <p:tag name="ADMINISTRATIVESLIDE" val="True"/>
</p:tagLst>
</file>

<file path=ppt/tags/tag52.xml><?xml version="1.0" encoding="utf-8"?>
<p:tagLst xmlns:a="http://schemas.openxmlformats.org/drawingml/2006/main" xmlns:r="http://schemas.openxmlformats.org/officeDocument/2006/relationships" xmlns:p="http://schemas.openxmlformats.org/presentationml/2006/main">
  <p:tag name="ADMINISTRATIVESLIDE" val="True"/>
</p:tagLst>
</file>

<file path=ppt/tags/tag53.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2"/>
</p:tagLst>
</file>

<file path=ppt/tags/tag54.xml><?xml version="1.0" encoding="utf-8"?>
<p:tagLst xmlns:a="http://schemas.openxmlformats.org/drawingml/2006/main" xmlns:r="http://schemas.openxmlformats.org/officeDocument/2006/relationships" xmlns:p="http://schemas.openxmlformats.org/presentationml/2006/main">
  <p:tag name="MILELISTITEM" val=""/>
</p:tagLst>
</file>

<file path=ppt/tags/tag55.xml><?xml version="1.0" encoding="utf-8"?>
<p:tagLst xmlns:a="http://schemas.openxmlformats.org/drawingml/2006/main" xmlns:r="http://schemas.openxmlformats.org/officeDocument/2006/relationships" xmlns:p="http://schemas.openxmlformats.org/presentationml/2006/main">
  <p:tag name="MILELISTITEM" val=""/>
</p:tagLst>
</file>

<file path=ppt/tags/tag56.xml><?xml version="1.0" encoding="utf-8"?>
<p:tagLst xmlns:a="http://schemas.openxmlformats.org/drawingml/2006/main" xmlns:r="http://schemas.openxmlformats.org/officeDocument/2006/relationships" xmlns:p="http://schemas.openxmlformats.org/presentationml/2006/main">
  <p:tag name="MILELISTITEM" val=""/>
</p:tagLst>
</file>

<file path=ppt/tags/tag57.xml><?xml version="1.0" encoding="utf-8"?>
<p:tagLst xmlns:a="http://schemas.openxmlformats.org/drawingml/2006/main" xmlns:r="http://schemas.openxmlformats.org/officeDocument/2006/relationships" xmlns:p="http://schemas.openxmlformats.org/presentationml/2006/main">
  <p:tag name="MILELISTITEM" val=""/>
</p:tagLst>
</file>

<file path=ppt/tags/tag58.xml><?xml version="1.0" encoding="utf-8"?>
<p:tagLst xmlns:a="http://schemas.openxmlformats.org/drawingml/2006/main" xmlns:r="http://schemas.openxmlformats.org/officeDocument/2006/relationships" xmlns:p="http://schemas.openxmlformats.org/presentationml/2006/main">
  <p:tag name="MILELISTITEM" val="Level_2_Hilite"/>
</p:tagLst>
</file>

<file path=ppt/tags/tag59.xml><?xml version="1.0" encoding="utf-8"?>
<p:tagLst xmlns:a="http://schemas.openxmlformats.org/drawingml/2006/main" xmlns:r="http://schemas.openxmlformats.org/officeDocument/2006/relationships" xmlns:p="http://schemas.openxmlformats.org/presentationml/2006/main">
  <p:tag name="MILELISTITEM" val=""/>
</p:tagLst>
</file>

<file path=ppt/tags/tag60.xml><?xml version="1.0" encoding="utf-8"?>
<p:tagLst xmlns:a="http://schemas.openxmlformats.org/drawingml/2006/main" xmlns:r="http://schemas.openxmlformats.org/officeDocument/2006/relationships" xmlns:p="http://schemas.openxmlformats.org/presentationml/2006/main">
  <p:tag name="MILELISTITEM" val=""/>
</p:tagLst>
</file>

<file path=ppt/tags/tag61.xml><?xml version="1.0" encoding="utf-8"?>
<p:tagLst xmlns:a="http://schemas.openxmlformats.org/drawingml/2006/main" xmlns:r="http://schemas.openxmlformats.org/officeDocument/2006/relationships" xmlns:p="http://schemas.openxmlformats.org/presentationml/2006/main">
  <p:tag name="MILELISTITEM" val=""/>
</p:tagLst>
</file>

<file path=ppt/tags/tag62.xml><?xml version="1.0" encoding="utf-8"?>
<p:tagLst xmlns:a="http://schemas.openxmlformats.org/drawingml/2006/main" xmlns:r="http://schemas.openxmlformats.org/officeDocument/2006/relationships" xmlns:p="http://schemas.openxmlformats.org/presentationml/2006/main">
  <p:tag name="MILELISTITEM" val=""/>
</p:tagLst>
</file>

<file path=ppt/tags/tag63.xml><?xml version="1.0" encoding="utf-8"?>
<p:tagLst xmlns:a="http://schemas.openxmlformats.org/drawingml/2006/main" xmlns:r="http://schemas.openxmlformats.org/officeDocument/2006/relationships" xmlns:p="http://schemas.openxmlformats.org/presentationml/2006/main">
  <p:tag name="MILELISTITEM" val=""/>
</p:tagLst>
</file>

<file path=ppt/tags/tag64.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2"/>
</p:tagLst>
</file>

<file path=ppt/tags/tag65.xml><?xml version="1.0" encoding="utf-8"?>
<p:tagLst xmlns:a="http://schemas.openxmlformats.org/drawingml/2006/main" xmlns:r="http://schemas.openxmlformats.org/officeDocument/2006/relationships" xmlns:p="http://schemas.openxmlformats.org/presentationml/2006/main">
  <p:tag name="MILELISTITEM" val=""/>
</p:tagLst>
</file>

<file path=ppt/tags/tag66.xml><?xml version="1.0" encoding="utf-8"?>
<p:tagLst xmlns:a="http://schemas.openxmlformats.org/drawingml/2006/main" xmlns:r="http://schemas.openxmlformats.org/officeDocument/2006/relationships" xmlns:p="http://schemas.openxmlformats.org/presentationml/2006/main">
  <p:tag name="MILELISTITEM" val=""/>
</p:tagLst>
</file>

<file path=ppt/tags/tag67.xml><?xml version="1.0" encoding="utf-8"?>
<p:tagLst xmlns:a="http://schemas.openxmlformats.org/drawingml/2006/main" xmlns:r="http://schemas.openxmlformats.org/officeDocument/2006/relationships" xmlns:p="http://schemas.openxmlformats.org/presentationml/2006/main">
  <p:tag name="MILELISTITEM" val=""/>
</p:tagLst>
</file>

<file path=ppt/tags/tag68.xml><?xml version="1.0" encoding="utf-8"?>
<p:tagLst xmlns:a="http://schemas.openxmlformats.org/drawingml/2006/main" xmlns:r="http://schemas.openxmlformats.org/officeDocument/2006/relationships" xmlns:p="http://schemas.openxmlformats.org/presentationml/2006/main">
  <p:tag name="MILELISTITEM" val=""/>
</p:tagLst>
</file>

<file path=ppt/tags/tag69.xml><?xml version="1.0" encoding="utf-8"?>
<p:tagLst xmlns:a="http://schemas.openxmlformats.org/drawingml/2006/main" xmlns:r="http://schemas.openxmlformats.org/officeDocument/2006/relationships" xmlns:p="http://schemas.openxmlformats.org/presentationml/2006/main">
  <p:tag name="MILELISTITEM" val=""/>
</p:tagLst>
</file>

<file path=ppt/tags/tag70.xml><?xml version="1.0" encoding="utf-8"?>
<p:tagLst xmlns:a="http://schemas.openxmlformats.org/drawingml/2006/main" xmlns:r="http://schemas.openxmlformats.org/officeDocument/2006/relationships" xmlns:p="http://schemas.openxmlformats.org/presentationml/2006/main">
  <p:tag name="MILELISTITEM" val="Level_2_Hilite"/>
</p:tagLst>
</file>

<file path=ppt/tags/tag71.xml><?xml version="1.0" encoding="utf-8"?>
<p:tagLst xmlns:a="http://schemas.openxmlformats.org/drawingml/2006/main" xmlns:r="http://schemas.openxmlformats.org/officeDocument/2006/relationships" xmlns:p="http://schemas.openxmlformats.org/presentationml/2006/main">
  <p:tag name="MILELISTITEM" val=""/>
</p:tagLst>
</file>

<file path=ppt/tags/tag72.xml><?xml version="1.0" encoding="utf-8"?>
<p:tagLst xmlns:a="http://schemas.openxmlformats.org/drawingml/2006/main" xmlns:r="http://schemas.openxmlformats.org/officeDocument/2006/relationships" xmlns:p="http://schemas.openxmlformats.org/presentationml/2006/main">
  <p:tag name="MILELISTITEM" val=""/>
</p:tagLst>
</file>

<file path=ppt/tags/tag73.xml><?xml version="1.0" encoding="utf-8"?>
<p:tagLst xmlns:a="http://schemas.openxmlformats.org/drawingml/2006/main" xmlns:r="http://schemas.openxmlformats.org/officeDocument/2006/relationships" xmlns:p="http://schemas.openxmlformats.org/presentationml/2006/main">
  <p:tag name="MILELISTITEM" val=""/>
</p:tagLst>
</file>

<file path=ppt/tags/tag74.xml><?xml version="1.0" encoding="utf-8"?>
<p:tagLst xmlns:a="http://schemas.openxmlformats.org/drawingml/2006/main" xmlns:r="http://schemas.openxmlformats.org/officeDocument/2006/relationships" xmlns:p="http://schemas.openxmlformats.org/presentationml/2006/main">
  <p:tag name="MILELISTITEM" val=""/>
</p:tagLst>
</file>

<file path=ppt/tags/tag75.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2"/>
</p:tagLst>
</file>

<file path=ppt/tags/tag76.xml><?xml version="1.0" encoding="utf-8"?>
<p:tagLst xmlns:a="http://schemas.openxmlformats.org/drawingml/2006/main" xmlns:r="http://schemas.openxmlformats.org/officeDocument/2006/relationships" xmlns:p="http://schemas.openxmlformats.org/presentationml/2006/main">
  <p:tag name="MILELISTITEM" val=""/>
</p:tagLst>
</file>

<file path=ppt/tags/tag77.xml><?xml version="1.0" encoding="utf-8"?>
<p:tagLst xmlns:a="http://schemas.openxmlformats.org/drawingml/2006/main" xmlns:r="http://schemas.openxmlformats.org/officeDocument/2006/relationships" xmlns:p="http://schemas.openxmlformats.org/presentationml/2006/main">
  <p:tag name="MILELISTITEM" val=""/>
</p:tagLst>
</file>

<file path=ppt/tags/tag78.xml><?xml version="1.0" encoding="utf-8"?>
<p:tagLst xmlns:a="http://schemas.openxmlformats.org/drawingml/2006/main" xmlns:r="http://schemas.openxmlformats.org/officeDocument/2006/relationships" xmlns:p="http://schemas.openxmlformats.org/presentationml/2006/main">
  <p:tag name="MILELISTITEM" val=""/>
</p:tagLst>
</file>

<file path=ppt/tags/tag79.xml><?xml version="1.0" encoding="utf-8"?>
<p:tagLst xmlns:a="http://schemas.openxmlformats.org/drawingml/2006/main" xmlns:r="http://schemas.openxmlformats.org/officeDocument/2006/relationships" xmlns:p="http://schemas.openxmlformats.org/presentationml/2006/main">
  <p:tag name="MILELISTITEM" val=""/>
</p:tagLst>
</file>

<file path=ppt/tags/tag80.xml><?xml version="1.0" encoding="utf-8"?>
<p:tagLst xmlns:a="http://schemas.openxmlformats.org/drawingml/2006/main" xmlns:r="http://schemas.openxmlformats.org/officeDocument/2006/relationships" xmlns:p="http://schemas.openxmlformats.org/presentationml/2006/main">
  <p:tag name="MILELISTITEM" val=""/>
</p:tagLst>
</file>

<file path=ppt/tags/tag81.xml><?xml version="1.0" encoding="utf-8"?>
<p:tagLst xmlns:a="http://schemas.openxmlformats.org/drawingml/2006/main" xmlns:r="http://schemas.openxmlformats.org/officeDocument/2006/relationships" xmlns:p="http://schemas.openxmlformats.org/presentationml/2006/main">
  <p:tag name="MILELISTITEM" val=""/>
</p:tagLst>
</file>

<file path=ppt/tags/tag82.xml><?xml version="1.0" encoding="utf-8"?>
<p:tagLst xmlns:a="http://schemas.openxmlformats.org/drawingml/2006/main" xmlns:r="http://schemas.openxmlformats.org/officeDocument/2006/relationships" xmlns:p="http://schemas.openxmlformats.org/presentationml/2006/main">
  <p:tag name="MILELISTITEM" val="Level_2_Hilite"/>
</p:tagLst>
</file>

<file path=ppt/tags/tag83.xml><?xml version="1.0" encoding="utf-8"?>
<p:tagLst xmlns:a="http://schemas.openxmlformats.org/drawingml/2006/main" xmlns:r="http://schemas.openxmlformats.org/officeDocument/2006/relationships" xmlns:p="http://schemas.openxmlformats.org/presentationml/2006/main">
  <p:tag name="MILELISTITEM" val=""/>
</p:tagLst>
</file>

<file path=ppt/tags/tag84.xml><?xml version="1.0" encoding="utf-8"?>
<p:tagLst xmlns:a="http://schemas.openxmlformats.org/drawingml/2006/main" xmlns:r="http://schemas.openxmlformats.org/officeDocument/2006/relationships" xmlns:p="http://schemas.openxmlformats.org/presentationml/2006/main">
  <p:tag name="MILELISTITEM" val=""/>
</p:tagLst>
</file>

<file path=ppt/tags/tag85.xml><?xml version="1.0" encoding="utf-8"?>
<p:tagLst xmlns:a="http://schemas.openxmlformats.org/drawingml/2006/main" xmlns:r="http://schemas.openxmlformats.org/officeDocument/2006/relationships" xmlns:p="http://schemas.openxmlformats.org/presentationml/2006/main">
  <p:tag name="MILELISTITEM" val=""/>
</p:tagLst>
</file>

<file path=ppt/tags/tag86.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1"/>
</p:tagLst>
</file>

<file path=ppt/tags/tag87.xml><?xml version="1.0" encoding="utf-8"?>
<p:tagLst xmlns:a="http://schemas.openxmlformats.org/drawingml/2006/main" xmlns:r="http://schemas.openxmlformats.org/officeDocument/2006/relationships" xmlns:p="http://schemas.openxmlformats.org/presentationml/2006/main">
  <p:tag name="MILELISTITEM" val=""/>
</p:tagLst>
</file>

<file path=ppt/tags/tag88.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89.xml><?xml version="1.0" encoding="utf-8"?>
<p:tagLst xmlns:a="http://schemas.openxmlformats.org/drawingml/2006/main" xmlns:r="http://schemas.openxmlformats.org/officeDocument/2006/relationships" xmlns:p="http://schemas.openxmlformats.org/presentationml/2006/main">
  <p:tag name="MILELISTITEM" val=""/>
</p:tagLst>
</file>

<file path=ppt/tags/tag90.xml><?xml version="1.0" encoding="utf-8"?>
<p:tagLst xmlns:a="http://schemas.openxmlformats.org/drawingml/2006/main" xmlns:r="http://schemas.openxmlformats.org/officeDocument/2006/relationships" xmlns:p="http://schemas.openxmlformats.org/presentationml/2006/main">
  <p:tag name="MILELISTITEM" val=""/>
</p:tagLst>
</file>

<file path=ppt/tags/tag91.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1"/>
</p:tagLst>
</file>

<file path=ppt/tags/tag92.xml><?xml version="1.0" encoding="utf-8"?>
<p:tagLst xmlns:a="http://schemas.openxmlformats.org/drawingml/2006/main" xmlns:r="http://schemas.openxmlformats.org/officeDocument/2006/relationships" xmlns:p="http://schemas.openxmlformats.org/presentationml/2006/main">
  <p:tag name="MILELISTITEM" val=""/>
</p:tagLst>
</file>

<file path=ppt/tags/tag93.xml><?xml version="1.0" encoding="utf-8"?>
<p:tagLst xmlns:a="http://schemas.openxmlformats.org/drawingml/2006/main" xmlns:r="http://schemas.openxmlformats.org/officeDocument/2006/relationships" xmlns:p="http://schemas.openxmlformats.org/presentationml/2006/main">
  <p:tag name="MILELISTITEM" val=""/>
</p:tagLst>
</file>

<file path=ppt/tags/tag94.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95.xml><?xml version="1.0" encoding="utf-8"?>
<p:tagLst xmlns:a="http://schemas.openxmlformats.org/drawingml/2006/main" xmlns:r="http://schemas.openxmlformats.org/officeDocument/2006/relationships" xmlns:p="http://schemas.openxmlformats.org/presentationml/2006/main">
  <p:tag name="MILELISTITEM" val=""/>
</p:tagLst>
</file>

<file path=ppt/tags/tag96.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 name="MILESTONESLIDE" val="True"/>
  <p:tag name="MILESTATUS" val="PresentationStyle"/>
  <p:tag name="MILESTONELEVEL" val="1"/>
</p:tagLst>
</file>

<file path=ppt/tags/tag97.xml><?xml version="1.0" encoding="utf-8"?>
<p:tagLst xmlns:a="http://schemas.openxmlformats.org/drawingml/2006/main" xmlns:r="http://schemas.openxmlformats.org/officeDocument/2006/relationships" xmlns:p="http://schemas.openxmlformats.org/presentationml/2006/main">
  <p:tag name="MILELISTITEM" val=""/>
</p:tagLst>
</file>

<file path=ppt/tags/tag98.xml><?xml version="1.0" encoding="utf-8"?>
<p:tagLst xmlns:a="http://schemas.openxmlformats.org/drawingml/2006/main" xmlns:r="http://schemas.openxmlformats.org/officeDocument/2006/relationships" xmlns:p="http://schemas.openxmlformats.org/presentationml/2006/main">
  <p:tag name="MILELISTITEM" val=""/>
</p:tagLst>
</file>

<file path=ppt/tags/tag99.xml><?xml version="1.0" encoding="utf-8"?>
<p:tagLst xmlns:a="http://schemas.openxmlformats.org/drawingml/2006/main" xmlns:r="http://schemas.openxmlformats.org/officeDocument/2006/relationships" xmlns:p="http://schemas.openxmlformats.org/presentationml/2006/main">
  <p:tag name="MILELISTITEM" val=""/>
</p:tagLst>
</file>

<file path=ppt/tags/tag100.xml><?xml version="1.0" encoding="utf-8"?>
<p:tagLst xmlns:a="http://schemas.openxmlformats.org/drawingml/2006/main" xmlns:r="http://schemas.openxmlformats.org/officeDocument/2006/relationships" xmlns:p="http://schemas.openxmlformats.org/presentationml/2006/main">
  <p:tag name="MILELISTITEM" val=""/>
</p:tagLst>
</file>

<file path=ppt/tags/tag101.xml><?xml version="1.0" encoding="utf-8"?>
<p:tagLst xmlns:a="http://schemas.openxmlformats.org/drawingml/2006/main" xmlns:r="http://schemas.openxmlformats.org/officeDocument/2006/relationships" xmlns:p="http://schemas.openxmlformats.org/presentationml/2006/main">
  <p:tag name="MILELISTITEM" val=""/>
</p:tagLst>
</file>

<file path=ppt/tags/tag102.xml><?xml version="1.0" encoding="utf-8"?>
<p:tagLst xmlns:a="http://schemas.openxmlformats.org/drawingml/2006/main" xmlns:r="http://schemas.openxmlformats.org/officeDocument/2006/relationships" xmlns:p="http://schemas.openxmlformats.org/presentationml/2006/main">
  <p:tag name="MILELISTITEM" val=""/>
</p:tagLst>
</file>

<file path=ppt/tags/tag103.xml><?xml version="1.0" encoding="utf-8"?>
<p:tagLst xmlns:a="http://schemas.openxmlformats.org/drawingml/2006/main" xmlns:r="http://schemas.openxmlformats.org/officeDocument/2006/relationships" xmlns:p="http://schemas.openxmlformats.org/presentationml/2006/main">
  <p:tag name="MILELISTITEM" val=""/>
</p:tagLst>
</file>

<file path=ppt/tags/tag104.xml><?xml version="1.0" encoding="utf-8"?>
<p:tagLst xmlns:a="http://schemas.openxmlformats.org/drawingml/2006/main" xmlns:r="http://schemas.openxmlformats.org/officeDocument/2006/relationships" xmlns:p="http://schemas.openxmlformats.org/presentationml/2006/main">
  <p:tag name="MILELISTITEM" val=""/>
</p:tagLst>
</file>

<file path=ppt/tags/tag105.xml><?xml version="1.0" encoding="utf-8"?>
<p:tagLst xmlns:a="http://schemas.openxmlformats.org/drawingml/2006/main" xmlns:r="http://schemas.openxmlformats.org/officeDocument/2006/relationships" xmlns:p="http://schemas.openxmlformats.org/presentationml/2006/main">
  <p:tag name="MILELISTITEM" val=""/>
</p:tagLst>
</file>

<file path=ppt/tags/tag106.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107.xml><?xml version="1.0" encoding="utf-8"?>
<p:tagLst xmlns:a="http://schemas.openxmlformats.org/drawingml/2006/main" xmlns:r="http://schemas.openxmlformats.org/officeDocument/2006/relationships" xmlns:p="http://schemas.openxmlformats.org/presentationml/2006/main">
  <p:tag name="COLORSCHEMEINDEX" val="4"/>
</p:tagLst>
</file>

<file path=ppt/tags/tag108.xml><?xml version="1.0" encoding="utf-8"?>
<p:tagLst xmlns:a="http://schemas.openxmlformats.org/drawingml/2006/main" xmlns:r="http://schemas.openxmlformats.org/officeDocument/2006/relationships" xmlns:p="http://schemas.openxmlformats.org/presentationml/2006/main">
  <p:tag name="COLORSCHEMEINDEX" val="4"/>
</p:tagLst>
</file>

<file path=ppt/tags/tag109.xml><?xml version="1.0" encoding="utf-8"?>
<p:tagLst xmlns:a="http://schemas.openxmlformats.org/drawingml/2006/main" xmlns:r="http://schemas.openxmlformats.org/officeDocument/2006/relationships" xmlns:p="http://schemas.openxmlformats.org/presentationml/2006/main">
  <p:tag name="ADMINISTRATIVESLIDE" val="True"/>
  <p:tag name="NO LOGOS" val="true"/>
</p:tagLst>
</file>

<file path=ppt/tags/tag110.xml><?xml version="1.0" encoding="utf-8"?>
<p:tagLst xmlns:a="http://schemas.openxmlformats.org/drawingml/2006/main" xmlns:r="http://schemas.openxmlformats.org/officeDocument/2006/relationships" xmlns:p="http://schemas.openxmlformats.org/presentationml/2006/main">
  <p:tag name="COLORSCHEMEINDEX" val="4"/>
</p:tagLst>
</file>

<file path=ppt/tags/tag111.xml><?xml version="1.0" encoding="utf-8"?>
<p:tagLst xmlns:a="http://schemas.openxmlformats.org/drawingml/2006/main" xmlns:r="http://schemas.openxmlformats.org/officeDocument/2006/relationships" xmlns:p="http://schemas.openxmlformats.org/presentationml/2006/main">
  <p:tag name="COLORSCHEMEINDEX" val="4"/>
</p:tagLst>
</file>

<file path=ppt/tags/tag112.xml><?xml version="1.0" encoding="utf-8"?>
<p:tagLst xmlns:a="http://schemas.openxmlformats.org/drawingml/2006/main" xmlns:r="http://schemas.openxmlformats.org/officeDocument/2006/relationships" xmlns:p="http://schemas.openxmlformats.org/presentationml/2006/main">
  <p:tag name="COLORSCHEMEINDEX" val="4"/>
</p:tagLst>
</file>

<file path=ppt/tags/tag113.xml><?xml version="1.0" encoding="utf-8"?>
<p:tagLst xmlns:a="http://schemas.openxmlformats.org/drawingml/2006/main" xmlns:r="http://schemas.openxmlformats.org/officeDocument/2006/relationships" xmlns:p="http://schemas.openxmlformats.org/presentationml/2006/main">
  <p:tag name="COLORSCHEMEINDEX" val="4"/>
</p:tagLst>
</file>

<file path=ppt/tags/tag114.xml><?xml version="1.0" encoding="utf-8"?>
<p:tagLst xmlns:a="http://schemas.openxmlformats.org/drawingml/2006/main" xmlns:r="http://schemas.openxmlformats.org/officeDocument/2006/relationships" xmlns:p="http://schemas.openxmlformats.org/presentationml/2006/main">
  <p:tag name="COLORSCHEMEINDEX" val="4"/>
</p:tagLst>
</file>

<file path=ppt/tags/tag115.xml><?xml version="1.0" encoding="utf-8"?>
<p:tagLst xmlns:a="http://schemas.openxmlformats.org/drawingml/2006/main" xmlns:r="http://schemas.openxmlformats.org/officeDocument/2006/relationships" xmlns:p="http://schemas.openxmlformats.org/presentationml/2006/main">
  <p:tag name="COLORSCHEMEINDEX" val="4"/>
</p:tagLst>
</file>

<file path=ppt/tags/tag116.xml><?xml version="1.0" encoding="utf-8"?>
<p:tagLst xmlns:a="http://schemas.openxmlformats.org/drawingml/2006/main" xmlns:r="http://schemas.openxmlformats.org/officeDocument/2006/relationships" xmlns:p="http://schemas.openxmlformats.org/presentationml/2006/main">
  <p:tag name="NO LOGOS" val="true"/>
</p:tagLst>
</file>

<file path=ppt/tags/tag117.xml><?xml version="1.0" encoding="utf-8"?>
<p:tagLst xmlns:a="http://schemas.openxmlformats.org/drawingml/2006/main" xmlns:r="http://schemas.openxmlformats.org/officeDocument/2006/relationships" xmlns:p="http://schemas.openxmlformats.org/presentationml/2006/main">
  <p:tag name="MILESTONETEMPLATEMODE" val="Indented_Single"/>
  <p:tag name="MILESTONETEMPLATEVERSION" val="2.3"/>
</p:tagLst>
</file>

<file path=ppt/tags/tag118.xml><?xml version="1.0" encoding="utf-8"?>
<p:tagLst xmlns:a="http://schemas.openxmlformats.org/drawingml/2006/main" xmlns:r="http://schemas.openxmlformats.org/officeDocument/2006/relationships" xmlns:p="http://schemas.openxmlformats.org/presentationml/2006/main">
  <p:tag name="MILELISTITEM" val="Level_1_Hilite"/>
</p:tagLst>
</file>

<file path=ppt/tags/tag119.xml><?xml version="1.0" encoding="utf-8"?>
<p:tagLst xmlns:a="http://schemas.openxmlformats.org/drawingml/2006/main" xmlns:r="http://schemas.openxmlformats.org/officeDocument/2006/relationships" xmlns:p="http://schemas.openxmlformats.org/presentationml/2006/main">
  <p:tag name="MILELISTITEM" val="Level_1_Normal"/>
</p:tagLst>
</file>

<file path=ppt/tags/tag120.xml><?xml version="1.0" encoding="utf-8"?>
<p:tagLst xmlns:a="http://schemas.openxmlformats.org/drawingml/2006/main" xmlns:r="http://schemas.openxmlformats.org/officeDocument/2006/relationships" xmlns:p="http://schemas.openxmlformats.org/presentationml/2006/main">
  <p:tag name="MILELISTITEM" val="Level_2_Hilite"/>
</p:tagLst>
</file>

<file path=ppt/tags/tag121.xml><?xml version="1.0" encoding="utf-8"?>
<p:tagLst xmlns:a="http://schemas.openxmlformats.org/drawingml/2006/main" xmlns:r="http://schemas.openxmlformats.org/officeDocument/2006/relationships" xmlns:p="http://schemas.openxmlformats.org/presentationml/2006/main">
  <p:tag name="MILELISTITEM" val="Level_2_Normal"/>
</p:tagLst>
</file>

<file path=ppt/theme/theme1.xml><?xml version="1.0" encoding="utf-8"?>
<a:theme xmlns:a="http://schemas.openxmlformats.org/drawingml/2006/main" name="TI Theme 2009">
  <a:themeElements>
    <a:clrScheme name="1_FinalPowerpoint 1">
      <a:dk1>
        <a:srgbClr val="000000"/>
      </a:dk1>
      <a:lt1>
        <a:srgbClr val="FFFFFF"/>
      </a:lt1>
      <a:dk2>
        <a:srgbClr val="FF0000"/>
      </a:dk2>
      <a:lt2>
        <a:srgbClr val="808080"/>
      </a:lt2>
      <a:accent1>
        <a:srgbClr val="AAAAAA"/>
      </a:accent1>
      <a:accent2>
        <a:srgbClr val="000000"/>
      </a:accent2>
      <a:accent3>
        <a:srgbClr val="FFFFFF"/>
      </a:accent3>
      <a:accent4>
        <a:srgbClr val="000000"/>
      </a:accent4>
      <a:accent5>
        <a:srgbClr val="D2D2D2"/>
      </a:accent5>
      <a:accent6>
        <a:srgbClr val="000000"/>
      </a:accent6>
      <a:hlink>
        <a:srgbClr val="FF0000"/>
      </a:hlink>
      <a:folHlink>
        <a:srgbClr val="AAAAAA"/>
      </a:folHlink>
    </a:clrScheme>
    <a:fontScheme name="1_FinalPowerpoi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alpha val="92157"/>
          </a:srgb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1_FinalPowerpoint 1">
        <a:dk1>
          <a:srgbClr val="000000"/>
        </a:dk1>
        <a:lt1>
          <a:srgbClr val="FFFFFF"/>
        </a:lt1>
        <a:dk2>
          <a:srgbClr val="FF0000"/>
        </a:dk2>
        <a:lt2>
          <a:srgbClr val="808080"/>
        </a:lt2>
        <a:accent1>
          <a:srgbClr val="AAAAAA"/>
        </a:accent1>
        <a:accent2>
          <a:srgbClr val="000000"/>
        </a:accent2>
        <a:accent3>
          <a:srgbClr val="FFFFFF"/>
        </a:accent3>
        <a:accent4>
          <a:srgbClr val="000000"/>
        </a:accent4>
        <a:accent5>
          <a:srgbClr val="D2D2D2"/>
        </a:accent5>
        <a:accent6>
          <a:srgbClr val="000000"/>
        </a:accent6>
        <a:hlink>
          <a:srgbClr val="FF0000"/>
        </a:hlink>
        <a:folHlink>
          <a:srgbClr val="AAAAAA"/>
        </a:folHlink>
      </a:clrScheme>
      <a:clrMap bg1="lt1" tx1="dk1" bg2="lt2" tx2="dk2" accent1="accent1" accent2="accent2" accent3="accent3" accent4="accent4" accent5="accent5" accent6="accent6" hlink="hlink" folHlink="folHlink"/>
    </a:extraClrScheme>
    <a:extraClrScheme>
      <a:clrScheme name="1_FinalPowerpoint 2">
        <a:dk1>
          <a:srgbClr val="AAAAAA"/>
        </a:dk1>
        <a:lt1>
          <a:srgbClr val="FFFFFF"/>
        </a:lt1>
        <a:dk2>
          <a:srgbClr val="000000"/>
        </a:dk2>
        <a:lt2>
          <a:srgbClr val="FFFFFF"/>
        </a:lt2>
        <a:accent1>
          <a:srgbClr val="AAAAAA"/>
        </a:accent1>
        <a:accent2>
          <a:srgbClr val="FFFFFF"/>
        </a:accent2>
        <a:accent3>
          <a:srgbClr val="AAAAAA"/>
        </a:accent3>
        <a:accent4>
          <a:srgbClr val="DADADA"/>
        </a:accent4>
        <a:accent5>
          <a:srgbClr val="D2D2D2"/>
        </a:accent5>
        <a:accent6>
          <a:srgbClr val="E7E7E7"/>
        </a:accent6>
        <a:hlink>
          <a:srgbClr val="AAAAAA"/>
        </a:hlink>
        <a:folHlink>
          <a:srgbClr val="FF0000"/>
        </a:folHlink>
      </a:clrScheme>
      <a:clrMap bg1="dk2" tx1="lt1" bg2="dk1" tx2="lt2" accent1="accent1" accent2="accent2" accent3="accent3" accent4="accent4" accent5="accent5" accent6="accent6" hlink="hlink" folHlink="folHlink"/>
    </a:extraClrScheme>
    <a:extraClrScheme>
      <a:clrScheme name="1_FinalPowerpoint 3">
        <a:dk1>
          <a:srgbClr val="808080"/>
        </a:dk1>
        <a:lt1>
          <a:srgbClr val="FFFFFF"/>
        </a:lt1>
        <a:dk2>
          <a:srgbClr val="AAAAAA"/>
        </a:dk2>
        <a:lt2>
          <a:srgbClr val="000000"/>
        </a:lt2>
        <a:accent1>
          <a:srgbClr val="000000"/>
        </a:accent1>
        <a:accent2>
          <a:srgbClr val="AAAAAA"/>
        </a:accent2>
        <a:accent3>
          <a:srgbClr val="D2D2D2"/>
        </a:accent3>
        <a:accent4>
          <a:srgbClr val="DADADA"/>
        </a:accent4>
        <a:accent5>
          <a:srgbClr val="AAAAAA"/>
        </a:accent5>
        <a:accent6>
          <a:srgbClr val="9A9A9A"/>
        </a:accent6>
        <a:hlink>
          <a:srgbClr val="FF0000"/>
        </a:hlink>
        <a:folHlink>
          <a:srgbClr val="FFFFFF"/>
        </a:folHlink>
      </a:clrScheme>
      <a:clrMap bg1="dk2" tx1="lt1" bg2="dk1" tx2="lt2" accent1="accent1" accent2="accent2" accent3="accent3" accent4="accent4" accent5="accent5" accent6="accent6" hlink="hlink" folHlink="folHlink"/>
    </a:extraClrScheme>
    <a:extraClrScheme>
      <a:clrScheme name="1_FinalPowerpoint 4">
        <a:dk1>
          <a:srgbClr val="000000"/>
        </a:dk1>
        <a:lt1>
          <a:srgbClr val="FF0000"/>
        </a:lt1>
        <a:dk2>
          <a:srgbClr val="FFFFFF"/>
        </a:dk2>
        <a:lt2>
          <a:srgbClr val="000000"/>
        </a:lt2>
        <a:accent1>
          <a:srgbClr val="AAAAAA"/>
        </a:accent1>
        <a:accent2>
          <a:srgbClr val="FFFFFF"/>
        </a:accent2>
        <a:accent3>
          <a:srgbClr val="FFAAAA"/>
        </a:accent3>
        <a:accent4>
          <a:srgbClr val="000000"/>
        </a:accent4>
        <a:accent5>
          <a:srgbClr val="D2D2D2"/>
        </a:accent5>
        <a:accent6>
          <a:srgbClr val="E7E7E7"/>
        </a:accent6>
        <a:hlink>
          <a:srgbClr val="000000"/>
        </a:hlink>
        <a:folHlink>
          <a:srgbClr val="AAAAA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toTheme">
  <a:themeElements>
    <a:clrScheme name="TTO standard">
      <a:dk1>
        <a:srgbClr val="000000"/>
      </a:dk1>
      <a:lt1>
        <a:srgbClr val="FFFFFF"/>
      </a:lt1>
      <a:dk2>
        <a:srgbClr val="FF0000"/>
      </a:dk2>
      <a:lt2>
        <a:srgbClr val="FFFFFF"/>
      </a:lt2>
      <a:accent1>
        <a:srgbClr val="F9F9F9"/>
      </a:accent1>
      <a:accent2>
        <a:srgbClr val="DEDEDE"/>
      </a:accent2>
      <a:accent3>
        <a:srgbClr val="C7C7C7"/>
      </a:accent3>
      <a:accent4>
        <a:srgbClr val="6699FF"/>
      </a:accent4>
      <a:accent5>
        <a:srgbClr val="FF0000"/>
      </a:accent5>
      <a:accent6>
        <a:srgbClr val="FFFFFF"/>
      </a:accent6>
      <a:hlink>
        <a:srgbClr val="C7C7C7"/>
      </a:hlink>
      <a:folHlink>
        <a:srgbClr val="6699FF"/>
      </a:folHlink>
    </a:clrScheme>
    <a:fontScheme name="tt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rtlCol="0" anchor="ctr" anchorCtr="0" compatLnSpc="1">
        <a:prstTxWarp prst="textNoShape">
          <a:avLst/>
        </a:prstTxWarp>
      </a:bodyPr>
      <a:lstStyle>
        <a:defPPr marL="0" marR="0" indent="0" algn="l" defTabSz="914400" rtl="0" eaLnBrk="0" fontAlgn="base" latinLnBrk="0" hangingPunct="0">
          <a:lnSpc>
            <a:spcPct val="80000"/>
          </a:lnSpc>
          <a:spcBef>
            <a:spcPct val="50000"/>
          </a:spcBef>
          <a:spcAft>
            <a:spcPct val="0"/>
          </a:spcAft>
          <a:buClrTx/>
          <a:buSzTx/>
          <a:buFontTx/>
          <a:buNone/>
          <a:tabLst/>
          <a:defRPr kumimoji="0" sz="2800" b="1" i="0" u="none" strike="noStrike" cap="none" normalizeH="0" baseline="0" dirty="0" smtClean="0">
            <a:ln>
              <a:noFill/>
            </a:ln>
            <a:solidFill>
              <a:schemeClr val="dk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80000"/>
          </a:lnSpc>
          <a:spcBef>
            <a:spcPct val="50000"/>
          </a:spcBef>
          <a:spcAft>
            <a:spcPct val="0"/>
          </a:spcAft>
          <a:buClrTx/>
          <a:buSzTx/>
          <a:buFontTx/>
          <a:buNone/>
          <a:tabLst/>
          <a:defRPr kumimoji="0" lang="en-US" sz="2800" b="1" i="0" u="none" strike="noStrike" cap="none" normalizeH="0" baseline="0" smtClean="0">
            <a:ln>
              <a:noFill/>
            </a:ln>
            <a:solidFill>
              <a:schemeClr val="tx1"/>
            </a:solidFill>
            <a:effectLst>
              <a:outerShdw blurRad="38100" dist="38100" dir="2700000" algn="tl">
                <a:srgbClr val="000000">
                  <a:alpha val="43137"/>
                </a:srgbClr>
              </a:outerShdw>
            </a:effectLst>
            <a:latin typeface="Arial Narrow" pitchFamily="34" charset="0"/>
          </a:defRPr>
        </a:defPPr>
      </a:lstStyle>
    </a:lnDef>
    <a:txDef>
      <a:spPr>
        <a:noFill/>
      </a:spPr>
      <a:bodyPr wrap="square" rtlCol="0" anchor="ctr" anchorCtr="0">
        <a:spAutoFit/>
      </a:bodyPr>
      <a:lstStyle>
        <a:defPPr>
          <a:defRPr dirty="0" smtClean="0">
            <a:solidFill>
              <a:schemeClr val="dk1"/>
            </a:solidFill>
            <a:effectLst/>
          </a:defRPr>
        </a:defPPr>
      </a:lstStyle>
    </a:txDef>
  </a:objectDefaults>
  <a:extraClrSchemeLst>
    <a:extraClrScheme>
      <a:clrScheme name="TTO standard">
        <a:dk1>
          <a:srgbClr val="000000"/>
        </a:dk1>
        <a:lt1>
          <a:srgbClr val="FFFFFF"/>
        </a:lt1>
        <a:dk2>
          <a:srgbClr val="FF0000"/>
        </a:dk2>
        <a:lt2>
          <a:srgbClr val="FFFFFF"/>
        </a:lt2>
        <a:accent1>
          <a:srgbClr val="F9F9F9"/>
        </a:accent1>
        <a:accent2>
          <a:srgbClr val="DEDEDE"/>
        </a:accent2>
        <a:accent3>
          <a:srgbClr val="C7C7C7"/>
        </a:accent3>
        <a:accent4>
          <a:srgbClr val="6699FF"/>
        </a:accent4>
        <a:accent5>
          <a:srgbClr val="FF0000"/>
        </a:accent5>
        <a:accent6>
          <a:srgbClr val="FFFFFF"/>
        </a:accent6>
        <a:hlink>
          <a:srgbClr val="C7C7C7"/>
        </a:hlink>
        <a:folHlink>
          <a:srgbClr val="6699FF"/>
        </a:folHlink>
      </a:clrScheme>
      <a:clrMap bg1="lt1" tx1="dk1" bg2="lt2" tx2="dk2" accent1="accent1" accent2="accent2" accent3="accent3" accent4="accent4" accent5="accent5" accent6="accent6" hlink="hlink" folHlink="folHlink"/>
    </a:extraClrScheme>
    <a:extraClrScheme>
      <a:clrScheme name="TI standard">
        <a:dk1>
          <a:srgbClr val="000000"/>
        </a:dk1>
        <a:lt1>
          <a:srgbClr val="FFFFFF"/>
        </a:lt1>
        <a:dk2>
          <a:srgbClr val="DE0000"/>
        </a:dk2>
        <a:lt2>
          <a:srgbClr val="808080"/>
        </a:lt2>
        <a:accent1>
          <a:srgbClr val="DE0000"/>
        </a:accent1>
        <a:accent2>
          <a:srgbClr val="AEAEAE"/>
        </a:accent2>
        <a:accent3>
          <a:srgbClr val="117788"/>
        </a:accent3>
        <a:accent4>
          <a:srgbClr val="404040"/>
        </a:accent4>
        <a:accent5>
          <a:srgbClr val="7F7F7F"/>
        </a:accent5>
        <a:accent6>
          <a:srgbClr val="32B4CE"/>
        </a:accent6>
        <a:hlink>
          <a:srgbClr val="DE0000"/>
        </a:hlink>
        <a:folHlink>
          <a:srgbClr val="AAAAAA"/>
        </a:folHlink>
      </a:clrScheme>
      <a:clrMap bg1="lt1" tx1="dk1" bg2="lt2" tx2="dk2" accent1="accent1" accent2="accent2" accent3="accent3" accent4="accent4" accent5="accent5" accent6="accent6" hlink="hlink" folHlink="folHlink"/>
    </a:extraClrScheme>
    <a:extraClrScheme>
      <a:clrScheme name="tto 1">
        <a:dk1>
          <a:srgbClr val="000000"/>
        </a:dk1>
        <a:lt1>
          <a:srgbClr val="FEFFFF"/>
        </a:lt1>
        <a:dk2>
          <a:srgbClr val="000000"/>
        </a:dk2>
        <a:lt2>
          <a:srgbClr val="FEFFFF"/>
        </a:lt2>
        <a:accent1>
          <a:srgbClr val="F6F6F6"/>
        </a:accent1>
        <a:accent2>
          <a:srgbClr val="AFAFAF"/>
        </a:accent2>
        <a:accent3>
          <a:srgbClr val="DEDEDE"/>
        </a:accent3>
        <a:accent4>
          <a:srgbClr val="C3C3C3"/>
        </a:accent4>
        <a:accent5>
          <a:srgbClr val="FAFAFA"/>
        </a:accent5>
        <a:accent6>
          <a:srgbClr val="9E9E9E"/>
        </a:accent6>
        <a:hlink>
          <a:srgbClr val="DEDEDE"/>
        </a:hlink>
        <a:folHlink>
          <a:srgbClr val="C3C3C3"/>
        </a:folHlink>
      </a:clrScheme>
      <a:clrMap bg1="lt1" tx1="dk1" bg2="lt2" tx2="dk2" accent1="accent1" accent2="accent2" accent3="accent3" accent4="accent4" accent5="accent5" accent6="accent6" hlink="hlink" folHlink="folHlink"/>
    </a:extraClrScheme>
    <a:extraClrScheme>
      <a:clrScheme name="tto 2">
        <a:dk1>
          <a:srgbClr val="2181B7"/>
        </a:dk1>
        <a:lt1>
          <a:srgbClr val="FFFFFF"/>
        </a:lt1>
        <a:dk2>
          <a:srgbClr val="2181B7"/>
        </a:dk2>
        <a:lt2>
          <a:srgbClr val="FFFF99"/>
        </a:lt2>
        <a:accent1>
          <a:srgbClr val="003399"/>
        </a:accent1>
        <a:accent2>
          <a:srgbClr val="01B0FF"/>
        </a:accent2>
        <a:accent3>
          <a:srgbClr val="6666FF"/>
        </a:accent3>
        <a:accent4>
          <a:srgbClr val="1C6D9A"/>
        </a:accent4>
        <a:accent5>
          <a:srgbClr val="474B72"/>
        </a:accent5>
        <a:accent6>
          <a:srgbClr val="7030A0"/>
        </a:accent6>
        <a:hlink>
          <a:srgbClr val="6666FF"/>
        </a:hlink>
        <a:folHlink>
          <a:srgbClr val="1C6D9A"/>
        </a:folHlink>
      </a:clrScheme>
      <a:clrMap bg1="dk2" tx1="lt1" bg2="dk1" tx2="lt2" accent1="accent1" accent2="accent2" accent3="accent3" accent4="accent4" accent5="accent5" accent6="accent6" hlink="hlink" folHlink="folHlink"/>
    </a:extraClrScheme>
    <a:extraClrScheme>
      <a:clrScheme name="tto 3">
        <a:dk1>
          <a:srgbClr val="042AA4"/>
        </a:dk1>
        <a:lt1>
          <a:srgbClr val="FFFFFF"/>
        </a:lt1>
        <a:dk2>
          <a:srgbClr val="042AA4"/>
        </a:dk2>
        <a:lt2>
          <a:srgbClr val="FE9B03"/>
        </a:lt2>
        <a:accent1>
          <a:srgbClr val="000F40"/>
        </a:accent1>
        <a:accent2>
          <a:srgbClr val="603900"/>
        </a:accent2>
        <a:accent3>
          <a:srgbClr val="005C00"/>
        </a:accent3>
        <a:accent4>
          <a:srgbClr val="0249FC"/>
        </a:accent4>
        <a:accent5>
          <a:srgbClr val="7030A0"/>
        </a:accent5>
        <a:accent6>
          <a:srgbClr val="000000"/>
        </a:accent6>
        <a:hlink>
          <a:srgbClr val="005C00"/>
        </a:hlink>
        <a:folHlink>
          <a:srgbClr val="0249FC"/>
        </a:folHlink>
      </a:clrScheme>
      <a:clrMap bg1="dk2" tx1="lt1" bg2="dk1" tx2="lt2" accent1="accent1" accent2="accent2" accent3="accent3" accent4="accent4" accent5="accent5" accent6="accent6" hlink="hlink" folHlink="folHlink"/>
    </a:extraClrScheme>
    <a:extraClrScheme>
      <a:clrScheme name="tto 4">
        <a:dk1>
          <a:srgbClr val="000000"/>
        </a:dk1>
        <a:lt1>
          <a:srgbClr val="FFFFFF"/>
        </a:lt1>
        <a:dk2>
          <a:srgbClr val="4282E0"/>
        </a:dk2>
        <a:lt2>
          <a:srgbClr val="FFFFFF"/>
        </a:lt2>
        <a:accent1>
          <a:srgbClr val="C0F6F5"/>
        </a:accent1>
        <a:accent2>
          <a:srgbClr val="FAFEDA"/>
        </a:accent2>
        <a:accent3>
          <a:srgbClr val="FFCCFF"/>
        </a:accent3>
        <a:accent4>
          <a:srgbClr val="B4FCB2"/>
        </a:accent4>
        <a:accent5>
          <a:srgbClr val="FFFF99"/>
        </a:accent5>
        <a:accent6>
          <a:srgbClr val="5DD3FF"/>
        </a:accent6>
        <a:hlink>
          <a:srgbClr val="FFCCFF"/>
        </a:hlink>
        <a:folHlink>
          <a:srgbClr val="B4FCB2"/>
        </a:folHlink>
      </a:clrScheme>
      <a:clrMap bg1="lt1" tx1="dk1" bg2="lt2" tx2="dk2" accent1="accent1" accent2="accent2" accent3="accent3" accent4="accent4" accent5="accent5" accent6="accent6" hlink="hlink" folHlink="folHlink"/>
    </a:extraClrScheme>
    <a:extraClrScheme>
      <a:clrScheme name="tto 5">
        <a:dk1>
          <a:srgbClr val="000000"/>
        </a:dk1>
        <a:lt1>
          <a:srgbClr val="FFFFFF"/>
        </a:lt1>
        <a:dk2>
          <a:srgbClr val="0066FF"/>
        </a:dk2>
        <a:lt2>
          <a:srgbClr val="FFFFFF"/>
        </a:lt2>
        <a:accent1>
          <a:srgbClr val="FFFFCC"/>
        </a:accent1>
        <a:accent2>
          <a:srgbClr val="B5E0E3"/>
        </a:accent2>
        <a:accent3>
          <a:srgbClr val="E5D093"/>
        </a:accent3>
        <a:accent4>
          <a:srgbClr val="CCB374"/>
        </a:accent4>
        <a:accent5>
          <a:srgbClr val="C7A2E3"/>
        </a:accent5>
        <a:accent6>
          <a:srgbClr val="5DD3FF"/>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tto 6">
        <a:dk1>
          <a:srgbClr val="000000"/>
        </a:dk1>
        <a:lt1>
          <a:srgbClr val="FFFFFF"/>
        </a:lt1>
        <a:dk2>
          <a:srgbClr val="FF0000"/>
        </a:dk2>
        <a:lt2>
          <a:srgbClr val="FFFFFF"/>
        </a:lt2>
        <a:accent1>
          <a:srgbClr val="FFFF66"/>
        </a:accent1>
        <a:accent2>
          <a:srgbClr val="99FF66"/>
        </a:accent2>
        <a:accent3>
          <a:srgbClr val="99FFCC"/>
        </a:accent3>
        <a:accent4>
          <a:srgbClr val="FF99FF"/>
        </a:accent4>
        <a:accent5>
          <a:srgbClr val="93E2FF"/>
        </a:accent5>
        <a:accent6>
          <a:srgbClr val="FFE599"/>
        </a:accent6>
        <a:hlink>
          <a:srgbClr val="99FFCC"/>
        </a:hlink>
        <a:folHlink>
          <a:srgbClr val="FF99FF"/>
        </a:folHlink>
      </a:clrScheme>
      <a:clrMap bg1="lt1" tx1="dk1" bg2="lt2" tx2="dk2" accent1="accent1" accent2="accent2" accent3="accent3" accent4="accent4" accent5="accent5" accent6="accent6" hlink="hlink" folHlink="folHlink"/>
    </a:extraClrScheme>
    <a:extraClrScheme>
      <a:clrScheme name="tto 7">
        <a:dk1>
          <a:srgbClr val="FEFFFF"/>
        </a:dk1>
        <a:lt1>
          <a:srgbClr val="000000"/>
        </a:lt1>
        <a:dk2>
          <a:srgbClr val="FEFFFF"/>
        </a:dk2>
        <a:lt2>
          <a:srgbClr val="000000"/>
        </a:lt2>
        <a:accent1>
          <a:srgbClr val="F6F6F6"/>
        </a:accent1>
        <a:accent2>
          <a:srgbClr val="AFAFAF"/>
        </a:accent2>
        <a:accent3>
          <a:srgbClr val="DEDEDE"/>
        </a:accent3>
        <a:accent4>
          <a:srgbClr val="C3C3C3"/>
        </a:accent4>
        <a:accent5>
          <a:srgbClr val="FAFAFA"/>
        </a:accent5>
        <a:accent6>
          <a:srgbClr val="000000"/>
        </a:accent6>
        <a:hlink>
          <a:srgbClr val="DEDEDE"/>
        </a:hlink>
        <a:folHlink>
          <a:srgbClr val="C3C3C3"/>
        </a:folHlink>
      </a:clrScheme>
      <a:clrMap bg1="dk2" tx1="lt1" bg2="dk1" tx2="lt2" accent1="accent1" accent2="accent2" accent3="accent3" accent4="accent4" accent5="accent5" accent6="accent6" hlink="hlink" folHlink="folHlink"/>
    </a:extraClrScheme>
    <a:extraClrScheme>
      <a:clrScheme name="tto 8">
        <a:dk1>
          <a:srgbClr val="FFFFFF"/>
        </a:dk1>
        <a:lt1>
          <a:srgbClr val="000000"/>
        </a:lt1>
        <a:dk2>
          <a:srgbClr val="FFFFFF"/>
        </a:dk2>
        <a:lt2>
          <a:srgbClr val="FF0000"/>
        </a:lt2>
        <a:accent1>
          <a:srgbClr val="00CCFF"/>
        </a:accent1>
        <a:accent2>
          <a:srgbClr val="CC9900"/>
        </a:accent2>
        <a:accent3>
          <a:srgbClr val="00CC66"/>
        </a:accent3>
        <a:accent4>
          <a:srgbClr val="FFFF99"/>
        </a:accent4>
        <a:accent5>
          <a:srgbClr val="FF99CC"/>
        </a:accent5>
        <a:accent6>
          <a:srgbClr val="000000"/>
        </a:accent6>
        <a:hlink>
          <a:srgbClr val="00CC66"/>
        </a:hlink>
        <a:folHlink>
          <a:srgbClr val="FFFF99"/>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ttoTheme">
  <a:themeElements>
    <a:clrScheme name="Custom 1">
      <a:dk1>
        <a:srgbClr val="000000"/>
      </a:dk1>
      <a:lt1>
        <a:srgbClr val="FFFFFF"/>
      </a:lt1>
      <a:dk2>
        <a:srgbClr val="FF0000"/>
      </a:dk2>
      <a:lt2>
        <a:srgbClr val="FFFFFF"/>
      </a:lt2>
      <a:accent1>
        <a:srgbClr val="F9F9F9"/>
      </a:accent1>
      <a:accent2>
        <a:srgbClr val="DEDEDE"/>
      </a:accent2>
      <a:accent3>
        <a:srgbClr val="C7C7C7"/>
      </a:accent3>
      <a:accent4>
        <a:srgbClr val="6699FF"/>
      </a:accent4>
      <a:accent5>
        <a:srgbClr val="FF0000"/>
      </a:accent5>
      <a:accent6>
        <a:srgbClr val="FFFFFF"/>
      </a:accent6>
      <a:hlink>
        <a:srgbClr val="6699FF"/>
      </a:hlink>
      <a:folHlink>
        <a:srgbClr val="6699FF"/>
      </a:folHlink>
    </a:clrScheme>
    <a:fontScheme name="tt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rtlCol="0" anchor="ctr" anchorCtr="0" compatLnSpc="1">
        <a:prstTxWarp prst="textNoShape">
          <a:avLst/>
        </a:prstTxWarp>
      </a:bodyPr>
      <a:lstStyle>
        <a:defPPr marL="0" marR="0" indent="0" algn="l" defTabSz="914400" rtl="0" eaLnBrk="0" fontAlgn="base" latinLnBrk="0" hangingPunct="0">
          <a:lnSpc>
            <a:spcPct val="80000"/>
          </a:lnSpc>
          <a:spcBef>
            <a:spcPct val="50000"/>
          </a:spcBef>
          <a:spcAft>
            <a:spcPct val="0"/>
          </a:spcAft>
          <a:buClrTx/>
          <a:buSzTx/>
          <a:buFontTx/>
          <a:buNone/>
          <a:tabLst/>
          <a:defRPr kumimoji="0" sz="2800" b="1" i="0" u="none" strike="noStrike" cap="none" normalizeH="0" baseline="0" dirty="0" smtClean="0">
            <a:ln>
              <a:noFill/>
            </a:ln>
            <a:solidFill>
              <a:schemeClr val="dk1"/>
            </a:solidFill>
            <a:effectLst/>
            <a:latin typeface="Arial Narrow"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80000"/>
          </a:lnSpc>
          <a:spcBef>
            <a:spcPct val="50000"/>
          </a:spcBef>
          <a:spcAft>
            <a:spcPct val="0"/>
          </a:spcAft>
          <a:buClrTx/>
          <a:buSzTx/>
          <a:buFontTx/>
          <a:buNone/>
          <a:tabLst/>
          <a:defRPr kumimoji="0" lang="en-US" sz="2800" b="1" i="0" u="none" strike="noStrike" cap="none" normalizeH="0" baseline="0" smtClean="0">
            <a:ln>
              <a:noFill/>
            </a:ln>
            <a:solidFill>
              <a:schemeClr val="tx1"/>
            </a:solidFill>
            <a:effectLst>
              <a:outerShdw blurRad="38100" dist="38100" dir="2700000" algn="tl">
                <a:srgbClr val="000000">
                  <a:alpha val="43137"/>
                </a:srgbClr>
              </a:outerShdw>
            </a:effectLst>
            <a:latin typeface="Arial Narrow" pitchFamily="34" charset="0"/>
          </a:defRPr>
        </a:defPPr>
      </a:lstStyle>
    </a:lnDef>
    <a:txDef>
      <a:spPr>
        <a:noFill/>
      </a:spPr>
      <a:bodyPr wrap="square" rtlCol="0" anchor="ctr" anchorCtr="0">
        <a:spAutoFit/>
      </a:bodyPr>
      <a:lstStyle>
        <a:defPPr>
          <a:defRPr dirty="0" smtClean="0">
            <a:solidFill>
              <a:schemeClr val="dk1"/>
            </a:solidFill>
            <a:effectLst/>
          </a:defRPr>
        </a:defPPr>
      </a:lstStyle>
    </a:txDef>
  </a:objectDefaults>
  <a:extraClrSchemeLst>
    <a:extraClrScheme>
      <a:clrScheme name="tto standard">
        <a:dk1>
          <a:srgbClr val="000000"/>
        </a:dk1>
        <a:lt1>
          <a:srgbClr val="FFFFFF"/>
        </a:lt1>
        <a:dk2>
          <a:srgbClr val="FF0000"/>
        </a:dk2>
        <a:lt2>
          <a:srgbClr val="FFFFFF"/>
        </a:lt2>
        <a:accent1>
          <a:srgbClr val="F9F9F9"/>
        </a:accent1>
        <a:accent2>
          <a:srgbClr val="DEDEDE"/>
        </a:accent2>
        <a:accent3>
          <a:srgbClr val="C7C7C7"/>
        </a:accent3>
        <a:accent4>
          <a:srgbClr val="6699FF"/>
        </a:accent4>
        <a:accent5>
          <a:srgbClr val="FF0000"/>
        </a:accent5>
        <a:accent6>
          <a:srgbClr val="FFFFFF"/>
        </a:accent6>
        <a:hlink>
          <a:srgbClr val="C7C7C7"/>
        </a:hlink>
        <a:folHlink>
          <a:srgbClr val="6699FF"/>
        </a:folHlink>
      </a:clrScheme>
      <a:clrMap bg1="lt1" tx1="dk1" bg2="lt2" tx2="dk2" accent1="accent1" accent2="accent2" accent3="accent3" accent4="accent4" accent5="accent5" accent6="accent6" hlink="hlink" folHlink="folHlink"/>
    </a:extraClrScheme>
    <a:extraClrScheme>
      <a:clrScheme name="tto 1">
        <a:dk1>
          <a:srgbClr val="000000"/>
        </a:dk1>
        <a:lt1>
          <a:srgbClr val="FEFFFF"/>
        </a:lt1>
        <a:dk2>
          <a:srgbClr val="000000"/>
        </a:dk2>
        <a:lt2>
          <a:srgbClr val="FEFFFF"/>
        </a:lt2>
        <a:accent1>
          <a:srgbClr val="F6F6F6"/>
        </a:accent1>
        <a:accent2>
          <a:srgbClr val="AFAFAF"/>
        </a:accent2>
        <a:accent3>
          <a:srgbClr val="DEDEDE"/>
        </a:accent3>
        <a:accent4>
          <a:srgbClr val="C3C3C3"/>
        </a:accent4>
        <a:accent5>
          <a:srgbClr val="FAFAFA"/>
        </a:accent5>
        <a:accent6>
          <a:srgbClr val="9E9E9E"/>
        </a:accent6>
        <a:hlink>
          <a:srgbClr val="DEDEDE"/>
        </a:hlink>
        <a:folHlink>
          <a:srgbClr val="C3C3C3"/>
        </a:folHlink>
      </a:clrScheme>
      <a:clrMap bg1="lt1" tx1="dk1" bg2="lt2" tx2="dk2" accent1="accent1" accent2="accent2" accent3="accent3" accent4="accent4" accent5="accent5" accent6="accent6" hlink="hlink" folHlink="folHlink"/>
    </a:extraClrScheme>
    <a:extraClrScheme>
      <a:clrScheme name="tto 2">
        <a:dk1>
          <a:srgbClr val="2181B7"/>
        </a:dk1>
        <a:lt1>
          <a:srgbClr val="FFFFFF"/>
        </a:lt1>
        <a:dk2>
          <a:srgbClr val="2181B7"/>
        </a:dk2>
        <a:lt2>
          <a:srgbClr val="FFFF99"/>
        </a:lt2>
        <a:accent1>
          <a:srgbClr val="003399"/>
        </a:accent1>
        <a:accent2>
          <a:srgbClr val="01B0FF"/>
        </a:accent2>
        <a:accent3>
          <a:srgbClr val="6666FF"/>
        </a:accent3>
        <a:accent4>
          <a:srgbClr val="1C6D9A"/>
        </a:accent4>
        <a:accent5>
          <a:srgbClr val="474B72"/>
        </a:accent5>
        <a:accent6>
          <a:srgbClr val="7030A0"/>
        </a:accent6>
        <a:hlink>
          <a:srgbClr val="6666FF"/>
        </a:hlink>
        <a:folHlink>
          <a:srgbClr val="1C6D9A"/>
        </a:folHlink>
      </a:clrScheme>
      <a:clrMap bg1="dk2" tx1="lt1" bg2="dk1" tx2="lt2" accent1="accent1" accent2="accent2" accent3="accent3" accent4="accent4" accent5="accent5" accent6="accent6" hlink="hlink" folHlink="folHlink"/>
    </a:extraClrScheme>
    <a:extraClrScheme>
      <a:clrScheme name="tto 3">
        <a:dk1>
          <a:srgbClr val="042AA4"/>
        </a:dk1>
        <a:lt1>
          <a:srgbClr val="FFFFFF"/>
        </a:lt1>
        <a:dk2>
          <a:srgbClr val="042AA4"/>
        </a:dk2>
        <a:lt2>
          <a:srgbClr val="FE9B03"/>
        </a:lt2>
        <a:accent1>
          <a:srgbClr val="000F40"/>
        </a:accent1>
        <a:accent2>
          <a:srgbClr val="603900"/>
        </a:accent2>
        <a:accent3>
          <a:srgbClr val="005C00"/>
        </a:accent3>
        <a:accent4>
          <a:srgbClr val="0249FC"/>
        </a:accent4>
        <a:accent5>
          <a:srgbClr val="7030A0"/>
        </a:accent5>
        <a:accent6>
          <a:srgbClr val="000000"/>
        </a:accent6>
        <a:hlink>
          <a:srgbClr val="005C00"/>
        </a:hlink>
        <a:folHlink>
          <a:srgbClr val="0249FC"/>
        </a:folHlink>
      </a:clrScheme>
      <a:clrMap bg1="dk2" tx1="lt1" bg2="dk1" tx2="lt2" accent1="accent1" accent2="accent2" accent3="accent3" accent4="accent4" accent5="accent5" accent6="accent6" hlink="hlink" folHlink="folHlink"/>
    </a:extraClrScheme>
    <a:extraClrScheme>
      <a:clrScheme name="tto 4">
        <a:dk1>
          <a:srgbClr val="000000"/>
        </a:dk1>
        <a:lt1>
          <a:srgbClr val="FFFFFF"/>
        </a:lt1>
        <a:dk2>
          <a:srgbClr val="4282E0"/>
        </a:dk2>
        <a:lt2>
          <a:srgbClr val="FFFFFF"/>
        </a:lt2>
        <a:accent1>
          <a:srgbClr val="C0F6F5"/>
        </a:accent1>
        <a:accent2>
          <a:srgbClr val="FAFEDA"/>
        </a:accent2>
        <a:accent3>
          <a:srgbClr val="FFCCFF"/>
        </a:accent3>
        <a:accent4>
          <a:srgbClr val="B4FCB2"/>
        </a:accent4>
        <a:accent5>
          <a:srgbClr val="FFFF99"/>
        </a:accent5>
        <a:accent6>
          <a:srgbClr val="5DD3FF"/>
        </a:accent6>
        <a:hlink>
          <a:srgbClr val="FFCCFF"/>
        </a:hlink>
        <a:folHlink>
          <a:srgbClr val="B4FCB2"/>
        </a:folHlink>
      </a:clrScheme>
      <a:clrMap bg1="lt1" tx1="dk1" bg2="lt2" tx2="dk2" accent1="accent1" accent2="accent2" accent3="accent3" accent4="accent4" accent5="accent5" accent6="accent6" hlink="hlink" folHlink="folHlink"/>
    </a:extraClrScheme>
    <a:extraClrScheme>
      <a:clrScheme name="tto 5">
        <a:dk1>
          <a:srgbClr val="000000"/>
        </a:dk1>
        <a:lt1>
          <a:srgbClr val="FFFFFF"/>
        </a:lt1>
        <a:dk2>
          <a:srgbClr val="0066FF"/>
        </a:dk2>
        <a:lt2>
          <a:srgbClr val="FFFFFF"/>
        </a:lt2>
        <a:accent1>
          <a:srgbClr val="FFFFCC"/>
        </a:accent1>
        <a:accent2>
          <a:srgbClr val="B5E0E3"/>
        </a:accent2>
        <a:accent3>
          <a:srgbClr val="E5D093"/>
        </a:accent3>
        <a:accent4>
          <a:srgbClr val="CCB374"/>
        </a:accent4>
        <a:accent5>
          <a:srgbClr val="C7A2E3"/>
        </a:accent5>
        <a:accent6>
          <a:srgbClr val="5DD3FF"/>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tto 6">
        <a:dk1>
          <a:srgbClr val="000000"/>
        </a:dk1>
        <a:lt1>
          <a:srgbClr val="FFFFFF"/>
        </a:lt1>
        <a:dk2>
          <a:srgbClr val="FF0000"/>
        </a:dk2>
        <a:lt2>
          <a:srgbClr val="FFFFFF"/>
        </a:lt2>
        <a:accent1>
          <a:srgbClr val="FFFF66"/>
        </a:accent1>
        <a:accent2>
          <a:srgbClr val="99FF66"/>
        </a:accent2>
        <a:accent3>
          <a:srgbClr val="99FFCC"/>
        </a:accent3>
        <a:accent4>
          <a:srgbClr val="FF99FF"/>
        </a:accent4>
        <a:accent5>
          <a:srgbClr val="93E2FF"/>
        </a:accent5>
        <a:accent6>
          <a:srgbClr val="FFE599"/>
        </a:accent6>
        <a:hlink>
          <a:srgbClr val="99FFCC"/>
        </a:hlink>
        <a:folHlink>
          <a:srgbClr val="FF99FF"/>
        </a:folHlink>
      </a:clrScheme>
      <a:clrMap bg1="lt1" tx1="dk1" bg2="lt2" tx2="dk2" accent1="accent1" accent2="accent2" accent3="accent3" accent4="accent4" accent5="accent5" accent6="accent6" hlink="hlink" folHlink="folHlink"/>
    </a:extraClrScheme>
    <a:extraClrScheme>
      <a:clrScheme name="tto 7">
        <a:dk1>
          <a:srgbClr val="FEFFFF"/>
        </a:dk1>
        <a:lt1>
          <a:srgbClr val="000000"/>
        </a:lt1>
        <a:dk2>
          <a:srgbClr val="FEFFFF"/>
        </a:dk2>
        <a:lt2>
          <a:srgbClr val="000000"/>
        </a:lt2>
        <a:accent1>
          <a:srgbClr val="F6F6F6"/>
        </a:accent1>
        <a:accent2>
          <a:srgbClr val="AFAFAF"/>
        </a:accent2>
        <a:accent3>
          <a:srgbClr val="DEDEDE"/>
        </a:accent3>
        <a:accent4>
          <a:srgbClr val="C3C3C3"/>
        </a:accent4>
        <a:accent5>
          <a:srgbClr val="FAFAFA"/>
        </a:accent5>
        <a:accent6>
          <a:srgbClr val="000000"/>
        </a:accent6>
        <a:hlink>
          <a:srgbClr val="DEDEDE"/>
        </a:hlink>
        <a:folHlink>
          <a:srgbClr val="C3C3C3"/>
        </a:folHlink>
      </a:clrScheme>
      <a:clrMap bg1="dk2" tx1="lt1" bg2="dk1" tx2="lt2" accent1="accent1" accent2="accent2" accent3="accent3" accent4="accent4" accent5="accent5" accent6="accent6" hlink="hlink" folHlink="folHlink"/>
    </a:extraClrScheme>
    <a:extraClrScheme>
      <a:clrScheme name="tto 8">
        <a:dk1>
          <a:srgbClr val="FFFFFF"/>
        </a:dk1>
        <a:lt1>
          <a:srgbClr val="000000"/>
        </a:lt1>
        <a:dk2>
          <a:srgbClr val="FFFFFF"/>
        </a:dk2>
        <a:lt2>
          <a:srgbClr val="FF0000"/>
        </a:lt2>
        <a:accent1>
          <a:srgbClr val="00CCFF"/>
        </a:accent1>
        <a:accent2>
          <a:srgbClr val="CC9900"/>
        </a:accent2>
        <a:accent3>
          <a:srgbClr val="00CC66"/>
        </a:accent3>
        <a:accent4>
          <a:srgbClr val="FFFF99"/>
        </a:accent4>
        <a:accent5>
          <a:srgbClr val="FF99CC"/>
        </a:accent5>
        <a:accent6>
          <a:srgbClr val="000000"/>
        </a:accent6>
        <a:hlink>
          <a:srgbClr val="00CC66"/>
        </a:hlink>
        <a:folHlink>
          <a:srgbClr val="FFFF99"/>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ttoTheme</Template>
  <TotalTime>23158</TotalTime>
  <Pages>3</Pages>
  <Words>4455</Words>
  <Application>Microsoft Office PowerPoint</Application>
  <PresentationFormat>On-screen Show (4:3)</PresentationFormat>
  <Paragraphs>708</Paragraphs>
  <Slides>48</Slides>
  <Notes>11</Notes>
  <HiddenSlides>17</HiddenSlides>
  <MMClips>0</MMClips>
  <ScaleCrop>false</ScaleCrop>
  <HeadingPairs>
    <vt:vector size="4" baseType="variant">
      <vt:variant>
        <vt:lpstr>Theme</vt:lpstr>
      </vt:variant>
      <vt:variant>
        <vt:i4>3</vt:i4>
      </vt:variant>
      <vt:variant>
        <vt:lpstr>Slide Titles</vt:lpstr>
      </vt:variant>
      <vt:variant>
        <vt:i4>48</vt:i4>
      </vt:variant>
    </vt:vector>
  </HeadingPairs>
  <TitlesOfParts>
    <vt:vector size="51" baseType="lpstr">
      <vt:lpstr>TI Theme 2009</vt:lpstr>
      <vt:lpstr>ttoTheme</vt:lpstr>
      <vt:lpstr>1_ttoTheme</vt:lpstr>
      <vt:lpstr>PowerPoint Presentation</vt:lpstr>
      <vt:lpstr>Objectives</vt:lpstr>
      <vt:lpstr>TI Software and Tools Ecosystem</vt:lpstr>
      <vt:lpstr>Run-Time Software</vt:lpstr>
      <vt:lpstr>Outline</vt:lpstr>
      <vt:lpstr>Outline</vt:lpstr>
      <vt:lpstr>CCS Functional Overview</vt:lpstr>
      <vt:lpstr>Outline</vt:lpstr>
      <vt:lpstr>CCSv6 GUI – EDIT Perspective</vt:lpstr>
      <vt:lpstr>CCSv6 GUI – DEBUG Perspective</vt:lpstr>
      <vt:lpstr>Outline</vt:lpstr>
      <vt:lpstr>Target Configuration and Emulators</vt:lpstr>
      <vt:lpstr>Creating a New Target Config File (.ccxml)</vt:lpstr>
      <vt:lpstr>What is a GEL File ?</vt:lpstr>
      <vt:lpstr>JTAG Emulators</vt:lpstr>
      <vt:lpstr>MSP430 JTAG Emulators</vt:lpstr>
      <vt:lpstr>Outline</vt:lpstr>
      <vt:lpstr>Workspaces and Projects (GUI)</vt:lpstr>
      <vt:lpstr>Projects and Workspaces</vt:lpstr>
      <vt:lpstr>Eclipse “Workspace”</vt:lpstr>
      <vt:lpstr>Outline</vt:lpstr>
      <vt:lpstr>Creating a New Project</vt:lpstr>
      <vt:lpstr>Adding Files to a Project</vt:lpstr>
      <vt:lpstr>Outline</vt:lpstr>
      <vt:lpstr>Compiler Build Options</vt:lpstr>
      <vt:lpstr>Modifying Build Configurations</vt:lpstr>
      <vt:lpstr>Outline</vt:lpstr>
      <vt:lpstr>CCSv6 Licensing and Pricing</vt:lpstr>
      <vt:lpstr>Changing CCS User License</vt:lpstr>
      <vt:lpstr>Outline</vt:lpstr>
      <vt:lpstr>CCSv6 – For More Information</vt:lpstr>
      <vt:lpstr>Development Tools for Tiva-C MCUs</vt:lpstr>
      <vt:lpstr>Outline</vt:lpstr>
      <vt:lpstr>If You Finish Early…</vt:lpstr>
      <vt:lpstr>Lab 2 – MCU “Hello World” – Blink an LED</vt:lpstr>
      <vt:lpstr>PowerPoint Presentation</vt:lpstr>
      <vt:lpstr>New Project Creation – C28x </vt:lpstr>
      <vt:lpstr>New Project Creation – C6000 </vt:lpstr>
      <vt:lpstr>New Project Creation – MSP430</vt:lpstr>
      <vt:lpstr>New Project Creation – Tiva-C </vt:lpstr>
      <vt:lpstr>Checklist – When Things Go Wrong </vt:lpstr>
      <vt:lpstr>Troubleshooting Checklist – For More Info </vt:lpstr>
      <vt:lpstr>Portable Projects</vt:lpstr>
      <vt:lpstr>Two Types of Path Variables</vt:lpstr>
      <vt:lpstr>Variable Scope: Projects or Workspaces</vt:lpstr>
      <vt:lpstr>Path Variables and Build Variables</vt:lpstr>
      <vt:lpstr>Adding Variables</vt:lpstr>
      <vt:lpstr>Outline</vt:lpstr>
    </vt:vector>
  </TitlesOfParts>
  <Company>SC Sales &amp; Marketing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TI-RTOS Kernel Workshop</dc:title>
  <dc:subject/>
  <dc:creator>ericw@ti.com</dc:creator>
  <cp:keywords/>
  <dc:description/>
  <cp:lastModifiedBy>Eric Wilbur</cp:lastModifiedBy>
  <cp:revision>526</cp:revision>
  <cp:lastPrinted>1601-01-01T00:00:00Z</cp:lastPrinted>
  <dcterms:created xsi:type="dcterms:W3CDTF">2001-09-20T20:19:44Z</dcterms:created>
  <dcterms:modified xsi:type="dcterms:W3CDTF">2014-06-09T20:49:17Z</dcterms:modified>
</cp:coreProperties>
</file>