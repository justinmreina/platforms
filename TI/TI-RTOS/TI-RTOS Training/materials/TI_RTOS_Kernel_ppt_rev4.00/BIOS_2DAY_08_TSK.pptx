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3.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7.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7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2.xml" ContentType="application/vnd.openxmlformats-officedocument.presentationml.tags+xml"/>
  <Override PartName="/ppt/notesSlides/notesSlide12.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13.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19.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notesSlides/notesSlide20.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51" r:id="rId1"/>
    <p:sldMasterId id="2147483865" r:id="rId2"/>
    <p:sldMasterId id="2147483879" r:id="rId3"/>
    <p:sldMasterId id="2147483891" r:id="rId4"/>
  </p:sldMasterIdLst>
  <p:notesMasterIdLst>
    <p:notesMasterId r:id="rId41"/>
  </p:notesMasterIdLst>
  <p:handoutMasterIdLst>
    <p:handoutMasterId r:id="rId42"/>
  </p:handoutMasterIdLst>
  <p:sldIdLst>
    <p:sldId id="1998" r:id="rId5"/>
    <p:sldId id="2374" r:id="rId6"/>
    <p:sldId id="2702" r:id="rId7"/>
    <p:sldId id="2703" r:id="rId8"/>
    <p:sldId id="2376" r:id="rId9"/>
    <p:sldId id="2704" r:id="rId10"/>
    <p:sldId id="1600" r:id="rId11"/>
    <p:sldId id="2705" r:id="rId12"/>
    <p:sldId id="1722" r:id="rId13"/>
    <p:sldId id="1954" r:id="rId14"/>
    <p:sldId id="1599" r:id="rId15"/>
    <p:sldId id="1605" r:id="rId16"/>
    <p:sldId id="2706" r:id="rId17"/>
    <p:sldId id="1597" r:id="rId18"/>
    <p:sldId id="2707" r:id="rId19"/>
    <p:sldId id="1601" r:id="rId20"/>
    <p:sldId id="1602" r:id="rId21"/>
    <p:sldId id="1721" r:id="rId22"/>
    <p:sldId id="2713" r:id="rId23"/>
    <p:sldId id="2714" r:id="rId24"/>
    <p:sldId id="2708" r:id="rId25"/>
    <p:sldId id="1744" r:id="rId26"/>
    <p:sldId id="2709" r:id="rId27"/>
    <p:sldId id="2541" r:id="rId28"/>
    <p:sldId id="2542" r:id="rId29"/>
    <p:sldId id="2710" r:id="rId30"/>
    <p:sldId id="2474" r:id="rId31"/>
    <p:sldId id="2475" r:id="rId32"/>
    <p:sldId id="2539" r:id="rId33"/>
    <p:sldId id="2711" r:id="rId34"/>
    <p:sldId id="2623" r:id="rId35"/>
    <p:sldId id="2712" r:id="rId36"/>
    <p:sldId id="2463" r:id="rId37"/>
    <p:sldId id="2377" r:id="rId38"/>
    <p:sldId id="2375" r:id="rId39"/>
    <p:sldId id="2246" r:id="rId40"/>
  </p:sldIdLst>
  <p:sldSz cx="9144000" cy="6858000" type="screen4x3"/>
  <p:notesSz cx="6858000" cy="9296400"/>
  <p:defaultTextStyle>
    <a:defPPr>
      <a:defRPr lang="en-US"/>
    </a:defPPr>
    <a:lvl1pPr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1pPr>
    <a:lvl2pPr marL="4572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2pPr>
    <a:lvl3pPr marL="9144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3pPr>
    <a:lvl4pPr marL="13716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4pPr>
    <a:lvl5pPr marL="18288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66"/>
    <a:srgbClr val="FFFFFF"/>
    <a:srgbClr val="FF99FF"/>
    <a:srgbClr val="C0C0C0"/>
    <a:srgbClr val="CC66FF"/>
    <a:srgbClr val="FF3300"/>
    <a:srgbClr val="FFFF66"/>
    <a:srgbClr val="FFFF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87" autoAdjust="0"/>
    <p:restoredTop sz="92825" autoAdjust="0"/>
  </p:normalViewPr>
  <p:slideViewPr>
    <p:cSldViewPr>
      <p:cViewPr>
        <p:scale>
          <a:sx n="70" d="100"/>
          <a:sy n="70" d="100"/>
        </p:scale>
        <p:origin x="-1416" y="-2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
            <a:ext cx="2972098" cy="464205"/>
          </a:xfrm>
          <a:prstGeom prst="rect">
            <a:avLst/>
          </a:prstGeom>
          <a:noFill/>
          <a:ln w="9525">
            <a:noFill/>
            <a:miter lim="800000"/>
            <a:headEnd/>
            <a:tailEnd/>
          </a:ln>
          <a:effectLst/>
        </p:spPr>
        <p:txBody>
          <a:bodyPr vert="horz" wrap="square" lIns="19230" tIns="0" rIns="19230" bIns="0" numCol="1" anchor="t" anchorCtr="0" compatLnSpc="1">
            <a:prstTxWarp prst="textNoShape">
              <a:avLst/>
            </a:prstTxWarp>
          </a:bodyPr>
          <a:lstStyle>
            <a:lvl1pPr defTabSz="923186">
              <a:defRPr sz="1100" b="0" i="1">
                <a:effectLst/>
                <a:latin typeface="Times New Roman" pitchFamily="18" charset="0"/>
              </a:defRPr>
            </a:lvl1pPr>
          </a:lstStyle>
          <a:p>
            <a:pPr>
              <a:defRPr/>
            </a:pPr>
            <a:endParaRPr lang="en-US"/>
          </a:p>
        </p:txBody>
      </p:sp>
      <p:sp>
        <p:nvSpPr>
          <p:cNvPr id="3075" name="Rectangle 3"/>
          <p:cNvSpPr>
            <a:spLocks noGrp="1" noChangeArrowheads="1"/>
          </p:cNvSpPr>
          <p:nvPr>
            <p:ph type="dt" sz="quarter" idx="1"/>
          </p:nvPr>
        </p:nvSpPr>
        <p:spPr bwMode="auto">
          <a:xfrm>
            <a:off x="3885903" y="1"/>
            <a:ext cx="2972097" cy="464205"/>
          </a:xfrm>
          <a:prstGeom prst="rect">
            <a:avLst/>
          </a:prstGeom>
          <a:noFill/>
          <a:ln w="9525">
            <a:noFill/>
            <a:miter lim="800000"/>
            <a:headEnd/>
            <a:tailEnd/>
          </a:ln>
          <a:effectLst/>
        </p:spPr>
        <p:txBody>
          <a:bodyPr vert="horz" wrap="square" lIns="19230" tIns="0" rIns="19230" bIns="0" numCol="1" anchor="t" anchorCtr="0" compatLnSpc="1">
            <a:prstTxWarp prst="textNoShape">
              <a:avLst/>
            </a:prstTxWarp>
          </a:bodyPr>
          <a:lstStyle>
            <a:lvl1pPr algn="r" defTabSz="923186">
              <a:defRPr sz="1100" b="0" i="1">
                <a:effectLst/>
                <a:latin typeface="Times New Roman" pitchFamily="18" charset="0"/>
              </a:defRPr>
            </a:lvl1pPr>
          </a:lstStyle>
          <a:p>
            <a:pPr>
              <a:defRPr/>
            </a:pPr>
            <a:endParaRPr lang="en-US"/>
          </a:p>
        </p:txBody>
      </p:sp>
      <p:sp>
        <p:nvSpPr>
          <p:cNvPr id="3076" name="Rectangle 4"/>
          <p:cNvSpPr>
            <a:spLocks noGrp="1" noChangeArrowheads="1"/>
          </p:cNvSpPr>
          <p:nvPr>
            <p:ph type="ftr" sz="quarter" idx="2"/>
          </p:nvPr>
        </p:nvSpPr>
        <p:spPr bwMode="auto">
          <a:xfrm>
            <a:off x="0" y="8832195"/>
            <a:ext cx="2972098" cy="464205"/>
          </a:xfrm>
          <a:prstGeom prst="rect">
            <a:avLst/>
          </a:prstGeom>
          <a:noFill/>
          <a:ln w="9525">
            <a:noFill/>
            <a:miter lim="800000"/>
            <a:headEnd/>
            <a:tailEnd/>
          </a:ln>
          <a:effectLst/>
        </p:spPr>
        <p:txBody>
          <a:bodyPr vert="horz" wrap="square" lIns="19230" tIns="0" rIns="19230" bIns="0" numCol="1" anchor="b" anchorCtr="0" compatLnSpc="1">
            <a:prstTxWarp prst="textNoShape">
              <a:avLst/>
            </a:prstTxWarp>
          </a:bodyPr>
          <a:lstStyle>
            <a:lvl1pPr defTabSz="923186">
              <a:defRPr sz="1100" b="0" i="1">
                <a:effectLst/>
                <a:latin typeface="Times New Roman" pitchFamily="18" charset="0"/>
              </a:defRPr>
            </a:lvl1pPr>
          </a:lstStyle>
          <a:p>
            <a:pPr>
              <a:defRPr/>
            </a:pPr>
            <a:endParaRPr lang="en-US"/>
          </a:p>
        </p:txBody>
      </p:sp>
      <p:sp>
        <p:nvSpPr>
          <p:cNvPr id="3077" name="Rectangle 5"/>
          <p:cNvSpPr>
            <a:spLocks noGrp="1" noChangeArrowheads="1"/>
          </p:cNvSpPr>
          <p:nvPr>
            <p:ph type="sldNum" sz="quarter" idx="3"/>
          </p:nvPr>
        </p:nvSpPr>
        <p:spPr bwMode="auto">
          <a:xfrm>
            <a:off x="3885903" y="8832195"/>
            <a:ext cx="2972097" cy="464205"/>
          </a:xfrm>
          <a:prstGeom prst="rect">
            <a:avLst/>
          </a:prstGeom>
          <a:noFill/>
          <a:ln w="9525">
            <a:noFill/>
            <a:miter lim="800000"/>
            <a:headEnd/>
            <a:tailEnd/>
          </a:ln>
          <a:effectLst/>
        </p:spPr>
        <p:txBody>
          <a:bodyPr vert="horz" wrap="square" lIns="19230" tIns="0" rIns="19230" bIns="0" numCol="1" anchor="b" anchorCtr="0" compatLnSpc="1">
            <a:prstTxWarp prst="textNoShape">
              <a:avLst/>
            </a:prstTxWarp>
          </a:bodyPr>
          <a:lstStyle>
            <a:lvl1pPr algn="r" defTabSz="923186">
              <a:defRPr sz="1100" b="0" i="1">
                <a:effectLst/>
                <a:latin typeface="Times New Roman" pitchFamily="18" charset="0"/>
              </a:defRPr>
            </a:lvl1pPr>
          </a:lstStyle>
          <a:p>
            <a:pPr>
              <a:defRPr/>
            </a:pPr>
            <a:fld id="{5E298034-1A0B-49C5-8154-074185A52047}" type="slidenum">
              <a:rPr lang="en-US"/>
              <a:pPr>
                <a:defRPr/>
              </a:pPr>
              <a:t>‹#›</a:t>
            </a:fld>
            <a:endParaRPr lang="en-US"/>
          </a:p>
        </p:txBody>
      </p:sp>
    </p:spTree>
    <p:extLst>
      <p:ext uri="{BB962C8B-B14F-4D97-AF65-F5344CB8AC3E}">
        <p14:creationId xmlns:p14="http://schemas.microsoft.com/office/powerpoint/2010/main" val="8510426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1"/>
            <a:ext cx="2972098" cy="464205"/>
          </a:xfrm>
          <a:prstGeom prst="rect">
            <a:avLst/>
          </a:prstGeom>
          <a:noFill/>
          <a:ln w="9525">
            <a:noFill/>
            <a:miter lim="800000"/>
            <a:headEnd/>
            <a:tailEnd/>
          </a:ln>
          <a:effectLst/>
        </p:spPr>
        <p:txBody>
          <a:bodyPr vert="horz" wrap="square" lIns="19230" tIns="0" rIns="19230" bIns="0" numCol="1" anchor="t" anchorCtr="0" compatLnSpc="1">
            <a:prstTxWarp prst="textNoShape">
              <a:avLst/>
            </a:prstTxWarp>
          </a:bodyPr>
          <a:lstStyle>
            <a:lvl1pPr defTabSz="923186">
              <a:lnSpc>
                <a:spcPct val="100000"/>
              </a:lnSpc>
              <a:spcBef>
                <a:spcPct val="0"/>
              </a:spcBef>
              <a:defRPr sz="1100" b="0" i="1">
                <a:effectLst/>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3885903" y="1"/>
            <a:ext cx="2972097" cy="464205"/>
          </a:xfrm>
          <a:prstGeom prst="rect">
            <a:avLst/>
          </a:prstGeom>
          <a:noFill/>
          <a:ln w="9525">
            <a:noFill/>
            <a:miter lim="800000"/>
            <a:headEnd/>
            <a:tailEnd/>
          </a:ln>
          <a:effectLst/>
        </p:spPr>
        <p:txBody>
          <a:bodyPr vert="horz" wrap="square" lIns="19230" tIns="0" rIns="19230" bIns="0" numCol="1" anchor="t" anchorCtr="0" compatLnSpc="1">
            <a:prstTxWarp prst="textNoShape">
              <a:avLst/>
            </a:prstTxWarp>
          </a:bodyPr>
          <a:lstStyle>
            <a:lvl1pPr algn="r" defTabSz="923186">
              <a:lnSpc>
                <a:spcPct val="100000"/>
              </a:lnSpc>
              <a:spcBef>
                <a:spcPct val="0"/>
              </a:spcBef>
              <a:defRPr sz="1100" b="0" i="1">
                <a:effectLst/>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0" y="8832195"/>
            <a:ext cx="2972098" cy="464205"/>
          </a:xfrm>
          <a:prstGeom prst="rect">
            <a:avLst/>
          </a:prstGeom>
          <a:noFill/>
          <a:ln w="9525">
            <a:noFill/>
            <a:miter lim="800000"/>
            <a:headEnd/>
            <a:tailEnd/>
          </a:ln>
          <a:effectLst/>
        </p:spPr>
        <p:txBody>
          <a:bodyPr vert="horz" wrap="square" lIns="19230" tIns="0" rIns="19230" bIns="0" numCol="1" anchor="b" anchorCtr="0" compatLnSpc="1">
            <a:prstTxWarp prst="textNoShape">
              <a:avLst/>
            </a:prstTxWarp>
          </a:bodyPr>
          <a:lstStyle>
            <a:lvl1pPr defTabSz="923186">
              <a:lnSpc>
                <a:spcPct val="100000"/>
              </a:lnSpc>
              <a:spcBef>
                <a:spcPct val="0"/>
              </a:spcBef>
              <a:defRPr sz="1100" b="0" i="1">
                <a:effectLst/>
                <a:latin typeface="Times New Roman" pitchFamily="18" charset="0"/>
              </a:defRPr>
            </a:lvl1pPr>
          </a:lstStyle>
          <a:p>
            <a:pPr>
              <a:defRPr/>
            </a:pPr>
            <a:endParaRPr lang="en-US"/>
          </a:p>
        </p:txBody>
      </p:sp>
      <p:sp>
        <p:nvSpPr>
          <p:cNvPr id="2053" name="Rectangle 5"/>
          <p:cNvSpPr>
            <a:spLocks noGrp="1" noChangeArrowheads="1"/>
          </p:cNvSpPr>
          <p:nvPr>
            <p:ph type="sldNum" sz="quarter" idx="5"/>
          </p:nvPr>
        </p:nvSpPr>
        <p:spPr bwMode="auto">
          <a:xfrm>
            <a:off x="3885903" y="8832195"/>
            <a:ext cx="2972097" cy="464205"/>
          </a:xfrm>
          <a:prstGeom prst="rect">
            <a:avLst/>
          </a:prstGeom>
          <a:noFill/>
          <a:ln w="9525">
            <a:noFill/>
            <a:miter lim="800000"/>
            <a:headEnd/>
            <a:tailEnd/>
          </a:ln>
          <a:effectLst/>
        </p:spPr>
        <p:txBody>
          <a:bodyPr vert="horz" wrap="square" lIns="19230" tIns="0" rIns="19230" bIns="0" numCol="1" anchor="b" anchorCtr="0" compatLnSpc="1">
            <a:prstTxWarp prst="textNoShape">
              <a:avLst/>
            </a:prstTxWarp>
          </a:bodyPr>
          <a:lstStyle>
            <a:lvl1pPr algn="r" defTabSz="923186">
              <a:lnSpc>
                <a:spcPct val="100000"/>
              </a:lnSpc>
              <a:spcBef>
                <a:spcPct val="0"/>
              </a:spcBef>
              <a:defRPr sz="1100" b="0" i="1">
                <a:effectLst/>
                <a:latin typeface="Times New Roman" pitchFamily="18" charset="0"/>
              </a:defRPr>
            </a:lvl1pPr>
          </a:lstStyle>
          <a:p>
            <a:pPr>
              <a:defRPr/>
            </a:pPr>
            <a:fld id="{B2E7254A-A0D5-410A-95EF-9793C32CDD81}" type="slidenum">
              <a:rPr lang="en-US"/>
              <a:pPr>
                <a:defRPr/>
              </a:pPr>
              <a:t>‹#›</a:t>
            </a:fld>
            <a:endParaRPr lang="en-US"/>
          </a:p>
        </p:txBody>
      </p:sp>
      <p:sp>
        <p:nvSpPr>
          <p:cNvPr id="2054" name="Rectangle 6"/>
          <p:cNvSpPr>
            <a:spLocks noGrp="1" noChangeArrowheads="1"/>
          </p:cNvSpPr>
          <p:nvPr>
            <p:ph type="body" sz="quarter" idx="3"/>
          </p:nvPr>
        </p:nvSpPr>
        <p:spPr bwMode="auto">
          <a:xfrm>
            <a:off x="913805" y="4416099"/>
            <a:ext cx="5030391" cy="4182457"/>
          </a:xfrm>
          <a:prstGeom prst="rect">
            <a:avLst/>
          </a:prstGeom>
          <a:noFill/>
          <a:ln w="9525">
            <a:noFill/>
            <a:miter lim="800000"/>
            <a:headEnd/>
            <a:tailEnd/>
          </a:ln>
          <a:effectLst/>
        </p:spPr>
        <p:txBody>
          <a:bodyPr vert="horz" wrap="square" lIns="92942" tIns="46472" rIns="92942" bIns="46472"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4039" name="Rectangle 7"/>
          <p:cNvSpPr>
            <a:spLocks noGrp="1" noRot="1" noChangeAspect="1" noChangeArrowheads="1" noTextEdit="1"/>
          </p:cNvSpPr>
          <p:nvPr>
            <p:ph type="sldImg" idx="2"/>
          </p:nvPr>
        </p:nvSpPr>
        <p:spPr bwMode="auto">
          <a:xfrm>
            <a:off x="1114425" y="703263"/>
            <a:ext cx="4629150" cy="3473450"/>
          </a:xfrm>
          <a:prstGeom prst="rect">
            <a:avLst/>
          </a:prstGeom>
          <a:noFill/>
          <a:ln w="12700">
            <a:solidFill>
              <a:schemeClr val="tx1"/>
            </a:solidFill>
            <a:miter lim="800000"/>
            <a:headEnd/>
            <a:tailEnd/>
          </a:ln>
        </p:spPr>
      </p:sp>
    </p:spTree>
    <p:extLst>
      <p:ext uri="{BB962C8B-B14F-4D97-AF65-F5344CB8AC3E}">
        <p14:creationId xmlns:p14="http://schemas.microsoft.com/office/powerpoint/2010/main" val="24541380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a:spLocks noGrp="1" noChangeArrowheads="1"/>
          </p:cNvSpPr>
          <p:nvPr>
            <p:ph type="sldNum" sz="quarter" idx="5"/>
          </p:nvPr>
        </p:nvSpPr>
        <p:spPr>
          <a:noFill/>
        </p:spPr>
        <p:txBody>
          <a:bodyPr/>
          <a:lstStyle/>
          <a:p>
            <a:fld id="{BF2A8627-8987-406D-A21E-ABBD08ABA479}" type="slidenum">
              <a:rPr lang="en-US" smtClean="0">
                <a:solidFill>
                  <a:prstClr val="black"/>
                </a:solidFill>
              </a:rPr>
              <a:pPr/>
              <a:t>1</a:t>
            </a:fld>
            <a:endParaRPr lang="en-US" smtClean="0">
              <a:solidFill>
                <a:prstClr val="black"/>
              </a:solidFill>
            </a:endParaRPr>
          </a:p>
        </p:txBody>
      </p:sp>
      <p:sp>
        <p:nvSpPr>
          <p:cNvPr id="45059" name="Rectangle 2"/>
          <p:cNvSpPr>
            <a:spLocks noGrp="1" noRot="1" noChangeAspect="1" noChangeArrowheads="1" noTextEdit="1"/>
          </p:cNvSpPr>
          <p:nvPr>
            <p:ph type="sldImg"/>
          </p:nvPr>
        </p:nvSpPr>
        <p:spPr>
          <a:solidFill>
            <a:srgbClr val="FFFFFF"/>
          </a:solidFill>
          <a:ln/>
        </p:spPr>
      </p:sp>
      <p:sp>
        <p:nvSpPr>
          <p:cNvPr id="45060" name="Rectangle 3"/>
          <p:cNvSpPr>
            <a:spLocks noGrp="1" noChangeArrowheads="1"/>
          </p:cNvSpPr>
          <p:nvPr>
            <p:ph type="body" idx="1"/>
          </p:nvPr>
        </p:nvSpPr>
        <p:spPr>
          <a:xfrm>
            <a:off x="1043286" y="4496027"/>
            <a:ext cx="5591472" cy="4419171"/>
          </a:xfrm>
          <a:solidFill>
            <a:srgbClr val="FFFFFF"/>
          </a:solidFill>
          <a:ln>
            <a:solidFill>
              <a:srgbClr val="000000"/>
            </a:solidFill>
          </a:ln>
        </p:spPr>
        <p:txBody>
          <a:bodyPr lIns="90576" tIns="45288" rIns="90576" bIns="45288"/>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5"/>
          <p:cNvSpPr>
            <a:spLocks noGrp="1" noChangeArrowheads="1"/>
          </p:cNvSpPr>
          <p:nvPr>
            <p:ph type="sldNum" sz="quarter" idx="5"/>
          </p:nvPr>
        </p:nvSpPr>
        <p:spPr>
          <a:noFill/>
        </p:spPr>
        <p:txBody>
          <a:bodyPr/>
          <a:lstStyle/>
          <a:p>
            <a:fld id="{9DB06C04-4CCC-488B-AA42-81AC83E4EBE7}" type="slidenum">
              <a:rPr lang="en-US" smtClean="0">
                <a:solidFill>
                  <a:prstClr val="black"/>
                </a:solidFill>
              </a:rPr>
              <a:pPr/>
              <a:t>2</a:t>
            </a:fld>
            <a:endParaRPr lang="en-US" smtClean="0">
              <a:solidFill>
                <a:prstClr val="black"/>
              </a:solidFill>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p:cNvSpPr>
            <a:spLocks noGrp="1" noChangeArrowheads="1"/>
          </p:cNvSpPr>
          <p:nvPr>
            <p:ph type="sldNum" sz="quarter" idx="5"/>
          </p:nvPr>
        </p:nvSpPr>
        <p:spPr>
          <a:noFill/>
        </p:spPr>
        <p:txBody>
          <a:bodyPr/>
          <a:lstStyle/>
          <a:p>
            <a:fld id="{E246BA2F-7066-4E43-9E58-D7A0CE9E57FE}" type="slidenum">
              <a:rPr lang="en-US" smtClean="0">
                <a:solidFill>
                  <a:prstClr val="black"/>
                </a:solidFill>
              </a:rPr>
              <a:pPr/>
              <a:t>5</a:t>
            </a:fld>
            <a:endParaRPr lang="en-US" smtClean="0">
              <a:solidFill>
                <a:prstClr val="black"/>
              </a:solidFill>
            </a:endParaRPr>
          </a:p>
        </p:txBody>
      </p:sp>
      <p:sp>
        <p:nvSpPr>
          <p:cNvPr id="50179" name="Rectangle 2"/>
          <p:cNvSpPr>
            <a:spLocks noGrp="1" noRot="1" noChangeAspect="1" noChangeArrowheads="1" noTextEdit="1"/>
          </p:cNvSpPr>
          <p:nvPr>
            <p:ph type="sldImg"/>
          </p:nvPr>
        </p:nvSpPr>
        <p:spPr>
          <a:xfrm>
            <a:off x="1119188" y="693738"/>
            <a:ext cx="4624387" cy="3468687"/>
          </a:xfrm>
          <a:ln/>
        </p:spPr>
      </p:sp>
      <p:sp>
        <p:nvSpPr>
          <p:cNvPr id="50180" name="Rectangle 3"/>
          <p:cNvSpPr>
            <a:spLocks noGrp="1" noChangeArrowheads="1"/>
          </p:cNvSpPr>
          <p:nvPr>
            <p:ph type="body" idx="1"/>
          </p:nvPr>
        </p:nvSpPr>
        <p:spPr>
          <a:xfrm>
            <a:off x="913805" y="4393041"/>
            <a:ext cx="1268016" cy="461131"/>
          </a:xfrm>
          <a:noFill/>
          <a:ln/>
        </p:spPr>
        <p:txBody>
          <a:bodyPr/>
          <a:lstStyle/>
          <a:p>
            <a:r>
              <a:rPr lang="en-US" dirty="0" smtClean="0"/>
              <a:t>Using Clock </a:t>
            </a:r>
            <a:r>
              <a:rPr lang="en-US" dirty="0" err="1" smtClean="0"/>
              <a:t>Fxns</a:t>
            </a:r>
            <a:r>
              <a:rPr lang="en-US" dirty="0" smtClean="0"/>
              <a:t> in a Task-based video system is not really recommended because Clock Functions will ALWAYS have a higher priority than TSKs because periodic functions</a:t>
            </a:r>
            <a:r>
              <a:rPr lang="en-US" baseline="0" dirty="0" smtClean="0"/>
              <a:t> </a:t>
            </a:r>
            <a:r>
              <a:rPr lang="en-US" dirty="0" smtClean="0"/>
              <a:t>s are prioritized as </a:t>
            </a:r>
            <a:r>
              <a:rPr lang="en-US" dirty="0" err="1" smtClean="0"/>
              <a:t>Swis</a:t>
            </a:r>
            <a:r>
              <a:rPr lang="en-US" dirty="0" smtClean="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sldNum" sz="quarter" idx="5"/>
          </p:nvPr>
        </p:nvSpPr>
        <p:spPr>
          <a:noFill/>
        </p:spPr>
        <p:txBody>
          <a:bodyPr/>
          <a:lstStyle/>
          <a:p>
            <a:fld id="{23BFC4C4-ED02-4228-A90A-0D05A1D4C032}" type="slidenum">
              <a:rPr lang="en-US">
                <a:solidFill>
                  <a:prstClr val="black"/>
                </a:solidFill>
              </a:rPr>
              <a:pPr/>
              <a:t>9</a:t>
            </a:fld>
            <a:endParaRPr lang="en-US">
              <a:solidFill>
                <a:prstClr val="black"/>
              </a:solidFill>
            </a:endParaRPr>
          </a:p>
        </p:txBody>
      </p:sp>
      <p:sp>
        <p:nvSpPr>
          <p:cNvPr id="59395" name="Rectangle 2"/>
          <p:cNvSpPr>
            <a:spLocks noGrp="1" noRot="1" noChangeAspect="1" noChangeArrowheads="1" noTextEdit="1"/>
          </p:cNvSpPr>
          <p:nvPr>
            <p:ph type="sldImg"/>
          </p:nvPr>
        </p:nvSpPr>
        <p:spPr>
          <a:xfrm>
            <a:off x="1116013" y="703263"/>
            <a:ext cx="4630737" cy="3475037"/>
          </a:xfrm>
          <a:ln/>
        </p:spPr>
      </p:sp>
      <p:sp>
        <p:nvSpPr>
          <p:cNvPr id="59396" name="Rectangle 3"/>
          <p:cNvSpPr>
            <a:spLocks noGrp="1" noChangeArrowheads="1"/>
          </p:cNvSpPr>
          <p:nvPr>
            <p:ph type="body" idx="1"/>
          </p:nvPr>
        </p:nvSpPr>
        <p:spPr>
          <a:xfrm>
            <a:off x="686098" y="4414560"/>
            <a:ext cx="5637609" cy="4262388"/>
          </a:xfrm>
          <a:noFill/>
          <a:ln/>
        </p:spPr>
        <p:txBody>
          <a:bodyPr lIns="92290" tIns="46145" rIns="92290" bIns="46145"/>
          <a:lstStyle/>
          <a:p>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p:cNvSpPr>
            <a:spLocks noGrp="1" noChangeArrowheads="1"/>
          </p:cNvSpPr>
          <p:nvPr>
            <p:ph type="sldNum" sz="quarter" idx="5"/>
          </p:nvPr>
        </p:nvSpPr>
        <p:spPr>
          <a:noFill/>
        </p:spPr>
        <p:txBody>
          <a:bodyPr/>
          <a:lstStyle/>
          <a:p>
            <a:fld id="{B03E7C59-7E05-430F-8C9B-B8B26EDDB9A6}" type="slidenum">
              <a:rPr lang="en-US">
                <a:solidFill>
                  <a:prstClr val="black"/>
                </a:solidFill>
              </a:rPr>
              <a:pPr/>
              <a:t>10</a:t>
            </a:fld>
            <a:endParaRPr lang="en-US">
              <a:solidFill>
                <a:prstClr val="black"/>
              </a:solidFill>
            </a:endParaRPr>
          </a:p>
        </p:txBody>
      </p:sp>
      <p:sp>
        <p:nvSpPr>
          <p:cNvPr id="39939" name="Rectangle 2"/>
          <p:cNvSpPr>
            <a:spLocks noGrp="1" noRot="1" noChangeAspect="1" noChangeArrowheads="1" noTextEdit="1"/>
          </p:cNvSpPr>
          <p:nvPr>
            <p:ph type="sldImg"/>
          </p:nvPr>
        </p:nvSpPr>
        <p:spPr>
          <a:xfrm>
            <a:off x="1112838" y="701675"/>
            <a:ext cx="4630737" cy="3475038"/>
          </a:xfrm>
          <a:ln cap="flat"/>
        </p:spPr>
      </p:sp>
      <p:sp>
        <p:nvSpPr>
          <p:cNvPr id="39940" name="Rectangle 3"/>
          <p:cNvSpPr>
            <a:spLocks noGrp="1" noChangeArrowheads="1"/>
          </p:cNvSpPr>
          <p:nvPr>
            <p:ph type="body" idx="1"/>
          </p:nvPr>
        </p:nvSpPr>
        <p:spPr>
          <a:xfrm>
            <a:off x="910828" y="4416099"/>
            <a:ext cx="5036344" cy="4182457"/>
          </a:xfrm>
          <a:noFill/>
          <a:ln/>
        </p:spPr>
        <p:txBody>
          <a:bodyPr lIns="93003" tIns="42561" rIns="93003" bIns="42561"/>
          <a:lstStyle/>
          <a:p>
            <a:pPr defTabSz="841327"/>
            <a:endParaRPr lang="en-US" sz="7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p:cNvSpPr>
            <a:spLocks noGrp="1" noChangeArrowheads="1"/>
          </p:cNvSpPr>
          <p:nvPr>
            <p:ph type="sldNum" sz="quarter" idx="5"/>
          </p:nvPr>
        </p:nvSpPr>
        <p:spPr>
          <a:noFill/>
        </p:spPr>
        <p:txBody>
          <a:bodyPr/>
          <a:lstStyle/>
          <a:p>
            <a:fld id="{46AD0552-6C7C-46F3-A9A0-A581CF7C0266}" type="slidenum">
              <a:rPr lang="en-US" smtClean="0"/>
              <a:pPr/>
              <a:t>11</a:t>
            </a:fld>
            <a:endParaRPr lang="en-US" smtClean="0"/>
          </a:p>
        </p:txBody>
      </p:sp>
      <p:sp>
        <p:nvSpPr>
          <p:cNvPr id="36867" name="Rectangle 2"/>
          <p:cNvSpPr>
            <a:spLocks noGrp="1" noRot="1" noChangeAspect="1" noChangeArrowheads="1" noTextEdit="1"/>
          </p:cNvSpPr>
          <p:nvPr>
            <p:ph type="sldImg"/>
          </p:nvPr>
        </p:nvSpPr>
        <p:spPr>
          <a:xfrm>
            <a:off x="1114425" y="703263"/>
            <a:ext cx="4630738" cy="3475037"/>
          </a:xfrm>
          <a:ln/>
        </p:spPr>
      </p:sp>
      <p:sp>
        <p:nvSpPr>
          <p:cNvPr id="36868" name="Rectangle 3"/>
          <p:cNvSpPr>
            <a:spLocks noGrp="1" noChangeArrowheads="1"/>
          </p:cNvSpPr>
          <p:nvPr>
            <p:ph type="body" idx="1"/>
          </p:nvPr>
        </p:nvSpPr>
        <p:spPr>
          <a:xfrm>
            <a:off x="915294" y="4414561"/>
            <a:ext cx="5027414" cy="4183995"/>
          </a:xfrm>
          <a:noFill/>
          <a:ln/>
        </p:spPr>
        <p:txBody>
          <a:bodyPr/>
          <a:lstStyle/>
          <a:p>
            <a:r>
              <a:rPr lang="en-US" smtClean="0"/>
              <a:t>The main point of this slide is that BIOS (scheduler) manages priorities for you. Each thread (SWI, TSK) runs unaware of the others around it. As INTs post SEMs and SWIs, higher priority threads become ready, and BIOS will run each in order of priority, dropping down to lower levels as higher ones are satisfied or block waiting for additional resources. All this is </a:t>
            </a:r>
            <a:r>
              <a:rPr lang="en-US" b="1" smtClean="0"/>
              <a:t>automatic</a:t>
            </a:r>
            <a:r>
              <a:rPr lang="en-US" smtClean="0"/>
              <a:t> to the user - just write each thread, assign it a priority, and BIOS does the rest. </a:t>
            </a:r>
          </a:p>
          <a:p>
            <a:endParaRPr lang="en-US" smtClean="0"/>
          </a:p>
          <a:p>
            <a:r>
              <a:rPr lang="en-US" smtClean="0"/>
              <a:t>A few points to note: SWIs run to completion - like a function call - a one shot, if you like. TSKs, instead, usually linger much longer - their execute phase is a while loop. They </a:t>
            </a:r>
            <a:r>
              <a:rPr lang="en-US" i="1" smtClean="0"/>
              <a:t>block</a:t>
            </a:r>
            <a:r>
              <a:rPr lang="en-US" smtClean="0"/>
              <a:t> when they run out of resources, and lower threads (or idle) can run until the requested resource arrives. In Bridge, TSKs are dynamically created and can be deleted, but normally are ready, running, or blocked. </a:t>
            </a:r>
          </a:p>
          <a:p>
            <a:endParaRPr lang="en-US" smtClean="0"/>
          </a:p>
          <a:p>
            <a:r>
              <a:rPr lang="en-US" smtClean="0"/>
              <a:t>An interesting point: if RMS is a TSK of low priority (1), how come it’s running when TSK1 and TSK2 are ready? Recall that RMS implements the </a:t>
            </a:r>
            <a:r>
              <a:rPr lang="en-US" i="1" smtClean="0"/>
              <a:t>create</a:t>
            </a:r>
            <a:r>
              <a:rPr lang="en-US" smtClean="0"/>
              <a:t> phase of each TSK, and until the gateway puts the TSK in </a:t>
            </a:r>
            <a:r>
              <a:rPr lang="en-US" i="1" smtClean="0"/>
              <a:t>run </a:t>
            </a:r>
            <a:r>
              <a:rPr lang="en-US" smtClean="0"/>
              <a:t>mode, its priority is (minus) -1, thus TSK1 and TSK2 have no priority until elevated with </a:t>
            </a:r>
            <a:r>
              <a:rPr lang="en-US" i="1" smtClean="0"/>
              <a:t>DSPNode_run().</a:t>
            </a:r>
            <a:endParaRPr lang="en-US" smtClean="0"/>
          </a:p>
          <a:p>
            <a:endParaRPr lang="en-US" smtClean="0"/>
          </a:p>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If you call _</a:t>
            </a:r>
            <a:r>
              <a:rPr lang="en-US" dirty="0" err="1" smtClean="0"/>
              <a:t>pend</a:t>
            </a:r>
            <a:r>
              <a:rPr lang="en-US" dirty="0" smtClean="0"/>
              <a:t> in a </a:t>
            </a:r>
            <a:r>
              <a:rPr lang="en-US" dirty="0" err="1" smtClean="0"/>
              <a:t>Swi</a:t>
            </a:r>
            <a:r>
              <a:rPr lang="en-US" dirty="0" smtClean="0"/>
              <a:t>, an assertion causes an abort to occur. I guess you can technically</a:t>
            </a:r>
            <a:r>
              <a:rPr lang="en-US" baseline="0" dirty="0" smtClean="0"/>
              <a:t> call _</a:t>
            </a:r>
            <a:r>
              <a:rPr lang="en-US" baseline="0" dirty="0" err="1" smtClean="0"/>
              <a:t>pend</a:t>
            </a:r>
            <a:r>
              <a:rPr lang="en-US" baseline="0" dirty="0" smtClean="0"/>
              <a:t> with a timeout of ZERO, but don’t push it!!</a:t>
            </a:r>
            <a:endParaRPr lang="en-US" dirty="0"/>
          </a:p>
        </p:txBody>
      </p:sp>
      <p:sp>
        <p:nvSpPr>
          <p:cNvPr id="4" name="Slide Number Placeholder 3"/>
          <p:cNvSpPr>
            <a:spLocks noGrp="1"/>
          </p:cNvSpPr>
          <p:nvPr>
            <p:ph type="sldNum" sz="quarter" idx="10"/>
          </p:nvPr>
        </p:nvSpPr>
        <p:spPr/>
        <p:txBody>
          <a:bodyPr/>
          <a:lstStyle/>
          <a:p>
            <a:pPr>
              <a:defRPr/>
            </a:pPr>
            <a:fld id="{B2E7254A-A0D5-410A-95EF-9793C32CDD81}" type="slidenum">
              <a:rPr lang="en-US" smtClean="0"/>
              <a:pPr>
                <a:defRPr/>
              </a:pPr>
              <a:t>14</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p:cNvSpPr>
            <a:spLocks noGrp="1" noChangeArrowheads="1"/>
          </p:cNvSpPr>
          <p:nvPr>
            <p:ph type="sldNum" sz="quarter" idx="5"/>
          </p:nvPr>
        </p:nvSpPr>
        <p:spPr>
          <a:noFill/>
        </p:spPr>
        <p:txBody>
          <a:bodyPr/>
          <a:lstStyle/>
          <a:p>
            <a:fld id="{0F1671F7-16DE-4524-97C2-9D56ED333F0F}" type="slidenum">
              <a:rPr lang="en-US" smtClean="0"/>
              <a:pPr/>
              <a:t>16</a:t>
            </a:fld>
            <a:endParaRPr lang="en-US" smtClean="0"/>
          </a:p>
        </p:txBody>
      </p:sp>
      <p:sp>
        <p:nvSpPr>
          <p:cNvPr id="37891" name="Rectangle 2"/>
          <p:cNvSpPr>
            <a:spLocks noGrp="1" noRot="1" noChangeAspect="1" noChangeArrowheads="1" noTextEdit="1"/>
          </p:cNvSpPr>
          <p:nvPr>
            <p:ph type="sldImg"/>
          </p:nvPr>
        </p:nvSpPr>
        <p:spPr>
          <a:xfrm>
            <a:off x="1114425" y="703263"/>
            <a:ext cx="4630738" cy="3475037"/>
          </a:xfrm>
          <a:ln/>
        </p:spPr>
      </p:sp>
      <p:sp>
        <p:nvSpPr>
          <p:cNvPr id="37892" name="Rectangle 3"/>
          <p:cNvSpPr>
            <a:spLocks noGrp="1" noChangeArrowheads="1"/>
          </p:cNvSpPr>
          <p:nvPr>
            <p:ph type="body" idx="1"/>
          </p:nvPr>
        </p:nvSpPr>
        <p:spPr>
          <a:xfrm>
            <a:off x="915294" y="4414561"/>
            <a:ext cx="5027414" cy="4183995"/>
          </a:xfrm>
          <a:noFill/>
          <a:ln/>
        </p:spPr>
        <p:txBody>
          <a:bodyPr/>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Grp="1" noChangeArrowheads="1"/>
          </p:cNvSpPr>
          <p:nvPr>
            <p:ph type="sldNum" sz="quarter" idx="5"/>
          </p:nvPr>
        </p:nvSpPr>
        <p:spPr>
          <a:noFill/>
        </p:spPr>
        <p:txBody>
          <a:bodyPr/>
          <a:lstStyle/>
          <a:p>
            <a:fld id="{73CB19BE-7F09-4EC4-8940-4F3220AA8E14}" type="slidenum">
              <a:rPr lang="en-US" smtClean="0"/>
              <a:pPr/>
              <a:t>17</a:t>
            </a:fld>
            <a:endParaRPr lang="en-US" smtClean="0"/>
          </a:p>
        </p:txBody>
      </p:sp>
      <p:sp>
        <p:nvSpPr>
          <p:cNvPr id="38915" name="Rectangle 2"/>
          <p:cNvSpPr>
            <a:spLocks noGrp="1" noRot="1" noChangeAspect="1" noChangeArrowheads="1" noTextEdit="1"/>
          </p:cNvSpPr>
          <p:nvPr>
            <p:ph type="sldImg"/>
          </p:nvPr>
        </p:nvSpPr>
        <p:spPr>
          <a:xfrm>
            <a:off x="1114425" y="703263"/>
            <a:ext cx="4630738" cy="3475037"/>
          </a:xfrm>
          <a:ln/>
        </p:spPr>
      </p:sp>
      <p:sp>
        <p:nvSpPr>
          <p:cNvPr id="38916" name="Rectangle 3"/>
          <p:cNvSpPr>
            <a:spLocks noGrp="1" noChangeArrowheads="1"/>
          </p:cNvSpPr>
          <p:nvPr>
            <p:ph type="body" idx="1"/>
          </p:nvPr>
        </p:nvSpPr>
        <p:spPr>
          <a:xfrm>
            <a:off x="915294" y="4414561"/>
            <a:ext cx="5027414" cy="4183995"/>
          </a:xfrm>
          <a:noFill/>
          <a:ln/>
        </p:spPr>
        <p:txBody>
          <a:bodyPr/>
          <a:lstStyle/>
          <a:p>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sldNum" sz="quarter" idx="5"/>
          </p:nvPr>
        </p:nvSpPr>
        <p:spPr>
          <a:noFill/>
        </p:spPr>
        <p:txBody>
          <a:bodyPr/>
          <a:lstStyle/>
          <a:p>
            <a:fld id="{23BFC4C4-ED02-4228-A90A-0D05A1D4C032}" type="slidenum">
              <a:rPr lang="en-US">
                <a:solidFill>
                  <a:prstClr val="black"/>
                </a:solidFill>
              </a:rPr>
              <a:pPr/>
              <a:t>18</a:t>
            </a:fld>
            <a:endParaRPr lang="en-US">
              <a:solidFill>
                <a:prstClr val="black"/>
              </a:solidFill>
            </a:endParaRPr>
          </a:p>
        </p:txBody>
      </p:sp>
      <p:sp>
        <p:nvSpPr>
          <p:cNvPr id="59395" name="Rectangle 2"/>
          <p:cNvSpPr>
            <a:spLocks noGrp="1" noRot="1" noChangeAspect="1" noChangeArrowheads="1" noTextEdit="1"/>
          </p:cNvSpPr>
          <p:nvPr>
            <p:ph type="sldImg"/>
          </p:nvPr>
        </p:nvSpPr>
        <p:spPr>
          <a:xfrm>
            <a:off x="1116013" y="703263"/>
            <a:ext cx="4630737" cy="3475037"/>
          </a:xfrm>
          <a:ln/>
        </p:spPr>
      </p:sp>
      <p:sp>
        <p:nvSpPr>
          <p:cNvPr id="59396" name="Rectangle 3"/>
          <p:cNvSpPr>
            <a:spLocks noGrp="1" noChangeArrowheads="1"/>
          </p:cNvSpPr>
          <p:nvPr>
            <p:ph type="body" idx="1"/>
          </p:nvPr>
        </p:nvSpPr>
        <p:spPr>
          <a:xfrm>
            <a:off x="686098" y="4414560"/>
            <a:ext cx="5637609" cy="4262388"/>
          </a:xfrm>
          <a:noFill/>
          <a:ln/>
        </p:spPr>
        <p:txBody>
          <a:bodyPr lIns="92290" tIns="46145" rIns="92290" bIns="46145"/>
          <a:lstStyle/>
          <a:p>
            <a:endParaRPr lang="en-U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Can use </a:t>
            </a:r>
            <a:r>
              <a:rPr lang="en-US" dirty="0" err="1" smtClean="0"/>
              <a:t>Task_setPri</a:t>
            </a:r>
            <a:r>
              <a:rPr lang="en-US" dirty="0" smtClean="0"/>
              <a:t> to temporarily raise</a:t>
            </a:r>
            <a:r>
              <a:rPr lang="en-US" baseline="0" dirty="0" smtClean="0"/>
              <a:t> the priority of the lower thread to the higher just before data access (discussed next). User can also use </a:t>
            </a:r>
            <a:r>
              <a:rPr lang="en-US" baseline="0" dirty="0" err="1" smtClean="0"/>
              <a:t>GateMutexPri</a:t>
            </a:r>
            <a:r>
              <a:rPr lang="en-US" baseline="0" dirty="0" smtClean="0"/>
              <a:t> which does the same thing…but is easier to use. Alas, if the threads are at the same priority, NONE of this crap happens….</a:t>
            </a:r>
            <a:endParaRPr lang="en-US" dirty="0"/>
          </a:p>
        </p:txBody>
      </p:sp>
      <p:sp>
        <p:nvSpPr>
          <p:cNvPr id="4" name="Slide Number Placeholder 3"/>
          <p:cNvSpPr>
            <a:spLocks noGrp="1"/>
          </p:cNvSpPr>
          <p:nvPr>
            <p:ph type="sldNum" sz="quarter" idx="10"/>
          </p:nvPr>
        </p:nvSpPr>
        <p:spPr/>
        <p:txBody>
          <a:bodyPr/>
          <a:lstStyle/>
          <a:p>
            <a:pPr>
              <a:defRPr/>
            </a:pPr>
            <a:fld id="{7ECDD63F-2AFC-428B-BB59-1F672FC4E289}" type="slidenum">
              <a:rPr lang="en-US" smtClean="0"/>
              <a:pPr>
                <a:defRPr/>
              </a:pPr>
              <a:t>19</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Can use </a:t>
            </a:r>
            <a:r>
              <a:rPr lang="en-US" dirty="0" err="1" smtClean="0"/>
              <a:t>Task_setPri</a:t>
            </a:r>
            <a:r>
              <a:rPr lang="en-US" dirty="0" smtClean="0"/>
              <a:t> to temporarily raise</a:t>
            </a:r>
            <a:r>
              <a:rPr lang="en-US" baseline="0" dirty="0" smtClean="0"/>
              <a:t> the priority of the lower thread to the higher just before data access (discussed next). User can also use </a:t>
            </a:r>
            <a:r>
              <a:rPr lang="en-US" baseline="0" dirty="0" err="1" smtClean="0"/>
              <a:t>GateMutexPri</a:t>
            </a:r>
            <a:r>
              <a:rPr lang="en-US" baseline="0" dirty="0" smtClean="0"/>
              <a:t> which does the same thing…but is easier to use. Alas, if the threads are at the same priority, NONE of this crap happens….</a:t>
            </a:r>
            <a:endParaRPr lang="en-US" dirty="0"/>
          </a:p>
        </p:txBody>
      </p:sp>
      <p:sp>
        <p:nvSpPr>
          <p:cNvPr id="4" name="Slide Number Placeholder 3"/>
          <p:cNvSpPr>
            <a:spLocks noGrp="1"/>
          </p:cNvSpPr>
          <p:nvPr>
            <p:ph type="sldNum" sz="quarter" idx="10"/>
          </p:nvPr>
        </p:nvSpPr>
        <p:spPr/>
        <p:txBody>
          <a:bodyPr/>
          <a:lstStyle/>
          <a:p>
            <a:pPr>
              <a:defRPr/>
            </a:pPr>
            <a:fld id="{7ECDD63F-2AFC-428B-BB59-1F672FC4E289}" type="slidenum">
              <a:rPr lang="en-US" smtClean="0"/>
              <a:pPr>
                <a:defRPr/>
              </a:pPr>
              <a:t>20</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2E7254A-A0D5-410A-95EF-9793C32CDD81}" type="slidenum">
              <a:rPr lang="en-US" smtClean="0"/>
              <a:pPr>
                <a:defRPr/>
              </a:pPr>
              <a:t>22</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Grp="1" noChangeArrowheads="1"/>
          </p:cNvSpPr>
          <p:nvPr>
            <p:ph type="sldNum" sz="quarter" idx="5"/>
          </p:nvPr>
        </p:nvSpPr>
        <p:spPr>
          <a:noFill/>
        </p:spPr>
        <p:txBody>
          <a:bodyPr/>
          <a:lstStyle/>
          <a:p>
            <a:fld id="{F5E59A99-3A52-4676-85D3-B772B0223FD2}" type="slidenum">
              <a:rPr lang="en-US">
                <a:solidFill>
                  <a:prstClr val="black"/>
                </a:solidFill>
              </a:rPr>
              <a:pPr/>
              <a:t>24</a:t>
            </a:fld>
            <a:endParaRPr lang="en-US">
              <a:solidFill>
                <a:prstClr val="black"/>
              </a:solidFill>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r>
              <a:rPr lang="en-US" smtClean="0"/>
              <a:t>If</a:t>
            </a:r>
            <a:r>
              <a:rPr lang="en-US" baseline="0" smtClean="0"/>
              <a:t> both an andMask and an orMask are used, they are OR’d together.</a:t>
            </a:r>
            <a:endParaRPr lang="en-US"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Grp="1" noChangeArrowheads="1"/>
          </p:cNvSpPr>
          <p:nvPr>
            <p:ph type="sldNum" sz="quarter" idx="5"/>
          </p:nvPr>
        </p:nvSpPr>
        <p:spPr>
          <a:noFill/>
        </p:spPr>
        <p:txBody>
          <a:bodyPr/>
          <a:lstStyle/>
          <a:p>
            <a:fld id="{F5E59A99-3A52-4676-85D3-B772B0223FD2}" type="slidenum">
              <a:rPr lang="en-US">
                <a:solidFill>
                  <a:prstClr val="black"/>
                </a:solidFill>
              </a:rPr>
              <a:pPr/>
              <a:t>25</a:t>
            </a:fld>
            <a:endParaRPr lang="en-US">
              <a:solidFill>
                <a:prstClr val="black"/>
              </a:solidFill>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r>
              <a:rPr lang="en-US" dirty="0" smtClean="0"/>
              <a:t>Writing semaphore</a:t>
            </a:r>
            <a:r>
              <a:rPr lang="en-US" baseline="0" dirty="0" smtClean="0"/>
              <a:t> </a:t>
            </a:r>
            <a:r>
              <a:rPr lang="en-US" baseline="0" dirty="0" err="1" smtClean="0"/>
              <a:t>init’d</a:t>
            </a:r>
            <a:r>
              <a:rPr lang="en-US" baseline="0" dirty="0" smtClean="0"/>
              <a:t> to mailbox length. Reading semaphore count </a:t>
            </a:r>
            <a:r>
              <a:rPr lang="en-US" baseline="0" dirty="0" err="1" smtClean="0"/>
              <a:t>init’d</a:t>
            </a:r>
            <a:r>
              <a:rPr lang="en-US" baseline="0" dirty="0" smtClean="0"/>
              <a:t> to zero.</a:t>
            </a:r>
            <a:endParaRPr 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NULL is the </a:t>
            </a:r>
            <a:r>
              <a:rPr lang="en-US" dirty="0" err="1" smtClean="0"/>
              <a:t>Attrs</a:t>
            </a:r>
            <a:r>
              <a:rPr lang="en-US" dirty="0" smtClean="0"/>
              <a:t> structure</a:t>
            </a:r>
            <a:r>
              <a:rPr lang="en-US" baseline="0" dirty="0" smtClean="0"/>
              <a:t> for this creation. </a:t>
            </a:r>
            <a:endParaRPr lang="en-US" dirty="0"/>
          </a:p>
        </p:txBody>
      </p:sp>
      <p:sp>
        <p:nvSpPr>
          <p:cNvPr id="4" name="Slide Number Placeholder 3"/>
          <p:cNvSpPr>
            <a:spLocks noGrp="1"/>
          </p:cNvSpPr>
          <p:nvPr>
            <p:ph type="sldNum" sz="quarter" idx="10"/>
          </p:nvPr>
        </p:nvSpPr>
        <p:spPr/>
        <p:txBody>
          <a:bodyPr/>
          <a:lstStyle/>
          <a:p>
            <a:pPr>
              <a:defRPr/>
            </a:pPr>
            <a:fld id="{39146D69-7662-4846-8666-C3A29DC3CBC9}" type="slidenum">
              <a:rPr lang="en-US" smtClean="0">
                <a:solidFill>
                  <a:prstClr val="black"/>
                </a:solidFill>
              </a:rPr>
              <a:pPr>
                <a:defRPr/>
              </a:pPr>
              <a:t>27</a:t>
            </a:fld>
            <a:endParaRPr 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5"/>
          <p:cNvSpPr>
            <a:spLocks noGrp="1" noChangeArrowheads="1"/>
          </p:cNvSpPr>
          <p:nvPr>
            <p:ph type="sldNum" sz="quarter" idx="5"/>
          </p:nvPr>
        </p:nvSpPr>
        <p:spPr>
          <a:noFill/>
        </p:spPr>
        <p:txBody>
          <a:bodyPr/>
          <a:lstStyle/>
          <a:p>
            <a:fld id="{C4C940DF-BB0C-439D-9911-E816CEEB4148}" type="slidenum">
              <a:rPr lang="en-US">
                <a:solidFill>
                  <a:prstClr val="black"/>
                </a:solidFill>
              </a:rPr>
              <a:pPr/>
              <a:t>28</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dirty="0" smtClean="0"/>
              <a:t>Why </a:t>
            </a:r>
            <a:r>
              <a:rPr lang="en-US" dirty="0" err="1" smtClean="0"/>
              <a:t>taskParams</a:t>
            </a:r>
            <a:r>
              <a:rPr lang="en-US" dirty="0" smtClean="0"/>
              <a:t>? It sets the defaults if you don’t. Plus, you can change those defaults (like priority above). Also, it opens up the ability for adding new features (</a:t>
            </a:r>
            <a:r>
              <a:rPr lang="en-US" dirty="0" err="1" smtClean="0"/>
              <a:t>params</a:t>
            </a:r>
            <a:r>
              <a:rPr lang="en-US" dirty="0" smtClean="0"/>
              <a:t>) in the future with the same C code.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You will see this API used in many SYS/BIOS examples. Does</a:t>
            </a:r>
            <a:r>
              <a:rPr lang="en-US" baseline="0" dirty="0" smtClean="0"/>
              <a:t> NOT require RTA Agent. Just </a:t>
            </a:r>
            <a:r>
              <a:rPr lang="en-US" baseline="0" dirty="0" err="1" smtClean="0"/>
              <a:t>SysMin</a:t>
            </a:r>
            <a:r>
              <a:rPr lang="en-US" baseline="0" dirty="0" smtClean="0"/>
              <a:t> and results are not sent to Console until a </a:t>
            </a:r>
            <a:r>
              <a:rPr lang="en-US" baseline="0" dirty="0" err="1" smtClean="0"/>
              <a:t>System_flush</a:t>
            </a:r>
            <a:r>
              <a:rPr lang="en-US" baseline="0" dirty="0" smtClean="0"/>
              <a:t>() is called – like </a:t>
            </a:r>
            <a:r>
              <a:rPr lang="en-US" baseline="0" dirty="0" err="1" smtClean="0"/>
              <a:t>BIOS_exit</a:t>
            </a:r>
            <a:r>
              <a:rPr lang="en-US" baseline="0" dirty="0" smtClean="0"/>
              <a:t>(0). </a:t>
            </a:r>
            <a:r>
              <a:rPr lang="en-US" baseline="0" dirty="0" err="1" smtClean="0"/>
              <a:t>System_printf</a:t>
            </a:r>
            <a:r>
              <a:rPr lang="en-US" baseline="0" dirty="0" smtClean="0"/>
              <a:t>() is a 2400 cycle API (out of IRAM on the C6000). Still pretty big. Only use when system is aborting anyway. FYI – </a:t>
            </a:r>
            <a:r>
              <a:rPr lang="en-US" baseline="0" dirty="0" err="1" smtClean="0"/>
              <a:t>Log_info</a:t>
            </a:r>
            <a:r>
              <a:rPr lang="en-US" baseline="0" dirty="0" smtClean="0"/>
              <a:t> is only 40 cycles. HOO-HA !!</a:t>
            </a:r>
            <a:endParaRPr lang="en-US" dirty="0"/>
          </a:p>
        </p:txBody>
      </p:sp>
      <p:sp>
        <p:nvSpPr>
          <p:cNvPr id="4" name="Slide Number Placeholder 3"/>
          <p:cNvSpPr>
            <a:spLocks noGrp="1"/>
          </p:cNvSpPr>
          <p:nvPr>
            <p:ph type="sldNum" sz="quarter" idx="10"/>
          </p:nvPr>
        </p:nvSpPr>
        <p:spPr/>
        <p:txBody>
          <a:bodyPr/>
          <a:lstStyle/>
          <a:p>
            <a:pPr>
              <a:defRPr/>
            </a:pPr>
            <a:fld id="{868B5124-6BE8-452D-8A70-47EE811BE39E}" type="slidenum">
              <a:rPr lang="en-US" smtClean="0">
                <a:solidFill>
                  <a:prstClr val="black"/>
                </a:solidFill>
              </a:rPr>
              <a:pPr>
                <a:defRPr/>
              </a:pPr>
              <a:t>29</a:t>
            </a:fld>
            <a:endParaRPr 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5"/>
          <p:cNvSpPr>
            <a:spLocks noGrp="1" noChangeArrowheads="1"/>
          </p:cNvSpPr>
          <p:nvPr>
            <p:ph type="sldNum" sz="quarter" idx="5"/>
          </p:nvPr>
        </p:nvSpPr>
        <p:spPr>
          <a:noFill/>
        </p:spPr>
        <p:txBody>
          <a:bodyPr/>
          <a:lstStyle/>
          <a:p>
            <a:fld id="{EE4EC7F1-1B43-4975-A0FC-4D8B70CC2ACD}" type="slidenum">
              <a:rPr lang="en-US" smtClean="0"/>
              <a:pPr/>
              <a:t>31</a:t>
            </a:fld>
            <a:endParaRPr lang="en-US" smtClean="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p:cNvSpPr>
            <a:spLocks noGrp="1" noChangeArrowheads="1"/>
          </p:cNvSpPr>
          <p:nvPr>
            <p:ph type="sldNum" sz="quarter" idx="5"/>
          </p:nvPr>
        </p:nvSpPr>
        <p:spPr>
          <a:noFill/>
        </p:spPr>
        <p:txBody>
          <a:bodyPr/>
          <a:lstStyle/>
          <a:p>
            <a:fld id="{A6CF76D9-8C4F-404E-B421-838159FF4993}" type="slidenum">
              <a:rPr lang="en-US" smtClean="0">
                <a:solidFill>
                  <a:prstClr val="black"/>
                </a:solidFill>
              </a:rPr>
              <a:pPr/>
              <a:t>35</a:t>
            </a:fld>
            <a:endParaRPr lang="en-US" smtClean="0">
              <a:solidFill>
                <a:prstClr val="black"/>
              </a:solidFill>
            </a:endParaRPr>
          </a:p>
        </p:txBody>
      </p:sp>
      <p:sp>
        <p:nvSpPr>
          <p:cNvPr id="40963" name="Rectangle 2"/>
          <p:cNvSpPr>
            <a:spLocks noGrp="1" noRot="1" noChangeAspect="1" noChangeArrowheads="1" noTextEdit="1"/>
          </p:cNvSpPr>
          <p:nvPr>
            <p:ph type="sldImg"/>
          </p:nvPr>
        </p:nvSpPr>
        <p:spPr>
          <a:ln cap="flat"/>
        </p:spPr>
      </p:sp>
      <p:sp>
        <p:nvSpPr>
          <p:cNvPr id="4096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noFill/>
        </p:spPr>
        <p:txBody>
          <a:bodyPr/>
          <a:lstStyle>
            <a:lvl1pPr algn="l">
              <a:defRPr>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3810000"/>
            <a:ext cx="7772400" cy="1752600"/>
          </a:xfrm>
        </p:spPr>
        <p:txBody>
          <a:bodyPr>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EF89BD6-E300-4C67-B175-76E5828D27B4}" type="datetimeFigureOut">
              <a:rPr lang="en-US" smtClean="0"/>
              <a:pPr/>
              <a:t>5/7/2015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582210-5FCA-4178-AB04-4337EADA3D81}" type="slidenum">
              <a:rPr lang="en-US" smtClean="0"/>
              <a:pPr/>
              <a:t>‹#›</a:t>
            </a:fld>
            <a:endParaRPr lang="en-US"/>
          </a:p>
        </p:txBody>
      </p:sp>
      <p:pic>
        <p:nvPicPr>
          <p:cNvPr id="8" name="Picture 7" descr="ti_pptbar_white.png"/>
          <p:cNvPicPr>
            <a:picLocks noChangeAspect="1"/>
          </p:cNvPicPr>
          <p:nvPr/>
        </p:nvPicPr>
        <p:blipFill>
          <a:blip r:embed="rId2" cstate="print"/>
          <a:stretch>
            <a:fillRect/>
          </a:stretch>
        </p:blipFill>
        <p:spPr>
          <a:xfrm>
            <a:off x="326486" y="6324600"/>
            <a:ext cx="8491027" cy="481544"/>
          </a:xfrm>
          <a:prstGeom prst="rect">
            <a:avLst/>
          </a:prstGeom>
        </p:spPr>
      </p:pic>
      <p:grpSp>
        <p:nvGrpSpPr>
          <p:cNvPr id="10" name="Group 16"/>
          <p:cNvGrpSpPr>
            <a:grpSpLocks/>
          </p:cNvGrpSpPr>
          <p:nvPr/>
        </p:nvGrpSpPr>
        <p:grpSpPr bwMode="auto">
          <a:xfrm>
            <a:off x="-7938" y="6323013"/>
            <a:ext cx="8815388" cy="466725"/>
            <a:chOff x="-7620" y="6323077"/>
            <a:chExt cx="8814816" cy="466344"/>
          </a:xfrm>
        </p:grpSpPr>
        <p:cxnSp>
          <p:nvCxnSpPr>
            <p:cNvPr id="11" name="Straight Connector 10"/>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Straight Connector 11"/>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4" name="Picture 8"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4" name="Picture 6" descr="selected_powerpoint_bg_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6" name="Group 18"/>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Tree>
    <p:extLst>
      <p:ext uri="{BB962C8B-B14F-4D97-AF65-F5344CB8AC3E}">
        <p14:creationId xmlns:p14="http://schemas.microsoft.com/office/powerpoint/2010/main" val="187672641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6" descr="selected_powerpoint_bg_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6" name="Group 13"/>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
        <p:nvSpPr>
          <p:cNvPr id="11" name="Rectangle 24"/>
          <p:cNvSpPr>
            <a:spLocks noGrp="1" noChangeArrowheads="1"/>
          </p:cNvSpPr>
          <p:nvPr>
            <p:ph type="sldNum" sz="quarter" idx="10"/>
          </p:nvPr>
        </p:nvSpPr>
        <p:spPr>
          <a:xfrm>
            <a:off x="6642100" y="6038850"/>
            <a:ext cx="2133600" cy="206375"/>
          </a:xfrm>
        </p:spPr>
        <p:txBody>
          <a:bodyPr/>
          <a:lstStyle>
            <a:lvl1pPr>
              <a:defRPr/>
            </a:lvl1pPr>
          </a:lstStyle>
          <a:p>
            <a:fld id="{E427ED86-F7CD-4E74-A97C-6D3BAEB1029D}" type="slidenum">
              <a:rPr lang="en-US" smtClean="0"/>
              <a:t>‹#›</a:t>
            </a:fld>
            <a:endParaRPr lang="en-US"/>
          </a:p>
        </p:txBody>
      </p:sp>
    </p:spTree>
    <p:extLst>
      <p:ext uri="{BB962C8B-B14F-4D97-AF65-F5344CB8AC3E}">
        <p14:creationId xmlns:p14="http://schemas.microsoft.com/office/powerpoint/2010/main" val="939942559"/>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pic>
        <p:nvPicPr>
          <p:cNvPr id="4" name="Picture 6" descr="selected_powerpoint_bg_1_grey.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78205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6" name="Group 13"/>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Tree>
    <p:extLst>
      <p:ext uri="{BB962C8B-B14F-4D97-AF65-F5344CB8AC3E}">
        <p14:creationId xmlns:p14="http://schemas.microsoft.com/office/powerpoint/2010/main" val="1969527067"/>
      </p:ext>
    </p:extLst>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F89BD6-E300-4C67-B175-76E5828D27B4}" type="datetimeFigureOut">
              <a:rPr lang="en-US" smtClean="0"/>
              <a:pPr/>
              <a:t>5/7/2015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EF89BD6-E300-4C67-B175-76E5828D27B4}" type="datetimeFigureOut">
              <a:rPr lang="en-US" smtClean="0"/>
              <a:pPr/>
              <a:t>5/7/2015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EF89BD6-E300-4C67-B175-76E5828D27B4}" type="datetimeFigureOut">
              <a:rPr lang="en-US" smtClean="0"/>
              <a:pPr/>
              <a:t>5/7/2015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EF89BD6-E300-4C67-B175-76E5828D27B4}" type="datetimeFigureOut">
              <a:rPr lang="en-US" smtClean="0"/>
              <a:pPr/>
              <a:t>5/7/2015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F89BD6-E300-4C67-B175-76E5828D27B4}" type="datetimeFigureOut">
              <a:rPr lang="en-US" smtClean="0"/>
              <a:pPr/>
              <a:t>5/7/2015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F89BD6-E300-4C67-B175-76E5828D27B4}" type="datetimeFigureOut">
              <a:rPr lang="en-US" smtClean="0"/>
              <a:pPr/>
              <a:t>5/7/2015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F89BD6-E300-4C67-B175-76E5828D27B4}" type="datetimeFigureOut">
              <a:rPr lang="en-US" smtClean="0"/>
              <a:pPr/>
              <a:t>5/7/2015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0" y="50800"/>
            <a:ext cx="91440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914400"/>
            <a:ext cx="3810000" cy="21669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914400"/>
            <a:ext cx="3810000" cy="2166938"/>
          </a:xfrm>
        </p:spPr>
        <p:txBody>
          <a:bodyPr/>
          <a:lstStyle/>
          <a:p>
            <a:pPr lvl="0"/>
            <a:endParaRPr lang="en-US" noProof="0" smtClean="0"/>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50800"/>
            <a:ext cx="9144000" cy="609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914400"/>
            <a:ext cx="7772400" cy="2166938"/>
          </a:xfrm>
        </p:spPr>
        <p:txBody>
          <a:bodyPr/>
          <a:lstStyle/>
          <a:p>
            <a:pPr lvl="0"/>
            <a:endParaRPr lang="en-US" noProof="0" smtClean="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noFill/>
        </p:spPr>
        <p:txBody>
          <a:bodyPr/>
          <a:lstStyle>
            <a:lvl1pPr algn="l">
              <a:defRPr>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3810000"/>
            <a:ext cx="7772400" cy="1752600"/>
          </a:xfrm>
        </p:spPr>
        <p:txBody>
          <a:bodyPr>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5" name="Footer Placeholder 4"/>
          <p:cNvSpPr>
            <a:spLocks noGrp="1"/>
          </p:cNvSpPr>
          <p:nvPr>
            <p:ph type="ftr" sz="quarter" idx="11"/>
          </p:nvPr>
        </p:nvSpPr>
        <p:spPr/>
        <p:txBody>
          <a:bodyPr/>
          <a:lstStyle/>
          <a:p>
            <a:endParaRPr lang="en-US">
              <a:solidFill>
                <a:srgbClr val="000000">
                  <a:tint val="75000"/>
                </a:srgbClr>
              </a:solidFill>
            </a:endParaRPr>
          </a:p>
        </p:txBody>
      </p:sp>
      <p:sp>
        <p:nvSpPr>
          <p:cNvPr id="6" name="Slide Number Placeholder 5"/>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pic>
        <p:nvPicPr>
          <p:cNvPr id="8" name="Picture 7" descr="ti_pptbar_white.png"/>
          <p:cNvPicPr>
            <a:picLocks noChangeAspect="1"/>
          </p:cNvPicPr>
          <p:nvPr/>
        </p:nvPicPr>
        <p:blipFill>
          <a:blip r:embed="rId2" cstate="print"/>
          <a:stretch>
            <a:fillRect/>
          </a:stretch>
        </p:blipFill>
        <p:spPr>
          <a:xfrm>
            <a:off x="326486" y="6324600"/>
            <a:ext cx="8491027" cy="481544"/>
          </a:xfrm>
          <a:prstGeom prst="rect">
            <a:avLst/>
          </a:prstGeom>
        </p:spPr>
      </p:pic>
      <p:grpSp>
        <p:nvGrpSpPr>
          <p:cNvPr id="10" name="Group 16"/>
          <p:cNvGrpSpPr>
            <a:grpSpLocks/>
          </p:cNvGrpSpPr>
          <p:nvPr/>
        </p:nvGrpSpPr>
        <p:grpSpPr bwMode="auto">
          <a:xfrm>
            <a:off x="-7938" y="6323013"/>
            <a:ext cx="8815388" cy="466725"/>
            <a:chOff x="-7620" y="6323077"/>
            <a:chExt cx="8814816" cy="466344"/>
          </a:xfrm>
        </p:grpSpPr>
        <p:cxnSp>
          <p:nvCxnSpPr>
            <p:cNvPr id="11" name="Straight Connector 10"/>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Straight Connector 11"/>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4" name="Picture 8"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5918782"/>
      </p:ext>
    </p:extLst>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4" name="Picture 6" descr="selected_powerpoint_bg_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grpSp>
        <p:nvGrpSpPr>
          <p:cNvPr id="6" name="Group 18"/>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Tree>
    <p:extLst>
      <p:ext uri="{BB962C8B-B14F-4D97-AF65-F5344CB8AC3E}">
        <p14:creationId xmlns:p14="http://schemas.microsoft.com/office/powerpoint/2010/main" val="2269964907"/>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6" descr="selected_powerpoint_bg_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grpSp>
        <p:nvGrpSpPr>
          <p:cNvPr id="6" name="Group 13"/>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
        <p:nvSpPr>
          <p:cNvPr id="11" name="Rectangle 24"/>
          <p:cNvSpPr>
            <a:spLocks noGrp="1" noChangeArrowheads="1"/>
          </p:cNvSpPr>
          <p:nvPr>
            <p:ph type="sldNum" sz="quarter" idx="10"/>
          </p:nvPr>
        </p:nvSpPr>
        <p:spPr>
          <a:xfrm>
            <a:off x="6642100" y="6038850"/>
            <a:ext cx="2133600" cy="206375"/>
          </a:xfrm>
        </p:spPr>
        <p:txBody>
          <a:bodyPr/>
          <a:lstStyle>
            <a:lvl1pPr>
              <a:defRPr/>
            </a:lvl1pPr>
          </a:lstStyle>
          <a:p>
            <a:fld id="{E427ED86-F7CD-4E74-A97C-6D3BAEB1029D}"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71346224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pic>
        <p:nvPicPr>
          <p:cNvPr id="4" name="Picture 6" descr="selected_powerpoint_bg_1_grey.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78205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grpSp>
        <p:nvGrpSpPr>
          <p:cNvPr id="6" name="Group 13"/>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Tree>
    <p:extLst>
      <p:ext uri="{BB962C8B-B14F-4D97-AF65-F5344CB8AC3E}">
        <p14:creationId xmlns:p14="http://schemas.microsoft.com/office/powerpoint/2010/main" val="3950849375"/>
      </p:ext>
    </p:extLst>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5" name="Footer Placeholder 4"/>
          <p:cNvSpPr>
            <a:spLocks noGrp="1"/>
          </p:cNvSpPr>
          <p:nvPr>
            <p:ph type="ftr" sz="quarter" idx="11"/>
          </p:nvPr>
        </p:nvSpPr>
        <p:spPr/>
        <p:txBody>
          <a:bodyPr/>
          <a:lstStyle/>
          <a:p>
            <a:endParaRPr lang="en-US">
              <a:solidFill>
                <a:srgbClr val="000000">
                  <a:tint val="75000"/>
                </a:srgbClr>
              </a:solidFill>
            </a:endParaRPr>
          </a:p>
        </p:txBody>
      </p:sp>
      <p:sp>
        <p:nvSpPr>
          <p:cNvPr id="6" name="Slide Number Placeholder 5"/>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43719545"/>
      </p:ext>
    </p:extLst>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6" name="Footer Placeholder 5"/>
          <p:cNvSpPr>
            <a:spLocks noGrp="1"/>
          </p:cNvSpPr>
          <p:nvPr>
            <p:ph type="ftr" sz="quarter" idx="11"/>
          </p:nvPr>
        </p:nvSpPr>
        <p:spPr/>
        <p:txBody>
          <a:bodyPr/>
          <a:lstStyle/>
          <a:p>
            <a:endParaRPr lang="en-US">
              <a:solidFill>
                <a:srgbClr val="000000">
                  <a:tint val="75000"/>
                </a:srgbClr>
              </a:solidFill>
            </a:endParaRPr>
          </a:p>
        </p:txBody>
      </p:sp>
      <p:sp>
        <p:nvSpPr>
          <p:cNvPr id="7" name="Slide Number Placeholder 6"/>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3758629111"/>
      </p:ext>
    </p:extLst>
  </p:cSld>
  <p:clrMapOvr>
    <a:masterClrMapping/>
  </p:clrMapOvr>
  <p:transition>
    <p:fad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8" name="Footer Placeholder 7"/>
          <p:cNvSpPr>
            <a:spLocks noGrp="1"/>
          </p:cNvSpPr>
          <p:nvPr>
            <p:ph type="ftr" sz="quarter" idx="11"/>
          </p:nvPr>
        </p:nvSpPr>
        <p:spPr/>
        <p:txBody>
          <a:bodyPr/>
          <a:lstStyle/>
          <a:p>
            <a:endParaRPr lang="en-US">
              <a:solidFill>
                <a:srgbClr val="000000">
                  <a:tint val="75000"/>
                </a:srgbClr>
              </a:solidFill>
            </a:endParaRPr>
          </a:p>
        </p:txBody>
      </p:sp>
      <p:sp>
        <p:nvSpPr>
          <p:cNvPr id="9" name="Slide Number Placeholder 8"/>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30257213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4" name="Footer Placeholder 3"/>
          <p:cNvSpPr>
            <a:spLocks noGrp="1"/>
          </p:cNvSpPr>
          <p:nvPr>
            <p:ph type="ftr" sz="quarter" idx="11"/>
          </p:nvPr>
        </p:nvSpPr>
        <p:spPr/>
        <p:txBody>
          <a:bodyPr/>
          <a:lstStyle/>
          <a:p>
            <a:endParaRPr lang="en-US">
              <a:solidFill>
                <a:srgbClr val="000000">
                  <a:tint val="75000"/>
                </a:srgbClr>
              </a:solidFill>
            </a:endParaRPr>
          </a:p>
        </p:txBody>
      </p:sp>
      <p:sp>
        <p:nvSpPr>
          <p:cNvPr id="5" name="Slide Number Placeholder 4"/>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3740132955"/>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3" name="Footer Placeholder 2"/>
          <p:cNvSpPr>
            <a:spLocks noGrp="1"/>
          </p:cNvSpPr>
          <p:nvPr>
            <p:ph type="ftr" sz="quarter" idx="11"/>
          </p:nvPr>
        </p:nvSpPr>
        <p:spPr/>
        <p:txBody>
          <a:bodyPr/>
          <a:lstStyle/>
          <a:p>
            <a:endParaRPr lang="en-US">
              <a:solidFill>
                <a:srgbClr val="000000">
                  <a:tint val="75000"/>
                </a:srgbClr>
              </a:solidFill>
            </a:endParaRPr>
          </a:p>
        </p:txBody>
      </p:sp>
      <p:sp>
        <p:nvSpPr>
          <p:cNvPr id="4" name="Slide Number Placeholder 3"/>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466368766"/>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6" name="Footer Placeholder 5"/>
          <p:cNvSpPr>
            <a:spLocks noGrp="1"/>
          </p:cNvSpPr>
          <p:nvPr>
            <p:ph type="ftr" sz="quarter" idx="11"/>
          </p:nvPr>
        </p:nvSpPr>
        <p:spPr/>
        <p:txBody>
          <a:bodyPr/>
          <a:lstStyle/>
          <a:p>
            <a:endParaRPr lang="en-US">
              <a:solidFill>
                <a:srgbClr val="000000">
                  <a:tint val="75000"/>
                </a:srgbClr>
              </a:solidFill>
            </a:endParaRPr>
          </a:p>
        </p:txBody>
      </p:sp>
      <p:sp>
        <p:nvSpPr>
          <p:cNvPr id="7" name="Slide Number Placeholder 6"/>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3228243059"/>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6" name="Footer Placeholder 5"/>
          <p:cNvSpPr>
            <a:spLocks noGrp="1"/>
          </p:cNvSpPr>
          <p:nvPr>
            <p:ph type="ftr" sz="quarter" idx="11"/>
          </p:nvPr>
        </p:nvSpPr>
        <p:spPr/>
        <p:txBody>
          <a:bodyPr/>
          <a:lstStyle/>
          <a:p>
            <a:endParaRPr lang="en-US">
              <a:solidFill>
                <a:srgbClr val="000000">
                  <a:tint val="75000"/>
                </a:srgbClr>
              </a:solidFill>
            </a:endParaRPr>
          </a:p>
        </p:txBody>
      </p:sp>
      <p:sp>
        <p:nvSpPr>
          <p:cNvPr id="7" name="Slide Number Placeholder 6"/>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3186217690"/>
      </p:ext>
    </p:extLst>
  </p:cSld>
  <p:clrMapOvr>
    <a:masterClrMapping/>
  </p:clrMapOvr>
  <p:transition>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50800"/>
            <a:ext cx="9144000" cy="609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914400"/>
            <a:ext cx="7772400" cy="2166938"/>
          </a:xfrm>
        </p:spPr>
        <p:txBody>
          <a:bodyPr/>
          <a:lstStyle/>
          <a:p>
            <a:pPr lvl="0"/>
            <a:endParaRPr lang="en-US" noProof="0" smtClean="0"/>
          </a:p>
        </p:txBody>
      </p:sp>
    </p:spTree>
    <p:extLst>
      <p:ext uri="{BB962C8B-B14F-4D97-AF65-F5344CB8AC3E}">
        <p14:creationId xmlns:p14="http://schemas.microsoft.com/office/powerpoint/2010/main" val="181773987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0" y="50800"/>
            <a:ext cx="91440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914400"/>
            <a:ext cx="3810000" cy="21669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914400"/>
            <a:ext cx="3810000" cy="2166938"/>
          </a:xfrm>
        </p:spPr>
        <p:txBody>
          <a:bodyPr/>
          <a:lstStyle/>
          <a:p>
            <a:pPr lvl="0"/>
            <a:endParaRPr lang="en-US" noProof="0" smtClean="0"/>
          </a:p>
        </p:txBody>
      </p:sp>
    </p:spTree>
    <p:extLst>
      <p:ext uri="{BB962C8B-B14F-4D97-AF65-F5344CB8AC3E}">
        <p14:creationId xmlns:p14="http://schemas.microsoft.com/office/powerpoint/2010/main" val="205839647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noFill/>
        </p:spPr>
        <p:txBody>
          <a:bodyPr/>
          <a:lstStyle>
            <a:lvl1pPr algn="l">
              <a:defRPr>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3810000"/>
            <a:ext cx="7772400" cy="1752600"/>
          </a:xfrm>
        </p:spPr>
        <p:txBody>
          <a:bodyPr>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5" name="Footer Placeholder 4"/>
          <p:cNvSpPr>
            <a:spLocks noGrp="1"/>
          </p:cNvSpPr>
          <p:nvPr>
            <p:ph type="ftr" sz="quarter" idx="11"/>
          </p:nvPr>
        </p:nvSpPr>
        <p:spPr/>
        <p:txBody>
          <a:bodyPr/>
          <a:lstStyle/>
          <a:p>
            <a:endParaRPr lang="en-US">
              <a:solidFill>
                <a:srgbClr val="000000">
                  <a:tint val="75000"/>
                </a:srgbClr>
              </a:solidFill>
            </a:endParaRPr>
          </a:p>
        </p:txBody>
      </p:sp>
      <p:sp>
        <p:nvSpPr>
          <p:cNvPr id="6" name="Slide Number Placeholder 5"/>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pic>
        <p:nvPicPr>
          <p:cNvPr id="8" name="Picture 7" descr="ti_pptbar_white.png"/>
          <p:cNvPicPr>
            <a:picLocks noChangeAspect="1"/>
          </p:cNvPicPr>
          <p:nvPr/>
        </p:nvPicPr>
        <p:blipFill>
          <a:blip r:embed="rId2" cstate="print"/>
          <a:stretch>
            <a:fillRect/>
          </a:stretch>
        </p:blipFill>
        <p:spPr>
          <a:xfrm>
            <a:off x="326486" y="6324600"/>
            <a:ext cx="8491027" cy="481544"/>
          </a:xfrm>
          <a:prstGeom prst="rect">
            <a:avLst/>
          </a:prstGeom>
        </p:spPr>
      </p:pic>
      <p:grpSp>
        <p:nvGrpSpPr>
          <p:cNvPr id="10" name="Group 16"/>
          <p:cNvGrpSpPr>
            <a:grpSpLocks/>
          </p:cNvGrpSpPr>
          <p:nvPr/>
        </p:nvGrpSpPr>
        <p:grpSpPr bwMode="auto">
          <a:xfrm>
            <a:off x="-7938" y="6323013"/>
            <a:ext cx="8815388" cy="466725"/>
            <a:chOff x="-7620" y="6323077"/>
            <a:chExt cx="8814816" cy="466344"/>
          </a:xfrm>
        </p:grpSpPr>
        <p:cxnSp>
          <p:nvCxnSpPr>
            <p:cNvPr id="11" name="Straight Connector 10"/>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Straight Connector 11"/>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4" name="Picture 8"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7585280"/>
      </p:ext>
    </p:extLst>
  </p:cSld>
  <p:clrMapOvr>
    <a:masterClrMapping/>
  </p:clrMapOvr>
  <p:transition>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4" name="Picture 6" descr="selected_powerpoint_bg_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grpSp>
        <p:nvGrpSpPr>
          <p:cNvPr id="6" name="Group 18"/>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Tree>
    <p:extLst>
      <p:ext uri="{BB962C8B-B14F-4D97-AF65-F5344CB8AC3E}">
        <p14:creationId xmlns:p14="http://schemas.microsoft.com/office/powerpoint/2010/main" val="2351101763"/>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6" descr="selected_powerpoint_bg_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grpSp>
        <p:nvGrpSpPr>
          <p:cNvPr id="6" name="Group 13"/>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
        <p:nvSpPr>
          <p:cNvPr id="11" name="Rectangle 24"/>
          <p:cNvSpPr>
            <a:spLocks noGrp="1" noChangeArrowheads="1"/>
          </p:cNvSpPr>
          <p:nvPr>
            <p:ph type="sldNum" sz="quarter" idx="10"/>
          </p:nvPr>
        </p:nvSpPr>
        <p:spPr>
          <a:xfrm>
            <a:off x="6642100" y="6038850"/>
            <a:ext cx="2133600" cy="206375"/>
          </a:xfrm>
        </p:spPr>
        <p:txBody>
          <a:bodyPr/>
          <a:lstStyle>
            <a:lvl1pPr>
              <a:defRPr/>
            </a:lvl1pPr>
          </a:lstStyle>
          <a:p>
            <a:fld id="{E427ED86-F7CD-4E74-A97C-6D3BAEB1029D}"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314893096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pic>
        <p:nvPicPr>
          <p:cNvPr id="4" name="Picture 6" descr="selected_powerpoint_bg_1_grey.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78205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grpSp>
        <p:nvGrpSpPr>
          <p:cNvPr id="6" name="Group 13"/>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Tree>
    <p:extLst>
      <p:ext uri="{BB962C8B-B14F-4D97-AF65-F5344CB8AC3E}">
        <p14:creationId xmlns:p14="http://schemas.microsoft.com/office/powerpoint/2010/main" val="3774620890"/>
      </p:ext>
    </p:extLst>
  </p:cSld>
  <p:clrMapOvr>
    <a:masterClrMapping/>
  </p:clrMapOvr>
  <p:transition>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5" name="Footer Placeholder 4"/>
          <p:cNvSpPr>
            <a:spLocks noGrp="1"/>
          </p:cNvSpPr>
          <p:nvPr>
            <p:ph type="ftr" sz="quarter" idx="11"/>
          </p:nvPr>
        </p:nvSpPr>
        <p:spPr/>
        <p:txBody>
          <a:bodyPr/>
          <a:lstStyle/>
          <a:p>
            <a:endParaRPr lang="en-US">
              <a:solidFill>
                <a:srgbClr val="000000">
                  <a:tint val="75000"/>
                </a:srgbClr>
              </a:solidFill>
            </a:endParaRPr>
          </a:p>
        </p:txBody>
      </p:sp>
      <p:sp>
        <p:nvSpPr>
          <p:cNvPr id="6" name="Slide Number Placeholder 5"/>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002952426"/>
      </p:ext>
    </p:extLst>
  </p:cSld>
  <p:clrMapOvr>
    <a:masterClrMapping/>
  </p:clrMapOvr>
  <p:transition>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6" name="Footer Placeholder 5"/>
          <p:cNvSpPr>
            <a:spLocks noGrp="1"/>
          </p:cNvSpPr>
          <p:nvPr>
            <p:ph type="ftr" sz="quarter" idx="11"/>
          </p:nvPr>
        </p:nvSpPr>
        <p:spPr/>
        <p:txBody>
          <a:bodyPr/>
          <a:lstStyle/>
          <a:p>
            <a:endParaRPr lang="en-US">
              <a:solidFill>
                <a:srgbClr val="000000">
                  <a:tint val="75000"/>
                </a:srgbClr>
              </a:solidFill>
            </a:endParaRPr>
          </a:p>
        </p:txBody>
      </p:sp>
      <p:sp>
        <p:nvSpPr>
          <p:cNvPr id="7" name="Slide Number Placeholder 6"/>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265926505"/>
      </p:ext>
    </p:extLst>
  </p:cSld>
  <p:clrMapOvr>
    <a:masterClrMapping/>
  </p:clrMapOvr>
  <p:transition>
    <p:fade/>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8" name="Footer Placeholder 7"/>
          <p:cNvSpPr>
            <a:spLocks noGrp="1"/>
          </p:cNvSpPr>
          <p:nvPr>
            <p:ph type="ftr" sz="quarter" idx="11"/>
          </p:nvPr>
        </p:nvSpPr>
        <p:spPr/>
        <p:txBody>
          <a:bodyPr/>
          <a:lstStyle/>
          <a:p>
            <a:endParaRPr lang="en-US">
              <a:solidFill>
                <a:srgbClr val="000000">
                  <a:tint val="75000"/>
                </a:srgbClr>
              </a:solidFill>
            </a:endParaRPr>
          </a:p>
        </p:txBody>
      </p:sp>
      <p:sp>
        <p:nvSpPr>
          <p:cNvPr id="9" name="Slide Number Placeholder 8"/>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980450680"/>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4" name="Footer Placeholder 3"/>
          <p:cNvSpPr>
            <a:spLocks noGrp="1"/>
          </p:cNvSpPr>
          <p:nvPr>
            <p:ph type="ftr" sz="quarter" idx="11"/>
          </p:nvPr>
        </p:nvSpPr>
        <p:spPr/>
        <p:txBody>
          <a:bodyPr/>
          <a:lstStyle/>
          <a:p>
            <a:endParaRPr lang="en-US">
              <a:solidFill>
                <a:srgbClr val="000000">
                  <a:tint val="75000"/>
                </a:srgbClr>
              </a:solidFill>
            </a:endParaRPr>
          </a:p>
        </p:txBody>
      </p:sp>
      <p:sp>
        <p:nvSpPr>
          <p:cNvPr id="5" name="Slide Number Placeholder 4"/>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817762310"/>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3" name="Footer Placeholder 2"/>
          <p:cNvSpPr>
            <a:spLocks noGrp="1"/>
          </p:cNvSpPr>
          <p:nvPr>
            <p:ph type="ftr" sz="quarter" idx="11"/>
          </p:nvPr>
        </p:nvSpPr>
        <p:spPr/>
        <p:txBody>
          <a:bodyPr/>
          <a:lstStyle/>
          <a:p>
            <a:endParaRPr lang="en-US">
              <a:solidFill>
                <a:srgbClr val="000000">
                  <a:tint val="75000"/>
                </a:srgbClr>
              </a:solidFill>
            </a:endParaRPr>
          </a:p>
        </p:txBody>
      </p:sp>
      <p:sp>
        <p:nvSpPr>
          <p:cNvPr id="4" name="Slide Number Placeholder 3"/>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471865341"/>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6" name="Footer Placeholder 5"/>
          <p:cNvSpPr>
            <a:spLocks noGrp="1"/>
          </p:cNvSpPr>
          <p:nvPr>
            <p:ph type="ftr" sz="quarter" idx="11"/>
          </p:nvPr>
        </p:nvSpPr>
        <p:spPr/>
        <p:txBody>
          <a:bodyPr/>
          <a:lstStyle/>
          <a:p>
            <a:endParaRPr lang="en-US">
              <a:solidFill>
                <a:srgbClr val="000000">
                  <a:tint val="75000"/>
                </a:srgbClr>
              </a:solidFill>
            </a:endParaRPr>
          </a:p>
        </p:txBody>
      </p:sp>
      <p:sp>
        <p:nvSpPr>
          <p:cNvPr id="7" name="Slide Number Placeholder 6"/>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548212409"/>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6" name="Footer Placeholder 5"/>
          <p:cNvSpPr>
            <a:spLocks noGrp="1"/>
          </p:cNvSpPr>
          <p:nvPr>
            <p:ph type="ftr" sz="quarter" idx="11"/>
          </p:nvPr>
        </p:nvSpPr>
        <p:spPr/>
        <p:txBody>
          <a:bodyPr/>
          <a:lstStyle/>
          <a:p>
            <a:endParaRPr lang="en-US">
              <a:solidFill>
                <a:srgbClr val="000000">
                  <a:tint val="75000"/>
                </a:srgbClr>
              </a:solidFill>
            </a:endParaRPr>
          </a:p>
        </p:txBody>
      </p:sp>
      <p:sp>
        <p:nvSpPr>
          <p:cNvPr id="7" name="Slide Number Placeholder 6"/>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653608267"/>
      </p:ext>
    </p:extLst>
  </p:cSld>
  <p:clrMapOvr>
    <a:masterClrMapping/>
  </p:clrMapOvr>
  <p:transition>
    <p:fade/>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noFill/>
        </p:spPr>
        <p:txBody>
          <a:bodyPr/>
          <a:lstStyle>
            <a:lvl1pPr algn="l">
              <a:defRPr>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3810000"/>
            <a:ext cx="7772400" cy="1752600"/>
          </a:xfrm>
        </p:spPr>
        <p:txBody>
          <a:bodyPr>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5" name="Footer Placeholder 4"/>
          <p:cNvSpPr>
            <a:spLocks noGrp="1"/>
          </p:cNvSpPr>
          <p:nvPr>
            <p:ph type="ftr" sz="quarter" idx="11"/>
          </p:nvPr>
        </p:nvSpPr>
        <p:spPr/>
        <p:txBody>
          <a:bodyPr/>
          <a:lstStyle/>
          <a:p>
            <a:endParaRPr lang="en-US">
              <a:solidFill>
                <a:srgbClr val="000000">
                  <a:tint val="75000"/>
                </a:srgbClr>
              </a:solidFill>
            </a:endParaRPr>
          </a:p>
        </p:txBody>
      </p:sp>
      <p:sp>
        <p:nvSpPr>
          <p:cNvPr id="6" name="Slide Number Placeholder 5"/>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pic>
        <p:nvPicPr>
          <p:cNvPr id="8" name="Picture 7" descr="ti_pptbar_white.png"/>
          <p:cNvPicPr>
            <a:picLocks noChangeAspect="1"/>
          </p:cNvPicPr>
          <p:nvPr/>
        </p:nvPicPr>
        <p:blipFill>
          <a:blip r:embed="rId2" cstate="print"/>
          <a:stretch>
            <a:fillRect/>
          </a:stretch>
        </p:blipFill>
        <p:spPr>
          <a:xfrm>
            <a:off x="326486" y="6324600"/>
            <a:ext cx="8491027" cy="481544"/>
          </a:xfrm>
          <a:prstGeom prst="rect">
            <a:avLst/>
          </a:prstGeom>
        </p:spPr>
      </p:pic>
      <p:grpSp>
        <p:nvGrpSpPr>
          <p:cNvPr id="10" name="Group 16"/>
          <p:cNvGrpSpPr>
            <a:grpSpLocks/>
          </p:cNvGrpSpPr>
          <p:nvPr/>
        </p:nvGrpSpPr>
        <p:grpSpPr bwMode="auto">
          <a:xfrm>
            <a:off x="-7938" y="6323013"/>
            <a:ext cx="8815388" cy="466725"/>
            <a:chOff x="-7620" y="6323077"/>
            <a:chExt cx="8814816" cy="466344"/>
          </a:xfrm>
        </p:grpSpPr>
        <p:cxnSp>
          <p:nvCxnSpPr>
            <p:cNvPr id="11" name="Straight Connector 10"/>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Straight Connector 11"/>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4" name="Picture 8"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6956045"/>
      </p:ext>
    </p:extLst>
  </p:cSld>
  <p:clrMapOvr>
    <a:masterClrMapping/>
  </p:clrMapOvr>
  <p:transition>
    <p:fade/>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4" name="Picture 6" descr="selected_powerpoint_bg_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00000"/>
              </a:lnSpc>
              <a:spcBef>
                <a:spcPct val="0"/>
              </a:spcBef>
              <a:defRPr/>
            </a:pPr>
            <a:endParaRPr lang="en-US">
              <a:solidFill>
                <a:srgbClr val="FFFFFF"/>
              </a:solidFill>
            </a:endParaRPr>
          </a:p>
        </p:txBody>
      </p:sp>
      <p:grpSp>
        <p:nvGrpSpPr>
          <p:cNvPr id="6" name="Group 18"/>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Tree>
    <p:extLst>
      <p:ext uri="{BB962C8B-B14F-4D97-AF65-F5344CB8AC3E}">
        <p14:creationId xmlns:p14="http://schemas.microsoft.com/office/powerpoint/2010/main" val="55082281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6" descr="selected_powerpoint_bg_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00000"/>
              </a:lnSpc>
              <a:spcBef>
                <a:spcPct val="0"/>
              </a:spcBef>
              <a:defRPr/>
            </a:pPr>
            <a:endParaRPr lang="en-US">
              <a:solidFill>
                <a:srgbClr val="FFFFFF"/>
              </a:solidFill>
            </a:endParaRPr>
          </a:p>
        </p:txBody>
      </p:sp>
      <p:grpSp>
        <p:nvGrpSpPr>
          <p:cNvPr id="6" name="Group 13"/>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
        <p:nvSpPr>
          <p:cNvPr id="11" name="Rectangle 24"/>
          <p:cNvSpPr>
            <a:spLocks noGrp="1" noChangeArrowheads="1"/>
          </p:cNvSpPr>
          <p:nvPr>
            <p:ph type="sldNum" sz="quarter" idx="10"/>
          </p:nvPr>
        </p:nvSpPr>
        <p:spPr>
          <a:xfrm>
            <a:off x="6642100" y="6038850"/>
            <a:ext cx="2133600" cy="206375"/>
          </a:xfrm>
        </p:spPr>
        <p:txBody>
          <a:bodyPr/>
          <a:lstStyle>
            <a:lvl1pPr>
              <a:defRPr/>
            </a:lvl1pPr>
          </a:lstStyle>
          <a:p>
            <a:fld id="{E427ED86-F7CD-4E74-A97C-6D3BAEB1029D}"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93608300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pic>
        <p:nvPicPr>
          <p:cNvPr id="4" name="Picture 6" descr="selected_powerpoint_bg_1_grey.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78205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00000"/>
              </a:lnSpc>
              <a:spcBef>
                <a:spcPct val="0"/>
              </a:spcBef>
              <a:defRPr/>
            </a:pPr>
            <a:endParaRPr lang="en-US">
              <a:solidFill>
                <a:srgbClr val="FFFFFF"/>
              </a:solidFill>
            </a:endParaRPr>
          </a:p>
        </p:txBody>
      </p:sp>
      <p:grpSp>
        <p:nvGrpSpPr>
          <p:cNvPr id="6" name="Group 13"/>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Tree>
    <p:extLst>
      <p:ext uri="{BB962C8B-B14F-4D97-AF65-F5344CB8AC3E}">
        <p14:creationId xmlns:p14="http://schemas.microsoft.com/office/powerpoint/2010/main" val="3462486599"/>
      </p:ext>
    </p:extLst>
  </p:cSld>
  <p:clrMapOvr>
    <a:masterClrMapping/>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5" name="Footer Placeholder 4"/>
          <p:cNvSpPr>
            <a:spLocks noGrp="1"/>
          </p:cNvSpPr>
          <p:nvPr>
            <p:ph type="ftr" sz="quarter" idx="11"/>
          </p:nvPr>
        </p:nvSpPr>
        <p:spPr/>
        <p:txBody>
          <a:bodyPr/>
          <a:lstStyle/>
          <a:p>
            <a:endParaRPr lang="en-US">
              <a:solidFill>
                <a:srgbClr val="000000">
                  <a:tint val="75000"/>
                </a:srgbClr>
              </a:solidFill>
            </a:endParaRPr>
          </a:p>
        </p:txBody>
      </p:sp>
      <p:sp>
        <p:nvSpPr>
          <p:cNvPr id="6" name="Slide Number Placeholder 5"/>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3174692656"/>
      </p:ext>
    </p:extLst>
  </p:cSld>
  <p:clrMapOvr>
    <a:masterClrMapping/>
  </p:clrMapOvr>
  <p:transition>
    <p:fade/>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6" name="Footer Placeholder 5"/>
          <p:cNvSpPr>
            <a:spLocks noGrp="1"/>
          </p:cNvSpPr>
          <p:nvPr>
            <p:ph type="ftr" sz="quarter" idx="11"/>
          </p:nvPr>
        </p:nvSpPr>
        <p:spPr/>
        <p:txBody>
          <a:bodyPr/>
          <a:lstStyle/>
          <a:p>
            <a:endParaRPr lang="en-US">
              <a:solidFill>
                <a:srgbClr val="000000">
                  <a:tint val="75000"/>
                </a:srgbClr>
              </a:solidFill>
            </a:endParaRPr>
          </a:p>
        </p:txBody>
      </p:sp>
      <p:sp>
        <p:nvSpPr>
          <p:cNvPr id="7" name="Slide Number Placeholder 6"/>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36871999"/>
      </p:ext>
    </p:extLst>
  </p:cSld>
  <p:clrMapOvr>
    <a:masterClrMapping/>
  </p:clrMapOvr>
  <p:transition>
    <p:fade/>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8" name="Footer Placeholder 7"/>
          <p:cNvSpPr>
            <a:spLocks noGrp="1"/>
          </p:cNvSpPr>
          <p:nvPr>
            <p:ph type="ftr" sz="quarter" idx="11"/>
          </p:nvPr>
        </p:nvSpPr>
        <p:spPr/>
        <p:txBody>
          <a:bodyPr/>
          <a:lstStyle/>
          <a:p>
            <a:endParaRPr lang="en-US">
              <a:solidFill>
                <a:srgbClr val="000000">
                  <a:tint val="75000"/>
                </a:srgbClr>
              </a:solidFill>
            </a:endParaRPr>
          </a:p>
        </p:txBody>
      </p:sp>
      <p:sp>
        <p:nvSpPr>
          <p:cNvPr id="9" name="Slide Number Placeholder 8"/>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4066708102"/>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4" name="Footer Placeholder 3"/>
          <p:cNvSpPr>
            <a:spLocks noGrp="1"/>
          </p:cNvSpPr>
          <p:nvPr>
            <p:ph type="ftr" sz="quarter" idx="11"/>
          </p:nvPr>
        </p:nvSpPr>
        <p:spPr/>
        <p:txBody>
          <a:bodyPr/>
          <a:lstStyle/>
          <a:p>
            <a:endParaRPr lang="en-US">
              <a:solidFill>
                <a:srgbClr val="000000">
                  <a:tint val="75000"/>
                </a:srgbClr>
              </a:solidFill>
            </a:endParaRPr>
          </a:p>
        </p:txBody>
      </p:sp>
      <p:sp>
        <p:nvSpPr>
          <p:cNvPr id="5" name="Slide Number Placeholder 4"/>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742405164"/>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3" name="Footer Placeholder 2"/>
          <p:cNvSpPr>
            <a:spLocks noGrp="1"/>
          </p:cNvSpPr>
          <p:nvPr>
            <p:ph type="ftr" sz="quarter" idx="11"/>
          </p:nvPr>
        </p:nvSpPr>
        <p:spPr/>
        <p:txBody>
          <a:bodyPr/>
          <a:lstStyle/>
          <a:p>
            <a:endParaRPr lang="en-US">
              <a:solidFill>
                <a:srgbClr val="000000">
                  <a:tint val="75000"/>
                </a:srgbClr>
              </a:solidFill>
            </a:endParaRPr>
          </a:p>
        </p:txBody>
      </p:sp>
      <p:sp>
        <p:nvSpPr>
          <p:cNvPr id="4" name="Slide Number Placeholder 3"/>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030341518"/>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6" name="Footer Placeholder 5"/>
          <p:cNvSpPr>
            <a:spLocks noGrp="1"/>
          </p:cNvSpPr>
          <p:nvPr>
            <p:ph type="ftr" sz="quarter" idx="11"/>
          </p:nvPr>
        </p:nvSpPr>
        <p:spPr/>
        <p:txBody>
          <a:bodyPr/>
          <a:lstStyle/>
          <a:p>
            <a:endParaRPr lang="en-US">
              <a:solidFill>
                <a:srgbClr val="000000">
                  <a:tint val="75000"/>
                </a:srgbClr>
              </a:solidFill>
            </a:endParaRPr>
          </a:p>
        </p:txBody>
      </p:sp>
      <p:sp>
        <p:nvSpPr>
          <p:cNvPr id="7" name="Slide Number Placeholder 6"/>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4223315163"/>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6" name="Footer Placeholder 5"/>
          <p:cNvSpPr>
            <a:spLocks noGrp="1"/>
          </p:cNvSpPr>
          <p:nvPr>
            <p:ph type="ftr" sz="quarter" idx="11"/>
          </p:nvPr>
        </p:nvSpPr>
        <p:spPr/>
        <p:txBody>
          <a:bodyPr/>
          <a:lstStyle/>
          <a:p>
            <a:endParaRPr lang="en-US">
              <a:solidFill>
                <a:srgbClr val="000000">
                  <a:tint val="75000"/>
                </a:srgbClr>
              </a:solidFill>
            </a:endParaRPr>
          </a:p>
        </p:txBody>
      </p:sp>
      <p:sp>
        <p:nvSpPr>
          <p:cNvPr id="7" name="Slide Number Placeholder 6"/>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081684858"/>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4.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3.png"/><Relationship Id="rId2" Type="http://schemas.openxmlformats.org/officeDocument/2006/relationships/slideLayout" Target="../slideLayouts/slideLayout15.xml"/><Relationship Id="rId16" Type="http://schemas.openxmlformats.org/officeDocument/2006/relationships/image" Target="../media/image2.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6" Type="http://schemas.openxmlformats.org/officeDocument/2006/relationships/image" Target="../media/image4.pn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3.pn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image" Target="../media/image1.png"/><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4.xml"/><Relationship Id="rId2" Type="http://schemas.openxmlformats.org/officeDocument/2006/relationships/slideLayout" Target="../slideLayouts/slideLayout39.xml"/><Relationship Id="rId16" Type="http://schemas.openxmlformats.org/officeDocument/2006/relationships/image" Target="../media/image4.png"/><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3.png"/><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9144000" cy="742950"/>
          </a:xfrm>
          <a:prstGeom prst="rect">
            <a:avLst/>
          </a:prstGeom>
        </p:spPr>
        <p:txBody>
          <a:bodyPr vert="horz" lIns="91440" tIns="45720" rIns="91440" bIns="45720" rtlCol="0" anchor="t"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762000"/>
            <a:ext cx="8229600" cy="5562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F89BD6-E300-4C67-B175-76E5828D27B4}" type="datetimeFigureOut">
              <a:rPr lang="en-US" smtClean="0"/>
              <a:pPr/>
              <a:t>5/7/2015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582210-5FCA-4178-AB04-4337EADA3D81}" type="slidenum">
              <a:rPr lang="en-US" smtClean="0"/>
              <a:pPr/>
              <a:t>‹#›</a:t>
            </a:fld>
            <a:endParaRPr lang="en-US"/>
          </a:p>
        </p:txBody>
      </p:sp>
      <p:pic>
        <p:nvPicPr>
          <p:cNvPr id="7" name="TI Logo Color One Line" descr="tilogo_color_oneline.png" hidden="1"/>
          <p:cNvPicPr>
            <a:picLocks noChangeAspect="1"/>
          </p:cNvPicPr>
          <p:nvPr/>
        </p:nvPicPr>
        <p:blipFill>
          <a:blip r:embed="rId15" cstate="print"/>
          <a:stretch>
            <a:fillRect/>
          </a:stretch>
        </p:blipFill>
        <p:spPr>
          <a:xfrm>
            <a:off x="147730" y="6101890"/>
            <a:ext cx="1840840" cy="237724"/>
          </a:xfrm>
          <a:prstGeom prst="rect">
            <a:avLst/>
          </a:prstGeom>
        </p:spPr>
      </p:pic>
      <p:pic>
        <p:nvPicPr>
          <p:cNvPr id="8" name="TI Logo White One Line" descr="tilogo_bw_oneline.png" hidden="1"/>
          <p:cNvPicPr>
            <a:picLocks noChangeAspect="1"/>
          </p:cNvPicPr>
          <p:nvPr/>
        </p:nvPicPr>
        <p:blipFill>
          <a:blip r:embed="rId16" cstate="print"/>
          <a:stretch>
            <a:fillRect/>
          </a:stretch>
        </p:blipFill>
        <p:spPr>
          <a:xfrm>
            <a:off x="136939" y="5288938"/>
            <a:ext cx="1822553" cy="237724"/>
          </a:xfrm>
          <a:prstGeom prst="rect">
            <a:avLst/>
          </a:prstGeom>
        </p:spPr>
      </p:pic>
      <p:pic>
        <p:nvPicPr>
          <p:cNvPr id="9" name="TI Logo White Stack" descr="tilogo_bw_twoline.png" hidden="1"/>
          <p:cNvPicPr>
            <a:picLocks noChangeAspect="1"/>
          </p:cNvPicPr>
          <p:nvPr/>
        </p:nvPicPr>
        <p:blipFill>
          <a:blip r:embed="rId17" cstate="print"/>
          <a:stretch>
            <a:fillRect/>
          </a:stretch>
        </p:blipFill>
        <p:spPr>
          <a:xfrm>
            <a:off x="121847" y="5656160"/>
            <a:ext cx="1456824" cy="353539"/>
          </a:xfrm>
          <a:prstGeom prst="rect">
            <a:avLst/>
          </a:prstGeom>
        </p:spPr>
      </p:pic>
      <p:pic>
        <p:nvPicPr>
          <p:cNvPr id="10" name="TI Logo Color Stack" descr="tilogo_color_twoline.png" hidden="1"/>
          <p:cNvPicPr>
            <a:picLocks noChangeAspect="1"/>
          </p:cNvPicPr>
          <p:nvPr/>
        </p:nvPicPr>
        <p:blipFill>
          <a:blip r:embed="rId18" cstate="print"/>
          <a:stretch>
            <a:fillRect/>
          </a:stretch>
        </p:blipFill>
        <p:spPr>
          <a:xfrm>
            <a:off x="127241" y="6399926"/>
            <a:ext cx="1438537" cy="347443"/>
          </a:xfrm>
          <a:prstGeom prst="rect">
            <a:avLst/>
          </a:prstGeom>
        </p:spPr>
      </p:pic>
    </p:spTree>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Lst>
  <p:transition>
    <p:fade/>
  </p:transition>
  <p:timing>
    <p:tnLst>
      <p:par>
        <p:cTn id="1" dur="indefinite" restart="never" nodeType="tmRoot"/>
      </p:par>
    </p:tnLst>
  </p:timing>
  <p:txStyles>
    <p:titleStyle>
      <a:lvl1pPr algn="ctr" defTabSz="914400" rtl="0" eaLnBrk="1" latinLnBrk="0" hangingPunct="1">
        <a:spcBef>
          <a:spcPct val="0"/>
        </a:spcBef>
        <a:buNone/>
        <a:defRPr sz="3600" b="1" kern="1200" baseline="0">
          <a:solidFill>
            <a:schemeClr val="tx2"/>
          </a:solidFill>
          <a:latin typeface="+mj-lt"/>
          <a:ea typeface="+mj-ea"/>
          <a:cs typeface="+mj-cs"/>
        </a:defRPr>
      </a:lvl1pPr>
    </p:titleStyle>
    <p:bodyStyle>
      <a:lvl1pPr marL="342900" indent="-342900" algn="l" defTabSz="914400" rtl="0" eaLnBrk="1" latinLnBrk="0" hangingPunct="1">
        <a:spcBef>
          <a:spcPct val="20000"/>
        </a:spcBef>
        <a:buClr>
          <a:schemeClr val="tx2"/>
        </a:buClr>
        <a:buSzPct val="75000"/>
        <a:buFont typeface="Wingdings" pitchFamily="2" charset="2"/>
        <a:buChar char=""/>
        <a:defRPr sz="3200" b="1" kern="1200">
          <a:solidFill>
            <a:schemeClr val="tx1"/>
          </a:solidFill>
          <a:latin typeface="+mn-lt"/>
          <a:ea typeface="+mn-ea"/>
          <a:cs typeface="+mn-cs"/>
        </a:defRPr>
      </a:lvl1pPr>
      <a:lvl2pPr marL="742950" indent="-285750" algn="l" defTabSz="914400" rtl="0" eaLnBrk="1" latinLnBrk="0" hangingPunct="1">
        <a:spcBef>
          <a:spcPct val="20000"/>
        </a:spcBef>
        <a:buClr>
          <a:schemeClr val="tx2"/>
        </a:buClr>
        <a:buSzPct val="75000"/>
        <a:buFont typeface="Wingdings" pitchFamily="2" charset="2"/>
        <a:buChar char=""/>
        <a:defRPr sz="2800" b="1"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SzPct val="75000"/>
        <a:buFont typeface="Wingdings" pitchFamily="2" charset="2"/>
        <a:buChar char=""/>
        <a:defRPr sz="2400" b="1"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9144000" cy="742950"/>
          </a:xfrm>
          <a:prstGeom prst="rect">
            <a:avLst/>
          </a:prstGeom>
        </p:spPr>
        <p:txBody>
          <a:bodyPr vert="horz" lIns="91440" tIns="45720" rIns="91440" bIns="45720" rtlCol="0" anchor="t"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762000"/>
            <a:ext cx="8229600" cy="5562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srgbClr val="000000">
                  <a:tint val="75000"/>
                </a:srgb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pic>
        <p:nvPicPr>
          <p:cNvPr id="7" name="TI Logo Color One Line" descr="tilogo_color_oneline.png" hidden="1"/>
          <p:cNvPicPr>
            <a:picLocks noChangeAspect="1"/>
          </p:cNvPicPr>
          <p:nvPr/>
        </p:nvPicPr>
        <p:blipFill>
          <a:blip r:embed="rId15" cstate="print"/>
          <a:stretch>
            <a:fillRect/>
          </a:stretch>
        </p:blipFill>
        <p:spPr>
          <a:xfrm>
            <a:off x="147730" y="6101890"/>
            <a:ext cx="1840840" cy="237724"/>
          </a:xfrm>
          <a:prstGeom prst="rect">
            <a:avLst/>
          </a:prstGeom>
        </p:spPr>
      </p:pic>
      <p:pic>
        <p:nvPicPr>
          <p:cNvPr id="8" name="TI Logo White One Line" descr="tilogo_bw_oneline.png" hidden="1"/>
          <p:cNvPicPr>
            <a:picLocks noChangeAspect="1"/>
          </p:cNvPicPr>
          <p:nvPr/>
        </p:nvPicPr>
        <p:blipFill>
          <a:blip r:embed="rId16" cstate="print"/>
          <a:stretch>
            <a:fillRect/>
          </a:stretch>
        </p:blipFill>
        <p:spPr>
          <a:xfrm>
            <a:off x="136939" y="5288938"/>
            <a:ext cx="1822553" cy="237724"/>
          </a:xfrm>
          <a:prstGeom prst="rect">
            <a:avLst/>
          </a:prstGeom>
        </p:spPr>
      </p:pic>
      <p:pic>
        <p:nvPicPr>
          <p:cNvPr id="9" name="TI Logo White Stack" descr="tilogo_bw_twoline.png" hidden="1"/>
          <p:cNvPicPr>
            <a:picLocks noChangeAspect="1"/>
          </p:cNvPicPr>
          <p:nvPr/>
        </p:nvPicPr>
        <p:blipFill>
          <a:blip r:embed="rId17" cstate="print"/>
          <a:stretch>
            <a:fillRect/>
          </a:stretch>
        </p:blipFill>
        <p:spPr>
          <a:xfrm>
            <a:off x="121847" y="5656160"/>
            <a:ext cx="1456824" cy="353539"/>
          </a:xfrm>
          <a:prstGeom prst="rect">
            <a:avLst/>
          </a:prstGeom>
        </p:spPr>
      </p:pic>
      <p:pic>
        <p:nvPicPr>
          <p:cNvPr id="10" name="TI Logo Color Stack" descr="tilogo_color_twoline.png" hidden="1"/>
          <p:cNvPicPr>
            <a:picLocks noChangeAspect="1"/>
          </p:cNvPicPr>
          <p:nvPr/>
        </p:nvPicPr>
        <p:blipFill>
          <a:blip r:embed="rId18" cstate="print"/>
          <a:stretch>
            <a:fillRect/>
          </a:stretch>
        </p:blipFill>
        <p:spPr>
          <a:xfrm>
            <a:off x="127241" y="6399926"/>
            <a:ext cx="1438537" cy="347443"/>
          </a:xfrm>
          <a:prstGeom prst="rect">
            <a:avLst/>
          </a:prstGeom>
        </p:spPr>
      </p:pic>
    </p:spTree>
    <p:extLst>
      <p:ext uri="{BB962C8B-B14F-4D97-AF65-F5344CB8AC3E}">
        <p14:creationId xmlns:p14="http://schemas.microsoft.com/office/powerpoint/2010/main" val="2311912939"/>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7" r:id="rId12"/>
    <p:sldLayoutId id="2147483878" r:id="rId13"/>
  </p:sldLayoutIdLst>
  <p:transition>
    <p:fade/>
  </p:transition>
  <p:timing>
    <p:tnLst>
      <p:par>
        <p:cTn id="1" dur="indefinite" restart="never" nodeType="tmRoot"/>
      </p:par>
    </p:tnLst>
  </p:timing>
  <p:txStyles>
    <p:titleStyle>
      <a:lvl1pPr algn="ctr" defTabSz="914400" rtl="0" eaLnBrk="1" latinLnBrk="0" hangingPunct="1">
        <a:spcBef>
          <a:spcPct val="0"/>
        </a:spcBef>
        <a:buNone/>
        <a:defRPr sz="3600" b="1" kern="1200" baseline="0">
          <a:solidFill>
            <a:schemeClr val="tx2"/>
          </a:solidFill>
          <a:latin typeface="+mj-lt"/>
          <a:ea typeface="+mj-ea"/>
          <a:cs typeface="+mj-cs"/>
        </a:defRPr>
      </a:lvl1pPr>
    </p:titleStyle>
    <p:bodyStyle>
      <a:lvl1pPr marL="342900" indent="-342900" algn="l" defTabSz="914400" rtl="0" eaLnBrk="1" latinLnBrk="0" hangingPunct="1">
        <a:spcBef>
          <a:spcPct val="20000"/>
        </a:spcBef>
        <a:buClr>
          <a:schemeClr val="tx2"/>
        </a:buClr>
        <a:buSzPct val="75000"/>
        <a:buFont typeface="Wingdings" pitchFamily="2" charset="2"/>
        <a:buChar char=""/>
        <a:defRPr sz="3200" b="1" kern="1200">
          <a:solidFill>
            <a:schemeClr val="tx1"/>
          </a:solidFill>
          <a:latin typeface="+mn-lt"/>
          <a:ea typeface="+mn-ea"/>
          <a:cs typeface="+mn-cs"/>
        </a:defRPr>
      </a:lvl1pPr>
      <a:lvl2pPr marL="742950" indent="-285750" algn="l" defTabSz="914400" rtl="0" eaLnBrk="1" latinLnBrk="0" hangingPunct="1">
        <a:spcBef>
          <a:spcPct val="20000"/>
        </a:spcBef>
        <a:buClr>
          <a:schemeClr val="tx2"/>
        </a:buClr>
        <a:buSzPct val="75000"/>
        <a:buFont typeface="Wingdings" pitchFamily="2" charset="2"/>
        <a:buChar char=""/>
        <a:defRPr sz="2800" b="1"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SzPct val="75000"/>
        <a:buFont typeface="Wingdings" pitchFamily="2" charset="2"/>
        <a:buChar char=""/>
        <a:defRPr sz="2400" b="1"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9144000" cy="742950"/>
          </a:xfrm>
          <a:prstGeom prst="rect">
            <a:avLst/>
          </a:prstGeom>
        </p:spPr>
        <p:txBody>
          <a:bodyPr vert="horz" lIns="91440" tIns="45720" rIns="91440" bIns="45720" rtlCol="0" anchor="t"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762000"/>
            <a:ext cx="8229600" cy="5562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F89BD6-E300-4C67-B175-76E5828D27B4}" type="datetimeFigureOut">
              <a:rPr lang="en-US" smtClean="0">
                <a:solidFill>
                  <a:srgbClr val="000000">
                    <a:tint val="75000"/>
                  </a:srgbClr>
                </a:solidFill>
              </a:rPr>
              <a:pPr/>
              <a:t>5/7/2015</a:t>
            </a:fld>
            <a:endParaRPr lang="en-US">
              <a:solidFill>
                <a:srgbClr val="000000">
                  <a:tint val="75000"/>
                </a:srgb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srgbClr val="000000">
                  <a:tint val="75000"/>
                </a:srgb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pic>
        <p:nvPicPr>
          <p:cNvPr id="7" name="TI Logo Color One Line" descr="tilogo_color_oneline.png" hidden="1"/>
          <p:cNvPicPr>
            <a:picLocks noChangeAspect="1"/>
          </p:cNvPicPr>
          <p:nvPr/>
        </p:nvPicPr>
        <p:blipFill>
          <a:blip r:embed="rId13" cstate="print"/>
          <a:stretch>
            <a:fillRect/>
          </a:stretch>
        </p:blipFill>
        <p:spPr>
          <a:xfrm>
            <a:off x="147730" y="6101890"/>
            <a:ext cx="1840840" cy="237724"/>
          </a:xfrm>
          <a:prstGeom prst="rect">
            <a:avLst/>
          </a:prstGeom>
        </p:spPr>
      </p:pic>
      <p:pic>
        <p:nvPicPr>
          <p:cNvPr id="8" name="TI Logo White One Line" descr="tilogo_bw_oneline.png" hidden="1"/>
          <p:cNvPicPr>
            <a:picLocks noChangeAspect="1"/>
          </p:cNvPicPr>
          <p:nvPr/>
        </p:nvPicPr>
        <p:blipFill>
          <a:blip r:embed="rId14" cstate="print"/>
          <a:stretch>
            <a:fillRect/>
          </a:stretch>
        </p:blipFill>
        <p:spPr>
          <a:xfrm>
            <a:off x="136939" y="5288938"/>
            <a:ext cx="1822553" cy="237724"/>
          </a:xfrm>
          <a:prstGeom prst="rect">
            <a:avLst/>
          </a:prstGeom>
        </p:spPr>
      </p:pic>
      <p:pic>
        <p:nvPicPr>
          <p:cNvPr id="9" name="TI Logo White Stack" descr="tilogo_bw_twoline.png" hidden="1"/>
          <p:cNvPicPr>
            <a:picLocks noChangeAspect="1"/>
          </p:cNvPicPr>
          <p:nvPr/>
        </p:nvPicPr>
        <p:blipFill>
          <a:blip r:embed="rId15" cstate="print"/>
          <a:stretch>
            <a:fillRect/>
          </a:stretch>
        </p:blipFill>
        <p:spPr>
          <a:xfrm>
            <a:off x="121847" y="5656160"/>
            <a:ext cx="1456824" cy="353539"/>
          </a:xfrm>
          <a:prstGeom prst="rect">
            <a:avLst/>
          </a:prstGeom>
        </p:spPr>
      </p:pic>
      <p:pic>
        <p:nvPicPr>
          <p:cNvPr id="10" name="TI Logo Color Stack" descr="tilogo_color_twoline.png" hidden="1"/>
          <p:cNvPicPr>
            <a:picLocks noChangeAspect="1"/>
          </p:cNvPicPr>
          <p:nvPr/>
        </p:nvPicPr>
        <p:blipFill>
          <a:blip r:embed="rId16" cstate="print"/>
          <a:stretch>
            <a:fillRect/>
          </a:stretch>
        </p:blipFill>
        <p:spPr>
          <a:xfrm>
            <a:off x="127241" y="6399926"/>
            <a:ext cx="1438537" cy="347443"/>
          </a:xfrm>
          <a:prstGeom prst="rect">
            <a:avLst/>
          </a:prstGeom>
        </p:spPr>
      </p:pic>
    </p:spTree>
    <p:extLst>
      <p:ext uri="{BB962C8B-B14F-4D97-AF65-F5344CB8AC3E}">
        <p14:creationId xmlns:p14="http://schemas.microsoft.com/office/powerpoint/2010/main" val="1033450522"/>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Lst>
  <p:transition>
    <p:fade/>
  </p:transition>
  <p:timing>
    <p:tnLst>
      <p:par>
        <p:cTn id="1" dur="indefinite" restart="never" nodeType="tmRoot"/>
      </p:par>
    </p:tnLst>
  </p:timing>
  <p:txStyles>
    <p:titleStyle>
      <a:lvl1pPr algn="ctr" defTabSz="914400" rtl="0" eaLnBrk="1" latinLnBrk="0" hangingPunct="1">
        <a:spcBef>
          <a:spcPct val="0"/>
        </a:spcBef>
        <a:buNone/>
        <a:defRPr sz="3600" b="1" kern="1200" baseline="0">
          <a:solidFill>
            <a:schemeClr val="tx2"/>
          </a:solidFill>
          <a:latin typeface="+mj-lt"/>
          <a:ea typeface="+mj-ea"/>
          <a:cs typeface="+mj-cs"/>
        </a:defRPr>
      </a:lvl1pPr>
    </p:titleStyle>
    <p:bodyStyle>
      <a:lvl1pPr marL="342900" indent="-342900" algn="l" defTabSz="914400" rtl="0" eaLnBrk="1" latinLnBrk="0" hangingPunct="1">
        <a:spcBef>
          <a:spcPct val="20000"/>
        </a:spcBef>
        <a:buClr>
          <a:schemeClr val="tx2"/>
        </a:buClr>
        <a:buSzPct val="75000"/>
        <a:buFont typeface="Wingdings" pitchFamily="2" charset="2"/>
        <a:buChar char=""/>
        <a:defRPr sz="3200" b="1" kern="1200">
          <a:solidFill>
            <a:schemeClr val="tx1"/>
          </a:solidFill>
          <a:latin typeface="+mn-lt"/>
          <a:ea typeface="+mn-ea"/>
          <a:cs typeface="+mn-cs"/>
        </a:defRPr>
      </a:lvl1pPr>
      <a:lvl2pPr marL="742950" indent="-285750" algn="l" defTabSz="914400" rtl="0" eaLnBrk="1" latinLnBrk="0" hangingPunct="1">
        <a:spcBef>
          <a:spcPct val="20000"/>
        </a:spcBef>
        <a:buClr>
          <a:schemeClr val="tx2"/>
        </a:buClr>
        <a:buSzPct val="75000"/>
        <a:buFont typeface="Wingdings" pitchFamily="2" charset="2"/>
        <a:buChar char=""/>
        <a:defRPr sz="2800" b="1"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SzPct val="75000"/>
        <a:buFont typeface="Wingdings" pitchFamily="2" charset="2"/>
        <a:buChar char=""/>
        <a:defRPr sz="2400" b="1"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9144000" cy="742950"/>
          </a:xfrm>
          <a:prstGeom prst="rect">
            <a:avLst/>
          </a:prstGeom>
        </p:spPr>
        <p:txBody>
          <a:bodyPr vert="horz" lIns="91440" tIns="45720" rIns="91440" bIns="45720" rtlCol="0" anchor="t"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762000"/>
            <a:ext cx="8229600" cy="5562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1" hangingPunct="1">
              <a:lnSpc>
                <a:spcPct val="100000"/>
              </a:lnSpc>
              <a:spcBef>
                <a:spcPct val="0"/>
              </a:spcBef>
            </a:pPr>
            <a:fld id="{AEF89BD6-E300-4C67-B175-76E5828D27B4}" type="datetimeFigureOut">
              <a:rPr lang="en-US" smtClean="0">
                <a:solidFill>
                  <a:srgbClr val="000000">
                    <a:tint val="75000"/>
                  </a:srgbClr>
                </a:solidFill>
              </a:rPr>
              <a:pPr eaLnBrk="1" hangingPunct="1">
                <a:lnSpc>
                  <a:spcPct val="100000"/>
                </a:lnSpc>
                <a:spcBef>
                  <a:spcPct val="0"/>
                </a:spcBef>
              </a:pPr>
              <a:t>5/7/2015</a:t>
            </a:fld>
            <a:endParaRPr lang="en-US">
              <a:solidFill>
                <a:srgbClr val="000000">
                  <a:tint val="75000"/>
                </a:srgb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eaLnBrk="1" hangingPunct="1">
              <a:lnSpc>
                <a:spcPct val="100000"/>
              </a:lnSpc>
              <a:spcBef>
                <a:spcPct val="0"/>
              </a:spcBef>
            </a:pPr>
            <a:endParaRPr lang="en-US">
              <a:solidFill>
                <a:srgbClr val="000000">
                  <a:tint val="75000"/>
                </a:srgb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1" hangingPunct="1">
              <a:lnSpc>
                <a:spcPct val="100000"/>
              </a:lnSpc>
              <a:spcBef>
                <a:spcPct val="0"/>
              </a:spcBef>
            </a:pPr>
            <a:fld id="{4E582210-5FCA-4178-AB04-4337EADA3D81}" type="slidenum">
              <a:rPr lang="en-US" smtClean="0">
                <a:solidFill>
                  <a:srgbClr val="000000">
                    <a:tint val="75000"/>
                  </a:srgbClr>
                </a:solidFill>
              </a:rPr>
              <a:pPr eaLnBrk="1" hangingPunct="1">
                <a:lnSpc>
                  <a:spcPct val="100000"/>
                </a:lnSpc>
                <a:spcBef>
                  <a:spcPct val="0"/>
                </a:spcBef>
              </a:pPr>
              <a:t>‹#›</a:t>
            </a:fld>
            <a:endParaRPr lang="en-US">
              <a:solidFill>
                <a:srgbClr val="000000">
                  <a:tint val="75000"/>
                </a:srgbClr>
              </a:solidFill>
            </a:endParaRPr>
          </a:p>
        </p:txBody>
      </p:sp>
      <p:pic>
        <p:nvPicPr>
          <p:cNvPr id="7" name="TI Logo Color One Line" descr="tilogo_color_oneline.png" hidden="1"/>
          <p:cNvPicPr>
            <a:picLocks noChangeAspect="1"/>
          </p:cNvPicPr>
          <p:nvPr/>
        </p:nvPicPr>
        <p:blipFill>
          <a:blip r:embed="rId13" cstate="print"/>
          <a:stretch>
            <a:fillRect/>
          </a:stretch>
        </p:blipFill>
        <p:spPr>
          <a:xfrm>
            <a:off x="147730" y="6101890"/>
            <a:ext cx="1840840" cy="237724"/>
          </a:xfrm>
          <a:prstGeom prst="rect">
            <a:avLst/>
          </a:prstGeom>
        </p:spPr>
      </p:pic>
      <p:pic>
        <p:nvPicPr>
          <p:cNvPr id="8" name="TI Logo White One Line" descr="tilogo_bw_oneline.png" hidden="1"/>
          <p:cNvPicPr>
            <a:picLocks noChangeAspect="1"/>
          </p:cNvPicPr>
          <p:nvPr/>
        </p:nvPicPr>
        <p:blipFill>
          <a:blip r:embed="rId14" cstate="print"/>
          <a:stretch>
            <a:fillRect/>
          </a:stretch>
        </p:blipFill>
        <p:spPr>
          <a:xfrm>
            <a:off x="136939" y="5288938"/>
            <a:ext cx="1822553" cy="237724"/>
          </a:xfrm>
          <a:prstGeom prst="rect">
            <a:avLst/>
          </a:prstGeom>
        </p:spPr>
      </p:pic>
      <p:pic>
        <p:nvPicPr>
          <p:cNvPr id="9" name="TI Logo White Stack" descr="tilogo_bw_twoline.png" hidden="1"/>
          <p:cNvPicPr>
            <a:picLocks noChangeAspect="1"/>
          </p:cNvPicPr>
          <p:nvPr/>
        </p:nvPicPr>
        <p:blipFill>
          <a:blip r:embed="rId15" cstate="print"/>
          <a:stretch>
            <a:fillRect/>
          </a:stretch>
        </p:blipFill>
        <p:spPr>
          <a:xfrm>
            <a:off x="121847" y="5656160"/>
            <a:ext cx="1456824" cy="353539"/>
          </a:xfrm>
          <a:prstGeom prst="rect">
            <a:avLst/>
          </a:prstGeom>
        </p:spPr>
      </p:pic>
      <p:pic>
        <p:nvPicPr>
          <p:cNvPr id="10" name="TI Logo Color Stack" descr="tilogo_color_twoline.png" hidden="1"/>
          <p:cNvPicPr>
            <a:picLocks noChangeAspect="1"/>
          </p:cNvPicPr>
          <p:nvPr/>
        </p:nvPicPr>
        <p:blipFill>
          <a:blip r:embed="rId16" cstate="print"/>
          <a:stretch>
            <a:fillRect/>
          </a:stretch>
        </p:blipFill>
        <p:spPr>
          <a:xfrm>
            <a:off x="127241" y="6399926"/>
            <a:ext cx="1438537" cy="347443"/>
          </a:xfrm>
          <a:prstGeom prst="rect">
            <a:avLst/>
          </a:prstGeom>
        </p:spPr>
      </p:pic>
    </p:spTree>
    <p:extLst>
      <p:ext uri="{BB962C8B-B14F-4D97-AF65-F5344CB8AC3E}">
        <p14:creationId xmlns:p14="http://schemas.microsoft.com/office/powerpoint/2010/main" val="1360320946"/>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ransition>
    <p:fade/>
  </p:transition>
  <p:timing>
    <p:tnLst>
      <p:par>
        <p:cTn id="1" dur="indefinite" restart="never" nodeType="tmRoot"/>
      </p:par>
    </p:tnLst>
  </p:timing>
  <p:txStyles>
    <p:titleStyle>
      <a:lvl1pPr algn="ctr" defTabSz="914400" rtl="0" eaLnBrk="1" latinLnBrk="0" hangingPunct="1">
        <a:spcBef>
          <a:spcPct val="0"/>
        </a:spcBef>
        <a:buNone/>
        <a:defRPr sz="3600" b="1" kern="1200" baseline="0">
          <a:solidFill>
            <a:schemeClr val="tx2"/>
          </a:solidFill>
          <a:latin typeface="+mj-lt"/>
          <a:ea typeface="+mj-ea"/>
          <a:cs typeface="+mj-cs"/>
        </a:defRPr>
      </a:lvl1pPr>
    </p:titleStyle>
    <p:bodyStyle>
      <a:lvl1pPr marL="342900" indent="-342900" algn="l" defTabSz="914400" rtl="0" eaLnBrk="1" latinLnBrk="0" hangingPunct="1">
        <a:spcBef>
          <a:spcPct val="20000"/>
        </a:spcBef>
        <a:buClr>
          <a:schemeClr val="tx2"/>
        </a:buClr>
        <a:buSzPct val="75000"/>
        <a:buFont typeface="Wingdings" pitchFamily="2" charset="2"/>
        <a:buChar char=""/>
        <a:defRPr sz="3200" b="1" kern="1200">
          <a:solidFill>
            <a:schemeClr val="tx1"/>
          </a:solidFill>
          <a:latin typeface="+mn-lt"/>
          <a:ea typeface="+mn-ea"/>
          <a:cs typeface="+mn-cs"/>
        </a:defRPr>
      </a:lvl1pPr>
      <a:lvl2pPr marL="742950" indent="-285750" algn="l" defTabSz="914400" rtl="0" eaLnBrk="1" latinLnBrk="0" hangingPunct="1">
        <a:spcBef>
          <a:spcPct val="20000"/>
        </a:spcBef>
        <a:buClr>
          <a:schemeClr val="tx2"/>
        </a:buClr>
        <a:buSzPct val="75000"/>
        <a:buFont typeface="Wingdings" pitchFamily="2" charset="2"/>
        <a:buChar char=""/>
        <a:defRPr sz="2800" b="1"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SzPct val="75000"/>
        <a:buFont typeface="Wingdings" pitchFamily="2" charset="2"/>
        <a:buChar char=""/>
        <a:defRPr sz="2400" b="1"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tags" Target="../tags/tag1.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11.wmf"/></Relationships>
</file>

<file path=ppt/slides/_rels/slide3.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slideLayout" Target="../slideLayouts/slideLayout8.xml"/><Relationship Id="rId18" Type="http://schemas.openxmlformats.org/officeDocument/2006/relationships/slide" Target="slide6.xml"/><Relationship Id="rId26" Type="http://schemas.openxmlformats.org/officeDocument/2006/relationships/slide" Target="slide32.xml"/><Relationship Id="rId3" Type="http://schemas.openxmlformats.org/officeDocument/2006/relationships/tags" Target="../tags/tag5.xml"/><Relationship Id="rId21" Type="http://schemas.openxmlformats.org/officeDocument/2006/relationships/slide" Target="slide15.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slide" Target="slide4.xml"/><Relationship Id="rId25" Type="http://schemas.openxmlformats.org/officeDocument/2006/relationships/slide" Target="slide30.xml"/><Relationship Id="rId2" Type="http://schemas.openxmlformats.org/officeDocument/2006/relationships/tags" Target="../tags/tag4.xml"/><Relationship Id="rId16" Type="http://schemas.openxmlformats.org/officeDocument/2006/relationships/slide" Target="slide3.xml"/><Relationship Id="rId20" Type="http://schemas.openxmlformats.org/officeDocument/2006/relationships/slide" Target="slide13.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24" Type="http://schemas.openxmlformats.org/officeDocument/2006/relationships/slide" Target="slide26.xml"/><Relationship Id="rId5" Type="http://schemas.openxmlformats.org/officeDocument/2006/relationships/tags" Target="../tags/tag7.xml"/><Relationship Id="rId15" Type="http://schemas.openxmlformats.org/officeDocument/2006/relationships/image" Target="../media/image4.png"/><Relationship Id="rId23" Type="http://schemas.openxmlformats.org/officeDocument/2006/relationships/slide" Target="slide23.xml"/><Relationship Id="rId10" Type="http://schemas.openxmlformats.org/officeDocument/2006/relationships/tags" Target="../tags/tag12.xml"/><Relationship Id="rId19" Type="http://schemas.openxmlformats.org/officeDocument/2006/relationships/slide" Target="slide8.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image" Target="../media/image12.png"/><Relationship Id="rId22" Type="http://schemas.openxmlformats.org/officeDocument/2006/relationships/slide" Target="slide21.xml"/></Relationships>
</file>

<file path=ppt/slides/_rels/slide4.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slideLayout" Target="../slideLayouts/slideLayout8.xml"/><Relationship Id="rId18" Type="http://schemas.openxmlformats.org/officeDocument/2006/relationships/slide" Target="slide6.xml"/><Relationship Id="rId26" Type="http://schemas.openxmlformats.org/officeDocument/2006/relationships/slide" Target="slide32.xml"/><Relationship Id="rId3" Type="http://schemas.openxmlformats.org/officeDocument/2006/relationships/tags" Target="../tags/tag17.xml"/><Relationship Id="rId21" Type="http://schemas.openxmlformats.org/officeDocument/2006/relationships/slide" Target="slide15.xml"/><Relationship Id="rId7" Type="http://schemas.openxmlformats.org/officeDocument/2006/relationships/tags" Target="../tags/tag21.xml"/><Relationship Id="rId12" Type="http://schemas.openxmlformats.org/officeDocument/2006/relationships/tags" Target="../tags/tag26.xml"/><Relationship Id="rId17" Type="http://schemas.openxmlformats.org/officeDocument/2006/relationships/slide" Target="slide4.xml"/><Relationship Id="rId25" Type="http://schemas.openxmlformats.org/officeDocument/2006/relationships/slide" Target="slide30.xml"/><Relationship Id="rId2" Type="http://schemas.openxmlformats.org/officeDocument/2006/relationships/tags" Target="../tags/tag16.xml"/><Relationship Id="rId16" Type="http://schemas.openxmlformats.org/officeDocument/2006/relationships/slide" Target="slide3.xml"/><Relationship Id="rId20" Type="http://schemas.openxmlformats.org/officeDocument/2006/relationships/slide" Target="slide13.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24" Type="http://schemas.openxmlformats.org/officeDocument/2006/relationships/slide" Target="slide26.xml"/><Relationship Id="rId5" Type="http://schemas.openxmlformats.org/officeDocument/2006/relationships/tags" Target="../tags/tag19.xml"/><Relationship Id="rId15" Type="http://schemas.openxmlformats.org/officeDocument/2006/relationships/image" Target="../media/image4.png"/><Relationship Id="rId23" Type="http://schemas.openxmlformats.org/officeDocument/2006/relationships/slide" Target="slide23.xml"/><Relationship Id="rId10" Type="http://schemas.openxmlformats.org/officeDocument/2006/relationships/tags" Target="../tags/tag24.xml"/><Relationship Id="rId19" Type="http://schemas.openxmlformats.org/officeDocument/2006/relationships/slide" Target="slide8.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image" Target="../media/image12.png"/><Relationship Id="rId22" Type="http://schemas.openxmlformats.org/officeDocument/2006/relationships/slide" Target="slide2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2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slideLayout" Target="../slideLayouts/slideLayout8.xml"/><Relationship Id="rId18" Type="http://schemas.openxmlformats.org/officeDocument/2006/relationships/slide" Target="slide6.xml"/><Relationship Id="rId26" Type="http://schemas.openxmlformats.org/officeDocument/2006/relationships/slide" Target="slide32.xml"/><Relationship Id="rId3" Type="http://schemas.openxmlformats.org/officeDocument/2006/relationships/tags" Target="../tags/tag30.xml"/><Relationship Id="rId21" Type="http://schemas.openxmlformats.org/officeDocument/2006/relationships/slide" Target="slide15.xml"/><Relationship Id="rId7" Type="http://schemas.openxmlformats.org/officeDocument/2006/relationships/tags" Target="../tags/tag34.xml"/><Relationship Id="rId12" Type="http://schemas.openxmlformats.org/officeDocument/2006/relationships/tags" Target="../tags/tag39.xml"/><Relationship Id="rId17" Type="http://schemas.openxmlformats.org/officeDocument/2006/relationships/slide" Target="slide4.xml"/><Relationship Id="rId25" Type="http://schemas.openxmlformats.org/officeDocument/2006/relationships/slide" Target="slide30.xml"/><Relationship Id="rId2" Type="http://schemas.openxmlformats.org/officeDocument/2006/relationships/tags" Target="../tags/tag29.xml"/><Relationship Id="rId16" Type="http://schemas.openxmlformats.org/officeDocument/2006/relationships/slide" Target="slide3.xml"/><Relationship Id="rId20" Type="http://schemas.openxmlformats.org/officeDocument/2006/relationships/slide" Target="slide13.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24" Type="http://schemas.openxmlformats.org/officeDocument/2006/relationships/slide" Target="slide26.xml"/><Relationship Id="rId5" Type="http://schemas.openxmlformats.org/officeDocument/2006/relationships/tags" Target="../tags/tag32.xml"/><Relationship Id="rId15" Type="http://schemas.openxmlformats.org/officeDocument/2006/relationships/image" Target="../media/image4.png"/><Relationship Id="rId23" Type="http://schemas.openxmlformats.org/officeDocument/2006/relationships/slide" Target="slide23.xml"/><Relationship Id="rId10" Type="http://schemas.openxmlformats.org/officeDocument/2006/relationships/tags" Target="../tags/tag37.xml"/><Relationship Id="rId19" Type="http://schemas.openxmlformats.org/officeDocument/2006/relationships/slide" Target="slide8.xml"/><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image" Target="../media/image12.png"/><Relationship Id="rId22" Type="http://schemas.openxmlformats.org/officeDocument/2006/relationships/slide" Target="slide2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slideLayout" Target="../slideLayouts/slideLayout8.xml"/><Relationship Id="rId18" Type="http://schemas.openxmlformats.org/officeDocument/2006/relationships/slide" Target="slide6.xml"/><Relationship Id="rId26" Type="http://schemas.openxmlformats.org/officeDocument/2006/relationships/slide" Target="slide32.xml"/><Relationship Id="rId3" Type="http://schemas.openxmlformats.org/officeDocument/2006/relationships/tags" Target="../tags/tag42.xml"/><Relationship Id="rId21" Type="http://schemas.openxmlformats.org/officeDocument/2006/relationships/slide" Target="slide15.xml"/><Relationship Id="rId7" Type="http://schemas.openxmlformats.org/officeDocument/2006/relationships/tags" Target="../tags/tag46.xml"/><Relationship Id="rId12" Type="http://schemas.openxmlformats.org/officeDocument/2006/relationships/tags" Target="../tags/tag51.xml"/><Relationship Id="rId17" Type="http://schemas.openxmlformats.org/officeDocument/2006/relationships/slide" Target="slide4.xml"/><Relationship Id="rId25" Type="http://schemas.openxmlformats.org/officeDocument/2006/relationships/slide" Target="slide30.xml"/><Relationship Id="rId2" Type="http://schemas.openxmlformats.org/officeDocument/2006/relationships/tags" Target="../tags/tag41.xml"/><Relationship Id="rId16" Type="http://schemas.openxmlformats.org/officeDocument/2006/relationships/slide" Target="slide3.xml"/><Relationship Id="rId20" Type="http://schemas.openxmlformats.org/officeDocument/2006/relationships/slide" Target="slide13.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tags" Target="../tags/tag50.xml"/><Relationship Id="rId24" Type="http://schemas.openxmlformats.org/officeDocument/2006/relationships/slide" Target="slide26.xml"/><Relationship Id="rId5" Type="http://schemas.openxmlformats.org/officeDocument/2006/relationships/tags" Target="../tags/tag44.xml"/><Relationship Id="rId15" Type="http://schemas.openxmlformats.org/officeDocument/2006/relationships/image" Target="../media/image4.png"/><Relationship Id="rId23" Type="http://schemas.openxmlformats.org/officeDocument/2006/relationships/slide" Target="slide23.xml"/><Relationship Id="rId10" Type="http://schemas.openxmlformats.org/officeDocument/2006/relationships/tags" Target="../tags/tag49.xml"/><Relationship Id="rId19" Type="http://schemas.openxmlformats.org/officeDocument/2006/relationships/slide" Target="slide8.xml"/><Relationship Id="rId4" Type="http://schemas.openxmlformats.org/officeDocument/2006/relationships/tags" Target="../tags/tag43.xml"/><Relationship Id="rId9" Type="http://schemas.openxmlformats.org/officeDocument/2006/relationships/tags" Target="../tags/tag48.xml"/><Relationship Id="rId14" Type="http://schemas.openxmlformats.org/officeDocument/2006/relationships/image" Target="../media/image12.png"/><Relationship Id="rId22" Type="http://schemas.openxmlformats.org/officeDocument/2006/relationships/slide" Target="slide2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5.png"/><Relationship Id="rId2" Type="http://schemas.openxmlformats.org/officeDocument/2006/relationships/slideLayout" Target="../slideLayouts/slideLayout8.xml"/><Relationship Id="rId1" Type="http://schemas.openxmlformats.org/officeDocument/2006/relationships/tags" Target="../tags/tag5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slide" Target="slide3.xml"/><Relationship Id="rId18" Type="http://schemas.openxmlformats.org/officeDocument/2006/relationships/slide" Target="slide26.xml"/><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image" Target="../media/image4.png"/><Relationship Id="rId17" Type="http://schemas.openxmlformats.org/officeDocument/2006/relationships/slide" Target="slide23.xml"/><Relationship Id="rId2" Type="http://schemas.openxmlformats.org/officeDocument/2006/relationships/tags" Target="../tags/tag54.xml"/><Relationship Id="rId16" Type="http://schemas.openxmlformats.org/officeDocument/2006/relationships/slide" Target="slide21.xml"/><Relationship Id="rId20" Type="http://schemas.openxmlformats.org/officeDocument/2006/relationships/slide" Target="slide32.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image" Target="../media/image12.png"/><Relationship Id="rId5" Type="http://schemas.openxmlformats.org/officeDocument/2006/relationships/tags" Target="../tags/tag57.xml"/><Relationship Id="rId15" Type="http://schemas.openxmlformats.org/officeDocument/2006/relationships/slide" Target="slide15.xml"/><Relationship Id="rId10" Type="http://schemas.openxmlformats.org/officeDocument/2006/relationships/slideLayout" Target="../slideLayouts/slideLayout8.xml"/><Relationship Id="rId19" Type="http://schemas.openxmlformats.org/officeDocument/2006/relationships/slide" Target="slide30.xml"/><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slide" Target="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8" Type="http://schemas.openxmlformats.org/officeDocument/2006/relationships/tags" Target="../tags/tag69.xml"/><Relationship Id="rId13" Type="http://schemas.openxmlformats.org/officeDocument/2006/relationships/slide" Target="slide3.xml"/><Relationship Id="rId18" Type="http://schemas.openxmlformats.org/officeDocument/2006/relationships/slide" Target="slide26.xml"/><Relationship Id="rId3" Type="http://schemas.openxmlformats.org/officeDocument/2006/relationships/tags" Target="../tags/tag64.xml"/><Relationship Id="rId7" Type="http://schemas.openxmlformats.org/officeDocument/2006/relationships/tags" Target="../tags/tag68.xml"/><Relationship Id="rId12" Type="http://schemas.openxmlformats.org/officeDocument/2006/relationships/image" Target="../media/image4.png"/><Relationship Id="rId17" Type="http://schemas.openxmlformats.org/officeDocument/2006/relationships/slide" Target="slide23.xml"/><Relationship Id="rId2" Type="http://schemas.openxmlformats.org/officeDocument/2006/relationships/tags" Target="../tags/tag63.xml"/><Relationship Id="rId16" Type="http://schemas.openxmlformats.org/officeDocument/2006/relationships/slide" Target="slide21.xml"/><Relationship Id="rId20" Type="http://schemas.openxmlformats.org/officeDocument/2006/relationships/slide" Target="slide32.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image" Target="../media/image12.png"/><Relationship Id="rId5" Type="http://schemas.openxmlformats.org/officeDocument/2006/relationships/tags" Target="../tags/tag66.xml"/><Relationship Id="rId15" Type="http://schemas.openxmlformats.org/officeDocument/2006/relationships/slide" Target="slide15.xml"/><Relationship Id="rId10" Type="http://schemas.openxmlformats.org/officeDocument/2006/relationships/slideLayout" Target="../slideLayouts/slideLayout8.xml"/><Relationship Id="rId19" Type="http://schemas.openxmlformats.org/officeDocument/2006/relationships/slide" Target="slide30.xml"/><Relationship Id="rId4" Type="http://schemas.openxmlformats.org/officeDocument/2006/relationships/tags" Target="../tags/tag65.xml"/><Relationship Id="rId9" Type="http://schemas.openxmlformats.org/officeDocument/2006/relationships/tags" Target="../tags/tag70.xml"/><Relationship Id="rId14" Type="http://schemas.openxmlformats.org/officeDocument/2006/relationships/slide" Target="slide13.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18.png"/><Relationship Id="rId2" Type="http://schemas.openxmlformats.org/officeDocument/2006/relationships/slideLayout" Target="../slideLayouts/slideLayout8.xml"/><Relationship Id="rId1" Type="http://schemas.openxmlformats.org/officeDocument/2006/relationships/tags" Target="../tags/tag7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tags" Target="../tags/tag7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slide" Target="slide3.xml"/><Relationship Id="rId18" Type="http://schemas.openxmlformats.org/officeDocument/2006/relationships/slide" Target="slide26.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4.png"/><Relationship Id="rId17" Type="http://schemas.openxmlformats.org/officeDocument/2006/relationships/slide" Target="slide23.xml"/><Relationship Id="rId2" Type="http://schemas.openxmlformats.org/officeDocument/2006/relationships/tags" Target="../tags/tag74.xml"/><Relationship Id="rId16" Type="http://schemas.openxmlformats.org/officeDocument/2006/relationships/slide" Target="slide21.xml"/><Relationship Id="rId20" Type="http://schemas.openxmlformats.org/officeDocument/2006/relationships/slide" Target="slide32.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12.png"/><Relationship Id="rId5" Type="http://schemas.openxmlformats.org/officeDocument/2006/relationships/tags" Target="../tags/tag77.xml"/><Relationship Id="rId15" Type="http://schemas.openxmlformats.org/officeDocument/2006/relationships/slide" Target="slide15.xml"/><Relationship Id="rId10" Type="http://schemas.openxmlformats.org/officeDocument/2006/relationships/slideLayout" Target="../slideLayouts/slideLayout8.xml"/><Relationship Id="rId19" Type="http://schemas.openxmlformats.org/officeDocument/2006/relationships/slide" Target="slide30.xml"/><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slide" Target="slide1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8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8" Type="http://schemas.openxmlformats.org/officeDocument/2006/relationships/tags" Target="../tags/tag90.xml"/><Relationship Id="rId13" Type="http://schemas.openxmlformats.org/officeDocument/2006/relationships/slide" Target="slide3.xml"/><Relationship Id="rId18" Type="http://schemas.openxmlformats.org/officeDocument/2006/relationships/slide" Target="slide26.xml"/><Relationship Id="rId3" Type="http://schemas.openxmlformats.org/officeDocument/2006/relationships/tags" Target="../tags/tag85.xml"/><Relationship Id="rId7" Type="http://schemas.openxmlformats.org/officeDocument/2006/relationships/tags" Target="../tags/tag89.xml"/><Relationship Id="rId12" Type="http://schemas.openxmlformats.org/officeDocument/2006/relationships/image" Target="../media/image4.png"/><Relationship Id="rId17" Type="http://schemas.openxmlformats.org/officeDocument/2006/relationships/slide" Target="slide23.xml"/><Relationship Id="rId2" Type="http://schemas.openxmlformats.org/officeDocument/2006/relationships/tags" Target="../tags/tag84.xml"/><Relationship Id="rId16" Type="http://schemas.openxmlformats.org/officeDocument/2006/relationships/slide" Target="slide21.xml"/><Relationship Id="rId20" Type="http://schemas.openxmlformats.org/officeDocument/2006/relationships/slide" Target="slide32.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image" Target="../media/image12.png"/><Relationship Id="rId5" Type="http://schemas.openxmlformats.org/officeDocument/2006/relationships/tags" Target="../tags/tag87.xml"/><Relationship Id="rId15" Type="http://schemas.openxmlformats.org/officeDocument/2006/relationships/slide" Target="slide15.xml"/><Relationship Id="rId10" Type="http://schemas.openxmlformats.org/officeDocument/2006/relationships/slideLayout" Target="../slideLayouts/slideLayout8.xml"/><Relationship Id="rId19" Type="http://schemas.openxmlformats.org/officeDocument/2006/relationships/slide" Target="slide30.xml"/><Relationship Id="rId4" Type="http://schemas.openxmlformats.org/officeDocument/2006/relationships/tags" Target="../tags/tag86.xml"/><Relationship Id="rId9" Type="http://schemas.openxmlformats.org/officeDocument/2006/relationships/tags" Target="../tags/tag91.xml"/><Relationship Id="rId14" Type="http://schemas.openxmlformats.org/officeDocument/2006/relationships/slide" Target="slide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5.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45.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8" Type="http://schemas.openxmlformats.org/officeDocument/2006/relationships/tags" Target="../tags/tag99.xml"/><Relationship Id="rId13" Type="http://schemas.openxmlformats.org/officeDocument/2006/relationships/slide" Target="slide3.xml"/><Relationship Id="rId18" Type="http://schemas.openxmlformats.org/officeDocument/2006/relationships/slide" Target="slide26.xml"/><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image" Target="../media/image4.png"/><Relationship Id="rId17" Type="http://schemas.openxmlformats.org/officeDocument/2006/relationships/slide" Target="slide23.xml"/><Relationship Id="rId2" Type="http://schemas.openxmlformats.org/officeDocument/2006/relationships/tags" Target="../tags/tag93.xml"/><Relationship Id="rId16" Type="http://schemas.openxmlformats.org/officeDocument/2006/relationships/slide" Target="slide21.xml"/><Relationship Id="rId20" Type="http://schemas.openxmlformats.org/officeDocument/2006/relationships/slide" Target="slide32.xml"/><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image" Target="../media/image12.png"/><Relationship Id="rId5" Type="http://schemas.openxmlformats.org/officeDocument/2006/relationships/tags" Target="../tags/tag96.xml"/><Relationship Id="rId15" Type="http://schemas.openxmlformats.org/officeDocument/2006/relationships/slide" Target="slide15.xml"/><Relationship Id="rId10" Type="http://schemas.openxmlformats.org/officeDocument/2006/relationships/slideLayout" Target="../slideLayouts/slideLayout8.xml"/><Relationship Id="rId19" Type="http://schemas.openxmlformats.org/officeDocument/2006/relationships/slide" Target="slide30.xml"/><Relationship Id="rId4" Type="http://schemas.openxmlformats.org/officeDocument/2006/relationships/tags" Target="../tags/tag95.xml"/><Relationship Id="rId9" Type="http://schemas.openxmlformats.org/officeDocument/2006/relationships/tags" Target="../tags/tag100.xml"/><Relationship Id="rId14" Type="http://schemas.openxmlformats.org/officeDocument/2006/relationships/slide" Target="slide13.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34.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8" Type="http://schemas.openxmlformats.org/officeDocument/2006/relationships/tags" Target="../tags/tag108.xml"/><Relationship Id="rId13" Type="http://schemas.openxmlformats.org/officeDocument/2006/relationships/slide" Target="slide3.xml"/><Relationship Id="rId18" Type="http://schemas.openxmlformats.org/officeDocument/2006/relationships/slide" Target="slide26.xml"/><Relationship Id="rId3" Type="http://schemas.openxmlformats.org/officeDocument/2006/relationships/tags" Target="../tags/tag103.xml"/><Relationship Id="rId7" Type="http://schemas.openxmlformats.org/officeDocument/2006/relationships/tags" Target="../tags/tag107.xml"/><Relationship Id="rId12" Type="http://schemas.openxmlformats.org/officeDocument/2006/relationships/image" Target="../media/image4.png"/><Relationship Id="rId17" Type="http://schemas.openxmlformats.org/officeDocument/2006/relationships/slide" Target="slide23.xml"/><Relationship Id="rId2" Type="http://schemas.openxmlformats.org/officeDocument/2006/relationships/tags" Target="../tags/tag102.xml"/><Relationship Id="rId16" Type="http://schemas.openxmlformats.org/officeDocument/2006/relationships/slide" Target="slide21.xml"/><Relationship Id="rId20" Type="http://schemas.openxmlformats.org/officeDocument/2006/relationships/slide" Target="slide32.xml"/><Relationship Id="rId1" Type="http://schemas.openxmlformats.org/officeDocument/2006/relationships/tags" Target="../tags/tag101.xml"/><Relationship Id="rId6" Type="http://schemas.openxmlformats.org/officeDocument/2006/relationships/tags" Target="../tags/tag106.xml"/><Relationship Id="rId11" Type="http://schemas.openxmlformats.org/officeDocument/2006/relationships/image" Target="../media/image12.png"/><Relationship Id="rId5" Type="http://schemas.openxmlformats.org/officeDocument/2006/relationships/tags" Target="../tags/tag105.xml"/><Relationship Id="rId15" Type="http://schemas.openxmlformats.org/officeDocument/2006/relationships/slide" Target="slide15.xml"/><Relationship Id="rId10" Type="http://schemas.openxmlformats.org/officeDocument/2006/relationships/slideLayout" Target="../slideLayouts/slideLayout8.xml"/><Relationship Id="rId19" Type="http://schemas.openxmlformats.org/officeDocument/2006/relationships/slide" Target="slide30.xml"/><Relationship Id="rId4" Type="http://schemas.openxmlformats.org/officeDocument/2006/relationships/tags" Target="../tags/tag104.xml"/><Relationship Id="rId9" Type="http://schemas.openxmlformats.org/officeDocument/2006/relationships/tags" Target="../tags/tag109.xml"/><Relationship Id="rId14" Type="http://schemas.openxmlformats.org/officeDocument/2006/relationships/slide" Target="slide1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1.xml"/><Relationship Id="rId1" Type="http://schemas.openxmlformats.org/officeDocument/2006/relationships/tags" Target="../tags/tag110.xml"/></Relationships>
</file>

<file path=ppt/slides/_rels/slide32.xml.rels><?xml version="1.0" encoding="UTF-8" standalone="yes"?>
<Relationships xmlns="http://schemas.openxmlformats.org/package/2006/relationships"><Relationship Id="rId8" Type="http://schemas.openxmlformats.org/officeDocument/2006/relationships/tags" Target="../tags/tag118.xml"/><Relationship Id="rId13" Type="http://schemas.openxmlformats.org/officeDocument/2006/relationships/slideLayout" Target="../slideLayouts/slideLayout8.xml"/><Relationship Id="rId18" Type="http://schemas.openxmlformats.org/officeDocument/2006/relationships/slide" Target="slide6.xml"/><Relationship Id="rId26" Type="http://schemas.openxmlformats.org/officeDocument/2006/relationships/slide" Target="slide32.xml"/><Relationship Id="rId3" Type="http://schemas.openxmlformats.org/officeDocument/2006/relationships/tags" Target="../tags/tag113.xml"/><Relationship Id="rId21" Type="http://schemas.openxmlformats.org/officeDocument/2006/relationships/slide" Target="slide15.xml"/><Relationship Id="rId7" Type="http://schemas.openxmlformats.org/officeDocument/2006/relationships/tags" Target="../tags/tag117.xml"/><Relationship Id="rId12" Type="http://schemas.openxmlformats.org/officeDocument/2006/relationships/tags" Target="../tags/tag122.xml"/><Relationship Id="rId17" Type="http://schemas.openxmlformats.org/officeDocument/2006/relationships/slide" Target="slide4.xml"/><Relationship Id="rId25" Type="http://schemas.openxmlformats.org/officeDocument/2006/relationships/slide" Target="slide30.xml"/><Relationship Id="rId2" Type="http://schemas.openxmlformats.org/officeDocument/2006/relationships/tags" Target="../tags/tag112.xml"/><Relationship Id="rId16" Type="http://schemas.openxmlformats.org/officeDocument/2006/relationships/slide" Target="slide3.xml"/><Relationship Id="rId20" Type="http://schemas.openxmlformats.org/officeDocument/2006/relationships/slide" Target="slide13.xml"/><Relationship Id="rId1" Type="http://schemas.openxmlformats.org/officeDocument/2006/relationships/tags" Target="../tags/tag111.xml"/><Relationship Id="rId6" Type="http://schemas.openxmlformats.org/officeDocument/2006/relationships/tags" Target="../tags/tag116.xml"/><Relationship Id="rId11" Type="http://schemas.openxmlformats.org/officeDocument/2006/relationships/tags" Target="../tags/tag121.xml"/><Relationship Id="rId24" Type="http://schemas.openxmlformats.org/officeDocument/2006/relationships/slide" Target="slide26.xml"/><Relationship Id="rId5" Type="http://schemas.openxmlformats.org/officeDocument/2006/relationships/tags" Target="../tags/tag115.xml"/><Relationship Id="rId15" Type="http://schemas.openxmlformats.org/officeDocument/2006/relationships/image" Target="../media/image4.png"/><Relationship Id="rId23" Type="http://schemas.openxmlformats.org/officeDocument/2006/relationships/slide" Target="slide23.xml"/><Relationship Id="rId10" Type="http://schemas.openxmlformats.org/officeDocument/2006/relationships/tags" Target="../tags/tag120.xml"/><Relationship Id="rId19" Type="http://schemas.openxmlformats.org/officeDocument/2006/relationships/slide" Target="slide8.xml"/><Relationship Id="rId4" Type="http://schemas.openxmlformats.org/officeDocument/2006/relationships/tags" Target="../tags/tag114.xml"/><Relationship Id="rId9" Type="http://schemas.openxmlformats.org/officeDocument/2006/relationships/tags" Target="../tags/tag119.xml"/><Relationship Id="rId14" Type="http://schemas.openxmlformats.org/officeDocument/2006/relationships/image" Target="../media/image12.png"/><Relationship Id="rId22" Type="http://schemas.openxmlformats.org/officeDocument/2006/relationships/slide" Target="slide21.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8.xml"/><Relationship Id="rId1" Type="http://schemas.openxmlformats.org/officeDocument/2006/relationships/tags" Target="../tags/tag123.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8.xml"/><Relationship Id="rId1" Type="http://schemas.openxmlformats.org/officeDocument/2006/relationships/tags" Target="../tags/tag124.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9.xml"/><Relationship Id="rId1" Type="http://schemas.openxmlformats.org/officeDocument/2006/relationships/tags" Target="../tags/tag125.xml"/><Relationship Id="rId5" Type="http://schemas.openxmlformats.org/officeDocument/2006/relationships/image" Target="../media/image4.png"/><Relationship Id="rId4" Type="http://schemas.openxmlformats.org/officeDocument/2006/relationships/image" Target="../media/image24.jpeg"/></Relationships>
</file>

<file path=ppt/slides/_rels/slide3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28.xml"/><Relationship Id="rId7" Type="http://schemas.openxmlformats.org/officeDocument/2006/relationships/image" Target="../media/image12.png"/><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slideLayout" Target="../slideLayouts/slideLayout8.xml"/><Relationship Id="rId5" Type="http://schemas.openxmlformats.org/officeDocument/2006/relationships/tags" Target="../tags/tag130.xml"/><Relationship Id="rId4" Type="http://schemas.openxmlformats.org/officeDocument/2006/relationships/tags" Target="../tags/tag1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9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Rectangle 2"/>
          <p:cNvSpPr>
            <a:spLocks noChangeArrowheads="1"/>
          </p:cNvSpPr>
          <p:nvPr/>
        </p:nvSpPr>
        <p:spPr bwMode="auto">
          <a:xfrm>
            <a:off x="0" y="0"/>
            <a:ext cx="9144000" cy="6858000"/>
          </a:xfrm>
          <a:prstGeom prst="rect">
            <a:avLst/>
          </a:prstGeom>
          <a:solidFill>
            <a:schemeClr val="tx1"/>
          </a:solidFill>
          <a:ln w="12700">
            <a:solidFill>
              <a:schemeClr val="tx1"/>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075" name="Rectangle 3"/>
          <p:cNvSpPr>
            <a:spLocks noGrp="1" noChangeArrowheads="1"/>
          </p:cNvSpPr>
          <p:nvPr>
            <p:ph type="title"/>
          </p:nvPr>
        </p:nvSpPr>
        <p:spPr/>
        <p:txBody>
          <a:bodyPr/>
          <a:lstStyle/>
          <a:p>
            <a:r>
              <a:rPr lang="en-US" smtClean="0">
                <a:solidFill>
                  <a:srgbClr val="FFFF66"/>
                </a:solidFill>
              </a:rPr>
              <a:t>Objectives</a:t>
            </a:r>
          </a:p>
        </p:txBody>
      </p:sp>
      <p:pic>
        <p:nvPicPr>
          <p:cNvPr id="3076" name="Picture 4" descr="dglxasset[3]"/>
          <p:cNvPicPr>
            <a:picLocks noChangeAspect="1" noChangeArrowheads="1"/>
          </p:cNvPicPr>
          <p:nvPr/>
        </p:nvPicPr>
        <p:blipFill>
          <a:blip r:embed="rId4" cstate="print"/>
          <a:srcRect/>
          <a:stretch>
            <a:fillRect/>
          </a:stretch>
        </p:blipFill>
        <p:spPr bwMode="auto">
          <a:xfrm>
            <a:off x="304800" y="762000"/>
            <a:ext cx="8458200" cy="5894388"/>
          </a:xfrm>
          <a:prstGeom prst="rect">
            <a:avLst/>
          </a:prstGeom>
          <a:noFill/>
          <a:ln w="9525">
            <a:noFill/>
            <a:miter lim="800000"/>
            <a:headEnd/>
            <a:tailEnd/>
          </a:ln>
        </p:spPr>
      </p:pic>
      <p:sp>
        <p:nvSpPr>
          <p:cNvPr id="3077" name="Text Box 5"/>
          <p:cNvSpPr txBox="1">
            <a:spLocks noChangeArrowheads="1"/>
          </p:cNvSpPr>
          <p:nvPr/>
        </p:nvSpPr>
        <p:spPr bwMode="auto">
          <a:xfrm>
            <a:off x="1566863" y="1676400"/>
            <a:ext cx="6205537" cy="3582519"/>
          </a:xfrm>
          <a:prstGeom prst="rect">
            <a:avLst/>
          </a:prstGeom>
          <a:noFill/>
          <a:ln w="12700">
            <a:noFill/>
            <a:miter lim="800000"/>
            <a:headEnd type="none" w="sm" len="sm"/>
            <a:tailEnd type="none" w="sm" len="sm"/>
          </a:ln>
        </p:spPr>
        <p:txBody>
          <a:bodyPr wrap="square">
            <a:spAutoFit/>
          </a:bodyPr>
          <a:lstStyle/>
          <a:p>
            <a:pPr marL="287338" indent="-287338">
              <a:buClr>
                <a:srgbClr val="D60093"/>
              </a:buClr>
              <a:buSzPct val="120000"/>
              <a:buFont typeface="Wingdings" pitchFamily="2" charset="2"/>
              <a:buChar char="§"/>
            </a:pPr>
            <a:r>
              <a:rPr lang="en-US" sz="2800">
                <a:solidFill>
                  <a:srgbClr val="000000"/>
                </a:solidFill>
                <a:latin typeface="Calibri" pitchFamily="34" charset="0"/>
                <a:cs typeface="Calibri" pitchFamily="34" charset="0"/>
              </a:rPr>
              <a:t>Describe the use of </a:t>
            </a:r>
            <a:r>
              <a:rPr lang="en-US" sz="2800" i="1" u="sng" smtClean="0">
                <a:solidFill>
                  <a:srgbClr val="000000"/>
                </a:solidFill>
                <a:latin typeface="Calibri" pitchFamily="34" charset="0"/>
                <a:cs typeface="Calibri" pitchFamily="34" charset="0"/>
              </a:rPr>
              <a:t>Semaphores</a:t>
            </a:r>
            <a:r>
              <a:rPr lang="en-US" sz="2800" smtClean="0">
                <a:solidFill>
                  <a:srgbClr val="000000"/>
                </a:solidFill>
                <a:latin typeface="Calibri" pitchFamily="34" charset="0"/>
                <a:cs typeface="Calibri" pitchFamily="34" charset="0"/>
              </a:rPr>
              <a:t> </a:t>
            </a:r>
            <a:r>
              <a:rPr lang="en-US" sz="2800">
                <a:solidFill>
                  <a:srgbClr val="000000"/>
                </a:solidFill>
                <a:latin typeface="Calibri" pitchFamily="34" charset="0"/>
                <a:cs typeface="Calibri" pitchFamily="34" charset="0"/>
              </a:rPr>
              <a:t>and </a:t>
            </a:r>
            <a:r>
              <a:rPr lang="en-US" sz="2800" i="1" u="sng">
                <a:solidFill>
                  <a:srgbClr val="000000"/>
                </a:solidFill>
                <a:latin typeface="Calibri" pitchFamily="34" charset="0"/>
                <a:cs typeface="Calibri" pitchFamily="34" charset="0"/>
              </a:rPr>
              <a:t>Tasks</a:t>
            </a:r>
            <a:r>
              <a:rPr lang="en-US" sz="2800">
                <a:solidFill>
                  <a:srgbClr val="000000"/>
                </a:solidFill>
                <a:latin typeface="Calibri" pitchFamily="34" charset="0"/>
                <a:cs typeface="Calibri" pitchFamily="34" charset="0"/>
              </a:rPr>
              <a:t> in a system &amp; how to </a:t>
            </a:r>
            <a:r>
              <a:rPr lang="en-US" sz="2800" smtClean="0">
                <a:solidFill>
                  <a:srgbClr val="000000"/>
                </a:solidFill>
                <a:latin typeface="Calibri" pitchFamily="34" charset="0"/>
                <a:cs typeface="Calibri" pitchFamily="34" charset="0"/>
              </a:rPr>
              <a:t>configure them in BIOS</a:t>
            </a:r>
            <a:endParaRPr lang="en-US" sz="2800">
              <a:solidFill>
                <a:srgbClr val="000000"/>
              </a:solidFill>
              <a:latin typeface="Calibri" pitchFamily="34" charset="0"/>
              <a:cs typeface="Calibri" pitchFamily="34" charset="0"/>
            </a:endParaRPr>
          </a:p>
          <a:p>
            <a:pPr marL="287338" indent="-287338">
              <a:buClr>
                <a:srgbClr val="D60093"/>
              </a:buClr>
              <a:buSzPct val="120000"/>
              <a:buFont typeface="Wingdings" pitchFamily="2" charset="2"/>
              <a:buChar char="§"/>
            </a:pPr>
            <a:r>
              <a:rPr lang="en-US" sz="2800" u="sng" smtClean="0">
                <a:solidFill>
                  <a:srgbClr val="000000"/>
                </a:solidFill>
                <a:latin typeface="Calibri" pitchFamily="34" charset="0"/>
                <a:cs typeface="Calibri" pitchFamily="34" charset="0"/>
              </a:rPr>
              <a:t>Compare/contrast</a:t>
            </a:r>
            <a:r>
              <a:rPr lang="en-US" sz="2800" smtClean="0">
                <a:solidFill>
                  <a:srgbClr val="000000"/>
                </a:solidFill>
                <a:latin typeface="Calibri" pitchFamily="34" charset="0"/>
                <a:cs typeface="Calibri" pitchFamily="34" charset="0"/>
              </a:rPr>
              <a:t> </a:t>
            </a:r>
            <a:r>
              <a:rPr lang="en-US" sz="2800" err="1" smtClean="0">
                <a:solidFill>
                  <a:srgbClr val="000000"/>
                </a:solidFill>
                <a:latin typeface="Calibri" pitchFamily="34" charset="0"/>
                <a:cs typeface="Calibri" pitchFamily="34" charset="0"/>
              </a:rPr>
              <a:t>Swi</a:t>
            </a:r>
            <a:r>
              <a:rPr lang="en-US" sz="2800" smtClean="0">
                <a:solidFill>
                  <a:srgbClr val="000000"/>
                </a:solidFill>
                <a:latin typeface="Calibri" pitchFamily="34" charset="0"/>
                <a:cs typeface="Calibri" pitchFamily="34" charset="0"/>
              </a:rPr>
              <a:t> vs. </a:t>
            </a:r>
            <a:r>
              <a:rPr lang="en-US" sz="2800" dirty="0" smtClean="0">
                <a:solidFill>
                  <a:srgbClr val="000000"/>
                </a:solidFill>
                <a:latin typeface="Calibri" pitchFamily="34" charset="0"/>
                <a:cs typeface="Calibri" pitchFamily="34" charset="0"/>
              </a:rPr>
              <a:t>Task</a:t>
            </a:r>
            <a:endParaRPr lang="en-US" sz="2800" dirty="0">
              <a:solidFill>
                <a:srgbClr val="000000"/>
              </a:solidFill>
              <a:latin typeface="Calibri" pitchFamily="34" charset="0"/>
              <a:cs typeface="Calibri" pitchFamily="34" charset="0"/>
            </a:endParaRPr>
          </a:p>
          <a:p>
            <a:pPr marL="287338" indent="-287338">
              <a:lnSpc>
                <a:spcPct val="90000"/>
              </a:lnSpc>
              <a:buClr>
                <a:srgbClr val="D60093"/>
              </a:buClr>
              <a:buSzPct val="120000"/>
              <a:buFont typeface="Wingdings" pitchFamily="2" charset="2"/>
              <a:buChar char="§"/>
            </a:pPr>
            <a:r>
              <a:rPr lang="en-US" sz="2800" smtClean="0">
                <a:solidFill>
                  <a:srgbClr val="000000"/>
                </a:solidFill>
                <a:latin typeface="Calibri" pitchFamily="34" charset="0"/>
                <a:cs typeface="Calibri" pitchFamily="34" charset="0"/>
              </a:rPr>
              <a:t>Identify </a:t>
            </a:r>
            <a:r>
              <a:rPr lang="en-US" sz="2800" dirty="0">
                <a:solidFill>
                  <a:srgbClr val="000000"/>
                </a:solidFill>
                <a:latin typeface="Calibri" pitchFamily="34" charset="0"/>
                <a:cs typeface="Calibri" pitchFamily="34" charset="0"/>
              </a:rPr>
              <a:t>how </a:t>
            </a:r>
            <a:r>
              <a:rPr lang="en-US" sz="2800" dirty="0" smtClean="0">
                <a:solidFill>
                  <a:srgbClr val="000000"/>
                </a:solidFill>
                <a:latin typeface="Calibri" pitchFamily="34" charset="0"/>
                <a:cs typeface="Calibri" pitchFamily="34" charset="0"/>
              </a:rPr>
              <a:t>Tasks </a:t>
            </a:r>
            <a:r>
              <a:rPr lang="en-US" sz="2800" dirty="0">
                <a:solidFill>
                  <a:srgbClr val="000000"/>
                </a:solidFill>
                <a:latin typeface="Calibri" pitchFamily="34" charset="0"/>
                <a:cs typeface="Calibri" pitchFamily="34" charset="0"/>
              </a:rPr>
              <a:t>are </a:t>
            </a:r>
            <a:r>
              <a:rPr lang="en-US" sz="2800" i="1" u="sng">
                <a:solidFill>
                  <a:srgbClr val="000000"/>
                </a:solidFill>
                <a:latin typeface="Calibri" pitchFamily="34" charset="0"/>
                <a:cs typeface="Calibri" pitchFamily="34" charset="0"/>
              </a:rPr>
              <a:t>prioritized</a:t>
            </a:r>
            <a:r>
              <a:rPr lang="en-US" sz="2800">
                <a:solidFill>
                  <a:srgbClr val="000000"/>
                </a:solidFill>
                <a:latin typeface="Calibri" pitchFamily="34" charset="0"/>
                <a:cs typeface="Calibri" pitchFamily="34" charset="0"/>
              </a:rPr>
              <a:t> </a:t>
            </a:r>
            <a:r>
              <a:rPr lang="en-US" sz="2800" smtClean="0">
                <a:solidFill>
                  <a:srgbClr val="000000"/>
                </a:solidFill>
                <a:latin typeface="Calibri" pitchFamily="34" charset="0"/>
                <a:cs typeface="Calibri" pitchFamily="34" charset="0"/>
              </a:rPr>
              <a:t>within</a:t>
            </a:r>
            <a:r>
              <a:rPr lang="en-US" sz="2800">
                <a:solidFill>
                  <a:srgbClr val="000000"/>
                </a:solidFill>
                <a:latin typeface="Calibri" pitchFamily="34" charset="0"/>
                <a:cs typeface="Calibri" pitchFamily="34" charset="0"/>
              </a:rPr>
              <a:t> </a:t>
            </a:r>
            <a:r>
              <a:rPr lang="en-US" sz="2800" smtClean="0">
                <a:solidFill>
                  <a:srgbClr val="000000"/>
                </a:solidFill>
                <a:latin typeface="Calibri" pitchFamily="34" charset="0"/>
                <a:cs typeface="Calibri" pitchFamily="34" charset="0"/>
              </a:rPr>
              <a:t>the </a:t>
            </a:r>
            <a:r>
              <a:rPr lang="en-US" sz="2800" i="1" u="sng" dirty="0">
                <a:solidFill>
                  <a:srgbClr val="000000"/>
                </a:solidFill>
                <a:latin typeface="Calibri" pitchFamily="34" charset="0"/>
                <a:cs typeface="Calibri" pitchFamily="34" charset="0"/>
              </a:rPr>
              <a:t>BIOS Scheduler</a:t>
            </a:r>
          </a:p>
          <a:p>
            <a:pPr marL="287338" indent="-287338">
              <a:buClr>
                <a:srgbClr val="D60093"/>
              </a:buClr>
              <a:buSzPct val="120000"/>
              <a:buFont typeface="Wingdings" pitchFamily="2" charset="2"/>
              <a:buChar char="§"/>
            </a:pPr>
            <a:r>
              <a:rPr lang="en-US" sz="2800" i="1" u="sng" smtClean="0">
                <a:solidFill>
                  <a:srgbClr val="000000"/>
                </a:solidFill>
                <a:latin typeface="Calibri" pitchFamily="34" charset="0"/>
                <a:cs typeface="Calibri" pitchFamily="34" charset="0"/>
              </a:rPr>
              <a:t>Lab 8</a:t>
            </a:r>
            <a:r>
              <a:rPr lang="en-US" sz="2800" smtClean="0">
                <a:solidFill>
                  <a:srgbClr val="000000"/>
                </a:solidFill>
                <a:latin typeface="Calibri" pitchFamily="34" charset="0"/>
                <a:cs typeface="Calibri" pitchFamily="34" charset="0"/>
              </a:rPr>
              <a:t> </a:t>
            </a:r>
            <a:r>
              <a:rPr lang="en-US" sz="2800" dirty="0">
                <a:solidFill>
                  <a:srgbClr val="000000"/>
                </a:solidFill>
                <a:latin typeface="Calibri" pitchFamily="34" charset="0"/>
                <a:cs typeface="Calibri" pitchFamily="34" charset="0"/>
              </a:rPr>
              <a:t>– </a:t>
            </a:r>
            <a:r>
              <a:rPr lang="en-US" sz="2800">
                <a:solidFill>
                  <a:srgbClr val="000000"/>
                </a:solidFill>
                <a:latin typeface="Calibri" pitchFamily="34" charset="0"/>
                <a:cs typeface="Calibri" pitchFamily="34" charset="0"/>
              </a:rPr>
              <a:t>Use </a:t>
            </a:r>
            <a:r>
              <a:rPr lang="en-US" sz="2800" smtClean="0">
                <a:solidFill>
                  <a:srgbClr val="000000"/>
                </a:solidFill>
                <a:latin typeface="Calibri" pitchFamily="34" charset="0"/>
                <a:cs typeface="Calibri" pitchFamily="34" charset="0"/>
              </a:rPr>
              <a:t>a Task to perform LED toggle</a:t>
            </a:r>
            <a:endParaRPr lang="en-US" sz="2800" dirty="0">
              <a:solidFill>
                <a:srgbClr val="000000"/>
              </a:solidFill>
              <a:latin typeface="Calibri" pitchFamily="34" charset="0"/>
              <a:cs typeface="Calibri" pitchFamily="34" charset="0"/>
            </a:endParaRPr>
          </a:p>
        </p:txBody>
      </p:sp>
      <p:sp>
        <p:nvSpPr>
          <p:cNvPr id="4" name="Slide number"/>
          <p:cNvSpPr txBox="1"/>
          <p:nvPr/>
        </p:nvSpPr>
        <p:spPr>
          <a:xfrm>
            <a:off x="8636000" y="6661378"/>
            <a:ext cx="635000" cy="215444"/>
          </a:xfrm>
          <a:prstGeom prst="rect">
            <a:avLst/>
          </a:prstGeom>
          <a:noFill/>
        </p:spPr>
        <p:txBody>
          <a:bodyPr vert="horz" wrap="square" rtlCol="0" anchor="ctr" anchorCtr="0">
            <a:spAutoFit/>
          </a:bodyPr>
          <a:lstStyle/>
          <a:p>
            <a:pPr algn="ctr"/>
            <a:r>
              <a:rPr lang="en-US" sz="1000" b="0" smtClean="0">
                <a:solidFill>
                  <a:schemeClr val="tx2"/>
                </a:solidFill>
                <a:effectLst/>
                <a:latin typeface="Arial"/>
              </a:rPr>
              <a:t>2</a:t>
            </a:r>
            <a:endParaRPr lang="en-US" sz="1000" b="0" dirty="0" smtClean="0">
              <a:solidFill>
                <a:schemeClr val="tx2"/>
              </a:solidFill>
              <a:effectLst/>
              <a:latin typeface="Arial"/>
            </a:endParaRPr>
          </a:p>
        </p:txBody>
      </p:sp>
    </p:spTree>
    <p:custDataLst>
      <p:tags r:id="rId1"/>
    </p:custDataLst>
    <p:extLst>
      <p:ext uri="{BB962C8B-B14F-4D97-AF65-F5344CB8AC3E}">
        <p14:creationId xmlns:p14="http://schemas.microsoft.com/office/powerpoint/2010/main" val="233272541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685800"/>
            <a:ext cx="5562600" cy="5638800"/>
          </a:xfrm>
          <a:prstGeom prst="rect">
            <a:avLst/>
          </a:prstGeom>
          <a:solidFill>
            <a:srgbClr val="92D050"/>
          </a:solidFill>
          <a:ln w="19050">
            <a:solidFill>
              <a:schemeClr val="tx1"/>
            </a:solidFill>
            <a:miter lim="800000"/>
            <a:headEnd type="none" w="sm" len="sm"/>
            <a:tailEnd type="none" w="sm" len="sm"/>
          </a:ln>
          <a:effectLst>
            <a:outerShdw blurRad="50800" dist="101600" dir="2700000" algn="tl" rotWithShape="0">
              <a:prstClr val="black">
                <a:alpha val="40000"/>
              </a:prstClr>
            </a:outerShdw>
          </a:effectLst>
        </p:spPr>
        <p:txBody>
          <a:bodyPr wrap="none" tIns="36576" bIns="36576"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4" cstate="print"/>
          <a:srcRect/>
          <a:stretch>
            <a:fillRect/>
          </a:stretch>
        </p:blipFill>
        <p:spPr bwMode="auto">
          <a:xfrm>
            <a:off x="6160824" y="1153041"/>
            <a:ext cx="2819400" cy="4172713"/>
          </a:xfrm>
          <a:prstGeom prst="rect">
            <a:avLst/>
          </a:prstGeom>
          <a:noFill/>
        </p:spPr>
      </p:pic>
      <p:pic>
        <p:nvPicPr>
          <p:cNvPr id="9" name="Animated Logo" descr="tilogo_color_twoline.png"/>
          <p:cNvPicPr>
            <a:picLocks noChangeAspect="1"/>
          </p:cNvPicPr>
          <p:nvPr/>
        </p:nvPicPr>
        <p:blipFill>
          <a:blip r:embed="rId15"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3">
            <a:hlinkClick r:id="rId16" action="ppaction://hlinksldjump"/>
          </p:cNvPr>
          <p:cNvSpPr txBox="1">
            <a:spLocks noChangeArrowheads="1"/>
          </p:cNvSpPr>
          <p:nvPr>
            <p:custDataLst>
              <p:tags r:id="rId2"/>
            </p:custDataLst>
          </p:nvPr>
        </p:nvSpPr>
        <p:spPr bwMode="auto">
          <a:xfrm>
            <a:off x="304800" y="780433"/>
            <a:ext cx="5562600" cy="4616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Tasks</a:t>
            </a:r>
            <a:endParaRPr lang="en-US" sz="2800" dirty="0">
              <a:solidFill>
                <a:srgbClr val="000000"/>
              </a:solidFill>
            </a:endParaRPr>
          </a:p>
        </p:txBody>
      </p:sp>
      <p:sp>
        <p:nvSpPr>
          <p:cNvPr id="11" name="Text Box 6">
            <a:hlinkClick r:id="rId17" action="ppaction://hlinksldjump"/>
          </p:cNvPr>
          <p:cNvSpPr txBox="1">
            <a:spLocks noChangeArrowheads="1"/>
          </p:cNvSpPr>
          <p:nvPr>
            <p:custDataLst>
              <p:tags r:id="rId3"/>
            </p:custDataLst>
          </p:nvPr>
        </p:nvSpPr>
        <p:spPr bwMode="auto">
          <a:xfrm>
            <a:off x="805502" y="1319852"/>
            <a:ext cx="4667250" cy="366712"/>
          </a:xfrm>
          <a:prstGeom prst="rect">
            <a:avLst/>
          </a:prstGeom>
          <a:noFill/>
          <a:ln w="12700">
            <a:noFill/>
            <a:miter lim="800000"/>
            <a:headEnd type="none" w="sm" len="sm"/>
            <a:tailEnd type="none" w="sm" len="sm"/>
          </a:ln>
        </p:spPr>
        <p:txBody>
          <a:bodyPr tIns="18288" bIns="18288">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Intro</a:t>
            </a:r>
            <a:endParaRPr lang="en-US" dirty="0">
              <a:solidFill>
                <a:srgbClr val="000000"/>
              </a:solidFill>
            </a:endParaRPr>
          </a:p>
        </p:txBody>
      </p:sp>
      <p:sp>
        <p:nvSpPr>
          <p:cNvPr id="12" name="Text Box 6">
            <a:hlinkClick r:id="rId18" action="ppaction://hlinksldjump"/>
          </p:cNvPr>
          <p:cNvSpPr txBox="1">
            <a:spLocks noChangeArrowheads="1"/>
          </p:cNvSpPr>
          <p:nvPr>
            <p:custDataLst>
              <p:tags r:id="rId4"/>
            </p:custDataLst>
          </p:nvPr>
        </p:nvSpPr>
        <p:spPr bwMode="auto">
          <a:xfrm>
            <a:off x="805502" y="1725680"/>
            <a:ext cx="4667250" cy="366712"/>
          </a:xfrm>
          <a:prstGeom prst="rect">
            <a:avLst/>
          </a:prstGeom>
          <a:noFill/>
          <a:ln w="12700">
            <a:noFill/>
            <a:miter lim="800000"/>
            <a:headEnd type="none" w="sm" len="sm"/>
            <a:tailEnd type="none" w="sm" len="sm"/>
          </a:ln>
        </p:spPr>
        <p:txBody>
          <a:bodyPr tIns="18288" bIns="18288">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Task – Topology</a:t>
            </a:r>
            <a:endParaRPr lang="en-US" dirty="0">
              <a:solidFill>
                <a:srgbClr val="000000"/>
              </a:solidFill>
            </a:endParaRPr>
          </a:p>
        </p:txBody>
      </p:sp>
      <p:sp>
        <p:nvSpPr>
          <p:cNvPr id="13" name="Text Box 6">
            <a:hlinkClick r:id="rId19" action="ppaction://hlinksldjump"/>
          </p:cNvPr>
          <p:cNvSpPr txBox="1">
            <a:spLocks noChangeArrowheads="1"/>
          </p:cNvSpPr>
          <p:nvPr>
            <p:custDataLst>
              <p:tags r:id="rId5"/>
            </p:custDataLst>
          </p:nvPr>
        </p:nvSpPr>
        <p:spPr bwMode="auto">
          <a:xfrm>
            <a:off x="805502" y="2131508"/>
            <a:ext cx="4667250" cy="366712"/>
          </a:xfrm>
          <a:prstGeom prst="rect">
            <a:avLst/>
          </a:prstGeom>
          <a:noFill/>
          <a:ln w="12700">
            <a:noFill/>
            <a:miter lim="800000"/>
            <a:headEnd type="none" w="sm" len="sm"/>
            <a:tailEnd type="none" w="sm" len="sm"/>
          </a:ln>
        </p:spPr>
        <p:txBody>
          <a:bodyPr tIns="18288" bIns="18288">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Task – Configuration</a:t>
            </a:r>
            <a:endParaRPr lang="en-US" dirty="0">
              <a:solidFill>
                <a:srgbClr val="000000"/>
              </a:solidFill>
            </a:endParaRPr>
          </a:p>
        </p:txBody>
      </p:sp>
      <p:sp>
        <p:nvSpPr>
          <p:cNvPr id="14" name="Text Box 4">
            <a:hlinkClick r:id="rId20" action="ppaction://hlinksldjump"/>
          </p:cNvPr>
          <p:cNvSpPr txBox="1">
            <a:spLocks noChangeArrowheads="1"/>
          </p:cNvSpPr>
          <p:nvPr>
            <p:custDataLst>
              <p:tags r:id="rId6"/>
            </p:custDataLst>
          </p:nvPr>
        </p:nvSpPr>
        <p:spPr bwMode="auto">
          <a:xfrm>
            <a:off x="301576" y="2532734"/>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Swi vs. Task</a:t>
            </a:r>
            <a:endParaRPr lang="en-US" sz="2800" dirty="0">
              <a:solidFill>
                <a:srgbClr val="000000"/>
              </a:solidFill>
            </a:endParaRPr>
          </a:p>
        </p:txBody>
      </p:sp>
      <p:sp>
        <p:nvSpPr>
          <p:cNvPr id="15" name="Text Box 4">
            <a:hlinkClick r:id="rId21" action="ppaction://hlinksldjump"/>
          </p:cNvPr>
          <p:cNvSpPr txBox="1">
            <a:spLocks noChangeArrowheads="1"/>
          </p:cNvSpPr>
          <p:nvPr>
            <p:custDataLst>
              <p:tags r:id="rId7"/>
            </p:custDataLst>
          </p:nvPr>
        </p:nvSpPr>
        <p:spPr bwMode="auto">
          <a:xfrm>
            <a:off x="301576" y="3067551"/>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Semaphores</a:t>
            </a:r>
            <a:endParaRPr lang="en-US" sz="2800" dirty="0">
              <a:solidFill>
                <a:srgbClr val="000000"/>
              </a:solidFill>
            </a:endParaRPr>
          </a:p>
        </p:txBody>
      </p:sp>
      <p:sp>
        <p:nvSpPr>
          <p:cNvPr id="16" name="Text Box 4">
            <a:hlinkClick r:id="rId22" action="ppaction://hlinksldjump"/>
          </p:cNvPr>
          <p:cNvSpPr txBox="1">
            <a:spLocks noChangeArrowheads="1"/>
          </p:cNvSpPr>
          <p:nvPr>
            <p:custDataLst>
              <p:tags r:id="rId8"/>
            </p:custDataLst>
          </p:nvPr>
        </p:nvSpPr>
        <p:spPr bwMode="auto">
          <a:xfrm>
            <a:off x="301576" y="3602368"/>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Other Useful APIs…</a:t>
            </a:r>
            <a:endParaRPr lang="en-US" sz="2800" dirty="0">
              <a:solidFill>
                <a:srgbClr val="000000"/>
              </a:solidFill>
            </a:endParaRPr>
          </a:p>
        </p:txBody>
      </p:sp>
      <p:sp>
        <p:nvSpPr>
          <p:cNvPr id="17" name="Text Box 4">
            <a:hlinkClick r:id="rId23" action="ppaction://hlinksldjump"/>
          </p:cNvPr>
          <p:cNvSpPr txBox="1">
            <a:spLocks noChangeArrowheads="1"/>
          </p:cNvSpPr>
          <p:nvPr>
            <p:custDataLst>
              <p:tags r:id="rId9"/>
            </p:custDataLst>
          </p:nvPr>
        </p:nvSpPr>
        <p:spPr bwMode="auto">
          <a:xfrm>
            <a:off x="301576" y="4137185"/>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Events</a:t>
            </a:r>
            <a:endParaRPr lang="en-US" sz="2800" dirty="0">
              <a:solidFill>
                <a:srgbClr val="000000"/>
              </a:solidFill>
            </a:endParaRPr>
          </a:p>
        </p:txBody>
      </p:sp>
      <p:sp>
        <p:nvSpPr>
          <p:cNvPr id="18" name="Text Box 4">
            <a:hlinkClick r:id="rId24" action="ppaction://hlinksldjump"/>
          </p:cNvPr>
          <p:cNvSpPr txBox="1">
            <a:spLocks noChangeArrowheads="1"/>
          </p:cNvSpPr>
          <p:nvPr>
            <p:custDataLst>
              <p:tags r:id="rId10"/>
            </p:custDataLst>
          </p:nvPr>
        </p:nvSpPr>
        <p:spPr bwMode="auto">
          <a:xfrm>
            <a:off x="301576" y="4672002"/>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9" name="Text Box 4">
            <a:hlinkClick r:id="rId25" action="ppaction://hlinksldjump"/>
          </p:cNvPr>
          <p:cNvSpPr txBox="1">
            <a:spLocks noChangeArrowheads="1"/>
          </p:cNvSpPr>
          <p:nvPr>
            <p:custDataLst>
              <p:tags r:id="rId11"/>
            </p:custDataLst>
          </p:nvPr>
        </p:nvSpPr>
        <p:spPr bwMode="auto">
          <a:xfrm>
            <a:off x="301576" y="5206819"/>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Memory Footprint</a:t>
            </a:r>
            <a:endParaRPr lang="en-US" sz="2800" dirty="0">
              <a:solidFill>
                <a:srgbClr val="000000"/>
              </a:solidFill>
            </a:endParaRPr>
          </a:p>
        </p:txBody>
      </p:sp>
      <p:sp>
        <p:nvSpPr>
          <p:cNvPr id="20" name="Text Box 4">
            <a:hlinkClick r:id="rId26" action="ppaction://hlinksldjump"/>
          </p:cNvPr>
          <p:cNvSpPr txBox="1">
            <a:spLocks noChangeArrowheads="1"/>
          </p:cNvSpPr>
          <p:nvPr>
            <p:custDataLst>
              <p:tags r:id="rId12"/>
            </p:custDataLst>
          </p:nvPr>
        </p:nvSpPr>
        <p:spPr bwMode="auto">
          <a:xfrm>
            <a:off x="301576" y="5741636"/>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121751846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685800"/>
            <a:ext cx="5562600" cy="5638800"/>
          </a:xfrm>
          <a:prstGeom prst="rect">
            <a:avLst/>
          </a:prstGeom>
          <a:solidFill>
            <a:srgbClr val="92D050"/>
          </a:solidFill>
          <a:ln w="19050">
            <a:solidFill>
              <a:schemeClr val="tx1"/>
            </a:solidFill>
            <a:miter lim="800000"/>
            <a:headEnd type="none" w="sm" len="sm"/>
            <a:tailEnd type="none" w="sm" len="sm"/>
          </a:ln>
          <a:effectLst>
            <a:outerShdw blurRad="50800" dist="101600" dir="2700000" algn="tl" rotWithShape="0">
              <a:prstClr val="black">
                <a:alpha val="40000"/>
              </a:prstClr>
            </a:outerShdw>
          </a:effectLst>
        </p:spPr>
        <p:txBody>
          <a:bodyPr wrap="none" tIns="36576" bIns="36576"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4" cstate="print"/>
          <a:srcRect/>
          <a:stretch>
            <a:fillRect/>
          </a:stretch>
        </p:blipFill>
        <p:spPr bwMode="auto">
          <a:xfrm>
            <a:off x="6160824" y="1153041"/>
            <a:ext cx="2819400" cy="4172713"/>
          </a:xfrm>
          <a:prstGeom prst="rect">
            <a:avLst/>
          </a:prstGeom>
          <a:noFill/>
        </p:spPr>
      </p:pic>
      <p:pic>
        <p:nvPicPr>
          <p:cNvPr id="9" name="Animated Logo" descr="tilogo_color_twoline.png"/>
          <p:cNvPicPr>
            <a:picLocks noChangeAspect="1"/>
          </p:cNvPicPr>
          <p:nvPr/>
        </p:nvPicPr>
        <p:blipFill>
          <a:blip r:embed="rId15"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6" action="ppaction://hlinksldjump"/>
          </p:cNvPr>
          <p:cNvSpPr txBox="1">
            <a:spLocks noChangeArrowheads="1"/>
          </p:cNvSpPr>
          <p:nvPr>
            <p:custDataLst>
              <p:tags r:id="rId2"/>
            </p:custDataLst>
          </p:nvPr>
        </p:nvSpPr>
        <p:spPr bwMode="auto">
          <a:xfrm>
            <a:off x="301576" y="780433"/>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Tasks</a:t>
            </a:r>
            <a:endParaRPr lang="en-US" sz="2800" dirty="0">
              <a:solidFill>
                <a:srgbClr val="000000"/>
              </a:solidFill>
            </a:endParaRPr>
          </a:p>
        </p:txBody>
      </p:sp>
      <p:sp>
        <p:nvSpPr>
          <p:cNvPr id="11" name="Text Box 5">
            <a:hlinkClick r:id="rId17" action="ppaction://hlinksldjump"/>
          </p:cNvPr>
          <p:cNvSpPr txBox="1">
            <a:spLocks noChangeArrowheads="1"/>
          </p:cNvSpPr>
          <p:nvPr>
            <p:custDataLst>
              <p:tags r:id="rId3"/>
            </p:custDataLst>
          </p:nvPr>
        </p:nvSpPr>
        <p:spPr bwMode="auto">
          <a:xfrm>
            <a:off x="809625" y="1319852"/>
            <a:ext cx="4600575" cy="4062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Intro</a:t>
            </a:r>
            <a:endParaRPr lang="en-US" dirty="0">
              <a:solidFill>
                <a:srgbClr val="000000"/>
              </a:solidFill>
            </a:endParaRPr>
          </a:p>
        </p:txBody>
      </p:sp>
      <p:sp>
        <p:nvSpPr>
          <p:cNvPr id="12" name="Text Box 6">
            <a:hlinkClick r:id="rId18" action="ppaction://hlinksldjump"/>
          </p:cNvPr>
          <p:cNvSpPr txBox="1">
            <a:spLocks noChangeArrowheads="1"/>
          </p:cNvSpPr>
          <p:nvPr>
            <p:custDataLst>
              <p:tags r:id="rId4"/>
            </p:custDataLst>
          </p:nvPr>
        </p:nvSpPr>
        <p:spPr bwMode="auto">
          <a:xfrm>
            <a:off x="805502" y="1803333"/>
            <a:ext cx="4667250" cy="366712"/>
          </a:xfrm>
          <a:prstGeom prst="rect">
            <a:avLst/>
          </a:prstGeom>
          <a:noFill/>
          <a:ln w="12700">
            <a:noFill/>
            <a:miter lim="800000"/>
            <a:headEnd type="none" w="sm" len="sm"/>
            <a:tailEnd type="none" w="sm" len="sm"/>
          </a:ln>
        </p:spPr>
        <p:txBody>
          <a:bodyPr tIns="18288" bIns="18288">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Task – Topology</a:t>
            </a:r>
            <a:endParaRPr lang="en-US" dirty="0">
              <a:solidFill>
                <a:srgbClr val="000000"/>
              </a:solidFill>
            </a:endParaRPr>
          </a:p>
        </p:txBody>
      </p:sp>
      <p:sp>
        <p:nvSpPr>
          <p:cNvPr id="13" name="Text Box 6">
            <a:hlinkClick r:id="rId19" action="ppaction://hlinksldjump"/>
          </p:cNvPr>
          <p:cNvSpPr txBox="1">
            <a:spLocks noChangeArrowheads="1"/>
          </p:cNvSpPr>
          <p:nvPr>
            <p:custDataLst>
              <p:tags r:id="rId5"/>
            </p:custDataLst>
          </p:nvPr>
        </p:nvSpPr>
        <p:spPr bwMode="auto">
          <a:xfrm>
            <a:off x="805502" y="2209161"/>
            <a:ext cx="4667250" cy="366712"/>
          </a:xfrm>
          <a:prstGeom prst="rect">
            <a:avLst/>
          </a:prstGeom>
          <a:noFill/>
          <a:ln w="12700">
            <a:noFill/>
            <a:miter lim="800000"/>
            <a:headEnd type="none" w="sm" len="sm"/>
            <a:tailEnd type="none" w="sm" len="sm"/>
          </a:ln>
        </p:spPr>
        <p:txBody>
          <a:bodyPr tIns="18288" bIns="18288">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Task – Configuration</a:t>
            </a:r>
            <a:endParaRPr lang="en-US" dirty="0">
              <a:solidFill>
                <a:srgbClr val="000000"/>
              </a:solidFill>
            </a:endParaRPr>
          </a:p>
        </p:txBody>
      </p:sp>
      <p:sp>
        <p:nvSpPr>
          <p:cNvPr id="14" name="Text Box 4">
            <a:hlinkClick r:id="rId20" action="ppaction://hlinksldjump"/>
          </p:cNvPr>
          <p:cNvSpPr txBox="1">
            <a:spLocks noChangeArrowheads="1"/>
          </p:cNvSpPr>
          <p:nvPr>
            <p:custDataLst>
              <p:tags r:id="rId6"/>
            </p:custDataLst>
          </p:nvPr>
        </p:nvSpPr>
        <p:spPr bwMode="auto">
          <a:xfrm>
            <a:off x="301576" y="2610387"/>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Swi vs. Task</a:t>
            </a:r>
            <a:endParaRPr lang="en-US" sz="2800" dirty="0">
              <a:solidFill>
                <a:srgbClr val="000000"/>
              </a:solidFill>
            </a:endParaRPr>
          </a:p>
        </p:txBody>
      </p:sp>
      <p:sp>
        <p:nvSpPr>
          <p:cNvPr id="15" name="Text Box 4">
            <a:hlinkClick r:id="rId21" action="ppaction://hlinksldjump"/>
          </p:cNvPr>
          <p:cNvSpPr txBox="1">
            <a:spLocks noChangeArrowheads="1"/>
          </p:cNvSpPr>
          <p:nvPr>
            <p:custDataLst>
              <p:tags r:id="rId7"/>
            </p:custDataLst>
          </p:nvPr>
        </p:nvSpPr>
        <p:spPr bwMode="auto">
          <a:xfrm>
            <a:off x="301576" y="3145204"/>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Semaphores</a:t>
            </a:r>
            <a:endParaRPr lang="en-US" sz="2800" dirty="0">
              <a:solidFill>
                <a:srgbClr val="000000"/>
              </a:solidFill>
            </a:endParaRPr>
          </a:p>
        </p:txBody>
      </p:sp>
      <p:sp>
        <p:nvSpPr>
          <p:cNvPr id="16" name="Text Box 4">
            <a:hlinkClick r:id="rId22" action="ppaction://hlinksldjump"/>
          </p:cNvPr>
          <p:cNvSpPr txBox="1">
            <a:spLocks noChangeArrowheads="1"/>
          </p:cNvSpPr>
          <p:nvPr>
            <p:custDataLst>
              <p:tags r:id="rId8"/>
            </p:custDataLst>
          </p:nvPr>
        </p:nvSpPr>
        <p:spPr bwMode="auto">
          <a:xfrm>
            <a:off x="301576" y="3680021"/>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Other Useful APIs…</a:t>
            </a:r>
            <a:endParaRPr lang="en-US" sz="2800" dirty="0">
              <a:solidFill>
                <a:srgbClr val="000000"/>
              </a:solidFill>
            </a:endParaRPr>
          </a:p>
        </p:txBody>
      </p:sp>
      <p:sp>
        <p:nvSpPr>
          <p:cNvPr id="17" name="Text Box 4">
            <a:hlinkClick r:id="rId23" action="ppaction://hlinksldjump"/>
          </p:cNvPr>
          <p:cNvSpPr txBox="1">
            <a:spLocks noChangeArrowheads="1"/>
          </p:cNvSpPr>
          <p:nvPr>
            <p:custDataLst>
              <p:tags r:id="rId9"/>
            </p:custDataLst>
          </p:nvPr>
        </p:nvSpPr>
        <p:spPr bwMode="auto">
          <a:xfrm>
            <a:off x="301576" y="4214838"/>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Events</a:t>
            </a:r>
            <a:endParaRPr lang="en-US" sz="2800" dirty="0">
              <a:solidFill>
                <a:srgbClr val="000000"/>
              </a:solidFill>
            </a:endParaRPr>
          </a:p>
        </p:txBody>
      </p:sp>
      <p:sp>
        <p:nvSpPr>
          <p:cNvPr id="18" name="Text Box 4">
            <a:hlinkClick r:id="rId24" action="ppaction://hlinksldjump"/>
          </p:cNvPr>
          <p:cNvSpPr txBox="1">
            <a:spLocks noChangeArrowheads="1"/>
          </p:cNvSpPr>
          <p:nvPr>
            <p:custDataLst>
              <p:tags r:id="rId10"/>
            </p:custDataLst>
          </p:nvPr>
        </p:nvSpPr>
        <p:spPr bwMode="auto">
          <a:xfrm>
            <a:off x="301576" y="4749655"/>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9" name="Text Box 4">
            <a:hlinkClick r:id="rId25" action="ppaction://hlinksldjump"/>
          </p:cNvPr>
          <p:cNvSpPr txBox="1">
            <a:spLocks noChangeArrowheads="1"/>
          </p:cNvSpPr>
          <p:nvPr>
            <p:custDataLst>
              <p:tags r:id="rId11"/>
            </p:custDataLst>
          </p:nvPr>
        </p:nvSpPr>
        <p:spPr bwMode="auto">
          <a:xfrm>
            <a:off x="301576" y="5284472"/>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Memory Footprint</a:t>
            </a:r>
            <a:endParaRPr lang="en-US" sz="2800" dirty="0">
              <a:solidFill>
                <a:srgbClr val="000000"/>
              </a:solidFill>
            </a:endParaRPr>
          </a:p>
        </p:txBody>
      </p:sp>
      <p:sp>
        <p:nvSpPr>
          <p:cNvPr id="20" name="Text Box 4">
            <a:hlinkClick r:id="rId26" action="ppaction://hlinksldjump"/>
          </p:cNvPr>
          <p:cNvSpPr txBox="1">
            <a:spLocks noChangeArrowheads="1"/>
          </p:cNvSpPr>
          <p:nvPr>
            <p:custDataLst>
              <p:tags r:id="rId12"/>
            </p:custDataLst>
          </p:nvPr>
        </p:nvSpPr>
        <p:spPr bwMode="auto">
          <a:xfrm>
            <a:off x="301576" y="5819289"/>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221781825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fontScale="90000"/>
          </a:bodyPr>
          <a:lstStyle/>
          <a:p>
            <a:r>
              <a:rPr lang="en-US" dirty="0" smtClean="0"/>
              <a:t>SYS/BIOS </a:t>
            </a:r>
            <a:r>
              <a:rPr lang="en-US" smtClean="0"/>
              <a:t>Thread Types (including Tasks)</a:t>
            </a:r>
            <a:endParaRPr lang="en-US" dirty="0" smtClean="0"/>
          </a:p>
        </p:txBody>
      </p:sp>
      <p:sp>
        <p:nvSpPr>
          <p:cNvPr id="11267" name="Text Box 4"/>
          <p:cNvSpPr txBox="1">
            <a:spLocks noChangeArrowheads="1"/>
          </p:cNvSpPr>
          <p:nvPr/>
        </p:nvSpPr>
        <p:spPr bwMode="auto">
          <a:xfrm rot="-5400000">
            <a:off x="-351705" y="3265404"/>
            <a:ext cx="1295547" cy="437043"/>
          </a:xfrm>
          <a:prstGeom prst="rect">
            <a:avLst/>
          </a:prstGeom>
          <a:noFill/>
          <a:ln w="12700">
            <a:noFill/>
            <a:miter lim="800000"/>
            <a:headEnd type="none" w="sm" len="sm"/>
            <a:tailEnd type="none" w="sm" len="sm"/>
          </a:ln>
        </p:spPr>
        <p:txBody>
          <a:bodyPr wrap="none">
            <a:spAutoFit/>
          </a:bodyPr>
          <a:lstStyle/>
          <a:p>
            <a:r>
              <a:rPr lang="en-US" sz="2800">
                <a:solidFill>
                  <a:srgbClr val="000000"/>
                </a:solidFill>
                <a:latin typeface="Calibri" pitchFamily="34" charset="0"/>
                <a:cs typeface="Calibri" pitchFamily="34" charset="0"/>
              </a:rPr>
              <a:t>Priority</a:t>
            </a:r>
          </a:p>
        </p:txBody>
      </p:sp>
      <p:sp>
        <p:nvSpPr>
          <p:cNvPr id="368645" name="Line 5"/>
          <p:cNvSpPr>
            <a:spLocks noChangeShapeType="1"/>
          </p:cNvSpPr>
          <p:nvPr/>
        </p:nvSpPr>
        <p:spPr bwMode="auto">
          <a:xfrm flipV="1">
            <a:off x="587375" y="626425"/>
            <a:ext cx="0" cy="5715000"/>
          </a:xfrm>
          <a:prstGeom prst="line">
            <a:avLst/>
          </a:prstGeom>
          <a:noFill/>
          <a:ln w="57150">
            <a:solidFill>
              <a:srgbClr val="0070C0"/>
            </a:solidFill>
            <a:round/>
            <a:headEnd/>
            <a:tailEnd type="triangle" w="med" len="med"/>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11269" name="Rectangle 6"/>
          <p:cNvSpPr>
            <a:spLocks noChangeArrowheads="1"/>
          </p:cNvSpPr>
          <p:nvPr/>
        </p:nvSpPr>
        <p:spPr bwMode="auto">
          <a:xfrm>
            <a:off x="827088" y="609600"/>
            <a:ext cx="2601912" cy="1319213"/>
          </a:xfrm>
          <a:prstGeom prst="rect">
            <a:avLst/>
          </a:prstGeom>
          <a:solidFill>
            <a:schemeClr val="accent4">
              <a:lumMod val="20000"/>
              <a:lumOff val="80000"/>
            </a:schemeClr>
          </a:solidFill>
          <a:ln w="12700">
            <a:solidFill>
              <a:schemeClr val="tx1"/>
            </a:solidFill>
            <a:miter lim="800000"/>
            <a:headEnd type="none" w="sm" len="sm"/>
            <a:tailEnd type="none" w="sm" len="sm"/>
          </a:ln>
        </p:spPr>
        <p:txBody>
          <a:bodyPr wrap="none" anchor="ctr"/>
          <a:lstStyle/>
          <a:p>
            <a:pPr algn="ctr"/>
            <a:r>
              <a:rPr lang="en-US" sz="3200" dirty="0" err="1" smtClean="0">
                <a:solidFill>
                  <a:srgbClr val="FF0000"/>
                </a:solidFill>
                <a:latin typeface="Calibri" pitchFamily="34" charset="0"/>
                <a:cs typeface="Calibri" pitchFamily="34" charset="0"/>
              </a:rPr>
              <a:t>Hwi</a:t>
            </a:r>
            <a:endParaRPr lang="en-US" sz="3200" dirty="0">
              <a:solidFill>
                <a:srgbClr val="FF0000"/>
              </a:solidFill>
              <a:latin typeface="Calibri" pitchFamily="34" charset="0"/>
              <a:cs typeface="Calibri" pitchFamily="34" charset="0"/>
            </a:endParaRPr>
          </a:p>
          <a:p>
            <a:pPr algn="ctr"/>
            <a:r>
              <a:rPr lang="en-US" sz="2000" dirty="0">
                <a:solidFill>
                  <a:srgbClr val="000000"/>
                </a:solidFill>
                <a:latin typeface="Calibri" pitchFamily="34" charset="0"/>
                <a:cs typeface="Calibri" pitchFamily="34" charset="0"/>
              </a:rPr>
              <a:t>Hardware Interrupts</a:t>
            </a:r>
            <a:endParaRPr lang="en-US" dirty="0">
              <a:solidFill>
                <a:srgbClr val="000000"/>
              </a:solidFill>
              <a:latin typeface="Calibri" pitchFamily="34" charset="0"/>
              <a:cs typeface="Calibri" pitchFamily="34" charset="0"/>
            </a:endParaRPr>
          </a:p>
        </p:txBody>
      </p:sp>
      <p:sp>
        <p:nvSpPr>
          <p:cNvPr id="11270" name="Text Box 7"/>
          <p:cNvSpPr txBox="1">
            <a:spLocks noChangeArrowheads="1"/>
          </p:cNvSpPr>
          <p:nvPr/>
        </p:nvSpPr>
        <p:spPr bwMode="auto">
          <a:xfrm>
            <a:off x="3443288" y="662050"/>
            <a:ext cx="5699125" cy="1219200"/>
          </a:xfrm>
          <a:prstGeom prst="rect">
            <a:avLst/>
          </a:prstGeom>
          <a:noFill/>
          <a:ln w="12700">
            <a:noFill/>
            <a:miter lim="800000"/>
            <a:headEnd type="none" w="sm" len="sm"/>
            <a:tailEnd type="none" w="sm" len="sm"/>
          </a:ln>
        </p:spPr>
        <p:txBody>
          <a:bodyPr lIns="274320" tIns="91440" anchor="ctr"/>
          <a:lstStyle/>
          <a:p>
            <a:pPr marL="342900" indent="-342900">
              <a:spcBef>
                <a:spcPts val="600"/>
              </a:spcBef>
              <a:buClr>
                <a:srgbClr val="0066FF"/>
              </a:buClr>
              <a:buSzPct val="75000"/>
              <a:buFont typeface="Wingdings" pitchFamily="2" charset="2"/>
              <a:buChar char=""/>
            </a:pPr>
            <a:r>
              <a:rPr lang="en-US" sz="2000" b="0" u="sng">
                <a:solidFill>
                  <a:srgbClr val="FF0000"/>
                </a:solidFill>
                <a:latin typeface="Calibri" pitchFamily="34" charset="0"/>
                <a:cs typeface="Calibri" pitchFamily="34" charset="0"/>
              </a:rPr>
              <a:t>Hardware event</a:t>
            </a:r>
            <a:r>
              <a:rPr lang="en-US" sz="2000" b="0">
                <a:solidFill>
                  <a:srgbClr val="0066FF"/>
                </a:solidFill>
                <a:latin typeface="Calibri" pitchFamily="34" charset="0"/>
                <a:cs typeface="Calibri" pitchFamily="34" charset="0"/>
              </a:rPr>
              <a:t> </a:t>
            </a:r>
            <a:r>
              <a:rPr lang="en-US" sz="2000" b="0">
                <a:solidFill>
                  <a:srgbClr val="000000"/>
                </a:solidFill>
                <a:latin typeface="Calibri" pitchFamily="34" charset="0"/>
                <a:cs typeface="Calibri" pitchFamily="34" charset="0"/>
              </a:rPr>
              <a:t>triggers Hwi to run</a:t>
            </a:r>
          </a:p>
          <a:p>
            <a:pPr marL="342900" indent="-342900">
              <a:spcBef>
                <a:spcPts val="6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BIOS handles context save/restore, nesting</a:t>
            </a:r>
            <a:endParaRPr lang="en-US" sz="2000" b="0">
              <a:solidFill>
                <a:srgbClr val="000000"/>
              </a:solidFill>
              <a:latin typeface="Calibri" pitchFamily="34" charset="0"/>
              <a:cs typeface="Calibri" pitchFamily="34" charset="0"/>
            </a:endParaRPr>
          </a:p>
          <a:p>
            <a:pPr marL="342900" indent="-342900">
              <a:spcBef>
                <a:spcPts val="6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Hwi triggers follow-up processing</a:t>
            </a:r>
          </a:p>
          <a:p>
            <a:pPr marL="342900" indent="-342900">
              <a:spcBef>
                <a:spcPts val="6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Priorities set in silicon</a:t>
            </a:r>
            <a:endParaRPr lang="en-US" sz="2000" b="0">
              <a:solidFill>
                <a:srgbClr val="000000"/>
              </a:solidFill>
              <a:latin typeface="Calibri" pitchFamily="34" charset="0"/>
              <a:cs typeface="Calibri" pitchFamily="34" charset="0"/>
            </a:endParaRPr>
          </a:p>
        </p:txBody>
      </p:sp>
      <p:sp>
        <p:nvSpPr>
          <p:cNvPr id="11271" name="Rectangle 8"/>
          <p:cNvSpPr>
            <a:spLocks noChangeArrowheads="1"/>
          </p:cNvSpPr>
          <p:nvPr/>
        </p:nvSpPr>
        <p:spPr bwMode="auto">
          <a:xfrm>
            <a:off x="827088" y="2082800"/>
            <a:ext cx="2601912" cy="1319213"/>
          </a:xfrm>
          <a:prstGeom prst="rect">
            <a:avLst/>
          </a:prstGeom>
          <a:solidFill>
            <a:schemeClr val="accent5">
              <a:lumMod val="20000"/>
              <a:lumOff val="80000"/>
            </a:schemeClr>
          </a:solidFill>
          <a:ln w="12700">
            <a:solidFill>
              <a:schemeClr val="tx1"/>
            </a:solidFill>
            <a:miter lim="800000"/>
            <a:headEnd type="none" w="sm" len="sm"/>
            <a:tailEnd type="none" w="sm" len="sm"/>
          </a:ln>
        </p:spPr>
        <p:txBody>
          <a:bodyPr wrap="none" anchor="ctr"/>
          <a:lstStyle/>
          <a:p>
            <a:pPr algn="ctr"/>
            <a:r>
              <a:rPr lang="en-US" sz="3200" dirty="0" err="1" smtClean="0">
                <a:solidFill>
                  <a:srgbClr val="FF0000"/>
                </a:solidFill>
                <a:latin typeface="Calibri" pitchFamily="34" charset="0"/>
                <a:cs typeface="Calibri" pitchFamily="34" charset="0"/>
              </a:rPr>
              <a:t>Swi</a:t>
            </a:r>
            <a:endParaRPr lang="en-US" sz="3200" dirty="0">
              <a:solidFill>
                <a:srgbClr val="FF0000"/>
              </a:solidFill>
              <a:latin typeface="Calibri" pitchFamily="34" charset="0"/>
              <a:cs typeface="Calibri" pitchFamily="34" charset="0"/>
            </a:endParaRPr>
          </a:p>
          <a:p>
            <a:pPr algn="ctr"/>
            <a:r>
              <a:rPr lang="en-US" sz="2000" dirty="0">
                <a:solidFill>
                  <a:srgbClr val="000000"/>
                </a:solidFill>
                <a:latin typeface="Calibri" pitchFamily="34" charset="0"/>
                <a:cs typeface="Calibri" pitchFamily="34" charset="0"/>
              </a:rPr>
              <a:t>Software Interrupts</a:t>
            </a:r>
            <a:endParaRPr lang="en-US" dirty="0">
              <a:solidFill>
                <a:srgbClr val="000000"/>
              </a:solidFill>
              <a:latin typeface="Calibri" pitchFamily="34" charset="0"/>
              <a:cs typeface="Calibri" pitchFamily="34" charset="0"/>
            </a:endParaRPr>
          </a:p>
        </p:txBody>
      </p:sp>
      <p:sp>
        <p:nvSpPr>
          <p:cNvPr id="11272" name="Text Box 9"/>
          <p:cNvSpPr txBox="1">
            <a:spLocks noChangeArrowheads="1"/>
          </p:cNvSpPr>
          <p:nvPr/>
        </p:nvSpPr>
        <p:spPr bwMode="auto">
          <a:xfrm>
            <a:off x="3429000" y="2099950"/>
            <a:ext cx="5715000" cy="1319213"/>
          </a:xfrm>
          <a:prstGeom prst="rect">
            <a:avLst/>
          </a:prstGeom>
          <a:noFill/>
          <a:ln w="12700">
            <a:noFill/>
            <a:miter lim="800000"/>
            <a:headEnd type="none" w="sm" len="sm"/>
            <a:tailEnd type="none" w="sm" len="sm"/>
          </a:ln>
        </p:spPr>
        <p:txBody>
          <a:bodyPr lIns="274320" anchor="ctr"/>
          <a:lstStyle/>
          <a:p>
            <a:pPr marL="342900" indent="-342900">
              <a:spcBef>
                <a:spcPts val="600"/>
              </a:spcBef>
              <a:buClr>
                <a:schemeClr val="tx2"/>
              </a:buClr>
              <a:buSzPct val="75000"/>
              <a:buFont typeface="Wingdings"/>
              <a:buChar char=""/>
            </a:pPr>
            <a:r>
              <a:rPr lang="en-US" sz="2000" b="0" smtClean="0">
                <a:solidFill>
                  <a:srgbClr val="000000"/>
                </a:solidFill>
                <a:latin typeface="Calibri" pitchFamily="34" charset="0"/>
                <a:cs typeface="Calibri" pitchFamily="34" charset="0"/>
              </a:rPr>
              <a:t>Software </a:t>
            </a:r>
            <a:r>
              <a:rPr lang="en-US" sz="2000" b="0" i="1" u="sng" smtClean="0">
                <a:solidFill>
                  <a:srgbClr val="FF0000"/>
                </a:solidFill>
                <a:latin typeface="Calibri" pitchFamily="34" charset="0"/>
                <a:cs typeface="Calibri" pitchFamily="34" charset="0"/>
              </a:rPr>
              <a:t>posts</a:t>
            </a:r>
            <a:r>
              <a:rPr lang="en-US" sz="2000" b="0" smtClean="0">
                <a:solidFill>
                  <a:srgbClr val="000000"/>
                </a:solidFill>
                <a:latin typeface="Calibri" pitchFamily="34" charset="0"/>
                <a:cs typeface="Calibri" pitchFamily="34" charset="0"/>
              </a:rPr>
              <a:t> Swi to run</a:t>
            </a:r>
            <a:endParaRPr lang="en-US" sz="2000" b="0">
              <a:solidFill>
                <a:srgbClr val="000000"/>
              </a:solidFill>
              <a:latin typeface="Calibri" pitchFamily="34" charset="0"/>
              <a:cs typeface="Calibri" pitchFamily="34" charset="0"/>
            </a:endParaRPr>
          </a:p>
          <a:p>
            <a:pPr marL="342900" indent="-342900">
              <a:spcBef>
                <a:spcPts val="600"/>
              </a:spcBef>
              <a:buClr>
                <a:schemeClr val="tx2"/>
              </a:buClr>
              <a:buSzPct val="75000"/>
              <a:buFont typeface="Wingdings"/>
              <a:buChar char=""/>
            </a:pPr>
            <a:r>
              <a:rPr lang="en-US" sz="2000" b="0" smtClean="0">
                <a:solidFill>
                  <a:srgbClr val="000000"/>
                </a:solidFill>
                <a:latin typeface="Calibri" pitchFamily="34" charset="0"/>
                <a:cs typeface="Calibri" pitchFamily="34" charset="0"/>
              </a:rPr>
              <a:t>Performs Hwi </a:t>
            </a:r>
            <a:r>
              <a:rPr lang="en-US" sz="2000" b="0" dirty="0">
                <a:solidFill>
                  <a:srgbClr val="000000"/>
                </a:solidFill>
                <a:latin typeface="Calibri" pitchFamily="34" charset="0"/>
                <a:cs typeface="Calibri" pitchFamily="34" charset="0"/>
              </a:rPr>
              <a:t>‘</a:t>
            </a:r>
            <a:r>
              <a:rPr lang="en-US" sz="2000" b="0" i="1" u="sng" dirty="0">
                <a:solidFill>
                  <a:srgbClr val="FF0000"/>
                </a:solidFill>
                <a:latin typeface="Calibri" pitchFamily="34" charset="0"/>
                <a:cs typeface="Calibri" pitchFamily="34" charset="0"/>
              </a:rPr>
              <a:t>follow-up</a:t>
            </a:r>
            <a:r>
              <a:rPr lang="en-US" sz="2000" b="0">
                <a:solidFill>
                  <a:srgbClr val="000000"/>
                </a:solidFill>
                <a:latin typeface="Calibri" pitchFamily="34" charset="0"/>
                <a:cs typeface="Calibri" pitchFamily="34" charset="0"/>
              </a:rPr>
              <a:t>’ </a:t>
            </a:r>
            <a:r>
              <a:rPr lang="en-US" sz="2000" b="0" smtClean="0">
                <a:solidFill>
                  <a:srgbClr val="000000"/>
                </a:solidFill>
                <a:latin typeface="Calibri" pitchFamily="34" charset="0"/>
                <a:cs typeface="Calibri" pitchFamily="34" charset="0"/>
              </a:rPr>
              <a:t>activity (process data)</a:t>
            </a:r>
            <a:endParaRPr lang="en-US" sz="2000" b="0" dirty="0">
              <a:solidFill>
                <a:srgbClr val="000000"/>
              </a:solidFill>
              <a:latin typeface="Calibri" pitchFamily="34" charset="0"/>
              <a:cs typeface="Calibri" pitchFamily="34" charset="0"/>
            </a:endParaRPr>
          </a:p>
          <a:p>
            <a:pPr marL="342900" indent="-342900">
              <a:spcBef>
                <a:spcPts val="600"/>
              </a:spcBef>
              <a:buClr>
                <a:schemeClr val="tx2"/>
              </a:buClr>
              <a:buSzPct val="75000"/>
              <a:buFont typeface="Wingdings"/>
              <a:buChar char=""/>
            </a:pPr>
            <a:r>
              <a:rPr lang="en-US" sz="2000" b="0" smtClean="0">
                <a:solidFill>
                  <a:srgbClr val="000000"/>
                </a:solidFill>
                <a:latin typeface="Calibri" pitchFamily="34" charset="0"/>
                <a:cs typeface="Calibri" pitchFamily="34" charset="0"/>
              </a:rPr>
              <a:t>Up </a:t>
            </a:r>
            <a:r>
              <a:rPr lang="en-US" sz="2000" b="0" dirty="0" smtClean="0">
                <a:solidFill>
                  <a:srgbClr val="000000"/>
                </a:solidFill>
                <a:latin typeface="Calibri" pitchFamily="34" charset="0"/>
                <a:cs typeface="Calibri" pitchFamily="34" charset="0"/>
              </a:rPr>
              <a:t>to 32 </a:t>
            </a:r>
            <a:r>
              <a:rPr lang="en-US" sz="2000" b="0" dirty="0">
                <a:solidFill>
                  <a:srgbClr val="000000"/>
                </a:solidFill>
                <a:latin typeface="Calibri" pitchFamily="34" charset="0"/>
                <a:cs typeface="Calibri" pitchFamily="34" charset="0"/>
              </a:rPr>
              <a:t>priority </a:t>
            </a:r>
            <a:r>
              <a:rPr lang="en-US" sz="2000" b="0" dirty="0" smtClean="0">
                <a:solidFill>
                  <a:srgbClr val="000000"/>
                </a:solidFill>
                <a:latin typeface="Calibri" pitchFamily="34" charset="0"/>
                <a:cs typeface="Calibri" pitchFamily="34" charset="0"/>
              </a:rPr>
              <a:t>levels (16 </a:t>
            </a:r>
            <a:r>
              <a:rPr lang="en-US" sz="2000" b="0" smtClean="0">
                <a:solidFill>
                  <a:srgbClr val="000000"/>
                </a:solidFill>
                <a:latin typeface="Calibri" pitchFamily="34" charset="0"/>
                <a:cs typeface="Calibri" pitchFamily="34" charset="0"/>
              </a:rPr>
              <a:t>on C28x/MSP430)</a:t>
            </a:r>
            <a:endParaRPr lang="en-US" sz="2000" b="0" dirty="0">
              <a:solidFill>
                <a:srgbClr val="000000"/>
              </a:solidFill>
              <a:latin typeface="Calibri" pitchFamily="34" charset="0"/>
              <a:cs typeface="Calibri" pitchFamily="34" charset="0"/>
            </a:endParaRPr>
          </a:p>
        </p:txBody>
      </p:sp>
      <p:grpSp>
        <p:nvGrpSpPr>
          <p:cNvPr id="3" name="Group 2"/>
          <p:cNvGrpSpPr/>
          <p:nvPr/>
        </p:nvGrpSpPr>
        <p:grpSpPr>
          <a:xfrm>
            <a:off x="827088" y="3552700"/>
            <a:ext cx="8316912" cy="1322513"/>
            <a:chOff x="827088" y="3628900"/>
            <a:chExt cx="8316912" cy="1322513"/>
          </a:xfrm>
        </p:grpSpPr>
        <p:sp>
          <p:nvSpPr>
            <p:cNvPr id="11273" name="Rectangle 10"/>
            <p:cNvSpPr>
              <a:spLocks noChangeArrowheads="1"/>
            </p:cNvSpPr>
            <p:nvPr/>
          </p:nvSpPr>
          <p:spPr bwMode="auto">
            <a:xfrm>
              <a:off x="827088" y="3632200"/>
              <a:ext cx="2601912" cy="1319213"/>
            </a:xfrm>
            <a:prstGeom prst="rect">
              <a:avLst/>
            </a:prstGeom>
            <a:solidFill>
              <a:srgbClr val="CCFF66"/>
            </a:solidFill>
            <a:ln w="12700">
              <a:solidFill>
                <a:schemeClr val="tx1"/>
              </a:solidFill>
              <a:miter lim="800000"/>
              <a:headEnd type="none" w="sm" len="sm"/>
              <a:tailEnd type="none" w="sm" len="sm"/>
            </a:ln>
          </p:spPr>
          <p:txBody>
            <a:bodyPr wrap="none" anchor="ctr"/>
            <a:lstStyle/>
            <a:p>
              <a:pPr algn="ctr"/>
              <a:r>
                <a:rPr lang="en-US" sz="3200" dirty="0" smtClean="0">
                  <a:solidFill>
                    <a:srgbClr val="FF0000"/>
                  </a:solidFill>
                  <a:latin typeface="Calibri" pitchFamily="34" charset="0"/>
                  <a:cs typeface="Calibri" pitchFamily="34" charset="0"/>
                </a:rPr>
                <a:t>Task</a:t>
              </a:r>
              <a:endParaRPr lang="en-US" sz="3200" dirty="0">
                <a:solidFill>
                  <a:srgbClr val="FF0000"/>
                </a:solidFill>
                <a:latin typeface="Calibri" pitchFamily="34" charset="0"/>
                <a:cs typeface="Calibri" pitchFamily="34" charset="0"/>
              </a:endParaRPr>
            </a:p>
            <a:p>
              <a:pPr algn="ctr"/>
              <a:r>
                <a:rPr lang="en-US" sz="2000" dirty="0">
                  <a:solidFill>
                    <a:srgbClr val="000000"/>
                  </a:solidFill>
                  <a:latin typeface="Calibri" pitchFamily="34" charset="0"/>
                  <a:cs typeface="Calibri" pitchFamily="34" charset="0"/>
                </a:rPr>
                <a:t>Tasks</a:t>
              </a:r>
              <a:endParaRPr lang="en-US" dirty="0">
                <a:solidFill>
                  <a:srgbClr val="000000"/>
                </a:solidFill>
                <a:latin typeface="Calibri" pitchFamily="34" charset="0"/>
                <a:cs typeface="Calibri" pitchFamily="34" charset="0"/>
              </a:endParaRPr>
            </a:p>
          </p:txBody>
        </p:sp>
        <p:sp>
          <p:nvSpPr>
            <p:cNvPr id="11274" name="Text Box 11"/>
            <p:cNvSpPr txBox="1">
              <a:spLocks noChangeArrowheads="1"/>
            </p:cNvSpPr>
            <p:nvPr/>
          </p:nvSpPr>
          <p:spPr bwMode="auto">
            <a:xfrm>
              <a:off x="3429000" y="3628900"/>
              <a:ext cx="5715000" cy="1319213"/>
            </a:xfrm>
            <a:prstGeom prst="rect">
              <a:avLst/>
            </a:prstGeom>
            <a:noFill/>
            <a:ln w="12700">
              <a:noFill/>
              <a:miter lim="800000"/>
              <a:headEnd type="none" w="sm" len="sm"/>
              <a:tailEnd type="none" w="sm" len="sm"/>
            </a:ln>
          </p:spPr>
          <p:txBody>
            <a:bodyPr lIns="274320" anchor="ctr"/>
            <a:lstStyle/>
            <a:p>
              <a:pPr marL="342900" indent="-342900">
                <a:spcBef>
                  <a:spcPts val="600"/>
                </a:spcBef>
                <a:buClr>
                  <a:srgbClr val="0066FF"/>
                </a:buClr>
                <a:buSzPct val="75000"/>
                <a:buFont typeface="Wingdings" pitchFamily="2" charset="2"/>
                <a:buChar char=""/>
              </a:pPr>
              <a:r>
                <a:rPr lang="en-US" sz="2000" b="0">
                  <a:solidFill>
                    <a:srgbClr val="000000"/>
                  </a:solidFill>
                  <a:latin typeface="Calibri" pitchFamily="34" charset="0"/>
                  <a:cs typeface="Calibri" pitchFamily="34" charset="0"/>
                </a:rPr>
                <a:t>Usually enabled to run by posting a ‘</a:t>
              </a:r>
              <a:r>
                <a:rPr lang="en-US" sz="2000" b="0" i="1" u="sng">
                  <a:solidFill>
                    <a:srgbClr val="FF0000"/>
                  </a:solidFill>
                  <a:latin typeface="Calibri" pitchFamily="34" charset="0"/>
                  <a:cs typeface="Calibri" pitchFamily="34" charset="0"/>
                </a:rPr>
                <a:t>semaphore</a:t>
              </a:r>
              <a:r>
                <a:rPr lang="en-US" sz="2000" b="0">
                  <a:solidFill>
                    <a:srgbClr val="000000"/>
                  </a:solidFill>
                  <a:latin typeface="Calibri" pitchFamily="34" charset="0"/>
                  <a:cs typeface="Calibri" pitchFamily="34" charset="0"/>
                </a:rPr>
                <a:t>’</a:t>
              </a:r>
              <a:br>
                <a:rPr lang="en-US" sz="2000" b="0">
                  <a:solidFill>
                    <a:srgbClr val="000000"/>
                  </a:solidFill>
                  <a:latin typeface="Calibri" pitchFamily="34" charset="0"/>
                  <a:cs typeface="Calibri" pitchFamily="34" charset="0"/>
                </a:rPr>
              </a:br>
              <a:r>
                <a:rPr lang="en-US" sz="2000" b="0">
                  <a:solidFill>
                    <a:srgbClr val="000000"/>
                  </a:solidFill>
                  <a:latin typeface="Calibri" pitchFamily="34" charset="0"/>
                  <a:cs typeface="Calibri" pitchFamily="34" charset="0"/>
                </a:rPr>
                <a:t>(a task signaling mechanism)</a:t>
              </a:r>
            </a:p>
            <a:p>
              <a:pPr marL="342900" indent="-342900">
                <a:spcBef>
                  <a:spcPts val="6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Designed to run concurrently – pauses when waiting for data (semaphore)</a:t>
              </a:r>
              <a:endParaRPr lang="en-US" sz="2000" b="0" dirty="0">
                <a:solidFill>
                  <a:srgbClr val="000000"/>
                </a:solidFill>
                <a:latin typeface="Calibri" pitchFamily="34" charset="0"/>
                <a:cs typeface="Calibri" pitchFamily="34" charset="0"/>
              </a:endParaRPr>
            </a:p>
            <a:p>
              <a:pPr marL="342900" indent="-342900">
                <a:spcBef>
                  <a:spcPts val="6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Up </a:t>
              </a:r>
              <a:r>
                <a:rPr lang="en-US" sz="2000" b="0" dirty="0" smtClean="0">
                  <a:solidFill>
                    <a:srgbClr val="000000"/>
                  </a:solidFill>
                  <a:latin typeface="Calibri" pitchFamily="34" charset="0"/>
                  <a:cs typeface="Calibri" pitchFamily="34" charset="0"/>
                </a:rPr>
                <a:t>to 32 </a:t>
              </a:r>
              <a:r>
                <a:rPr lang="en-US" sz="2000" b="0" dirty="0">
                  <a:solidFill>
                    <a:srgbClr val="000000"/>
                  </a:solidFill>
                  <a:latin typeface="Calibri" pitchFamily="34" charset="0"/>
                  <a:cs typeface="Calibri" pitchFamily="34" charset="0"/>
                </a:rPr>
                <a:t>priority </a:t>
              </a:r>
              <a:r>
                <a:rPr lang="en-US" sz="2000" b="0" dirty="0" smtClean="0">
                  <a:solidFill>
                    <a:srgbClr val="000000"/>
                  </a:solidFill>
                  <a:latin typeface="Calibri" pitchFamily="34" charset="0"/>
                  <a:cs typeface="Calibri" pitchFamily="34" charset="0"/>
                </a:rPr>
                <a:t>levels (16 </a:t>
              </a:r>
              <a:r>
                <a:rPr lang="en-US" sz="2000" b="0" smtClean="0">
                  <a:solidFill>
                    <a:srgbClr val="000000"/>
                  </a:solidFill>
                  <a:latin typeface="Calibri" pitchFamily="34" charset="0"/>
                  <a:cs typeface="Calibri" pitchFamily="34" charset="0"/>
                </a:rPr>
                <a:t>on C28x/MSP430)</a:t>
              </a:r>
              <a:endParaRPr lang="en-US" sz="2000" b="0" dirty="0">
                <a:solidFill>
                  <a:srgbClr val="000000"/>
                </a:solidFill>
                <a:latin typeface="Calibri" pitchFamily="34" charset="0"/>
                <a:cs typeface="Calibri" pitchFamily="34" charset="0"/>
              </a:endParaRPr>
            </a:p>
          </p:txBody>
        </p:sp>
      </p:grpSp>
      <p:sp>
        <p:nvSpPr>
          <p:cNvPr id="11275" name="Rectangle 12"/>
          <p:cNvSpPr>
            <a:spLocks noChangeArrowheads="1"/>
          </p:cNvSpPr>
          <p:nvPr/>
        </p:nvSpPr>
        <p:spPr bwMode="auto">
          <a:xfrm>
            <a:off x="827088" y="5029200"/>
            <a:ext cx="2601912" cy="1319213"/>
          </a:xfrm>
          <a:prstGeom prst="rect">
            <a:avLst/>
          </a:prstGeom>
          <a:solidFill>
            <a:schemeClr val="accent3">
              <a:lumMod val="40000"/>
              <a:lumOff val="60000"/>
            </a:schemeClr>
          </a:solidFill>
          <a:ln w="12700">
            <a:solidFill>
              <a:schemeClr val="tx1"/>
            </a:solidFill>
            <a:prstDash val="dash"/>
            <a:miter lim="800000"/>
            <a:headEnd type="none" w="sm" len="sm"/>
            <a:tailEnd type="none" w="sm" len="sm"/>
          </a:ln>
        </p:spPr>
        <p:txBody>
          <a:bodyPr wrap="none" anchor="ctr"/>
          <a:lstStyle/>
          <a:p>
            <a:pPr algn="ctr"/>
            <a:r>
              <a:rPr lang="en-US" sz="3200" dirty="0" smtClean="0">
                <a:solidFill>
                  <a:srgbClr val="FF0000"/>
                </a:solidFill>
                <a:latin typeface="Calibri" pitchFamily="34" charset="0"/>
                <a:cs typeface="Calibri" pitchFamily="34" charset="0"/>
              </a:rPr>
              <a:t>Idle</a:t>
            </a:r>
            <a:endParaRPr lang="en-US" sz="3200" dirty="0">
              <a:solidFill>
                <a:srgbClr val="FF0000"/>
              </a:solidFill>
              <a:latin typeface="Calibri" pitchFamily="34" charset="0"/>
              <a:cs typeface="Calibri" pitchFamily="34" charset="0"/>
            </a:endParaRPr>
          </a:p>
          <a:p>
            <a:pPr algn="ctr"/>
            <a:r>
              <a:rPr lang="en-US" sz="2000" dirty="0">
                <a:solidFill>
                  <a:srgbClr val="000000"/>
                </a:solidFill>
                <a:latin typeface="Calibri" pitchFamily="34" charset="0"/>
                <a:cs typeface="Calibri" pitchFamily="34" charset="0"/>
              </a:rPr>
              <a:t>Background</a:t>
            </a:r>
            <a:endParaRPr lang="en-US" dirty="0">
              <a:solidFill>
                <a:srgbClr val="000000"/>
              </a:solidFill>
              <a:latin typeface="Calibri" pitchFamily="34" charset="0"/>
              <a:cs typeface="Calibri" pitchFamily="34" charset="0"/>
            </a:endParaRPr>
          </a:p>
        </p:txBody>
      </p:sp>
      <p:sp>
        <p:nvSpPr>
          <p:cNvPr id="11276" name="Text Box 13"/>
          <p:cNvSpPr txBox="1">
            <a:spLocks noChangeArrowheads="1"/>
          </p:cNvSpPr>
          <p:nvPr/>
        </p:nvSpPr>
        <p:spPr bwMode="auto">
          <a:xfrm>
            <a:off x="3429000" y="5029200"/>
            <a:ext cx="5715000" cy="1319213"/>
          </a:xfrm>
          <a:prstGeom prst="rect">
            <a:avLst/>
          </a:prstGeom>
          <a:noFill/>
          <a:ln w="12700">
            <a:noFill/>
            <a:miter lim="800000"/>
            <a:headEnd type="none" w="sm" len="sm"/>
            <a:tailEnd type="none" w="sm" len="sm"/>
          </a:ln>
        </p:spPr>
        <p:txBody>
          <a:bodyPr lIns="274320" anchor="ctr"/>
          <a:lstStyle/>
          <a:p>
            <a:pPr marL="342900" indent="-342900">
              <a:spcBef>
                <a:spcPct val="200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Runs as an infinite while(1) loop</a:t>
            </a:r>
            <a:endParaRPr lang="en-US" sz="2000" b="0" dirty="0">
              <a:solidFill>
                <a:srgbClr val="000000"/>
              </a:solidFill>
              <a:latin typeface="Calibri" pitchFamily="34" charset="0"/>
              <a:cs typeface="Calibri" pitchFamily="34" charset="0"/>
            </a:endParaRPr>
          </a:p>
          <a:p>
            <a:pPr marL="342900" indent="-342900">
              <a:spcBef>
                <a:spcPct val="20000"/>
              </a:spcBef>
              <a:buClr>
                <a:srgbClr val="0066FF"/>
              </a:buClr>
              <a:buSzPct val="75000"/>
              <a:buFont typeface="Wingdings" pitchFamily="2" charset="2"/>
              <a:buChar char=""/>
            </a:pPr>
            <a:r>
              <a:rPr lang="en-US" sz="2000" b="0" smtClean="0">
                <a:solidFill>
                  <a:srgbClr val="000000"/>
                </a:solidFill>
                <a:latin typeface="Calibri" pitchFamily="34" charset="0"/>
                <a:cs typeface="Calibri" pitchFamily="34" charset="0"/>
              </a:rPr>
              <a:t>Users can assign multiple functions to Idle</a:t>
            </a:r>
            <a:endParaRPr lang="en-US" sz="2000" b="0" dirty="0">
              <a:solidFill>
                <a:srgbClr val="000000"/>
              </a:solidFill>
              <a:latin typeface="Calibri" pitchFamily="34" charset="0"/>
              <a:cs typeface="Calibri" pitchFamily="34" charset="0"/>
            </a:endParaRPr>
          </a:p>
          <a:p>
            <a:pPr marL="342900" indent="-342900">
              <a:spcBef>
                <a:spcPct val="20000"/>
              </a:spcBef>
              <a:buClr>
                <a:srgbClr val="0066FF"/>
              </a:buClr>
              <a:buSzPct val="75000"/>
              <a:buFont typeface="Wingdings" pitchFamily="2" charset="2"/>
              <a:buChar char=""/>
            </a:pPr>
            <a:r>
              <a:rPr lang="en-US" sz="2000" b="0" dirty="0">
                <a:solidFill>
                  <a:srgbClr val="000000"/>
                </a:solidFill>
                <a:latin typeface="Calibri" pitchFamily="34" charset="0"/>
                <a:cs typeface="Calibri" pitchFamily="34" charset="0"/>
              </a:rPr>
              <a:t>Single priority level</a:t>
            </a:r>
          </a:p>
        </p:txBody>
      </p:sp>
      <p:sp>
        <p:nvSpPr>
          <p:cNvPr id="4" name="Leading Question"/>
          <p:cNvSpPr txBox="1"/>
          <p:nvPr/>
        </p:nvSpPr>
        <p:spPr>
          <a:xfrm>
            <a:off x="7010400" y="6459379"/>
            <a:ext cx="1379352" cy="246221"/>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2000" b="0" smtClean="0">
                <a:solidFill>
                  <a:srgbClr val="FF0000"/>
                </a:solidFill>
                <a:latin typeface="Arial Narrow"/>
              </a:rPr>
              <a:t>Task toplogy…</a:t>
            </a:r>
            <a:endParaRPr lang="en-US" sz="2000" b="0" dirty="0" smtClean="0">
              <a:solidFill>
                <a:srgbClr val="FF0000"/>
              </a:solidFill>
              <a:latin typeface="Arial Narrow"/>
            </a:endParaRPr>
          </a:p>
        </p:txBody>
      </p:sp>
      <p:pic>
        <p:nvPicPr>
          <p:cNvPr id="18"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
        <p:nvSpPr>
          <p:cNvPr id="16" name="Rectangle 15"/>
          <p:cNvSpPr/>
          <p:nvPr/>
        </p:nvSpPr>
        <p:spPr bwMode="auto">
          <a:xfrm>
            <a:off x="733366" y="575932"/>
            <a:ext cx="8276630" cy="2868613"/>
          </a:xfrm>
          <a:prstGeom prst="rect">
            <a:avLst/>
          </a:prstGeom>
          <a:solidFill>
            <a:schemeClr val="bg1">
              <a:alpha val="70000"/>
            </a:schemeClr>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endParaRPr lang="en-US" sz="2800" dirty="0" smtClean="0">
              <a:solidFill>
                <a:srgbClr val="000000"/>
              </a:solidFill>
              <a:latin typeface="Arial Narrow" pitchFamily="34" charset="0"/>
            </a:endParaRPr>
          </a:p>
        </p:txBody>
      </p:sp>
      <p:sp>
        <p:nvSpPr>
          <p:cNvPr id="17" name="Rectangle 16"/>
          <p:cNvSpPr/>
          <p:nvPr/>
        </p:nvSpPr>
        <p:spPr bwMode="auto">
          <a:xfrm>
            <a:off x="714970" y="4997301"/>
            <a:ext cx="8276630" cy="1447799"/>
          </a:xfrm>
          <a:prstGeom prst="rect">
            <a:avLst/>
          </a:prstGeom>
          <a:solidFill>
            <a:schemeClr val="bg1">
              <a:alpha val="70000"/>
            </a:schemeClr>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endParaRPr lang="en-US" sz="2800" dirty="0" smtClean="0">
              <a:solidFill>
                <a:srgbClr val="000000"/>
              </a:solidFill>
              <a:latin typeface="Arial Narrow" pitchFamily="34" charset="0"/>
            </a:endParaRPr>
          </a:p>
        </p:txBody>
      </p:sp>
      <p:sp>
        <p:nvSpPr>
          <p:cNvPr id="2" name="Rectangle 1"/>
          <p:cNvSpPr/>
          <p:nvPr/>
        </p:nvSpPr>
        <p:spPr bwMode="auto">
          <a:xfrm>
            <a:off x="746869" y="3486892"/>
            <a:ext cx="8276630" cy="1466108"/>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Tree>
    <p:custDataLst>
      <p:tags r:id="rId1"/>
    </p:custDataLst>
    <p:extLst>
      <p:ext uri="{BB962C8B-B14F-4D97-AF65-F5344CB8AC3E}">
        <p14:creationId xmlns:p14="http://schemas.microsoft.com/office/powerpoint/2010/main" val="8183052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685800"/>
            <a:ext cx="5562600" cy="5638800"/>
          </a:xfrm>
          <a:prstGeom prst="rect">
            <a:avLst/>
          </a:prstGeom>
          <a:solidFill>
            <a:srgbClr val="92D050"/>
          </a:solidFill>
          <a:ln w="19050">
            <a:solidFill>
              <a:schemeClr val="tx1"/>
            </a:solidFill>
            <a:miter lim="800000"/>
            <a:headEnd type="none" w="sm" len="sm"/>
            <a:tailEnd type="none" w="sm" len="sm"/>
          </a:ln>
          <a:effectLst>
            <a:outerShdw blurRad="50800" dist="101600" dir="2700000" algn="tl" rotWithShape="0">
              <a:prstClr val="black">
                <a:alpha val="40000"/>
              </a:prstClr>
            </a:outerShdw>
          </a:effectLst>
        </p:spPr>
        <p:txBody>
          <a:bodyPr wrap="none" tIns="36576" bIns="36576"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4" cstate="print"/>
          <a:srcRect/>
          <a:stretch>
            <a:fillRect/>
          </a:stretch>
        </p:blipFill>
        <p:spPr bwMode="auto">
          <a:xfrm>
            <a:off x="6160824" y="1153041"/>
            <a:ext cx="2819400" cy="4172713"/>
          </a:xfrm>
          <a:prstGeom prst="rect">
            <a:avLst/>
          </a:prstGeom>
          <a:noFill/>
        </p:spPr>
      </p:pic>
      <p:pic>
        <p:nvPicPr>
          <p:cNvPr id="9" name="Animated Logo" descr="tilogo_color_twoline.png"/>
          <p:cNvPicPr>
            <a:picLocks noChangeAspect="1"/>
          </p:cNvPicPr>
          <p:nvPr/>
        </p:nvPicPr>
        <p:blipFill>
          <a:blip r:embed="rId15"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6" action="ppaction://hlinksldjump"/>
          </p:cNvPr>
          <p:cNvSpPr txBox="1">
            <a:spLocks noChangeArrowheads="1"/>
          </p:cNvSpPr>
          <p:nvPr>
            <p:custDataLst>
              <p:tags r:id="rId2"/>
            </p:custDataLst>
          </p:nvPr>
        </p:nvSpPr>
        <p:spPr bwMode="auto">
          <a:xfrm>
            <a:off x="301576" y="780433"/>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Tasks</a:t>
            </a:r>
            <a:endParaRPr lang="en-US" sz="2800" dirty="0">
              <a:solidFill>
                <a:srgbClr val="000000"/>
              </a:solidFill>
            </a:endParaRPr>
          </a:p>
        </p:txBody>
      </p:sp>
      <p:sp>
        <p:nvSpPr>
          <p:cNvPr id="11" name="Text Box 6">
            <a:hlinkClick r:id="rId17" action="ppaction://hlinksldjump"/>
          </p:cNvPr>
          <p:cNvSpPr txBox="1">
            <a:spLocks noChangeArrowheads="1"/>
          </p:cNvSpPr>
          <p:nvPr>
            <p:custDataLst>
              <p:tags r:id="rId3"/>
            </p:custDataLst>
          </p:nvPr>
        </p:nvSpPr>
        <p:spPr bwMode="auto">
          <a:xfrm>
            <a:off x="805502" y="1319852"/>
            <a:ext cx="4667250" cy="366712"/>
          </a:xfrm>
          <a:prstGeom prst="rect">
            <a:avLst/>
          </a:prstGeom>
          <a:noFill/>
          <a:ln w="12700">
            <a:noFill/>
            <a:miter lim="800000"/>
            <a:headEnd type="none" w="sm" len="sm"/>
            <a:tailEnd type="none" w="sm" len="sm"/>
          </a:ln>
        </p:spPr>
        <p:txBody>
          <a:bodyPr tIns="18288" bIns="18288">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Intro</a:t>
            </a:r>
            <a:endParaRPr lang="en-US" dirty="0">
              <a:solidFill>
                <a:srgbClr val="000000"/>
              </a:solidFill>
            </a:endParaRPr>
          </a:p>
        </p:txBody>
      </p:sp>
      <p:sp>
        <p:nvSpPr>
          <p:cNvPr id="12" name="Text Box 5">
            <a:hlinkClick r:id="rId18" action="ppaction://hlinksldjump"/>
          </p:cNvPr>
          <p:cNvSpPr txBox="1">
            <a:spLocks noChangeArrowheads="1"/>
          </p:cNvSpPr>
          <p:nvPr>
            <p:custDataLst>
              <p:tags r:id="rId4"/>
            </p:custDataLst>
          </p:nvPr>
        </p:nvSpPr>
        <p:spPr bwMode="auto">
          <a:xfrm>
            <a:off x="809625" y="1725680"/>
            <a:ext cx="4600575" cy="4062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Task – Topology</a:t>
            </a:r>
            <a:endParaRPr lang="en-US" dirty="0">
              <a:solidFill>
                <a:srgbClr val="000000"/>
              </a:solidFill>
            </a:endParaRPr>
          </a:p>
        </p:txBody>
      </p:sp>
      <p:sp>
        <p:nvSpPr>
          <p:cNvPr id="13" name="Text Box 6">
            <a:hlinkClick r:id="rId19" action="ppaction://hlinksldjump"/>
          </p:cNvPr>
          <p:cNvSpPr txBox="1">
            <a:spLocks noChangeArrowheads="1"/>
          </p:cNvSpPr>
          <p:nvPr>
            <p:custDataLst>
              <p:tags r:id="rId5"/>
            </p:custDataLst>
          </p:nvPr>
        </p:nvSpPr>
        <p:spPr bwMode="auto">
          <a:xfrm>
            <a:off x="805502" y="2209161"/>
            <a:ext cx="4667250" cy="366712"/>
          </a:xfrm>
          <a:prstGeom prst="rect">
            <a:avLst/>
          </a:prstGeom>
          <a:noFill/>
          <a:ln w="12700">
            <a:noFill/>
            <a:miter lim="800000"/>
            <a:headEnd type="none" w="sm" len="sm"/>
            <a:tailEnd type="none" w="sm" len="sm"/>
          </a:ln>
        </p:spPr>
        <p:txBody>
          <a:bodyPr tIns="18288" bIns="18288">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Task – Configuration</a:t>
            </a:r>
            <a:endParaRPr lang="en-US" dirty="0">
              <a:solidFill>
                <a:srgbClr val="000000"/>
              </a:solidFill>
            </a:endParaRPr>
          </a:p>
        </p:txBody>
      </p:sp>
      <p:sp>
        <p:nvSpPr>
          <p:cNvPr id="14" name="Text Box 4">
            <a:hlinkClick r:id="rId20" action="ppaction://hlinksldjump"/>
          </p:cNvPr>
          <p:cNvSpPr txBox="1">
            <a:spLocks noChangeArrowheads="1"/>
          </p:cNvSpPr>
          <p:nvPr>
            <p:custDataLst>
              <p:tags r:id="rId6"/>
            </p:custDataLst>
          </p:nvPr>
        </p:nvSpPr>
        <p:spPr bwMode="auto">
          <a:xfrm>
            <a:off x="301576" y="2610387"/>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Swi vs. Task</a:t>
            </a:r>
            <a:endParaRPr lang="en-US" sz="2800" dirty="0">
              <a:solidFill>
                <a:srgbClr val="000000"/>
              </a:solidFill>
            </a:endParaRPr>
          </a:p>
        </p:txBody>
      </p:sp>
      <p:sp>
        <p:nvSpPr>
          <p:cNvPr id="15" name="Text Box 4">
            <a:hlinkClick r:id="rId21" action="ppaction://hlinksldjump"/>
          </p:cNvPr>
          <p:cNvSpPr txBox="1">
            <a:spLocks noChangeArrowheads="1"/>
          </p:cNvSpPr>
          <p:nvPr>
            <p:custDataLst>
              <p:tags r:id="rId7"/>
            </p:custDataLst>
          </p:nvPr>
        </p:nvSpPr>
        <p:spPr bwMode="auto">
          <a:xfrm>
            <a:off x="301576" y="3145204"/>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Semaphores</a:t>
            </a:r>
            <a:endParaRPr lang="en-US" sz="2800" dirty="0">
              <a:solidFill>
                <a:srgbClr val="000000"/>
              </a:solidFill>
            </a:endParaRPr>
          </a:p>
        </p:txBody>
      </p:sp>
      <p:sp>
        <p:nvSpPr>
          <p:cNvPr id="16" name="Text Box 4">
            <a:hlinkClick r:id="rId22" action="ppaction://hlinksldjump"/>
          </p:cNvPr>
          <p:cNvSpPr txBox="1">
            <a:spLocks noChangeArrowheads="1"/>
          </p:cNvSpPr>
          <p:nvPr>
            <p:custDataLst>
              <p:tags r:id="rId8"/>
            </p:custDataLst>
          </p:nvPr>
        </p:nvSpPr>
        <p:spPr bwMode="auto">
          <a:xfrm>
            <a:off x="301576" y="3680021"/>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Other Useful APIs…</a:t>
            </a:r>
            <a:endParaRPr lang="en-US" sz="2800" dirty="0">
              <a:solidFill>
                <a:srgbClr val="000000"/>
              </a:solidFill>
            </a:endParaRPr>
          </a:p>
        </p:txBody>
      </p:sp>
      <p:sp>
        <p:nvSpPr>
          <p:cNvPr id="17" name="Text Box 4">
            <a:hlinkClick r:id="rId23" action="ppaction://hlinksldjump"/>
          </p:cNvPr>
          <p:cNvSpPr txBox="1">
            <a:spLocks noChangeArrowheads="1"/>
          </p:cNvSpPr>
          <p:nvPr>
            <p:custDataLst>
              <p:tags r:id="rId9"/>
            </p:custDataLst>
          </p:nvPr>
        </p:nvSpPr>
        <p:spPr bwMode="auto">
          <a:xfrm>
            <a:off x="301576" y="4214838"/>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Events</a:t>
            </a:r>
            <a:endParaRPr lang="en-US" sz="2800" dirty="0">
              <a:solidFill>
                <a:srgbClr val="000000"/>
              </a:solidFill>
            </a:endParaRPr>
          </a:p>
        </p:txBody>
      </p:sp>
      <p:sp>
        <p:nvSpPr>
          <p:cNvPr id="18" name="Text Box 4">
            <a:hlinkClick r:id="rId24" action="ppaction://hlinksldjump"/>
          </p:cNvPr>
          <p:cNvSpPr txBox="1">
            <a:spLocks noChangeArrowheads="1"/>
          </p:cNvSpPr>
          <p:nvPr>
            <p:custDataLst>
              <p:tags r:id="rId10"/>
            </p:custDataLst>
          </p:nvPr>
        </p:nvSpPr>
        <p:spPr bwMode="auto">
          <a:xfrm>
            <a:off x="301576" y="4749655"/>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9" name="Text Box 4">
            <a:hlinkClick r:id="rId25" action="ppaction://hlinksldjump"/>
          </p:cNvPr>
          <p:cNvSpPr txBox="1">
            <a:spLocks noChangeArrowheads="1"/>
          </p:cNvSpPr>
          <p:nvPr>
            <p:custDataLst>
              <p:tags r:id="rId11"/>
            </p:custDataLst>
          </p:nvPr>
        </p:nvSpPr>
        <p:spPr bwMode="auto">
          <a:xfrm>
            <a:off x="301576" y="5284472"/>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Memory Footprint</a:t>
            </a:r>
            <a:endParaRPr lang="en-US" sz="2800" dirty="0">
              <a:solidFill>
                <a:srgbClr val="000000"/>
              </a:solidFill>
            </a:endParaRPr>
          </a:p>
        </p:txBody>
      </p:sp>
      <p:sp>
        <p:nvSpPr>
          <p:cNvPr id="20" name="Text Box 4">
            <a:hlinkClick r:id="rId26" action="ppaction://hlinksldjump"/>
          </p:cNvPr>
          <p:cNvSpPr txBox="1">
            <a:spLocks noChangeArrowheads="1"/>
          </p:cNvSpPr>
          <p:nvPr>
            <p:custDataLst>
              <p:tags r:id="rId12"/>
            </p:custDataLst>
          </p:nvPr>
        </p:nvSpPr>
        <p:spPr bwMode="auto">
          <a:xfrm>
            <a:off x="301576" y="5819289"/>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167381726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dirty="0" smtClean="0"/>
              <a:t>Task Code Topology – Pending </a:t>
            </a:r>
          </a:p>
        </p:txBody>
      </p:sp>
      <p:sp>
        <p:nvSpPr>
          <p:cNvPr id="354307" name="Text Box 3"/>
          <p:cNvSpPr txBox="1">
            <a:spLocks noChangeArrowheads="1"/>
          </p:cNvSpPr>
          <p:nvPr/>
        </p:nvSpPr>
        <p:spPr bwMode="auto">
          <a:xfrm>
            <a:off x="1676400" y="685800"/>
            <a:ext cx="3048000" cy="4524315"/>
          </a:xfrm>
          <a:prstGeom prst="rect">
            <a:avLst/>
          </a:prstGeom>
          <a:solidFill>
            <a:schemeClr val="accent1"/>
          </a:solidFill>
          <a:ln w="12700">
            <a:solidFill>
              <a:schemeClr val="tx1"/>
            </a:solidFill>
            <a:miter lim="800000"/>
            <a:headEnd type="none" w="sm" len="sm"/>
            <a:tailEnd type="none" w="sm" len="sm"/>
          </a:ln>
          <a:effectLst>
            <a:outerShdw dist="107763" dir="2700000" algn="ctr" rotWithShape="0">
              <a:schemeClr val="bg2">
                <a:alpha val="50000"/>
              </a:schemeClr>
            </a:outerShdw>
          </a:effectLst>
        </p:spPr>
        <p:txBody>
          <a:bodyPr wrap="square">
            <a:spAutoFit/>
          </a:bodyPr>
          <a:lstStyle/>
          <a:p>
            <a:pPr defTabSz="404813">
              <a:lnSpc>
                <a:spcPct val="90000"/>
              </a:lnSpc>
              <a:spcBef>
                <a:spcPct val="0"/>
              </a:spcBef>
              <a:defRPr/>
            </a:pPr>
            <a:r>
              <a:rPr lang="en-US" sz="2000">
                <a:latin typeface="Arial Narrow" pitchFamily="34" charset="0"/>
              </a:rPr>
              <a:t>Void </a:t>
            </a:r>
            <a:r>
              <a:rPr lang="en-US" sz="2000" smtClean="0">
                <a:latin typeface="Arial Narrow" pitchFamily="34" charset="0"/>
              </a:rPr>
              <a:t>taskFxn(…)</a:t>
            </a:r>
            <a:endParaRPr lang="en-US" sz="2000" dirty="0">
              <a:latin typeface="Arial Narrow" pitchFamily="34" charset="0"/>
            </a:endParaRPr>
          </a:p>
          <a:p>
            <a:pPr defTabSz="404813">
              <a:lnSpc>
                <a:spcPct val="90000"/>
              </a:lnSpc>
              <a:spcBef>
                <a:spcPct val="0"/>
              </a:spcBef>
              <a:defRPr/>
            </a:pPr>
            <a:r>
              <a:rPr lang="en-US" sz="2000" dirty="0">
                <a:latin typeface="Arial Narrow" pitchFamily="34" charset="0"/>
              </a:rPr>
              <a:t>{</a:t>
            </a:r>
          </a:p>
          <a:p>
            <a:pPr defTabSz="404813">
              <a:lnSpc>
                <a:spcPct val="90000"/>
              </a:lnSpc>
              <a:spcBef>
                <a:spcPct val="0"/>
              </a:spcBef>
              <a:defRPr/>
            </a:pPr>
            <a:endParaRPr lang="en-US" sz="2000" dirty="0">
              <a:latin typeface="Arial Narrow" pitchFamily="34" charset="0"/>
            </a:endParaRPr>
          </a:p>
          <a:p>
            <a:pPr defTabSz="404813">
              <a:lnSpc>
                <a:spcPct val="90000"/>
              </a:lnSpc>
              <a:spcBef>
                <a:spcPct val="0"/>
              </a:spcBef>
              <a:defRPr/>
            </a:pPr>
            <a:r>
              <a:rPr lang="en-US" sz="2000" dirty="0">
                <a:latin typeface="Arial Narrow" pitchFamily="34" charset="0"/>
              </a:rPr>
              <a:t>/* </a:t>
            </a:r>
            <a:r>
              <a:rPr lang="en-US" sz="2000" i="1" dirty="0">
                <a:latin typeface="Arial Narrow" pitchFamily="34" charset="0"/>
              </a:rPr>
              <a:t>Prolog</a:t>
            </a:r>
            <a:r>
              <a:rPr lang="en-US" sz="2000" dirty="0">
                <a:latin typeface="Arial Narrow" pitchFamily="34" charset="0"/>
              </a:rPr>
              <a:t> */</a:t>
            </a:r>
          </a:p>
          <a:p>
            <a:pPr defTabSz="404813">
              <a:lnSpc>
                <a:spcPct val="90000"/>
              </a:lnSpc>
              <a:spcBef>
                <a:spcPct val="0"/>
              </a:spcBef>
              <a:defRPr/>
            </a:pPr>
            <a:endParaRPr lang="en-US" sz="2000" dirty="0">
              <a:latin typeface="Arial Narrow" pitchFamily="34" charset="0"/>
            </a:endParaRPr>
          </a:p>
          <a:p>
            <a:pPr defTabSz="404813">
              <a:lnSpc>
                <a:spcPct val="90000"/>
              </a:lnSpc>
              <a:spcBef>
                <a:spcPct val="0"/>
              </a:spcBef>
              <a:defRPr/>
            </a:pPr>
            <a:r>
              <a:rPr lang="en-US" sz="2000" dirty="0">
                <a:latin typeface="Arial Narrow" pitchFamily="34" charset="0"/>
              </a:rPr>
              <a:t>	while (‘condition’){</a:t>
            </a:r>
          </a:p>
          <a:p>
            <a:pPr defTabSz="404813">
              <a:lnSpc>
                <a:spcPct val="90000"/>
              </a:lnSpc>
              <a:spcBef>
                <a:spcPct val="0"/>
              </a:spcBef>
              <a:defRPr/>
            </a:pPr>
            <a:endParaRPr lang="en-US" sz="2000" dirty="0">
              <a:latin typeface="Arial Narrow" pitchFamily="34" charset="0"/>
            </a:endParaRPr>
          </a:p>
          <a:p>
            <a:pPr defTabSz="404813">
              <a:lnSpc>
                <a:spcPct val="90000"/>
              </a:lnSpc>
              <a:spcBef>
                <a:spcPct val="0"/>
              </a:spcBef>
              <a:defRPr/>
            </a:pPr>
            <a:r>
              <a:rPr lang="en-US" sz="2000" dirty="0">
                <a:latin typeface="Arial Narrow" pitchFamily="34" charset="0"/>
              </a:rPr>
              <a:t>		</a:t>
            </a:r>
            <a:r>
              <a:rPr lang="en-US" sz="2000" dirty="0" err="1" smtClean="0">
                <a:solidFill>
                  <a:schemeClr val="tx2"/>
                </a:solidFill>
                <a:latin typeface="Arial Narrow" pitchFamily="34" charset="0"/>
              </a:rPr>
              <a:t>Semaphore_pend</a:t>
            </a:r>
            <a:r>
              <a:rPr lang="en-US" sz="2000" dirty="0">
                <a:solidFill>
                  <a:schemeClr val="tx2"/>
                </a:solidFill>
                <a:latin typeface="Arial Narrow" pitchFamily="34" charset="0"/>
              </a:rPr>
              <a:t>()</a:t>
            </a:r>
          </a:p>
          <a:p>
            <a:pPr defTabSz="404813">
              <a:lnSpc>
                <a:spcPct val="90000"/>
              </a:lnSpc>
              <a:spcBef>
                <a:spcPct val="0"/>
              </a:spcBef>
              <a:defRPr/>
            </a:pPr>
            <a:endParaRPr lang="en-US" sz="2000" dirty="0">
              <a:latin typeface="Arial Narrow" pitchFamily="34" charset="0"/>
            </a:endParaRPr>
          </a:p>
          <a:p>
            <a:pPr defTabSz="404813">
              <a:lnSpc>
                <a:spcPct val="90000"/>
              </a:lnSpc>
              <a:spcBef>
                <a:spcPct val="0"/>
              </a:spcBef>
              <a:defRPr/>
            </a:pPr>
            <a:r>
              <a:rPr lang="en-US" sz="2000" dirty="0">
                <a:latin typeface="Arial Narrow" pitchFamily="34" charset="0"/>
              </a:rPr>
              <a:t>		/* </a:t>
            </a:r>
            <a:r>
              <a:rPr lang="en-US" sz="2000" i="1" dirty="0">
                <a:latin typeface="Arial Narrow" pitchFamily="34" charset="0"/>
              </a:rPr>
              <a:t>Process</a:t>
            </a:r>
            <a:r>
              <a:rPr lang="en-US" sz="2000" i="1" dirty="0">
                <a:solidFill>
                  <a:schemeClr val="tx2"/>
                </a:solidFill>
                <a:latin typeface="Arial Narrow" pitchFamily="34" charset="0"/>
              </a:rPr>
              <a:t> </a:t>
            </a:r>
            <a:r>
              <a:rPr lang="en-US" sz="2000" dirty="0">
                <a:latin typeface="Arial Narrow" pitchFamily="34" charset="0"/>
              </a:rPr>
              <a:t> */</a:t>
            </a:r>
          </a:p>
          <a:p>
            <a:pPr defTabSz="404813">
              <a:lnSpc>
                <a:spcPct val="90000"/>
              </a:lnSpc>
              <a:spcBef>
                <a:spcPct val="0"/>
              </a:spcBef>
              <a:defRPr/>
            </a:pPr>
            <a:endParaRPr lang="en-US" sz="2000" dirty="0">
              <a:latin typeface="Arial Narrow" pitchFamily="34" charset="0"/>
            </a:endParaRPr>
          </a:p>
          <a:p>
            <a:pPr defTabSz="404813">
              <a:lnSpc>
                <a:spcPct val="90000"/>
              </a:lnSpc>
              <a:spcBef>
                <a:spcPct val="0"/>
              </a:spcBef>
              <a:defRPr/>
            </a:pPr>
            <a:r>
              <a:rPr lang="en-US" sz="2000" dirty="0">
                <a:latin typeface="Arial Narrow" pitchFamily="34" charset="0"/>
              </a:rPr>
              <a:t>    	}</a:t>
            </a:r>
          </a:p>
          <a:p>
            <a:pPr defTabSz="404813">
              <a:lnSpc>
                <a:spcPct val="90000"/>
              </a:lnSpc>
              <a:spcBef>
                <a:spcPct val="0"/>
              </a:spcBef>
              <a:defRPr/>
            </a:pPr>
            <a:endParaRPr lang="en-US" sz="2000" dirty="0">
              <a:latin typeface="Arial Narrow" pitchFamily="34" charset="0"/>
            </a:endParaRPr>
          </a:p>
          <a:p>
            <a:pPr defTabSz="404813">
              <a:lnSpc>
                <a:spcPct val="90000"/>
              </a:lnSpc>
              <a:spcBef>
                <a:spcPct val="0"/>
              </a:spcBef>
              <a:defRPr/>
            </a:pPr>
            <a:r>
              <a:rPr lang="en-US" sz="2000" dirty="0">
                <a:latin typeface="Arial Narrow" pitchFamily="34" charset="0"/>
              </a:rPr>
              <a:t>/* </a:t>
            </a:r>
            <a:r>
              <a:rPr lang="en-US" sz="2000" i="1" dirty="0">
                <a:latin typeface="Arial Narrow" pitchFamily="34" charset="0"/>
              </a:rPr>
              <a:t>Epilog</a:t>
            </a:r>
            <a:r>
              <a:rPr lang="en-US" sz="2000" dirty="0">
                <a:latin typeface="Arial Narrow" pitchFamily="34" charset="0"/>
              </a:rPr>
              <a:t> */</a:t>
            </a:r>
          </a:p>
          <a:p>
            <a:pPr defTabSz="404813">
              <a:lnSpc>
                <a:spcPct val="90000"/>
              </a:lnSpc>
              <a:spcBef>
                <a:spcPct val="0"/>
              </a:spcBef>
              <a:defRPr/>
            </a:pPr>
            <a:endParaRPr lang="en-US" sz="2000" dirty="0">
              <a:latin typeface="Arial Narrow" pitchFamily="34" charset="0"/>
            </a:endParaRPr>
          </a:p>
          <a:p>
            <a:pPr defTabSz="404813">
              <a:lnSpc>
                <a:spcPct val="90000"/>
              </a:lnSpc>
              <a:spcBef>
                <a:spcPct val="0"/>
              </a:spcBef>
              <a:defRPr/>
            </a:pPr>
            <a:r>
              <a:rPr lang="en-US" sz="2000" dirty="0">
                <a:latin typeface="Arial Narrow" pitchFamily="34" charset="0"/>
              </a:rPr>
              <a:t>}</a:t>
            </a:r>
          </a:p>
        </p:txBody>
      </p:sp>
      <p:sp>
        <p:nvSpPr>
          <p:cNvPr id="11268" name="Text Box 4"/>
          <p:cNvSpPr txBox="1">
            <a:spLocks noChangeArrowheads="1"/>
          </p:cNvSpPr>
          <p:nvPr/>
        </p:nvSpPr>
        <p:spPr bwMode="auto">
          <a:xfrm>
            <a:off x="4876800" y="685800"/>
            <a:ext cx="4191000" cy="4247317"/>
          </a:xfrm>
          <a:prstGeom prst="rect">
            <a:avLst/>
          </a:prstGeom>
          <a:noFill/>
          <a:ln w="12700">
            <a:noFill/>
            <a:miter lim="800000"/>
            <a:headEnd type="none" w="sm" len="sm"/>
            <a:tailEnd type="none" w="sm" len="sm"/>
          </a:ln>
        </p:spPr>
        <p:txBody>
          <a:bodyPr wrap="square">
            <a:spAutoFit/>
          </a:bodyPr>
          <a:lstStyle/>
          <a:p>
            <a:pPr marL="342900" indent="-342900" defTabSz="457200">
              <a:lnSpc>
                <a:spcPct val="90000"/>
              </a:lnSpc>
              <a:spcBef>
                <a:spcPct val="0"/>
              </a:spcBef>
              <a:buClr>
                <a:schemeClr val="tx2"/>
              </a:buClr>
              <a:buSzPct val="75000"/>
              <a:buFont typeface="Wingdings" pitchFamily="2" charset="2"/>
              <a:buChar char=""/>
            </a:pPr>
            <a:endParaRPr lang="en-US" sz="2000" dirty="0">
              <a:latin typeface="Arial Narrow" pitchFamily="34" charset="0"/>
            </a:endParaRPr>
          </a:p>
          <a:p>
            <a:pPr marL="342900" indent="-342900" defTabSz="457200">
              <a:lnSpc>
                <a:spcPct val="90000"/>
              </a:lnSpc>
              <a:spcBef>
                <a:spcPct val="0"/>
              </a:spcBef>
              <a:buClr>
                <a:schemeClr val="tx2"/>
              </a:buClr>
              <a:buSzPct val="75000"/>
              <a:buFont typeface="Wingdings" pitchFamily="2" charset="2"/>
              <a:buChar char=""/>
            </a:pPr>
            <a:endParaRPr lang="en-US" sz="2000" dirty="0">
              <a:latin typeface="Arial Narrow" pitchFamily="34" charset="0"/>
            </a:endParaRPr>
          </a:p>
          <a:p>
            <a:pPr marL="342900" indent="-342900" defTabSz="457200">
              <a:lnSpc>
                <a:spcPct val="90000"/>
              </a:lnSpc>
              <a:spcBef>
                <a:spcPct val="0"/>
              </a:spcBef>
              <a:buClr>
                <a:schemeClr val="tx2"/>
              </a:buClr>
              <a:buSzPct val="75000"/>
              <a:buFont typeface="Wingdings" pitchFamily="2" charset="2"/>
              <a:buChar char=""/>
            </a:pPr>
            <a:endParaRPr lang="en-US" sz="2000" dirty="0">
              <a:latin typeface="Arial Narrow" pitchFamily="34" charset="0"/>
            </a:endParaRPr>
          </a:p>
          <a:p>
            <a:pPr marL="342900" indent="-342900" defTabSz="457200">
              <a:lnSpc>
                <a:spcPct val="90000"/>
              </a:lnSpc>
              <a:spcBef>
                <a:spcPct val="0"/>
              </a:spcBef>
              <a:buClr>
                <a:schemeClr val="tx2"/>
              </a:buClr>
              <a:buSzPct val="75000"/>
              <a:buFont typeface="Wingdings" pitchFamily="2" charset="2"/>
              <a:buChar char=""/>
            </a:pPr>
            <a:r>
              <a:rPr lang="en-US" sz="2000" dirty="0">
                <a:solidFill>
                  <a:schemeClr val="tx2"/>
                </a:solidFill>
                <a:latin typeface="Calibri" pitchFamily="34" charset="0"/>
                <a:cs typeface="Calibri" pitchFamily="34" charset="0"/>
              </a:rPr>
              <a:t>Initialization</a:t>
            </a:r>
            <a:r>
              <a:rPr lang="en-US" sz="2000" dirty="0">
                <a:latin typeface="Calibri" pitchFamily="34" charset="0"/>
                <a:cs typeface="Calibri" pitchFamily="34" charset="0"/>
              </a:rPr>
              <a:t> (runs once only)</a:t>
            </a:r>
          </a:p>
          <a:p>
            <a:pPr marL="342900" indent="-342900" defTabSz="457200">
              <a:lnSpc>
                <a:spcPct val="90000"/>
              </a:lnSpc>
              <a:spcBef>
                <a:spcPct val="0"/>
              </a:spcBef>
              <a:buClr>
                <a:schemeClr val="tx2"/>
              </a:buClr>
              <a:buSzPct val="75000"/>
              <a:buFont typeface="Wingdings" pitchFamily="2" charset="2"/>
              <a:buChar char=""/>
            </a:pPr>
            <a:endParaRPr lang="en-US" sz="2000" dirty="0">
              <a:latin typeface="Calibri" pitchFamily="34" charset="0"/>
              <a:cs typeface="Calibri" pitchFamily="34" charset="0"/>
            </a:endParaRPr>
          </a:p>
          <a:p>
            <a:pPr marL="342900" indent="-342900" defTabSz="457200">
              <a:lnSpc>
                <a:spcPct val="90000"/>
              </a:lnSpc>
              <a:spcBef>
                <a:spcPct val="0"/>
              </a:spcBef>
              <a:buClr>
                <a:schemeClr val="tx2"/>
              </a:buClr>
              <a:buSzPct val="75000"/>
              <a:buFont typeface="Wingdings" pitchFamily="2" charset="2"/>
              <a:buChar char=""/>
            </a:pPr>
            <a:r>
              <a:rPr lang="en-US" sz="2000" dirty="0">
                <a:solidFill>
                  <a:schemeClr val="tx2"/>
                </a:solidFill>
                <a:latin typeface="Calibri" pitchFamily="34" charset="0"/>
                <a:cs typeface="Calibri" pitchFamily="34" charset="0"/>
              </a:rPr>
              <a:t>Processing</a:t>
            </a:r>
            <a:r>
              <a:rPr lang="en-US" sz="2000" dirty="0">
                <a:latin typeface="Calibri" pitchFamily="34" charset="0"/>
                <a:cs typeface="Calibri" pitchFamily="34" charset="0"/>
              </a:rPr>
              <a:t> loop </a:t>
            </a:r>
            <a:r>
              <a:rPr lang="en-US" sz="2000" dirty="0" smtClean="0">
                <a:latin typeface="Calibri" pitchFamily="34" charset="0"/>
                <a:cs typeface="Calibri" pitchFamily="34" charset="0"/>
              </a:rPr>
              <a:t>– (optional: </a:t>
            </a:r>
            <a:r>
              <a:rPr lang="en-US" sz="2000" b="0" i="1" dirty="0" err="1" smtClean="0">
                <a:latin typeface="Calibri" pitchFamily="34" charset="0"/>
                <a:cs typeface="Calibri" pitchFamily="34" charset="0"/>
              </a:rPr>
              <a:t>cond</a:t>
            </a:r>
            <a:r>
              <a:rPr lang="en-US" sz="2000" dirty="0" smtClean="0">
                <a:latin typeface="Calibri" pitchFamily="34" charset="0"/>
                <a:cs typeface="Calibri" pitchFamily="34" charset="0"/>
              </a:rPr>
              <a:t>)</a:t>
            </a:r>
            <a:r>
              <a:rPr lang="en-US" sz="2000" dirty="0">
                <a:latin typeface="Calibri" pitchFamily="34" charset="0"/>
                <a:cs typeface="Calibri" pitchFamily="34" charset="0"/>
              </a:rPr>
              <a:t/>
            </a:r>
            <a:br>
              <a:rPr lang="en-US" sz="2000" dirty="0">
                <a:latin typeface="Calibri" pitchFamily="34" charset="0"/>
                <a:cs typeface="Calibri" pitchFamily="34" charset="0"/>
              </a:rPr>
            </a:br>
            <a:endParaRPr lang="en-US" sz="2000" dirty="0">
              <a:latin typeface="Calibri" pitchFamily="34" charset="0"/>
              <a:cs typeface="Calibri" pitchFamily="34" charset="0"/>
            </a:endParaRPr>
          </a:p>
          <a:p>
            <a:pPr marL="342900" indent="-342900" defTabSz="457200">
              <a:lnSpc>
                <a:spcPct val="90000"/>
              </a:lnSpc>
              <a:spcBef>
                <a:spcPct val="0"/>
              </a:spcBef>
              <a:buClr>
                <a:schemeClr val="tx2"/>
              </a:buClr>
              <a:buSzPct val="75000"/>
              <a:buFont typeface="Wingdings" pitchFamily="2" charset="2"/>
              <a:buChar char=""/>
            </a:pPr>
            <a:r>
              <a:rPr lang="en-US" sz="2000" dirty="0">
                <a:latin typeface="Calibri" pitchFamily="34" charset="0"/>
                <a:cs typeface="Calibri" pitchFamily="34" charset="0"/>
              </a:rPr>
              <a:t>Wait for resources to be available</a:t>
            </a:r>
          </a:p>
          <a:p>
            <a:pPr marL="342900" indent="-342900" defTabSz="457200">
              <a:lnSpc>
                <a:spcPct val="90000"/>
              </a:lnSpc>
              <a:spcBef>
                <a:spcPct val="0"/>
              </a:spcBef>
              <a:buClr>
                <a:schemeClr val="tx2"/>
              </a:buClr>
              <a:buSzPct val="75000"/>
              <a:buFont typeface="Wingdings" pitchFamily="2" charset="2"/>
              <a:buChar char=""/>
            </a:pPr>
            <a:endParaRPr lang="en-US" sz="2000" dirty="0">
              <a:latin typeface="Calibri" pitchFamily="34" charset="0"/>
              <a:cs typeface="Calibri" pitchFamily="34" charset="0"/>
            </a:endParaRPr>
          </a:p>
          <a:p>
            <a:pPr marL="342900" indent="-342900" defTabSz="457200">
              <a:lnSpc>
                <a:spcPct val="90000"/>
              </a:lnSpc>
              <a:spcBef>
                <a:spcPct val="0"/>
              </a:spcBef>
              <a:buClr>
                <a:schemeClr val="tx2"/>
              </a:buClr>
              <a:buSzPct val="75000"/>
              <a:buFont typeface="Wingdings" pitchFamily="2" charset="2"/>
              <a:buChar char=""/>
            </a:pPr>
            <a:r>
              <a:rPr lang="en-US" sz="2000" dirty="0">
                <a:latin typeface="Calibri" pitchFamily="34" charset="0"/>
                <a:cs typeface="Calibri" pitchFamily="34" charset="0"/>
              </a:rPr>
              <a:t>Perform desired </a:t>
            </a:r>
            <a:r>
              <a:rPr lang="en-US" sz="2000" dirty="0" err="1" smtClean="0">
                <a:latin typeface="Calibri" pitchFamily="34" charset="0"/>
                <a:cs typeface="Calibri" pitchFamily="34" charset="0"/>
              </a:rPr>
              <a:t>algo</a:t>
            </a:r>
            <a:r>
              <a:rPr lang="en-US" sz="2000" dirty="0" smtClean="0">
                <a:latin typeface="Calibri" pitchFamily="34" charset="0"/>
                <a:cs typeface="Calibri" pitchFamily="34" charset="0"/>
              </a:rPr>
              <a:t> </a:t>
            </a:r>
            <a:r>
              <a:rPr lang="en-US" sz="2000" dirty="0">
                <a:latin typeface="Calibri" pitchFamily="34" charset="0"/>
                <a:cs typeface="Calibri" pitchFamily="34" charset="0"/>
              </a:rPr>
              <a:t>work...</a:t>
            </a:r>
          </a:p>
          <a:p>
            <a:pPr marL="342900" indent="-342900" defTabSz="457200">
              <a:lnSpc>
                <a:spcPct val="90000"/>
              </a:lnSpc>
              <a:spcBef>
                <a:spcPct val="0"/>
              </a:spcBef>
              <a:buClr>
                <a:schemeClr val="tx2"/>
              </a:buClr>
              <a:buSzPct val="75000"/>
              <a:buFont typeface="Wingdings" pitchFamily="2" charset="2"/>
              <a:buChar char=""/>
            </a:pPr>
            <a:endParaRPr lang="en-US" sz="2000" dirty="0">
              <a:latin typeface="Calibri" pitchFamily="34" charset="0"/>
              <a:cs typeface="Calibri" pitchFamily="34" charset="0"/>
            </a:endParaRPr>
          </a:p>
          <a:p>
            <a:pPr marL="342900" indent="-342900" defTabSz="457200">
              <a:lnSpc>
                <a:spcPct val="90000"/>
              </a:lnSpc>
              <a:spcBef>
                <a:spcPct val="0"/>
              </a:spcBef>
              <a:buClr>
                <a:schemeClr val="tx2"/>
              </a:buClr>
              <a:buSzPct val="75000"/>
              <a:buFont typeface="Wingdings" pitchFamily="2" charset="2"/>
              <a:buChar char=""/>
            </a:pPr>
            <a:endParaRPr lang="en-US" sz="2000" dirty="0">
              <a:latin typeface="Calibri" pitchFamily="34" charset="0"/>
              <a:cs typeface="Calibri" pitchFamily="34" charset="0"/>
            </a:endParaRPr>
          </a:p>
          <a:p>
            <a:pPr marL="342900" indent="-342900" defTabSz="457200">
              <a:lnSpc>
                <a:spcPct val="90000"/>
              </a:lnSpc>
              <a:spcBef>
                <a:spcPct val="0"/>
              </a:spcBef>
              <a:buClr>
                <a:schemeClr val="tx2"/>
              </a:buClr>
              <a:buSzPct val="75000"/>
              <a:buFont typeface="Wingdings" pitchFamily="2" charset="2"/>
              <a:buChar char=""/>
            </a:pPr>
            <a:endParaRPr lang="en-US" sz="2000" dirty="0">
              <a:latin typeface="Calibri" pitchFamily="34" charset="0"/>
              <a:cs typeface="Calibri" pitchFamily="34" charset="0"/>
            </a:endParaRPr>
          </a:p>
          <a:p>
            <a:pPr marL="342900" indent="-342900" defTabSz="457200">
              <a:lnSpc>
                <a:spcPct val="90000"/>
              </a:lnSpc>
              <a:spcBef>
                <a:spcPct val="0"/>
              </a:spcBef>
              <a:buClr>
                <a:schemeClr val="tx2"/>
              </a:buClr>
              <a:buSzPct val="75000"/>
              <a:buFont typeface="Wingdings" pitchFamily="2" charset="2"/>
              <a:buChar char=""/>
            </a:pPr>
            <a:r>
              <a:rPr lang="en-US" sz="2000" dirty="0">
                <a:solidFill>
                  <a:schemeClr val="tx2"/>
                </a:solidFill>
                <a:latin typeface="Calibri" pitchFamily="34" charset="0"/>
                <a:cs typeface="Calibri" pitchFamily="34" charset="0"/>
              </a:rPr>
              <a:t>Shutdown</a:t>
            </a:r>
            <a:r>
              <a:rPr lang="en-US" sz="2000" dirty="0">
                <a:latin typeface="Calibri" pitchFamily="34" charset="0"/>
                <a:cs typeface="Calibri" pitchFamily="34" charset="0"/>
              </a:rPr>
              <a:t> (runs once - at most)</a:t>
            </a:r>
          </a:p>
          <a:p>
            <a:pPr marL="342900" indent="-342900" defTabSz="457200">
              <a:lnSpc>
                <a:spcPct val="90000"/>
              </a:lnSpc>
              <a:spcBef>
                <a:spcPct val="0"/>
              </a:spcBef>
              <a:buClr>
                <a:schemeClr val="tx2"/>
              </a:buClr>
              <a:buSzPct val="75000"/>
              <a:buFont typeface="Wingdings" pitchFamily="2" charset="2"/>
              <a:buChar char=""/>
            </a:pPr>
            <a:endParaRPr lang="en-US" sz="2000" dirty="0">
              <a:latin typeface="Arial Narrow" pitchFamily="34" charset="0"/>
            </a:endParaRPr>
          </a:p>
        </p:txBody>
      </p:sp>
      <p:sp>
        <p:nvSpPr>
          <p:cNvPr id="354309" name="Line 5"/>
          <p:cNvSpPr>
            <a:spLocks noChangeShapeType="1"/>
          </p:cNvSpPr>
          <p:nvPr/>
        </p:nvSpPr>
        <p:spPr bwMode="auto">
          <a:xfrm>
            <a:off x="3048000" y="1702748"/>
            <a:ext cx="1828800" cy="0"/>
          </a:xfrm>
          <a:prstGeom prst="line">
            <a:avLst/>
          </a:prstGeom>
          <a:noFill/>
          <a:ln w="19050">
            <a:solidFill>
              <a:schemeClr val="tx2"/>
            </a:solidFill>
            <a:round/>
            <a:headEnd type="triangle" w="med" len="lg"/>
            <a:tailEnd/>
          </a:ln>
          <a:effectLst/>
        </p:spPr>
        <p:txBody>
          <a:bodyPr wrap="square">
            <a:spAutoFit/>
          </a:bodyPr>
          <a:lstStyle/>
          <a:p>
            <a:pPr>
              <a:defRPr/>
            </a:pPr>
            <a:endParaRPr lang="en-US">
              <a:effectLst>
                <a:outerShdw blurRad="38100" dist="38100" dir="2700000" algn="tl">
                  <a:srgbClr val="000000">
                    <a:alpha val="43137"/>
                  </a:srgbClr>
                </a:outerShdw>
              </a:effectLst>
            </a:endParaRPr>
          </a:p>
        </p:txBody>
      </p:sp>
      <p:sp>
        <p:nvSpPr>
          <p:cNvPr id="354310" name="Line 6"/>
          <p:cNvSpPr>
            <a:spLocks noChangeShapeType="1"/>
          </p:cNvSpPr>
          <p:nvPr/>
        </p:nvSpPr>
        <p:spPr bwMode="auto">
          <a:xfrm>
            <a:off x="4191000" y="2246952"/>
            <a:ext cx="685800" cy="0"/>
          </a:xfrm>
          <a:prstGeom prst="line">
            <a:avLst/>
          </a:prstGeom>
          <a:noFill/>
          <a:ln w="19050">
            <a:solidFill>
              <a:schemeClr val="tx2"/>
            </a:solidFill>
            <a:round/>
            <a:headEnd type="triangle" w="med" len="lg"/>
            <a:tailEnd/>
          </a:ln>
          <a:effectLst/>
        </p:spPr>
        <p:txBody>
          <a:bodyPr wrap="square">
            <a:spAutoFit/>
          </a:bodyPr>
          <a:lstStyle/>
          <a:p>
            <a:pPr>
              <a:defRPr/>
            </a:pPr>
            <a:endParaRPr lang="en-US">
              <a:effectLst>
                <a:outerShdw blurRad="38100" dist="38100" dir="2700000" algn="tl">
                  <a:srgbClr val="000000">
                    <a:alpha val="43137"/>
                  </a:srgbClr>
                </a:outerShdw>
              </a:effectLst>
            </a:endParaRPr>
          </a:p>
        </p:txBody>
      </p:sp>
      <p:sp>
        <p:nvSpPr>
          <p:cNvPr id="354311" name="Line 7"/>
          <p:cNvSpPr>
            <a:spLocks noChangeShapeType="1"/>
          </p:cNvSpPr>
          <p:nvPr/>
        </p:nvSpPr>
        <p:spPr bwMode="auto">
          <a:xfrm>
            <a:off x="4572000" y="2819400"/>
            <a:ext cx="304800" cy="0"/>
          </a:xfrm>
          <a:prstGeom prst="line">
            <a:avLst/>
          </a:prstGeom>
          <a:noFill/>
          <a:ln w="19050">
            <a:solidFill>
              <a:schemeClr val="tx2"/>
            </a:solidFill>
            <a:round/>
            <a:headEnd type="triangle" w="med" len="lg"/>
            <a:tailEnd/>
          </a:ln>
          <a:effectLst/>
        </p:spPr>
        <p:txBody>
          <a:bodyPr wrap="square">
            <a:spAutoFit/>
          </a:bodyPr>
          <a:lstStyle/>
          <a:p>
            <a:pPr>
              <a:defRPr/>
            </a:pPr>
            <a:endParaRPr lang="en-US">
              <a:effectLst>
                <a:outerShdw blurRad="38100" dist="38100" dir="2700000" algn="tl">
                  <a:srgbClr val="000000">
                    <a:alpha val="43137"/>
                  </a:srgbClr>
                </a:outerShdw>
              </a:effectLst>
            </a:endParaRPr>
          </a:p>
        </p:txBody>
      </p:sp>
      <p:sp>
        <p:nvSpPr>
          <p:cNvPr id="354312" name="Line 8"/>
          <p:cNvSpPr>
            <a:spLocks noChangeShapeType="1"/>
          </p:cNvSpPr>
          <p:nvPr/>
        </p:nvSpPr>
        <p:spPr bwMode="auto">
          <a:xfrm>
            <a:off x="3886200" y="3344863"/>
            <a:ext cx="990600" cy="0"/>
          </a:xfrm>
          <a:prstGeom prst="line">
            <a:avLst/>
          </a:prstGeom>
          <a:noFill/>
          <a:ln w="19050">
            <a:solidFill>
              <a:schemeClr val="tx2"/>
            </a:solidFill>
            <a:round/>
            <a:headEnd type="triangle" w="med" len="lg"/>
            <a:tailEnd/>
          </a:ln>
          <a:effectLst/>
        </p:spPr>
        <p:txBody>
          <a:bodyPr wrap="square">
            <a:spAutoFit/>
          </a:bodyPr>
          <a:lstStyle/>
          <a:p>
            <a:pPr>
              <a:defRPr/>
            </a:pPr>
            <a:endParaRPr lang="en-US">
              <a:effectLst>
                <a:outerShdw blurRad="38100" dist="38100" dir="2700000" algn="tl">
                  <a:srgbClr val="000000">
                    <a:alpha val="43137"/>
                  </a:srgbClr>
                </a:outerShdw>
              </a:effectLst>
            </a:endParaRPr>
          </a:p>
        </p:txBody>
      </p:sp>
      <p:sp>
        <p:nvSpPr>
          <p:cNvPr id="354313" name="Line 9"/>
          <p:cNvSpPr>
            <a:spLocks noChangeShapeType="1"/>
          </p:cNvSpPr>
          <p:nvPr/>
        </p:nvSpPr>
        <p:spPr bwMode="auto">
          <a:xfrm>
            <a:off x="2971800" y="4457700"/>
            <a:ext cx="1905000" cy="0"/>
          </a:xfrm>
          <a:prstGeom prst="line">
            <a:avLst/>
          </a:prstGeom>
          <a:noFill/>
          <a:ln w="19050">
            <a:solidFill>
              <a:schemeClr val="tx2"/>
            </a:solidFill>
            <a:round/>
            <a:headEnd type="triangle" w="med" len="lg"/>
            <a:tailEnd/>
          </a:ln>
          <a:effectLst/>
        </p:spPr>
        <p:txBody>
          <a:bodyPr wrap="square">
            <a:spAutoFit/>
          </a:bodyPr>
          <a:lstStyle/>
          <a:p>
            <a:pPr>
              <a:defRPr/>
            </a:pPr>
            <a:endParaRPr lang="en-US">
              <a:effectLst>
                <a:outerShdw blurRad="38100" dist="38100" dir="2700000" algn="tl">
                  <a:srgbClr val="000000">
                    <a:alpha val="43137"/>
                  </a:srgbClr>
                </a:outerShdw>
              </a:effectLst>
            </a:endParaRPr>
          </a:p>
        </p:txBody>
      </p:sp>
      <p:sp>
        <p:nvSpPr>
          <p:cNvPr id="11274" name="Text Box 10"/>
          <p:cNvSpPr txBox="1">
            <a:spLocks noChangeArrowheads="1"/>
          </p:cNvSpPr>
          <p:nvPr/>
        </p:nvSpPr>
        <p:spPr bwMode="auto">
          <a:xfrm>
            <a:off x="1295400" y="5271493"/>
            <a:ext cx="7315200" cy="1015663"/>
          </a:xfrm>
          <a:prstGeom prst="rect">
            <a:avLst/>
          </a:prstGeom>
          <a:noFill/>
          <a:ln w="12700">
            <a:noFill/>
            <a:miter lim="800000"/>
            <a:headEnd type="none" w="sm" len="sm"/>
            <a:tailEnd type="none" w="sm" len="sm"/>
          </a:ln>
        </p:spPr>
        <p:txBody>
          <a:bodyPr wrap="square">
            <a:spAutoFit/>
          </a:bodyPr>
          <a:lstStyle/>
          <a:p>
            <a:pPr marL="342900" indent="-342900" defTabSz="457200">
              <a:lnSpc>
                <a:spcPct val="100000"/>
              </a:lnSpc>
              <a:spcBef>
                <a:spcPct val="0"/>
              </a:spcBef>
              <a:buClr>
                <a:schemeClr val="tx2"/>
              </a:buClr>
              <a:buSzPct val="75000"/>
              <a:buFont typeface="Wingdings" pitchFamily="2" charset="2"/>
              <a:buChar char=""/>
            </a:pPr>
            <a:r>
              <a:rPr lang="en-US" sz="2000" b="0" dirty="0" smtClean="0">
                <a:latin typeface="Calibri" pitchFamily="34" charset="0"/>
                <a:cs typeface="Calibri" pitchFamily="34" charset="0"/>
              </a:rPr>
              <a:t>Task </a:t>
            </a:r>
            <a:r>
              <a:rPr lang="en-US" sz="2000" b="0" dirty="0">
                <a:latin typeface="Calibri" pitchFamily="34" charset="0"/>
                <a:cs typeface="Calibri" pitchFamily="34" charset="0"/>
              </a:rPr>
              <a:t>can encompass </a:t>
            </a:r>
            <a:r>
              <a:rPr lang="en-US" sz="2000" b="0" i="1" dirty="0">
                <a:latin typeface="Calibri" pitchFamily="34" charset="0"/>
                <a:cs typeface="Calibri" pitchFamily="34" charset="0"/>
              </a:rPr>
              <a:t>three</a:t>
            </a:r>
            <a:r>
              <a:rPr lang="en-US" sz="2000" b="0" dirty="0">
                <a:latin typeface="Calibri" pitchFamily="34" charset="0"/>
                <a:cs typeface="Calibri" pitchFamily="34" charset="0"/>
              </a:rPr>
              <a:t> phases of activity</a:t>
            </a:r>
          </a:p>
          <a:p>
            <a:pPr marL="342900" indent="-342900" defTabSz="457200">
              <a:lnSpc>
                <a:spcPct val="100000"/>
              </a:lnSpc>
              <a:spcBef>
                <a:spcPct val="0"/>
              </a:spcBef>
              <a:buClr>
                <a:schemeClr val="tx2"/>
              </a:buClr>
              <a:buSzPct val="75000"/>
              <a:buFont typeface="Wingdings" pitchFamily="2" charset="2"/>
              <a:buChar char=""/>
            </a:pPr>
            <a:r>
              <a:rPr lang="en-US" sz="2000" b="0" dirty="0" smtClean="0">
                <a:latin typeface="Calibri" pitchFamily="34" charset="0"/>
                <a:cs typeface="Calibri" pitchFamily="34" charset="0"/>
              </a:rPr>
              <a:t>Semaphore </a:t>
            </a:r>
            <a:r>
              <a:rPr lang="en-US" sz="2000" b="0" dirty="0">
                <a:latin typeface="Calibri" pitchFamily="34" charset="0"/>
                <a:cs typeface="Calibri" pitchFamily="34" charset="0"/>
              </a:rPr>
              <a:t>can be used to signal resource availability to </a:t>
            </a:r>
            <a:r>
              <a:rPr lang="en-US" sz="2000" b="0" dirty="0" smtClean="0">
                <a:latin typeface="Calibri" pitchFamily="34" charset="0"/>
                <a:cs typeface="Calibri" pitchFamily="34" charset="0"/>
              </a:rPr>
              <a:t>Task</a:t>
            </a:r>
            <a:endParaRPr lang="en-US" sz="2000" b="0" dirty="0">
              <a:latin typeface="Calibri" pitchFamily="34" charset="0"/>
              <a:cs typeface="Calibri" pitchFamily="34" charset="0"/>
            </a:endParaRPr>
          </a:p>
          <a:p>
            <a:pPr marL="342900" indent="-342900" defTabSz="457200">
              <a:lnSpc>
                <a:spcPct val="100000"/>
              </a:lnSpc>
              <a:spcBef>
                <a:spcPct val="0"/>
              </a:spcBef>
              <a:buClr>
                <a:schemeClr val="tx2"/>
              </a:buClr>
              <a:buSzPct val="75000"/>
              <a:buFont typeface="Wingdings" pitchFamily="2" charset="2"/>
              <a:buChar char=""/>
            </a:pPr>
            <a:r>
              <a:rPr lang="en-US" sz="2000" b="0" err="1" smtClean="0">
                <a:solidFill>
                  <a:srgbClr val="FF0000"/>
                </a:solidFill>
                <a:latin typeface="Calibri" pitchFamily="34" charset="0"/>
                <a:cs typeface="Calibri" pitchFamily="34" charset="0"/>
              </a:rPr>
              <a:t>Semaphore_pend</a:t>
            </a:r>
            <a:r>
              <a:rPr lang="en-US" sz="2000" b="0" smtClean="0">
                <a:solidFill>
                  <a:srgbClr val="FF0000"/>
                </a:solidFill>
                <a:latin typeface="Calibri" pitchFamily="34" charset="0"/>
                <a:cs typeface="Calibri" pitchFamily="34" charset="0"/>
              </a:rPr>
              <a:t>() </a:t>
            </a:r>
            <a:r>
              <a:rPr lang="en-US" sz="2000" b="0" i="1" smtClean="0">
                <a:latin typeface="Calibri" pitchFamily="34" charset="0"/>
                <a:cs typeface="Calibri" pitchFamily="34" charset="0"/>
              </a:rPr>
              <a:t>blocks</a:t>
            </a:r>
            <a:r>
              <a:rPr lang="en-US" sz="2000" b="0" smtClean="0">
                <a:latin typeface="Calibri" pitchFamily="34" charset="0"/>
                <a:cs typeface="Calibri" pitchFamily="34" charset="0"/>
              </a:rPr>
              <a:t> </a:t>
            </a:r>
            <a:r>
              <a:rPr lang="en-US" sz="2000" b="0" dirty="0" smtClean="0">
                <a:latin typeface="Calibri" pitchFamily="34" charset="0"/>
                <a:cs typeface="Calibri" pitchFamily="34" charset="0"/>
              </a:rPr>
              <a:t>Task </a:t>
            </a:r>
            <a:r>
              <a:rPr lang="en-US" sz="2000" b="0" dirty="0">
                <a:latin typeface="Calibri" pitchFamily="34" charset="0"/>
                <a:cs typeface="Calibri" pitchFamily="34" charset="0"/>
              </a:rPr>
              <a:t>until </a:t>
            </a:r>
            <a:r>
              <a:rPr lang="en-US" sz="2000" b="0" dirty="0" smtClean="0">
                <a:latin typeface="Calibri" pitchFamily="34" charset="0"/>
                <a:cs typeface="Calibri" pitchFamily="34" charset="0"/>
              </a:rPr>
              <a:t>semaphore (flag) is posted</a:t>
            </a:r>
            <a:endParaRPr lang="en-US" sz="2000" b="0" dirty="0">
              <a:latin typeface="Calibri" pitchFamily="34" charset="0"/>
              <a:cs typeface="Calibri" pitchFamily="34" charset="0"/>
            </a:endParaRPr>
          </a:p>
        </p:txBody>
      </p:sp>
      <p:sp>
        <p:nvSpPr>
          <p:cNvPr id="354317" name="AutoShape 13"/>
          <p:cNvSpPr>
            <a:spLocks noChangeArrowheads="1"/>
          </p:cNvSpPr>
          <p:nvPr/>
        </p:nvSpPr>
        <p:spPr bwMode="auto">
          <a:xfrm>
            <a:off x="509519" y="1279469"/>
            <a:ext cx="627529" cy="489061"/>
          </a:xfrm>
          <a:prstGeom prst="downArrow">
            <a:avLst>
              <a:gd name="adj1" fmla="val 50000"/>
              <a:gd name="adj2" fmla="val 42857"/>
            </a:avLst>
          </a:prstGeom>
          <a:solidFill>
            <a:schemeClr val="accent4"/>
          </a:solidFill>
          <a:ln w="12700" algn="ctr">
            <a:noFill/>
            <a:miter lim="800000"/>
            <a:headEnd/>
            <a:tailEnd/>
          </a:ln>
          <a:effectLst/>
        </p:spPr>
        <p:txBody>
          <a:bodyPr wrap="square" anchor="ctr">
            <a:spAutoFit/>
          </a:bodyPr>
          <a:lstStyle/>
          <a:p>
            <a:pPr>
              <a:defRPr/>
            </a:pPr>
            <a:endParaRPr lang="en-US">
              <a:effectLst>
                <a:outerShdw blurRad="38100" dist="38100" dir="2700000" algn="tl">
                  <a:srgbClr val="000000">
                    <a:alpha val="43137"/>
                  </a:srgbClr>
                </a:outerShdw>
              </a:effectLst>
            </a:endParaRPr>
          </a:p>
        </p:txBody>
      </p:sp>
      <p:sp>
        <p:nvSpPr>
          <p:cNvPr id="354318" name="AutoShape 14"/>
          <p:cNvSpPr>
            <a:spLocks noChangeArrowheads="1"/>
          </p:cNvSpPr>
          <p:nvPr/>
        </p:nvSpPr>
        <p:spPr bwMode="auto">
          <a:xfrm>
            <a:off x="509519" y="4327469"/>
            <a:ext cx="627529" cy="489061"/>
          </a:xfrm>
          <a:prstGeom prst="downArrow">
            <a:avLst>
              <a:gd name="adj1" fmla="val 50000"/>
              <a:gd name="adj2" fmla="val 42857"/>
            </a:avLst>
          </a:prstGeom>
          <a:solidFill>
            <a:schemeClr val="accent4"/>
          </a:solidFill>
          <a:ln w="12700" algn="ctr">
            <a:noFill/>
            <a:miter lim="800000"/>
            <a:headEnd/>
            <a:tailEnd/>
          </a:ln>
          <a:effectLst/>
        </p:spPr>
        <p:txBody>
          <a:bodyPr wrap="square" anchor="ctr">
            <a:spAutoFit/>
          </a:bodyPr>
          <a:lstStyle/>
          <a:p>
            <a:pPr>
              <a:defRPr/>
            </a:pPr>
            <a:endParaRPr lang="en-US">
              <a:effectLst>
                <a:outerShdw blurRad="38100" dist="38100" dir="2700000" algn="tl">
                  <a:srgbClr val="000000">
                    <a:alpha val="43137"/>
                  </a:srgbClr>
                </a:outerShdw>
              </a:effectLst>
            </a:endParaRPr>
          </a:p>
        </p:txBody>
      </p:sp>
      <p:sp>
        <p:nvSpPr>
          <p:cNvPr id="28" name="AutoShape 11"/>
          <p:cNvSpPr>
            <a:spLocks noChangeArrowheads="1"/>
          </p:cNvSpPr>
          <p:nvPr/>
        </p:nvSpPr>
        <p:spPr bwMode="auto">
          <a:xfrm>
            <a:off x="914400" y="2119952"/>
            <a:ext cx="533400" cy="1905000"/>
          </a:xfrm>
          <a:prstGeom prst="curvedLeftArrow">
            <a:avLst>
              <a:gd name="adj1" fmla="val 71429"/>
              <a:gd name="adj2" fmla="val 142857"/>
              <a:gd name="adj3" fmla="val 33333"/>
            </a:avLst>
          </a:prstGeom>
          <a:solidFill>
            <a:srgbClr val="CCB374"/>
          </a:solidFill>
          <a:ln w="12700">
            <a:noFill/>
            <a:miter lim="800000"/>
            <a:headEnd/>
            <a:tailEnd/>
          </a:ln>
          <a:effec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outerShdw blurRad="38100" dist="38100" dir="2700000" algn="tl">
                  <a:srgbClr val="000000">
                    <a:alpha val="43137"/>
                  </a:srgbClr>
                </a:outerShdw>
              </a:effectLst>
              <a:uLnTx/>
              <a:uFillTx/>
            </a:endParaRPr>
          </a:p>
        </p:txBody>
      </p:sp>
      <p:sp>
        <p:nvSpPr>
          <p:cNvPr id="29" name="AutoShape 12"/>
          <p:cNvSpPr>
            <a:spLocks noChangeArrowheads="1"/>
          </p:cNvSpPr>
          <p:nvPr/>
        </p:nvSpPr>
        <p:spPr bwMode="auto">
          <a:xfrm flipH="1" flipV="1">
            <a:off x="228600" y="1967552"/>
            <a:ext cx="533400" cy="1905000"/>
          </a:xfrm>
          <a:prstGeom prst="curvedLeftArrow">
            <a:avLst>
              <a:gd name="adj1" fmla="val 71429"/>
              <a:gd name="adj2" fmla="val 142857"/>
              <a:gd name="adj3" fmla="val 33333"/>
            </a:avLst>
          </a:prstGeom>
          <a:solidFill>
            <a:srgbClr val="CCB374"/>
          </a:solidFill>
          <a:ln w="12700">
            <a:noFill/>
            <a:miter lim="800000"/>
            <a:headEnd/>
            <a:tailEnd/>
          </a:ln>
          <a:effec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outerShdw blurRad="38100" dist="38100" dir="2700000" algn="tl">
                  <a:srgbClr val="000000">
                    <a:alpha val="43137"/>
                  </a:srgbClr>
                </a:outerShdw>
              </a:effectLst>
              <a:uLnTx/>
              <a:uFillTx/>
            </a:endParaRPr>
          </a:p>
        </p:txBody>
      </p:sp>
      <p:sp>
        <p:nvSpPr>
          <p:cNvPr id="19" name="Leading Question"/>
          <p:cNvSpPr txBox="1"/>
          <p:nvPr/>
        </p:nvSpPr>
        <p:spPr>
          <a:xfrm>
            <a:off x="5683242" y="6477000"/>
            <a:ext cx="2743059" cy="246221"/>
          </a:xfrm>
          <a:prstGeom prst="rect">
            <a:avLst/>
          </a:prstGeom>
          <a:noFill/>
        </p:spPr>
        <p:txBody>
          <a:bodyPr vert="horz" wrap="none" lIns="0" tIns="0" rIns="0" bIns="0" rtlCol="0" anchor="b" anchorCtr="0">
            <a:spAutoFit/>
          </a:bodyPr>
          <a:lstStyle/>
          <a:p>
            <a:pPr algn="r">
              <a:spcBef>
                <a:spcPct val="0"/>
              </a:spcBef>
            </a:pPr>
            <a:r>
              <a:rPr lang="en-US" sz="2000" b="0" smtClean="0">
                <a:solidFill>
                  <a:schemeClr val="tx2"/>
                </a:solidFill>
                <a:latin typeface="Arial Narrow"/>
              </a:rPr>
              <a:t>How do we configure a Task?</a:t>
            </a:r>
            <a:endParaRPr lang="en-US" sz="2000" b="0" dirty="0" smtClean="0">
              <a:solidFill>
                <a:schemeClr val="tx2"/>
              </a:solidFill>
              <a:latin typeface="Arial Narrow"/>
            </a:endParaRPr>
          </a:p>
        </p:txBody>
      </p:sp>
      <p:pic>
        <p:nvPicPr>
          <p:cNvPr id="22" name="Animated Logo" descr="tilogo_color_twoline.png"/>
          <p:cNvPicPr>
            <a:picLocks noChangeAspect="1"/>
          </p:cNvPicPr>
          <p:nvPr/>
        </p:nvPicPr>
        <p:blipFill>
          <a:blip r:embed="rId2" cstate="print"/>
          <a:stretch>
            <a:fillRect/>
          </a:stretch>
        </p:blipFill>
        <p:spPr>
          <a:xfrm>
            <a:off x="50800" y="6477000"/>
            <a:ext cx="1438537" cy="347443"/>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685800"/>
            <a:ext cx="5562600" cy="5638800"/>
          </a:xfrm>
          <a:prstGeom prst="rect">
            <a:avLst/>
          </a:prstGeom>
          <a:solidFill>
            <a:srgbClr val="92D050"/>
          </a:solidFill>
          <a:ln w="19050">
            <a:solidFill>
              <a:schemeClr val="tx1"/>
            </a:solidFill>
            <a:miter lim="800000"/>
            <a:headEnd type="none" w="sm" len="sm"/>
            <a:tailEnd type="none" w="sm" len="sm"/>
          </a:ln>
          <a:effectLst>
            <a:outerShdw blurRad="50800" dist="101600" dir="2700000" algn="tl" rotWithShape="0">
              <a:prstClr val="black">
                <a:alpha val="40000"/>
              </a:prstClr>
            </a:outerShdw>
          </a:effectLst>
        </p:spPr>
        <p:txBody>
          <a:bodyPr wrap="none" tIns="36576" bIns="36576"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4" cstate="print"/>
          <a:srcRect/>
          <a:stretch>
            <a:fillRect/>
          </a:stretch>
        </p:blipFill>
        <p:spPr bwMode="auto">
          <a:xfrm>
            <a:off x="6160824" y="1153041"/>
            <a:ext cx="2819400" cy="4172713"/>
          </a:xfrm>
          <a:prstGeom prst="rect">
            <a:avLst/>
          </a:prstGeom>
          <a:noFill/>
        </p:spPr>
      </p:pic>
      <p:pic>
        <p:nvPicPr>
          <p:cNvPr id="9" name="Animated Logo" descr="tilogo_color_twoline.png"/>
          <p:cNvPicPr>
            <a:picLocks noChangeAspect="1"/>
          </p:cNvPicPr>
          <p:nvPr/>
        </p:nvPicPr>
        <p:blipFill>
          <a:blip r:embed="rId15"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6" action="ppaction://hlinksldjump"/>
          </p:cNvPr>
          <p:cNvSpPr txBox="1">
            <a:spLocks noChangeArrowheads="1"/>
          </p:cNvSpPr>
          <p:nvPr>
            <p:custDataLst>
              <p:tags r:id="rId2"/>
            </p:custDataLst>
          </p:nvPr>
        </p:nvSpPr>
        <p:spPr bwMode="auto">
          <a:xfrm>
            <a:off x="301576" y="780433"/>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Tasks</a:t>
            </a:r>
            <a:endParaRPr lang="en-US" sz="2800" dirty="0">
              <a:solidFill>
                <a:srgbClr val="000000"/>
              </a:solidFill>
            </a:endParaRPr>
          </a:p>
        </p:txBody>
      </p:sp>
      <p:sp>
        <p:nvSpPr>
          <p:cNvPr id="11" name="Text Box 6">
            <a:hlinkClick r:id="rId17" action="ppaction://hlinksldjump"/>
          </p:cNvPr>
          <p:cNvSpPr txBox="1">
            <a:spLocks noChangeArrowheads="1"/>
          </p:cNvSpPr>
          <p:nvPr>
            <p:custDataLst>
              <p:tags r:id="rId3"/>
            </p:custDataLst>
          </p:nvPr>
        </p:nvSpPr>
        <p:spPr bwMode="auto">
          <a:xfrm>
            <a:off x="805502" y="1319852"/>
            <a:ext cx="4667250" cy="366712"/>
          </a:xfrm>
          <a:prstGeom prst="rect">
            <a:avLst/>
          </a:prstGeom>
          <a:noFill/>
          <a:ln w="12700">
            <a:noFill/>
            <a:miter lim="800000"/>
            <a:headEnd type="none" w="sm" len="sm"/>
            <a:tailEnd type="none" w="sm" len="sm"/>
          </a:ln>
        </p:spPr>
        <p:txBody>
          <a:bodyPr tIns="18288" bIns="18288">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Intro</a:t>
            </a:r>
            <a:endParaRPr lang="en-US" dirty="0">
              <a:solidFill>
                <a:srgbClr val="000000"/>
              </a:solidFill>
            </a:endParaRPr>
          </a:p>
        </p:txBody>
      </p:sp>
      <p:sp>
        <p:nvSpPr>
          <p:cNvPr id="12" name="Text Box 6">
            <a:hlinkClick r:id="rId18" action="ppaction://hlinksldjump"/>
          </p:cNvPr>
          <p:cNvSpPr txBox="1">
            <a:spLocks noChangeArrowheads="1"/>
          </p:cNvSpPr>
          <p:nvPr>
            <p:custDataLst>
              <p:tags r:id="rId4"/>
            </p:custDataLst>
          </p:nvPr>
        </p:nvSpPr>
        <p:spPr bwMode="auto">
          <a:xfrm>
            <a:off x="805502" y="1725680"/>
            <a:ext cx="4667250" cy="366712"/>
          </a:xfrm>
          <a:prstGeom prst="rect">
            <a:avLst/>
          </a:prstGeom>
          <a:noFill/>
          <a:ln w="12700">
            <a:noFill/>
            <a:miter lim="800000"/>
            <a:headEnd type="none" w="sm" len="sm"/>
            <a:tailEnd type="none" w="sm" len="sm"/>
          </a:ln>
        </p:spPr>
        <p:txBody>
          <a:bodyPr tIns="18288" bIns="18288">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Task – Topology</a:t>
            </a:r>
            <a:endParaRPr lang="en-US" dirty="0">
              <a:solidFill>
                <a:srgbClr val="000000"/>
              </a:solidFill>
            </a:endParaRPr>
          </a:p>
        </p:txBody>
      </p:sp>
      <p:sp>
        <p:nvSpPr>
          <p:cNvPr id="13" name="Text Box 5">
            <a:hlinkClick r:id="rId19" action="ppaction://hlinksldjump"/>
          </p:cNvPr>
          <p:cNvSpPr txBox="1">
            <a:spLocks noChangeArrowheads="1"/>
          </p:cNvSpPr>
          <p:nvPr>
            <p:custDataLst>
              <p:tags r:id="rId5"/>
            </p:custDataLst>
          </p:nvPr>
        </p:nvSpPr>
        <p:spPr bwMode="auto">
          <a:xfrm>
            <a:off x="809625" y="2131508"/>
            <a:ext cx="4600575" cy="4062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Task – Configuration</a:t>
            </a:r>
            <a:endParaRPr lang="en-US" dirty="0">
              <a:solidFill>
                <a:srgbClr val="000000"/>
              </a:solidFill>
            </a:endParaRPr>
          </a:p>
        </p:txBody>
      </p:sp>
      <p:sp>
        <p:nvSpPr>
          <p:cNvPr id="14" name="Text Box 4">
            <a:hlinkClick r:id="rId20" action="ppaction://hlinksldjump"/>
          </p:cNvPr>
          <p:cNvSpPr txBox="1">
            <a:spLocks noChangeArrowheads="1"/>
          </p:cNvSpPr>
          <p:nvPr>
            <p:custDataLst>
              <p:tags r:id="rId6"/>
            </p:custDataLst>
          </p:nvPr>
        </p:nvSpPr>
        <p:spPr bwMode="auto">
          <a:xfrm>
            <a:off x="301576" y="2610387"/>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Swi vs. Task</a:t>
            </a:r>
            <a:endParaRPr lang="en-US" sz="2800" dirty="0">
              <a:solidFill>
                <a:srgbClr val="000000"/>
              </a:solidFill>
            </a:endParaRPr>
          </a:p>
        </p:txBody>
      </p:sp>
      <p:sp>
        <p:nvSpPr>
          <p:cNvPr id="15" name="Text Box 4">
            <a:hlinkClick r:id="rId21" action="ppaction://hlinksldjump"/>
          </p:cNvPr>
          <p:cNvSpPr txBox="1">
            <a:spLocks noChangeArrowheads="1"/>
          </p:cNvSpPr>
          <p:nvPr>
            <p:custDataLst>
              <p:tags r:id="rId7"/>
            </p:custDataLst>
          </p:nvPr>
        </p:nvSpPr>
        <p:spPr bwMode="auto">
          <a:xfrm>
            <a:off x="301576" y="3145204"/>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Semaphores</a:t>
            </a:r>
            <a:endParaRPr lang="en-US" sz="2800" dirty="0">
              <a:solidFill>
                <a:srgbClr val="000000"/>
              </a:solidFill>
            </a:endParaRPr>
          </a:p>
        </p:txBody>
      </p:sp>
      <p:sp>
        <p:nvSpPr>
          <p:cNvPr id="16" name="Text Box 4">
            <a:hlinkClick r:id="rId22" action="ppaction://hlinksldjump"/>
          </p:cNvPr>
          <p:cNvSpPr txBox="1">
            <a:spLocks noChangeArrowheads="1"/>
          </p:cNvSpPr>
          <p:nvPr>
            <p:custDataLst>
              <p:tags r:id="rId8"/>
            </p:custDataLst>
          </p:nvPr>
        </p:nvSpPr>
        <p:spPr bwMode="auto">
          <a:xfrm>
            <a:off x="301576" y="3680021"/>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Other Useful APIs…</a:t>
            </a:r>
            <a:endParaRPr lang="en-US" sz="2800" dirty="0">
              <a:solidFill>
                <a:srgbClr val="000000"/>
              </a:solidFill>
            </a:endParaRPr>
          </a:p>
        </p:txBody>
      </p:sp>
      <p:sp>
        <p:nvSpPr>
          <p:cNvPr id="17" name="Text Box 4">
            <a:hlinkClick r:id="rId23" action="ppaction://hlinksldjump"/>
          </p:cNvPr>
          <p:cNvSpPr txBox="1">
            <a:spLocks noChangeArrowheads="1"/>
          </p:cNvSpPr>
          <p:nvPr>
            <p:custDataLst>
              <p:tags r:id="rId9"/>
            </p:custDataLst>
          </p:nvPr>
        </p:nvSpPr>
        <p:spPr bwMode="auto">
          <a:xfrm>
            <a:off x="301576" y="4214838"/>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Events</a:t>
            </a:r>
            <a:endParaRPr lang="en-US" sz="2800" dirty="0">
              <a:solidFill>
                <a:srgbClr val="000000"/>
              </a:solidFill>
            </a:endParaRPr>
          </a:p>
        </p:txBody>
      </p:sp>
      <p:sp>
        <p:nvSpPr>
          <p:cNvPr id="18" name="Text Box 4">
            <a:hlinkClick r:id="rId24" action="ppaction://hlinksldjump"/>
          </p:cNvPr>
          <p:cNvSpPr txBox="1">
            <a:spLocks noChangeArrowheads="1"/>
          </p:cNvSpPr>
          <p:nvPr>
            <p:custDataLst>
              <p:tags r:id="rId10"/>
            </p:custDataLst>
          </p:nvPr>
        </p:nvSpPr>
        <p:spPr bwMode="auto">
          <a:xfrm>
            <a:off x="301576" y="4749655"/>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9" name="Text Box 4">
            <a:hlinkClick r:id="rId25" action="ppaction://hlinksldjump"/>
          </p:cNvPr>
          <p:cNvSpPr txBox="1">
            <a:spLocks noChangeArrowheads="1"/>
          </p:cNvSpPr>
          <p:nvPr>
            <p:custDataLst>
              <p:tags r:id="rId11"/>
            </p:custDataLst>
          </p:nvPr>
        </p:nvSpPr>
        <p:spPr bwMode="auto">
          <a:xfrm>
            <a:off x="301576" y="5284472"/>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Memory Footprint</a:t>
            </a:r>
            <a:endParaRPr lang="en-US" sz="2800" dirty="0">
              <a:solidFill>
                <a:srgbClr val="000000"/>
              </a:solidFill>
            </a:endParaRPr>
          </a:p>
        </p:txBody>
      </p:sp>
      <p:sp>
        <p:nvSpPr>
          <p:cNvPr id="20" name="Text Box 4">
            <a:hlinkClick r:id="rId26" action="ppaction://hlinksldjump"/>
          </p:cNvPr>
          <p:cNvSpPr txBox="1">
            <a:spLocks noChangeArrowheads="1"/>
          </p:cNvSpPr>
          <p:nvPr>
            <p:custDataLst>
              <p:tags r:id="rId12"/>
            </p:custDataLst>
          </p:nvPr>
        </p:nvSpPr>
        <p:spPr bwMode="auto">
          <a:xfrm>
            <a:off x="301576" y="5819289"/>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126268965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dirty="0" smtClean="0"/>
              <a:t>Configuring a </a:t>
            </a:r>
            <a:r>
              <a:rPr lang="en-US" i="1" u="sng" dirty="0" smtClean="0"/>
              <a:t>Task</a:t>
            </a:r>
            <a:r>
              <a:rPr lang="en-US" dirty="0" smtClean="0"/>
              <a:t> – Statically via the GUI</a:t>
            </a:r>
          </a:p>
        </p:txBody>
      </p:sp>
      <p:sp>
        <p:nvSpPr>
          <p:cNvPr id="368651" name="Oval 11"/>
          <p:cNvSpPr>
            <a:spLocks noChangeArrowheads="1"/>
          </p:cNvSpPr>
          <p:nvPr/>
        </p:nvSpPr>
        <p:spPr bwMode="auto">
          <a:xfrm>
            <a:off x="228600" y="1219200"/>
            <a:ext cx="381000" cy="381000"/>
          </a:xfrm>
          <a:prstGeom prst="ellipse">
            <a:avLst/>
          </a:prstGeom>
          <a:solidFill>
            <a:schemeClr val="accent3"/>
          </a:solidFill>
          <a:ln w="12700">
            <a:solidFill>
              <a:schemeClr val="tx1"/>
            </a:solidFill>
            <a:round/>
            <a:headEnd/>
            <a:tailEnd/>
          </a:ln>
          <a:effectLst/>
        </p:spPr>
        <p:txBody>
          <a:bodyPr wrap="none" anchor="ctr">
            <a:spAutoFit/>
          </a:bodyPr>
          <a:lstStyle/>
          <a:p>
            <a:pPr>
              <a:defRPr/>
            </a:pPr>
            <a:endParaRPr lang="en-US">
              <a:solidFill>
                <a:srgbClr val="000000"/>
              </a:solidFill>
              <a:effectLst>
                <a:outerShdw blurRad="38100" dist="38100" dir="2700000" algn="tl">
                  <a:srgbClr val="000000">
                    <a:alpha val="43137"/>
                  </a:srgbClr>
                </a:outerShdw>
              </a:effectLst>
            </a:endParaRPr>
          </a:p>
        </p:txBody>
      </p:sp>
      <p:sp>
        <p:nvSpPr>
          <p:cNvPr id="16389" name="Text Box 12"/>
          <p:cNvSpPr txBox="1">
            <a:spLocks noChangeArrowheads="1"/>
          </p:cNvSpPr>
          <p:nvPr/>
        </p:nvSpPr>
        <p:spPr bwMode="auto">
          <a:xfrm>
            <a:off x="247650" y="1225550"/>
            <a:ext cx="354013" cy="384175"/>
          </a:xfrm>
          <a:prstGeom prst="rect">
            <a:avLst/>
          </a:prstGeom>
          <a:noFill/>
          <a:ln w="12700">
            <a:noFill/>
            <a:miter lim="800000"/>
            <a:headEnd/>
            <a:tailEnd/>
          </a:ln>
        </p:spPr>
        <p:txBody>
          <a:bodyPr wrap="none">
            <a:spAutoFit/>
          </a:bodyPr>
          <a:lstStyle/>
          <a:p>
            <a:r>
              <a:rPr lang="en-US">
                <a:solidFill>
                  <a:srgbClr val="000000"/>
                </a:solidFill>
              </a:rPr>
              <a:t>1</a:t>
            </a:r>
          </a:p>
        </p:txBody>
      </p:sp>
      <p:sp>
        <p:nvSpPr>
          <p:cNvPr id="16390" name="Text Box 13"/>
          <p:cNvSpPr txBox="1">
            <a:spLocks noChangeArrowheads="1"/>
          </p:cNvSpPr>
          <p:nvPr/>
        </p:nvSpPr>
        <p:spPr bwMode="auto">
          <a:xfrm>
            <a:off x="641350" y="1263650"/>
            <a:ext cx="6925486" cy="338554"/>
          </a:xfrm>
          <a:prstGeom prst="rect">
            <a:avLst/>
          </a:prstGeom>
          <a:noFill/>
          <a:ln w="12700">
            <a:noFill/>
            <a:miter lim="800000"/>
            <a:headEnd/>
            <a:tailEnd/>
          </a:ln>
        </p:spPr>
        <p:txBody>
          <a:bodyPr wrap="none">
            <a:spAutoFit/>
          </a:bodyPr>
          <a:lstStyle/>
          <a:p>
            <a:r>
              <a:rPr lang="en-US" sz="2000" dirty="0" smtClean="0">
                <a:solidFill>
                  <a:srgbClr val="000000"/>
                </a:solidFill>
                <a:latin typeface="Calibri" pitchFamily="34" charset="0"/>
                <a:cs typeface="Calibri" pitchFamily="34" charset="0"/>
              </a:rPr>
              <a:t>Use Task module </a:t>
            </a:r>
            <a:r>
              <a:rPr lang="en-US" sz="1800" b="0" i="1" dirty="0" smtClean="0">
                <a:solidFill>
                  <a:srgbClr val="000000"/>
                </a:solidFill>
                <a:latin typeface="Calibri" pitchFamily="34" charset="0"/>
                <a:cs typeface="Calibri" pitchFamily="34" charset="0"/>
              </a:rPr>
              <a:t>(Available Products) </a:t>
            </a:r>
            <a:r>
              <a:rPr lang="en-US" sz="2000" smtClean="0">
                <a:solidFill>
                  <a:srgbClr val="000000"/>
                </a:solidFill>
                <a:latin typeface="Calibri" pitchFamily="34" charset="0"/>
                <a:cs typeface="Calibri" pitchFamily="34" charset="0"/>
              </a:rPr>
              <a:t>, Add </a:t>
            </a:r>
            <a:r>
              <a:rPr lang="en-US" sz="2000" dirty="0" smtClean="0">
                <a:solidFill>
                  <a:srgbClr val="000000"/>
                </a:solidFill>
                <a:latin typeface="Calibri" pitchFamily="34" charset="0"/>
                <a:cs typeface="Calibri" pitchFamily="34" charset="0"/>
              </a:rPr>
              <a:t>new Task </a:t>
            </a:r>
            <a:r>
              <a:rPr lang="en-US" sz="1800" b="0" i="1" dirty="0" smtClean="0">
                <a:solidFill>
                  <a:srgbClr val="000000"/>
                </a:solidFill>
                <a:latin typeface="Calibri" pitchFamily="34" charset="0"/>
                <a:cs typeface="Calibri" pitchFamily="34" charset="0"/>
              </a:rPr>
              <a:t>(Outline View)</a:t>
            </a:r>
            <a:endParaRPr lang="en-US" sz="1800" b="0" i="1" dirty="0">
              <a:solidFill>
                <a:srgbClr val="000000"/>
              </a:solidFill>
              <a:latin typeface="Calibri" pitchFamily="34" charset="0"/>
              <a:cs typeface="Calibri" pitchFamily="34" charset="0"/>
            </a:endParaRPr>
          </a:p>
        </p:txBody>
      </p:sp>
      <p:sp>
        <p:nvSpPr>
          <p:cNvPr id="16410" name="Text Box 16"/>
          <p:cNvSpPr txBox="1">
            <a:spLocks noChangeArrowheads="1"/>
          </p:cNvSpPr>
          <p:nvPr/>
        </p:nvSpPr>
        <p:spPr bwMode="auto">
          <a:xfrm>
            <a:off x="1215470" y="605477"/>
            <a:ext cx="6709330" cy="412750"/>
          </a:xfrm>
          <a:prstGeom prst="rect">
            <a:avLst/>
          </a:prstGeom>
          <a:solidFill>
            <a:schemeClr val="accent4">
              <a:lumMod val="20000"/>
              <a:lumOff val="80000"/>
            </a:schemeClr>
          </a:solidFill>
          <a:ln w="12700">
            <a:noFill/>
            <a:miter lim="800000"/>
            <a:headEnd/>
            <a:tailEnd/>
          </a:ln>
        </p:spPr>
        <p:txBody>
          <a:bodyPr wrap="none" anchor="ctr" anchorCtr="1"/>
          <a:lstStyle/>
          <a:p>
            <a:r>
              <a:rPr lang="en-US" sz="2000" b="0" u="sng">
                <a:solidFill>
                  <a:srgbClr val="000000"/>
                </a:solidFill>
                <a:latin typeface="Calibri" pitchFamily="34" charset="0"/>
                <a:cs typeface="Calibri" pitchFamily="34" charset="0"/>
              </a:rPr>
              <a:t>Example</a:t>
            </a:r>
            <a:r>
              <a:rPr lang="en-US" sz="2000" b="0" smtClean="0">
                <a:solidFill>
                  <a:srgbClr val="000000"/>
                </a:solidFill>
                <a:latin typeface="Calibri" pitchFamily="34" charset="0"/>
                <a:cs typeface="Calibri" pitchFamily="34" charset="0"/>
              </a:rPr>
              <a:t>: Create </a:t>
            </a:r>
            <a:r>
              <a:rPr lang="en-US" sz="2000" smtClean="0">
                <a:solidFill>
                  <a:srgbClr val="000000"/>
                </a:solidFill>
                <a:latin typeface="Calibri" pitchFamily="34" charset="0"/>
                <a:cs typeface="Calibri" pitchFamily="34" charset="0"/>
              </a:rPr>
              <a:t>ledToggleTask</a:t>
            </a:r>
            <a:r>
              <a:rPr lang="en-US" sz="2000" b="0" smtClean="0">
                <a:solidFill>
                  <a:srgbClr val="000000"/>
                </a:solidFill>
                <a:latin typeface="Calibri" pitchFamily="34" charset="0"/>
                <a:cs typeface="Calibri" pitchFamily="34" charset="0"/>
              </a:rPr>
              <a:t>, tie to </a:t>
            </a:r>
            <a:r>
              <a:rPr lang="en-US" sz="2000" smtClean="0">
                <a:solidFill>
                  <a:srgbClr val="000000"/>
                </a:solidFill>
                <a:latin typeface="Calibri" pitchFamily="34" charset="0"/>
                <a:cs typeface="Calibri" pitchFamily="34" charset="0"/>
              </a:rPr>
              <a:t>ledToggle()</a:t>
            </a:r>
            <a:r>
              <a:rPr lang="en-US" sz="2000" b="0" smtClean="0">
                <a:solidFill>
                  <a:srgbClr val="000000"/>
                </a:solidFill>
                <a:latin typeface="Calibri" pitchFamily="34" charset="0"/>
                <a:cs typeface="Calibri" pitchFamily="34" charset="0"/>
              </a:rPr>
              <a:t>, priority 1</a:t>
            </a:r>
          </a:p>
        </p:txBody>
      </p:sp>
      <p:sp>
        <p:nvSpPr>
          <p:cNvPr id="39" name="Oval 11"/>
          <p:cNvSpPr>
            <a:spLocks noChangeArrowheads="1"/>
          </p:cNvSpPr>
          <p:nvPr/>
        </p:nvSpPr>
        <p:spPr bwMode="auto">
          <a:xfrm>
            <a:off x="228600" y="3667411"/>
            <a:ext cx="381000" cy="381000"/>
          </a:xfrm>
          <a:prstGeom prst="ellipse">
            <a:avLst/>
          </a:prstGeom>
          <a:solidFill>
            <a:schemeClr val="accent3"/>
          </a:solidFill>
          <a:ln w="12700">
            <a:solidFill>
              <a:schemeClr val="tx1"/>
            </a:solidFill>
            <a:round/>
            <a:headEnd/>
            <a:tailEnd/>
          </a:ln>
          <a:effectLst/>
        </p:spPr>
        <p:txBody>
          <a:bodyPr wrap="none" anchor="ctr">
            <a:spAutoFit/>
          </a:bodyPr>
          <a:lstStyle/>
          <a:p>
            <a:pPr>
              <a:defRPr/>
            </a:pPr>
            <a:endParaRPr lang="en-US">
              <a:solidFill>
                <a:srgbClr val="000000"/>
              </a:solidFill>
              <a:effectLst>
                <a:outerShdw blurRad="38100" dist="38100" dir="2700000" algn="tl">
                  <a:srgbClr val="000000">
                    <a:alpha val="43137"/>
                  </a:srgbClr>
                </a:outerShdw>
              </a:effectLst>
            </a:endParaRPr>
          </a:p>
        </p:txBody>
      </p:sp>
      <p:sp>
        <p:nvSpPr>
          <p:cNvPr id="40" name="Text Box 12"/>
          <p:cNvSpPr txBox="1">
            <a:spLocks noChangeArrowheads="1"/>
          </p:cNvSpPr>
          <p:nvPr/>
        </p:nvSpPr>
        <p:spPr bwMode="auto">
          <a:xfrm>
            <a:off x="247650" y="3673761"/>
            <a:ext cx="354013" cy="384175"/>
          </a:xfrm>
          <a:prstGeom prst="rect">
            <a:avLst/>
          </a:prstGeom>
          <a:noFill/>
          <a:ln w="12700">
            <a:noFill/>
            <a:miter lim="800000"/>
            <a:headEnd/>
            <a:tailEnd/>
          </a:ln>
        </p:spPr>
        <p:txBody>
          <a:bodyPr wrap="none">
            <a:spAutoFit/>
          </a:bodyPr>
          <a:lstStyle/>
          <a:p>
            <a:r>
              <a:rPr lang="en-US" dirty="0" smtClean="0">
                <a:solidFill>
                  <a:srgbClr val="000000"/>
                </a:solidFill>
              </a:rPr>
              <a:t>2</a:t>
            </a:r>
            <a:endParaRPr lang="en-US" dirty="0">
              <a:solidFill>
                <a:srgbClr val="000000"/>
              </a:solidFill>
            </a:endParaRPr>
          </a:p>
        </p:txBody>
      </p:sp>
      <p:sp>
        <p:nvSpPr>
          <p:cNvPr id="41" name="Text Box 13"/>
          <p:cNvSpPr txBox="1">
            <a:spLocks noChangeArrowheads="1"/>
          </p:cNvSpPr>
          <p:nvPr/>
        </p:nvSpPr>
        <p:spPr bwMode="auto">
          <a:xfrm>
            <a:off x="641350" y="3711861"/>
            <a:ext cx="6444778" cy="344710"/>
          </a:xfrm>
          <a:prstGeom prst="rect">
            <a:avLst/>
          </a:prstGeom>
          <a:noFill/>
          <a:ln w="12700">
            <a:noFill/>
            <a:miter lim="800000"/>
            <a:headEnd/>
            <a:tailEnd/>
          </a:ln>
        </p:spPr>
        <p:txBody>
          <a:bodyPr wrap="none">
            <a:spAutoFit/>
          </a:bodyPr>
          <a:lstStyle/>
          <a:p>
            <a:r>
              <a:rPr lang="en-US" sz="2000" dirty="0">
                <a:solidFill>
                  <a:srgbClr val="000000"/>
                </a:solidFill>
                <a:latin typeface="Calibri" pitchFamily="34" charset="0"/>
                <a:cs typeface="Calibri" pitchFamily="34" charset="0"/>
              </a:rPr>
              <a:t>Configure </a:t>
            </a:r>
            <a:r>
              <a:rPr lang="en-US" sz="2000" dirty="0" smtClean="0">
                <a:solidFill>
                  <a:srgbClr val="000000"/>
                </a:solidFill>
                <a:latin typeface="Calibri" pitchFamily="34" charset="0"/>
                <a:cs typeface="Calibri" pitchFamily="34" charset="0"/>
              </a:rPr>
              <a:t>Task – Object name, function, priority, stack size:</a:t>
            </a:r>
            <a:endParaRPr lang="en-US" sz="2000" dirty="0">
              <a:solidFill>
                <a:srgbClr val="000000"/>
              </a:solidFill>
              <a:latin typeface="Calibri" pitchFamily="34" charset="0"/>
              <a:cs typeface="Calibri" pitchFamily="34" charset="0"/>
            </a:endParaRPr>
          </a:p>
        </p:txBody>
      </p:sp>
      <p:sp>
        <p:nvSpPr>
          <p:cNvPr id="45" name="Right Arrow 44"/>
          <p:cNvSpPr/>
          <p:nvPr/>
        </p:nvSpPr>
        <p:spPr bwMode="auto">
          <a:xfrm>
            <a:off x="3084416" y="2286000"/>
            <a:ext cx="533400" cy="457200"/>
          </a:xfrm>
          <a:prstGeom prst="rightArrow">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400" b="1"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endParaRPr>
          </a:p>
        </p:txBody>
      </p:sp>
      <p:sp>
        <p:nvSpPr>
          <p:cNvPr id="20" name="TextBox 19"/>
          <p:cNvSpPr txBox="1"/>
          <p:nvPr/>
        </p:nvSpPr>
        <p:spPr>
          <a:xfrm>
            <a:off x="5656089" y="4446265"/>
            <a:ext cx="2860078" cy="923330"/>
          </a:xfrm>
          <a:prstGeom prst="rect">
            <a:avLst/>
          </a:prstGeom>
          <a:solidFill>
            <a:schemeClr val="accent3">
              <a:lumMod val="40000"/>
              <a:lumOff val="60000"/>
            </a:schemeClr>
          </a:solidFill>
          <a:ln w="12700">
            <a:solidFill>
              <a:schemeClr val="tx1"/>
            </a:solidFill>
          </a:ln>
          <a:effectLst>
            <a:outerShdw blurRad="50800" dist="76200" dir="2700000" algn="tl" rotWithShape="0">
              <a:prstClr val="black">
                <a:alpha val="40000"/>
              </a:prstClr>
            </a:outerShdw>
          </a:effectLst>
        </p:spPr>
        <p:txBody>
          <a:bodyPr wrap="none" rtlCol="0" anchor="ctr" anchorCtr="0">
            <a:spAutoFit/>
          </a:bodyPr>
          <a:lstStyle/>
          <a:p>
            <a:pPr algn="ctr">
              <a:lnSpc>
                <a:spcPct val="100000"/>
              </a:lnSpc>
              <a:spcBef>
                <a:spcPts val="1200"/>
              </a:spcBef>
            </a:pPr>
            <a:r>
              <a:rPr lang="en-US" sz="1800" b="0" dirty="0" smtClean="0">
                <a:solidFill>
                  <a:schemeClr val="dk1"/>
                </a:solidFill>
                <a:effectLst/>
                <a:latin typeface="Arial Narrow" pitchFamily="34" charset="0"/>
              </a:rPr>
              <a:t>Remember, BIOS objects</a:t>
            </a:r>
            <a:br>
              <a:rPr lang="en-US" sz="1800" b="0" dirty="0" smtClean="0">
                <a:solidFill>
                  <a:schemeClr val="dk1"/>
                </a:solidFill>
                <a:effectLst/>
                <a:latin typeface="Arial Narrow" pitchFamily="34" charset="0"/>
              </a:rPr>
            </a:br>
            <a:r>
              <a:rPr lang="en-US" sz="1800" b="0" dirty="0" smtClean="0">
                <a:solidFill>
                  <a:schemeClr val="dk1"/>
                </a:solidFill>
                <a:effectLst/>
                <a:latin typeface="Arial Narrow" pitchFamily="34" charset="0"/>
              </a:rPr>
              <a:t>can be created via the GUI,</a:t>
            </a:r>
            <a:br>
              <a:rPr lang="en-US" sz="1800" b="0" dirty="0" smtClean="0">
                <a:solidFill>
                  <a:schemeClr val="dk1"/>
                </a:solidFill>
                <a:effectLst/>
                <a:latin typeface="Arial Narrow" pitchFamily="34" charset="0"/>
              </a:rPr>
            </a:br>
            <a:r>
              <a:rPr lang="en-US" sz="1800" b="0" dirty="0" smtClean="0">
                <a:solidFill>
                  <a:schemeClr val="dk1"/>
                </a:solidFill>
                <a:effectLst/>
                <a:latin typeface="Arial Narrow" pitchFamily="34" charset="0"/>
              </a:rPr>
              <a:t>script code or C code (dynamic)</a:t>
            </a:r>
          </a:p>
        </p:txBody>
      </p:sp>
      <p:pic>
        <p:nvPicPr>
          <p:cNvPr id="24"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
        <p:nvSpPr>
          <p:cNvPr id="3" name="Leading Question"/>
          <p:cNvSpPr txBox="1"/>
          <p:nvPr/>
        </p:nvSpPr>
        <p:spPr>
          <a:xfrm>
            <a:off x="6324600" y="5867400"/>
            <a:ext cx="2340704" cy="492443"/>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ctr">
              <a:spcBef>
                <a:spcPct val="0"/>
              </a:spcBef>
            </a:pPr>
            <a:r>
              <a:rPr lang="en-US" sz="2000" b="0" dirty="0" smtClean="0">
                <a:solidFill>
                  <a:schemeClr val="tx2"/>
                </a:solidFill>
                <a:effectLst/>
                <a:latin typeface="Arial Narrow"/>
              </a:rPr>
              <a:t>Can you change a Task's</a:t>
            </a:r>
            <a:br>
              <a:rPr lang="en-US" sz="2000" b="0" dirty="0" smtClean="0">
                <a:solidFill>
                  <a:schemeClr val="tx2"/>
                </a:solidFill>
                <a:effectLst/>
                <a:latin typeface="Arial Narrow"/>
              </a:rPr>
            </a:br>
            <a:r>
              <a:rPr lang="en-US" sz="2000" b="0" dirty="0" smtClean="0">
                <a:solidFill>
                  <a:schemeClr val="tx2"/>
                </a:solidFill>
                <a:effectLst/>
                <a:latin typeface="Arial Narrow"/>
              </a:rPr>
              <a:t>priority during runtime?</a:t>
            </a:r>
          </a:p>
        </p:txBody>
      </p:sp>
      <p:pic>
        <p:nvPicPr>
          <p:cNvPr id="2050" name="Picture 2" descr="C:\Users\a0159877\AppData\Local\Temp\SNAGHTML11a025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5928" y="1611164"/>
            <a:ext cx="1838367" cy="205624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a0159877\AppData\Local\Temp\SNAGHTML11b4954.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0346" y="1880196"/>
            <a:ext cx="2752854" cy="149177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Users\a0159877\AppData\Local\Temp\SNAGHTML11f0d5e.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8068" y="4056570"/>
            <a:ext cx="3206098" cy="256225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953536" y="6019800"/>
            <a:ext cx="2139432" cy="387798"/>
          </a:xfrm>
          <a:prstGeom prst="rect">
            <a:avLst/>
          </a:prstGeom>
          <a:noFill/>
        </p:spPr>
        <p:txBody>
          <a:bodyPr wrap="none" rtlCol="0" anchor="ctr" anchorCtr="0">
            <a:spAutoFit/>
          </a:bodyPr>
          <a:lstStyle/>
          <a:p>
            <a:r>
              <a:rPr lang="en-US" smtClean="0">
                <a:effectLst/>
              </a:rPr>
              <a:t>} </a:t>
            </a:r>
            <a:r>
              <a:rPr lang="en-US" sz="1800" b="0" smtClean="0">
                <a:effectLst/>
                <a:latin typeface="Calibri" pitchFamily="34" charset="0"/>
                <a:cs typeface="Calibri" pitchFamily="34" charset="0"/>
              </a:rPr>
              <a:t>System dependent</a:t>
            </a:r>
            <a:endParaRPr lang="en-US" sz="1800" b="0" dirty="0" smtClean="0">
              <a:effectLst/>
              <a:latin typeface="Calibri" pitchFamily="34" charset="0"/>
              <a:cs typeface="Calibri" pitchFamily="34" charset="0"/>
            </a:endParaRPr>
          </a:p>
        </p:txBody>
      </p:sp>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dirty="0" smtClean="0"/>
              <a:t>Modification of a Task’s Priority</a:t>
            </a:r>
          </a:p>
        </p:txBody>
      </p:sp>
      <p:sp>
        <p:nvSpPr>
          <p:cNvPr id="15363" name="Rectangle 3"/>
          <p:cNvSpPr>
            <a:spLocks noGrp="1" noChangeArrowheads="1"/>
          </p:cNvSpPr>
          <p:nvPr>
            <p:ph idx="1"/>
          </p:nvPr>
        </p:nvSpPr>
        <p:spPr>
          <a:xfrm>
            <a:off x="304800" y="2510515"/>
            <a:ext cx="8610600" cy="2592121"/>
          </a:xfrm>
          <a:noFill/>
        </p:spPr>
        <p:txBody>
          <a:bodyPr anchorCtr="0">
            <a:normAutofit/>
          </a:bodyPr>
          <a:lstStyle/>
          <a:p>
            <a:pPr marL="404813" indent="-404813">
              <a:lnSpc>
                <a:spcPct val="90000"/>
              </a:lnSpc>
            </a:pPr>
            <a:r>
              <a:rPr lang="en-US" sz="2400" b="0" i="1" dirty="0" err="1" smtClean="0">
                <a:solidFill>
                  <a:srgbClr val="FF0000"/>
                </a:solidFill>
                <a:latin typeface="Calibri" pitchFamily="34" charset="0"/>
                <a:cs typeface="Calibri" pitchFamily="34" charset="0"/>
              </a:rPr>
              <a:t>Task_setPri</a:t>
            </a:r>
            <a:r>
              <a:rPr lang="en-US" sz="2400" b="0" i="1" dirty="0" smtClean="0">
                <a:solidFill>
                  <a:srgbClr val="FF0000"/>
                </a:solidFill>
                <a:latin typeface="Calibri" pitchFamily="34" charset="0"/>
                <a:cs typeface="Calibri" pitchFamily="34" charset="0"/>
              </a:rPr>
              <a:t>()</a:t>
            </a:r>
            <a:r>
              <a:rPr lang="en-US" sz="2400" b="0" dirty="0" smtClean="0">
                <a:latin typeface="Calibri" pitchFamily="34" charset="0"/>
                <a:cs typeface="Calibri" pitchFamily="34" charset="0"/>
              </a:rPr>
              <a:t> can raise </a:t>
            </a:r>
            <a:r>
              <a:rPr lang="en-US" sz="2400" dirty="0" smtClean="0">
                <a:latin typeface="Calibri" pitchFamily="34" charset="0"/>
                <a:cs typeface="Calibri" pitchFamily="34" charset="0"/>
              </a:rPr>
              <a:t>or</a:t>
            </a:r>
            <a:r>
              <a:rPr lang="en-US" sz="2400" b="0" dirty="0" smtClean="0">
                <a:latin typeface="Calibri" pitchFamily="34" charset="0"/>
                <a:cs typeface="Calibri" pitchFamily="34" charset="0"/>
              </a:rPr>
              <a:t> </a:t>
            </a:r>
            <a:r>
              <a:rPr lang="en-US" sz="2400" b="0" smtClean="0">
                <a:latin typeface="Calibri" pitchFamily="34" charset="0"/>
                <a:cs typeface="Calibri" pitchFamily="34" charset="0"/>
              </a:rPr>
              <a:t>lower priority (because Tasks have their own stack)</a:t>
            </a:r>
            <a:endParaRPr lang="en-US" sz="2400" b="0" dirty="0" smtClean="0">
              <a:latin typeface="Calibri" pitchFamily="34" charset="0"/>
              <a:cs typeface="Calibri" pitchFamily="34" charset="0"/>
            </a:endParaRPr>
          </a:p>
          <a:p>
            <a:pPr marL="404813" indent="-404813">
              <a:lnSpc>
                <a:spcPct val="90000"/>
              </a:lnSpc>
            </a:pPr>
            <a:r>
              <a:rPr lang="en-US" sz="2400" b="0" dirty="0" smtClean="0">
                <a:latin typeface="Calibri" pitchFamily="34" charset="0"/>
                <a:cs typeface="Calibri" pitchFamily="34" charset="0"/>
              </a:rPr>
              <a:t>Return argument of </a:t>
            </a:r>
            <a:r>
              <a:rPr lang="en-US" sz="2400" b="0" i="1" dirty="0" err="1" smtClean="0">
                <a:solidFill>
                  <a:srgbClr val="FF0000"/>
                </a:solidFill>
                <a:latin typeface="Calibri" pitchFamily="34" charset="0"/>
                <a:cs typeface="Calibri" pitchFamily="34" charset="0"/>
              </a:rPr>
              <a:t>Task_setPri</a:t>
            </a:r>
            <a:r>
              <a:rPr lang="en-US" sz="2400" b="0" i="1" dirty="0" smtClean="0">
                <a:solidFill>
                  <a:srgbClr val="FF0000"/>
                </a:solidFill>
                <a:latin typeface="Calibri" pitchFamily="34" charset="0"/>
                <a:cs typeface="Calibri" pitchFamily="34" charset="0"/>
              </a:rPr>
              <a:t>()</a:t>
            </a:r>
            <a:r>
              <a:rPr lang="en-US" sz="2400" b="0" i="1" dirty="0" smtClean="0">
                <a:latin typeface="Calibri" pitchFamily="34" charset="0"/>
                <a:cs typeface="Calibri" pitchFamily="34" charset="0"/>
              </a:rPr>
              <a:t> </a:t>
            </a:r>
            <a:r>
              <a:rPr lang="en-US" sz="2400" b="0" dirty="0" smtClean="0">
                <a:latin typeface="Calibri" pitchFamily="34" charset="0"/>
                <a:cs typeface="Calibri" pitchFamily="34" charset="0"/>
              </a:rPr>
              <a:t>is previous priority</a:t>
            </a:r>
          </a:p>
          <a:p>
            <a:pPr marL="404813" indent="-404813"/>
            <a:r>
              <a:rPr lang="en-US" sz="2400" b="0" dirty="0" smtClean="0">
                <a:latin typeface="Calibri" pitchFamily="34" charset="0"/>
                <a:cs typeface="Calibri" pitchFamily="34" charset="0"/>
              </a:rPr>
              <a:t>New priority remains until </a:t>
            </a:r>
            <a:r>
              <a:rPr lang="en-US" sz="2400" b="0" smtClean="0">
                <a:latin typeface="Calibri" pitchFamily="34" charset="0"/>
                <a:cs typeface="Calibri" pitchFamily="34" charset="0"/>
              </a:rPr>
              <a:t>set again</a:t>
            </a:r>
            <a:endParaRPr lang="en-US" sz="2400" b="0" dirty="0" smtClean="0">
              <a:latin typeface="Calibri" pitchFamily="34" charset="0"/>
              <a:cs typeface="Calibri" pitchFamily="34" charset="0"/>
            </a:endParaRPr>
          </a:p>
          <a:p>
            <a:pPr marL="404813" indent="-404813"/>
            <a:r>
              <a:rPr lang="en-US" sz="2400" b="0" dirty="0" smtClean="0">
                <a:latin typeface="Calibri" pitchFamily="34" charset="0"/>
                <a:cs typeface="Calibri" pitchFamily="34" charset="0"/>
              </a:rPr>
              <a:t>Can also use </a:t>
            </a:r>
            <a:r>
              <a:rPr lang="en-US" sz="2400" b="0" dirty="0" err="1" smtClean="0">
                <a:solidFill>
                  <a:srgbClr val="FF0000"/>
                </a:solidFill>
                <a:latin typeface="Calibri" pitchFamily="34" charset="0"/>
                <a:cs typeface="Calibri" pitchFamily="34" charset="0"/>
              </a:rPr>
              <a:t>Task_getPri</a:t>
            </a:r>
            <a:r>
              <a:rPr lang="en-US" sz="2400" b="0" dirty="0" smtClean="0">
                <a:solidFill>
                  <a:srgbClr val="FF0000"/>
                </a:solidFill>
                <a:latin typeface="Calibri" pitchFamily="34" charset="0"/>
                <a:cs typeface="Calibri" pitchFamily="34" charset="0"/>
              </a:rPr>
              <a:t>()</a:t>
            </a:r>
            <a:r>
              <a:rPr lang="en-US" sz="2400" b="0" dirty="0" smtClean="0">
                <a:latin typeface="Calibri" pitchFamily="34" charset="0"/>
                <a:cs typeface="Calibri" pitchFamily="34" charset="0"/>
              </a:rPr>
              <a:t> to get a Task’s current priority</a:t>
            </a:r>
          </a:p>
          <a:p>
            <a:pPr marL="404813" indent="-404813"/>
            <a:r>
              <a:rPr lang="en-US" sz="2400" b="0" dirty="0" smtClean="0">
                <a:latin typeface="Calibri" pitchFamily="34" charset="0"/>
                <a:cs typeface="Calibri" pitchFamily="34" charset="0"/>
              </a:rPr>
              <a:t>To </a:t>
            </a:r>
            <a:r>
              <a:rPr lang="en-US" sz="2400" b="0" i="1" u="sng" dirty="0" smtClean="0">
                <a:latin typeface="Calibri" pitchFamily="34" charset="0"/>
                <a:cs typeface="Calibri" pitchFamily="34" charset="0"/>
              </a:rPr>
              <a:t>suspend</a:t>
            </a:r>
            <a:r>
              <a:rPr lang="en-US" sz="2400" b="0" i="1" dirty="0" smtClean="0">
                <a:latin typeface="Calibri" pitchFamily="34" charset="0"/>
                <a:cs typeface="Calibri" pitchFamily="34" charset="0"/>
              </a:rPr>
              <a:t> </a:t>
            </a:r>
            <a:r>
              <a:rPr lang="en-US" sz="2400" b="0" dirty="0" smtClean="0">
                <a:latin typeface="Calibri" pitchFamily="34" charset="0"/>
                <a:cs typeface="Calibri" pitchFamily="34" charset="0"/>
              </a:rPr>
              <a:t>a TSK, set its priority to </a:t>
            </a:r>
            <a:r>
              <a:rPr lang="en-US" sz="2400" b="0" u="sng" dirty="0" smtClean="0">
                <a:latin typeface="Calibri" pitchFamily="34" charset="0"/>
                <a:cs typeface="Calibri" pitchFamily="34" charset="0"/>
              </a:rPr>
              <a:t>negative</a:t>
            </a:r>
            <a:r>
              <a:rPr lang="en-US" sz="2400" b="0" i="1" dirty="0" smtClean="0">
                <a:latin typeface="Calibri" pitchFamily="34" charset="0"/>
                <a:cs typeface="Calibri" pitchFamily="34" charset="0"/>
              </a:rPr>
              <a:t> </a:t>
            </a:r>
            <a:r>
              <a:rPr lang="en-US" sz="2400" b="0" dirty="0" smtClean="0">
                <a:latin typeface="Calibri" pitchFamily="34" charset="0"/>
                <a:cs typeface="Calibri" pitchFamily="34" charset="0"/>
              </a:rPr>
              <a:t>one (-1)</a:t>
            </a:r>
          </a:p>
        </p:txBody>
      </p:sp>
      <p:sp>
        <p:nvSpPr>
          <p:cNvPr id="374788" name="Rectangle 4"/>
          <p:cNvSpPr>
            <a:spLocks noChangeArrowheads="1"/>
          </p:cNvSpPr>
          <p:nvPr/>
        </p:nvSpPr>
        <p:spPr bwMode="auto">
          <a:xfrm>
            <a:off x="1143000" y="834115"/>
            <a:ext cx="6781800" cy="1336675"/>
          </a:xfrm>
          <a:prstGeom prst="rect">
            <a:avLst/>
          </a:prstGeom>
          <a:solidFill>
            <a:schemeClr val="accent1"/>
          </a:solidFill>
          <a:ln w="25400">
            <a:solidFill>
              <a:schemeClr val="tx1"/>
            </a:solidFill>
            <a:miter lim="800000"/>
            <a:headEnd/>
            <a:tailEnd/>
          </a:ln>
          <a:effectLst>
            <a:outerShdw dist="107763" dir="2700000" algn="ctr" rotWithShape="0">
              <a:schemeClr val="bg2"/>
            </a:outerShdw>
          </a:effectLst>
        </p:spPr>
        <p:txBody>
          <a:bodyPr lIns="92075" tIns="46038" rIns="92075" bIns="46038">
            <a:spAutoFit/>
          </a:bodyPr>
          <a:lstStyle/>
          <a:p>
            <a:pPr defTabSz="463550">
              <a:lnSpc>
                <a:spcPct val="100000"/>
              </a:lnSpc>
              <a:spcBef>
                <a:spcPct val="96000"/>
              </a:spcBef>
              <a:defRPr/>
            </a:pPr>
            <a:r>
              <a:rPr lang="en-US" sz="2000" dirty="0" err="1">
                <a:solidFill>
                  <a:srgbClr val="000000"/>
                </a:solidFill>
                <a:latin typeface="Courier New" pitchFamily="49" charset="0"/>
              </a:rPr>
              <a:t>origPrio</a:t>
            </a:r>
            <a:r>
              <a:rPr lang="en-US" sz="2000" dirty="0">
                <a:solidFill>
                  <a:srgbClr val="000000"/>
                </a:solidFill>
                <a:latin typeface="Courier New" pitchFamily="49" charset="0"/>
              </a:rPr>
              <a:t> = </a:t>
            </a:r>
            <a:r>
              <a:rPr lang="en-US" sz="2000" dirty="0" err="1" smtClean="0">
                <a:solidFill>
                  <a:srgbClr val="FF0000"/>
                </a:solidFill>
                <a:latin typeface="Courier New" pitchFamily="49" charset="0"/>
              </a:rPr>
              <a:t>Task_setPri</a:t>
            </a:r>
            <a:r>
              <a:rPr lang="en-US" sz="2000" dirty="0" smtClean="0">
                <a:solidFill>
                  <a:srgbClr val="000000"/>
                </a:solidFill>
                <a:latin typeface="Courier New" pitchFamily="49" charset="0"/>
              </a:rPr>
              <a:t>(</a:t>
            </a:r>
            <a:r>
              <a:rPr lang="en-US" sz="2000" dirty="0" err="1" smtClean="0">
                <a:solidFill>
                  <a:srgbClr val="000000"/>
                </a:solidFill>
                <a:latin typeface="Courier New" pitchFamily="49" charset="0"/>
              </a:rPr>
              <a:t>Task_self</a:t>
            </a:r>
            <a:r>
              <a:rPr lang="en-US" sz="2000" dirty="0">
                <a:solidFill>
                  <a:srgbClr val="000000"/>
                </a:solidFill>
                <a:latin typeface="Courier New" pitchFamily="49" charset="0"/>
              </a:rPr>
              <a:t>(),7);</a:t>
            </a:r>
            <a:r>
              <a:rPr lang="en-US" sz="2000" b="0" dirty="0">
                <a:solidFill>
                  <a:srgbClr val="000000"/>
                </a:solidFill>
                <a:latin typeface="Courier New" pitchFamily="49" charset="0"/>
              </a:rPr>
              <a:t/>
            </a:r>
            <a:br>
              <a:rPr lang="en-US" sz="2000" b="0" dirty="0">
                <a:solidFill>
                  <a:srgbClr val="000000"/>
                </a:solidFill>
                <a:latin typeface="Courier New" pitchFamily="49" charset="0"/>
              </a:rPr>
            </a:br>
            <a:r>
              <a:rPr lang="en-US" sz="2000" b="0" dirty="0">
                <a:solidFill>
                  <a:srgbClr val="000000"/>
                </a:solidFill>
                <a:latin typeface="Courier New" pitchFamily="49" charset="0"/>
              </a:rPr>
              <a:t>	</a:t>
            </a:r>
            <a:r>
              <a:rPr lang="en-US" sz="2000" b="0" i="1" dirty="0">
                <a:solidFill>
                  <a:srgbClr val="000000"/>
                </a:solidFill>
              </a:rPr>
              <a:t>//	critical section ...</a:t>
            </a:r>
            <a:br>
              <a:rPr lang="en-US" sz="2000" b="0" i="1" dirty="0">
                <a:solidFill>
                  <a:srgbClr val="000000"/>
                </a:solidFill>
              </a:rPr>
            </a:br>
            <a:r>
              <a:rPr lang="en-US" sz="2000" b="0" i="1" dirty="0">
                <a:solidFill>
                  <a:srgbClr val="000000"/>
                </a:solidFill>
              </a:rPr>
              <a:t>	//	TSK priority increased or reduced ...</a:t>
            </a:r>
            <a:r>
              <a:rPr lang="en-US" sz="2000" b="0" dirty="0">
                <a:solidFill>
                  <a:srgbClr val="000000"/>
                </a:solidFill>
                <a:latin typeface="Courier New" pitchFamily="49" charset="0"/>
              </a:rPr>
              <a:t/>
            </a:r>
            <a:br>
              <a:rPr lang="en-US" sz="2000" b="0" dirty="0">
                <a:solidFill>
                  <a:srgbClr val="000000"/>
                </a:solidFill>
                <a:latin typeface="Courier New" pitchFamily="49" charset="0"/>
              </a:rPr>
            </a:br>
            <a:r>
              <a:rPr lang="en-US" sz="2000" dirty="0" err="1" smtClean="0">
                <a:solidFill>
                  <a:srgbClr val="FF0000"/>
                </a:solidFill>
                <a:latin typeface="Courier New" pitchFamily="49" charset="0"/>
              </a:rPr>
              <a:t>Task_setPri</a:t>
            </a:r>
            <a:r>
              <a:rPr lang="en-US" sz="2000" dirty="0" smtClean="0">
                <a:solidFill>
                  <a:srgbClr val="000000"/>
                </a:solidFill>
                <a:latin typeface="Courier New" pitchFamily="49" charset="0"/>
              </a:rPr>
              <a:t>(</a:t>
            </a:r>
            <a:r>
              <a:rPr lang="en-US" sz="2000" dirty="0" err="1" smtClean="0">
                <a:solidFill>
                  <a:srgbClr val="000000"/>
                </a:solidFill>
                <a:latin typeface="Courier New" pitchFamily="49" charset="0"/>
              </a:rPr>
              <a:t>Task_self</a:t>
            </a:r>
            <a:r>
              <a:rPr lang="en-US" sz="2000" dirty="0">
                <a:solidFill>
                  <a:srgbClr val="000000"/>
                </a:solidFill>
                <a:latin typeface="Courier New" pitchFamily="49" charset="0"/>
              </a:rPr>
              <a:t>(),</a:t>
            </a:r>
            <a:r>
              <a:rPr lang="en-US" sz="2000" dirty="0" err="1">
                <a:solidFill>
                  <a:srgbClr val="000000"/>
                </a:solidFill>
                <a:latin typeface="Courier New" pitchFamily="49" charset="0"/>
              </a:rPr>
              <a:t>origPrio</a:t>
            </a:r>
            <a:r>
              <a:rPr lang="en-US" sz="2000" dirty="0">
                <a:solidFill>
                  <a:srgbClr val="000000"/>
                </a:solidFill>
                <a:latin typeface="Courier New" pitchFamily="49" charset="0"/>
              </a:rPr>
              <a:t>);</a:t>
            </a:r>
          </a:p>
        </p:txBody>
      </p:sp>
      <p:sp>
        <p:nvSpPr>
          <p:cNvPr id="15366" name="TextBox 13"/>
          <p:cNvSpPr txBox="1">
            <a:spLocks noChangeArrowheads="1"/>
          </p:cNvSpPr>
          <p:nvPr/>
        </p:nvSpPr>
        <p:spPr bwMode="auto">
          <a:xfrm>
            <a:off x="369888" y="5003849"/>
            <a:ext cx="8114337" cy="744819"/>
          </a:xfrm>
          <a:prstGeom prst="rect">
            <a:avLst/>
          </a:prstGeom>
          <a:noFill/>
          <a:ln w="9525">
            <a:noFill/>
            <a:miter lim="800000"/>
            <a:headEnd/>
            <a:tailEnd/>
          </a:ln>
        </p:spPr>
        <p:txBody>
          <a:bodyPr wrap="none">
            <a:spAutoFit/>
          </a:bodyPr>
          <a:lstStyle/>
          <a:p>
            <a:pPr marL="627063" lvl="1" indent="-225425">
              <a:buSzPct val="110000"/>
              <a:buFont typeface="Arial" charset="0"/>
              <a:buChar char="•"/>
            </a:pPr>
            <a:r>
              <a:rPr lang="en-US" sz="2000" b="0" smtClean="0">
                <a:solidFill>
                  <a:srgbClr val="000000"/>
                </a:solidFill>
                <a:latin typeface="Calibri" pitchFamily="34" charset="0"/>
                <a:cs typeface="Calibri" pitchFamily="34" charset="0"/>
              </a:rPr>
              <a:t>Task </a:t>
            </a:r>
            <a:r>
              <a:rPr lang="en-US" sz="2000" b="0" dirty="0" smtClean="0">
                <a:solidFill>
                  <a:srgbClr val="000000"/>
                </a:solidFill>
                <a:latin typeface="Calibri" pitchFamily="34" charset="0"/>
                <a:cs typeface="Calibri" pitchFamily="34" charset="0"/>
              </a:rPr>
              <a:t>removed from scheduler, can be re-activated with </a:t>
            </a:r>
            <a:r>
              <a:rPr lang="en-US" sz="2000" b="0" dirty="0" err="1" smtClean="0">
                <a:solidFill>
                  <a:srgbClr val="000000"/>
                </a:solidFill>
                <a:latin typeface="Calibri" pitchFamily="34" charset="0"/>
                <a:cs typeface="Calibri" pitchFamily="34" charset="0"/>
              </a:rPr>
              <a:t>Task_setPri</a:t>
            </a:r>
            <a:r>
              <a:rPr lang="en-US" sz="2000" b="0" dirty="0" smtClean="0">
                <a:solidFill>
                  <a:srgbClr val="000000"/>
                </a:solidFill>
                <a:latin typeface="Calibri" pitchFamily="34" charset="0"/>
                <a:cs typeface="Calibri" pitchFamily="34" charset="0"/>
              </a:rPr>
              <a:t>()</a:t>
            </a:r>
          </a:p>
          <a:p>
            <a:pPr marL="627063" lvl="1" indent="-225425">
              <a:buSzPct val="110000"/>
              <a:buFont typeface="Arial" charset="0"/>
              <a:buChar char="•"/>
            </a:pPr>
            <a:r>
              <a:rPr lang="en-US" sz="2000" b="0" dirty="0" smtClean="0">
                <a:solidFill>
                  <a:srgbClr val="000000"/>
                </a:solidFill>
                <a:latin typeface="Calibri" pitchFamily="34" charset="0"/>
                <a:cs typeface="Calibri" pitchFamily="34" charset="0"/>
              </a:rPr>
              <a:t>Handy option for statically created TSKs that don’t need to run at start</a:t>
            </a:r>
          </a:p>
        </p:txBody>
      </p:sp>
      <p:pic>
        <p:nvPicPr>
          <p:cNvPr id="9"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
        <p:nvSpPr>
          <p:cNvPr id="2" name="Leading Question"/>
          <p:cNvSpPr txBox="1"/>
          <p:nvPr/>
        </p:nvSpPr>
        <p:spPr>
          <a:xfrm>
            <a:off x="4800600" y="6248400"/>
            <a:ext cx="3866250" cy="246221"/>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2000" b="0" smtClean="0">
                <a:solidFill>
                  <a:schemeClr val="tx2"/>
                </a:solidFill>
                <a:effectLst/>
                <a:latin typeface="Arial Narrow"/>
              </a:rPr>
              <a:t>Tasks are ready to run when CREATED...</a:t>
            </a:r>
            <a:endParaRPr lang="en-US" sz="2000" b="0" dirty="0" smtClean="0">
              <a:solidFill>
                <a:schemeClr val="tx2"/>
              </a:solidFill>
              <a:effectLst/>
              <a:latin typeface="Arial Narrow"/>
            </a:endParaRPr>
          </a:p>
        </p:txBody>
      </p:sp>
    </p:spTree>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ChangeArrowheads="1"/>
          </p:cNvSpPr>
          <p:nvPr/>
        </p:nvSpPr>
        <p:spPr bwMode="auto">
          <a:xfrm>
            <a:off x="381000" y="673398"/>
            <a:ext cx="8382000" cy="5334000"/>
          </a:xfrm>
          <a:prstGeom prst="rect">
            <a:avLst/>
          </a:prstGeom>
          <a:solidFill>
            <a:srgbClr val="B2B2B2"/>
          </a:solidFill>
          <a:ln w="19050">
            <a:solidFill>
              <a:srgbClr val="111111"/>
            </a:solidFill>
            <a:miter lim="800000"/>
            <a:headEnd type="none" w="sm" len="sm"/>
            <a:tailEnd type="none" w="sm" len="sm"/>
          </a:ln>
          <a:effectLst/>
        </p:spPr>
        <p:txBody>
          <a:bodyPr wrap="none" anchor="ctr"/>
          <a:lstStyle/>
          <a:p>
            <a:pPr algn="ctr">
              <a:defRPr/>
            </a:pPr>
            <a:endParaRPr lang="en-US" sz="2800">
              <a:effectLst>
                <a:outerShdw blurRad="38100" dist="38100" dir="2700000" algn="tl">
                  <a:srgbClr val="FFFFFF"/>
                </a:outerShdw>
              </a:effectLst>
              <a:latin typeface="Times New Roman" pitchFamily="18" charset="0"/>
            </a:endParaRPr>
          </a:p>
        </p:txBody>
      </p:sp>
      <p:sp>
        <p:nvSpPr>
          <p:cNvPr id="351235" name="Rectangle 3"/>
          <p:cNvSpPr>
            <a:spLocks noChangeArrowheads="1"/>
          </p:cNvSpPr>
          <p:nvPr/>
        </p:nvSpPr>
        <p:spPr bwMode="auto">
          <a:xfrm>
            <a:off x="1447800" y="825798"/>
            <a:ext cx="7162800" cy="4876800"/>
          </a:xfrm>
          <a:prstGeom prst="rect">
            <a:avLst/>
          </a:prstGeom>
          <a:solidFill>
            <a:srgbClr val="F8F8F8"/>
          </a:solidFill>
          <a:ln w="19050">
            <a:solidFill>
              <a:srgbClr val="111111"/>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220" name="Rectangle 4"/>
          <p:cNvSpPr>
            <a:spLocks noGrp="1" noChangeArrowheads="1"/>
          </p:cNvSpPr>
          <p:nvPr>
            <p:ph type="title"/>
          </p:nvPr>
        </p:nvSpPr>
        <p:spPr/>
        <p:txBody>
          <a:bodyPr/>
          <a:lstStyle/>
          <a:p>
            <a:r>
              <a:rPr lang="en-US" dirty="0" smtClean="0"/>
              <a:t>Thread Preemption Example</a:t>
            </a:r>
          </a:p>
        </p:txBody>
      </p:sp>
      <p:sp>
        <p:nvSpPr>
          <p:cNvPr id="9221" name="Text Box 5"/>
          <p:cNvSpPr txBox="1">
            <a:spLocks noChangeArrowheads="1"/>
          </p:cNvSpPr>
          <p:nvPr/>
        </p:nvSpPr>
        <p:spPr bwMode="auto">
          <a:xfrm>
            <a:off x="533400" y="1282998"/>
            <a:ext cx="595035" cy="313932"/>
          </a:xfrm>
          <a:prstGeom prst="rect">
            <a:avLst/>
          </a:prstGeom>
          <a:noFill/>
          <a:ln w="12700">
            <a:noFill/>
            <a:miter lim="800000"/>
            <a:headEnd type="none" w="sm" len="sm"/>
            <a:tailEnd type="none" w="sm" len="sm"/>
          </a:ln>
        </p:spPr>
        <p:txBody>
          <a:bodyPr wrap="none">
            <a:spAutoFit/>
          </a:bodyPr>
          <a:lstStyle/>
          <a:p>
            <a:r>
              <a:rPr lang="en-US" sz="1800" dirty="0" err="1" smtClean="0">
                <a:solidFill>
                  <a:srgbClr val="111111"/>
                </a:solidFill>
              </a:rPr>
              <a:t>Hwi</a:t>
            </a:r>
            <a:endParaRPr lang="en-US" sz="1800" dirty="0">
              <a:solidFill>
                <a:srgbClr val="111111"/>
              </a:solidFill>
              <a:latin typeface="Times New Roman" pitchFamily="18" charset="0"/>
            </a:endParaRPr>
          </a:p>
        </p:txBody>
      </p:sp>
      <p:sp>
        <p:nvSpPr>
          <p:cNvPr id="9222" name="Text Box 6"/>
          <p:cNvSpPr txBox="1">
            <a:spLocks noChangeArrowheads="1"/>
          </p:cNvSpPr>
          <p:nvPr/>
        </p:nvSpPr>
        <p:spPr bwMode="auto">
          <a:xfrm>
            <a:off x="533400" y="1886248"/>
            <a:ext cx="774571" cy="313932"/>
          </a:xfrm>
          <a:prstGeom prst="rect">
            <a:avLst/>
          </a:prstGeom>
          <a:noFill/>
          <a:ln w="12700">
            <a:noFill/>
            <a:miter lim="800000"/>
            <a:headEnd type="none" w="sm" len="sm"/>
            <a:tailEnd type="none" w="sm" len="sm"/>
          </a:ln>
        </p:spPr>
        <p:txBody>
          <a:bodyPr wrap="none">
            <a:spAutoFit/>
          </a:bodyPr>
          <a:lstStyle/>
          <a:p>
            <a:r>
              <a:rPr lang="en-US" sz="1800" dirty="0" err="1" smtClean="0">
                <a:solidFill>
                  <a:srgbClr val="111111"/>
                </a:solidFill>
              </a:rPr>
              <a:t>Swi</a:t>
            </a:r>
            <a:r>
              <a:rPr lang="en-US" sz="1800" dirty="0" smtClean="0">
                <a:solidFill>
                  <a:srgbClr val="111111"/>
                </a:solidFill>
              </a:rPr>
              <a:t> </a:t>
            </a:r>
            <a:r>
              <a:rPr lang="en-US" sz="1800" dirty="0">
                <a:solidFill>
                  <a:srgbClr val="111111"/>
                </a:solidFill>
              </a:rPr>
              <a:t>2</a:t>
            </a:r>
            <a:endParaRPr lang="en-US" sz="1800" dirty="0">
              <a:solidFill>
                <a:srgbClr val="111111"/>
              </a:solidFill>
              <a:latin typeface="Times New Roman" pitchFamily="18" charset="0"/>
            </a:endParaRPr>
          </a:p>
        </p:txBody>
      </p:sp>
      <p:sp>
        <p:nvSpPr>
          <p:cNvPr id="9223" name="Text Box 7"/>
          <p:cNvSpPr txBox="1">
            <a:spLocks noChangeArrowheads="1"/>
          </p:cNvSpPr>
          <p:nvPr/>
        </p:nvSpPr>
        <p:spPr bwMode="auto">
          <a:xfrm>
            <a:off x="533400" y="2495848"/>
            <a:ext cx="774571" cy="313932"/>
          </a:xfrm>
          <a:prstGeom prst="rect">
            <a:avLst/>
          </a:prstGeom>
          <a:noFill/>
          <a:ln w="12700">
            <a:noFill/>
            <a:miter lim="800000"/>
            <a:headEnd type="none" w="sm" len="sm"/>
            <a:tailEnd type="none" w="sm" len="sm"/>
          </a:ln>
        </p:spPr>
        <p:txBody>
          <a:bodyPr wrap="none">
            <a:spAutoFit/>
          </a:bodyPr>
          <a:lstStyle/>
          <a:p>
            <a:r>
              <a:rPr lang="en-US" sz="1800" dirty="0" err="1" smtClean="0">
                <a:solidFill>
                  <a:srgbClr val="111111"/>
                </a:solidFill>
              </a:rPr>
              <a:t>Swi</a:t>
            </a:r>
            <a:r>
              <a:rPr lang="en-US" sz="1800" dirty="0" smtClean="0">
                <a:solidFill>
                  <a:srgbClr val="111111"/>
                </a:solidFill>
              </a:rPr>
              <a:t> </a:t>
            </a:r>
            <a:r>
              <a:rPr lang="en-US" sz="1800" dirty="0">
                <a:solidFill>
                  <a:srgbClr val="111111"/>
                </a:solidFill>
              </a:rPr>
              <a:t>1</a:t>
            </a:r>
            <a:endParaRPr lang="en-US" sz="1800" dirty="0">
              <a:solidFill>
                <a:srgbClr val="111111"/>
              </a:solidFill>
              <a:latin typeface="Times New Roman" pitchFamily="18" charset="0"/>
            </a:endParaRPr>
          </a:p>
        </p:txBody>
      </p:sp>
      <p:sp>
        <p:nvSpPr>
          <p:cNvPr id="9224" name="Text Box 8"/>
          <p:cNvSpPr txBox="1">
            <a:spLocks noChangeArrowheads="1"/>
          </p:cNvSpPr>
          <p:nvPr/>
        </p:nvSpPr>
        <p:spPr bwMode="auto">
          <a:xfrm>
            <a:off x="533400" y="4934248"/>
            <a:ext cx="582211" cy="313932"/>
          </a:xfrm>
          <a:prstGeom prst="rect">
            <a:avLst/>
          </a:prstGeom>
          <a:noFill/>
          <a:ln w="12700">
            <a:noFill/>
            <a:miter lim="800000"/>
            <a:headEnd type="none" w="sm" len="sm"/>
            <a:tailEnd type="none" w="sm" len="sm"/>
          </a:ln>
        </p:spPr>
        <p:txBody>
          <a:bodyPr wrap="none">
            <a:spAutoFit/>
          </a:bodyPr>
          <a:lstStyle/>
          <a:p>
            <a:r>
              <a:rPr lang="en-US" sz="1800" dirty="0" smtClean="0">
                <a:solidFill>
                  <a:srgbClr val="111111"/>
                </a:solidFill>
              </a:rPr>
              <a:t>Idle</a:t>
            </a:r>
            <a:endParaRPr lang="en-US" sz="1800" dirty="0">
              <a:solidFill>
                <a:srgbClr val="111111"/>
              </a:solidFill>
              <a:latin typeface="Times New Roman" pitchFamily="18" charset="0"/>
            </a:endParaRPr>
          </a:p>
        </p:txBody>
      </p:sp>
      <p:sp>
        <p:nvSpPr>
          <p:cNvPr id="9225" name="Text Box 9"/>
          <p:cNvSpPr txBox="1">
            <a:spLocks noChangeArrowheads="1"/>
          </p:cNvSpPr>
          <p:nvPr/>
        </p:nvSpPr>
        <p:spPr bwMode="auto">
          <a:xfrm>
            <a:off x="533400" y="3105448"/>
            <a:ext cx="885692" cy="313932"/>
          </a:xfrm>
          <a:prstGeom prst="rect">
            <a:avLst/>
          </a:prstGeom>
          <a:noFill/>
          <a:ln w="12700">
            <a:noFill/>
            <a:miter lim="800000"/>
            <a:headEnd type="none" w="sm" len="sm"/>
            <a:tailEnd type="none" w="sm" len="sm"/>
          </a:ln>
        </p:spPr>
        <p:txBody>
          <a:bodyPr wrap="none">
            <a:spAutoFit/>
          </a:bodyPr>
          <a:lstStyle/>
          <a:p>
            <a:r>
              <a:rPr lang="en-US" sz="1800" dirty="0" smtClean="0">
                <a:solidFill>
                  <a:srgbClr val="111111"/>
                </a:solidFill>
              </a:rPr>
              <a:t>Task </a:t>
            </a:r>
            <a:r>
              <a:rPr lang="en-US" sz="1800" dirty="0">
                <a:solidFill>
                  <a:srgbClr val="111111"/>
                </a:solidFill>
              </a:rPr>
              <a:t>2</a:t>
            </a:r>
            <a:endParaRPr lang="en-US" sz="1800" dirty="0">
              <a:solidFill>
                <a:srgbClr val="111111"/>
              </a:solidFill>
              <a:latin typeface="Times New Roman" pitchFamily="18" charset="0"/>
            </a:endParaRPr>
          </a:p>
        </p:txBody>
      </p:sp>
      <p:sp>
        <p:nvSpPr>
          <p:cNvPr id="9226" name="Text Box 10"/>
          <p:cNvSpPr txBox="1">
            <a:spLocks noChangeArrowheads="1"/>
          </p:cNvSpPr>
          <p:nvPr/>
        </p:nvSpPr>
        <p:spPr bwMode="auto">
          <a:xfrm>
            <a:off x="533400" y="3715048"/>
            <a:ext cx="885692" cy="313932"/>
          </a:xfrm>
          <a:prstGeom prst="rect">
            <a:avLst/>
          </a:prstGeom>
          <a:noFill/>
          <a:ln w="12700">
            <a:noFill/>
            <a:miter lim="800000"/>
            <a:headEnd type="none" w="sm" len="sm"/>
            <a:tailEnd type="none" w="sm" len="sm"/>
          </a:ln>
        </p:spPr>
        <p:txBody>
          <a:bodyPr wrap="none">
            <a:spAutoFit/>
          </a:bodyPr>
          <a:lstStyle/>
          <a:p>
            <a:r>
              <a:rPr lang="en-US" sz="1800" dirty="0" smtClean="0">
                <a:solidFill>
                  <a:srgbClr val="111111"/>
                </a:solidFill>
              </a:rPr>
              <a:t>Task </a:t>
            </a:r>
            <a:r>
              <a:rPr lang="en-US" sz="1800" dirty="0">
                <a:solidFill>
                  <a:srgbClr val="111111"/>
                </a:solidFill>
              </a:rPr>
              <a:t>1</a:t>
            </a:r>
            <a:endParaRPr lang="en-US" sz="1800" dirty="0">
              <a:solidFill>
                <a:srgbClr val="111111"/>
              </a:solidFill>
              <a:latin typeface="Times New Roman" pitchFamily="18" charset="0"/>
            </a:endParaRPr>
          </a:p>
        </p:txBody>
      </p:sp>
      <p:sp>
        <p:nvSpPr>
          <p:cNvPr id="351244" name="Rectangle 12"/>
          <p:cNvSpPr>
            <a:spLocks noChangeArrowheads="1"/>
          </p:cNvSpPr>
          <p:nvPr/>
        </p:nvSpPr>
        <p:spPr bwMode="auto">
          <a:xfrm>
            <a:off x="2057400" y="31816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45" name="Rectangle 13"/>
          <p:cNvSpPr>
            <a:spLocks noChangeArrowheads="1"/>
          </p:cNvSpPr>
          <p:nvPr/>
        </p:nvSpPr>
        <p:spPr bwMode="auto">
          <a:xfrm>
            <a:off x="20574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46" name="Rectangle 14"/>
          <p:cNvSpPr>
            <a:spLocks noChangeArrowheads="1"/>
          </p:cNvSpPr>
          <p:nvPr/>
        </p:nvSpPr>
        <p:spPr bwMode="auto">
          <a:xfrm>
            <a:off x="20574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48" name="Rectangle 16"/>
          <p:cNvSpPr>
            <a:spLocks noChangeArrowheads="1"/>
          </p:cNvSpPr>
          <p:nvPr/>
        </p:nvSpPr>
        <p:spPr bwMode="auto">
          <a:xfrm>
            <a:off x="2362200" y="13591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49" name="Rectangle 17"/>
          <p:cNvSpPr>
            <a:spLocks noChangeArrowheads="1"/>
          </p:cNvSpPr>
          <p:nvPr/>
        </p:nvSpPr>
        <p:spPr bwMode="auto">
          <a:xfrm>
            <a:off x="2362200" y="37912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50" name="Rectangle 18"/>
          <p:cNvSpPr>
            <a:spLocks noChangeArrowheads="1"/>
          </p:cNvSpPr>
          <p:nvPr/>
        </p:nvSpPr>
        <p:spPr bwMode="auto">
          <a:xfrm>
            <a:off x="23622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52" name="Rectangle 20"/>
          <p:cNvSpPr>
            <a:spLocks noChangeArrowheads="1"/>
          </p:cNvSpPr>
          <p:nvPr/>
        </p:nvSpPr>
        <p:spPr bwMode="auto">
          <a:xfrm>
            <a:off x="2667000" y="13591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53" name="Rectangle 21"/>
          <p:cNvSpPr>
            <a:spLocks noChangeArrowheads="1"/>
          </p:cNvSpPr>
          <p:nvPr/>
        </p:nvSpPr>
        <p:spPr bwMode="auto">
          <a:xfrm>
            <a:off x="2667000" y="25720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54" name="Rectangle 22"/>
          <p:cNvSpPr>
            <a:spLocks noChangeArrowheads="1"/>
          </p:cNvSpPr>
          <p:nvPr/>
        </p:nvSpPr>
        <p:spPr bwMode="auto">
          <a:xfrm>
            <a:off x="26670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55" name="Rectangle 23"/>
          <p:cNvSpPr>
            <a:spLocks noChangeArrowheads="1"/>
          </p:cNvSpPr>
          <p:nvPr/>
        </p:nvSpPr>
        <p:spPr bwMode="auto">
          <a:xfrm>
            <a:off x="26670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57" name="Rectangle 25"/>
          <p:cNvSpPr>
            <a:spLocks noChangeArrowheads="1"/>
          </p:cNvSpPr>
          <p:nvPr/>
        </p:nvSpPr>
        <p:spPr bwMode="auto">
          <a:xfrm>
            <a:off x="2819400" y="13591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58" name="Rectangle 26"/>
          <p:cNvSpPr>
            <a:spLocks noChangeArrowheads="1"/>
          </p:cNvSpPr>
          <p:nvPr/>
        </p:nvSpPr>
        <p:spPr bwMode="auto">
          <a:xfrm>
            <a:off x="2819400" y="25720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59" name="Rectangle 27"/>
          <p:cNvSpPr>
            <a:spLocks noChangeArrowheads="1"/>
          </p:cNvSpPr>
          <p:nvPr/>
        </p:nvSpPr>
        <p:spPr bwMode="auto">
          <a:xfrm>
            <a:off x="28194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60" name="Rectangle 28"/>
          <p:cNvSpPr>
            <a:spLocks noChangeArrowheads="1"/>
          </p:cNvSpPr>
          <p:nvPr/>
        </p:nvSpPr>
        <p:spPr bwMode="auto">
          <a:xfrm>
            <a:off x="28194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62" name="Rectangle 30"/>
          <p:cNvSpPr>
            <a:spLocks noChangeArrowheads="1"/>
          </p:cNvSpPr>
          <p:nvPr/>
        </p:nvSpPr>
        <p:spPr bwMode="auto">
          <a:xfrm>
            <a:off x="3124200" y="13591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63" name="Rectangle 31"/>
          <p:cNvSpPr>
            <a:spLocks noChangeArrowheads="1"/>
          </p:cNvSpPr>
          <p:nvPr/>
        </p:nvSpPr>
        <p:spPr bwMode="auto">
          <a:xfrm>
            <a:off x="3124200" y="25720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64" name="Rectangle 32"/>
          <p:cNvSpPr>
            <a:spLocks noChangeArrowheads="1"/>
          </p:cNvSpPr>
          <p:nvPr/>
        </p:nvSpPr>
        <p:spPr bwMode="auto">
          <a:xfrm>
            <a:off x="31242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65" name="Rectangle 33"/>
          <p:cNvSpPr>
            <a:spLocks noChangeArrowheads="1"/>
          </p:cNvSpPr>
          <p:nvPr/>
        </p:nvSpPr>
        <p:spPr bwMode="auto">
          <a:xfrm>
            <a:off x="31242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67" name="Rectangle 35"/>
          <p:cNvSpPr>
            <a:spLocks noChangeArrowheads="1"/>
          </p:cNvSpPr>
          <p:nvPr/>
        </p:nvSpPr>
        <p:spPr bwMode="auto">
          <a:xfrm>
            <a:off x="3429000" y="13591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68" name="Rectangle 36"/>
          <p:cNvSpPr>
            <a:spLocks noChangeArrowheads="1"/>
          </p:cNvSpPr>
          <p:nvPr/>
        </p:nvSpPr>
        <p:spPr bwMode="auto">
          <a:xfrm>
            <a:off x="3429000" y="1968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69" name="Rectangle 37"/>
          <p:cNvSpPr>
            <a:spLocks noChangeArrowheads="1"/>
          </p:cNvSpPr>
          <p:nvPr/>
        </p:nvSpPr>
        <p:spPr bwMode="auto">
          <a:xfrm>
            <a:off x="3429000" y="25720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70" name="Rectangle 38"/>
          <p:cNvSpPr>
            <a:spLocks noChangeArrowheads="1"/>
          </p:cNvSpPr>
          <p:nvPr/>
        </p:nvSpPr>
        <p:spPr bwMode="auto">
          <a:xfrm>
            <a:off x="34290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71" name="Rectangle 39"/>
          <p:cNvSpPr>
            <a:spLocks noChangeArrowheads="1"/>
          </p:cNvSpPr>
          <p:nvPr/>
        </p:nvSpPr>
        <p:spPr bwMode="auto">
          <a:xfrm>
            <a:off x="34290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73" name="Rectangle 41"/>
          <p:cNvSpPr>
            <a:spLocks noChangeArrowheads="1"/>
          </p:cNvSpPr>
          <p:nvPr/>
        </p:nvSpPr>
        <p:spPr bwMode="auto">
          <a:xfrm>
            <a:off x="3581400" y="13591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74" name="Rectangle 42"/>
          <p:cNvSpPr>
            <a:spLocks noChangeArrowheads="1"/>
          </p:cNvSpPr>
          <p:nvPr/>
        </p:nvSpPr>
        <p:spPr bwMode="auto">
          <a:xfrm>
            <a:off x="3581400" y="1968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75" name="Rectangle 43"/>
          <p:cNvSpPr>
            <a:spLocks noChangeArrowheads="1"/>
          </p:cNvSpPr>
          <p:nvPr/>
        </p:nvSpPr>
        <p:spPr bwMode="auto">
          <a:xfrm>
            <a:off x="3581400" y="25720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76" name="Rectangle 44"/>
          <p:cNvSpPr>
            <a:spLocks noChangeArrowheads="1"/>
          </p:cNvSpPr>
          <p:nvPr/>
        </p:nvSpPr>
        <p:spPr bwMode="auto">
          <a:xfrm>
            <a:off x="35814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77" name="Rectangle 45"/>
          <p:cNvSpPr>
            <a:spLocks noChangeArrowheads="1"/>
          </p:cNvSpPr>
          <p:nvPr/>
        </p:nvSpPr>
        <p:spPr bwMode="auto">
          <a:xfrm>
            <a:off x="35814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79" name="Rectangle 47"/>
          <p:cNvSpPr>
            <a:spLocks noChangeArrowheads="1"/>
          </p:cNvSpPr>
          <p:nvPr/>
        </p:nvSpPr>
        <p:spPr bwMode="auto">
          <a:xfrm>
            <a:off x="3886200" y="19687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80" name="Rectangle 48"/>
          <p:cNvSpPr>
            <a:spLocks noChangeArrowheads="1"/>
          </p:cNvSpPr>
          <p:nvPr/>
        </p:nvSpPr>
        <p:spPr bwMode="auto">
          <a:xfrm>
            <a:off x="3886200" y="25720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81" name="Rectangle 49"/>
          <p:cNvSpPr>
            <a:spLocks noChangeArrowheads="1"/>
          </p:cNvSpPr>
          <p:nvPr/>
        </p:nvSpPr>
        <p:spPr bwMode="auto">
          <a:xfrm>
            <a:off x="38862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82" name="Rectangle 50"/>
          <p:cNvSpPr>
            <a:spLocks noChangeArrowheads="1"/>
          </p:cNvSpPr>
          <p:nvPr/>
        </p:nvSpPr>
        <p:spPr bwMode="auto">
          <a:xfrm>
            <a:off x="38862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84" name="Rectangle 52"/>
          <p:cNvSpPr>
            <a:spLocks noChangeArrowheads="1"/>
          </p:cNvSpPr>
          <p:nvPr/>
        </p:nvSpPr>
        <p:spPr bwMode="auto">
          <a:xfrm>
            <a:off x="4038600" y="19687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85" name="Rectangle 53"/>
          <p:cNvSpPr>
            <a:spLocks noChangeArrowheads="1"/>
          </p:cNvSpPr>
          <p:nvPr/>
        </p:nvSpPr>
        <p:spPr bwMode="auto">
          <a:xfrm>
            <a:off x="4038600" y="25720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86" name="Rectangle 54"/>
          <p:cNvSpPr>
            <a:spLocks noChangeArrowheads="1"/>
          </p:cNvSpPr>
          <p:nvPr/>
        </p:nvSpPr>
        <p:spPr bwMode="auto">
          <a:xfrm>
            <a:off x="40386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87" name="Rectangle 55"/>
          <p:cNvSpPr>
            <a:spLocks noChangeArrowheads="1"/>
          </p:cNvSpPr>
          <p:nvPr/>
        </p:nvSpPr>
        <p:spPr bwMode="auto">
          <a:xfrm>
            <a:off x="40386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89" name="Rectangle 57"/>
          <p:cNvSpPr>
            <a:spLocks noChangeArrowheads="1"/>
          </p:cNvSpPr>
          <p:nvPr/>
        </p:nvSpPr>
        <p:spPr bwMode="auto">
          <a:xfrm>
            <a:off x="4343400" y="25720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90" name="Rectangle 58"/>
          <p:cNvSpPr>
            <a:spLocks noChangeArrowheads="1"/>
          </p:cNvSpPr>
          <p:nvPr/>
        </p:nvSpPr>
        <p:spPr bwMode="auto">
          <a:xfrm>
            <a:off x="43434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91" name="Rectangle 59"/>
          <p:cNvSpPr>
            <a:spLocks noChangeArrowheads="1"/>
          </p:cNvSpPr>
          <p:nvPr/>
        </p:nvSpPr>
        <p:spPr bwMode="auto">
          <a:xfrm>
            <a:off x="43434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93" name="Rectangle 61"/>
          <p:cNvSpPr>
            <a:spLocks noChangeArrowheads="1"/>
          </p:cNvSpPr>
          <p:nvPr/>
        </p:nvSpPr>
        <p:spPr bwMode="auto">
          <a:xfrm>
            <a:off x="4648200" y="37912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94" name="Rectangle 62"/>
          <p:cNvSpPr>
            <a:spLocks noChangeArrowheads="1"/>
          </p:cNvSpPr>
          <p:nvPr/>
        </p:nvSpPr>
        <p:spPr bwMode="auto">
          <a:xfrm>
            <a:off x="46482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96" name="Rectangle 64"/>
          <p:cNvSpPr>
            <a:spLocks noChangeArrowheads="1"/>
          </p:cNvSpPr>
          <p:nvPr/>
        </p:nvSpPr>
        <p:spPr bwMode="auto">
          <a:xfrm>
            <a:off x="4800600" y="13591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97" name="Rectangle 65"/>
          <p:cNvSpPr>
            <a:spLocks noChangeArrowheads="1"/>
          </p:cNvSpPr>
          <p:nvPr/>
        </p:nvSpPr>
        <p:spPr bwMode="auto">
          <a:xfrm>
            <a:off x="4800600" y="37912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298" name="Rectangle 66"/>
          <p:cNvSpPr>
            <a:spLocks noChangeArrowheads="1"/>
          </p:cNvSpPr>
          <p:nvPr/>
        </p:nvSpPr>
        <p:spPr bwMode="auto">
          <a:xfrm>
            <a:off x="48006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00" name="Rectangle 68"/>
          <p:cNvSpPr>
            <a:spLocks noChangeArrowheads="1"/>
          </p:cNvSpPr>
          <p:nvPr/>
        </p:nvSpPr>
        <p:spPr bwMode="auto">
          <a:xfrm>
            <a:off x="5105400" y="13591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01" name="Rectangle 69"/>
          <p:cNvSpPr>
            <a:spLocks noChangeArrowheads="1"/>
          </p:cNvSpPr>
          <p:nvPr/>
        </p:nvSpPr>
        <p:spPr bwMode="auto">
          <a:xfrm>
            <a:off x="5105400" y="31816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02" name="Rectangle 70"/>
          <p:cNvSpPr>
            <a:spLocks noChangeArrowheads="1"/>
          </p:cNvSpPr>
          <p:nvPr/>
        </p:nvSpPr>
        <p:spPr bwMode="auto">
          <a:xfrm>
            <a:off x="51054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03" name="Rectangle 71"/>
          <p:cNvSpPr>
            <a:spLocks noChangeArrowheads="1"/>
          </p:cNvSpPr>
          <p:nvPr/>
        </p:nvSpPr>
        <p:spPr bwMode="auto">
          <a:xfrm>
            <a:off x="51054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05" name="Rectangle 73"/>
          <p:cNvSpPr>
            <a:spLocks noChangeArrowheads="1"/>
          </p:cNvSpPr>
          <p:nvPr/>
        </p:nvSpPr>
        <p:spPr bwMode="auto">
          <a:xfrm>
            <a:off x="5257800" y="13591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06" name="Rectangle 74"/>
          <p:cNvSpPr>
            <a:spLocks noChangeArrowheads="1"/>
          </p:cNvSpPr>
          <p:nvPr/>
        </p:nvSpPr>
        <p:spPr bwMode="auto">
          <a:xfrm>
            <a:off x="5257800" y="31816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07" name="Rectangle 75"/>
          <p:cNvSpPr>
            <a:spLocks noChangeArrowheads="1"/>
          </p:cNvSpPr>
          <p:nvPr/>
        </p:nvSpPr>
        <p:spPr bwMode="auto">
          <a:xfrm>
            <a:off x="52578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08" name="Rectangle 76"/>
          <p:cNvSpPr>
            <a:spLocks noChangeArrowheads="1"/>
          </p:cNvSpPr>
          <p:nvPr/>
        </p:nvSpPr>
        <p:spPr bwMode="auto">
          <a:xfrm>
            <a:off x="52578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10" name="Rectangle 78"/>
          <p:cNvSpPr>
            <a:spLocks noChangeArrowheads="1"/>
          </p:cNvSpPr>
          <p:nvPr/>
        </p:nvSpPr>
        <p:spPr bwMode="auto">
          <a:xfrm>
            <a:off x="5562600" y="31816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11" name="Rectangle 79"/>
          <p:cNvSpPr>
            <a:spLocks noChangeArrowheads="1"/>
          </p:cNvSpPr>
          <p:nvPr/>
        </p:nvSpPr>
        <p:spPr bwMode="auto">
          <a:xfrm>
            <a:off x="55626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12" name="Rectangle 80"/>
          <p:cNvSpPr>
            <a:spLocks noChangeArrowheads="1"/>
          </p:cNvSpPr>
          <p:nvPr/>
        </p:nvSpPr>
        <p:spPr bwMode="auto">
          <a:xfrm>
            <a:off x="55626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14" name="Rectangle 82"/>
          <p:cNvSpPr>
            <a:spLocks noChangeArrowheads="1"/>
          </p:cNvSpPr>
          <p:nvPr/>
        </p:nvSpPr>
        <p:spPr bwMode="auto">
          <a:xfrm>
            <a:off x="5715000" y="31816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15" name="Rectangle 83"/>
          <p:cNvSpPr>
            <a:spLocks noChangeArrowheads="1"/>
          </p:cNvSpPr>
          <p:nvPr/>
        </p:nvSpPr>
        <p:spPr bwMode="auto">
          <a:xfrm>
            <a:off x="57150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16" name="Rectangle 84"/>
          <p:cNvSpPr>
            <a:spLocks noChangeArrowheads="1"/>
          </p:cNvSpPr>
          <p:nvPr/>
        </p:nvSpPr>
        <p:spPr bwMode="auto">
          <a:xfrm>
            <a:off x="57150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18" name="Rectangle 86"/>
          <p:cNvSpPr>
            <a:spLocks noChangeArrowheads="1"/>
          </p:cNvSpPr>
          <p:nvPr/>
        </p:nvSpPr>
        <p:spPr bwMode="auto">
          <a:xfrm>
            <a:off x="6019800" y="37912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19" name="Rectangle 87"/>
          <p:cNvSpPr>
            <a:spLocks noChangeArrowheads="1"/>
          </p:cNvSpPr>
          <p:nvPr/>
        </p:nvSpPr>
        <p:spPr bwMode="auto">
          <a:xfrm>
            <a:off x="60198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21" name="Rectangle 89"/>
          <p:cNvSpPr>
            <a:spLocks noChangeArrowheads="1"/>
          </p:cNvSpPr>
          <p:nvPr/>
        </p:nvSpPr>
        <p:spPr bwMode="auto">
          <a:xfrm>
            <a:off x="6477000" y="13591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22" name="Rectangle 90"/>
          <p:cNvSpPr>
            <a:spLocks noChangeArrowheads="1"/>
          </p:cNvSpPr>
          <p:nvPr/>
        </p:nvSpPr>
        <p:spPr bwMode="auto">
          <a:xfrm>
            <a:off x="6324600" y="50167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23" name="Rectangle 91"/>
          <p:cNvSpPr>
            <a:spLocks noChangeArrowheads="1"/>
          </p:cNvSpPr>
          <p:nvPr/>
        </p:nvSpPr>
        <p:spPr bwMode="auto">
          <a:xfrm>
            <a:off x="6477000" y="50167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25" name="Rectangle 93"/>
          <p:cNvSpPr>
            <a:spLocks noChangeArrowheads="1"/>
          </p:cNvSpPr>
          <p:nvPr/>
        </p:nvSpPr>
        <p:spPr bwMode="auto">
          <a:xfrm>
            <a:off x="6781800" y="13591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26" name="Rectangle 94"/>
          <p:cNvSpPr>
            <a:spLocks noChangeArrowheads="1"/>
          </p:cNvSpPr>
          <p:nvPr/>
        </p:nvSpPr>
        <p:spPr bwMode="auto">
          <a:xfrm>
            <a:off x="6781800" y="1968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27" name="Rectangle 95"/>
          <p:cNvSpPr>
            <a:spLocks noChangeArrowheads="1"/>
          </p:cNvSpPr>
          <p:nvPr/>
        </p:nvSpPr>
        <p:spPr bwMode="auto">
          <a:xfrm>
            <a:off x="67818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29" name="Rectangle 97"/>
          <p:cNvSpPr>
            <a:spLocks noChangeArrowheads="1"/>
          </p:cNvSpPr>
          <p:nvPr/>
        </p:nvSpPr>
        <p:spPr bwMode="auto">
          <a:xfrm>
            <a:off x="7086600" y="19687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30" name="Rectangle 98"/>
          <p:cNvSpPr>
            <a:spLocks noChangeArrowheads="1"/>
          </p:cNvSpPr>
          <p:nvPr/>
        </p:nvSpPr>
        <p:spPr bwMode="auto">
          <a:xfrm>
            <a:off x="70866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31" name="Rectangle 99"/>
          <p:cNvSpPr>
            <a:spLocks noChangeArrowheads="1"/>
          </p:cNvSpPr>
          <p:nvPr/>
        </p:nvSpPr>
        <p:spPr bwMode="auto">
          <a:xfrm>
            <a:off x="70866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33" name="Rectangle 101"/>
          <p:cNvSpPr>
            <a:spLocks noChangeArrowheads="1"/>
          </p:cNvSpPr>
          <p:nvPr/>
        </p:nvSpPr>
        <p:spPr bwMode="auto">
          <a:xfrm>
            <a:off x="7239000" y="19687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34" name="Rectangle 102"/>
          <p:cNvSpPr>
            <a:spLocks noChangeArrowheads="1"/>
          </p:cNvSpPr>
          <p:nvPr/>
        </p:nvSpPr>
        <p:spPr bwMode="auto">
          <a:xfrm>
            <a:off x="7239000" y="31816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35" name="Rectangle 103"/>
          <p:cNvSpPr>
            <a:spLocks noChangeArrowheads="1"/>
          </p:cNvSpPr>
          <p:nvPr/>
        </p:nvSpPr>
        <p:spPr bwMode="auto">
          <a:xfrm>
            <a:off x="72390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36" name="Rectangle 104"/>
          <p:cNvSpPr>
            <a:spLocks noChangeArrowheads="1"/>
          </p:cNvSpPr>
          <p:nvPr/>
        </p:nvSpPr>
        <p:spPr bwMode="auto">
          <a:xfrm>
            <a:off x="72390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38" name="Rectangle 106"/>
          <p:cNvSpPr>
            <a:spLocks noChangeArrowheads="1"/>
          </p:cNvSpPr>
          <p:nvPr/>
        </p:nvSpPr>
        <p:spPr bwMode="auto">
          <a:xfrm>
            <a:off x="7391400" y="19687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39" name="Rectangle 107"/>
          <p:cNvSpPr>
            <a:spLocks noChangeArrowheads="1"/>
          </p:cNvSpPr>
          <p:nvPr/>
        </p:nvSpPr>
        <p:spPr bwMode="auto">
          <a:xfrm>
            <a:off x="7391400" y="31816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40" name="Rectangle 108"/>
          <p:cNvSpPr>
            <a:spLocks noChangeArrowheads="1"/>
          </p:cNvSpPr>
          <p:nvPr/>
        </p:nvSpPr>
        <p:spPr bwMode="auto">
          <a:xfrm>
            <a:off x="73914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41" name="Rectangle 109"/>
          <p:cNvSpPr>
            <a:spLocks noChangeArrowheads="1"/>
          </p:cNvSpPr>
          <p:nvPr/>
        </p:nvSpPr>
        <p:spPr bwMode="auto">
          <a:xfrm>
            <a:off x="73914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43" name="Rectangle 111"/>
          <p:cNvSpPr>
            <a:spLocks noChangeArrowheads="1"/>
          </p:cNvSpPr>
          <p:nvPr/>
        </p:nvSpPr>
        <p:spPr bwMode="auto">
          <a:xfrm>
            <a:off x="7696200" y="31816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44" name="Rectangle 112"/>
          <p:cNvSpPr>
            <a:spLocks noChangeArrowheads="1"/>
          </p:cNvSpPr>
          <p:nvPr/>
        </p:nvSpPr>
        <p:spPr bwMode="auto">
          <a:xfrm>
            <a:off x="76962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45" name="Rectangle 113"/>
          <p:cNvSpPr>
            <a:spLocks noChangeArrowheads="1"/>
          </p:cNvSpPr>
          <p:nvPr/>
        </p:nvSpPr>
        <p:spPr bwMode="auto">
          <a:xfrm>
            <a:off x="76962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47" name="Rectangle 115"/>
          <p:cNvSpPr>
            <a:spLocks noChangeArrowheads="1"/>
          </p:cNvSpPr>
          <p:nvPr/>
        </p:nvSpPr>
        <p:spPr bwMode="auto">
          <a:xfrm>
            <a:off x="7848600" y="31816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48" name="Rectangle 116"/>
          <p:cNvSpPr>
            <a:spLocks noChangeArrowheads="1"/>
          </p:cNvSpPr>
          <p:nvPr/>
        </p:nvSpPr>
        <p:spPr bwMode="auto">
          <a:xfrm>
            <a:off x="78486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49" name="Rectangle 117"/>
          <p:cNvSpPr>
            <a:spLocks noChangeArrowheads="1"/>
          </p:cNvSpPr>
          <p:nvPr/>
        </p:nvSpPr>
        <p:spPr bwMode="auto">
          <a:xfrm>
            <a:off x="78486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51" name="Rectangle 119"/>
          <p:cNvSpPr>
            <a:spLocks noChangeArrowheads="1"/>
          </p:cNvSpPr>
          <p:nvPr/>
        </p:nvSpPr>
        <p:spPr bwMode="auto">
          <a:xfrm>
            <a:off x="8153400" y="37912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52" name="Rectangle 120"/>
          <p:cNvSpPr>
            <a:spLocks noChangeArrowheads="1"/>
          </p:cNvSpPr>
          <p:nvPr/>
        </p:nvSpPr>
        <p:spPr bwMode="auto">
          <a:xfrm>
            <a:off x="81534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55" name="Rectangle 123"/>
          <p:cNvSpPr>
            <a:spLocks noChangeArrowheads="1"/>
          </p:cNvSpPr>
          <p:nvPr/>
        </p:nvSpPr>
        <p:spPr bwMode="auto">
          <a:xfrm>
            <a:off x="2209800" y="37912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56" name="Rectangle 124"/>
          <p:cNvSpPr>
            <a:spLocks noChangeArrowheads="1"/>
          </p:cNvSpPr>
          <p:nvPr/>
        </p:nvSpPr>
        <p:spPr bwMode="auto">
          <a:xfrm>
            <a:off x="22098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57" name="Line 125"/>
          <p:cNvSpPr>
            <a:spLocks noChangeShapeType="1"/>
          </p:cNvSpPr>
          <p:nvPr/>
        </p:nvSpPr>
        <p:spPr bwMode="auto">
          <a:xfrm>
            <a:off x="2209800" y="3340398"/>
            <a:ext cx="0" cy="4572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59" name="Rectangle 127"/>
          <p:cNvSpPr>
            <a:spLocks noChangeArrowheads="1"/>
          </p:cNvSpPr>
          <p:nvPr/>
        </p:nvSpPr>
        <p:spPr bwMode="auto">
          <a:xfrm>
            <a:off x="2514600" y="13591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60" name="Rectangle 128"/>
          <p:cNvSpPr>
            <a:spLocks noChangeArrowheads="1"/>
          </p:cNvSpPr>
          <p:nvPr/>
        </p:nvSpPr>
        <p:spPr bwMode="auto">
          <a:xfrm>
            <a:off x="25146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61" name="Rectangle 129"/>
          <p:cNvSpPr>
            <a:spLocks noChangeArrowheads="1"/>
          </p:cNvSpPr>
          <p:nvPr/>
        </p:nvSpPr>
        <p:spPr bwMode="auto">
          <a:xfrm>
            <a:off x="25146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62" name="Line 130"/>
          <p:cNvSpPr>
            <a:spLocks noChangeShapeType="1"/>
          </p:cNvSpPr>
          <p:nvPr/>
        </p:nvSpPr>
        <p:spPr bwMode="auto">
          <a:xfrm>
            <a:off x="2514600" y="1511598"/>
            <a:ext cx="0" cy="22860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64" name="Rectangle 132"/>
          <p:cNvSpPr>
            <a:spLocks noChangeArrowheads="1"/>
          </p:cNvSpPr>
          <p:nvPr/>
        </p:nvSpPr>
        <p:spPr bwMode="auto">
          <a:xfrm>
            <a:off x="2971800" y="25720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65" name="Rectangle 133"/>
          <p:cNvSpPr>
            <a:spLocks noChangeArrowheads="1"/>
          </p:cNvSpPr>
          <p:nvPr/>
        </p:nvSpPr>
        <p:spPr bwMode="auto">
          <a:xfrm>
            <a:off x="29718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66" name="Rectangle 134"/>
          <p:cNvSpPr>
            <a:spLocks noChangeArrowheads="1"/>
          </p:cNvSpPr>
          <p:nvPr/>
        </p:nvSpPr>
        <p:spPr bwMode="auto">
          <a:xfrm>
            <a:off x="29718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67" name="Line 135"/>
          <p:cNvSpPr>
            <a:spLocks noChangeShapeType="1"/>
          </p:cNvSpPr>
          <p:nvPr/>
        </p:nvSpPr>
        <p:spPr bwMode="auto">
          <a:xfrm>
            <a:off x="2971800" y="1511598"/>
            <a:ext cx="0" cy="10668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69" name="Rectangle 137"/>
          <p:cNvSpPr>
            <a:spLocks noChangeArrowheads="1"/>
          </p:cNvSpPr>
          <p:nvPr/>
        </p:nvSpPr>
        <p:spPr bwMode="auto">
          <a:xfrm>
            <a:off x="3276600" y="13591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70" name="Rectangle 138"/>
          <p:cNvSpPr>
            <a:spLocks noChangeArrowheads="1"/>
          </p:cNvSpPr>
          <p:nvPr/>
        </p:nvSpPr>
        <p:spPr bwMode="auto">
          <a:xfrm>
            <a:off x="3276600" y="25720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71" name="Rectangle 139"/>
          <p:cNvSpPr>
            <a:spLocks noChangeArrowheads="1"/>
          </p:cNvSpPr>
          <p:nvPr/>
        </p:nvSpPr>
        <p:spPr bwMode="auto">
          <a:xfrm>
            <a:off x="32766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72" name="Rectangle 140"/>
          <p:cNvSpPr>
            <a:spLocks noChangeArrowheads="1"/>
          </p:cNvSpPr>
          <p:nvPr/>
        </p:nvSpPr>
        <p:spPr bwMode="auto">
          <a:xfrm>
            <a:off x="32766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73" name="Line 141"/>
          <p:cNvSpPr>
            <a:spLocks noChangeShapeType="1"/>
          </p:cNvSpPr>
          <p:nvPr/>
        </p:nvSpPr>
        <p:spPr bwMode="auto">
          <a:xfrm>
            <a:off x="3276600" y="1511598"/>
            <a:ext cx="0" cy="10668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75" name="Rectangle 143"/>
          <p:cNvSpPr>
            <a:spLocks noChangeArrowheads="1"/>
          </p:cNvSpPr>
          <p:nvPr/>
        </p:nvSpPr>
        <p:spPr bwMode="auto">
          <a:xfrm>
            <a:off x="3733800" y="19687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76" name="Rectangle 144"/>
          <p:cNvSpPr>
            <a:spLocks noChangeArrowheads="1"/>
          </p:cNvSpPr>
          <p:nvPr/>
        </p:nvSpPr>
        <p:spPr bwMode="auto">
          <a:xfrm>
            <a:off x="3733800" y="25720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77" name="Rectangle 145"/>
          <p:cNvSpPr>
            <a:spLocks noChangeArrowheads="1"/>
          </p:cNvSpPr>
          <p:nvPr/>
        </p:nvSpPr>
        <p:spPr bwMode="auto">
          <a:xfrm>
            <a:off x="37338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78" name="Rectangle 146"/>
          <p:cNvSpPr>
            <a:spLocks noChangeArrowheads="1"/>
          </p:cNvSpPr>
          <p:nvPr/>
        </p:nvSpPr>
        <p:spPr bwMode="auto">
          <a:xfrm>
            <a:off x="37338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79" name="Line 147"/>
          <p:cNvSpPr>
            <a:spLocks noChangeShapeType="1"/>
          </p:cNvSpPr>
          <p:nvPr/>
        </p:nvSpPr>
        <p:spPr bwMode="auto">
          <a:xfrm>
            <a:off x="3733800" y="1511598"/>
            <a:ext cx="0" cy="4572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81" name="Rectangle 149"/>
          <p:cNvSpPr>
            <a:spLocks noChangeArrowheads="1"/>
          </p:cNvSpPr>
          <p:nvPr/>
        </p:nvSpPr>
        <p:spPr bwMode="auto">
          <a:xfrm>
            <a:off x="4191000" y="25720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82" name="Rectangle 150"/>
          <p:cNvSpPr>
            <a:spLocks noChangeArrowheads="1"/>
          </p:cNvSpPr>
          <p:nvPr/>
        </p:nvSpPr>
        <p:spPr bwMode="auto">
          <a:xfrm>
            <a:off x="41910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83" name="Rectangle 151"/>
          <p:cNvSpPr>
            <a:spLocks noChangeArrowheads="1"/>
          </p:cNvSpPr>
          <p:nvPr/>
        </p:nvSpPr>
        <p:spPr bwMode="auto">
          <a:xfrm>
            <a:off x="41910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84" name="Line 152"/>
          <p:cNvSpPr>
            <a:spLocks noChangeShapeType="1"/>
          </p:cNvSpPr>
          <p:nvPr/>
        </p:nvSpPr>
        <p:spPr bwMode="auto">
          <a:xfrm>
            <a:off x="4191000" y="2121198"/>
            <a:ext cx="0" cy="4572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86" name="Rectangle 154"/>
          <p:cNvSpPr>
            <a:spLocks noChangeArrowheads="1"/>
          </p:cNvSpPr>
          <p:nvPr/>
        </p:nvSpPr>
        <p:spPr bwMode="auto">
          <a:xfrm>
            <a:off x="4495800" y="37912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87" name="Rectangle 155"/>
          <p:cNvSpPr>
            <a:spLocks noChangeArrowheads="1"/>
          </p:cNvSpPr>
          <p:nvPr/>
        </p:nvSpPr>
        <p:spPr bwMode="auto">
          <a:xfrm>
            <a:off x="44958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88" name="Line 156"/>
          <p:cNvSpPr>
            <a:spLocks noChangeShapeType="1"/>
          </p:cNvSpPr>
          <p:nvPr/>
        </p:nvSpPr>
        <p:spPr bwMode="auto">
          <a:xfrm>
            <a:off x="4495800" y="2730798"/>
            <a:ext cx="0" cy="10668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90" name="Rectangle 158"/>
          <p:cNvSpPr>
            <a:spLocks noChangeArrowheads="1"/>
          </p:cNvSpPr>
          <p:nvPr/>
        </p:nvSpPr>
        <p:spPr bwMode="auto">
          <a:xfrm>
            <a:off x="4953000" y="13591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91" name="Rectangle 159"/>
          <p:cNvSpPr>
            <a:spLocks noChangeArrowheads="1"/>
          </p:cNvSpPr>
          <p:nvPr/>
        </p:nvSpPr>
        <p:spPr bwMode="auto">
          <a:xfrm>
            <a:off x="49530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92" name="Rectangle 160"/>
          <p:cNvSpPr>
            <a:spLocks noChangeArrowheads="1"/>
          </p:cNvSpPr>
          <p:nvPr/>
        </p:nvSpPr>
        <p:spPr bwMode="auto">
          <a:xfrm>
            <a:off x="49530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93" name="Line 161"/>
          <p:cNvSpPr>
            <a:spLocks noChangeShapeType="1"/>
          </p:cNvSpPr>
          <p:nvPr/>
        </p:nvSpPr>
        <p:spPr bwMode="auto">
          <a:xfrm>
            <a:off x="4953000" y="1511598"/>
            <a:ext cx="0" cy="22860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95" name="Rectangle 163"/>
          <p:cNvSpPr>
            <a:spLocks noChangeArrowheads="1"/>
          </p:cNvSpPr>
          <p:nvPr/>
        </p:nvSpPr>
        <p:spPr bwMode="auto">
          <a:xfrm>
            <a:off x="5410200" y="31816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96" name="Rectangle 164"/>
          <p:cNvSpPr>
            <a:spLocks noChangeArrowheads="1"/>
          </p:cNvSpPr>
          <p:nvPr/>
        </p:nvSpPr>
        <p:spPr bwMode="auto">
          <a:xfrm>
            <a:off x="54102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97" name="Rectangle 165"/>
          <p:cNvSpPr>
            <a:spLocks noChangeArrowheads="1"/>
          </p:cNvSpPr>
          <p:nvPr/>
        </p:nvSpPr>
        <p:spPr bwMode="auto">
          <a:xfrm>
            <a:off x="54102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398" name="Line 166"/>
          <p:cNvSpPr>
            <a:spLocks noChangeShapeType="1"/>
          </p:cNvSpPr>
          <p:nvPr/>
        </p:nvSpPr>
        <p:spPr bwMode="auto">
          <a:xfrm>
            <a:off x="5410200" y="1511598"/>
            <a:ext cx="0" cy="16764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00" name="Rectangle 168"/>
          <p:cNvSpPr>
            <a:spLocks noChangeArrowheads="1"/>
          </p:cNvSpPr>
          <p:nvPr/>
        </p:nvSpPr>
        <p:spPr bwMode="auto">
          <a:xfrm>
            <a:off x="5867400" y="37912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01" name="Rectangle 169"/>
          <p:cNvSpPr>
            <a:spLocks noChangeArrowheads="1"/>
          </p:cNvSpPr>
          <p:nvPr/>
        </p:nvSpPr>
        <p:spPr bwMode="auto">
          <a:xfrm>
            <a:off x="58674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02" name="Line 170"/>
          <p:cNvSpPr>
            <a:spLocks noChangeShapeType="1"/>
          </p:cNvSpPr>
          <p:nvPr/>
        </p:nvSpPr>
        <p:spPr bwMode="auto">
          <a:xfrm>
            <a:off x="5867400" y="3340398"/>
            <a:ext cx="0" cy="4572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04" name="Rectangle 172"/>
          <p:cNvSpPr>
            <a:spLocks noChangeArrowheads="1"/>
          </p:cNvSpPr>
          <p:nvPr/>
        </p:nvSpPr>
        <p:spPr bwMode="auto">
          <a:xfrm>
            <a:off x="6172200" y="50167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05" name="Line 173"/>
          <p:cNvSpPr>
            <a:spLocks noChangeShapeType="1"/>
          </p:cNvSpPr>
          <p:nvPr/>
        </p:nvSpPr>
        <p:spPr bwMode="auto">
          <a:xfrm>
            <a:off x="6172200" y="3949998"/>
            <a:ext cx="0" cy="10668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07" name="Rectangle 175"/>
          <p:cNvSpPr>
            <a:spLocks noChangeArrowheads="1"/>
          </p:cNvSpPr>
          <p:nvPr/>
        </p:nvSpPr>
        <p:spPr bwMode="auto">
          <a:xfrm>
            <a:off x="6934200" y="19687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08" name="Rectangle 176"/>
          <p:cNvSpPr>
            <a:spLocks noChangeArrowheads="1"/>
          </p:cNvSpPr>
          <p:nvPr/>
        </p:nvSpPr>
        <p:spPr bwMode="auto">
          <a:xfrm>
            <a:off x="69342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09" name="Rectangle 177"/>
          <p:cNvSpPr>
            <a:spLocks noChangeArrowheads="1"/>
          </p:cNvSpPr>
          <p:nvPr/>
        </p:nvSpPr>
        <p:spPr bwMode="auto">
          <a:xfrm>
            <a:off x="69342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10" name="Line 178"/>
          <p:cNvSpPr>
            <a:spLocks noChangeShapeType="1"/>
          </p:cNvSpPr>
          <p:nvPr/>
        </p:nvSpPr>
        <p:spPr bwMode="auto">
          <a:xfrm>
            <a:off x="6934200" y="1511598"/>
            <a:ext cx="0" cy="4572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12" name="Rectangle 180"/>
          <p:cNvSpPr>
            <a:spLocks noChangeArrowheads="1"/>
          </p:cNvSpPr>
          <p:nvPr/>
        </p:nvSpPr>
        <p:spPr bwMode="auto">
          <a:xfrm>
            <a:off x="7543800" y="31816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13" name="Rectangle 181"/>
          <p:cNvSpPr>
            <a:spLocks noChangeArrowheads="1"/>
          </p:cNvSpPr>
          <p:nvPr/>
        </p:nvSpPr>
        <p:spPr bwMode="auto">
          <a:xfrm>
            <a:off x="7543800" y="379124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14" name="Rectangle 182"/>
          <p:cNvSpPr>
            <a:spLocks noChangeArrowheads="1"/>
          </p:cNvSpPr>
          <p:nvPr/>
        </p:nvSpPr>
        <p:spPr bwMode="auto">
          <a:xfrm>
            <a:off x="75438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15" name="Line 183"/>
          <p:cNvSpPr>
            <a:spLocks noChangeShapeType="1"/>
          </p:cNvSpPr>
          <p:nvPr/>
        </p:nvSpPr>
        <p:spPr bwMode="auto">
          <a:xfrm>
            <a:off x="7543800" y="2121198"/>
            <a:ext cx="0" cy="10668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17" name="Rectangle 185"/>
          <p:cNvSpPr>
            <a:spLocks noChangeArrowheads="1"/>
          </p:cNvSpPr>
          <p:nvPr/>
        </p:nvSpPr>
        <p:spPr bwMode="auto">
          <a:xfrm>
            <a:off x="8001000" y="379124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18" name="Rectangle 186"/>
          <p:cNvSpPr>
            <a:spLocks noChangeArrowheads="1"/>
          </p:cNvSpPr>
          <p:nvPr/>
        </p:nvSpPr>
        <p:spPr bwMode="auto">
          <a:xfrm>
            <a:off x="80010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19" name="Line 187"/>
          <p:cNvSpPr>
            <a:spLocks noChangeShapeType="1"/>
          </p:cNvSpPr>
          <p:nvPr/>
        </p:nvSpPr>
        <p:spPr bwMode="auto">
          <a:xfrm>
            <a:off x="8001000" y="3340398"/>
            <a:ext cx="0" cy="4572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21" name="Rectangle 189"/>
          <p:cNvSpPr>
            <a:spLocks noChangeArrowheads="1"/>
          </p:cNvSpPr>
          <p:nvPr/>
        </p:nvSpPr>
        <p:spPr bwMode="auto">
          <a:xfrm>
            <a:off x="8305800" y="50167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22" name="Rectangle 190"/>
          <p:cNvSpPr>
            <a:spLocks noChangeArrowheads="1"/>
          </p:cNvSpPr>
          <p:nvPr/>
        </p:nvSpPr>
        <p:spPr bwMode="auto">
          <a:xfrm>
            <a:off x="8458200" y="50167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23" name="Line 191"/>
          <p:cNvSpPr>
            <a:spLocks noChangeShapeType="1"/>
          </p:cNvSpPr>
          <p:nvPr/>
        </p:nvSpPr>
        <p:spPr bwMode="auto">
          <a:xfrm>
            <a:off x="8305800" y="3949998"/>
            <a:ext cx="0" cy="10668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363" name="Text Box 193"/>
          <p:cNvSpPr txBox="1">
            <a:spLocks noChangeArrowheads="1"/>
          </p:cNvSpPr>
          <p:nvPr/>
        </p:nvSpPr>
        <p:spPr bwMode="auto">
          <a:xfrm>
            <a:off x="1981200" y="4102398"/>
            <a:ext cx="839788" cy="265113"/>
          </a:xfrm>
          <a:prstGeom prst="rect">
            <a:avLst/>
          </a:prstGeom>
          <a:noFill/>
          <a:ln w="12700">
            <a:noFill/>
            <a:miter lim="800000"/>
            <a:headEnd type="none" w="sm" len="sm"/>
            <a:tailEnd type="none" w="sm" len="sm"/>
          </a:ln>
        </p:spPr>
        <p:txBody>
          <a:bodyPr wrap="none">
            <a:spAutoFit/>
          </a:bodyPr>
          <a:lstStyle/>
          <a:p>
            <a:r>
              <a:rPr lang="en-US" sz="1400" b="0">
                <a:solidFill>
                  <a:srgbClr val="111111"/>
                </a:solidFill>
              </a:rPr>
              <a:t>interrupt</a:t>
            </a:r>
            <a:endParaRPr lang="en-US" sz="1800">
              <a:solidFill>
                <a:srgbClr val="111111"/>
              </a:solidFill>
              <a:latin typeface="Times New Roman" pitchFamily="18" charset="0"/>
            </a:endParaRPr>
          </a:p>
        </p:txBody>
      </p:sp>
      <p:cxnSp>
        <p:nvCxnSpPr>
          <p:cNvPr id="9364" name="AutoShape 194"/>
          <p:cNvCxnSpPr>
            <a:cxnSpLocks noChangeShapeType="1"/>
            <a:stCxn id="9363" idx="0"/>
            <a:endCxn id="351249" idx="2"/>
          </p:cNvCxnSpPr>
          <p:nvPr/>
        </p:nvCxnSpPr>
        <p:spPr bwMode="auto">
          <a:xfrm rot="5400000" flipH="1" flipV="1">
            <a:off x="2339975" y="4003973"/>
            <a:ext cx="158750" cy="36513"/>
          </a:xfrm>
          <a:prstGeom prst="straightConnector1">
            <a:avLst/>
          </a:prstGeom>
          <a:noFill/>
          <a:ln w="19050">
            <a:solidFill>
              <a:srgbClr val="080808"/>
            </a:solidFill>
            <a:round/>
            <a:headEnd/>
            <a:tailEnd/>
          </a:ln>
        </p:spPr>
      </p:cxnSp>
      <p:sp>
        <p:nvSpPr>
          <p:cNvPr id="9361" name="Text Box 196"/>
          <p:cNvSpPr txBox="1">
            <a:spLocks noChangeArrowheads="1"/>
          </p:cNvSpPr>
          <p:nvPr/>
        </p:nvSpPr>
        <p:spPr bwMode="auto">
          <a:xfrm>
            <a:off x="1440705" y="2918177"/>
            <a:ext cx="1143000" cy="172355"/>
          </a:xfrm>
          <a:prstGeom prst="rect">
            <a:avLst/>
          </a:prstGeom>
          <a:noFill/>
          <a:ln w="12700">
            <a:noFill/>
            <a:miter lim="800000"/>
            <a:headEnd type="none" w="sm" len="sm"/>
            <a:tailEnd type="none" w="sm" len="sm"/>
          </a:ln>
        </p:spPr>
        <p:txBody>
          <a:bodyPr wrap="square" lIns="0" tIns="0" rIns="0" bIns="0">
            <a:spAutoFit/>
          </a:bodyPr>
          <a:lstStyle/>
          <a:p>
            <a:pPr algn="ctr"/>
            <a:r>
              <a:rPr lang="en-US" sz="1400" b="0" dirty="0">
                <a:solidFill>
                  <a:srgbClr val="111111"/>
                </a:solidFill>
              </a:rPr>
              <a:t>p</a:t>
            </a:r>
            <a:r>
              <a:rPr lang="en-US" sz="1400" b="0" dirty="0" smtClean="0">
                <a:solidFill>
                  <a:srgbClr val="111111"/>
                </a:solidFill>
              </a:rPr>
              <a:t>end sem2</a:t>
            </a:r>
            <a:endParaRPr lang="en-US" sz="1800" dirty="0">
              <a:solidFill>
                <a:srgbClr val="111111"/>
              </a:solidFill>
              <a:latin typeface="Times New Roman" pitchFamily="18" charset="0"/>
            </a:endParaRPr>
          </a:p>
        </p:txBody>
      </p:sp>
      <p:cxnSp>
        <p:nvCxnSpPr>
          <p:cNvPr id="9362" name="AutoShape 197"/>
          <p:cNvCxnSpPr>
            <a:cxnSpLocks noChangeShapeType="1"/>
            <a:stCxn id="351244" idx="0"/>
            <a:endCxn id="9361" idx="2"/>
          </p:cNvCxnSpPr>
          <p:nvPr/>
        </p:nvCxnSpPr>
        <p:spPr bwMode="auto">
          <a:xfrm flipH="1" flipV="1">
            <a:off x="2012205" y="3090532"/>
            <a:ext cx="121395" cy="91116"/>
          </a:xfrm>
          <a:prstGeom prst="straightConnector1">
            <a:avLst/>
          </a:prstGeom>
          <a:noFill/>
          <a:ln w="19050">
            <a:solidFill>
              <a:srgbClr val="080808"/>
            </a:solidFill>
            <a:round/>
            <a:headEnd/>
            <a:tailEnd/>
          </a:ln>
        </p:spPr>
      </p:cxnSp>
      <p:sp>
        <p:nvSpPr>
          <p:cNvPr id="9359" name="Text Box 199"/>
          <p:cNvSpPr txBox="1">
            <a:spLocks noChangeArrowheads="1"/>
          </p:cNvSpPr>
          <p:nvPr/>
        </p:nvSpPr>
        <p:spPr bwMode="auto">
          <a:xfrm>
            <a:off x="2747963" y="2883198"/>
            <a:ext cx="839787" cy="265113"/>
          </a:xfrm>
          <a:prstGeom prst="rect">
            <a:avLst/>
          </a:prstGeom>
          <a:noFill/>
          <a:ln w="12700">
            <a:noFill/>
            <a:miter lim="800000"/>
            <a:headEnd type="none" w="sm" len="sm"/>
            <a:tailEnd type="none" w="sm" len="sm"/>
          </a:ln>
        </p:spPr>
        <p:txBody>
          <a:bodyPr wrap="none">
            <a:spAutoFit/>
          </a:bodyPr>
          <a:lstStyle/>
          <a:p>
            <a:r>
              <a:rPr lang="en-US" sz="1400" b="0">
                <a:solidFill>
                  <a:srgbClr val="111111"/>
                </a:solidFill>
              </a:rPr>
              <a:t>interrupt</a:t>
            </a:r>
            <a:endParaRPr lang="en-US" sz="1800">
              <a:solidFill>
                <a:srgbClr val="111111"/>
              </a:solidFill>
              <a:latin typeface="Times New Roman" pitchFamily="18" charset="0"/>
            </a:endParaRPr>
          </a:p>
        </p:txBody>
      </p:sp>
      <p:cxnSp>
        <p:nvCxnSpPr>
          <p:cNvPr id="9360" name="AutoShape 200"/>
          <p:cNvCxnSpPr>
            <a:cxnSpLocks noChangeShapeType="1"/>
            <a:stCxn id="9359" idx="0"/>
            <a:endCxn id="351263" idx="2"/>
          </p:cNvCxnSpPr>
          <p:nvPr/>
        </p:nvCxnSpPr>
        <p:spPr bwMode="auto">
          <a:xfrm rot="5400000" flipH="1" flipV="1">
            <a:off x="3105150" y="2787948"/>
            <a:ext cx="158750" cy="31750"/>
          </a:xfrm>
          <a:prstGeom prst="straightConnector1">
            <a:avLst/>
          </a:prstGeom>
          <a:noFill/>
          <a:ln w="19050">
            <a:solidFill>
              <a:srgbClr val="080808"/>
            </a:solidFill>
            <a:round/>
            <a:headEnd/>
            <a:tailEnd/>
          </a:ln>
        </p:spPr>
      </p:cxnSp>
      <p:sp>
        <p:nvSpPr>
          <p:cNvPr id="9357" name="Text Box 202"/>
          <p:cNvSpPr txBox="1">
            <a:spLocks noChangeArrowheads="1"/>
          </p:cNvSpPr>
          <p:nvPr/>
        </p:nvSpPr>
        <p:spPr bwMode="auto">
          <a:xfrm>
            <a:off x="4419600" y="4102398"/>
            <a:ext cx="833438" cy="17303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interrupt</a:t>
            </a:r>
          </a:p>
        </p:txBody>
      </p:sp>
      <p:cxnSp>
        <p:nvCxnSpPr>
          <p:cNvPr id="9358" name="AutoShape 203"/>
          <p:cNvCxnSpPr>
            <a:cxnSpLocks noChangeShapeType="1"/>
            <a:stCxn id="9357" idx="0"/>
            <a:endCxn id="351297" idx="2"/>
          </p:cNvCxnSpPr>
          <p:nvPr/>
        </p:nvCxnSpPr>
        <p:spPr bwMode="auto">
          <a:xfrm rot="5400000" flipH="1" flipV="1">
            <a:off x="4776788" y="4002386"/>
            <a:ext cx="158750" cy="39688"/>
          </a:xfrm>
          <a:prstGeom prst="straightConnector1">
            <a:avLst/>
          </a:prstGeom>
          <a:noFill/>
          <a:ln w="19050">
            <a:solidFill>
              <a:srgbClr val="080808"/>
            </a:solidFill>
            <a:round/>
            <a:headEnd/>
            <a:tailEnd/>
          </a:ln>
        </p:spPr>
      </p:cxnSp>
      <p:sp>
        <p:nvSpPr>
          <p:cNvPr id="9355" name="Text Box 205"/>
          <p:cNvSpPr txBox="1">
            <a:spLocks noChangeArrowheads="1"/>
          </p:cNvSpPr>
          <p:nvPr/>
        </p:nvSpPr>
        <p:spPr bwMode="auto">
          <a:xfrm>
            <a:off x="5486400" y="2654598"/>
            <a:ext cx="685800" cy="34448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pend sem2</a:t>
            </a:r>
          </a:p>
        </p:txBody>
      </p:sp>
      <p:cxnSp>
        <p:nvCxnSpPr>
          <p:cNvPr id="9356" name="AutoShape 206"/>
          <p:cNvCxnSpPr>
            <a:cxnSpLocks noChangeShapeType="1"/>
            <a:stCxn id="351314" idx="0"/>
            <a:endCxn id="9355" idx="2"/>
          </p:cNvCxnSpPr>
          <p:nvPr/>
        </p:nvCxnSpPr>
        <p:spPr bwMode="auto">
          <a:xfrm rot="5400000" flipH="1" flipV="1">
            <a:off x="5719763" y="3072111"/>
            <a:ext cx="182563" cy="38100"/>
          </a:xfrm>
          <a:prstGeom prst="straightConnector1">
            <a:avLst/>
          </a:prstGeom>
          <a:noFill/>
          <a:ln w="19050">
            <a:solidFill>
              <a:srgbClr val="080808"/>
            </a:solidFill>
            <a:round/>
            <a:headEnd/>
            <a:tailEnd/>
          </a:ln>
        </p:spPr>
      </p:cxnSp>
      <p:sp>
        <p:nvSpPr>
          <p:cNvPr id="9353" name="Text Box 208"/>
          <p:cNvSpPr txBox="1">
            <a:spLocks noChangeArrowheads="1"/>
          </p:cNvSpPr>
          <p:nvPr/>
        </p:nvSpPr>
        <p:spPr bwMode="auto">
          <a:xfrm>
            <a:off x="5791200" y="3264198"/>
            <a:ext cx="685800" cy="34448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pend sem1</a:t>
            </a:r>
          </a:p>
        </p:txBody>
      </p:sp>
      <p:cxnSp>
        <p:nvCxnSpPr>
          <p:cNvPr id="9354" name="AutoShape 209"/>
          <p:cNvCxnSpPr>
            <a:cxnSpLocks noChangeShapeType="1"/>
            <a:stCxn id="351318" idx="0"/>
            <a:endCxn id="9353" idx="2"/>
          </p:cNvCxnSpPr>
          <p:nvPr/>
        </p:nvCxnSpPr>
        <p:spPr bwMode="auto">
          <a:xfrm rot="5400000" flipH="1" flipV="1">
            <a:off x="6024563" y="3681711"/>
            <a:ext cx="182563" cy="38100"/>
          </a:xfrm>
          <a:prstGeom prst="straightConnector1">
            <a:avLst/>
          </a:prstGeom>
          <a:noFill/>
          <a:ln w="19050">
            <a:solidFill>
              <a:srgbClr val="080808"/>
            </a:solidFill>
            <a:round/>
            <a:headEnd/>
            <a:tailEnd/>
          </a:ln>
        </p:spPr>
      </p:cxnSp>
      <p:sp>
        <p:nvSpPr>
          <p:cNvPr id="9351" name="Text Box 211"/>
          <p:cNvSpPr txBox="1">
            <a:spLocks noChangeArrowheads="1"/>
          </p:cNvSpPr>
          <p:nvPr/>
        </p:nvSpPr>
        <p:spPr bwMode="auto">
          <a:xfrm>
            <a:off x="6019800" y="5321598"/>
            <a:ext cx="833438" cy="17303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interrupt</a:t>
            </a:r>
          </a:p>
        </p:txBody>
      </p:sp>
      <p:cxnSp>
        <p:nvCxnSpPr>
          <p:cNvPr id="9352" name="AutoShape 212"/>
          <p:cNvCxnSpPr>
            <a:cxnSpLocks noChangeShapeType="1"/>
            <a:stCxn id="9351" idx="0"/>
            <a:endCxn id="351323" idx="2"/>
          </p:cNvCxnSpPr>
          <p:nvPr/>
        </p:nvCxnSpPr>
        <p:spPr bwMode="auto">
          <a:xfrm rot="5400000" flipH="1" flipV="1">
            <a:off x="6418263" y="5186661"/>
            <a:ext cx="152400" cy="115888"/>
          </a:xfrm>
          <a:prstGeom prst="straightConnector1">
            <a:avLst/>
          </a:prstGeom>
          <a:noFill/>
          <a:ln w="19050">
            <a:solidFill>
              <a:srgbClr val="080808"/>
            </a:solidFill>
            <a:round/>
            <a:headEnd/>
            <a:tailEnd/>
          </a:ln>
        </p:spPr>
      </p:cxnSp>
      <p:sp>
        <p:nvSpPr>
          <p:cNvPr id="9349" name="Text Box 214"/>
          <p:cNvSpPr txBox="1">
            <a:spLocks noChangeArrowheads="1"/>
          </p:cNvSpPr>
          <p:nvPr/>
        </p:nvSpPr>
        <p:spPr bwMode="auto">
          <a:xfrm>
            <a:off x="4114800" y="2197398"/>
            <a:ext cx="646113" cy="17303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return</a:t>
            </a:r>
          </a:p>
        </p:txBody>
      </p:sp>
      <p:cxnSp>
        <p:nvCxnSpPr>
          <p:cNvPr id="9350" name="AutoShape 215"/>
          <p:cNvCxnSpPr>
            <a:cxnSpLocks noChangeShapeType="1"/>
            <a:stCxn id="351289" idx="0"/>
            <a:endCxn id="9349" idx="2"/>
          </p:cNvCxnSpPr>
          <p:nvPr/>
        </p:nvCxnSpPr>
        <p:spPr bwMode="auto">
          <a:xfrm rot="5400000" flipH="1" flipV="1">
            <a:off x="4327525" y="2462510"/>
            <a:ext cx="201613" cy="19050"/>
          </a:xfrm>
          <a:prstGeom prst="straightConnector1">
            <a:avLst/>
          </a:prstGeom>
          <a:noFill/>
          <a:ln w="19050">
            <a:solidFill>
              <a:srgbClr val="080808"/>
            </a:solidFill>
            <a:round/>
            <a:headEnd/>
            <a:tailEnd/>
          </a:ln>
        </p:spPr>
      </p:cxnSp>
      <p:sp>
        <p:nvSpPr>
          <p:cNvPr id="9347" name="Text Box 217"/>
          <p:cNvSpPr txBox="1">
            <a:spLocks noChangeArrowheads="1"/>
          </p:cNvSpPr>
          <p:nvPr/>
        </p:nvSpPr>
        <p:spPr bwMode="auto">
          <a:xfrm>
            <a:off x="3810000" y="1587798"/>
            <a:ext cx="646113" cy="173038"/>
          </a:xfrm>
          <a:prstGeom prst="rect">
            <a:avLst/>
          </a:prstGeom>
          <a:noFill/>
          <a:ln w="12700">
            <a:noFill/>
            <a:miter lim="800000"/>
            <a:headEnd type="none" w="sm" len="sm"/>
            <a:tailEnd type="none" w="sm" len="sm"/>
          </a:ln>
        </p:spPr>
        <p:txBody>
          <a:bodyPr lIns="0" tIns="0" rIns="0" bIns="0">
            <a:spAutoFit/>
          </a:bodyPr>
          <a:lstStyle/>
          <a:p>
            <a:pPr algn="ctr"/>
            <a:r>
              <a:rPr lang="en-US" sz="1400" b="0" dirty="0">
                <a:solidFill>
                  <a:srgbClr val="111111"/>
                </a:solidFill>
              </a:rPr>
              <a:t>return</a:t>
            </a:r>
          </a:p>
        </p:txBody>
      </p:sp>
      <p:cxnSp>
        <p:nvCxnSpPr>
          <p:cNvPr id="9348" name="AutoShape 218"/>
          <p:cNvCxnSpPr>
            <a:cxnSpLocks noChangeShapeType="1"/>
            <a:stCxn id="351284" idx="0"/>
            <a:endCxn id="9347" idx="2"/>
          </p:cNvCxnSpPr>
          <p:nvPr/>
        </p:nvCxnSpPr>
        <p:spPr bwMode="auto">
          <a:xfrm rot="5400000" flipH="1" flipV="1">
            <a:off x="4019550" y="1856085"/>
            <a:ext cx="207963" cy="19050"/>
          </a:xfrm>
          <a:prstGeom prst="straightConnector1">
            <a:avLst/>
          </a:prstGeom>
          <a:noFill/>
          <a:ln w="19050">
            <a:solidFill>
              <a:srgbClr val="080808"/>
            </a:solidFill>
            <a:round/>
            <a:headEnd/>
            <a:tailEnd/>
          </a:ln>
        </p:spPr>
      </p:cxnSp>
      <p:sp>
        <p:nvSpPr>
          <p:cNvPr id="9345" name="Text Box 220"/>
          <p:cNvSpPr txBox="1">
            <a:spLocks noChangeArrowheads="1"/>
          </p:cNvSpPr>
          <p:nvPr/>
        </p:nvSpPr>
        <p:spPr bwMode="auto">
          <a:xfrm>
            <a:off x="2133600" y="867073"/>
            <a:ext cx="685800" cy="34448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post swi1</a:t>
            </a:r>
          </a:p>
        </p:txBody>
      </p:sp>
      <p:cxnSp>
        <p:nvCxnSpPr>
          <p:cNvPr id="9346" name="AutoShape 221"/>
          <p:cNvCxnSpPr>
            <a:cxnSpLocks noChangeShapeType="1"/>
            <a:stCxn id="351252" idx="0"/>
            <a:endCxn id="9345" idx="2"/>
          </p:cNvCxnSpPr>
          <p:nvPr/>
        </p:nvCxnSpPr>
        <p:spPr bwMode="auto">
          <a:xfrm rot="16200000" flipV="1">
            <a:off x="2536825" y="1152823"/>
            <a:ext cx="147638" cy="266700"/>
          </a:xfrm>
          <a:prstGeom prst="straightConnector1">
            <a:avLst/>
          </a:prstGeom>
          <a:noFill/>
          <a:ln w="19050">
            <a:solidFill>
              <a:srgbClr val="080808"/>
            </a:solidFill>
            <a:round/>
            <a:headEnd/>
            <a:tailEnd/>
          </a:ln>
        </p:spPr>
      </p:cxnSp>
      <p:sp>
        <p:nvSpPr>
          <p:cNvPr id="9343" name="Text Box 223"/>
          <p:cNvSpPr txBox="1">
            <a:spLocks noChangeArrowheads="1"/>
          </p:cNvSpPr>
          <p:nvPr/>
        </p:nvSpPr>
        <p:spPr bwMode="auto">
          <a:xfrm>
            <a:off x="2630488" y="960736"/>
            <a:ext cx="646112" cy="17303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return</a:t>
            </a:r>
          </a:p>
        </p:txBody>
      </p:sp>
      <p:cxnSp>
        <p:nvCxnSpPr>
          <p:cNvPr id="9344" name="AutoShape 224"/>
          <p:cNvCxnSpPr>
            <a:cxnSpLocks noChangeShapeType="1"/>
            <a:stCxn id="351257" idx="0"/>
            <a:endCxn id="9343" idx="2"/>
          </p:cNvCxnSpPr>
          <p:nvPr/>
        </p:nvCxnSpPr>
        <p:spPr bwMode="auto">
          <a:xfrm rot="5400000" flipH="1" flipV="1">
            <a:off x="2811463" y="1217911"/>
            <a:ext cx="225425" cy="58737"/>
          </a:xfrm>
          <a:prstGeom prst="straightConnector1">
            <a:avLst/>
          </a:prstGeom>
          <a:noFill/>
          <a:ln w="19050">
            <a:solidFill>
              <a:srgbClr val="080808"/>
            </a:solidFill>
            <a:round/>
            <a:headEnd/>
            <a:tailEnd/>
          </a:ln>
        </p:spPr>
      </p:cxnSp>
      <p:sp>
        <p:nvSpPr>
          <p:cNvPr id="9341" name="Text Box 226"/>
          <p:cNvSpPr txBox="1">
            <a:spLocks noChangeArrowheads="1"/>
          </p:cNvSpPr>
          <p:nvPr/>
        </p:nvSpPr>
        <p:spPr bwMode="auto">
          <a:xfrm>
            <a:off x="3087688" y="867073"/>
            <a:ext cx="685800" cy="34448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post swi2</a:t>
            </a:r>
          </a:p>
        </p:txBody>
      </p:sp>
      <p:cxnSp>
        <p:nvCxnSpPr>
          <p:cNvPr id="9342" name="AutoShape 227"/>
          <p:cNvCxnSpPr>
            <a:cxnSpLocks noChangeShapeType="1"/>
            <a:stCxn id="351267" idx="0"/>
            <a:endCxn id="9341" idx="2"/>
          </p:cNvCxnSpPr>
          <p:nvPr/>
        </p:nvCxnSpPr>
        <p:spPr bwMode="auto">
          <a:xfrm rot="16200000" flipV="1">
            <a:off x="3394076" y="1248073"/>
            <a:ext cx="147638" cy="74613"/>
          </a:xfrm>
          <a:prstGeom prst="straightConnector1">
            <a:avLst/>
          </a:prstGeom>
          <a:noFill/>
          <a:ln w="19050">
            <a:solidFill>
              <a:srgbClr val="080808"/>
            </a:solidFill>
            <a:round/>
            <a:headEnd/>
            <a:tailEnd/>
          </a:ln>
        </p:spPr>
      </p:cxnSp>
      <p:sp>
        <p:nvSpPr>
          <p:cNvPr id="9339" name="Text Box 229"/>
          <p:cNvSpPr txBox="1">
            <a:spLocks noChangeArrowheads="1"/>
          </p:cNvSpPr>
          <p:nvPr/>
        </p:nvSpPr>
        <p:spPr bwMode="auto">
          <a:xfrm>
            <a:off x="3581400" y="960736"/>
            <a:ext cx="646113" cy="173037"/>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return</a:t>
            </a:r>
          </a:p>
        </p:txBody>
      </p:sp>
      <p:cxnSp>
        <p:nvCxnSpPr>
          <p:cNvPr id="9340" name="AutoShape 230"/>
          <p:cNvCxnSpPr>
            <a:cxnSpLocks noChangeShapeType="1"/>
            <a:stCxn id="351273" idx="0"/>
            <a:endCxn id="9339" idx="2"/>
          </p:cNvCxnSpPr>
          <p:nvPr/>
        </p:nvCxnSpPr>
        <p:spPr bwMode="auto">
          <a:xfrm rot="5400000" flipH="1" flipV="1">
            <a:off x="3668713" y="1122661"/>
            <a:ext cx="225425" cy="247650"/>
          </a:xfrm>
          <a:prstGeom prst="straightConnector1">
            <a:avLst/>
          </a:prstGeom>
          <a:noFill/>
          <a:ln w="19050">
            <a:solidFill>
              <a:srgbClr val="080808"/>
            </a:solidFill>
            <a:round/>
            <a:headEnd/>
            <a:tailEnd/>
          </a:ln>
        </p:spPr>
      </p:cxnSp>
      <p:sp>
        <p:nvSpPr>
          <p:cNvPr id="9337" name="Text Box 232"/>
          <p:cNvSpPr txBox="1">
            <a:spLocks noChangeArrowheads="1"/>
          </p:cNvSpPr>
          <p:nvPr/>
        </p:nvSpPr>
        <p:spPr bwMode="auto">
          <a:xfrm>
            <a:off x="4687888" y="876598"/>
            <a:ext cx="685800" cy="34448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post sem2</a:t>
            </a:r>
          </a:p>
        </p:txBody>
      </p:sp>
      <p:cxnSp>
        <p:nvCxnSpPr>
          <p:cNvPr id="9338" name="AutoShape 233"/>
          <p:cNvCxnSpPr>
            <a:cxnSpLocks noChangeShapeType="1"/>
            <a:stCxn id="351300" idx="0"/>
            <a:endCxn id="9337" idx="2"/>
          </p:cNvCxnSpPr>
          <p:nvPr/>
        </p:nvCxnSpPr>
        <p:spPr bwMode="auto">
          <a:xfrm rot="16200000" flipV="1">
            <a:off x="5037138" y="1214736"/>
            <a:ext cx="138113" cy="150813"/>
          </a:xfrm>
          <a:prstGeom prst="straightConnector1">
            <a:avLst/>
          </a:prstGeom>
          <a:noFill/>
          <a:ln w="19050">
            <a:solidFill>
              <a:srgbClr val="080808"/>
            </a:solidFill>
            <a:round/>
            <a:headEnd/>
            <a:tailEnd/>
          </a:ln>
        </p:spPr>
      </p:cxnSp>
      <p:sp>
        <p:nvSpPr>
          <p:cNvPr id="9335" name="Text Box 235"/>
          <p:cNvSpPr txBox="1">
            <a:spLocks noChangeArrowheads="1"/>
          </p:cNvSpPr>
          <p:nvPr/>
        </p:nvSpPr>
        <p:spPr bwMode="auto">
          <a:xfrm>
            <a:off x="5221288" y="960736"/>
            <a:ext cx="646112" cy="17303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return</a:t>
            </a:r>
          </a:p>
        </p:txBody>
      </p:sp>
      <p:cxnSp>
        <p:nvCxnSpPr>
          <p:cNvPr id="9336" name="AutoShape 236"/>
          <p:cNvCxnSpPr>
            <a:cxnSpLocks noChangeShapeType="1"/>
            <a:stCxn id="351305" idx="0"/>
            <a:endCxn id="9335" idx="2"/>
          </p:cNvCxnSpPr>
          <p:nvPr/>
        </p:nvCxnSpPr>
        <p:spPr bwMode="auto">
          <a:xfrm rot="5400000" flipH="1" flipV="1">
            <a:off x="5326063" y="1141711"/>
            <a:ext cx="225425" cy="211137"/>
          </a:xfrm>
          <a:prstGeom prst="straightConnector1">
            <a:avLst/>
          </a:prstGeom>
          <a:noFill/>
          <a:ln w="19050">
            <a:solidFill>
              <a:srgbClr val="080808"/>
            </a:solidFill>
            <a:round/>
            <a:headEnd/>
            <a:tailEnd/>
          </a:ln>
        </p:spPr>
      </p:cxnSp>
      <p:sp>
        <p:nvSpPr>
          <p:cNvPr id="9333" name="Text Box 238"/>
          <p:cNvSpPr txBox="1">
            <a:spLocks noChangeArrowheads="1"/>
          </p:cNvSpPr>
          <p:nvPr/>
        </p:nvSpPr>
        <p:spPr bwMode="auto">
          <a:xfrm>
            <a:off x="6248400" y="894061"/>
            <a:ext cx="685800" cy="344487"/>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post swi2</a:t>
            </a:r>
          </a:p>
        </p:txBody>
      </p:sp>
      <p:cxnSp>
        <p:nvCxnSpPr>
          <p:cNvPr id="9334" name="AutoShape 239"/>
          <p:cNvCxnSpPr>
            <a:cxnSpLocks noChangeShapeType="1"/>
            <a:stCxn id="351491" idx="0"/>
            <a:endCxn id="9333" idx="2"/>
          </p:cNvCxnSpPr>
          <p:nvPr/>
        </p:nvCxnSpPr>
        <p:spPr bwMode="auto">
          <a:xfrm rot="16200000" flipV="1">
            <a:off x="6588125" y="1241723"/>
            <a:ext cx="120650" cy="114300"/>
          </a:xfrm>
          <a:prstGeom prst="straightConnector1">
            <a:avLst/>
          </a:prstGeom>
          <a:noFill/>
          <a:ln w="19050">
            <a:solidFill>
              <a:srgbClr val="080808"/>
            </a:solidFill>
            <a:round/>
            <a:headEnd/>
            <a:tailEnd/>
          </a:ln>
        </p:spPr>
      </p:cxnSp>
      <p:sp>
        <p:nvSpPr>
          <p:cNvPr id="9331" name="Text Box 241"/>
          <p:cNvSpPr txBox="1">
            <a:spLocks noChangeArrowheads="1"/>
          </p:cNvSpPr>
          <p:nvPr/>
        </p:nvSpPr>
        <p:spPr bwMode="auto">
          <a:xfrm>
            <a:off x="6781800" y="978198"/>
            <a:ext cx="646113" cy="17303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return</a:t>
            </a:r>
          </a:p>
        </p:txBody>
      </p:sp>
      <p:cxnSp>
        <p:nvCxnSpPr>
          <p:cNvPr id="9332" name="AutoShape 242"/>
          <p:cNvCxnSpPr>
            <a:cxnSpLocks noChangeShapeType="1"/>
            <a:stCxn id="351325" idx="0"/>
            <a:endCxn id="9331" idx="2"/>
          </p:cNvCxnSpPr>
          <p:nvPr/>
        </p:nvCxnSpPr>
        <p:spPr bwMode="auto">
          <a:xfrm rot="5400000" flipH="1" flipV="1">
            <a:off x="6877050" y="1132185"/>
            <a:ext cx="207963" cy="247650"/>
          </a:xfrm>
          <a:prstGeom prst="straightConnector1">
            <a:avLst/>
          </a:prstGeom>
          <a:noFill/>
          <a:ln w="19050">
            <a:solidFill>
              <a:srgbClr val="080808"/>
            </a:solidFill>
            <a:round/>
            <a:headEnd/>
            <a:tailEnd/>
          </a:ln>
        </p:spPr>
      </p:cxnSp>
      <p:sp>
        <p:nvSpPr>
          <p:cNvPr id="9329" name="Text Box 244"/>
          <p:cNvSpPr txBox="1">
            <a:spLocks noChangeArrowheads="1"/>
          </p:cNvSpPr>
          <p:nvPr/>
        </p:nvSpPr>
        <p:spPr bwMode="auto">
          <a:xfrm>
            <a:off x="6858000" y="1435398"/>
            <a:ext cx="685800" cy="34448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post sem1</a:t>
            </a:r>
          </a:p>
        </p:txBody>
      </p:sp>
      <p:cxnSp>
        <p:nvCxnSpPr>
          <p:cNvPr id="9330" name="AutoShape 245"/>
          <p:cNvCxnSpPr>
            <a:cxnSpLocks noChangeShapeType="1"/>
            <a:stCxn id="351407" idx="0"/>
            <a:endCxn id="9329" idx="2"/>
          </p:cNvCxnSpPr>
          <p:nvPr/>
        </p:nvCxnSpPr>
        <p:spPr bwMode="auto">
          <a:xfrm rot="5400000" flipH="1" flipV="1">
            <a:off x="7011988" y="1779886"/>
            <a:ext cx="188913" cy="190500"/>
          </a:xfrm>
          <a:prstGeom prst="straightConnector1">
            <a:avLst/>
          </a:prstGeom>
          <a:noFill/>
          <a:ln w="19050">
            <a:solidFill>
              <a:srgbClr val="080808"/>
            </a:solidFill>
            <a:round/>
            <a:headEnd/>
            <a:tailEnd/>
          </a:ln>
        </p:spPr>
      </p:cxnSp>
      <p:sp>
        <p:nvSpPr>
          <p:cNvPr id="9327" name="Text Box 247"/>
          <p:cNvSpPr txBox="1">
            <a:spLocks noChangeArrowheads="1"/>
          </p:cNvSpPr>
          <p:nvPr/>
        </p:nvSpPr>
        <p:spPr bwMode="auto">
          <a:xfrm>
            <a:off x="7315200" y="1476673"/>
            <a:ext cx="685800" cy="34448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post sem2</a:t>
            </a:r>
          </a:p>
        </p:txBody>
      </p:sp>
      <p:cxnSp>
        <p:nvCxnSpPr>
          <p:cNvPr id="9328" name="AutoShape 248"/>
          <p:cNvCxnSpPr>
            <a:cxnSpLocks noChangeShapeType="1"/>
            <a:stCxn id="351333" idx="0"/>
            <a:endCxn id="9327" idx="2"/>
          </p:cNvCxnSpPr>
          <p:nvPr/>
        </p:nvCxnSpPr>
        <p:spPr bwMode="auto">
          <a:xfrm rot="5400000" flipH="1" flipV="1">
            <a:off x="7413625" y="1724323"/>
            <a:ext cx="147638" cy="342900"/>
          </a:xfrm>
          <a:prstGeom prst="straightConnector1">
            <a:avLst/>
          </a:prstGeom>
          <a:noFill/>
          <a:ln w="19050">
            <a:solidFill>
              <a:srgbClr val="080808"/>
            </a:solidFill>
            <a:round/>
            <a:headEnd/>
            <a:tailEnd/>
          </a:ln>
        </p:spPr>
      </p:cxnSp>
      <p:sp>
        <p:nvSpPr>
          <p:cNvPr id="9325" name="Text Box 250"/>
          <p:cNvSpPr txBox="1">
            <a:spLocks noChangeArrowheads="1"/>
          </p:cNvSpPr>
          <p:nvPr/>
        </p:nvSpPr>
        <p:spPr bwMode="auto">
          <a:xfrm>
            <a:off x="7696200" y="1892598"/>
            <a:ext cx="646113" cy="17303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return</a:t>
            </a:r>
          </a:p>
        </p:txBody>
      </p:sp>
      <p:cxnSp>
        <p:nvCxnSpPr>
          <p:cNvPr id="9326" name="AutoShape 251"/>
          <p:cNvCxnSpPr>
            <a:cxnSpLocks noChangeShapeType="1"/>
            <a:stCxn id="351338" idx="3"/>
            <a:endCxn id="9325" idx="1"/>
          </p:cNvCxnSpPr>
          <p:nvPr/>
        </p:nvCxnSpPr>
        <p:spPr bwMode="auto">
          <a:xfrm flipV="1">
            <a:off x="7543800" y="1978323"/>
            <a:ext cx="152400" cy="66675"/>
          </a:xfrm>
          <a:prstGeom prst="straightConnector1">
            <a:avLst/>
          </a:prstGeom>
          <a:noFill/>
          <a:ln w="19050">
            <a:solidFill>
              <a:srgbClr val="080808"/>
            </a:solidFill>
            <a:round/>
            <a:headEnd/>
            <a:tailEnd/>
          </a:ln>
        </p:spPr>
      </p:cxnSp>
      <p:sp>
        <p:nvSpPr>
          <p:cNvPr id="9323" name="Text Box 253"/>
          <p:cNvSpPr txBox="1">
            <a:spLocks noChangeArrowheads="1"/>
          </p:cNvSpPr>
          <p:nvPr/>
        </p:nvSpPr>
        <p:spPr bwMode="auto">
          <a:xfrm>
            <a:off x="7620000" y="2619673"/>
            <a:ext cx="685800" cy="34448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pend sem2</a:t>
            </a:r>
          </a:p>
        </p:txBody>
      </p:sp>
      <p:cxnSp>
        <p:nvCxnSpPr>
          <p:cNvPr id="9324" name="AutoShape 254"/>
          <p:cNvCxnSpPr>
            <a:cxnSpLocks noChangeShapeType="1"/>
            <a:stCxn id="351347" idx="0"/>
            <a:endCxn id="9323" idx="2"/>
          </p:cNvCxnSpPr>
          <p:nvPr/>
        </p:nvCxnSpPr>
        <p:spPr bwMode="auto">
          <a:xfrm rot="5400000" flipH="1" flipV="1">
            <a:off x="7835900" y="3054648"/>
            <a:ext cx="217488" cy="38100"/>
          </a:xfrm>
          <a:prstGeom prst="straightConnector1">
            <a:avLst/>
          </a:prstGeom>
          <a:noFill/>
          <a:ln w="19050">
            <a:solidFill>
              <a:srgbClr val="080808"/>
            </a:solidFill>
            <a:round/>
            <a:headEnd/>
            <a:tailEnd/>
          </a:ln>
        </p:spPr>
      </p:cxnSp>
      <p:sp>
        <p:nvSpPr>
          <p:cNvPr id="9321" name="Text Box 256"/>
          <p:cNvSpPr txBox="1">
            <a:spLocks noChangeArrowheads="1"/>
          </p:cNvSpPr>
          <p:nvPr/>
        </p:nvSpPr>
        <p:spPr bwMode="auto">
          <a:xfrm>
            <a:off x="7924800" y="3264198"/>
            <a:ext cx="685800" cy="344488"/>
          </a:xfrm>
          <a:prstGeom prst="rect">
            <a:avLst/>
          </a:prstGeom>
          <a:noFill/>
          <a:ln w="12700">
            <a:noFill/>
            <a:miter lim="800000"/>
            <a:headEnd type="none" w="sm" len="sm"/>
            <a:tailEnd type="none" w="sm" len="sm"/>
          </a:ln>
        </p:spPr>
        <p:txBody>
          <a:bodyPr lIns="0" tIns="0" rIns="0" bIns="0">
            <a:spAutoFit/>
          </a:bodyPr>
          <a:lstStyle/>
          <a:p>
            <a:pPr algn="ctr"/>
            <a:r>
              <a:rPr lang="en-US" sz="1400" b="0">
                <a:solidFill>
                  <a:srgbClr val="111111"/>
                </a:solidFill>
              </a:rPr>
              <a:t>pend sem1</a:t>
            </a:r>
          </a:p>
        </p:txBody>
      </p:sp>
      <p:cxnSp>
        <p:nvCxnSpPr>
          <p:cNvPr id="9322" name="AutoShape 257"/>
          <p:cNvCxnSpPr>
            <a:cxnSpLocks noChangeShapeType="1"/>
            <a:stCxn id="351351" idx="0"/>
            <a:endCxn id="9321" idx="2"/>
          </p:cNvCxnSpPr>
          <p:nvPr/>
        </p:nvCxnSpPr>
        <p:spPr bwMode="auto">
          <a:xfrm rot="5400000" flipH="1" flipV="1">
            <a:off x="8158163" y="3681711"/>
            <a:ext cx="182563" cy="38100"/>
          </a:xfrm>
          <a:prstGeom prst="straightConnector1">
            <a:avLst/>
          </a:prstGeom>
          <a:noFill/>
          <a:ln w="19050">
            <a:solidFill>
              <a:srgbClr val="080808"/>
            </a:solidFill>
            <a:round/>
            <a:headEnd/>
            <a:tailEnd/>
          </a:ln>
        </p:spPr>
      </p:cxnSp>
      <p:sp>
        <p:nvSpPr>
          <p:cNvPr id="351491" name="Rectangle 259"/>
          <p:cNvSpPr>
            <a:spLocks noChangeArrowheads="1"/>
          </p:cNvSpPr>
          <p:nvPr/>
        </p:nvSpPr>
        <p:spPr bwMode="auto">
          <a:xfrm>
            <a:off x="6629400" y="13591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92" name="Rectangle 260"/>
          <p:cNvSpPr>
            <a:spLocks noChangeArrowheads="1"/>
          </p:cNvSpPr>
          <p:nvPr/>
        </p:nvSpPr>
        <p:spPr bwMode="auto">
          <a:xfrm>
            <a:off x="6629400" y="5016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93" name="Line 261"/>
          <p:cNvSpPr>
            <a:spLocks noChangeShapeType="1"/>
          </p:cNvSpPr>
          <p:nvPr/>
        </p:nvSpPr>
        <p:spPr bwMode="auto">
          <a:xfrm>
            <a:off x="6629400" y="1511598"/>
            <a:ext cx="0" cy="3505200"/>
          </a:xfrm>
          <a:prstGeom prst="line">
            <a:avLst/>
          </a:prstGeom>
          <a:noFill/>
          <a:ln w="12700">
            <a:solidFill>
              <a:srgbClr val="080808"/>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94" name="Rectangle 262"/>
          <p:cNvSpPr>
            <a:spLocks noChangeArrowheads="1"/>
          </p:cNvSpPr>
          <p:nvPr/>
        </p:nvSpPr>
        <p:spPr bwMode="auto">
          <a:xfrm>
            <a:off x="6629400" y="1968798"/>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290" name="Text Box 263"/>
          <p:cNvSpPr txBox="1">
            <a:spLocks noChangeArrowheads="1"/>
          </p:cNvSpPr>
          <p:nvPr/>
        </p:nvSpPr>
        <p:spPr bwMode="auto">
          <a:xfrm>
            <a:off x="3805238" y="5702598"/>
            <a:ext cx="2214562" cy="336550"/>
          </a:xfrm>
          <a:prstGeom prst="rect">
            <a:avLst/>
          </a:prstGeom>
          <a:noFill/>
          <a:ln w="12700">
            <a:noFill/>
            <a:miter lim="800000"/>
            <a:headEnd/>
            <a:tailEnd/>
          </a:ln>
        </p:spPr>
        <p:txBody>
          <a:bodyPr wrap="none" anchor="ctr">
            <a:spAutoFit/>
          </a:bodyPr>
          <a:lstStyle/>
          <a:p>
            <a:pPr algn="ctr"/>
            <a:r>
              <a:rPr lang="en-US" sz="2000"/>
              <a:t>Events over time</a:t>
            </a:r>
            <a:endParaRPr lang="en-US" sz="2800">
              <a:latin typeface="Times New Roman" pitchFamily="18" charset="0"/>
            </a:endParaRPr>
          </a:p>
        </p:txBody>
      </p:sp>
      <p:sp>
        <p:nvSpPr>
          <p:cNvPr id="351496" name="Line 264"/>
          <p:cNvSpPr>
            <a:spLocks noChangeShapeType="1"/>
          </p:cNvSpPr>
          <p:nvPr/>
        </p:nvSpPr>
        <p:spPr bwMode="auto">
          <a:xfrm>
            <a:off x="1447800" y="5854998"/>
            <a:ext cx="243840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97" name="Line 265"/>
          <p:cNvSpPr>
            <a:spLocks noChangeShapeType="1"/>
          </p:cNvSpPr>
          <p:nvPr/>
        </p:nvSpPr>
        <p:spPr bwMode="auto">
          <a:xfrm>
            <a:off x="5943600" y="5854998"/>
            <a:ext cx="2514600" cy="0"/>
          </a:xfrm>
          <a:prstGeom prst="line">
            <a:avLst/>
          </a:prstGeom>
          <a:noFill/>
          <a:ln w="1270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499" name="Rectangle 267"/>
          <p:cNvSpPr>
            <a:spLocks noChangeArrowheads="1"/>
          </p:cNvSpPr>
          <p:nvPr/>
        </p:nvSpPr>
        <p:spPr bwMode="auto">
          <a:xfrm>
            <a:off x="1905000" y="3183759"/>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500" name="Rectangle 268"/>
          <p:cNvSpPr>
            <a:spLocks noChangeArrowheads="1"/>
          </p:cNvSpPr>
          <p:nvPr/>
        </p:nvSpPr>
        <p:spPr bwMode="auto">
          <a:xfrm>
            <a:off x="1905000" y="3791472"/>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501" name="Rectangle 269"/>
          <p:cNvSpPr>
            <a:spLocks noChangeArrowheads="1"/>
          </p:cNvSpPr>
          <p:nvPr/>
        </p:nvSpPr>
        <p:spPr bwMode="auto">
          <a:xfrm>
            <a:off x="1905000" y="5013623"/>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503" name="Rectangle 271"/>
          <p:cNvSpPr>
            <a:spLocks noChangeArrowheads="1"/>
          </p:cNvSpPr>
          <p:nvPr/>
        </p:nvSpPr>
        <p:spPr bwMode="auto">
          <a:xfrm>
            <a:off x="1752600" y="3183759"/>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504" name="Rectangle 272"/>
          <p:cNvSpPr>
            <a:spLocks noChangeArrowheads="1"/>
          </p:cNvSpPr>
          <p:nvPr/>
        </p:nvSpPr>
        <p:spPr bwMode="auto">
          <a:xfrm>
            <a:off x="1752600" y="3791472"/>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505" name="Rectangle 273"/>
          <p:cNvSpPr>
            <a:spLocks noChangeArrowheads="1"/>
          </p:cNvSpPr>
          <p:nvPr/>
        </p:nvSpPr>
        <p:spPr bwMode="auto">
          <a:xfrm>
            <a:off x="1752600" y="5013623"/>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507" name="Rectangle 275"/>
          <p:cNvSpPr>
            <a:spLocks noChangeArrowheads="1"/>
          </p:cNvSpPr>
          <p:nvPr/>
        </p:nvSpPr>
        <p:spPr bwMode="auto">
          <a:xfrm>
            <a:off x="1600200" y="3182496"/>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508" name="Rectangle 276"/>
          <p:cNvSpPr>
            <a:spLocks noChangeArrowheads="1"/>
          </p:cNvSpPr>
          <p:nvPr/>
        </p:nvSpPr>
        <p:spPr bwMode="auto">
          <a:xfrm>
            <a:off x="1600200" y="3791772"/>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509" name="Rectangle 277"/>
          <p:cNvSpPr>
            <a:spLocks noChangeArrowheads="1"/>
          </p:cNvSpPr>
          <p:nvPr/>
        </p:nvSpPr>
        <p:spPr bwMode="auto">
          <a:xfrm>
            <a:off x="1600200" y="5012036"/>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51513" name="Rectangle 281"/>
          <p:cNvSpPr>
            <a:spLocks noChangeArrowheads="1"/>
          </p:cNvSpPr>
          <p:nvPr/>
        </p:nvSpPr>
        <p:spPr bwMode="auto">
          <a:xfrm>
            <a:off x="1447800" y="5012036"/>
            <a:ext cx="152400" cy="152400"/>
          </a:xfrm>
          <a:prstGeom prst="rect">
            <a:avLst/>
          </a:prstGeom>
          <a:solidFill>
            <a:srgbClr val="F8F8F8"/>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17" name="Rectangle 279"/>
          <p:cNvSpPr>
            <a:spLocks noChangeArrowheads="1"/>
          </p:cNvSpPr>
          <p:nvPr/>
        </p:nvSpPr>
        <p:spPr bwMode="auto">
          <a:xfrm>
            <a:off x="1447800" y="4407198"/>
            <a:ext cx="152400" cy="152400"/>
          </a:xfrm>
          <a:prstGeom prst="rect">
            <a:avLst/>
          </a:prstGeom>
          <a:solidFill>
            <a:schemeClr val="accent2"/>
          </a:solidFill>
          <a:ln w="19050">
            <a:solidFill>
              <a:srgbClr val="080808"/>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19" name="Text Box 10"/>
          <p:cNvSpPr txBox="1">
            <a:spLocks noChangeArrowheads="1"/>
          </p:cNvSpPr>
          <p:nvPr/>
        </p:nvSpPr>
        <p:spPr bwMode="auto">
          <a:xfrm>
            <a:off x="533400" y="4330998"/>
            <a:ext cx="813043" cy="313932"/>
          </a:xfrm>
          <a:prstGeom prst="rect">
            <a:avLst/>
          </a:prstGeom>
          <a:noFill/>
          <a:ln w="12700">
            <a:noFill/>
            <a:miter lim="800000"/>
            <a:headEnd type="none" w="sm" len="sm"/>
            <a:tailEnd type="none" w="sm" len="sm"/>
          </a:ln>
        </p:spPr>
        <p:txBody>
          <a:bodyPr wrap="none">
            <a:spAutoFit/>
          </a:bodyPr>
          <a:lstStyle/>
          <a:p>
            <a:r>
              <a:rPr lang="en-US" sz="1800" dirty="0" smtClean="0">
                <a:solidFill>
                  <a:srgbClr val="111111"/>
                </a:solidFill>
              </a:rPr>
              <a:t>_start</a:t>
            </a:r>
            <a:endParaRPr lang="en-US" sz="1800" dirty="0">
              <a:solidFill>
                <a:srgbClr val="111111"/>
              </a:solidFill>
              <a:latin typeface="Times New Roman" pitchFamily="18" charset="0"/>
            </a:endParaRPr>
          </a:p>
        </p:txBody>
      </p:sp>
      <p:sp>
        <p:nvSpPr>
          <p:cNvPr id="220" name="Line 125"/>
          <p:cNvSpPr>
            <a:spLocks noChangeShapeType="1"/>
          </p:cNvSpPr>
          <p:nvPr/>
        </p:nvSpPr>
        <p:spPr bwMode="auto">
          <a:xfrm>
            <a:off x="1600200" y="3340398"/>
            <a:ext cx="0" cy="1143000"/>
          </a:xfrm>
          <a:prstGeom prst="line">
            <a:avLst/>
          </a:prstGeom>
          <a:noFill/>
          <a:ln w="12700">
            <a:solidFill>
              <a:srgbClr val="080808"/>
            </a:solidFill>
            <a:prstDash val="dash"/>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pic>
        <p:nvPicPr>
          <p:cNvPr id="222"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
        <p:nvSpPr>
          <p:cNvPr id="2" name="Rectangle 1"/>
          <p:cNvSpPr/>
          <p:nvPr/>
        </p:nvSpPr>
        <p:spPr bwMode="auto">
          <a:xfrm>
            <a:off x="2819400" y="844450"/>
            <a:ext cx="5791200" cy="4794350"/>
          </a:xfrm>
          <a:prstGeom prst="rect">
            <a:avLst/>
          </a:prstGeom>
          <a:solidFill>
            <a:srgbClr val="FFFFFF">
              <a:alpha val="80000"/>
            </a:srgbClr>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3" name="Rectangle 2"/>
          <p:cNvSpPr/>
          <p:nvPr/>
        </p:nvSpPr>
        <p:spPr bwMode="auto">
          <a:xfrm>
            <a:off x="446566" y="2784424"/>
            <a:ext cx="2296633" cy="2016175"/>
          </a:xfrm>
          <a:prstGeom prst="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6" name="Rounded Rectangle 5"/>
          <p:cNvSpPr/>
          <p:nvPr/>
        </p:nvSpPr>
        <p:spPr bwMode="auto">
          <a:xfrm>
            <a:off x="3027713" y="3206665"/>
            <a:ext cx="3050566" cy="1159642"/>
          </a:xfrm>
          <a:prstGeom prst="round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dirty="0" smtClean="0">
                <a:ln>
                  <a:noFill/>
                </a:ln>
                <a:solidFill>
                  <a:schemeClr val="dk1"/>
                </a:solidFill>
                <a:effectLst/>
                <a:latin typeface="Calibri" pitchFamily="34" charset="0"/>
                <a:cs typeface="Calibri" pitchFamily="34" charset="0"/>
              </a:rPr>
              <a:t>Notice that Tasks run immediately when Scheduler starts…</a:t>
            </a: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chemeClr val="accent2"/>
        </a:solidFill>
        <a:effectLst/>
      </p:bgPr>
    </p:bg>
    <p:spTree>
      <p:nvGrpSpPr>
        <p:cNvPr id="1" name=""/>
        <p:cNvGrpSpPr/>
        <p:nvPr/>
      </p:nvGrpSpPr>
      <p:grpSpPr>
        <a:xfrm>
          <a:off x="0" y="0"/>
          <a:ext cx="0" cy="0"/>
          <a:chOff x="0" y="0"/>
          <a:chExt cx="0" cy="0"/>
        </a:xfrm>
      </p:grpSpPr>
      <p:sp>
        <p:nvSpPr>
          <p:cNvPr id="364546" name="Rectangle 2"/>
          <p:cNvSpPr>
            <a:spLocks noChangeArrowheads="1"/>
          </p:cNvSpPr>
          <p:nvPr/>
        </p:nvSpPr>
        <p:spPr bwMode="auto">
          <a:xfrm>
            <a:off x="6324600" y="1066800"/>
            <a:ext cx="304800" cy="381000"/>
          </a:xfrm>
          <a:prstGeom prst="rect">
            <a:avLst/>
          </a:prstGeom>
          <a:noFill/>
          <a:ln w="12700" algn="ctr">
            <a:noFill/>
            <a:miter lim="800000"/>
            <a:headEnd/>
            <a:tailEnd/>
          </a:ln>
          <a:effectLst/>
        </p:spPr>
        <p:txBody>
          <a:bodyPr anchor="ctr">
            <a:spAutoFit/>
          </a:bodyPr>
          <a:lstStyle/>
          <a:p>
            <a:pPr>
              <a:defRPr/>
            </a:pPr>
            <a:endParaRPr lang="en-US">
              <a:effectLst>
                <a:outerShdw blurRad="38100" dist="38100" dir="2700000" algn="tl">
                  <a:srgbClr val="000000">
                    <a:alpha val="43137"/>
                  </a:srgbClr>
                </a:outerShdw>
              </a:effectLst>
            </a:endParaRPr>
          </a:p>
        </p:txBody>
      </p:sp>
      <p:sp>
        <p:nvSpPr>
          <p:cNvPr id="364547" name="Rectangle 3"/>
          <p:cNvSpPr>
            <a:spLocks noChangeArrowheads="1"/>
          </p:cNvSpPr>
          <p:nvPr/>
        </p:nvSpPr>
        <p:spPr bwMode="auto">
          <a:xfrm>
            <a:off x="6324600" y="1828800"/>
            <a:ext cx="304800" cy="381000"/>
          </a:xfrm>
          <a:prstGeom prst="rect">
            <a:avLst/>
          </a:prstGeom>
          <a:noFill/>
          <a:ln w="12700" algn="ctr">
            <a:noFill/>
            <a:miter lim="800000"/>
            <a:headEnd/>
            <a:tailEnd/>
          </a:ln>
          <a:effectLst/>
        </p:spPr>
        <p:txBody>
          <a:bodyPr anchor="ctr">
            <a:spAutoFit/>
          </a:bodyPr>
          <a:lstStyle/>
          <a:p>
            <a:pPr>
              <a:defRPr/>
            </a:pPr>
            <a:endParaRPr lang="en-US">
              <a:effectLst>
                <a:outerShdw blurRad="38100" dist="38100" dir="2700000" algn="tl">
                  <a:srgbClr val="000000">
                    <a:alpha val="43137"/>
                  </a:srgbClr>
                </a:outerShdw>
              </a:effectLst>
            </a:endParaRPr>
          </a:p>
        </p:txBody>
      </p:sp>
      <p:sp>
        <p:nvSpPr>
          <p:cNvPr id="364548" name="Rectangle 4"/>
          <p:cNvSpPr>
            <a:spLocks noChangeArrowheads="1"/>
          </p:cNvSpPr>
          <p:nvPr/>
        </p:nvSpPr>
        <p:spPr bwMode="auto">
          <a:xfrm>
            <a:off x="6324600" y="3416300"/>
            <a:ext cx="304800" cy="381000"/>
          </a:xfrm>
          <a:prstGeom prst="rect">
            <a:avLst/>
          </a:prstGeom>
          <a:noFill/>
          <a:ln w="12700" algn="ctr">
            <a:noFill/>
            <a:miter lim="800000"/>
            <a:headEnd/>
            <a:tailEnd/>
          </a:ln>
          <a:effectLst/>
        </p:spPr>
        <p:txBody>
          <a:bodyPr anchor="ctr">
            <a:spAutoFit/>
          </a:bodyPr>
          <a:lstStyle/>
          <a:p>
            <a:pPr>
              <a:defRPr/>
            </a:pPr>
            <a:endParaRPr lang="en-US">
              <a:effectLst>
                <a:outerShdw blurRad="38100" dist="38100" dir="2700000" algn="tl">
                  <a:srgbClr val="000000">
                    <a:alpha val="43137"/>
                  </a:srgbClr>
                </a:outerShdw>
              </a:effectLst>
            </a:endParaRPr>
          </a:p>
        </p:txBody>
      </p:sp>
      <p:sp>
        <p:nvSpPr>
          <p:cNvPr id="364549" name="Rectangle 5"/>
          <p:cNvSpPr>
            <a:spLocks noChangeArrowheads="1"/>
          </p:cNvSpPr>
          <p:nvPr/>
        </p:nvSpPr>
        <p:spPr bwMode="auto">
          <a:xfrm>
            <a:off x="6324600" y="4178300"/>
            <a:ext cx="304800" cy="381000"/>
          </a:xfrm>
          <a:prstGeom prst="rect">
            <a:avLst/>
          </a:prstGeom>
          <a:noFill/>
          <a:ln w="12700" algn="ctr">
            <a:noFill/>
            <a:miter lim="800000"/>
            <a:headEnd/>
            <a:tailEnd/>
          </a:ln>
          <a:effectLst/>
        </p:spPr>
        <p:txBody>
          <a:bodyPr anchor="ctr">
            <a:spAutoFit/>
          </a:bodyPr>
          <a:lstStyle/>
          <a:p>
            <a:pPr>
              <a:defRPr/>
            </a:pPr>
            <a:endParaRPr lang="en-US">
              <a:effectLst>
                <a:outerShdw blurRad="38100" dist="38100" dir="2700000" algn="tl">
                  <a:srgbClr val="000000">
                    <a:alpha val="43137"/>
                  </a:srgbClr>
                </a:outerShdw>
              </a:effectLst>
            </a:endParaRPr>
          </a:p>
        </p:txBody>
      </p:sp>
      <p:graphicFrame>
        <p:nvGraphicFramePr>
          <p:cNvPr id="364550" name="Group 6"/>
          <p:cNvGraphicFramePr>
            <a:graphicFrameLocks noGrp="1"/>
          </p:cNvGraphicFramePr>
          <p:nvPr/>
        </p:nvGraphicFramePr>
        <p:xfrm>
          <a:off x="5029200" y="685800"/>
          <a:ext cx="1600200" cy="1905000"/>
        </p:xfrm>
        <a:graphic>
          <a:graphicData uri="http://schemas.openxmlformats.org/drawingml/2006/table">
            <a:tbl>
              <a:tblPr/>
              <a:tblGrid>
                <a:gridCol w="1023938"/>
                <a:gridCol w="576262"/>
              </a:tblGrid>
              <a:tr h="381000">
                <a:tc>
                  <a:txBody>
                    <a:bodyPr/>
                    <a:lstStyle/>
                    <a:p>
                      <a:pPr marL="0" marR="0" lvl="0" indent="0" algn="l"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fxn</a:t>
                      </a:r>
                    </a:p>
                  </a:txBody>
                  <a:tcPr anchor="ctr" horzOverflow="overflow">
                    <a:lnL w="1905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905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 *</a:t>
                      </a:r>
                    </a:p>
                  </a:txBody>
                  <a:tcPr anchor="ctr" horzOverflow="overflow">
                    <a:lnL w="12700" cap="flat" cmpd="sng" algn="ctr">
                      <a:solidFill>
                        <a:schemeClr val="tx1"/>
                      </a:solidFill>
                      <a:prstDash val="solid"/>
                      <a:round/>
                      <a:headEnd type="none" w="sm" len="sm"/>
                      <a:tailEnd type="none" w="sm" len="sm"/>
                    </a:lnL>
                    <a:lnR w="19050" cap="flat" cmpd="sng" algn="ctr">
                      <a:solidFill>
                        <a:schemeClr val="tx1"/>
                      </a:solidFill>
                      <a:prstDash val="solid"/>
                      <a:round/>
                      <a:headEnd type="none" w="sm" len="sm"/>
                      <a:tailEnd type="none" w="sm" len="sm"/>
                    </a:lnR>
                    <a:lnT w="1905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r>
              <a:tr h="381000">
                <a:tc>
                  <a:txBody>
                    <a:bodyPr/>
                    <a:lstStyle/>
                    <a:p>
                      <a:pPr marL="0" marR="0" lvl="0" indent="0" algn="l"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environ</a:t>
                      </a:r>
                    </a:p>
                  </a:txBody>
                  <a:tcPr anchor="ctr" horzOverflow="overflow">
                    <a:lnL w="1905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 *</a:t>
                      </a:r>
                    </a:p>
                  </a:txBody>
                  <a:tcPr anchor="ctr" horzOverflow="overflow">
                    <a:lnL w="12700" cap="flat" cmpd="sng" algn="ctr">
                      <a:solidFill>
                        <a:schemeClr val="tx1"/>
                      </a:solidFill>
                      <a:prstDash val="solid"/>
                      <a:round/>
                      <a:headEnd type="none" w="sm" len="sm"/>
                      <a:tailEnd type="none" w="sm" len="sm"/>
                    </a:lnL>
                    <a:lnR w="1905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r>
              <a:tr h="381000">
                <a:tc>
                  <a:txBody>
                    <a:bodyPr/>
                    <a:lstStyle/>
                    <a:p>
                      <a:pPr marL="0" marR="0" lvl="0" indent="0" algn="l"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priority</a:t>
                      </a:r>
                    </a:p>
                  </a:txBody>
                  <a:tcPr anchor="ctr" horzOverflow="overflow">
                    <a:lnL w="1905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6</a:t>
                      </a:r>
                    </a:p>
                  </a:txBody>
                  <a:tcPr anchor="ctr" horzOverflow="overflow">
                    <a:lnL w="12700" cap="flat" cmpd="sng" algn="ctr">
                      <a:solidFill>
                        <a:schemeClr val="tx1"/>
                      </a:solidFill>
                      <a:prstDash val="solid"/>
                      <a:round/>
                      <a:headEnd type="none" w="sm" len="sm"/>
                      <a:tailEnd type="none" w="sm" len="sm"/>
                    </a:lnL>
                    <a:lnR w="1905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r>
              <a:tr h="381000">
                <a:tc>
                  <a:txBody>
                    <a:bodyPr/>
                    <a:lstStyle/>
                    <a:p>
                      <a:pPr marL="0" marR="0" lvl="0" indent="0" algn="l"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stack</a:t>
                      </a:r>
                    </a:p>
                  </a:txBody>
                  <a:tcPr anchor="ctr" horzOverflow="overflow">
                    <a:lnL w="1905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 *</a:t>
                      </a:r>
                    </a:p>
                  </a:txBody>
                  <a:tcPr anchor="ctr" horzOverflow="overflow">
                    <a:lnL w="12700" cap="flat" cmpd="sng" algn="ctr">
                      <a:solidFill>
                        <a:schemeClr val="tx1"/>
                      </a:solidFill>
                      <a:prstDash val="solid"/>
                      <a:round/>
                      <a:headEnd type="none" w="sm" len="sm"/>
                      <a:tailEnd type="none" w="sm" len="sm"/>
                    </a:lnL>
                    <a:lnR w="1905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r>
              <a:tr h="381000">
                <a:tc>
                  <a:txBody>
                    <a:bodyPr/>
                    <a:lstStyle/>
                    <a:p>
                      <a:pPr marL="0" marR="0" lvl="0" indent="0" algn="l"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name</a:t>
                      </a:r>
                    </a:p>
                  </a:txBody>
                  <a:tcPr anchor="ctr" horzOverflow="overflow">
                    <a:lnL w="1905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905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lpf1</a:t>
                      </a:r>
                    </a:p>
                  </a:txBody>
                  <a:tcPr anchor="ctr" horzOverflow="overflow">
                    <a:lnL w="12700" cap="flat" cmpd="sng" algn="ctr">
                      <a:solidFill>
                        <a:schemeClr val="tx1"/>
                      </a:solidFill>
                      <a:prstDash val="solid"/>
                      <a:round/>
                      <a:headEnd type="none" w="sm" len="sm"/>
                      <a:tailEnd type="none" w="sm" len="sm"/>
                    </a:lnL>
                    <a:lnR w="1905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9050" cap="flat" cmpd="sng" algn="ctr">
                      <a:solidFill>
                        <a:schemeClr val="tx1"/>
                      </a:solidFill>
                      <a:prstDash val="solid"/>
                      <a:round/>
                      <a:headEnd type="none" w="sm" len="sm"/>
                      <a:tailEnd type="none" w="sm" len="sm"/>
                    </a:lnB>
                    <a:lnTlToBr>
                      <a:noFill/>
                    </a:lnTlToBr>
                    <a:lnBlToTr>
                      <a:noFill/>
                    </a:lnBlToTr>
                    <a:solidFill>
                      <a:schemeClr val="accent1"/>
                    </a:solidFill>
                  </a:tcPr>
                </a:tc>
              </a:tr>
            </a:tbl>
          </a:graphicData>
        </a:graphic>
      </p:graphicFrame>
      <p:sp>
        <p:nvSpPr>
          <p:cNvPr id="17434" name="Rectangle 26"/>
          <p:cNvSpPr>
            <a:spLocks noChangeArrowheads="1"/>
          </p:cNvSpPr>
          <p:nvPr/>
        </p:nvSpPr>
        <p:spPr bwMode="auto">
          <a:xfrm>
            <a:off x="7467600" y="2514600"/>
            <a:ext cx="1447800" cy="593725"/>
          </a:xfrm>
          <a:prstGeom prst="rect">
            <a:avLst/>
          </a:prstGeom>
          <a:solidFill>
            <a:schemeClr val="accent2"/>
          </a:solidFill>
          <a:ln w="12700">
            <a:solidFill>
              <a:schemeClr val="tx1"/>
            </a:solidFill>
            <a:miter lim="800000"/>
            <a:headEnd/>
            <a:tailEnd/>
          </a:ln>
        </p:spPr>
        <p:txBody>
          <a:bodyPr lIns="92075" tIns="46038" rIns="92075" bIns="46038">
            <a:spAutoFit/>
          </a:bodyPr>
          <a:lstStyle/>
          <a:p>
            <a:pPr algn="ctr">
              <a:spcBef>
                <a:spcPct val="0"/>
              </a:spcBef>
            </a:pPr>
            <a:r>
              <a:rPr lang="en-US" sz="2000" b="0"/>
              <a:t>C fxn, eg: </a:t>
            </a:r>
            <a:br>
              <a:rPr lang="en-US" sz="2000" b="0"/>
            </a:br>
            <a:r>
              <a:rPr lang="en-US" sz="2000" b="0"/>
              <a:t>bk FIR</a:t>
            </a:r>
          </a:p>
        </p:txBody>
      </p:sp>
      <p:sp>
        <p:nvSpPr>
          <p:cNvPr id="17435" name="Rectangle 27"/>
          <p:cNvSpPr>
            <a:spLocks noChangeArrowheads="1"/>
          </p:cNvSpPr>
          <p:nvPr/>
        </p:nvSpPr>
        <p:spPr bwMode="auto">
          <a:xfrm>
            <a:off x="4235450" y="3062288"/>
            <a:ext cx="717550" cy="366712"/>
          </a:xfrm>
          <a:prstGeom prst="rect">
            <a:avLst/>
          </a:prstGeom>
          <a:noFill/>
          <a:ln w="9525">
            <a:noFill/>
            <a:miter lim="800000"/>
            <a:headEnd/>
            <a:tailEnd/>
          </a:ln>
        </p:spPr>
        <p:txBody>
          <a:bodyPr wrap="none" lIns="92075" tIns="46038" rIns="92075" bIns="46038">
            <a:spAutoFit/>
          </a:bodyPr>
          <a:lstStyle/>
          <a:p>
            <a:pPr>
              <a:lnSpc>
                <a:spcPct val="100000"/>
              </a:lnSpc>
              <a:spcBef>
                <a:spcPct val="0"/>
              </a:spcBef>
            </a:pPr>
            <a:r>
              <a:rPr lang="en-US" sz="1800"/>
              <a:t>inst2</a:t>
            </a:r>
          </a:p>
        </p:txBody>
      </p:sp>
      <p:sp>
        <p:nvSpPr>
          <p:cNvPr id="17436" name="Rectangle 28"/>
          <p:cNvSpPr>
            <a:spLocks noChangeArrowheads="1"/>
          </p:cNvSpPr>
          <p:nvPr/>
        </p:nvSpPr>
        <p:spPr bwMode="auto">
          <a:xfrm>
            <a:off x="4038600" y="685800"/>
            <a:ext cx="908050" cy="366713"/>
          </a:xfrm>
          <a:prstGeom prst="rect">
            <a:avLst/>
          </a:prstGeom>
          <a:noFill/>
          <a:ln w="9525">
            <a:noFill/>
            <a:miter lim="800000"/>
            <a:headEnd/>
            <a:tailEnd/>
          </a:ln>
        </p:spPr>
        <p:txBody>
          <a:bodyPr wrap="none" lIns="92075" tIns="46038" rIns="92075" bIns="46038">
            <a:spAutoFit/>
          </a:bodyPr>
          <a:lstStyle/>
          <a:p>
            <a:pPr>
              <a:lnSpc>
                <a:spcPct val="100000"/>
              </a:lnSpc>
              <a:spcBef>
                <a:spcPct val="0"/>
              </a:spcBef>
            </a:pPr>
            <a:r>
              <a:rPr lang="en-US" sz="1800"/>
              <a:t>myTsk</a:t>
            </a:r>
          </a:p>
        </p:txBody>
      </p:sp>
      <p:sp>
        <p:nvSpPr>
          <p:cNvPr id="17437" name="Rectangle 29"/>
          <p:cNvSpPr>
            <a:spLocks noGrp="1" noChangeArrowheads="1"/>
          </p:cNvSpPr>
          <p:nvPr>
            <p:ph type="title"/>
          </p:nvPr>
        </p:nvSpPr>
        <p:spPr>
          <a:xfrm>
            <a:off x="0" y="-31088"/>
            <a:ext cx="9144000" cy="609600"/>
          </a:xfrm>
        </p:spPr>
        <p:txBody>
          <a:bodyPr>
            <a:noAutofit/>
          </a:bodyPr>
          <a:lstStyle/>
          <a:p>
            <a:r>
              <a:rPr lang="en-US" dirty="0" smtClean="0"/>
              <a:t>Task Object Concepts...</a:t>
            </a:r>
          </a:p>
        </p:txBody>
      </p:sp>
      <p:sp>
        <p:nvSpPr>
          <p:cNvPr id="17438" name="Rectangle 30"/>
          <p:cNvSpPr>
            <a:spLocks noGrp="1" noChangeArrowheads="1"/>
          </p:cNvSpPr>
          <p:nvPr>
            <p:ph type="body" sz="half" idx="1"/>
          </p:nvPr>
        </p:nvSpPr>
        <p:spPr>
          <a:xfrm>
            <a:off x="228600" y="901700"/>
            <a:ext cx="3962400" cy="4752975"/>
          </a:xfrm>
          <a:noFill/>
        </p:spPr>
        <p:txBody>
          <a:bodyPr anchorCtr="0"/>
          <a:lstStyle/>
          <a:p>
            <a:pPr marL="339725" indent="-339725">
              <a:lnSpc>
                <a:spcPct val="90000"/>
              </a:lnSpc>
              <a:buFont typeface="Wingdings" pitchFamily="2" charset="2"/>
              <a:buNone/>
            </a:pPr>
            <a:r>
              <a:rPr lang="en-US" sz="2400" dirty="0" smtClean="0">
                <a:solidFill>
                  <a:schemeClr val="tx2"/>
                </a:solidFill>
                <a:latin typeface="Calibri" pitchFamily="34" charset="0"/>
                <a:cs typeface="Calibri" pitchFamily="34" charset="0"/>
              </a:rPr>
              <a:t>Task object:</a:t>
            </a:r>
          </a:p>
          <a:p>
            <a:pPr marL="339725" indent="-339725">
              <a:spcBef>
                <a:spcPts val="600"/>
              </a:spcBef>
            </a:pPr>
            <a:r>
              <a:rPr lang="en-US" sz="2000" b="0" dirty="0" smtClean="0">
                <a:latin typeface="Calibri" pitchFamily="34" charset="0"/>
                <a:cs typeface="Calibri" pitchFamily="34" charset="0"/>
              </a:rPr>
              <a:t>Pointer to task function</a:t>
            </a:r>
          </a:p>
          <a:p>
            <a:pPr marL="339725" indent="-339725">
              <a:spcBef>
                <a:spcPts val="600"/>
              </a:spcBef>
            </a:pPr>
            <a:r>
              <a:rPr lang="en-US" sz="2000" b="0" dirty="0" smtClean="0">
                <a:latin typeface="Calibri" pitchFamily="34" charset="0"/>
                <a:cs typeface="Calibri" pitchFamily="34" charset="0"/>
              </a:rPr>
              <a:t>Priority: changeable</a:t>
            </a:r>
          </a:p>
          <a:p>
            <a:pPr marL="339725" indent="-339725">
              <a:spcBef>
                <a:spcPts val="600"/>
              </a:spcBef>
            </a:pPr>
            <a:r>
              <a:rPr lang="en-US" sz="2000" b="0" dirty="0" smtClean="0">
                <a:latin typeface="Calibri" pitchFamily="34" charset="0"/>
                <a:cs typeface="Calibri" pitchFamily="34" charset="0"/>
              </a:rPr>
              <a:t>Pointer to task’s stack</a:t>
            </a:r>
          </a:p>
          <a:p>
            <a:pPr marL="731838" lvl="1" indent="-277813">
              <a:spcBef>
                <a:spcPts val="600"/>
              </a:spcBef>
            </a:pPr>
            <a:r>
              <a:rPr lang="en-US" sz="1800" b="0" dirty="0" smtClean="0">
                <a:latin typeface="Calibri" pitchFamily="34" charset="0"/>
                <a:cs typeface="Calibri" pitchFamily="34" charset="0"/>
              </a:rPr>
              <a:t>Stores local variables</a:t>
            </a:r>
          </a:p>
          <a:p>
            <a:pPr marL="731838" lvl="1" indent="-277813">
              <a:spcBef>
                <a:spcPts val="600"/>
              </a:spcBef>
            </a:pPr>
            <a:r>
              <a:rPr lang="en-US" sz="1800" b="0" dirty="0" smtClean="0">
                <a:latin typeface="Calibri" pitchFamily="34" charset="0"/>
                <a:cs typeface="Calibri" pitchFamily="34" charset="0"/>
              </a:rPr>
              <a:t>Nested function calls</a:t>
            </a:r>
          </a:p>
          <a:p>
            <a:pPr marL="731838" lvl="1" indent="-277813">
              <a:spcBef>
                <a:spcPts val="600"/>
              </a:spcBef>
            </a:pPr>
            <a:r>
              <a:rPr lang="en-US" sz="1800" b="0" dirty="0" smtClean="0">
                <a:latin typeface="Calibri" pitchFamily="34" charset="0"/>
                <a:cs typeface="Calibri" pitchFamily="34" charset="0"/>
              </a:rPr>
              <a:t>makes blocking possible</a:t>
            </a:r>
          </a:p>
          <a:p>
            <a:pPr marL="731838" lvl="1" indent="-277813">
              <a:spcBef>
                <a:spcPts val="600"/>
              </a:spcBef>
            </a:pPr>
            <a:r>
              <a:rPr lang="en-US" sz="1800" b="0" dirty="0" smtClean="0">
                <a:latin typeface="Calibri" pitchFamily="34" charset="0"/>
                <a:cs typeface="Calibri" pitchFamily="34" charset="0"/>
              </a:rPr>
              <a:t>Interrupts run on the system stack</a:t>
            </a:r>
          </a:p>
          <a:p>
            <a:pPr marL="339725" indent="-339725">
              <a:spcBef>
                <a:spcPts val="600"/>
              </a:spcBef>
            </a:pPr>
            <a:r>
              <a:rPr lang="en-US" sz="2000" b="0" dirty="0" smtClean="0">
                <a:latin typeface="Calibri" pitchFamily="34" charset="0"/>
                <a:cs typeface="Calibri" pitchFamily="34" charset="0"/>
              </a:rPr>
              <a:t>Pointer to text name of Task</a:t>
            </a:r>
          </a:p>
          <a:p>
            <a:pPr marL="339725" indent="-339725">
              <a:spcBef>
                <a:spcPts val="600"/>
              </a:spcBef>
            </a:pPr>
            <a:r>
              <a:rPr lang="en-US" sz="2000" b="0" dirty="0" smtClean="0">
                <a:solidFill>
                  <a:schemeClr val="tx2"/>
                </a:solidFill>
                <a:latin typeface="Calibri" pitchFamily="34" charset="0"/>
                <a:cs typeface="Calibri" pitchFamily="34" charset="0"/>
              </a:rPr>
              <a:t>Environment</a:t>
            </a:r>
            <a:r>
              <a:rPr lang="en-US" sz="2000" b="0" dirty="0" smtClean="0">
                <a:latin typeface="Calibri" pitchFamily="34" charset="0"/>
                <a:cs typeface="Calibri" pitchFamily="34" charset="0"/>
              </a:rPr>
              <a:t>: pointer to </a:t>
            </a:r>
            <a:r>
              <a:rPr lang="en-US" sz="2000" b="0" i="1" dirty="0" smtClean="0">
                <a:latin typeface="Calibri" pitchFamily="34" charset="0"/>
                <a:cs typeface="Calibri" pitchFamily="34" charset="0"/>
              </a:rPr>
              <a:t>user defined</a:t>
            </a:r>
            <a:r>
              <a:rPr lang="en-US" sz="2000" b="0" dirty="0" smtClean="0">
                <a:latin typeface="Calibri" pitchFamily="34" charset="0"/>
                <a:cs typeface="Calibri" pitchFamily="34" charset="0"/>
              </a:rPr>
              <a:t> structure:</a:t>
            </a:r>
          </a:p>
          <a:p>
            <a:pPr marL="339725" indent="-339725">
              <a:lnSpc>
                <a:spcPct val="90000"/>
              </a:lnSpc>
            </a:pPr>
            <a:endParaRPr lang="en-US" sz="2000" b="0" dirty="0" smtClean="0">
              <a:latin typeface="Calibri" pitchFamily="34" charset="0"/>
              <a:cs typeface="Calibri" pitchFamily="34" charset="0"/>
            </a:endParaRPr>
          </a:p>
        </p:txBody>
      </p:sp>
      <p:graphicFrame>
        <p:nvGraphicFramePr>
          <p:cNvPr id="364575" name="Group 31"/>
          <p:cNvGraphicFramePr>
            <a:graphicFrameLocks noGrp="1"/>
          </p:cNvGraphicFramePr>
          <p:nvPr/>
        </p:nvGraphicFramePr>
        <p:xfrm>
          <a:off x="5029200" y="3048000"/>
          <a:ext cx="1600200" cy="1905000"/>
        </p:xfrm>
        <a:graphic>
          <a:graphicData uri="http://schemas.openxmlformats.org/drawingml/2006/table">
            <a:tbl>
              <a:tblPr/>
              <a:tblGrid>
                <a:gridCol w="1023938"/>
                <a:gridCol w="576262"/>
              </a:tblGrid>
              <a:tr h="381000">
                <a:tc>
                  <a:txBody>
                    <a:bodyPr/>
                    <a:lstStyle/>
                    <a:p>
                      <a:pPr marL="0" marR="0" lvl="0" indent="0" algn="l"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fxn</a:t>
                      </a:r>
                    </a:p>
                  </a:txBody>
                  <a:tcPr anchor="ctr" horzOverflow="overflow">
                    <a:lnL w="1905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905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 *</a:t>
                      </a:r>
                    </a:p>
                  </a:txBody>
                  <a:tcPr anchor="ctr" horzOverflow="overflow">
                    <a:lnL w="12700" cap="flat" cmpd="sng" algn="ctr">
                      <a:solidFill>
                        <a:schemeClr val="tx1"/>
                      </a:solidFill>
                      <a:prstDash val="solid"/>
                      <a:round/>
                      <a:headEnd type="none" w="sm" len="sm"/>
                      <a:tailEnd type="none" w="sm" len="sm"/>
                    </a:lnL>
                    <a:lnR w="19050" cap="flat" cmpd="sng" algn="ctr">
                      <a:solidFill>
                        <a:schemeClr val="tx1"/>
                      </a:solidFill>
                      <a:prstDash val="solid"/>
                      <a:round/>
                      <a:headEnd type="none" w="sm" len="sm"/>
                      <a:tailEnd type="none" w="sm" len="sm"/>
                    </a:lnR>
                    <a:lnT w="1905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r>
              <a:tr h="381000">
                <a:tc>
                  <a:txBody>
                    <a:bodyPr/>
                    <a:lstStyle/>
                    <a:p>
                      <a:pPr marL="0" marR="0" lvl="0" indent="0" algn="l"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environ</a:t>
                      </a:r>
                    </a:p>
                  </a:txBody>
                  <a:tcPr anchor="ctr" horzOverflow="overflow">
                    <a:lnL w="1905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 *</a:t>
                      </a:r>
                    </a:p>
                  </a:txBody>
                  <a:tcPr anchor="ctr" horzOverflow="overflow">
                    <a:lnL w="12700" cap="flat" cmpd="sng" algn="ctr">
                      <a:solidFill>
                        <a:schemeClr val="tx1"/>
                      </a:solidFill>
                      <a:prstDash val="solid"/>
                      <a:round/>
                      <a:headEnd type="none" w="sm" len="sm"/>
                      <a:tailEnd type="none" w="sm" len="sm"/>
                    </a:lnL>
                    <a:lnR w="1905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r>
              <a:tr h="381000">
                <a:tc>
                  <a:txBody>
                    <a:bodyPr/>
                    <a:lstStyle/>
                    <a:p>
                      <a:pPr marL="0" marR="0" lvl="0" indent="0" algn="l"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priority</a:t>
                      </a:r>
                    </a:p>
                  </a:txBody>
                  <a:tcPr anchor="ctr" horzOverflow="overflow">
                    <a:lnL w="1905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6</a:t>
                      </a:r>
                    </a:p>
                  </a:txBody>
                  <a:tcPr anchor="ctr" horzOverflow="overflow">
                    <a:lnL w="12700" cap="flat" cmpd="sng" algn="ctr">
                      <a:solidFill>
                        <a:schemeClr val="tx1"/>
                      </a:solidFill>
                      <a:prstDash val="solid"/>
                      <a:round/>
                      <a:headEnd type="none" w="sm" len="sm"/>
                      <a:tailEnd type="none" w="sm" len="sm"/>
                    </a:lnL>
                    <a:lnR w="1905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r>
              <a:tr h="381000">
                <a:tc>
                  <a:txBody>
                    <a:bodyPr/>
                    <a:lstStyle/>
                    <a:p>
                      <a:pPr marL="0" marR="0" lvl="0" indent="0" algn="l"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stack</a:t>
                      </a:r>
                    </a:p>
                  </a:txBody>
                  <a:tcPr anchor="ctr" horzOverflow="overflow">
                    <a:lnL w="1905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 *</a:t>
                      </a:r>
                    </a:p>
                  </a:txBody>
                  <a:tcPr anchor="ctr" horzOverflow="overflow">
                    <a:lnL w="12700" cap="flat" cmpd="sng" algn="ctr">
                      <a:solidFill>
                        <a:schemeClr val="tx1"/>
                      </a:solidFill>
                      <a:prstDash val="solid"/>
                      <a:round/>
                      <a:headEnd type="none" w="sm" len="sm"/>
                      <a:tailEnd type="none" w="sm" len="sm"/>
                    </a:lnL>
                    <a:lnR w="1905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r>
              <a:tr h="381000">
                <a:tc>
                  <a:txBody>
                    <a:bodyPr/>
                    <a:lstStyle/>
                    <a:p>
                      <a:pPr marL="0" marR="0" lvl="0" indent="0" algn="l"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name</a:t>
                      </a:r>
                    </a:p>
                  </a:txBody>
                  <a:tcPr anchor="ctr" horzOverflow="overflow">
                    <a:lnL w="1905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905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lpf2</a:t>
                      </a:r>
                    </a:p>
                  </a:txBody>
                  <a:tcPr anchor="ctr" horzOverflow="overflow">
                    <a:lnL w="12700" cap="flat" cmpd="sng" algn="ctr">
                      <a:solidFill>
                        <a:schemeClr val="tx1"/>
                      </a:solidFill>
                      <a:prstDash val="solid"/>
                      <a:round/>
                      <a:headEnd type="none" w="sm" len="sm"/>
                      <a:tailEnd type="none" w="sm" len="sm"/>
                    </a:lnL>
                    <a:lnR w="1905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9050" cap="flat" cmpd="sng" algn="ctr">
                      <a:solidFill>
                        <a:schemeClr val="tx1"/>
                      </a:solidFill>
                      <a:prstDash val="solid"/>
                      <a:round/>
                      <a:headEnd type="none" w="sm" len="sm"/>
                      <a:tailEnd type="none" w="sm" len="sm"/>
                    </a:lnB>
                    <a:lnTlToBr>
                      <a:noFill/>
                    </a:lnTlToBr>
                    <a:lnBlToTr>
                      <a:noFill/>
                    </a:lnBlToTr>
                    <a:solidFill>
                      <a:schemeClr val="accent1"/>
                    </a:solidFill>
                  </a:tcPr>
                </a:tc>
              </a:tr>
            </a:tbl>
          </a:graphicData>
        </a:graphic>
      </p:graphicFrame>
      <p:cxnSp>
        <p:nvCxnSpPr>
          <p:cNvPr id="17459" name="AutoShape 51"/>
          <p:cNvCxnSpPr>
            <a:cxnSpLocks noChangeShapeType="1"/>
            <a:endCxn id="17434" idx="0"/>
          </p:cNvCxnSpPr>
          <p:nvPr/>
        </p:nvCxnSpPr>
        <p:spPr bwMode="auto">
          <a:xfrm>
            <a:off x="6629400" y="876300"/>
            <a:ext cx="1562100" cy="1638300"/>
          </a:xfrm>
          <a:prstGeom prst="bentConnector2">
            <a:avLst/>
          </a:prstGeom>
          <a:noFill/>
          <a:ln w="12700">
            <a:solidFill>
              <a:schemeClr val="tx1"/>
            </a:solidFill>
            <a:miter lim="800000"/>
            <a:headEnd/>
            <a:tailEnd type="triangle" w="med" len="med"/>
          </a:ln>
        </p:spPr>
      </p:cxnSp>
      <p:cxnSp>
        <p:nvCxnSpPr>
          <p:cNvPr id="17460" name="AutoShape 52"/>
          <p:cNvCxnSpPr>
            <a:cxnSpLocks noChangeShapeType="1"/>
            <a:endCxn id="17434" idx="1"/>
          </p:cNvCxnSpPr>
          <p:nvPr/>
        </p:nvCxnSpPr>
        <p:spPr bwMode="auto">
          <a:xfrm flipV="1">
            <a:off x="6629400" y="2811463"/>
            <a:ext cx="838200" cy="427037"/>
          </a:xfrm>
          <a:prstGeom prst="bentConnector3">
            <a:avLst>
              <a:gd name="adj1" fmla="val 49810"/>
            </a:avLst>
          </a:prstGeom>
          <a:noFill/>
          <a:ln w="12700">
            <a:solidFill>
              <a:schemeClr val="tx1"/>
            </a:solidFill>
            <a:miter lim="800000"/>
            <a:headEnd/>
            <a:tailEnd type="triangle" w="med" len="med"/>
          </a:ln>
        </p:spPr>
      </p:cxnSp>
      <p:cxnSp>
        <p:nvCxnSpPr>
          <p:cNvPr id="17461" name="AutoShape 53"/>
          <p:cNvCxnSpPr>
            <a:cxnSpLocks noChangeShapeType="1"/>
            <a:endCxn id="17466" idx="1"/>
          </p:cNvCxnSpPr>
          <p:nvPr/>
        </p:nvCxnSpPr>
        <p:spPr bwMode="auto">
          <a:xfrm flipV="1">
            <a:off x="6629400" y="2016125"/>
            <a:ext cx="407988" cy="3175"/>
          </a:xfrm>
          <a:prstGeom prst="bentConnector3">
            <a:avLst>
              <a:gd name="adj1" fmla="val 49806"/>
            </a:avLst>
          </a:prstGeom>
          <a:noFill/>
          <a:ln w="12700">
            <a:solidFill>
              <a:schemeClr val="tx1"/>
            </a:solidFill>
            <a:miter lim="800000"/>
            <a:headEnd/>
            <a:tailEnd type="triangle" w="med" len="med"/>
          </a:ln>
        </p:spPr>
      </p:cxnSp>
      <p:cxnSp>
        <p:nvCxnSpPr>
          <p:cNvPr id="17462" name="AutoShape 54"/>
          <p:cNvCxnSpPr>
            <a:cxnSpLocks noChangeShapeType="1"/>
            <a:endCxn id="364599" idx="1"/>
          </p:cNvCxnSpPr>
          <p:nvPr/>
        </p:nvCxnSpPr>
        <p:spPr bwMode="auto">
          <a:xfrm>
            <a:off x="6629400" y="1257300"/>
            <a:ext cx="381000" cy="9525"/>
          </a:xfrm>
          <a:prstGeom prst="bentConnector3">
            <a:avLst>
              <a:gd name="adj1" fmla="val 49583"/>
            </a:avLst>
          </a:prstGeom>
          <a:noFill/>
          <a:ln w="12700">
            <a:solidFill>
              <a:schemeClr val="tx1"/>
            </a:solidFill>
            <a:miter lim="800000"/>
            <a:headEnd/>
            <a:tailEnd type="triangle" w="med" len="med"/>
          </a:ln>
        </p:spPr>
      </p:cxnSp>
      <p:sp>
        <p:nvSpPr>
          <p:cNvPr id="364599" name="Rectangle 55"/>
          <p:cNvSpPr>
            <a:spLocks noChangeArrowheads="1"/>
          </p:cNvSpPr>
          <p:nvPr/>
        </p:nvSpPr>
        <p:spPr bwMode="auto">
          <a:xfrm>
            <a:off x="7010400" y="1009650"/>
            <a:ext cx="858838" cy="514350"/>
          </a:xfrm>
          <a:prstGeom prst="rect">
            <a:avLst/>
          </a:prstGeom>
          <a:solidFill>
            <a:schemeClr val="accent3"/>
          </a:solidFill>
          <a:ln w="9525">
            <a:solidFill>
              <a:schemeClr val="tx1"/>
            </a:solidFill>
            <a:miter lim="800000"/>
            <a:headEnd/>
            <a:tailEnd/>
          </a:ln>
          <a:effectLst>
            <a:outerShdw dist="107763" dir="2700000" algn="ctr" rotWithShape="0">
              <a:schemeClr val="bg2">
                <a:alpha val="50000"/>
              </a:schemeClr>
            </a:outerShdw>
          </a:effectLst>
        </p:spPr>
        <p:txBody>
          <a:bodyPr wrap="none" lIns="92075" tIns="46038" rIns="92075" bIns="46038" anchor="ctr"/>
          <a:lstStyle/>
          <a:p>
            <a:pPr>
              <a:spcBef>
                <a:spcPct val="0"/>
              </a:spcBef>
              <a:defRPr/>
            </a:pPr>
            <a:r>
              <a:rPr lang="en-US" sz="1800" b="0">
                <a:solidFill>
                  <a:schemeClr val="tx2"/>
                </a:solidFill>
                <a:latin typeface="Arial Narrow" pitchFamily="34" charset="0"/>
              </a:rPr>
              <a:t>struct</a:t>
            </a:r>
            <a:r>
              <a:rPr lang="en-US" sz="1800">
                <a:solidFill>
                  <a:schemeClr val="tx2"/>
                </a:solidFill>
                <a:latin typeface="Arial Narrow" pitchFamily="34" charset="0"/>
              </a:rPr>
              <a:t/>
            </a:r>
            <a:br>
              <a:rPr lang="en-US" sz="1800">
                <a:solidFill>
                  <a:schemeClr val="tx2"/>
                </a:solidFill>
                <a:latin typeface="Arial Narrow" pitchFamily="34" charset="0"/>
              </a:rPr>
            </a:br>
            <a:r>
              <a:rPr lang="en-US" sz="1800">
                <a:solidFill>
                  <a:schemeClr val="tx2"/>
                </a:solidFill>
                <a:latin typeface="Arial Narrow" pitchFamily="34" charset="0"/>
              </a:rPr>
              <a:t>myEnv</a:t>
            </a:r>
          </a:p>
        </p:txBody>
      </p:sp>
      <p:sp>
        <p:nvSpPr>
          <p:cNvPr id="17465" name="Rectangle 64"/>
          <p:cNvSpPr>
            <a:spLocks noChangeArrowheads="1"/>
          </p:cNvSpPr>
          <p:nvPr/>
        </p:nvSpPr>
        <p:spPr bwMode="auto">
          <a:xfrm>
            <a:off x="1600200" y="5314503"/>
            <a:ext cx="6083717" cy="984885"/>
          </a:xfrm>
          <a:prstGeom prst="rect">
            <a:avLst/>
          </a:prstGeom>
          <a:solidFill>
            <a:schemeClr val="accent4">
              <a:lumMod val="20000"/>
              <a:lumOff val="80000"/>
            </a:schemeClr>
          </a:solidFill>
          <a:ln w="12700" algn="ctr">
            <a:noFill/>
            <a:miter lim="800000"/>
            <a:headEnd/>
            <a:tailEnd/>
          </a:ln>
        </p:spPr>
        <p:txBody>
          <a:bodyPr wrap="none">
            <a:spAutoFit/>
          </a:bodyPr>
          <a:lstStyle/>
          <a:p>
            <a:pPr>
              <a:lnSpc>
                <a:spcPct val="100000"/>
              </a:lnSpc>
              <a:spcBef>
                <a:spcPts val="1200"/>
              </a:spcBef>
            </a:pPr>
            <a:r>
              <a:rPr lang="en-US" dirty="0" err="1" smtClean="0">
                <a:solidFill>
                  <a:schemeClr val="tx2"/>
                </a:solidFill>
                <a:latin typeface="Courier New" pitchFamily="49" charset="0"/>
                <a:cs typeface="Courier New" pitchFamily="49" charset="0"/>
              </a:rPr>
              <a:t>Task_setenv</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Task_self</a:t>
            </a:r>
            <a:r>
              <a:rPr lang="en-US" dirty="0">
                <a:latin typeface="Courier New" pitchFamily="49" charset="0"/>
                <a:cs typeface="Courier New" pitchFamily="49" charset="0"/>
              </a:rPr>
              <a:t>(),&amp;</a:t>
            </a:r>
            <a:r>
              <a:rPr lang="en-US" dirty="0" err="1">
                <a:latin typeface="Courier New" pitchFamily="49" charset="0"/>
                <a:cs typeface="Courier New" pitchFamily="49" charset="0"/>
              </a:rPr>
              <a:t>myEnv</a:t>
            </a:r>
            <a:r>
              <a:rPr lang="en-US" dirty="0">
                <a:latin typeface="Courier New" pitchFamily="49" charset="0"/>
                <a:cs typeface="Courier New" pitchFamily="49" charset="0"/>
              </a:rPr>
              <a:t>);</a:t>
            </a:r>
          </a:p>
          <a:p>
            <a:pPr>
              <a:lnSpc>
                <a:spcPct val="100000"/>
              </a:lnSpc>
              <a:spcBef>
                <a:spcPts val="1200"/>
              </a:spcBef>
            </a:pPr>
            <a:r>
              <a:rPr lang="en-US" dirty="0" err="1">
                <a:latin typeface="Courier New" pitchFamily="49" charset="0"/>
                <a:cs typeface="Courier New" pitchFamily="49" charset="0"/>
              </a:rPr>
              <a:t>hMyEnv</a:t>
            </a:r>
            <a:r>
              <a:rPr lang="en-US" dirty="0">
                <a:latin typeface="Courier New" pitchFamily="49" charset="0"/>
                <a:cs typeface="Courier New" pitchFamily="49" charset="0"/>
              </a:rPr>
              <a:t> =</a:t>
            </a:r>
            <a:r>
              <a:rPr lang="en-US" dirty="0">
                <a:solidFill>
                  <a:schemeClr val="tx2"/>
                </a:solidFill>
                <a:latin typeface="Courier New" pitchFamily="49" charset="0"/>
                <a:cs typeface="Courier New" pitchFamily="49" charset="0"/>
              </a:rPr>
              <a:t> </a:t>
            </a:r>
            <a:r>
              <a:rPr lang="en-US" dirty="0" err="1" smtClean="0">
                <a:solidFill>
                  <a:schemeClr val="tx2"/>
                </a:solidFill>
                <a:latin typeface="Courier New" pitchFamily="49" charset="0"/>
                <a:cs typeface="Courier New" pitchFamily="49" charset="0"/>
              </a:rPr>
              <a:t>Task_getenv</a:t>
            </a:r>
            <a:r>
              <a:rPr lang="en-US" dirty="0">
                <a:latin typeface="Courier New" pitchFamily="49" charset="0"/>
                <a:cs typeface="Courier New" pitchFamily="49" charset="0"/>
              </a:rPr>
              <a:t>(&amp;</a:t>
            </a:r>
            <a:r>
              <a:rPr lang="en-US" dirty="0" err="1">
                <a:latin typeface="Courier New" pitchFamily="49" charset="0"/>
                <a:cs typeface="Courier New" pitchFamily="49" charset="0"/>
              </a:rPr>
              <a:t>myTsk</a:t>
            </a:r>
            <a:r>
              <a:rPr lang="en-US" dirty="0">
                <a:latin typeface="Courier New" pitchFamily="49" charset="0"/>
                <a:cs typeface="Courier New" pitchFamily="49" charset="0"/>
              </a:rPr>
              <a:t>);</a:t>
            </a:r>
          </a:p>
        </p:txBody>
      </p:sp>
      <p:sp>
        <p:nvSpPr>
          <p:cNvPr id="17466" name="Rectangle 65"/>
          <p:cNvSpPr>
            <a:spLocks noChangeArrowheads="1"/>
          </p:cNvSpPr>
          <p:nvPr/>
        </p:nvSpPr>
        <p:spPr bwMode="auto">
          <a:xfrm>
            <a:off x="7037388" y="1758950"/>
            <a:ext cx="858837" cy="514350"/>
          </a:xfrm>
          <a:prstGeom prst="rect">
            <a:avLst/>
          </a:prstGeom>
          <a:solidFill>
            <a:schemeClr val="accent2"/>
          </a:solidFill>
          <a:ln w="9525">
            <a:solidFill>
              <a:schemeClr val="tx1"/>
            </a:solidFill>
            <a:miter lim="800000"/>
            <a:headEnd/>
            <a:tailEnd/>
          </a:ln>
        </p:spPr>
        <p:txBody>
          <a:bodyPr wrap="none" lIns="92075" tIns="46038" rIns="92075" bIns="46038" anchor="ctr"/>
          <a:lstStyle/>
          <a:p>
            <a:pPr algn="ctr">
              <a:spcBef>
                <a:spcPct val="0"/>
              </a:spcBef>
            </a:pPr>
            <a:r>
              <a:rPr lang="en-US" sz="1800" dirty="0" smtClean="0">
                <a:latin typeface="Arial Narrow" pitchFamily="34" charset="0"/>
              </a:rPr>
              <a:t>Task</a:t>
            </a:r>
            <a:r>
              <a:rPr lang="en-US" sz="1800" dirty="0">
                <a:latin typeface="Arial Narrow" pitchFamily="34" charset="0"/>
              </a:rPr>
              <a:t/>
            </a:r>
            <a:br>
              <a:rPr lang="en-US" sz="1800" dirty="0">
                <a:latin typeface="Arial Narrow" pitchFamily="34" charset="0"/>
              </a:rPr>
            </a:br>
            <a:r>
              <a:rPr lang="en-US" sz="1800" dirty="0">
                <a:latin typeface="Arial Narrow" pitchFamily="34" charset="0"/>
              </a:rPr>
              <a:t>stack</a:t>
            </a:r>
          </a:p>
        </p:txBody>
      </p:sp>
      <p:cxnSp>
        <p:nvCxnSpPr>
          <p:cNvPr id="17467" name="AutoShape 66"/>
          <p:cNvCxnSpPr>
            <a:cxnSpLocks noChangeShapeType="1"/>
            <a:stCxn id="364549" idx="3"/>
            <a:endCxn id="17470" idx="1"/>
          </p:cNvCxnSpPr>
          <p:nvPr/>
        </p:nvCxnSpPr>
        <p:spPr bwMode="auto">
          <a:xfrm>
            <a:off x="6629400" y="4368800"/>
            <a:ext cx="407988" cy="3175"/>
          </a:xfrm>
          <a:prstGeom prst="bentConnector3">
            <a:avLst>
              <a:gd name="adj1" fmla="val 49806"/>
            </a:avLst>
          </a:prstGeom>
          <a:noFill/>
          <a:ln w="12700">
            <a:solidFill>
              <a:schemeClr val="tx1"/>
            </a:solidFill>
            <a:miter lim="800000"/>
            <a:headEnd/>
            <a:tailEnd type="triangle" w="med" len="med"/>
          </a:ln>
        </p:spPr>
      </p:cxnSp>
      <p:cxnSp>
        <p:nvCxnSpPr>
          <p:cNvPr id="17468" name="AutoShape 67"/>
          <p:cNvCxnSpPr>
            <a:cxnSpLocks noChangeShapeType="1"/>
            <a:stCxn id="364548" idx="3"/>
            <a:endCxn id="364612" idx="1"/>
          </p:cNvCxnSpPr>
          <p:nvPr/>
        </p:nvCxnSpPr>
        <p:spPr bwMode="auto">
          <a:xfrm flipV="1">
            <a:off x="6629400" y="3597275"/>
            <a:ext cx="381000" cy="9525"/>
          </a:xfrm>
          <a:prstGeom prst="bentConnector3">
            <a:avLst>
              <a:gd name="adj1" fmla="val 50000"/>
            </a:avLst>
          </a:prstGeom>
          <a:noFill/>
          <a:ln w="12700">
            <a:solidFill>
              <a:schemeClr val="tx1"/>
            </a:solidFill>
            <a:miter lim="800000"/>
            <a:headEnd/>
            <a:tailEnd type="triangle" w="med" len="med"/>
          </a:ln>
        </p:spPr>
      </p:cxnSp>
      <p:sp>
        <p:nvSpPr>
          <p:cNvPr id="364612" name="Rectangle 68"/>
          <p:cNvSpPr>
            <a:spLocks noChangeArrowheads="1"/>
          </p:cNvSpPr>
          <p:nvPr/>
        </p:nvSpPr>
        <p:spPr bwMode="auto">
          <a:xfrm>
            <a:off x="7010400" y="3340100"/>
            <a:ext cx="858838" cy="514350"/>
          </a:xfrm>
          <a:prstGeom prst="rect">
            <a:avLst/>
          </a:prstGeom>
          <a:solidFill>
            <a:schemeClr val="accent3"/>
          </a:solidFill>
          <a:ln w="9525">
            <a:solidFill>
              <a:schemeClr val="tx1"/>
            </a:solidFill>
            <a:miter lim="800000"/>
            <a:headEnd/>
            <a:tailEnd/>
          </a:ln>
          <a:effectLst>
            <a:outerShdw dist="107763" dir="2700000" algn="ctr" rotWithShape="0">
              <a:schemeClr val="bg2">
                <a:alpha val="50000"/>
              </a:schemeClr>
            </a:outerShdw>
          </a:effectLst>
        </p:spPr>
        <p:txBody>
          <a:bodyPr wrap="none" lIns="92075" tIns="46038" rIns="92075" bIns="46038" anchor="ctr"/>
          <a:lstStyle/>
          <a:p>
            <a:pPr>
              <a:spcBef>
                <a:spcPct val="0"/>
              </a:spcBef>
              <a:defRPr/>
            </a:pPr>
            <a:r>
              <a:rPr lang="en-US" sz="1800" b="0">
                <a:solidFill>
                  <a:schemeClr val="tx2"/>
                </a:solidFill>
                <a:latin typeface="Arial Narrow" pitchFamily="34" charset="0"/>
              </a:rPr>
              <a:t>struct </a:t>
            </a:r>
            <a:br>
              <a:rPr lang="en-US" sz="1800" b="0">
                <a:solidFill>
                  <a:schemeClr val="tx2"/>
                </a:solidFill>
                <a:latin typeface="Arial Narrow" pitchFamily="34" charset="0"/>
              </a:rPr>
            </a:br>
            <a:r>
              <a:rPr lang="en-US" sz="1800">
                <a:solidFill>
                  <a:schemeClr val="tx2"/>
                </a:solidFill>
                <a:latin typeface="Arial Narrow" pitchFamily="34" charset="0"/>
              </a:rPr>
              <a:t>myEnv</a:t>
            </a:r>
          </a:p>
        </p:txBody>
      </p:sp>
      <p:sp>
        <p:nvSpPr>
          <p:cNvPr id="17470" name="Rectangle 69"/>
          <p:cNvSpPr>
            <a:spLocks noChangeArrowheads="1"/>
          </p:cNvSpPr>
          <p:nvPr/>
        </p:nvSpPr>
        <p:spPr bwMode="auto">
          <a:xfrm>
            <a:off x="7037388" y="4114800"/>
            <a:ext cx="858837" cy="514350"/>
          </a:xfrm>
          <a:prstGeom prst="rect">
            <a:avLst/>
          </a:prstGeom>
          <a:solidFill>
            <a:schemeClr val="accent2"/>
          </a:solidFill>
          <a:ln w="9525">
            <a:solidFill>
              <a:schemeClr val="tx1"/>
            </a:solidFill>
            <a:miter lim="800000"/>
            <a:headEnd/>
            <a:tailEnd/>
          </a:ln>
        </p:spPr>
        <p:txBody>
          <a:bodyPr wrap="none" lIns="92075" tIns="46038" rIns="92075" bIns="46038" anchor="ctr"/>
          <a:lstStyle/>
          <a:p>
            <a:pPr algn="ctr">
              <a:spcBef>
                <a:spcPct val="0"/>
              </a:spcBef>
            </a:pPr>
            <a:r>
              <a:rPr lang="en-US" sz="1800" dirty="0" smtClean="0">
                <a:latin typeface="Arial Narrow" pitchFamily="34" charset="0"/>
              </a:rPr>
              <a:t>Task</a:t>
            </a:r>
            <a:r>
              <a:rPr lang="en-US" sz="1800" dirty="0">
                <a:latin typeface="Arial Narrow" pitchFamily="34" charset="0"/>
              </a:rPr>
              <a:t/>
            </a:r>
            <a:br>
              <a:rPr lang="en-US" sz="1800" dirty="0">
                <a:latin typeface="Arial Narrow" pitchFamily="34" charset="0"/>
              </a:rPr>
            </a:br>
            <a:r>
              <a:rPr lang="en-US" sz="1800" dirty="0">
                <a:latin typeface="Arial Narrow" pitchFamily="34" charset="0"/>
              </a:rPr>
              <a:t>stack</a:t>
            </a:r>
          </a:p>
        </p:txBody>
      </p:sp>
      <p:pic>
        <p:nvPicPr>
          <p:cNvPr id="26" name="Animated Logo" descr="tilogo_color_twoline.png"/>
          <p:cNvPicPr>
            <a:picLocks noChangeAspect="1"/>
          </p:cNvPicPr>
          <p:nvPr/>
        </p:nvPicPr>
        <p:blipFill>
          <a:blip r:embed="rId2" cstate="print"/>
          <a:stretch>
            <a:fillRect/>
          </a:stretch>
        </p:blipFill>
        <p:spPr>
          <a:xfrm>
            <a:off x="50800" y="6477000"/>
            <a:ext cx="1438537" cy="347443"/>
          </a:xfrm>
          <a:prstGeom prst="rect">
            <a:avLst/>
          </a:prstGeom>
        </p:spPr>
      </p:pic>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685800"/>
            <a:ext cx="5562600" cy="5638800"/>
          </a:xfrm>
          <a:prstGeom prst="rect">
            <a:avLst/>
          </a:prstGeom>
          <a:solidFill>
            <a:srgbClr val="92D050"/>
          </a:solidFill>
          <a:ln w="19050">
            <a:solidFill>
              <a:schemeClr val="tx1"/>
            </a:solidFill>
            <a:miter lim="800000"/>
            <a:headEnd type="none" w="sm" len="sm"/>
            <a:tailEnd type="none" w="sm" len="sm"/>
          </a:ln>
          <a:effectLst>
            <a:outerShdw blurRad="50800" dist="101600" dir="2700000" algn="tl" rotWithShape="0">
              <a:prstClr val="black">
                <a:alpha val="40000"/>
              </a:prstClr>
            </a:outerShdw>
          </a:effectLst>
        </p:spPr>
        <p:txBody>
          <a:bodyPr wrap="none" tIns="36576" bIns="36576"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1" cstate="print"/>
          <a:srcRect/>
          <a:stretch>
            <a:fillRect/>
          </a:stretch>
        </p:blipFill>
        <p:spPr bwMode="auto">
          <a:xfrm>
            <a:off x="6160824" y="1153041"/>
            <a:ext cx="2819400" cy="4172713"/>
          </a:xfrm>
          <a:prstGeom prst="rect">
            <a:avLst/>
          </a:prstGeom>
          <a:noFill/>
        </p:spPr>
      </p:pic>
      <p:pic>
        <p:nvPicPr>
          <p:cNvPr id="9" name="Animated Logo" descr="tilogo_color_twoline.png"/>
          <p:cNvPicPr>
            <a:picLocks noChangeAspect="1"/>
          </p:cNvPicPr>
          <p:nvPr/>
        </p:nvPicPr>
        <p:blipFill>
          <a:blip r:embed="rId12"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3" action="ppaction://hlinksldjump"/>
          </p:cNvPr>
          <p:cNvSpPr txBox="1">
            <a:spLocks noChangeArrowheads="1"/>
          </p:cNvSpPr>
          <p:nvPr>
            <p:custDataLst>
              <p:tags r:id="rId2"/>
            </p:custDataLst>
          </p:nvPr>
        </p:nvSpPr>
        <p:spPr bwMode="auto">
          <a:xfrm>
            <a:off x="301576" y="780433"/>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Tasks</a:t>
            </a:r>
            <a:endParaRPr lang="en-US" sz="2800" dirty="0">
              <a:solidFill>
                <a:srgbClr val="000000"/>
              </a:solidFill>
            </a:endParaRPr>
          </a:p>
        </p:txBody>
      </p:sp>
      <p:sp>
        <p:nvSpPr>
          <p:cNvPr id="11" name="Text Box 3">
            <a:hlinkClick r:id="rId14" action="ppaction://hlinksldjump"/>
          </p:cNvPr>
          <p:cNvSpPr txBox="1">
            <a:spLocks noChangeArrowheads="1"/>
          </p:cNvSpPr>
          <p:nvPr>
            <p:custDataLst>
              <p:tags r:id="rId3"/>
            </p:custDataLst>
          </p:nvPr>
        </p:nvSpPr>
        <p:spPr bwMode="auto">
          <a:xfrm>
            <a:off x="304800" y="1315250"/>
            <a:ext cx="5562600" cy="4616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Swi vs. Task</a:t>
            </a:r>
            <a:endParaRPr lang="en-US" sz="2800" dirty="0">
              <a:solidFill>
                <a:srgbClr val="000000"/>
              </a:solidFill>
            </a:endParaRPr>
          </a:p>
        </p:txBody>
      </p:sp>
      <p:sp>
        <p:nvSpPr>
          <p:cNvPr id="12" name="Text Box 4">
            <a:hlinkClick r:id="rId15" action="ppaction://hlinksldjump"/>
          </p:cNvPr>
          <p:cNvSpPr txBox="1">
            <a:spLocks noChangeArrowheads="1"/>
          </p:cNvSpPr>
          <p:nvPr>
            <p:custDataLst>
              <p:tags r:id="rId4"/>
            </p:custDataLst>
          </p:nvPr>
        </p:nvSpPr>
        <p:spPr bwMode="auto">
          <a:xfrm>
            <a:off x="301576" y="1850067"/>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Semaphores</a:t>
            </a:r>
            <a:endParaRPr lang="en-US" sz="2800" dirty="0">
              <a:solidFill>
                <a:srgbClr val="000000"/>
              </a:solidFill>
            </a:endParaRPr>
          </a:p>
        </p:txBody>
      </p:sp>
      <p:sp>
        <p:nvSpPr>
          <p:cNvPr id="13" name="Text Box 4">
            <a:hlinkClick r:id="rId16" action="ppaction://hlinksldjump"/>
          </p:cNvPr>
          <p:cNvSpPr txBox="1">
            <a:spLocks noChangeArrowheads="1"/>
          </p:cNvSpPr>
          <p:nvPr>
            <p:custDataLst>
              <p:tags r:id="rId5"/>
            </p:custDataLst>
          </p:nvPr>
        </p:nvSpPr>
        <p:spPr bwMode="auto">
          <a:xfrm>
            <a:off x="301576" y="2384884"/>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Other Useful APIs…</a:t>
            </a:r>
            <a:endParaRPr lang="en-US" sz="2800" dirty="0">
              <a:solidFill>
                <a:srgbClr val="000000"/>
              </a:solidFill>
            </a:endParaRPr>
          </a:p>
        </p:txBody>
      </p:sp>
      <p:sp>
        <p:nvSpPr>
          <p:cNvPr id="14" name="Text Box 4">
            <a:hlinkClick r:id="rId17" action="ppaction://hlinksldjump"/>
          </p:cNvPr>
          <p:cNvSpPr txBox="1">
            <a:spLocks noChangeArrowheads="1"/>
          </p:cNvSpPr>
          <p:nvPr>
            <p:custDataLst>
              <p:tags r:id="rId6"/>
            </p:custDataLst>
          </p:nvPr>
        </p:nvSpPr>
        <p:spPr bwMode="auto">
          <a:xfrm>
            <a:off x="301576" y="2919701"/>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Events</a:t>
            </a:r>
            <a:endParaRPr lang="en-US" sz="2800" dirty="0">
              <a:solidFill>
                <a:srgbClr val="000000"/>
              </a:solidFill>
            </a:endParaRPr>
          </a:p>
        </p:txBody>
      </p:sp>
      <p:sp>
        <p:nvSpPr>
          <p:cNvPr id="15" name="Text Box 4">
            <a:hlinkClick r:id="rId18" action="ppaction://hlinksldjump"/>
          </p:cNvPr>
          <p:cNvSpPr txBox="1">
            <a:spLocks noChangeArrowheads="1"/>
          </p:cNvSpPr>
          <p:nvPr>
            <p:custDataLst>
              <p:tags r:id="rId7"/>
            </p:custDataLst>
          </p:nvPr>
        </p:nvSpPr>
        <p:spPr bwMode="auto">
          <a:xfrm>
            <a:off x="301576" y="3454518"/>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6" name="Text Box 4">
            <a:hlinkClick r:id="rId19" action="ppaction://hlinksldjump"/>
          </p:cNvPr>
          <p:cNvSpPr txBox="1">
            <a:spLocks noChangeArrowheads="1"/>
          </p:cNvSpPr>
          <p:nvPr>
            <p:custDataLst>
              <p:tags r:id="rId8"/>
            </p:custDataLst>
          </p:nvPr>
        </p:nvSpPr>
        <p:spPr bwMode="auto">
          <a:xfrm>
            <a:off x="301576" y="3989335"/>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Memory Footprint</a:t>
            </a:r>
            <a:endParaRPr lang="en-US" sz="2800" dirty="0">
              <a:solidFill>
                <a:srgbClr val="000000"/>
              </a:solidFill>
            </a:endParaRPr>
          </a:p>
        </p:txBody>
      </p:sp>
      <p:sp>
        <p:nvSpPr>
          <p:cNvPr id="17" name="Text Box 4">
            <a:hlinkClick r:id="rId20" action="ppaction://hlinksldjump"/>
          </p:cNvPr>
          <p:cNvSpPr txBox="1">
            <a:spLocks noChangeArrowheads="1"/>
          </p:cNvSpPr>
          <p:nvPr>
            <p:custDataLst>
              <p:tags r:id="rId9"/>
            </p:custDataLst>
          </p:nvPr>
        </p:nvSpPr>
        <p:spPr bwMode="auto">
          <a:xfrm>
            <a:off x="301576" y="4524152"/>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384078920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title"/>
          </p:nvPr>
        </p:nvSpPr>
        <p:spPr>
          <a:xfrm>
            <a:off x="-27296" y="-68239"/>
            <a:ext cx="9144000" cy="742950"/>
          </a:xfrm>
          <a:noFill/>
        </p:spPr>
        <p:txBody>
          <a:bodyPr wrap="none" anchorCtr="1">
            <a:normAutofit/>
          </a:bodyPr>
          <a:lstStyle/>
          <a:p>
            <a:r>
              <a:rPr lang="en-US" dirty="0" err="1" smtClean="0"/>
              <a:t>Swi</a:t>
            </a:r>
            <a:r>
              <a:rPr lang="en-US" dirty="0" smtClean="0"/>
              <a:t> vs. Task</a:t>
            </a:r>
          </a:p>
        </p:txBody>
      </p:sp>
      <p:grpSp>
        <p:nvGrpSpPr>
          <p:cNvPr id="2" name="Group 69"/>
          <p:cNvGrpSpPr>
            <a:grpSpLocks/>
          </p:cNvGrpSpPr>
          <p:nvPr/>
        </p:nvGrpSpPr>
        <p:grpSpPr bwMode="auto">
          <a:xfrm>
            <a:off x="3732213" y="387350"/>
            <a:ext cx="5313614" cy="6145381"/>
            <a:chOff x="3731825" y="387925"/>
            <a:chExt cx="5313989" cy="6144140"/>
          </a:xfrm>
        </p:grpSpPr>
        <p:sp>
          <p:nvSpPr>
            <p:cNvPr id="53" name="TextBox 52"/>
            <p:cNvSpPr txBox="1"/>
            <p:nvPr/>
          </p:nvSpPr>
          <p:spPr>
            <a:xfrm>
              <a:off x="4733608" y="760913"/>
              <a:ext cx="4181771" cy="3277525"/>
            </a:xfrm>
            <a:prstGeom prst="rect">
              <a:avLst/>
            </a:prstGeom>
            <a:solidFill>
              <a:schemeClr val="accent4">
                <a:lumMod val="20000"/>
                <a:lumOff val="80000"/>
              </a:schemeClr>
            </a:solidFill>
            <a:ln w="12700">
              <a:solidFill>
                <a:schemeClr val="tx1"/>
              </a:solidFill>
            </a:ln>
            <a:effectLst>
              <a:outerShdw blurRad="50800" dist="101600" dir="2700000" algn="tl" rotWithShape="0">
                <a:prstClr val="black">
                  <a:alpha val="40000"/>
                </a:prstClr>
              </a:outerShdw>
            </a:effectLst>
          </p:spPr>
          <p:txBody>
            <a:bodyPr wrap="none">
              <a:spAutoFit/>
            </a:bodyPr>
            <a:lstStyle/>
            <a:p>
              <a:pPr>
                <a:lnSpc>
                  <a:spcPct val="100000"/>
                </a:lnSpc>
                <a:defRPr/>
              </a:pPr>
              <a:r>
                <a:rPr lang="en-US" sz="1800" dirty="0">
                  <a:latin typeface="Courier New" pitchFamily="49" charset="0"/>
                  <a:cs typeface="Courier New" pitchFamily="49" charset="0"/>
                </a:rPr>
                <a:t> void </a:t>
              </a:r>
              <a:r>
                <a:rPr lang="en-US" sz="1800" dirty="0" err="1">
                  <a:latin typeface="Courier New" pitchFamily="49" charset="0"/>
                  <a:cs typeface="Courier New" pitchFamily="49" charset="0"/>
                </a:rPr>
                <a:t>myTask</a:t>
              </a:r>
              <a:r>
                <a:rPr lang="en-US" sz="1800" dirty="0">
                  <a:latin typeface="Courier New" pitchFamily="49" charset="0"/>
                  <a:cs typeface="Courier New" pitchFamily="49" charset="0"/>
                </a:rPr>
                <a:t> () {</a:t>
              </a:r>
            </a:p>
            <a:p>
              <a:pPr>
                <a:lnSpc>
                  <a:spcPct val="100000"/>
                </a:lnSpc>
                <a:defRPr/>
              </a:pPr>
              <a:r>
                <a:rPr lang="en-US" sz="1800" dirty="0">
                  <a:latin typeface="Courier New" pitchFamily="49" charset="0"/>
                  <a:cs typeface="Courier New" pitchFamily="49" charset="0"/>
                </a:rPr>
                <a:t>   // </a:t>
              </a:r>
              <a:r>
                <a:rPr lang="en-US" sz="1800" dirty="0">
                  <a:solidFill>
                    <a:schemeClr val="tx2"/>
                  </a:solidFill>
                  <a:latin typeface="Courier New" pitchFamily="49" charset="0"/>
                  <a:cs typeface="Courier New" pitchFamily="49" charset="0"/>
                </a:rPr>
                <a:t>Prologue</a:t>
              </a:r>
              <a:r>
                <a:rPr lang="en-US" sz="1800" dirty="0">
                  <a:latin typeface="Courier New" pitchFamily="49" charset="0"/>
                  <a:cs typeface="Courier New" pitchFamily="49" charset="0"/>
                </a:rPr>
                <a:t> (set Task </a:t>
              </a:r>
              <a:r>
                <a:rPr lang="en-US" sz="1800" dirty="0" err="1">
                  <a:latin typeface="Courier New" pitchFamily="49" charset="0"/>
                  <a:cs typeface="Courier New" pitchFamily="49" charset="0"/>
                </a:rPr>
                <a:t>env</a:t>
              </a:r>
              <a:r>
                <a:rPr lang="en-US" sz="1800" dirty="0">
                  <a:latin typeface="Courier New" pitchFamily="49" charset="0"/>
                  <a:cs typeface="Courier New" pitchFamily="49" charset="0"/>
                </a:rPr>
                <a:t>)</a:t>
              </a:r>
            </a:p>
            <a:p>
              <a:pPr>
                <a:lnSpc>
                  <a:spcPct val="100000"/>
                </a:lnSpc>
                <a:defRPr/>
              </a:pPr>
              <a:r>
                <a:rPr lang="en-US" sz="1800" dirty="0">
                  <a:latin typeface="Courier New" pitchFamily="49" charset="0"/>
                  <a:cs typeface="Courier New" pitchFamily="49" charset="0"/>
                </a:rPr>
                <a:t>   while(</a:t>
              </a:r>
              <a:r>
                <a:rPr lang="en-US" sz="1800" dirty="0" err="1">
                  <a:latin typeface="Courier New" pitchFamily="49" charset="0"/>
                  <a:cs typeface="Courier New" pitchFamily="49" charset="0"/>
                </a:rPr>
                <a:t>cond</a:t>
              </a:r>
              <a:r>
                <a:rPr lang="en-US" sz="1800" dirty="0">
                  <a:latin typeface="Courier New" pitchFamily="49" charset="0"/>
                  <a:cs typeface="Courier New" pitchFamily="49" charset="0"/>
                </a:rPr>
                <a:t>){</a:t>
              </a:r>
            </a:p>
            <a:p>
              <a:pPr>
                <a:lnSpc>
                  <a:spcPct val="100000"/>
                </a:lnSpc>
                <a:defRPr/>
              </a:pPr>
              <a:r>
                <a:rPr lang="en-US" sz="1800" dirty="0">
                  <a:latin typeface="Courier New" pitchFamily="49" charset="0"/>
                  <a:cs typeface="Courier New" pitchFamily="49" charset="0"/>
                </a:rPr>
                <a:t>      </a:t>
              </a:r>
              <a:r>
                <a:rPr lang="en-US" sz="1800" dirty="0" err="1" smtClean="0">
                  <a:solidFill>
                    <a:schemeClr val="tx2"/>
                  </a:solidFill>
                  <a:latin typeface="Courier New" pitchFamily="49" charset="0"/>
                  <a:cs typeface="Courier New" pitchFamily="49" charset="0"/>
                </a:rPr>
                <a:t>Semaphore_pend</a:t>
              </a:r>
              <a:r>
                <a:rPr lang="en-US" sz="1800" dirty="0">
                  <a:latin typeface="Courier New" pitchFamily="49" charset="0"/>
                  <a:cs typeface="Courier New" pitchFamily="49" charset="0"/>
                </a:rPr>
                <a:t>();</a:t>
              </a:r>
            </a:p>
            <a:p>
              <a:pPr>
                <a:lnSpc>
                  <a:spcPct val="100000"/>
                </a:lnSpc>
                <a:defRPr/>
              </a:pPr>
              <a:r>
                <a:rPr lang="en-US" sz="1800" dirty="0">
                  <a:latin typeface="Courier New" pitchFamily="49" charset="0"/>
                  <a:cs typeface="Courier New" pitchFamily="49" charset="0"/>
                </a:rPr>
                <a:t>      *** RUN ***</a:t>
              </a:r>
            </a:p>
            <a:p>
              <a:pPr>
                <a:lnSpc>
                  <a:spcPct val="100000"/>
                </a:lnSpc>
                <a:defRPr/>
              </a:pPr>
              <a:r>
                <a:rPr lang="en-US" sz="1800" dirty="0">
                  <a:latin typeface="Courier New" pitchFamily="49" charset="0"/>
                  <a:cs typeface="Courier New" pitchFamily="49" charset="0"/>
                </a:rPr>
                <a:t>   }</a:t>
              </a:r>
            </a:p>
            <a:p>
              <a:pPr>
                <a:lnSpc>
                  <a:spcPct val="100000"/>
                </a:lnSpc>
                <a:defRPr/>
              </a:pPr>
              <a:r>
                <a:rPr lang="en-US" sz="1800" dirty="0">
                  <a:latin typeface="Courier New" pitchFamily="49" charset="0"/>
                  <a:cs typeface="Courier New" pitchFamily="49" charset="0"/>
                </a:rPr>
                <a:t>   // </a:t>
              </a:r>
              <a:r>
                <a:rPr lang="en-US" sz="1800" dirty="0">
                  <a:solidFill>
                    <a:schemeClr val="tx2"/>
                  </a:solidFill>
                  <a:latin typeface="Courier New" pitchFamily="49" charset="0"/>
                  <a:cs typeface="Courier New" pitchFamily="49" charset="0"/>
                </a:rPr>
                <a:t>Epilogue</a:t>
              </a:r>
              <a:r>
                <a:rPr lang="en-US" sz="1800" dirty="0">
                  <a:latin typeface="Courier New" pitchFamily="49" charset="0"/>
                  <a:cs typeface="Courier New" pitchFamily="49" charset="0"/>
                </a:rPr>
                <a:t> (free </a:t>
              </a:r>
              <a:r>
                <a:rPr lang="en-US" sz="1800" dirty="0" err="1">
                  <a:latin typeface="Courier New" pitchFamily="49" charset="0"/>
                  <a:cs typeface="Courier New" pitchFamily="49" charset="0"/>
                </a:rPr>
                <a:t>env</a:t>
              </a:r>
              <a:r>
                <a:rPr lang="en-US" sz="1800" dirty="0">
                  <a:latin typeface="Courier New" pitchFamily="49" charset="0"/>
                  <a:cs typeface="Courier New" pitchFamily="49" charset="0"/>
                </a:rPr>
                <a:t>)</a:t>
              </a:r>
            </a:p>
            <a:p>
              <a:pPr>
                <a:lnSpc>
                  <a:spcPct val="100000"/>
                </a:lnSpc>
                <a:defRPr/>
              </a:pPr>
              <a:r>
                <a:rPr lang="en-US" sz="1800" dirty="0">
                  <a:latin typeface="Courier New" pitchFamily="49" charset="0"/>
                  <a:cs typeface="Courier New" pitchFamily="49" charset="0"/>
                </a:rPr>
                <a:t> }</a:t>
              </a:r>
            </a:p>
          </p:txBody>
        </p:sp>
        <p:sp>
          <p:nvSpPr>
            <p:cNvPr id="61" name="Curved Left Arrow 60"/>
            <p:cNvSpPr/>
            <p:nvPr/>
          </p:nvSpPr>
          <p:spPr bwMode="auto">
            <a:xfrm flipV="1">
              <a:off x="7696092" y="1581484"/>
              <a:ext cx="762054" cy="1447508"/>
            </a:xfrm>
            <a:prstGeom prst="curvedLeftArrow">
              <a:avLst/>
            </a:prstGeom>
            <a:solidFill>
              <a:schemeClr val="accent1"/>
            </a:solidFill>
            <a:ln w="12700" cap="flat" cmpd="sng" algn="ctr">
              <a:solidFill>
                <a:schemeClr val="tx1"/>
              </a:solidFill>
              <a:prstDash val="solid"/>
              <a:round/>
              <a:headEnd type="none" w="sm" len="sm"/>
              <a:tailEnd type="none" w="sm" len="sm"/>
            </a:ln>
            <a:effectLst/>
          </p:spPr>
          <p:txBody>
            <a:bodyPr/>
            <a:lstStyle/>
            <a:p>
              <a:pPr>
                <a:defRPr/>
              </a:pPr>
              <a:endParaRPr lang="en-US">
                <a:effectLst>
                  <a:outerShdw blurRad="38100" dist="38100" dir="2700000" algn="tl">
                    <a:srgbClr val="000000">
                      <a:alpha val="43137"/>
                    </a:srgbClr>
                  </a:outerShdw>
                </a:effectLst>
              </a:endParaRPr>
            </a:p>
          </p:txBody>
        </p:sp>
        <p:sp>
          <p:nvSpPr>
            <p:cNvPr id="5133" name="TextBox 61"/>
            <p:cNvSpPr txBox="1">
              <a:spLocks noChangeArrowheads="1"/>
            </p:cNvSpPr>
            <p:nvPr/>
          </p:nvSpPr>
          <p:spPr bwMode="auto">
            <a:xfrm>
              <a:off x="3731825" y="812679"/>
              <a:ext cx="1048759" cy="289252"/>
            </a:xfrm>
            <a:prstGeom prst="rect">
              <a:avLst/>
            </a:prstGeom>
            <a:noFill/>
            <a:ln w="9525">
              <a:noFill/>
              <a:miter lim="800000"/>
              <a:headEnd/>
              <a:tailEnd/>
            </a:ln>
          </p:spPr>
          <p:txBody>
            <a:bodyPr wrap="none">
              <a:spAutoFit/>
            </a:bodyPr>
            <a:lstStyle/>
            <a:p>
              <a:r>
                <a:rPr lang="en-US" sz="1600">
                  <a:latin typeface="Courier New" pitchFamily="49" charset="0"/>
                  <a:cs typeface="Courier New" pitchFamily="49" charset="0"/>
                </a:rPr>
                <a:t>_create</a:t>
              </a:r>
            </a:p>
          </p:txBody>
        </p:sp>
        <p:cxnSp>
          <p:nvCxnSpPr>
            <p:cNvPr id="5134" name="Straight Arrow Connector 63"/>
            <p:cNvCxnSpPr>
              <a:cxnSpLocks noChangeShapeType="1"/>
            </p:cNvCxnSpPr>
            <p:nvPr/>
          </p:nvCxnSpPr>
          <p:spPr bwMode="auto">
            <a:xfrm>
              <a:off x="4688775" y="950025"/>
              <a:ext cx="252350" cy="1588"/>
            </a:xfrm>
            <a:prstGeom prst="straightConnector1">
              <a:avLst/>
            </a:prstGeom>
            <a:noFill/>
            <a:ln w="19050" algn="ctr">
              <a:solidFill>
                <a:schemeClr val="tx1"/>
              </a:solidFill>
              <a:round/>
              <a:headEnd type="none" w="sm" len="sm"/>
              <a:tailEnd type="arrow" w="med" len="med"/>
            </a:ln>
          </p:spPr>
        </p:cxnSp>
        <p:sp>
          <p:nvSpPr>
            <p:cNvPr id="5135" name="TextBox 64"/>
            <p:cNvSpPr txBox="1">
              <a:spLocks noChangeArrowheads="1"/>
            </p:cNvSpPr>
            <p:nvPr/>
          </p:nvSpPr>
          <p:spPr bwMode="auto">
            <a:xfrm>
              <a:off x="6248190" y="387925"/>
              <a:ext cx="978798" cy="436955"/>
            </a:xfrm>
            <a:prstGeom prst="rect">
              <a:avLst/>
            </a:prstGeom>
            <a:noFill/>
            <a:ln w="9525">
              <a:noFill/>
              <a:miter lim="800000"/>
              <a:headEnd/>
              <a:tailEnd/>
            </a:ln>
          </p:spPr>
          <p:txBody>
            <a:bodyPr wrap="none">
              <a:spAutoFit/>
            </a:bodyPr>
            <a:lstStyle/>
            <a:p>
              <a:r>
                <a:rPr lang="en-US" sz="2800" dirty="0" smtClean="0">
                  <a:solidFill>
                    <a:schemeClr val="tx2"/>
                  </a:solidFill>
                </a:rPr>
                <a:t>Task</a:t>
              </a:r>
              <a:endParaRPr lang="en-US" sz="2800" dirty="0">
                <a:solidFill>
                  <a:schemeClr val="tx2"/>
                </a:solidFill>
              </a:endParaRPr>
            </a:p>
          </p:txBody>
        </p:sp>
        <p:sp>
          <p:nvSpPr>
            <p:cNvPr id="5136" name="TextBox 66"/>
            <p:cNvSpPr txBox="1">
              <a:spLocks noChangeArrowheads="1"/>
            </p:cNvSpPr>
            <p:nvPr/>
          </p:nvSpPr>
          <p:spPr bwMode="auto">
            <a:xfrm>
              <a:off x="4190297" y="4191000"/>
              <a:ext cx="4855517" cy="2341065"/>
            </a:xfrm>
            <a:prstGeom prst="rect">
              <a:avLst/>
            </a:prstGeom>
            <a:noFill/>
            <a:ln w="9525">
              <a:noFill/>
              <a:miter lim="800000"/>
              <a:headEnd/>
              <a:tailEnd/>
            </a:ln>
          </p:spPr>
          <p:txBody>
            <a:bodyPr wrap="none">
              <a:spAutoFit/>
            </a:bodyPr>
            <a:lstStyle/>
            <a:p>
              <a:pPr marL="166688" indent="-166688">
                <a:buClr>
                  <a:schemeClr val="tx2"/>
                </a:buClr>
                <a:buFont typeface="Arial" charset="0"/>
                <a:buChar char="•"/>
              </a:pPr>
              <a:r>
                <a:rPr lang="en-US" sz="1800" b="0" dirty="0">
                  <a:latin typeface="Calibri" pitchFamily="34" charset="0"/>
                  <a:cs typeface="Calibri" pitchFamily="34" charset="0"/>
                </a:rPr>
                <a:t>“Ready” when </a:t>
              </a:r>
              <a:r>
                <a:rPr lang="en-US" sz="1800" b="0" i="1" u="sng" dirty="0">
                  <a:latin typeface="Calibri" pitchFamily="34" charset="0"/>
                  <a:cs typeface="Calibri" pitchFamily="34" charset="0"/>
                </a:rPr>
                <a:t>CREATED</a:t>
              </a:r>
              <a:r>
                <a:rPr lang="en-US" sz="1800" b="0" dirty="0">
                  <a:latin typeface="Calibri" pitchFamily="34" charset="0"/>
                  <a:cs typeface="Calibri" pitchFamily="34" charset="0"/>
                </a:rPr>
                <a:t> (</a:t>
              </a:r>
              <a:r>
                <a:rPr lang="en-US" sz="1800" b="0" smtClean="0">
                  <a:latin typeface="Calibri" pitchFamily="34" charset="0"/>
                  <a:cs typeface="Calibri" pitchFamily="34" charset="0"/>
                </a:rPr>
                <a:t>BIOS_init </a:t>
              </a:r>
              <a:r>
                <a:rPr lang="en-US" sz="1800" b="0" dirty="0">
                  <a:latin typeface="Calibri" pitchFamily="34" charset="0"/>
                  <a:cs typeface="Calibri" pitchFamily="34" charset="0"/>
                </a:rPr>
                <a:t>or dynamic)</a:t>
              </a:r>
            </a:p>
            <a:p>
              <a:pPr marL="166688" indent="-166688">
                <a:buClr>
                  <a:schemeClr val="tx2"/>
                </a:buClr>
                <a:buFont typeface="Arial" charset="0"/>
                <a:buChar char="•"/>
              </a:pPr>
              <a:r>
                <a:rPr lang="en-US" sz="1800" b="0" dirty="0">
                  <a:latin typeface="Calibri" pitchFamily="34" charset="0"/>
                  <a:cs typeface="Calibri" pitchFamily="34" charset="0"/>
                </a:rPr>
                <a:t>P-L-E structure handy for resource creation (P)</a:t>
              </a:r>
              <a:br>
                <a:rPr lang="en-US" sz="1800" b="0" dirty="0">
                  <a:latin typeface="Calibri" pitchFamily="34" charset="0"/>
                  <a:cs typeface="Calibri" pitchFamily="34" charset="0"/>
                </a:rPr>
              </a:br>
              <a:r>
                <a:rPr lang="en-US" sz="1800" b="0" dirty="0">
                  <a:latin typeface="Calibri" pitchFamily="34" charset="0"/>
                  <a:cs typeface="Calibri" pitchFamily="34" charset="0"/>
                </a:rPr>
                <a:t>and deletion (E), initial state preserved </a:t>
              </a:r>
            </a:p>
            <a:p>
              <a:pPr marL="166688" indent="-166688">
                <a:buClr>
                  <a:schemeClr val="tx2"/>
                </a:buClr>
                <a:buFont typeface="Arial" charset="0"/>
                <a:buChar char="•"/>
              </a:pPr>
              <a:r>
                <a:rPr lang="en-US" sz="1800" b="0" dirty="0">
                  <a:latin typeface="Calibri" pitchFamily="34" charset="0"/>
                  <a:cs typeface="Calibri" pitchFamily="34" charset="0"/>
                </a:rPr>
                <a:t>Can block/suspend on semaphore (flag)</a:t>
              </a:r>
            </a:p>
            <a:p>
              <a:pPr marL="166688" indent="-166688">
                <a:buClr>
                  <a:schemeClr val="tx2"/>
                </a:buClr>
                <a:buFont typeface="Arial" charset="0"/>
                <a:buChar char="•"/>
              </a:pPr>
              <a:r>
                <a:rPr lang="en-US" sz="1800" b="0" dirty="0">
                  <a:latin typeface="Calibri" pitchFamily="34" charset="0"/>
                  <a:cs typeface="Calibri" pitchFamily="34" charset="0"/>
                </a:rPr>
                <a:t>Context switch speed </a:t>
              </a:r>
              <a:r>
                <a:rPr lang="en-US" sz="1800" b="0" smtClean="0">
                  <a:latin typeface="Calibri" pitchFamily="34" charset="0"/>
                  <a:cs typeface="Calibri" pitchFamily="34" charset="0"/>
                </a:rPr>
                <a:t>(~160c for C6k)</a:t>
              </a:r>
              <a:endParaRPr lang="en-US" sz="1800" b="0" dirty="0">
                <a:latin typeface="Calibri" pitchFamily="34" charset="0"/>
                <a:cs typeface="Calibri" pitchFamily="34" charset="0"/>
              </a:endParaRPr>
            </a:p>
            <a:p>
              <a:pPr marL="166688" indent="-166688">
                <a:buClr>
                  <a:schemeClr val="tx2"/>
                </a:buClr>
                <a:buFont typeface="Arial" charset="0"/>
                <a:buChar char="•"/>
              </a:pPr>
              <a:r>
                <a:rPr lang="en-US" sz="1800" b="0" dirty="0">
                  <a:latin typeface="Calibri" pitchFamily="34" charset="0"/>
                  <a:cs typeface="Calibri" pitchFamily="34" charset="0"/>
                </a:rPr>
                <a:t>Uses its </a:t>
              </a:r>
              <a:r>
                <a:rPr lang="en-US" sz="1800" b="0" u="sng" dirty="0">
                  <a:latin typeface="Calibri" pitchFamily="34" charset="0"/>
                  <a:cs typeface="Calibri" pitchFamily="34" charset="0"/>
                </a:rPr>
                <a:t>OWN stack</a:t>
              </a:r>
              <a:r>
                <a:rPr lang="en-US" sz="1800" b="0" dirty="0">
                  <a:latin typeface="Calibri" pitchFamily="34" charset="0"/>
                  <a:cs typeface="Calibri" pitchFamily="34" charset="0"/>
                </a:rPr>
                <a:t> to store context</a:t>
              </a:r>
            </a:p>
            <a:p>
              <a:pPr marL="166688" indent="-166688">
                <a:buClr>
                  <a:schemeClr val="tx2"/>
                </a:buClr>
                <a:buFont typeface="Arial" charset="0"/>
                <a:buChar char="•"/>
              </a:pPr>
              <a:r>
                <a:rPr lang="en-US" sz="1800" b="0" dirty="0">
                  <a:latin typeface="Calibri" pitchFamily="34" charset="0"/>
                  <a:cs typeface="Calibri" pitchFamily="34" charset="0"/>
                </a:rPr>
                <a:t>Use: </a:t>
              </a:r>
              <a:r>
                <a:rPr lang="en-US" sz="1800" b="0" dirty="0" smtClean="0">
                  <a:latin typeface="Calibri" pitchFamily="34" charset="0"/>
                  <a:cs typeface="Calibri" pitchFamily="34" charset="0"/>
                </a:rPr>
                <a:t>Full-featured sys, CPU w/more speed/</a:t>
              </a:r>
              <a:r>
                <a:rPr lang="en-US" sz="1800" b="0" dirty="0" err="1" smtClean="0">
                  <a:latin typeface="Calibri" pitchFamily="34" charset="0"/>
                  <a:cs typeface="Calibri" pitchFamily="34" charset="0"/>
                </a:rPr>
                <a:t>mem</a:t>
              </a:r>
              <a:endParaRPr lang="en-US" sz="1800" b="0" dirty="0">
                <a:latin typeface="Calibri" pitchFamily="34" charset="0"/>
                <a:cs typeface="Calibri" pitchFamily="34" charset="0"/>
              </a:endParaRPr>
            </a:p>
          </p:txBody>
        </p:sp>
      </p:grpSp>
      <p:grpSp>
        <p:nvGrpSpPr>
          <p:cNvPr id="3" name="Group 68"/>
          <p:cNvGrpSpPr>
            <a:grpSpLocks/>
          </p:cNvGrpSpPr>
          <p:nvPr/>
        </p:nvGrpSpPr>
        <p:grpSpPr bwMode="auto">
          <a:xfrm>
            <a:off x="0" y="387350"/>
            <a:ext cx="4133412" cy="5604798"/>
            <a:chOff x="0" y="387925"/>
            <a:chExt cx="4132971" cy="5603719"/>
          </a:xfrm>
        </p:grpSpPr>
        <p:sp>
          <p:nvSpPr>
            <p:cNvPr id="52" name="TextBox 51"/>
            <p:cNvSpPr txBox="1"/>
            <p:nvPr/>
          </p:nvSpPr>
          <p:spPr>
            <a:xfrm>
              <a:off x="1114306" y="752980"/>
              <a:ext cx="2390520" cy="2447454"/>
            </a:xfrm>
            <a:prstGeom prst="rect">
              <a:avLst/>
            </a:prstGeom>
            <a:solidFill>
              <a:schemeClr val="accent5">
                <a:lumMod val="20000"/>
                <a:lumOff val="80000"/>
              </a:schemeClr>
            </a:solidFill>
            <a:ln>
              <a:solidFill>
                <a:schemeClr val="tx1"/>
              </a:solidFill>
            </a:ln>
            <a:effectLst>
              <a:outerShdw blurRad="50800" dist="101600" dir="2700000" algn="tl" rotWithShape="0">
                <a:prstClr val="black">
                  <a:alpha val="40000"/>
                </a:prstClr>
              </a:outerShdw>
            </a:effectLst>
          </p:spPr>
          <p:txBody>
            <a:bodyPr wrap="none">
              <a:spAutoFit/>
            </a:bodyPr>
            <a:lstStyle/>
            <a:p>
              <a:pPr>
                <a:lnSpc>
                  <a:spcPct val="100000"/>
                </a:lnSpc>
                <a:defRPr/>
              </a:pPr>
              <a:r>
                <a:rPr lang="en-US" sz="1800" dirty="0">
                  <a:latin typeface="Courier New" pitchFamily="49" charset="0"/>
                  <a:cs typeface="Courier New" pitchFamily="49" charset="0"/>
                </a:rPr>
                <a:t>void </a:t>
              </a:r>
              <a:r>
                <a:rPr lang="en-US" sz="1800" dirty="0" err="1">
                  <a:latin typeface="Courier New" pitchFamily="49" charset="0"/>
                  <a:cs typeface="Courier New" pitchFamily="49" charset="0"/>
                </a:rPr>
                <a:t>mySwi</a:t>
              </a:r>
              <a:r>
                <a:rPr lang="en-US" sz="1800" dirty="0">
                  <a:latin typeface="Courier New" pitchFamily="49" charset="0"/>
                  <a:cs typeface="Courier New" pitchFamily="49" charset="0"/>
                </a:rPr>
                <a:t> () {</a:t>
              </a:r>
            </a:p>
            <a:p>
              <a:pPr>
                <a:lnSpc>
                  <a:spcPct val="100000"/>
                </a:lnSpc>
                <a:defRPr/>
              </a:pPr>
              <a:r>
                <a:rPr lang="en-US" sz="1800" dirty="0">
                  <a:latin typeface="Courier New" pitchFamily="49" charset="0"/>
                  <a:cs typeface="Courier New" pitchFamily="49" charset="0"/>
                </a:rPr>
                <a:t>// set local </a:t>
              </a:r>
              <a:r>
                <a:rPr lang="en-US" sz="1800" dirty="0" err="1">
                  <a:latin typeface="Courier New" pitchFamily="49" charset="0"/>
                  <a:cs typeface="Courier New" pitchFamily="49" charset="0"/>
                </a:rPr>
                <a:t>env</a:t>
              </a:r>
              <a:endParaRPr lang="en-US" sz="1800" dirty="0">
                <a:latin typeface="Courier New" pitchFamily="49" charset="0"/>
                <a:cs typeface="Courier New" pitchFamily="49" charset="0"/>
              </a:endParaRPr>
            </a:p>
            <a:p>
              <a:pPr>
                <a:lnSpc>
                  <a:spcPct val="100000"/>
                </a:lnSpc>
                <a:defRPr/>
              </a:pPr>
              <a:endParaRPr lang="en-US" sz="1800" dirty="0">
                <a:latin typeface="Courier New" pitchFamily="49" charset="0"/>
                <a:cs typeface="Courier New" pitchFamily="49" charset="0"/>
              </a:endParaRPr>
            </a:p>
            <a:p>
              <a:pPr>
                <a:lnSpc>
                  <a:spcPct val="100000"/>
                </a:lnSpc>
                <a:defRPr/>
              </a:pPr>
              <a:r>
                <a:rPr lang="en-US" sz="1800" dirty="0">
                  <a:latin typeface="Courier New" pitchFamily="49" charset="0"/>
                  <a:cs typeface="Courier New" pitchFamily="49" charset="0"/>
                </a:rPr>
                <a:t>   *** RUN ***</a:t>
              </a:r>
            </a:p>
            <a:p>
              <a:pPr>
                <a:lnSpc>
                  <a:spcPct val="100000"/>
                </a:lnSpc>
                <a:defRPr/>
              </a:pPr>
              <a:endParaRPr lang="en-US" sz="1800" dirty="0">
                <a:latin typeface="Courier New" pitchFamily="49" charset="0"/>
                <a:cs typeface="Courier New" pitchFamily="49" charset="0"/>
              </a:endParaRPr>
            </a:p>
            <a:p>
              <a:pPr>
                <a:lnSpc>
                  <a:spcPct val="100000"/>
                </a:lnSpc>
                <a:defRPr/>
              </a:pPr>
              <a:r>
                <a:rPr lang="en-US" sz="1800" dirty="0">
                  <a:latin typeface="Courier New" pitchFamily="49" charset="0"/>
                  <a:cs typeface="Courier New" pitchFamily="49" charset="0"/>
                </a:rPr>
                <a:t>}</a:t>
              </a:r>
            </a:p>
          </p:txBody>
        </p:sp>
        <p:sp>
          <p:nvSpPr>
            <p:cNvPr id="5126" name="TextBox 54"/>
            <p:cNvSpPr txBox="1">
              <a:spLocks noChangeArrowheads="1"/>
            </p:cNvSpPr>
            <p:nvPr/>
          </p:nvSpPr>
          <p:spPr bwMode="auto">
            <a:xfrm>
              <a:off x="1882067" y="387925"/>
              <a:ext cx="801737" cy="436959"/>
            </a:xfrm>
            <a:prstGeom prst="rect">
              <a:avLst/>
            </a:prstGeom>
            <a:noFill/>
            <a:ln w="9525">
              <a:noFill/>
              <a:miter lim="800000"/>
              <a:headEnd/>
              <a:tailEnd/>
            </a:ln>
          </p:spPr>
          <p:txBody>
            <a:bodyPr wrap="none">
              <a:spAutoFit/>
            </a:bodyPr>
            <a:lstStyle/>
            <a:p>
              <a:r>
                <a:rPr lang="en-US" sz="2800" dirty="0" err="1" smtClean="0">
                  <a:solidFill>
                    <a:schemeClr val="tx2"/>
                  </a:solidFill>
                </a:rPr>
                <a:t>Swi</a:t>
              </a:r>
              <a:endParaRPr lang="en-US" sz="2800" dirty="0">
                <a:solidFill>
                  <a:schemeClr val="tx2"/>
                </a:solidFill>
              </a:endParaRPr>
            </a:p>
          </p:txBody>
        </p:sp>
        <p:sp>
          <p:nvSpPr>
            <p:cNvPr id="56" name="Down Arrow 55"/>
            <p:cNvSpPr/>
            <p:nvPr/>
          </p:nvSpPr>
          <p:spPr bwMode="auto">
            <a:xfrm>
              <a:off x="304767" y="1219615"/>
              <a:ext cx="457151" cy="1599892"/>
            </a:xfrm>
            <a:prstGeom prst="downArrow">
              <a:avLst/>
            </a:prstGeom>
            <a:solidFill>
              <a:schemeClr val="bg2"/>
            </a:solidFill>
            <a:ln w="12700" cap="flat" cmpd="sng" algn="ctr">
              <a:solidFill>
                <a:schemeClr val="tx1"/>
              </a:solidFill>
              <a:prstDash val="solid"/>
              <a:round/>
              <a:headEnd type="none" w="sm" len="sm"/>
              <a:tailEnd type="none" w="sm" len="sm"/>
            </a:ln>
            <a:effectLst/>
          </p:spPr>
          <p:txBody>
            <a:bodyPr/>
            <a:lstStyle/>
            <a:p>
              <a:pPr>
                <a:defRPr/>
              </a:pPr>
              <a:endParaRPr lang="en-US">
                <a:effectLst>
                  <a:outerShdw blurRad="38100" dist="38100" dir="2700000" algn="tl">
                    <a:srgbClr val="000000">
                      <a:alpha val="43137"/>
                    </a:srgbClr>
                  </a:outerShdw>
                </a:effectLst>
              </a:endParaRPr>
            </a:p>
          </p:txBody>
        </p:sp>
        <p:sp>
          <p:nvSpPr>
            <p:cNvPr id="5128" name="TextBox 56"/>
            <p:cNvSpPr txBox="1">
              <a:spLocks noChangeArrowheads="1"/>
            </p:cNvSpPr>
            <p:nvPr/>
          </p:nvSpPr>
          <p:spPr bwMode="auto">
            <a:xfrm>
              <a:off x="0" y="762000"/>
              <a:ext cx="873957" cy="313932"/>
            </a:xfrm>
            <a:prstGeom prst="rect">
              <a:avLst/>
            </a:prstGeom>
            <a:noFill/>
            <a:ln w="9525">
              <a:noFill/>
              <a:miter lim="800000"/>
              <a:headEnd/>
              <a:tailEnd/>
            </a:ln>
          </p:spPr>
          <p:txBody>
            <a:bodyPr wrap="none">
              <a:spAutoFit/>
            </a:bodyPr>
            <a:lstStyle/>
            <a:p>
              <a:r>
                <a:rPr lang="en-US" sz="1800">
                  <a:latin typeface="Courier New" pitchFamily="49" charset="0"/>
                  <a:cs typeface="Courier New" pitchFamily="49" charset="0"/>
                </a:rPr>
                <a:t>_post</a:t>
              </a:r>
            </a:p>
          </p:txBody>
        </p:sp>
        <p:cxnSp>
          <p:nvCxnSpPr>
            <p:cNvPr id="5129" name="Straight Arrow Connector 58"/>
            <p:cNvCxnSpPr>
              <a:cxnSpLocks noChangeShapeType="1"/>
            </p:cNvCxnSpPr>
            <p:nvPr/>
          </p:nvCxnSpPr>
          <p:spPr bwMode="auto">
            <a:xfrm>
              <a:off x="814450" y="914400"/>
              <a:ext cx="252350" cy="1588"/>
            </a:xfrm>
            <a:prstGeom prst="straightConnector1">
              <a:avLst/>
            </a:prstGeom>
            <a:noFill/>
            <a:ln w="19050" algn="ctr">
              <a:solidFill>
                <a:schemeClr val="tx1"/>
              </a:solidFill>
              <a:round/>
              <a:headEnd type="none" w="sm" len="sm"/>
              <a:tailEnd type="arrow" w="med" len="med"/>
            </a:ln>
          </p:spPr>
        </p:cxnSp>
        <p:sp>
          <p:nvSpPr>
            <p:cNvPr id="5130" name="TextBox 67"/>
            <p:cNvSpPr txBox="1">
              <a:spLocks noChangeArrowheads="1"/>
            </p:cNvSpPr>
            <p:nvPr/>
          </p:nvSpPr>
          <p:spPr bwMode="auto">
            <a:xfrm>
              <a:off x="228600" y="3429000"/>
              <a:ext cx="3904371" cy="2562644"/>
            </a:xfrm>
            <a:prstGeom prst="rect">
              <a:avLst/>
            </a:prstGeom>
            <a:noFill/>
            <a:ln w="9525">
              <a:noFill/>
              <a:miter lim="800000"/>
              <a:headEnd/>
              <a:tailEnd/>
            </a:ln>
          </p:spPr>
          <p:txBody>
            <a:bodyPr wrap="none">
              <a:spAutoFit/>
            </a:bodyPr>
            <a:lstStyle/>
            <a:p>
              <a:pPr marL="166688" indent="-166688">
                <a:buClr>
                  <a:schemeClr val="tx2"/>
                </a:buClr>
                <a:buSzPct val="100000"/>
                <a:buFont typeface="Arial" charset="0"/>
                <a:buChar char="•"/>
              </a:pPr>
              <a:r>
                <a:rPr lang="en-US" sz="1800" b="0" dirty="0">
                  <a:latin typeface="Calibri" pitchFamily="34" charset="0"/>
                  <a:cs typeface="Calibri" pitchFamily="34" charset="0"/>
                </a:rPr>
                <a:t>“Ready” when </a:t>
              </a:r>
              <a:r>
                <a:rPr lang="en-US" sz="1800" b="0" i="1" u="sng" dirty="0">
                  <a:latin typeface="Calibri" pitchFamily="34" charset="0"/>
                  <a:cs typeface="Calibri" pitchFamily="34" charset="0"/>
                </a:rPr>
                <a:t>POSTED</a:t>
              </a:r>
            </a:p>
            <a:p>
              <a:pPr marL="166688" indent="-166688">
                <a:buClr>
                  <a:schemeClr val="tx2"/>
                </a:buClr>
                <a:buSzPct val="100000"/>
                <a:buFont typeface="Arial" charset="0"/>
                <a:buChar char="•"/>
              </a:pPr>
              <a:r>
                <a:rPr lang="en-US" sz="1800" b="0" dirty="0">
                  <a:latin typeface="Calibri" pitchFamily="34" charset="0"/>
                  <a:cs typeface="Calibri" pitchFamily="34" charset="0"/>
                </a:rPr>
                <a:t>Initial state NOT preserved – must set</a:t>
              </a:r>
              <a:br>
                <a:rPr lang="en-US" sz="1800" b="0" dirty="0">
                  <a:latin typeface="Calibri" pitchFamily="34" charset="0"/>
                  <a:cs typeface="Calibri" pitchFamily="34" charset="0"/>
                </a:rPr>
              </a:br>
              <a:r>
                <a:rPr lang="en-US" sz="1800" b="0" dirty="0">
                  <a:latin typeface="Calibri" pitchFamily="34" charset="0"/>
                  <a:cs typeface="Calibri" pitchFamily="34" charset="0"/>
                </a:rPr>
                <a:t>each time </a:t>
              </a:r>
              <a:r>
                <a:rPr lang="en-US" sz="1800" dirty="0" err="1" smtClean="0">
                  <a:solidFill>
                    <a:schemeClr val="tx2"/>
                  </a:solidFill>
                  <a:latin typeface="Calibri" pitchFamily="34" charset="0"/>
                  <a:cs typeface="Calibri" pitchFamily="34" charset="0"/>
                </a:rPr>
                <a:t>Swi</a:t>
              </a:r>
              <a:r>
                <a:rPr lang="en-US" sz="1800" b="0" dirty="0" smtClean="0">
                  <a:latin typeface="Calibri" pitchFamily="34" charset="0"/>
                  <a:cs typeface="Calibri" pitchFamily="34" charset="0"/>
                </a:rPr>
                <a:t> </a:t>
              </a:r>
              <a:r>
                <a:rPr lang="en-US" sz="1800" b="0" dirty="0">
                  <a:latin typeface="Calibri" pitchFamily="34" charset="0"/>
                  <a:cs typeface="Calibri" pitchFamily="34" charset="0"/>
                </a:rPr>
                <a:t>is run</a:t>
              </a:r>
            </a:p>
            <a:p>
              <a:pPr marL="166688" indent="-166688">
                <a:buClr>
                  <a:schemeClr val="tx2"/>
                </a:buClr>
                <a:buSzPct val="100000"/>
                <a:buFont typeface="Arial" charset="0"/>
                <a:buChar char="•"/>
              </a:pPr>
              <a:r>
                <a:rPr lang="en-US" sz="1800" b="0" dirty="0" err="1">
                  <a:latin typeface="Calibri" pitchFamily="34" charset="0"/>
                  <a:cs typeface="Calibri" pitchFamily="34" charset="0"/>
                </a:rPr>
                <a:t>CanNOT</a:t>
              </a:r>
              <a:r>
                <a:rPr lang="en-US" sz="1800" b="0" dirty="0">
                  <a:latin typeface="Calibri" pitchFamily="34" charset="0"/>
                  <a:cs typeface="Calibri" pitchFamily="34" charset="0"/>
                </a:rPr>
                <a:t> block (runs to completion)</a:t>
              </a:r>
            </a:p>
            <a:p>
              <a:pPr marL="166688" indent="-166688">
                <a:buClr>
                  <a:schemeClr val="tx2"/>
                </a:buClr>
                <a:buSzPct val="100000"/>
                <a:buFont typeface="Arial" charset="0"/>
                <a:buChar char="•"/>
              </a:pPr>
              <a:r>
                <a:rPr lang="en-US" sz="1800" b="0" dirty="0">
                  <a:latin typeface="Calibri" pitchFamily="34" charset="0"/>
                  <a:cs typeface="Calibri" pitchFamily="34" charset="0"/>
                </a:rPr>
                <a:t>Context switch speed </a:t>
              </a:r>
              <a:r>
                <a:rPr lang="en-US" sz="1800" b="0" smtClean="0">
                  <a:latin typeface="Calibri" pitchFamily="34" charset="0"/>
                  <a:cs typeface="Calibri" pitchFamily="34" charset="0"/>
                </a:rPr>
                <a:t>(~140c for C6k)</a:t>
              </a:r>
              <a:endParaRPr lang="en-US" sz="1800" b="0" dirty="0">
                <a:latin typeface="Calibri" pitchFamily="34" charset="0"/>
                <a:cs typeface="Calibri" pitchFamily="34" charset="0"/>
              </a:endParaRPr>
            </a:p>
            <a:p>
              <a:pPr marL="166688" indent="-166688">
                <a:buClr>
                  <a:schemeClr val="tx2"/>
                </a:buClr>
                <a:buSzPct val="100000"/>
                <a:buFont typeface="Arial" charset="0"/>
                <a:buChar char="•"/>
              </a:pPr>
              <a:r>
                <a:rPr lang="en-US" sz="1800" b="0" dirty="0">
                  <a:latin typeface="Calibri" pitchFamily="34" charset="0"/>
                  <a:cs typeface="Calibri" pitchFamily="34" charset="0"/>
                </a:rPr>
                <a:t>All </a:t>
              </a:r>
              <a:r>
                <a:rPr lang="en-US" sz="1800" dirty="0" err="1" smtClean="0">
                  <a:solidFill>
                    <a:schemeClr val="tx2"/>
                  </a:solidFill>
                  <a:latin typeface="Calibri" pitchFamily="34" charset="0"/>
                  <a:cs typeface="Calibri" pitchFamily="34" charset="0"/>
                </a:rPr>
                <a:t>Swi’s</a:t>
              </a:r>
              <a:r>
                <a:rPr lang="en-US" sz="1800" b="0" dirty="0" smtClean="0">
                  <a:latin typeface="Calibri" pitchFamily="34" charset="0"/>
                  <a:cs typeface="Calibri" pitchFamily="34" charset="0"/>
                </a:rPr>
                <a:t> </a:t>
              </a:r>
              <a:r>
                <a:rPr lang="en-US" sz="1800" b="0" dirty="0">
                  <a:latin typeface="Calibri" pitchFamily="34" charset="0"/>
                  <a:cs typeface="Calibri" pitchFamily="34" charset="0"/>
                </a:rPr>
                <a:t>share </a:t>
              </a:r>
              <a:r>
                <a:rPr lang="en-US" sz="1800" b="0" u="sng" dirty="0">
                  <a:latin typeface="Calibri" pitchFamily="34" charset="0"/>
                  <a:cs typeface="Calibri" pitchFamily="34" charset="0"/>
                </a:rPr>
                <a:t>system stack</a:t>
              </a:r>
              <a:r>
                <a:rPr lang="en-US" sz="1800" b="0" dirty="0">
                  <a:latin typeface="Calibri" pitchFamily="34" charset="0"/>
                  <a:cs typeface="Calibri" pitchFamily="34" charset="0"/>
                </a:rPr>
                <a:t> </a:t>
              </a:r>
              <a:r>
                <a:rPr lang="en-US" sz="1800" b="0" dirty="0" smtClean="0">
                  <a:latin typeface="Calibri" pitchFamily="34" charset="0"/>
                  <a:cs typeface="Calibri" pitchFamily="34" charset="0"/>
                </a:rPr>
                <a:t>w/</a:t>
              </a:r>
              <a:r>
                <a:rPr lang="en-US" sz="1800" b="0" dirty="0" err="1" smtClean="0">
                  <a:latin typeface="Calibri" pitchFamily="34" charset="0"/>
                  <a:cs typeface="Calibri" pitchFamily="34" charset="0"/>
                </a:rPr>
                <a:t>Hwi</a:t>
              </a:r>
              <a:endParaRPr lang="en-US" sz="1800" b="0" dirty="0">
                <a:latin typeface="Calibri" pitchFamily="34" charset="0"/>
                <a:cs typeface="Calibri" pitchFamily="34" charset="0"/>
              </a:endParaRPr>
            </a:p>
            <a:p>
              <a:pPr marL="166688" indent="-166688">
                <a:buClr>
                  <a:schemeClr val="tx2"/>
                </a:buClr>
                <a:buSzPct val="100000"/>
                <a:buFont typeface="Arial" charset="0"/>
                <a:buChar char="•"/>
              </a:pPr>
              <a:r>
                <a:rPr lang="en-US" sz="1800" b="0" dirty="0">
                  <a:latin typeface="Calibri" pitchFamily="34" charset="0"/>
                  <a:cs typeface="Calibri" pitchFamily="34" charset="0"/>
                </a:rPr>
                <a:t>Use: </a:t>
              </a:r>
              <a:r>
                <a:rPr lang="en-US" sz="1800" b="0" dirty="0" smtClean="0">
                  <a:latin typeface="Calibri" pitchFamily="34" charset="0"/>
                  <a:cs typeface="Calibri" pitchFamily="34" charset="0"/>
                </a:rPr>
                <a:t>as follow-up to </a:t>
              </a:r>
              <a:r>
                <a:rPr lang="en-US" sz="1800" b="0" dirty="0" err="1" smtClean="0">
                  <a:latin typeface="Calibri" pitchFamily="34" charset="0"/>
                  <a:cs typeface="Calibri" pitchFamily="34" charset="0"/>
                </a:rPr>
                <a:t>Hwi</a:t>
              </a:r>
              <a:r>
                <a:rPr lang="en-US" sz="1800" b="0" dirty="0" smtClean="0">
                  <a:latin typeface="Calibri" pitchFamily="34" charset="0"/>
                  <a:cs typeface="Calibri" pitchFamily="34" charset="0"/>
                </a:rPr>
                <a:t> and/or when</a:t>
              </a:r>
              <a:br>
                <a:rPr lang="en-US" sz="1800" b="0" dirty="0" smtClean="0">
                  <a:latin typeface="Calibri" pitchFamily="34" charset="0"/>
                  <a:cs typeface="Calibri" pitchFamily="34" charset="0"/>
                </a:rPr>
              </a:br>
              <a:r>
                <a:rPr lang="en-US" sz="1800" b="0" dirty="0" smtClean="0">
                  <a:latin typeface="Calibri" pitchFamily="34" charset="0"/>
                  <a:cs typeface="Calibri" pitchFamily="34" charset="0"/>
                </a:rPr>
                <a:t>memory size is an absolute premium</a:t>
              </a:r>
              <a:endParaRPr lang="en-US" sz="1800" b="0" dirty="0">
                <a:latin typeface="Calibri" pitchFamily="34" charset="0"/>
                <a:cs typeface="Calibri" pitchFamily="34" charset="0"/>
              </a:endParaRPr>
            </a:p>
          </p:txBody>
        </p:sp>
      </p:grpSp>
      <p:pic>
        <p:nvPicPr>
          <p:cNvPr id="21"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685800"/>
            <a:ext cx="5562600" cy="5638800"/>
          </a:xfrm>
          <a:prstGeom prst="rect">
            <a:avLst/>
          </a:prstGeom>
          <a:solidFill>
            <a:srgbClr val="92D050"/>
          </a:solidFill>
          <a:ln w="19050">
            <a:solidFill>
              <a:schemeClr val="tx1"/>
            </a:solidFill>
            <a:miter lim="800000"/>
            <a:headEnd type="none" w="sm" len="sm"/>
            <a:tailEnd type="none" w="sm" len="sm"/>
          </a:ln>
          <a:effectLst>
            <a:outerShdw blurRad="50800" dist="101600" dir="2700000" algn="tl" rotWithShape="0">
              <a:prstClr val="black">
                <a:alpha val="40000"/>
              </a:prstClr>
            </a:outerShdw>
          </a:effectLst>
        </p:spPr>
        <p:txBody>
          <a:bodyPr wrap="none" tIns="36576" bIns="36576"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1" cstate="print"/>
          <a:srcRect/>
          <a:stretch>
            <a:fillRect/>
          </a:stretch>
        </p:blipFill>
        <p:spPr bwMode="auto">
          <a:xfrm>
            <a:off x="6160824" y="1153041"/>
            <a:ext cx="2819400" cy="4172713"/>
          </a:xfrm>
          <a:prstGeom prst="rect">
            <a:avLst/>
          </a:prstGeom>
          <a:noFill/>
        </p:spPr>
      </p:pic>
      <p:pic>
        <p:nvPicPr>
          <p:cNvPr id="9" name="Animated Logo" descr="tilogo_color_twoline.png"/>
          <p:cNvPicPr>
            <a:picLocks noChangeAspect="1"/>
          </p:cNvPicPr>
          <p:nvPr/>
        </p:nvPicPr>
        <p:blipFill>
          <a:blip r:embed="rId12"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3" action="ppaction://hlinksldjump"/>
          </p:cNvPr>
          <p:cNvSpPr txBox="1">
            <a:spLocks noChangeArrowheads="1"/>
          </p:cNvSpPr>
          <p:nvPr>
            <p:custDataLst>
              <p:tags r:id="rId2"/>
            </p:custDataLst>
          </p:nvPr>
        </p:nvSpPr>
        <p:spPr bwMode="auto">
          <a:xfrm>
            <a:off x="301576" y="780433"/>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Tasks</a:t>
            </a:r>
            <a:endParaRPr lang="en-US" sz="2800" dirty="0">
              <a:solidFill>
                <a:srgbClr val="000000"/>
              </a:solidFill>
            </a:endParaRPr>
          </a:p>
        </p:txBody>
      </p:sp>
      <p:sp>
        <p:nvSpPr>
          <p:cNvPr id="11" name="Text Box 4">
            <a:hlinkClick r:id="rId14" action="ppaction://hlinksldjump"/>
          </p:cNvPr>
          <p:cNvSpPr txBox="1">
            <a:spLocks noChangeArrowheads="1"/>
          </p:cNvSpPr>
          <p:nvPr>
            <p:custDataLst>
              <p:tags r:id="rId3"/>
            </p:custDataLst>
          </p:nvPr>
        </p:nvSpPr>
        <p:spPr bwMode="auto">
          <a:xfrm>
            <a:off x="301576" y="1315250"/>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Swi vs. Task</a:t>
            </a:r>
            <a:endParaRPr lang="en-US" sz="2800" dirty="0">
              <a:solidFill>
                <a:srgbClr val="000000"/>
              </a:solidFill>
            </a:endParaRPr>
          </a:p>
        </p:txBody>
      </p:sp>
      <p:sp>
        <p:nvSpPr>
          <p:cNvPr id="12" name="Text Box 3">
            <a:hlinkClick r:id="rId15" action="ppaction://hlinksldjump"/>
          </p:cNvPr>
          <p:cNvSpPr txBox="1">
            <a:spLocks noChangeArrowheads="1"/>
          </p:cNvSpPr>
          <p:nvPr>
            <p:custDataLst>
              <p:tags r:id="rId4"/>
            </p:custDataLst>
          </p:nvPr>
        </p:nvSpPr>
        <p:spPr bwMode="auto">
          <a:xfrm>
            <a:off x="304800" y="1850067"/>
            <a:ext cx="5562600" cy="4616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Semaphores</a:t>
            </a:r>
            <a:endParaRPr lang="en-US" sz="2800" dirty="0">
              <a:solidFill>
                <a:srgbClr val="000000"/>
              </a:solidFill>
            </a:endParaRPr>
          </a:p>
        </p:txBody>
      </p:sp>
      <p:sp>
        <p:nvSpPr>
          <p:cNvPr id="13" name="Text Box 4">
            <a:hlinkClick r:id="rId16" action="ppaction://hlinksldjump"/>
          </p:cNvPr>
          <p:cNvSpPr txBox="1">
            <a:spLocks noChangeArrowheads="1"/>
          </p:cNvSpPr>
          <p:nvPr>
            <p:custDataLst>
              <p:tags r:id="rId5"/>
            </p:custDataLst>
          </p:nvPr>
        </p:nvSpPr>
        <p:spPr bwMode="auto">
          <a:xfrm>
            <a:off x="301576" y="2384884"/>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Other Useful APIs…</a:t>
            </a:r>
            <a:endParaRPr lang="en-US" sz="2800" dirty="0">
              <a:solidFill>
                <a:srgbClr val="000000"/>
              </a:solidFill>
            </a:endParaRPr>
          </a:p>
        </p:txBody>
      </p:sp>
      <p:sp>
        <p:nvSpPr>
          <p:cNvPr id="14" name="Text Box 4">
            <a:hlinkClick r:id="rId17" action="ppaction://hlinksldjump"/>
          </p:cNvPr>
          <p:cNvSpPr txBox="1">
            <a:spLocks noChangeArrowheads="1"/>
          </p:cNvSpPr>
          <p:nvPr>
            <p:custDataLst>
              <p:tags r:id="rId6"/>
            </p:custDataLst>
          </p:nvPr>
        </p:nvSpPr>
        <p:spPr bwMode="auto">
          <a:xfrm>
            <a:off x="301576" y="2919701"/>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Events</a:t>
            </a:r>
            <a:endParaRPr lang="en-US" sz="2800" dirty="0">
              <a:solidFill>
                <a:srgbClr val="000000"/>
              </a:solidFill>
            </a:endParaRPr>
          </a:p>
        </p:txBody>
      </p:sp>
      <p:sp>
        <p:nvSpPr>
          <p:cNvPr id="15" name="Text Box 4">
            <a:hlinkClick r:id="rId18" action="ppaction://hlinksldjump"/>
          </p:cNvPr>
          <p:cNvSpPr txBox="1">
            <a:spLocks noChangeArrowheads="1"/>
          </p:cNvSpPr>
          <p:nvPr>
            <p:custDataLst>
              <p:tags r:id="rId7"/>
            </p:custDataLst>
          </p:nvPr>
        </p:nvSpPr>
        <p:spPr bwMode="auto">
          <a:xfrm>
            <a:off x="301576" y="3454518"/>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6" name="Text Box 4">
            <a:hlinkClick r:id="rId19" action="ppaction://hlinksldjump"/>
          </p:cNvPr>
          <p:cNvSpPr txBox="1">
            <a:spLocks noChangeArrowheads="1"/>
          </p:cNvSpPr>
          <p:nvPr>
            <p:custDataLst>
              <p:tags r:id="rId8"/>
            </p:custDataLst>
          </p:nvPr>
        </p:nvSpPr>
        <p:spPr bwMode="auto">
          <a:xfrm>
            <a:off x="301576" y="3989335"/>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Memory Footprint</a:t>
            </a:r>
            <a:endParaRPr lang="en-US" sz="2800" dirty="0">
              <a:solidFill>
                <a:srgbClr val="000000"/>
              </a:solidFill>
            </a:endParaRPr>
          </a:p>
        </p:txBody>
      </p:sp>
      <p:sp>
        <p:nvSpPr>
          <p:cNvPr id="17" name="Text Box 4">
            <a:hlinkClick r:id="rId20" action="ppaction://hlinksldjump"/>
          </p:cNvPr>
          <p:cNvSpPr txBox="1">
            <a:spLocks noChangeArrowheads="1"/>
          </p:cNvSpPr>
          <p:nvPr>
            <p:custDataLst>
              <p:tags r:id="rId9"/>
            </p:custDataLst>
          </p:nvPr>
        </p:nvSpPr>
        <p:spPr bwMode="auto">
          <a:xfrm>
            <a:off x="301576" y="4524152"/>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308431462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5330" name="Rectangle 2"/>
          <p:cNvSpPr>
            <a:spLocks noChangeArrowheads="1"/>
          </p:cNvSpPr>
          <p:nvPr/>
        </p:nvSpPr>
        <p:spPr bwMode="auto">
          <a:xfrm>
            <a:off x="692150" y="540825"/>
            <a:ext cx="8299450" cy="3886200"/>
          </a:xfrm>
          <a:prstGeom prst="rect">
            <a:avLst/>
          </a:prstGeom>
          <a:noFill/>
          <a:ln w="12700">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2291" name="AutoShape 3"/>
          <p:cNvSpPr>
            <a:spLocks noChangeArrowheads="1"/>
          </p:cNvSpPr>
          <p:nvPr/>
        </p:nvSpPr>
        <p:spPr bwMode="auto">
          <a:xfrm>
            <a:off x="4419600" y="1961638"/>
            <a:ext cx="1739900" cy="838200"/>
          </a:xfrm>
          <a:prstGeom prst="diamond">
            <a:avLst/>
          </a:prstGeom>
          <a:solidFill>
            <a:schemeClr val="accent1">
              <a:lumMod val="90000"/>
            </a:schemeClr>
          </a:solidFill>
          <a:ln w="12700">
            <a:solidFill>
              <a:schemeClr val="tx1"/>
            </a:solidFill>
            <a:miter lim="800000"/>
            <a:headEnd/>
            <a:tailEnd/>
          </a:ln>
        </p:spPr>
        <p:txBody>
          <a:bodyPr wrap="none" anchor="ctr"/>
          <a:lstStyle/>
          <a:p>
            <a:pPr algn="ctr">
              <a:lnSpc>
                <a:spcPct val="100000"/>
              </a:lnSpc>
              <a:spcBef>
                <a:spcPct val="0"/>
              </a:spcBef>
            </a:pPr>
            <a:r>
              <a:rPr lang="en-US" sz="2000">
                <a:latin typeface="Calibri" pitchFamily="34" charset="0"/>
                <a:cs typeface="Calibri" pitchFamily="34" charset="0"/>
              </a:rPr>
              <a:t>Count &gt; 0</a:t>
            </a:r>
          </a:p>
        </p:txBody>
      </p:sp>
      <p:sp>
        <p:nvSpPr>
          <p:cNvPr id="12292" name="Rectangle 4"/>
          <p:cNvSpPr>
            <a:spLocks noChangeArrowheads="1"/>
          </p:cNvSpPr>
          <p:nvPr/>
        </p:nvSpPr>
        <p:spPr bwMode="auto">
          <a:xfrm>
            <a:off x="7010400" y="2819400"/>
            <a:ext cx="1814513" cy="714375"/>
          </a:xfrm>
          <a:prstGeom prst="rect">
            <a:avLst/>
          </a:prstGeom>
          <a:solidFill>
            <a:schemeClr val="accent5">
              <a:lumMod val="20000"/>
              <a:lumOff val="80000"/>
            </a:schemeClr>
          </a:solidFill>
          <a:ln w="12700">
            <a:solidFill>
              <a:schemeClr val="tx1"/>
            </a:solidFill>
            <a:miter lim="800000"/>
            <a:headEnd/>
            <a:tailEnd/>
          </a:ln>
        </p:spPr>
        <p:txBody>
          <a:bodyPr lIns="92075" tIns="46038" rIns="92075" bIns="46038">
            <a:spAutoFit/>
          </a:bodyPr>
          <a:lstStyle/>
          <a:p>
            <a:pPr algn="ctr">
              <a:lnSpc>
                <a:spcPct val="100000"/>
              </a:lnSpc>
              <a:spcBef>
                <a:spcPct val="0"/>
              </a:spcBef>
            </a:pPr>
            <a:r>
              <a:rPr lang="en-US" sz="2000">
                <a:latin typeface="Calibri" pitchFamily="34" charset="0"/>
                <a:cs typeface="Calibri" pitchFamily="34" charset="0"/>
              </a:rPr>
              <a:t>Decrement count</a:t>
            </a:r>
          </a:p>
        </p:txBody>
      </p:sp>
      <p:sp>
        <p:nvSpPr>
          <p:cNvPr id="12293" name="Oval 5"/>
          <p:cNvSpPr>
            <a:spLocks noChangeArrowheads="1"/>
          </p:cNvSpPr>
          <p:nvPr/>
        </p:nvSpPr>
        <p:spPr bwMode="auto">
          <a:xfrm>
            <a:off x="4883150" y="693225"/>
            <a:ext cx="800100" cy="800100"/>
          </a:xfrm>
          <a:prstGeom prst="ellipse">
            <a:avLst/>
          </a:prstGeom>
          <a:solidFill>
            <a:schemeClr val="accent1">
              <a:lumMod val="90000"/>
            </a:schemeClr>
          </a:solidFill>
          <a:ln w="12700">
            <a:solidFill>
              <a:schemeClr val="tx1"/>
            </a:solidFill>
            <a:round/>
            <a:headEnd/>
            <a:tailEnd/>
          </a:ln>
        </p:spPr>
        <p:txBody>
          <a:bodyPr wrap="none" anchor="ctr"/>
          <a:lstStyle/>
          <a:p>
            <a:pPr algn="ctr"/>
            <a:r>
              <a:rPr lang="en-US" sz="2000" dirty="0" err="1" smtClean="0">
                <a:latin typeface="Calibri" pitchFamily="34" charset="0"/>
                <a:cs typeface="Calibri" pitchFamily="34" charset="0"/>
              </a:rPr>
              <a:t>pend</a:t>
            </a:r>
            <a:endParaRPr lang="en-US" sz="2000" dirty="0">
              <a:latin typeface="Calibri" pitchFamily="34" charset="0"/>
              <a:cs typeface="Calibri" pitchFamily="34" charset="0"/>
            </a:endParaRPr>
          </a:p>
        </p:txBody>
      </p:sp>
      <p:sp>
        <p:nvSpPr>
          <p:cNvPr id="12294" name="Oval 6"/>
          <p:cNvSpPr>
            <a:spLocks noChangeArrowheads="1"/>
          </p:cNvSpPr>
          <p:nvPr/>
        </p:nvSpPr>
        <p:spPr bwMode="auto">
          <a:xfrm>
            <a:off x="7391400" y="4782625"/>
            <a:ext cx="1054100" cy="1054100"/>
          </a:xfrm>
          <a:prstGeom prst="ellipse">
            <a:avLst/>
          </a:prstGeom>
          <a:solidFill>
            <a:schemeClr val="accent1">
              <a:lumMod val="90000"/>
            </a:schemeClr>
          </a:solidFill>
          <a:ln w="12700">
            <a:solidFill>
              <a:schemeClr val="tx1"/>
            </a:solidFill>
            <a:round/>
            <a:headEnd/>
            <a:tailEnd/>
          </a:ln>
        </p:spPr>
        <p:txBody>
          <a:bodyPr wrap="none" anchor="ctr"/>
          <a:lstStyle/>
          <a:p>
            <a:pPr algn="ctr"/>
            <a:r>
              <a:rPr lang="en-US" sz="2000">
                <a:latin typeface="Calibri" pitchFamily="34" charset="0"/>
                <a:cs typeface="Calibri" pitchFamily="34" charset="0"/>
              </a:rPr>
              <a:t>Return</a:t>
            </a:r>
          </a:p>
          <a:p>
            <a:pPr algn="ctr"/>
            <a:r>
              <a:rPr lang="en-US" sz="2000">
                <a:latin typeface="Calibri" pitchFamily="34" charset="0"/>
                <a:cs typeface="Calibri" pitchFamily="34" charset="0"/>
              </a:rPr>
              <a:t>TRUE</a:t>
            </a:r>
          </a:p>
        </p:txBody>
      </p:sp>
      <p:sp>
        <p:nvSpPr>
          <p:cNvPr id="12295" name="Rectangle 7"/>
          <p:cNvSpPr>
            <a:spLocks noChangeArrowheads="1"/>
          </p:cNvSpPr>
          <p:nvPr/>
        </p:nvSpPr>
        <p:spPr bwMode="auto">
          <a:xfrm>
            <a:off x="6172464" y="2030390"/>
            <a:ext cx="627062" cy="400050"/>
          </a:xfrm>
          <a:prstGeom prst="rect">
            <a:avLst/>
          </a:prstGeom>
          <a:noFill/>
          <a:ln w="9525">
            <a:noFill/>
            <a:miter lim="800000"/>
            <a:headEnd/>
            <a:tailEnd/>
          </a:ln>
        </p:spPr>
        <p:txBody>
          <a:bodyPr wrap="none" lIns="92075" tIns="46038" rIns="92075" bIns="46038">
            <a:spAutoFit/>
          </a:bodyPr>
          <a:lstStyle/>
          <a:p>
            <a:pPr>
              <a:lnSpc>
                <a:spcPct val="100000"/>
              </a:lnSpc>
              <a:spcBef>
                <a:spcPct val="0"/>
              </a:spcBef>
            </a:pPr>
            <a:r>
              <a:rPr lang="en-US" sz="2000" b="0" i="1" dirty="0"/>
              <a:t>true</a:t>
            </a:r>
          </a:p>
        </p:txBody>
      </p:sp>
      <p:cxnSp>
        <p:nvCxnSpPr>
          <p:cNvPr id="12296" name="AutoShape 8"/>
          <p:cNvCxnSpPr>
            <a:cxnSpLocks noChangeShapeType="1"/>
            <a:stCxn id="12292" idx="2"/>
            <a:endCxn id="12294" idx="0"/>
          </p:cNvCxnSpPr>
          <p:nvPr/>
        </p:nvCxnSpPr>
        <p:spPr bwMode="auto">
          <a:xfrm>
            <a:off x="7917657" y="3533775"/>
            <a:ext cx="793" cy="1248850"/>
          </a:xfrm>
          <a:prstGeom prst="straightConnector1">
            <a:avLst/>
          </a:prstGeom>
          <a:noFill/>
          <a:ln w="31750">
            <a:solidFill>
              <a:schemeClr val="tx1"/>
            </a:solidFill>
            <a:round/>
            <a:headEnd type="none" w="med" len="med"/>
            <a:tailEnd type="arrow" w="med" len="med"/>
          </a:ln>
        </p:spPr>
      </p:cxnSp>
      <p:cxnSp>
        <p:nvCxnSpPr>
          <p:cNvPr id="12298" name="AutoShape 10"/>
          <p:cNvCxnSpPr>
            <a:cxnSpLocks noChangeShapeType="1"/>
            <a:stCxn id="12293" idx="4"/>
            <a:endCxn id="12291" idx="0"/>
          </p:cNvCxnSpPr>
          <p:nvPr/>
        </p:nvCxnSpPr>
        <p:spPr bwMode="auto">
          <a:xfrm>
            <a:off x="5283200" y="1493325"/>
            <a:ext cx="6350" cy="468313"/>
          </a:xfrm>
          <a:prstGeom prst="straightConnector1">
            <a:avLst/>
          </a:prstGeom>
          <a:noFill/>
          <a:ln w="31750">
            <a:solidFill>
              <a:schemeClr val="tx1"/>
            </a:solidFill>
            <a:round/>
            <a:headEnd/>
            <a:tailEnd type="triangle" w="med" len="med"/>
          </a:ln>
        </p:spPr>
      </p:cxnSp>
      <p:sp>
        <p:nvSpPr>
          <p:cNvPr id="12299" name="Rectangle 11"/>
          <p:cNvSpPr>
            <a:spLocks noGrp="1" noChangeArrowheads="1"/>
          </p:cNvSpPr>
          <p:nvPr>
            <p:ph type="title"/>
          </p:nvPr>
        </p:nvSpPr>
        <p:spPr>
          <a:xfrm>
            <a:off x="0" y="-3792"/>
            <a:ext cx="9144000" cy="609600"/>
          </a:xfrm>
        </p:spPr>
        <p:txBody>
          <a:bodyPr>
            <a:noAutofit/>
          </a:bodyPr>
          <a:lstStyle/>
          <a:p>
            <a:r>
              <a:rPr lang="en-US" dirty="0" smtClean="0"/>
              <a:t>Semaphore Pend</a:t>
            </a:r>
            <a:endParaRPr lang="en-US" sz="3200" i="1" dirty="0" smtClean="0"/>
          </a:p>
        </p:txBody>
      </p:sp>
      <p:graphicFrame>
        <p:nvGraphicFramePr>
          <p:cNvPr id="355364" name="Group 36"/>
          <p:cNvGraphicFramePr>
            <a:graphicFrameLocks noGrp="1"/>
          </p:cNvGraphicFramePr>
          <p:nvPr>
            <p:ph type="tbl" idx="1"/>
            <p:extLst>
              <p:ext uri="{D42A27DB-BD31-4B8C-83A1-F6EECF244321}">
                <p14:modId xmlns:p14="http://schemas.microsoft.com/office/powerpoint/2010/main" val="3479687860"/>
              </p:ext>
            </p:extLst>
          </p:nvPr>
        </p:nvGraphicFramePr>
        <p:xfrm>
          <a:off x="1600200" y="5342300"/>
          <a:ext cx="5486400" cy="932688"/>
        </p:xfrm>
        <a:graphic>
          <a:graphicData uri="http://schemas.openxmlformats.org/drawingml/2006/table">
            <a:tbl>
              <a:tblPr/>
              <a:tblGrid>
                <a:gridCol w="2667000"/>
                <a:gridCol w="1215683"/>
                <a:gridCol w="1603717"/>
              </a:tblGrid>
              <a:tr h="228600">
                <a:tc>
                  <a:txBody>
                    <a:bodyPr/>
                    <a:lstStyle/>
                    <a:p>
                      <a:pPr marL="0" marR="0" lvl="0" indent="0" algn="l" defTabSz="914400" rtl="0" eaLnBrk="0" fontAlgn="base" latinLnBrk="0" hangingPunct="0">
                        <a:lnSpc>
                          <a:spcPct val="80000"/>
                        </a:lnSpc>
                        <a:spcBef>
                          <a:spcPct val="5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Calibri" pitchFamily="34" charset="0"/>
                          <a:cs typeface="Calibri" pitchFamily="34" charset="0"/>
                        </a:rPr>
                        <a:t>BIOS_WAIT_FOREVER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r" defTabSz="914400" rtl="0" eaLnBrk="0" fontAlgn="base" latinLnBrk="0" hangingPunct="0">
                        <a:lnSpc>
                          <a:spcPct val="80000"/>
                        </a:lnSpc>
                        <a:spcBef>
                          <a:spcPct val="5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Calibri" pitchFamily="34" charset="0"/>
                          <a:cs typeface="Calibri"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0" fontAlgn="base" latinLnBrk="0" hangingPunct="0">
                        <a:lnSpc>
                          <a:spcPct val="80000"/>
                        </a:lnSpc>
                        <a:spcBef>
                          <a:spcPct val="5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Calibri" pitchFamily="34" charset="0"/>
                          <a:cs typeface="Calibri" pitchFamily="34" charset="0"/>
                        </a:rPr>
                        <a:t>// wait forever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r>
              <a:tr h="228600">
                <a:tc>
                  <a:txBody>
                    <a:bodyPr/>
                    <a:lstStyle/>
                    <a:p>
                      <a:pPr marL="0" marR="0" lvl="0" indent="0" algn="l" defTabSz="914400" rtl="0" eaLnBrk="0" fontAlgn="base" latinLnBrk="0" hangingPunct="0">
                        <a:lnSpc>
                          <a:spcPct val="80000"/>
                        </a:lnSpc>
                        <a:spcBef>
                          <a:spcPct val="5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Calibri" pitchFamily="34" charset="0"/>
                          <a:cs typeface="Calibri" pitchFamily="34" charset="0"/>
                        </a:rPr>
                        <a:t>Zero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r" defTabSz="914400" rtl="0" eaLnBrk="0" fontAlgn="base" latinLnBrk="0" hangingPunct="0">
                        <a:lnSpc>
                          <a:spcPct val="80000"/>
                        </a:lnSpc>
                        <a:spcBef>
                          <a:spcPct val="5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Calibri" pitchFamily="34" charset="0"/>
                          <a:cs typeface="Calibri"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0" fontAlgn="base" latinLnBrk="0" hangingPunct="0">
                        <a:lnSpc>
                          <a:spcPct val="80000"/>
                        </a:lnSpc>
                        <a:spcBef>
                          <a:spcPct val="5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Calibri" pitchFamily="34" charset="0"/>
                          <a:cs typeface="Calibri" pitchFamily="34" charset="0"/>
                        </a:rPr>
                        <a:t>// don’t wait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r>
              <a:tr h="228600">
                <a:tc>
                  <a:txBody>
                    <a:bodyPr/>
                    <a:lstStyle/>
                    <a:p>
                      <a:pPr marL="0" marR="0" lvl="0" indent="0" algn="l" defTabSz="914400" rtl="0" eaLnBrk="0" fontAlgn="base" latinLnBrk="0" hangingPunct="0">
                        <a:lnSpc>
                          <a:spcPct val="80000"/>
                        </a:lnSpc>
                        <a:spcBef>
                          <a:spcPct val="5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Calibri" pitchFamily="34" charset="0"/>
                          <a:cs typeface="Calibri" pitchFamily="34" charset="0"/>
                        </a:rPr>
                        <a:t>value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r" defTabSz="914400" rtl="0" eaLnBrk="0" fontAlgn="base" latinLnBrk="0" hangingPunct="0">
                        <a:lnSpc>
                          <a:spcPct val="80000"/>
                        </a:lnSpc>
                        <a:spcBef>
                          <a:spcPct val="5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Calibri" pitchFamily="34" charset="0"/>
                          <a:cs typeface="Calibri" pitchFamily="34" charset="0"/>
                        </a:rPr>
                        <a:t>timeout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0" fontAlgn="base" latinLnBrk="0" hangingPunct="0">
                        <a:lnSpc>
                          <a:spcPct val="80000"/>
                        </a:lnSpc>
                        <a:spcBef>
                          <a:spcPct val="5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Calibri" pitchFamily="34" charset="0"/>
                          <a:cs typeface="Calibri" pitchFamily="34" charset="0"/>
                        </a:rPr>
                        <a:t>// system ticks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r>
            </a:tbl>
          </a:graphicData>
        </a:graphic>
      </p:graphicFrame>
      <p:sp>
        <p:nvSpPr>
          <p:cNvPr id="355340" name="Rectangle 12"/>
          <p:cNvSpPr>
            <a:spLocks noChangeArrowheads="1"/>
          </p:cNvSpPr>
          <p:nvPr/>
        </p:nvSpPr>
        <p:spPr bwMode="auto">
          <a:xfrm>
            <a:off x="3276600" y="3886200"/>
            <a:ext cx="3810000" cy="1077860"/>
          </a:xfrm>
          <a:prstGeom prst="rect">
            <a:avLst/>
          </a:prstGeom>
          <a:solidFill>
            <a:schemeClr val="accent4">
              <a:lumMod val="20000"/>
              <a:lumOff val="80000"/>
            </a:schemeClr>
          </a:solidFill>
          <a:ln w="9525">
            <a:solidFill>
              <a:schemeClr val="tx1"/>
            </a:solidFill>
            <a:miter lim="800000"/>
            <a:headEnd/>
            <a:tailEnd/>
          </a:ln>
          <a:effectLst>
            <a:outerShdw dist="107763" dir="2700000" algn="ctr" rotWithShape="0">
              <a:schemeClr val="bg2"/>
            </a:outerShdw>
          </a:effectLst>
        </p:spPr>
        <p:txBody>
          <a:bodyPr wrap="square" lIns="92075" tIns="46038" rIns="92075" bIns="46038" anchorCtr="1">
            <a:spAutoFit/>
          </a:bodyPr>
          <a:lstStyle/>
          <a:p>
            <a:pPr>
              <a:spcBef>
                <a:spcPct val="40000"/>
              </a:spcBef>
              <a:buClr>
                <a:schemeClr val="tx2"/>
              </a:buClr>
              <a:buSzPct val="75000"/>
              <a:buFont typeface="Wingdings" pitchFamily="2" charset="2"/>
              <a:buNone/>
              <a:defRPr/>
            </a:pPr>
            <a:r>
              <a:rPr lang="en-US" sz="2000" dirty="0">
                <a:latin typeface="Calibri" pitchFamily="34" charset="0"/>
                <a:cs typeface="Calibri" pitchFamily="34" charset="0"/>
              </a:rPr>
              <a:t>Semaphore Structure:</a:t>
            </a:r>
          </a:p>
          <a:p>
            <a:pPr marL="404813" lvl="1" indent="-290513">
              <a:spcBef>
                <a:spcPct val="40000"/>
              </a:spcBef>
              <a:buClr>
                <a:schemeClr val="tx2"/>
              </a:buClr>
              <a:buSzPct val="75000"/>
              <a:buFont typeface="Wingdings" pitchFamily="2" charset="2"/>
              <a:buChar char=""/>
              <a:defRPr/>
            </a:pPr>
            <a:r>
              <a:rPr lang="en-US" sz="2000" dirty="0">
                <a:latin typeface="Calibri" pitchFamily="34" charset="0"/>
                <a:cs typeface="Calibri" pitchFamily="34" charset="0"/>
              </a:rPr>
              <a:t>Non-negative 16-bit counter</a:t>
            </a:r>
          </a:p>
          <a:p>
            <a:pPr marL="404813" lvl="1" indent="-290513">
              <a:spcBef>
                <a:spcPct val="40000"/>
              </a:spcBef>
              <a:buClr>
                <a:schemeClr val="tx2"/>
              </a:buClr>
              <a:buSzPct val="75000"/>
              <a:buFont typeface="Wingdings" pitchFamily="2" charset="2"/>
              <a:buChar char=""/>
              <a:defRPr/>
            </a:pPr>
            <a:r>
              <a:rPr lang="en-US" sz="2000" dirty="0">
                <a:latin typeface="Calibri" pitchFamily="34" charset="0"/>
                <a:cs typeface="Calibri" pitchFamily="34" charset="0"/>
              </a:rPr>
              <a:t>Pending queue (FIFO)</a:t>
            </a:r>
          </a:p>
        </p:txBody>
      </p:sp>
      <p:grpSp>
        <p:nvGrpSpPr>
          <p:cNvPr id="2" name="Group 13"/>
          <p:cNvGrpSpPr>
            <a:grpSpLocks/>
          </p:cNvGrpSpPr>
          <p:nvPr/>
        </p:nvGrpSpPr>
        <p:grpSpPr bwMode="auto">
          <a:xfrm>
            <a:off x="152400" y="2849045"/>
            <a:ext cx="1685925" cy="2898769"/>
            <a:chOff x="96" y="1862"/>
            <a:chExt cx="1062" cy="1826"/>
          </a:xfrm>
        </p:grpSpPr>
        <p:sp>
          <p:nvSpPr>
            <p:cNvPr id="12343" name="Oval 14"/>
            <p:cNvSpPr>
              <a:spLocks noChangeArrowheads="1"/>
            </p:cNvSpPr>
            <p:nvPr/>
          </p:nvSpPr>
          <p:spPr bwMode="auto">
            <a:xfrm>
              <a:off x="96" y="3024"/>
              <a:ext cx="664" cy="664"/>
            </a:xfrm>
            <a:prstGeom prst="ellipse">
              <a:avLst/>
            </a:prstGeom>
            <a:solidFill>
              <a:schemeClr val="accent1">
                <a:lumMod val="90000"/>
              </a:schemeClr>
            </a:solidFill>
            <a:ln w="12700">
              <a:solidFill>
                <a:schemeClr val="tx1"/>
              </a:solidFill>
              <a:round/>
              <a:headEnd/>
              <a:tailEnd/>
            </a:ln>
          </p:spPr>
          <p:txBody>
            <a:bodyPr wrap="none" anchor="ctr"/>
            <a:lstStyle/>
            <a:p>
              <a:pPr algn="ctr"/>
              <a:r>
                <a:rPr lang="en-US" sz="2000">
                  <a:latin typeface="Calibri" pitchFamily="34" charset="0"/>
                  <a:cs typeface="Calibri" pitchFamily="34" charset="0"/>
                </a:rPr>
                <a:t>Return</a:t>
              </a:r>
            </a:p>
            <a:p>
              <a:pPr algn="ctr"/>
              <a:r>
                <a:rPr lang="en-US" sz="2000">
                  <a:latin typeface="Calibri" pitchFamily="34" charset="0"/>
                  <a:cs typeface="Calibri" pitchFamily="34" charset="0"/>
                </a:rPr>
                <a:t>FALSE</a:t>
              </a:r>
            </a:p>
          </p:txBody>
        </p:sp>
        <p:cxnSp>
          <p:nvCxnSpPr>
            <p:cNvPr id="12344" name="AutoShape 15"/>
            <p:cNvCxnSpPr>
              <a:cxnSpLocks noChangeShapeType="1"/>
              <a:stCxn id="355353" idx="1"/>
              <a:endCxn id="12343" idx="0"/>
            </p:cNvCxnSpPr>
            <p:nvPr/>
          </p:nvCxnSpPr>
          <p:spPr bwMode="auto">
            <a:xfrm rot="10800000" flipV="1">
              <a:off x="428" y="2068"/>
              <a:ext cx="724" cy="956"/>
            </a:xfrm>
            <a:prstGeom prst="bentConnector2">
              <a:avLst/>
            </a:prstGeom>
            <a:noFill/>
            <a:ln w="31750">
              <a:solidFill>
                <a:schemeClr val="tx1"/>
              </a:solidFill>
              <a:miter lim="800000"/>
              <a:headEnd type="none" w="med" len="med"/>
              <a:tailEnd type="arrow" w="med" len="med"/>
            </a:ln>
          </p:spPr>
        </p:cxnSp>
        <p:sp>
          <p:nvSpPr>
            <p:cNvPr id="12345" name="Rectangle 16"/>
            <p:cNvSpPr>
              <a:spLocks noChangeArrowheads="1"/>
            </p:cNvSpPr>
            <p:nvPr/>
          </p:nvSpPr>
          <p:spPr bwMode="auto">
            <a:xfrm>
              <a:off x="506" y="1862"/>
              <a:ext cx="652" cy="404"/>
            </a:xfrm>
            <a:prstGeom prst="rect">
              <a:avLst/>
            </a:prstGeom>
            <a:noFill/>
            <a:ln w="12700">
              <a:noFill/>
              <a:miter lim="800000"/>
              <a:headEnd type="none" w="sm" len="sm"/>
              <a:tailEnd type="none" w="sm" len="sm"/>
            </a:ln>
          </p:spPr>
          <p:txBody>
            <a:bodyPr wrap="none">
              <a:spAutoFit/>
            </a:bodyPr>
            <a:lstStyle/>
            <a:p>
              <a:pPr algn="ctr">
                <a:lnSpc>
                  <a:spcPct val="90000"/>
                </a:lnSpc>
              </a:pPr>
              <a:r>
                <a:rPr lang="en-US" sz="2000" i="1" dirty="0">
                  <a:latin typeface="Times New Roman" pitchFamily="18" charset="0"/>
                </a:rPr>
                <a:t>timeout</a:t>
              </a:r>
              <a:r>
                <a:rPr lang="en-US" sz="2000" dirty="0">
                  <a:latin typeface="Times New Roman" pitchFamily="18" charset="0"/>
                </a:rPr>
                <a:t> </a:t>
              </a:r>
              <a:br>
                <a:rPr lang="en-US" sz="2000" dirty="0">
                  <a:latin typeface="Times New Roman" pitchFamily="18" charset="0"/>
                </a:rPr>
              </a:br>
              <a:r>
                <a:rPr lang="en-US" sz="2000" dirty="0">
                  <a:latin typeface="Times New Roman" pitchFamily="18" charset="0"/>
                </a:rPr>
                <a:t>expires</a:t>
              </a:r>
            </a:p>
          </p:txBody>
        </p:sp>
      </p:grpSp>
      <p:sp>
        <p:nvSpPr>
          <p:cNvPr id="12306" name="Rectangle 35"/>
          <p:cNvSpPr>
            <a:spLocks noChangeArrowheads="1"/>
          </p:cNvSpPr>
          <p:nvPr/>
        </p:nvSpPr>
        <p:spPr bwMode="auto">
          <a:xfrm>
            <a:off x="166048" y="793877"/>
            <a:ext cx="4558352" cy="451512"/>
          </a:xfrm>
          <a:prstGeom prst="rect">
            <a:avLst/>
          </a:prstGeom>
          <a:solidFill>
            <a:schemeClr val="accent4">
              <a:lumMod val="20000"/>
              <a:lumOff val="80000"/>
            </a:schemeClr>
          </a:solidFill>
          <a:ln w="28575">
            <a:solidFill>
              <a:schemeClr val="tx1"/>
            </a:solidFill>
            <a:miter lim="800000"/>
            <a:headEnd type="none" w="sm" len="sm"/>
            <a:tailEnd type="none" w="sm" len="sm"/>
          </a:ln>
          <a:effectLst>
            <a:outerShdw blurRad="50800" dist="76200" dir="2700000" algn="tl" rotWithShape="0">
              <a:prstClr val="black">
                <a:alpha val="40000"/>
              </a:prstClr>
            </a:outerShdw>
          </a:effectLst>
        </p:spPr>
        <p:txBody>
          <a:bodyPr wrap="none" anchor="ctr" anchorCtr="1">
            <a:noAutofit/>
          </a:bodyPr>
          <a:lstStyle/>
          <a:p>
            <a:r>
              <a:rPr lang="en-US" i="1" dirty="0" err="1" smtClean="0">
                <a:latin typeface="Calibri" pitchFamily="34" charset="0"/>
                <a:cs typeface="Calibri" pitchFamily="34" charset="0"/>
              </a:rPr>
              <a:t>Semaphore_pend</a:t>
            </a:r>
            <a:r>
              <a:rPr lang="en-US" i="1" dirty="0" smtClean="0">
                <a:latin typeface="Calibri" pitchFamily="34" charset="0"/>
                <a:cs typeface="Calibri" pitchFamily="34" charset="0"/>
              </a:rPr>
              <a:t> (</a:t>
            </a:r>
            <a:r>
              <a:rPr lang="en-US" i="1" dirty="0" err="1" smtClean="0">
                <a:latin typeface="Calibri" pitchFamily="34" charset="0"/>
                <a:cs typeface="Calibri" pitchFamily="34" charset="0"/>
              </a:rPr>
              <a:t>Sem</a:t>
            </a:r>
            <a:r>
              <a:rPr lang="en-US" i="1" dirty="0">
                <a:latin typeface="Calibri" pitchFamily="34" charset="0"/>
                <a:cs typeface="Calibri" pitchFamily="34" charset="0"/>
              </a:rPr>
              <a:t>, timeout</a:t>
            </a:r>
            <a:r>
              <a:rPr lang="en-US" i="1" dirty="0" smtClean="0">
                <a:latin typeface="Calibri" pitchFamily="34" charset="0"/>
                <a:cs typeface="Calibri" pitchFamily="34" charset="0"/>
              </a:rPr>
              <a:t>);</a:t>
            </a:r>
            <a:endParaRPr lang="en-US" i="1" dirty="0">
              <a:latin typeface="Calibri" pitchFamily="34" charset="0"/>
              <a:cs typeface="Calibri" pitchFamily="34" charset="0"/>
            </a:endParaRPr>
          </a:p>
        </p:txBody>
      </p:sp>
      <p:sp>
        <p:nvSpPr>
          <p:cNvPr id="48" name="Leading Question"/>
          <p:cNvSpPr txBox="1"/>
          <p:nvPr/>
        </p:nvSpPr>
        <p:spPr>
          <a:xfrm>
            <a:off x="6299327" y="6467974"/>
            <a:ext cx="2128788" cy="246221"/>
          </a:xfrm>
          <a:prstGeom prst="rect">
            <a:avLst/>
          </a:prstGeom>
          <a:noFill/>
        </p:spPr>
        <p:txBody>
          <a:bodyPr vert="horz" wrap="none" lIns="0" tIns="0" rIns="0" bIns="0" rtlCol="0" anchor="b" anchorCtr="0">
            <a:spAutoFit/>
          </a:bodyPr>
          <a:lstStyle/>
          <a:p>
            <a:pPr algn="r">
              <a:spcBef>
                <a:spcPct val="0"/>
              </a:spcBef>
            </a:pPr>
            <a:r>
              <a:rPr lang="en-US" sz="2000" b="0" dirty="0" smtClean="0">
                <a:solidFill>
                  <a:schemeClr val="tx2"/>
                </a:solidFill>
                <a:latin typeface="Arial Narrow"/>
              </a:rPr>
              <a:t>How does _post</a:t>
            </a:r>
            <a:r>
              <a:rPr lang="en-US" sz="2000" b="0" dirty="0">
                <a:solidFill>
                  <a:schemeClr val="tx2"/>
                </a:solidFill>
                <a:latin typeface="Arial Narrow"/>
              </a:rPr>
              <a:t> </a:t>
            </a:r>
            <a:r>
              <a:rPr lang="en-US" sz="2000" b="0" dirty="0" smtClean="0">
                <a:solidFill>
                  <a:schemeClr val="tx2"/>
                </a:solidFill>
                <a:latin typeface="Arial Narrow"/>
              </a:rPr>
              <a:t>work?</a:t>
            </a:r>
          </a:p>
        </p:txBody>
      </p:sp>
      <p:pic>
        <p:nvPicPr>
          <p:cNvPr id="43"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cxnSp>
        <p:nvCxnSpPr>
          <p:cNvPr id="34" name="Shape 33"/>
          <p:cNvCxnSpPr>
            <a:stCxn id="12291" idx="3"/>
            <a:endCxn id="12292" idx="0"/>
          </p:cNvCxnSpPr>
          <p:nvPr/>
        </p:nvCxnSpPr>
        <p:spPr bwMode="auto">
          <a:xfrm>
            <a:off x="6159500" y="2380738"/>
            <a:ext cx="1758157" cy="438662"/>
          </a:xfrm>
          <a:prstGeom prst="bentConnector2">
            <a:avLst/>
          </a:prstGeom>
          <a:solidFill>
            <a:schemeClr val="accent1"/>
          </a:solidFill>
          <a:ln w="28575" cap="flat" cmpd="sng" algn="ctr">
            <a:solidFill>
              <a:schemeClr val="tx1"/>
            </a:solidFill>
            <a:prstDash val="solid"/>
            <a:round/>
            <a:headEnd type="none" w="sm" len="sm"/>
            <a:tailEnd type="arrow"/>
          </a:ln>
          <a:effectLst/>
        </p:spPr>
      </p:cxnSp>
      <p:grpSp>
        <p:nvGrpSpPr>
          <p:cNvPr id="40" name="Group 39"/>
          <p:cNvGrpSpPr/>
          <p:nvPr/>
        </p:nvGrpSpPr>
        <p:grpSpPr>
          <a:xfrm>
            <a:off x="1828800" y="2030390"/>
            <a:ext cx="2596819" cy="1412258"/>
            <a:chOff x="1828800" y="2030390"/>
            <a:chExt cx="2596819" cy="1412258"/>
          </a:xfrm>
        </p:grpSpPr>
        <p:sp>
          <p:nvSpPr>
            <p:cNvPr id="12335" name="Rectangle 22"/>
            <p:cNvSpPr>
              <a:spLocks noChangeArrowheads="1"/>
            </p:cNvSpPr>
            <p:nvPr/>
          </p:nvSpPr>
          <p:spPr bwMode="auto">
            <a:xfrm>
              <a:off x="3698544" y="2030390"/>
              <a:ext cx="727075" cy="400050"/>
            </a:xfrm>
            <a:prstGeom prst="rect">
              <a:avLst/>
            </a:prstGeom>
            <a:noFill/>
            <a:ln w="9525">
              <a:noFill/>
              <a:miter lim="800000"/>
              <a:headEnd/>
              <a:tailEnd/>
            </a:ln>
          </p:spPr>
          <p:txBody>
            <a:bodyPr wrap="none" lIns="92075" tIns="46038" rIns="92075" bIns="46038">
              <a:spAutoFit/>
            </a:bodyPr>
            <a:lstStyle/>
            <a:p>
              <a:pPr>
                <a:lnSpc>
                  <a:spcPct val="100000"/>
                </a:lnSpc>
                <a:spcBef>
                  <a:spcPct val="0"/>
                </a:spcBef>
              </a:pPr>
              <a:r>
                <a:rPr lang="en-US" sz="2000" b="0" i="1" dirty="0"/>
                <a:t>false</a:t>
              </a:r>
            </a:p>
          </p:txBody>
        </p:sp>
        <p:grpSp>
          <p:nvGrpSpPr>
            <p:cNvPr id="5" name="Group 24"/>
            <p:cNvGrpSpPr>
              <a:grpSpLocks/>
            </p:cNvGrpSpPr>
            <p:nvPr/>
          </p:nvGrpSpPr>
          <p:grpSpPr bwMode="auto">
            <a:xfrm>
              <a:off x="1828800" y="2909248"/>
              <a:ext cx="1447800" cy="533400"/>
              <a:chOff x="1152" y="2064"/>
              <a:chExt cx="912" cy="336"/>
            </a:xfrm>
          </p:grpSpPr>
          <p:sp>
            <p:nvSpPr>
              <p:cNvPr id="355353" name="Rectangle 25"/>
              <p:cNvSpPr>
                <a:spLocks noChangeArrowheads="1"/>
              </p:cNvSpPr>
              <p:nvPr/>
            </p:nvSpPr>
            <p:spPr bwMode="auto">
              <a:xfrm>
                <a:off x="1152" y="2064"/>
                <a:ext cx="912" cy="336"/>
              </a:xfrm>
              <a:prstGeom prst="rect">
                <a:avLst/>
              </a:prstGeom>
              <a:solidFill>
                <a:schemeClr val="accent5">
                  <a:lumMod val="20000"/>
                  <a:lumOff val="80000"/>
                </a:schemeClr>
              </a:solidFill>
              <a:ln w="12700">
                <a:solidFill>
                  <a:schemeClr val="tx1"/>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2340" name="Rectangle 26"/>
              <p:cNvSpPr>
                <a:spLocks noChangeArrowheads="1"/>
              </p:cNvSpPr>
              <p:nvPr/>
            </p:nvSpPr>
            <p:spPr bwMode="auto">
              <a:xfrm>
                <a:off x="1200" y="2126"/>
                <a:ext cx="791" cy="217"/>
              </a:xfrm>
              <a:prstGeom prst="rect">
                <a:avLst/>
              </a:prstGeom>
              <a:noFill/>
              <a:ln w="12700">
                <a:noFill/>
                <a:miter lim="800000"/>
                <a:headEnd type="none" w="sm" len="sm"/>
                <a:tailEnd type="none" w="sm" len="sm"/>
              </a:ln>
            </p:spPr>
            <p:txBody>
              <a:bodyPr wrap="none">
                <a:spAutoFit/>
              </a:bodyPr>
              <a:lstStyle/>
              <a:p>
                <a:r>
                  <a:rPr lang="en-US" sz="2000">
                    <a:latin typeface="Calibri" pitchFamily="34" charset="0"/>
                    <a:cs typeface="Calibri" pitchFamily="34" charset="0"/>
                  </a:rPr>
                  <a:t>Block task</a:t>
                </a:r>
              </a:p>
            </p:txBody>
          </p:sp>
        </p:grpSp>
        <p:cxnSp>
          <p:nvCxnSpPr>
            <p:cNvPr id="37" name="Shape 36"/>
            <p:cNvCxnSpPr>
              <a:stCxn id="12291" idx="1"/>
              <a:endCxn id="355353" idx="0"/>
            </p:cNvCxnSpPr>
            <p:nvPr/>
          </p:nvCxnSpPr>
          <p:spPr bwMode="auto">
            <a:xfrm rot="10800000" flipV="1">
              <a:off x="2552700" y="2380738"/>
              <a:ext cx="1866900" cy="528510"/>
            </a:xfrm>
            <a:prstGeom prst="bentConnector2">
              <a:avLst/>
            </a:prstGeom>
            <a:solidFill>
              <a:schemeClr val="accent1"/>
            </a:solidFill>
            <a:ln w="28575" cap="flat" cmpd="sng" algn="ctr">
              <a:solidFill>
                <a:schemeClr val="tx1"/>
              </a:solidFill>
              <a:prstDash val="solid"/>
              <a:round/>
              <a:headEnd type="none" w="sm" len="sm"/>
              <a:tailEnd type="arrow"/>
            </a:ln>
            <a:effectLst/>
          </p:spPr>
        </p:cxnSp>
      </p:grpSp>
      <p:cxnSp>
        <p:nvCxnSpPr>
          <p:cNvPr id="39" name="Straight Arrow Connector 38"/>
          <p:cNvCxnSpPr>
            <a:stCxn id="355353" idx="3"/>
            <a:endCxn id="12292" idx="1"/>
          </p:cNvCxnSpPr>
          <p:nvPr/>
        </p:nvCxnSpPr>
        <p:spPr bwMode="auto">
          <a:xfrm>
            <a:off x="3276600" y="3175948"/>
            <a:ext cx="3733800" cy="640"/>
          </a:xfrm>
          <a:prstGeom prst="straightConnector1">
            <a:avLst/>
          </a:prstGeom>
          <a:solidFill>
            <a:schemeClr val="accent1"/>
          </a:solidFill>
          <a:ln w="28575" cap="flat" cmpd="sng" algn="ctr">
            <a:solidFill>
              <a:schemeClr val="tx1"/>
            </a:solidFill>
            <a:prstDash val="solid"/>
            <a:round/>
            <a:headEnd type="none" w="sm" len="sm"/>
            <a:tailEnd type="arrow"/>
          </a:ln>
          <a:effectLst/>
        </p:spPr>
      </p:cxnSp>
      <p:sp>
        <p:nvSpPr>
          <p:cNvPr id="12342" name="Rectangle 20"/>
          <p:cNvSpPr>
            <a:spLocks noChangeArrowheads="1"/>
          </p:cNvSpPr>
          <p:nvPr/>
        </p:nvSpPr>
        <p:spPr bwMode="auto">
          <a:xfrm>
            <a:off x="4319348" y="2990784"/>
            <a:ext cx="1442446" cy="400110"/>
          </a:xfrm>
          <a:prstGeom prst="rect">
            <a:avLst/>
          </a:prstGeom>
          <a:solidFill>
            <a:schemeClr val="bg2"/>
          </a:solidFill>
          <a:ln w="9525">
            <a:noFill/>
            <a:miter lim="800000"/>
            <a:headEnd/>
            <a:tailEnd/>
          </a:ln>
        </p:spPr>
        <p:txBody>
          <a:bodyPr wrap="none" lIns="91440" tIns="91440" rIns="92075" bIns="91440" anchor="ctr" anchorCtr="1">
            <a:spAutoFit/>
          </a:bodyPr>
          <a:lstStyle/>
          <a:p>
            <a:pPr algn="ctr">
              <a:lnSpc>
                <a:spcPct val="70000"/>
              </a:lnSpc>
              <a:spcBef>
                <a:spcPct val="0"/>
              </a:spcBef>
            </a:pPr>
            <a:r>
              <a:rPr lang="en-US" sz="2000" dirty="0" smtClean="0">
                <a:solidFill>
                  <a:schemeClr val="tx2"/>
                </a:solidFill>
                <a:latin typeface="Calibri" pitchFamily="34" charset="0"/>
                <a:cs typeface="Calibri" pitchFamily="34" charset="0"/>
              </a:rPr>
              <a:t>SEM posted</a:t>
            </a:r>
            <a:endParaRPr lang="en-US" sz="2000" dirty="0">
              <a:latin typeface="Calibri" pitchFamily="34" charset="0"/>
              <a:cs typeface="Calibri"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up)">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342"/>
                                        </p:tgtEl>
                                        <p:attrNameLst>
                                          <p:attrName>style.visibility</p:attrName>
                                        </p:attrNameLst>
                                      </p:cBhvr>
                                      <p:to>
                                        <p:strVal val="visible"/>
                                      </p:to>
                                    </p:set>
                                    <p:animEffect transition="in" filter="wipe(left)">
                                      <p:cBhvr>
                                        <p:cTn id="12" dur="500"/>
                                        <p:tgtEl>
                                          <p:spTgt spid="12342"/>
                                        </p:tgtEl>
                                      </p:cBhvr>
                                    </p:animEffect>
                                  </p:childTnLst>
                                </p:cTn>
                              </p:par>
                              <p:par>
                                <p:cTn id="13" presetID="22" presetClass="entr" presetSubtype="8"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ipe(left)">
                                      <p:cBhvr>
                                        <p:cTn id="15" dur="500"/>
                                        <p:tgtEl>
                                          <p:spTgt spid="39"/>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par>
                                <p:cTn id="21" presetID="2" presetClass="entr" presetSubtype="4" fill="hold" nodeType="withEffect">
                                  <p:stCondLst>
                                    <p:cond delay="0"/>
                                  </p:stCondLst>
                                  <p:childTnLst>
                                    <p:set>
                                      <p:cBhvr>
                                        <p:cTn id="22" dur="1" fill="hold">
                                          <p:stCondLst>
                                            <p:cond delay="0"/>
                                          </p:stCondLst>
                                        </p:cTn>
                                        <p:tgtEl>
                                          <p:spTgt spid="355364"/>
                                        </p:tgtEl>
                                        <p:attrNameLst>
                                          <p:attrName>style.visibility</p:attrName>
                                        </p:attrNameLst>
                                      </p:cBhvr>
                                      <p:to>
                                        <p:strVal val="visible"/>
                                      </p:to>
                                    </p:set>
                                    <p:anim calcmode="lin" valueType="num">
                                      <p:cBhvr additive="base">
                                        <p:cTn id="23" dur="500" fill="hold"/>
                                        <p:tgtEl>
                                          <p:spTgt spid="355364"/>
                                        </p:tgtEl>
                                        <p:attrNameLst>
                                          <p:attrName>ppt_x</p:attrName>
                                        </p:attrNameLst>
                                      </p:cBhvr>
                                      <p:tavLst>
                                        <p:tav tm="0">
                                          <p:val>
                                            <p:strVal val="#ppt_x"/>
                                          </p:val>
                                        </p:tav>
                                        <p:tav tm="100000">
                                          <p:val>
                                            <p:strVal val="#ppt_x"/>
                                          </p:val>
                                        </p:tav>
                                      </p:tavLst>
                                    </p:anim>
                                    <p:anim calcmode="lin" valueType="num">
                                      <p:cBhvr additive="base">
                                        <p:cTn id="24" dur="500" fill="hold"/>
                                        <p:tgtEl>
                                          <p:spTgt spid="35536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48"/>
                                        </p:tgtEl>
                                        <p:attrNameLst>
                                          <p:attrName>style.visibility</p:attrName>
                                        </p:attrNameLst>
                                      </p:cBhvr>
                                      <p:to>
                                        <p:strVal val="visible"/>
                                      </p:to>
                                    </p:set>
                                  </p:childTnLst>
                                </p:cTn>
                              </p:par>
                            </p:childTnLst>
                          </p:cTn>
                        </p:par>
                        <p:par>
                          <p:cTn id="29" fill="hold">
                            <p:stCondLst>
                              <p:cond delay="500"/>
                            </p:stCondLst>
                            <p:childTnLst>
                              <p:par>
                                <p:cTn id="30" presetID="1" presetClass="entr" presetSubtype="0" fill="hold" nodeType="afterEffect">
                                  <p:stCondLst>
                                    <p:cond delay="0"/>
                                  </p:stCondLst>
                                  <p:childTnLst>
                                    <p:set>
                                      <p:cBhvr>
                                        <p:cTn id="31" dur="1" fill="hold">
                                          <p:stCondLst>
                                            <p:cond delay="499"/>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utoUpdateAnimBg="0"/>
      <p:bldP spid="1234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ChangeArrowheads="1"/>
          </p:cNvSpPr>
          <p:nvPr/>
        </p:nvSpPr>
        <p:spPr bwMode="auto">
          <a:xfrm>
            <a:off x="526555" y="2095500"/>
            <a:ext cx="8299450" cy="3886200"/>
          </a:xfrm>
          <a:prstGeom prst="rect">
            <a:avLst/>
          </a:prstGeom>
          <a:noFill/>
          <a:ln w="12700">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3315" name="AutoShape 3"/>
          <p:cNvSpPr>
            <a:spLocks noChangeArrowheads="1"/>
          </p:cNvSpPr>
          <p:nvPr/>
        </p:nvSpPr>
        <p:spPr bwMode="auto">
          <a:xfrm>
            <a:off x="4266705" y="1720850"/>
            <a:ext cx="1739900" cy="1212850"/>
          </a:xfrm>
          <a:prstGeom prst="diamond">
            <a:avLst/>
          </a:prstGeom>
          <a:solidFill>
            <a:schemeClr val="accent1">
              <a:lumMod val="90000"/>
            </a:schemeClr>
          </a:solidFill>
          <a:ln w="12700">
            <a:solidFill>
              <a:schemeClr val="tx1"/>
            </a:solidFill>
            <a:miter lim="800000"/>
            <a:headEnd/>
            <a:tailEnd/>
          </a:ln>
        </p:spPr>
        <p:txBody>
          <a:bodyPr wrap="none" anchor="ctr"/>
          <a:lstStyle/>
          <a:p>
            <a:pPr algn="ctr">
              <a:lnSpc>
                <a:spcPct val="100000"/>
              </a:lnSpc>
              <a:spcBef>
                <a:spcPct val="0"/>
              </a:spcBef>
            </a:pPr>
            <a:r>
              <a:rPr lang="en-US" sz="1800">
                <a:latin typeface="Calibri" pitchFamily="34" charset="0"/>
                <a:cs typeface="Calibri" pitchFamily="34" charset="0"/>
              </a:rPr>
              <a:t>Task</a:t>
            </a:r>
            <a:br>
              <a:rPr lang="en-US" sz="1800">
                <a:latin typeface="Calibri" pitchFamily="34" charset="0"/>
                <a:cs typeface="Calibri" pitchFamily="34" charset="0"/>
              </a:rPr>
            </a:br>
            <a:r>
              <a:rPr lang="en-US" sz="1800">
                <a:latin typeface="Calibri" pitchFamily="34" charset="0"/>
                <a:cs typeface="Calibri" pitchFamily="34" charset="0"/>
              </a:rPr>
              <a:t>pending on </a:t>
            </a:r>
            <a:br>
              <a:rPr lang="en-US" sz="1800">
                <a:latin typeface="Calibri" pitchFamily="34" charset="0"/>
                <a:cs typeface="Calibri" pitchFamily="34" charset="0"/>
              </a:rPr>
            </a:br>
            <a:r>
              <a:rPr lang="en-US" sz="1800">
                <a:latin typeface="Calibri" pitchFamily="34" charset="0"/>
                <a:cs typeface="Calibri" pitchFamily="34" charset="0"/>
              </a:rPr>
              <a:t>  sem? </a:t>
            </a:r>
            <a:endParaRPr lang="en-US" sz="3200">
              <a:latin typeface="Calibri" pitchFamily="34" charset="0"/>
              <a:cs typeface="Calibri" pitchFamily="34" charset="0"/>
            </a:endParaRPr>
          </a:p>
        </p:txBody>
      </p:sp>
      <p:sp>
        <p:nvSpPr>
          <p:cNvPr id="13316" name="Rectangle 4"/>
          <p:cNvSpPr>
            <a:spLocks noChangeArrowheads="1"/>
          </p:cNvSpPr>
          <p:nvPr/>
        </p:nvSpPr>
        <p:spPr bwMode="auto">
          <a:xfrm>
            <a:off x="6771780" y="1973263"/>
            <a:ext cx="1814513" cy="708025"/>
          </a:xfrm>
          <a:prstGeom prst="rect">
            <a:avLst/>
          </a:prstGeom>
          <a:solidFill>
            <a:schemeClr val="accent5">
              <a:lumMod val="20000"/>
              <a:lumOff val="80000"/>
            </a:schemeClr>
          </a:solidFill>
          <a:ln w="12700">
            <a:solidFill>
              <a:schemeClr val="tx1"/>
            </a:solidFill>
            <a:miter lim="800000"/>
            <a:headEnd/>
            <a:tailEnd/>
          </a:ln>
        </p:spPr>
        <p:txBody>
          <a:bodyPr lIns="92075" tIns="46038" rIns="92075" bIns="46038">
            <a:spAutoFit/>
          </a:bodyPr>
          <a:lstStyle/>
          <a:p>
            <a:pPr algn="ctr">
              <a:lnSpc>
                <a:spcPct val="110000"/>
              </a:lnSpc>
              <a:spcBef>
                <a:spcPct val="0"/>
              </a:spcBef>
            </a:pPr>
            <a:r>
              <a:rPr lang="en-US" sz="1800">
                <a:latin typeface="Calibri" pitchFamily="34" charset="0"/>
                <a:cs typeface="Calibri" pitchFamily="34" charset="0"/>
              </a:rPr>
              <a:t>Ready first waiting task</a:t>
            </a:r>
          </a:p>
        </p:txBody>
      </p:sp>
      <p:sp>
        <p:nvSpPr>
          <p:cNvPr id="13317" name="Oval 5"/>
          <p:cNvSpPr>
            <a:spLocks noChangeArrowheads="1"/>
          </p:cNvSpPr>
          <p:nvPr/>
        </p:nvSpPr>
        <p:spPr bwMode="auto">
          <a:xfrm>
            <a:off x="4139705" y="4699000"/>
            <a:ext cx="1054100" cy="1054100"/>
          </a:xfrm>
          <a:prstGeom prst="ellipse">
            <a:avLst/>
          </a:prstGeom>
          <a:solidFill>
            <a:schemeClr val="accent1">
              <a:lumMod val="90000"/>
            </a:schemeClr>
          </a:solidFill>
          <a:ln w="12700">
            <a:solidFill>
              <a:schemeClr val="tx1"/>
            </a:solidFill>
            <a:round/>
            <a:headEnd/>
            <a:tailEnd/>
          </a:ln>
        </p:spPr>
        <p:txBody>
          <a:bodyPr wrap="none" anchor="ctr"/>
          <a:lstStyle/>
          <a:p>
            <a:pPr algn="ctr"/>
            <a:r>
              <a:rPr lang="en-US" sz="1800">
                <a:latin typeface="Calibri" pitchFamily="34" charset="0"/>
                <a:cs typeface="Calibri" pitchFamily="34" charset="0"/>
              </a:rPr>
              <a:t>Return</a:t>
            </a:r>
            <a:endParaRPr lang="en-US">
              <a:latin typeface="Calibri" pitchFamily="34" charset="0"/>
              <a:cs typeface="Calibri" pitchFamily="34" charset="0"/>
            </a:endParaRPr>
          </a:p>
        </p:txBody>
      </p:sp>
      <p:sp>
        <p:nvSpPr>
          <p:cNvPr id="13318" name="Rectangle 6"/>
          <p:cNvSpPr>
            <a:spLocks noChangeArrowheads="1"/>
          </p:cNvSpPr>
          <p:nvPr/>
        </p:nvSpPr>
        <p:spPr bwMode="auto">
          <a:xfrm>
            <a:off x="5860555" y="1987550"/>
            <a:ext cx="601255" cy="369974"/>
          </a:xfrm>
          <a:prstGeom prst="rect">
            <a:avLst/>
          </a:prstGeom>
          <a:noFill/>
          <a:ln w="9525">
            <a:noFill/>
            <a:miter lim="800000"/>
            <a:headEnd/>
            <a:tailEnd/>
          </a:ln>
        </p:spPr>
        <p:txBody>
          <a:bodyPr wrap="none" lIns="92075" tIns="46038" rIns="92075" bIns="46038">
            <a:spAutoFit/>
          </a:bodyPr>
          <a:lstStyle/>
          <a:p>
            <a:pPr>
              <a:lnSpc>
                <a:spcPct val="100000"/>
              </a:lnSpc>
              <a:spcBef>
                <a:spcPct val="0"/>
              </a:spcBef>
            </a:pPr>
            <a:r>
              <a:rPr lang="en-US" sz="1800" b="0">
                <a:latin typeface="Calibri" pitchFamily="34" charset="0"/>
                <a:cs typeface="Calibri" pitchFamily="34" charset="0"/>
              </a:rPr>
              <a:t>True</a:t>
            </a:r>
            <a:endParaRPr lang="en-US" sz="1600" b="0">
              <a:latin typeface="Calibri" pitchFamily="34" charset="0"/>
              <a:cs typeface="Calibri" pitchFamily="34" charset="0"/>
            </a:endParaRPr>
          </a:p>
        </p:txBody>
      </p:sp>
      <p:sp>
        <p:nvSpPr>
          <p:cNvPr id="13319" name="Text Box 7"/>
          <p:cNvSpPr txBox="1">
            <a:spLocks noChangeArrowheads="1"/>
          </p:cNvSpPr>
          <p:nvPr/>
        </p:nvSpPr>
        <p:spPr bwMode="auto">
          <a:xfrm>
            <a:off x="5473205" y="5219700"/>
            <a:ext cx="3113088" cy="646331"/>
          </a:xfrm>
          <a:prstGeom prst="rect">
            <a:avLst/>
          </a:prstGeom>
          <a:noFill/>
          <a:ln w="12700">
            <a:noFill/>
            <a:miter lim="800000"/>
            <a:headEnd type="none" w="sm" len="sm"/>
            <a:tailEnd type="none" w="sm" len="sm"/>
          </a:ln>
        </p:spPr>
        <p:txBody>
          <a:bodyPr wrap="square">
            <a:spAutoFit/>
          </a:bodyPr>
          <a:lstStyle/>
          <a:p>
            <a:pPr>
              <a:lnSpc>
                <a:spcPct val="100000"/>
              </a:lnSpc>
              <a:spcBef>
                <a:spcPct val="0"/>
              </a:spcBef>
            </a:pPr>
            <a:r>
              <a:rPr lang="en-US" sz="1800" b="0">
                <a:latin typeface="Calibri" pitchFamily="34" charset="0"/>
                <a:cs typeface="Calibri" pitchFamily="34" charset="0"/>
              </a:rPr>
              <a:t>Task switch will occur </a:t>
            </a:r>
            <a:r>
              <a:rPr lang="en-US" sz="1800" b="0" smtClean="0">
                <a:latin typeface="Calibri" pitchFamily="34" charset="0"/>
                <a:cs typeface="Calibri" pitchFamily="34" charset="0"/>
              </a:rPr>
              <a:t>if higher </a:t>
            </a:r>
            <a:r>
              <a:rPr lang="en-US" sz="1800" b="0">
                <a:latin typeface="Calibri" pitchFamily="34" charset="0"/>
                <a:cs typeface="Calibri" pitchFamily="34" charset="0"/>
              </a:rPr>
              <a:t>priority task is made ready</a:t>
            </a:r>
          </a:p>
        </p:txBody>
      </p:sp>
      <p:sp>
        <p:nvSpPr>
          <p:cNvPr id="13320" name="Rectangle 8"/>
          <p:cNvSpPr>
            <a:spLocks noGrp="1" noChangeArrowheads="1"/>
          </p:cNvSpPr>
          <p:nvPr>
            <p:ph type="title"/>
          </p:nvPr>
        </p:nvSpPr>
        <p:spPr/>
        <p:txBody>
          <a:bodyPr/>
          <a:lstStyle/>
          <a:p>
            <a:r>
              <a:rPr lang="en-US" dirty="0" smtClean="0"/>
              <a:t>Semaphore Post</a:t>
            </a:r>
            <a:endParaRPr lang="en-US" sz="3200" i="1" dirty="0" smtClean="0"/>
          </a:p>
        </p:txBody>
      </p:sp>
      <p:cxnSp>
        <p:nvCxnSpPr>
          <p:cNvPr id="13321" name="AutoShape 9"/>
          <p:cNvCxnSpPr>
            <a:cxnSpLocks noChangeShapeType="1"/>
            <a:stCxn id="13316" idx="2"/>
            <a:endCxn id="13317" idx="6"/>
          </p:cNvCxnSpPr>
          <p:nvPr/>
        </p:nvCxnSpPr>
        <p:spPr bwMode="auto">
          <a:xfrm rot="5400000">
            <a:off x="5164437" y="2710656"/>
            <a:ext cx="2544762" cy="2486025"/>
          </a:xfrm>
          <a:prstGeom prst="bentConnector2">
            <a:avLst/>
          </a:prstGeom>
          <a:noFill/>
          <a:ln w="28575">
            <a:solidFill>
              <a:schemeClr val="tx1"/>
            </a:solidFill>
            <a:miter lim="800000"/>
            <a:headEnd/>
            <a:tailEnd type="triangle" w="med" len="med"/>
          </a:ln>
        </p:spPr>
      </p:cxnSp>
      <p:cxnSp>
        <p:nvCxnSpPr>
          <p:cNvPr id="13322" name="AutoShape 10"/>
          <p:cNvCxnSpPr>
            <a:cxnSpLocks noChangeShapeType="1"/>
            <a:stCxn id="13315" idx="3"/>
            <a:endCxn id="13316" idx="1"/>
          </p:cNvCxnSpPr>
          <p:nvPr/>
        </p:nvCxnSpPr>
        <p:spPr bwMode="auto">
          <a:xfrm>
            <a:off x="6006605" y="2327275"/>
            <a:ext cx="765175" cy="0"/>
          </a:xfrm>
          <a:prstGeom prst="straightConnector1">
            <a:avLst/>
          </a:prstGeom>
          <a:noFill/>
          <a:ln w="28575">
            <a:solidFill>
              <a:schemeClr val="tx1"/>
            </a:solidFill>
            <a:round/>
            <a:headEnd/>
            <a:tailEnd type="triangle" w="med" len="med"/>
          </a:ln>
        </p:spPr>
      </p:cxnSp>
      <p:grpSp>
        <p:nvGrpSpPr>
          <p:cNvPr id="2" name="Group 11"/>
          <p:cNvGrpSpPr>
            <a:grpSpLocks/>
          </p:cNvGrpSpPr>
          <p:nvPr/>
        </p:nvGrpSpPr>
        <p:grpSpPr bwMode="auto">
          <a:xfrm>
            <a:off x="672605" y="1957388"/>
            <a:ext cx="3594100" cy="3190875"/>
            <a:chOff x="528" y="1305"/>
            <a:chExt cx="2264" cy="2010"/>
          </a:xfrm>
        </p:grpSpPr>
        <p:sp>
          <p:nvSpPr>
            <p:cNvPr id="13336" name="Rectangle 12"/>
            <p:cNvSpPr>
              <a:spLocks noChangeArrowheads="1"/>
            </p:cNvSpPr>
            <p:nvPr/>
          </p:nvSpPr>
          <p:spPr bwMode="auto">
            <a:xfrm>
              <a:off x="528" y="1418"/>
              <a:ext cx="1248" cy="239"/>
            </a:xfrm>
            <a:prstGeom prst="rect">
              <a:avLst/>
            </a:prstGeom>
            <a:solidFill>
              <a:schemeClr val="accent5">
                <a:lumMod val="20000"/>
                <a:lumOff val="80000"/>
              </a:schemeClr>
            </a:solidFill>
            <a:ln w="12700">
              <a:solidFill>
                <a:schemeClr val="tx1"/>
              </a:solidFill>
              <a:miter lim="800000"/>
              <a:headEnd/>
              <a:tailEnd/>
            </a:ln>
          </p:spPr>
          <p:txBody>
            <a:bodyPr lIns="92075" tIns="46038" rIns="92075" bIns="46038">
              <a:spAutoFit/>
            </a:bodyPr>
            <a:lstStyle/>
            <a:p>
              <a:pPr>
                <a:lnSpc>
                  <a:spcPct val="100000"/>
                </a:lnSpc>
                <a:spcBef>
                  <a:spcPct val="0"/>
                </a:spcBef>
              </a:pPr>
              <a:r>
                <a:rPr lang="en-US" sz="1800" dirty="0">
                  <a:latin typeface="Calibri" pitchFamily="34" charset="0"/>
                  <a:cs typeface="Calibri" pitchFamily="34" charset="0"/>
                </a:rPr>
                <a:t>Increment count</a:t>
              </a:r>
              <a:endParaRPr lang="en-US" sz="1600" dirty="0">
                <a:latin typeface="Calibri" pitchFamily="34" charset="0"/>
                <a:cs typeface="Calibri" pitchFamily="34" charset="0"/>
              </a:endParaRPr>
            </a:p>
          </p:txBody>
        </p:sp>
        <p:sp>
          <p:nvSpPr>
            <p:cNvPr id="13337" name="Rectangle 13"/>
            <p:cNvSpPr>
              <a:spLocks noChangeArrowheads="1"/>
            </p:cNvSpPr>
            <p:nvPr/>
          </p:nvSpPr>
          <p:spPr bwMode="auto">
            <a:xfrm>
              <a:off x="2348" y="1305"/>
              <a:ext cx="412" cy="233"/>
            </a:xfrm>
            <a:prstGeom prst="rect">
              <a:avLst/>
            </a:prstGeom>
            <a:noFill/>
            <a:ln w="9525">
              <a:noFill/>
              <a:miter lim="800000"/>
              <a:headEnd/>
              <a:tailEnd/>
            </a:ln>
          </p:spPr>
          <p:txBody>
            <a:bodyPr wrap="none" lIns="92075" tIns="46038" rIns="92075" bIns="46038">
              <a:spAutoFit/>
            </a:bodyPr>
            <a:lstStyle/>
            <a:p>
              <a:pPr>
                <a:lnSpc>
                  <a:spcPct val="100000"/>
                </a:lnSpc>
                <a:spcBef>
                  <a:spcPct val="0"/>
                </a:spcBef>
              </a:pPr>
              <a:r>
                <a:rPr lang="en-US" sz="1800" b="0">
                  <a:latin typeface="Calibri" pitchFamily="34" charset="0"/>
                  <a:cs typeface="Calibri" pitchFamily="34" charset="0"/>
                </a:rPr>
                <a:t>False</a:t>
              </a:r>
            </a:p>
          </p:txBody>
        </p:sp>
        <p:cxnSp>
          <p:nvCxnSpPr>
            <p:cNvPr id="13338" name="AutoShape 14"/>
            <p:cNvCxnSpPr>
              <a:cxnSpLocks noChangeShapeType="1"/>
              <a:endCxn id="13336" idx="3"/>
            </p:cNvCxnSpPr>
            <p:nvPr/>
          </p:nvCxnSpPr>
          <p:spPr bwMode="auto">
            <a:xfrm rot="10800000">
              <a:off x="1776" y="1538"/>
              <a:ext cx="1016" cy="0"/>
            </a:xfrm>
            <a:prstGeom prst="straightConnector1">
              <a:avLst/>
            </a:prstGeom>
            <a:noFill/>
            <a:ln w="28575">
              <a:solidFill>
                <a:schemeClr val="tx1"/>
              </a:solidFill>
              <a:round/>
              <a:headEnd/>
              <a:tailEnd type="triangle" w="med" len="med"/>
            </a:ln>
          </p:spPr>
        </p:cxnSp>
        <p:cxnSp>
          <p:nvCxnSpPr>
            <p:cNvPr id="13339" name="AutoShape 15"/>
            <p:cNvCxnSpPr>
              <a:cxnSpLocks noChangeShapeType="1"/>
              <a:stCxn id="13336" idx="2"/>
              <a:endCxn id="13317" idx="2"/>
            </p:cNvCxnSpPr>
            <p:nvPr/>
          </p:nvCxnSpPr>
          <p:spPr bwMode="auto">
            <a:xfrm rot="16200000" flipH="1">
              <a:off x="1103" y="1706"/>
              <a:ext cx="1659" cy="1560"/>
            </a:xfrm>
            <a:prstGeom prst="bentConnector2">
              <a:avLst/>
            </a:prstGeom>
            <a:noFill/>
            <a:ln w="28575">
              <a:solidFill>
                <a:schemeClr val="tx1"/>
              </a:solidFill>
              <a:miter lim="800000"/>
              <a:headEnd/>
              <a:tailEnd type="triangle" w="med" len="med"/>
            </a:ln>
          </p:spPr>
        </p:cxnSp>
      </p:grpSp>
      <p:sp>
        <p:nvSpPr>
          <p:cNvPr id="357392" name="Rectangle 16"/>
          <p:cNvSpPr>
            <a:spLocks noChangeArrowheads="1"/>
          </p:cNvSpPr>
          <p:nvPr/>
        </p:nvSpPr>
        <p:spPr bwMode="auto">
          <a:xfrm>
            <a:off x="3568205" y="3238500"/>
            <a:ext cx="3352800" cy="1079500"/>
          </a:xfrm>
          <a:prstGeom prst="rect">
            <a:avLst/>
          </a:prstGeom>
          <a:solidFill>
            <a:schemeClr val="accent4">
              <a:lumMod val="20000"/>
              <a:lumOff val="80000"/>
            </a:schemeClr>
          </a:solidFill>
          <a:ln w="9525">
            <a:solidFill>
              <a:schemeClr val="tx1"/>
            </a:solidFill>
            <a:miter lim="800000"/>
            <a:headEnd/>
            <a:tailEnd/>
          </a:ln>
          <a:effectLst>
            <a:outerShdw dist="107763" dir="2700000" algn="ctr" rotWithShape="0">
              <a:schemeClr val="bg2"/>
            </a:outerShdw>
          </a:effectLst>
        </p:spPr>
        <p:txBody>
          <a:bodyPr lIns="92075" tIns="46038" rIns="92075" bIns="46038" anchorCtr="1">
            <a:spAutoFit/>
          </a:bodyPr>
          <a:lstStyle/>
          <a:p>
            <a:pPr>
              <a:spcBef>
                <a:spcPct val="40000"/>
              </a:spcBef>
              <a:buClr>
                <a:schemeClr val="tx2"/>
              </a:buClr>
              <a:buSzPct val="75000"/>
              <a:buFont typeface="Wingdings" pitchFamily="2" charset="2"/>
              <a:buNone/>
              <a:defRPr/>
            </a:pPr>
            <a:r>
              <a:rPr lang="en-US" sz="2000" dirty="0">
                <a:latin typeface="Calibri" pitchFamily="34" charset="0"/>
                <a:cs typeface="Calibri" pitchFamily="34" charset="0"/>
              </a:rPr>
              <a:t>Semaphore Structure:</a:t>
            </a:r>
          </a:p>
          <a:p>
            <a:pPr marL="800100" lvl="1" indent="-342900">
              <a:spcBef>
                <a:spcPct val="40000"/>
              </a:spcBef>
              <a:buClr>
                <a:schemeClr val="tx2"/>
              </a:buClr>
              <a:buSzPct val="75000"/>
              <a:buFont typeface="Wingdings" pitchFamily="2" charset="2"/>
              <a:buChar char=""/>
              <a:defRPr/>
            </a:pPr>
            <a:r>
              <a:rPr lang="en-US" sz="2000" dirty="0">
                <a:latin typeface="Calibri" pitchFamily="34" charset="0"/>
                <a:cs typeface="Calibri" pitchFamily="34" charset="0"/>
              </a:rPr>
              <a:t>Non-negative count</a:t>
            </a:r>
          </a:p>
          <a:p>
            <a:pPr marL="800100" lvl="1" indent="-342900">
              <a:spcBef>
                <a:spcPct val="40000"/>
              </a:spcBef>
              <a:buClr>
                <a:schemeClr val="tx2"/>
              </a:buClr>
              <a:buSzPct val="75000"/>
              <a:buFont typeface="Wingdings" pitchFamily="2" charset="2"/>
              <a:buChar char=""/>
              <a:defRPr/>
            </a:pPr>
            <a:r>
              <a:rPr lang="en-US" sz="2000" dirty="0">
                <a:latin typeface="Calibri" pitchFamily="34" charset="0"/>
                <a:cs typeface="Calibri" pitchFamily="34" charset="0"/>
              </a:rPr>
              <a:t>Pending queue (FIFO)</a:t>
            </a:r>
          </a:p>
        </p:txBody>
      </p:sp>
      <p:sp>
        <p:nvSpPr>
          <p:cNvPr id="13325" name="Oval 17"/>
          <p:cNvSpPr>
            <a:spLocks noChangeArrowheads="1"/>
          </p:cNvSpPr>
          <p:nvPr/>
        </p:nvSpPr>
        <p:spPr bwMode="auto">
          <a:xfrm>
            <a:off x="4731844" y="685800"/>
            <a:ext cx="800100" cy="800100"/>
          </a:xfrm>
          <a:prstGeom prst="ellipse">
            <a:avLst/>
          </a:prstGeom>
          <a:solidFill>
            <a:schemeClr val="accent1">
              <a:lumMod val="90000"/>
            </a:schemeClr>
          </a:solidFill>
          <a:ln w="12700">
            <a:solidFill>
              <a:schemeClr val="tx1"/>
            </a:solidFill>
            <a:round/>
            <a:headEnd/>
            <a:tailEnd/>
          </a:ln>
        </p:spPr>
        <p:txBody>
          <a:bodyPr wrap="none" anchor="ctr"/>
          <a:lstStyle/>
          <a:p>
            <a:pPr algn="ctr"/>
            <a:r>
              <a:rPr lang="en-US" sz="2000" dirty="0">
                <a:latin typeface="Calibri" pitchFamily="34" charset="0"/>
                <a:cs typeface="Calibri" pitchFamily="34" charset="0"/>
              </a:rPr>
              <a:t>Post</a:t>
            </a:r>
          </a:p>
        </p:txBody>
      </p:sp>
      <p:cxnSp>
        <p:nvCxnSpPr>
          <p:cNvPr id="13326" name="AutoShape 18"/>
          <p:cNvCxnSpPr>
            <a:cxnSpLocks noChangeShapeType="1"/>
            <a:stCxn id="13325" idx="4"/>
            <a:endCxn id="13315" idx="0"/>
          </p:cNvCxnSpPr>
          <p:nvPr/>
        </p:nvCxnSpPr>
        <p:spPr bwMode="auto">
          <a:xfrm>
            <a:off x="5131894" y="1485900"/>
            <a:ext cx="4761" cy="234950"/>
          </a:xfrm>
          <a:prstGeom prst="straightConnector1">
            <a:avLst/>
          </a:prstGeom>
          <a:noFill/>
          <a:ln w="31750">
            <a:solidFill>
              <a:schemeClr val="tx1"/>
            </a:solidFill>
            <a:round/>
            <a:headEnd/>
            <a:tailEnd type="triangle" w="med" len="med"/>
          </a:ln>
        </p:spPr>
      </p:cxnSp>
      <p:sp>
        <p:nvSpPr>
          <p:cNvPr id="31" name="Rectangle 35"/>
          <p:cNvSpPr>
            <a:spLocks noChangeArrowheads="1"/>
          </p:cNvSpPr>
          <p:nvPr/>
        </p:nvSpPr>
        <p:spPr bwMode="auto">
          <a:xfrm>
            <a:off x="457200" y="881988"/>
            <a:ext cx="3263405" cy="527712"/>
          </a:xfrm>
          <a:prstGeom prst="rect">
            <a:avLst/>
          </a:prstGeom>
          <a:solidFill>
            <a:schemeClr val="accent4">
              <a:lumMod val="20000"/>
              <a:lumOff val="80000"/>
            </a:schemeClr>
          </a:solidFill>
          <a:ln w="28575">
            <a:solidFill>
              <a:schemeClr val="tx1"/>
            </a:solidFill>
            <a:miter lim="800000"/>
            <a:headEnd type="none" w="sm" len="sm"/>
            <a:tailEnd type="none" w="sm" len="sm"/>
          </a:ln>
          <a:effectLst>
            <a:outerShdw blurRad="50800" dist="76200" dir="2700000" algn="tl" rotWithShape="0">
              <a:prstClr val="black">
                <a:alpha val="40000"/>
              </a:prstClr>
            </a:outerShdw>
          </a:effectLst>
        </p:spPr>
        <p:txBody>
          <a:bodyPr wrap="square" anchor="ctr" anchorCtr="1">
            <a:noAutofit/>
          </a:bodyPr>
          <a:lstStyle/>
          <a:p>
            <a:r>
              <a:rPr lang="en-US" i="1" dirty="0" err="1" smtClean="0">
                <a:latin typeface="Calibri" pitchFamily="34" charset="0"/>
                <a:cs typeface="Calibri" pitchFamily="34" charset="0"/>
              </a:rPr>
              <a:t>Semaphore_post</a:t>
            </a:r>
            <a:r>
              <a:rPr lang="en-US" i="1" dirty="0" smtClean="0">
                <a:latin typeface="Calibri" pitchFamily="34" charset="0"/>
                <a:cs typeface="Calibri" pitchFamily="34" charset="0"/>
              </a:rPr>
              <a:t> (</a:t>
            </a:r>
            <a:r>
              <a:rPr lang="en-US" i="1" dirty="0" err="1" smtClean="0">
                <a:latin typeface="Calibri" pitchFamily="34" charset="0"/>
                <a:cs typeface="Calibri" pitchFamily="34" charset="0"/>
              </a:rPr>
              <a:t>Sem</a:t>
            </a:r>
            <a:r>
              <a:rPr lang="en-US" i="1" dirty="0" smtClean="0">
                <a:latin typeface="Calibri" pitchFamily="34" charset="0"/>
                <a:cs typeface="Calibri" pitchFamily="34" charset="0"/>
              </a:rPr>
              <a:t>);</a:t>
            </a:r>
            <a:endParaRPr lang="en-US" i="1" dirty="0">
              <a:latin typeface="Calibri" pitchFamily="34" charset="0"/>
              <a:cs typeface="Calibri" pitchFamily="34" charset="0"/>
            </a:endParaRPr>
          </a:p>
        </p:txBody>
      </p:sp>
      <p:sp>
        <p:nvSpPr>
          <p:cNvPr id="32" name="Leading Question"/>
          <p:cNvSpPr txBox="1"/>
          <p:nvPr/>
        </p:nvSpPr>
        <p:spPr>
          <a:xfrm>
            <a:off x="5138496" y="6358268"/>
            <a:ext cx="3472104" cy="246221"/>
          </a:xfrm>
          <a:prstGeom prst="rect">
            <a:avLst/>
          </a:prstGeom>
          <a:noFill/>
        </p:spPr>
        <p:txBody>
          <a:bodyPr vert="horz" wrap="none" lIns="0" tIns="0" rIns="0" bIns="0" rtlCol="0" anchor="b" anchorCtr="0">
            <a:spAutoFit/>
          </a:bodyPr>
          <a:lstStyle/>
          <a:p>
            <a:pPr algn="r">
              <a:spcBef>
                <a:spcPct val="0"/>
              </a:spcBef>
            </a:pPr>
            <a:r>
              <a:rPr lang="en-US" sz="2000" b="0" dirty="0" smtClean="0">
                <a:solidFill>
                  <a:schemeClr val="tx2"/>
                </a:solidFill>
                <a:latin typeface="Arial Narrow"/>
              </a:rPr>
              <a:t>How do you configure a Semaphore?</a:t>
            </a:r>
          </a:p>
        </p:txBody>
      </p:sp>
      <p:pic>
        <p:nvPicPr>
          <p:cNvPr id="25"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32"/>
                                        </p:tgtEl>
                                        <p:attrNameLst>
                                          <p:attrName>style.visibility</p:attrName>
                                        </p:attrNameLst>
                                      </p:cBhvr>
                                      <p:to>
                                        <p:strVal val="visible"/>
                                      </p:to>
                                    </p:se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499"/>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dirty="0" smtClean="0"/>
              <a:t>Configuring a </a:t>
            </a:r>
            <a:r>
              <a:rPr lang="en-US" i="1" u="sng" dirty="0" smtClean="0"/>
              <a:t>Semaphore</a:t>
            </a:r>
            <a:r>
              <a:rPr lang="en-US" dirty="0" smtClean="0"/>
              <a:t> – Statically via GUI</a:t>
            </a:r>
          </a:p>
        </p:txBody>
      </p:sp>
      <p:sp>
        <p:nvSpPr>
          <p:cNvPr id="368651" name="Oval 11"/>
          <p:cNvSpPr>
            <a:spLocks noChangeArrowheads="1"/>
          </p:cNvSpPr>
          <p:nvPr/>
        </p:nvSpPr>
        <p:spPr bwMode="auto">
          <a:xfrm>
            <a:off x="228600" y="1219200"/>
            <a:ext cx="381000" cy="381000"/>
          </a:xfrm>
          <a:prstGeom prst="ellipse">
            <a:avLst/>
          </a:prstGeom>
          <a:solidFill>
            <a:schemeClr val="accent3"/>
          </a:solidFill>
          <a:ln w="12700">
            <a:solidFill>
              <a:schemeClr val="tx1"/>
            </a:solidFill>
            <a:round/>
            <a:headEnd/>
            <a:tailEnd/>
          </a:ln>
          <a:effectLst/>
        </p:spPr>
        <p:txBody>
          <a:bodyPr wrap="none" anchor="ctr">
            <a:spAutoFit/>
          </a:bodyPr>
          <a:lstStyle/>
          <a:p>
            <a:pPr>
              <a:defRPr/>
            </a:pPr>
            <a:endParaRPr lang="en-US">
              <a:solidFill>
                <a:srgbClr val="000000"/>
              </a:solidFill>
              <a:effectLst>
                <a:outerShdw blurRad="38100" dist="38100" dir="2700000" algn="tl">
                  <a:srgbClr val="000000">
                    <a:alpha val="43137"/>
                  </a:srgbClr>
                </a:outerShdw>
              </a:effectLst>
            </a:endParaRPr>
          </a:p>
        </p:txBody>
      </p:sp>
      <p:sp>
        <p:nvSpPr>
          <p:cNvPr id="16389" name="Text Box 12"/>
          <p:cNvSpPr txBox="1">
            <a:spLocks noChangeArrowheads="1"/>
          </p:cNvSpPr>
          <p:nvPr/>
        </p:nvSpPr>
        <p:spPr bwMode="auto">
          <a:xfrm>
            <a:off x="247650" y="1225550"/>
            <a:ext cx="354013" cy="384175"/>
          </a:xfrm>
          <a:prstGeom prst="rect">
            <a:avLst/>
          </a:prstGeom>
          <a:noFill/>
          <a:ln w="12700">
            <a:noFill/>
            <a:miter lim="800000"/>
            <a:headEnd/>
            <a:tailEnd/>
          </a:ln>
        </p:spPr>
        <p:txBody>
          <a:bodyPr wrap="none">
            <a:spAutoFit/>
          </a:bodyPr>
          <a:lstStyle/>
          <a:p>
            <a:r>
              <a:rPr lang="en-US">
                <a:solidFill>
                  <a:srgbClr val="000000"/>
                </a:solidFill>
              </a:rPr>
              <a:t>1</a:t>
            </a:r>
          </a:p>
        </p:txBody>
      </p:sp>
      <p:sp>
        <p:nvSpPr>
          <p:cNvPr id="16390" name="Text Box 13"/>
          <p:cNvSpPr txBox="1">
            <a:spLocks noChangeArrowheads="1"/>
          </p:cNvSpPr>
          <p:nvPr/>
        </p:nvSpPr>
        <p:spPr bwMode="auto">
          <a:xfrm>
            <a:off x="641350" y="1263650"/>
            <a:ext cx="8082341" cy="338554"/>
          </a:xfrm>
          <a:prstGeom prst="rect">
            <a:avLst/>
          </a:prstGeom>
          <a:noFill/>
          <a:ln w="12700">
            <a:noFill/>
            <a:miter lim="800000"/>
            <a:headEnd/>
            <a:tailEnd/>
          </a:ln>
        </p:spPr>
        <p:txBody>
          <a:bodyPr wrap="none">
            <a:spAutoFit/>
          </a:bodyPr>
          <a:lstStyle/>
          <a:p>
            <a:r>
              <a:rPr lang="en-US" sz="2000" dirty="0" smtClean="0">
                <a:solidFill>
                  <a:srgbClr val="000000"/>
                </a:solidFill>
              </a:rPr>
              <a:t>Use Semaphore </a:t>
            </a:r>
            <a:r>
              <a:rPr lang="en-US" sz="1800" b="0" i="1" dirty="0" smtClean="0">
                <a:solidFill>
                  <a:srgbClr val="000000"/>
                </a:solidFill>
                <a:latin typeface="Arial Narrow" pitchFamily="34" charset="0"/>
              </a:rPr>
              <a:t>(Available Products)</a:t>
            </a:r>
            <a:r>
              <a:rPr lang="en-US" sz="1800" b="0" i="1" dirty="0" smtClean="0">
                <a:solidFill>
                  <a:srgbClr val="000000"/>
                </a:solidFill>
              </a:rPr>
              <a:t> </a:t>
            </a:r>
            <a:r>
              <a:rPr lang="en-US" sz="2000" dirty="0" smtClean="0">
                <a:solidFill>
                  <a:srgbClr val="000000"/>
                </a:solidFill>
              </a:rPr>
              <a:t>, insert new Semaphore </a:t>
            </a:r>
            <a:r>
              <a:rPr lang="en-US" sz="1800" b="0" i="1" dirty="0" smtClean="0">
                <a:solidFill>
                  <a:srgbClr val="000000"/>
                </a:solidFill>
                <a:latin typeface="Arial Narrow" pitchFamily="34" charset="0"/>
              </a:rPr>
              <a:t>(Outline View)</a:t>
            </a:r>
            <a:endParaRPr lang="en-US" sz="1800" b="0" i="1" dirty="0">
              <a:solidFill>
                <a:srgbClr val="000000"/>
              </a:solidFill>
              <a:latin typeface="Arial Narrow" pitchFamily="34" charset="0"/>
            </a:endParaRPr>
          </a:p>
        </p:txBody>
      </p:sp>
      <p:sp>
        <p:nvSpPr>
          <p:cNvPr id="16410" name="Text Box 16"/>
          <p:cNvSpPr txBox="1">
            <a:spLocks noChangeArrowheads="1"/>
          </p:cNvSpPr>
          <p:nvPr/>
        </p:nvSpPr>
        <p:spPr bwMode="auto">
          <a:xfrm>
            <a:off x="2057400" y="661657"/>
            <a:ext cx="5181600" cy="412750"/>
          </a:xfrm>
          <a:prstGeom prst="rect">
            <a:avLst/>
          </a:prstGeom>
          <a:solidFill>
            <a:schemeClr val="accent5">
              <a:lumMod val="20000"/>
              <a:lumOff val="80000"/>
            </a:schemeClr>
          </a:solidFill>
          <a:ln w="12700">
            <a:noFill/>
            <a:miter lim="800000"/>
            <a:headEnd/>
            <a:tailEnd/>
          </a:ln>
        </p:spPr>
        <p:txBody>
          <a:bodyPr wrap="none" anchor="ctr" anchorCtr="1"/>
          <a:lstStyle/>
          <a:p>
            <a:r>
              <a:rPr lang="en-US" sz="2000" b="0" u="sng">
                <a:solidFill>
                  <a:srgbClr val="000000"/>
                </a:solidFill>
                <a:latin typeface="Calibri" pitchFamily="34" charset="0"/>
                <a:cs typeface="Calibri" pitchFamily="34" charset="0"/>
              </a:rPr>
              <a:t>Example</a:t>
            </a:r>
            <a:r>
              <a:rPr lang="en-US" sz="2000" b="0" smtClean="0">
                <a:solidFill>
                  <a:srgbClr val="000000"/>
                </a:solidFill>
                <a:latin typeface="Calibri" pitchFamily="34" charset="0"/>
                <a:cs typeface="Calibri" pitchFamily="34" charset="0"/>
              </a:rPr>
              <a:t>:  Create </a:t>
            </a:r>
            <a:r>
              <a:rPr lang="en-US" sz="2000" smtClean="0">
                <a:solidFill>
                  <a:srgbClr val="000000"/>
                </a:solidFill>
                <a:latin typeface="Calibri" pitchFamily="34" charset="0"/>
                <a:cs typeface="Calibri" pitchFamily="34" charset="0"/>
              </a:rPr>
              <a:t>ledToggleSem</a:t>
            </a:r>
            <a:r>
              <a:rPr lang="en-US" sz="2000" b="0" smtClean="0">
                <a:solidFill>
                  <a:srgbClr val="000000"/>
                </a:solidFill>
                <a:latin typeface="Calibri" pitchFamily="34" charset="0"/>
                <a:cs typeface="Calibri" pitchFamily="34" charset="0"/>
              </a:rPr>
              <a:t>, counting (FIFO)</a:t>
            </a:r>
            <a:endParaRPr lang="en-US" sz="2000" b="0" dirty="0">
              <a:solidFill>
                <a:srgbClr val="000000"/>
              </a:solidFill>
              <a:latin typeface="Calibri" pitchFamily="34" charset="0"/>
              <a:cs typeface="Calibri" pitchFamily="34" charset="0"/>
            </a:endParaRPr>
          </a:p>
        </p:txBody>
      </p:sp>
      <p:sp>
        <p:nvSpPr>
          <p:cNvPr id="39" name="Oval 11"/>
          <p:cNvSpPr>
            <a:spLocks noChangeArrowheads="1"/>
          </p:cNvSpPr>
          <p:nvPr/>
        </p:nvSpPr>
        <p:spPr bwMode="auto">
          <a:xfrm>
            <a:off x="228600" y="3667411"/>
            <a:ext cx="381000" cy="381000"/>
          </a:xfrm>
          <a:prstGeom prst="ellipse">
            <a:avLst/>
          </a:prstGeom>
          <a:solidFill>
            <a:schemeClr val="accent3"/>
          </a:solidFill>
          <a:ln w="12700">
            <a:solidFill>
              <a:schemeClr val="tx1"/>
            </a:solidFill>
            <a:round/>
            <a:headEnd/>
            <a:tailEnd/>
          </a:ln>
          <a:effectLst/>
        </p:spPr>
        <p:txBody>
          <a:bodyPr wrap="none" anchor="ctr">
            <a:spAutoFit/>
          </a:bodyPr>
          <a:lstStyle/>
          <a:p>
            <a:pPr>
              <a:defRPr/>
            </a:pPr>
            <a:endParaRPr lang="en-US">
              <a:solidFill>
                <a:srgbClr val="000000"/>
              </a:solidFill>
              <a:effectLst>
                <a:outerShdw blurRad="38100" dist="38100" dir="2700000" algn="tl">
                  <a:srgbClr val="000000">
                    <a:alpha val="43137"/>
                  </a:srgbClr>
                </a:outerShdw>
              </a:effectLst>
            </a:endParaRPr>
          </a:p>
        </p:txBody>
      </p:sp>
      <p:sp>
        <p:nvSpPr>
          <p:cNvPr id="40" name="Text Box 12"/>
          <p:cNvSpPr txBox="1">
            <a:spLocks noChangeArrowheads="1"/>
          </p:cNvSpPr>
          <p:nvPr/>
        </p:nvSpPr>
        <p:spPr bwMode="auto">
          <a:xfrm>
            <a:off x="247650" y="3673761"/>
            <a:ext cx="354013" cy="384175"/>
          </a:xfrm>
          <a:prstGeom prst="rect">
            <a:avLst/>
          </a:prstGeom>
          <a:noFill/>
          <a:ln w="12700">
            <a:noFill/>
            <a:miter lim="800000"/>
            <a:headEnd/>
            <a:tailEnd/>
          </a:ln>
        </p:spPr>
        <p:txBody>
          <a:bodyPr wrap="none">
            <a:spAutoFit/>
          </a:bodyPr>
          <a:lstStyle/>
          <a:p>
            <a:r>
              <a:rPr lang="en-US" dirty="0" smtClean="0">
                <a:solidFill>
                  <a:srgbClr val="000000"/>
                </a:solidFill>
              </a:rPr>
              <a:t>2</a:t>
            </a:r>
            <a:endParaRPr lang="en-US" dirty="0">
              <a:solidFill>
                <a:srgbClr val="000000"/>
              </a:solidFill>
            </a:endParaRPr>
          </a:p>
        </p:txBody>
      </p:sp>
      <p:sp>
        <p:nvSpPr>
          <p:cNvPr id="41" name="Text Box 13"/>
          <p:cNvSpPr txBox="1">
            <a:spLocks noChangeArrowheads="1"/>
          </p:cNvSpPr>
          <p:nvPr/>
        </p:nvSpPr>
        <p:spPr bwMode="auto">
          <a:xfrm>
            <a:off x="641350" y="3711861"/>
            <a:ext cx="7016664" cy="338554"/>
          </a:xfrm>
          <a:prstGeom prst="rect">
            <a:avLst/>
          </a:prstGeom>
          <a:noFill/>
          <a:ln w="12700">
            <a:noFill/>
            <a:miter lim="800000"/>
            <a:headEnd/>
            <a:tailEnd/>
          </a:ln>
        </p:spPr>
        <p:txBody>
          <a:bodyPr wrap="none">
            <a:spAutoFit/>
          </a:bodyPr>
          <a:lstStyle/>
          <a:p>
            <a:r>
              <a:rPr lang="en-US" sz="2000" dirty="0">
                <a:solidFill>
                  <a:srgbClr val="000000"/>
                </a:solidFill>
              </a:rPr>
              <a:t>Configure </a:t>
            </a:r>
            <a:r>
              <a:rPr lang="en-US" sz="2000" dirty="0" smtClean="0">
                <a:solidFill>
                  <a:srgbClr val="000000"/>
                </a:solidFill>
              </a:rPr>
              <a:t>Semaphore – Object name, initial count, type:</a:t>
            </a:r>
            <a:endParaRPr lang="en-US" sz="2000" dirty="0">
              <a:solidFill>
                <a:srgbClr val="000000"/>
              </a:solidFill>
            </a:endParaRPr>
          </a:p>
        </p:txBody>
      </p:sp>
      <p:sp>
        <p:nvSpPr>
          <p:cNvPr id="45" name="Right Arrow 44"/>
          <p:cNvSpPr/>
          <p:nvPr/>
        </p:nvSpPr>
        <p:spPr bwMode="auto">
          <a:xfrm>
            <a:off x="3276600" y="2389496"/>
            <a:ext cx="533400" cy="457200"/>
          </a:xfrm>
          <a:prstGeom prst="rightArrow">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400" b="1"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endParaRPr>
          </a:p>
        </p:txBody>
      </p:sp>
      <p:pic>
        <p:nvPicPr>
          <p:cNvPr id="21"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pic>
        <p:nvPicPr>
          <p:cNvPr id="3074" name="Picture 2" descr="C:\Users\a0159877\AppData\Local\Temp\SNAGHTML161f4d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7080" y="1675121"/>
            <a:ext cx="2018854" cy="199229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Users\a0159877\AppData\Local\Temp\SNAGHTML16362bf.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4116569"/>
            <a:ext cx="3657600" cy="241472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Users\a0159877\AppData\Local\Temp\SNAGHTML164215c.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40627" y="2057400"/>
            <a:ext cx="3182516" cy="1317495"/>
          </a:xfrm>
          <a:prstGeom prst="rect">
            <a:avLst/>
          </a:prstGeom>
          <a:noFill/>
          <a:extLst>
            <a:ext uri="{909E8E84-426E-40DD-AFC4-6F175D3DCCD1}">
              <a14:hiddenFill xmlns:a14="http://schemas.microsoft.com/office/drawing/2010/main">
                <a:solidFill>
                  <a:srgbClr val="FFFFFF"/>
                </a:solidFill>
              </a14:hiddenFill>
            </a:ext>
          </a:extLst>
        </p:spPr>
      </p:pic>
      <p:sp>
        <p:nvSpPr>
          <p:cNvPr id="16" name="Leading Question"/>
          <p:cNvSpPr txBox="1"/>
          <p:nvPr/>
        </p:nvSpPr>
        <p:spPr>
          <a:xfrm>
            <a:off x="6239435" y="6324600"/>
            <a:ext cx="2141612" cy="246221"/>
          </a:xfrm>
          <a:prstGeom prst="rect">
            <a:avLst/>
          </a:prstGeom>
          <a:noFill/>
        </p:spPr>
        <p:txBody>
          <a:bodyPr vert="horz" wrap="none" lIns="0" tIns="0" rIns="0" bIns="0" rtlCol="0" anchor="b" anchorCtr="0">
            <a:spAutoFit/>
          </a:bodyPr>
          <a:lstStyle/>
          <a:p>
            <a:pPr algn="r">
              <a:spcBef>
                <a:spcPct val="0"/>
              </a:spcBef>
            </a:pPr>
            <a:r>
              <a:rPr lang="en-US" sz="2000" b="0" smtClean="0">
                <a:solidFill>
                  <a:schemeClr val="tx2"/>
                </a:solidFill>
                <a:latin typeface="Arial Narrow"/>
              </a:rPr>
              <a:t>Shared Semaphores…</a:t>
            </a:r>
            <a:endParaRPr lang="en-US" sz="2000" b="0" dirty="0" smtClean="0">
              <a:solidFill>
                <a:schemeClr val="tx2"/>
              </a:solidFill>
              <a:latin typeface="Arial Narrow"/>
            </a:endParaRPr>
          </a:p>
        </p:txBody>
      </p:sp>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6"/>
          <p:cNvSpPr>
            <a:spLocks noGrp="1" noChangeArrowheads="1"/>
          </p:cNvSpPr>
          <p:nvPr>
            <p:ph type="title"/>
          </p:nvPr>
        </p:nvSpPr>
        <p:spPr/>
        <p:txBody>
          <a:bodyPr wrap="none" anchorCtr="1">
            <a:normAutofit/>
          </a:bodyPr>
          <a:lstStyle/>
          <a:p>
            <a:r>
              <a:rPr lang="en-US" smtClean="0"/>
              <a:t>Shared Semaphores – FIFO…</a:t>
            </a:r>
            <a:endParaRPr lang="en-US" dirty="0" smtClean="0"/>
          </a:p>
        </p:txBody>
      </p:sp>
      <p:sp>
        <p:nvSpPr>
          <p:cNvPr id="138" name="TextBox 137"/>
          <p:cNvSpPr txBox="1"/>
          <p:nvPr/>
        </p:nvSpPr>
        <p:spPr>
          <a:xfrm>
            <a:off x="676214" y="4361215"/>
            <a:ext cx="7463005" cy="395173"/>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b="0" smtClean="0">
                <a:solidFill>
                  <a:schemeClr val="dk1"/>
                </a:solidFill>
                <a:latin typeface="Calibri" pitchFamily="34" charset="0"/>
                <a:cs typeface="Calibri" pitchFamily="34" charset="0"/>
              </a:rPr>
              <a:t>Pending </a:t>
            </a:r>
            <a:r>
              <a:rPr lang="en-US" b="0" dirty="0" smtClean="0">
                <a:solidFill>
                  <a:schemeClr val="dk1"/>
                </a:solidFill>
                <a:latin typeface="Calibri" pitchFamily="34" charset="0"/>
                <a:cs typeface="Calibri" pitchFamily="34" charset="0"/>
              </a:rPr>
              <a:t>threads are placed in a FIFO </a:t>
            </a:r>
            <a:r>
              <a:rPr lang="en-US" b="0" i="1" dirty="0" smtClean="0">
                <a:solidFill>
                  <a:schemeClr val="dk1"/>
                </a:solidFill>
                <a:latin typeface="Calibri" pitchFamily="34" charset="0"/>
                <a:cs typeface="Calibri" pitchFamily="34" charset="0"/>
              </a:rPr>
              <a:t>semaphore queue:</a:t>
            </a:r>
            <a:endParaRPr lang="en-US" b="0" dirty="0" smtClean="0">
              <a:solidFill>
                <a:schemeClr val="dk1"/>
              </a:solidFill>
              <a:effectLst/>
              <a:latin typeface="Calibri" pitchFamily="34" charset="0"/>
              <a:cs typeface="Calibri" pitchFamily="34" charset="0"/>
            </a:endParaRPr>
          </a:p>
        </p:txBody>
      </p:sp>
      <p:sp>
        <p:nvSpPr>
          <p:cNvPr id="47" name="TextBox 46"/>
          <p:cNvSpPr txBox="1"/>
          <p:nvPr/>
        </p:nvSpPr>
        <p:spPr>
          <a:xfrm>
            <a:off x="676214" y="5638800"/>
            <a:ext cx="5974521" cy="461665"/>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b="0" dirty="0" smtClean="0">
                <a:solidFill>
                  <a:schemeClr val="dk1"/>
                </a:solidFill>
                <a:effectLst/>
                <a:latin typeface="Calibri" pitchFamily="34" charset="0"/>
                <a:cs typeface="Calibri" pitchFamily="34" charset="0"/>
              </a:rPr>
              <a:t>Therefore, TSK Lo </a:t>
            </a:r>
            <a:r>
              <a:rPr lang="en-US" b="0" smtClean="0">
                <a:solidFill>
                  <a:schemeClr val="dk1"/>
                </a:solidFill>
                <a:effectLst/>
                <a:latin typeface="Calibri" pitchFamily="34" charset="0"/>
                <a:cs typeface="Calibri" pitchFamily="34" charset="0"/>
              </a:rPr>
              <a:t>runs first. This is ok, but…</a:t>
            </a:r>
            <a:endParaRPr lang="en-US" b="0" dirty="0" smtClean="0">
              <a:solidFill>
                <a:schemeClr val="dk1"/>
              </a:solidFill>
              <a:effectLst/>
              <a:latin typeface="Calibri" pitchFamily="34" charset="0"/>
              <a:cs typeface="Calibri" pitchFamily="34" charset="0"/>
            </a:endParaRPr>
          </a:p>
        </p:txBody>
      </p:sp>
      <p:grpSp>
        <p:nvGrpSpPr>
          <p:cNvPr id="3" name="Group 49"/>
          <p:cNvGrpSpPr/>
          <p:nvPr/>
        </p:nvGrpSpPr>
        <p:grpSpPr>
          <a:xfrm>
            <a:off x="1663276" y="4829264"/>
            <a:ext cx="4270738" cy="582900"/>
            <a:chOff x="1663276" y="5020336"/>
            <a:chExt cx="4270738" cy="582900"/>
          </a:xfrm>
        </p:grpSpPr>
        <p:sp>
          <p:nvSpPr>
            <p:cNvPr id="38" name="Rectangle 37"/>
            <p:cNvSpPr/>
            <p:nvPr/>
          </p:nvSpPr>
          <p:spPr bwMode="auto">
            <a:xfrm>
              <a:off x="3038414" y="5069836"/>
              <a:ext cx="2362200" cy="533400"/>
            </a:xfrm>
            <a:prstGeom prst="rect">
              <a:avLst/>
            </a:prstGeom>
            <a:solidFill>
              <a:schemeClr val="accent6">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39" name="Right Arrow 38"/>
            <p:cNvSpPr/>
            <p:nvPr/>
          </p:nvSpPr>
          <p:spPr bwMode="auto">
            <a:xfrm rot="10800000">
              <a:off x="5476814" y="5188568"/>
              <a:ext cx="457200" cy="304800"/>
            </a:xfrm>
            <a:prstGeom prst="rightArrow">
              <a:avLst/>
            </a:prstGeom>
            <a:solidFill>
              <a:schemeClr val="bg2">
                <a:lumMod val="75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40" name="Rounded Rectangle 39"/>
            <p:cNvSpPr/>
            <p:nvPr/>
          </p:nvSpPr>
          <p:spPr bwMode="auto">
            <a:xfrm>
              <a:off x="4105214" y="5146036"/>
              <a:ext cx="899886" cy="381000"/>
            </a:xfrm>
            <a:prstGeom prst="round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9144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sz="1800" b="0" i="0" u="none" strike="noStrike" cap="none" normalizeH="0" baseline="0" dirty="0" smtClean="0">
                  <a:ln>
                    <a:noFill/>
                  </a:ln>
                  <a:solidFill>
                    <a:schemeClr val="dk1"/>
                  </a:solidFill>
                  <a:effectLst/>
                  <a:latin typeface="Arial Narrow" pitchFamily="34" charset="0"/>
                </a:rPr>
                <a:t>TSK Hi</a:t>
              </a:r>
            </a:p>
          </p:txBody>
        </p:sp>
        <p:sp>
          <p:nvSpPr>
            <p:cNvPr id="41" name="Rounded Rectangle 40"/>
            <p:cNvSpPr/>
            <p:nvPr/>
          </p:nvSpPr>
          <p:spPr bwMode="auto">
            <a:xfrm>
              <a:off x="3118495" y="5144267"/>
              <a:ext cx="899886" cy="381000"/>
            </a:xfrm>
            <a:prstGeom prst="round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9144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sz="1800" b="0" i="0" u="none" strike="noStrike" cap="none" normalizeH="0" baseline="0" dirty="0" smtClean="0">
                  <a:ln>
                    <a:noFill/>
                  </a:ln>
                  <a:solidFill>
                    <a:schemeClr val="dk1"/>
                  </a:solidFill>
                  <a:effectLst/>
                  <a:latin typeface="Arial Narrow" pitchFamily="34" charset="0"/>
                </a:rPr>
                <a:t>TSK Lo</a:t>
              </a:r>
            </a:p>
          </p:txBody>
        </p:sp>
        <p:sp>
          <p:nvSpPr>
            <p:cNvPr id="43" name="Right Arrow 42"/>
            <p:cNvSpPr/>
            <p:nvPr/>
          </p:nvSpPr>
          <p:spPr bwMode="auto">
            <a:xfrm rot="10800000">
              <a:off x="2505014" y="5188568"/>
              <a:ext cx="457200" cy="304800"/>
            </a:xfrm>
            <a:prstGeom prst="rightArrow">
              <a:avLst/>
            </a:prstGeom>
            <a:solidFill>
              <a:schemeClr val="bg2">
                <a:lumMod val="75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46" name="TextBox 45"/>
            <p:cNvSpPr txBox="1"/>
            <p:nvPr/>
          </p:nvSpPr>
          <p:spPr>
            <a:xfrm>
              <a:off x="1663276" y="5135403"/>
              <a:ext cx="912429" cy="400110"/>
            </a:xfrm>
            <a:prstGeom prst="rect">
              <a:avLst/>
            </a:prstGeom>
            <a:noFill/>
          </p:spPr>
          <p:txBody>
            <a:bodyPr wrap="none" rtlCol="0" anchor="ctr" anchorCtr="0">
              <a:spAutoFit/>
            </a:bodyPr>
            <a:lstStyle/>
            <a:p>
              <a:r>
                <a:rPr lang="en-US" sz="2000" b="0" dirty="0" smtClean="0">
                  <a:solidFill>
                    <a:schemeClr val="tx2"/>
                  </a:solidFill>
                  <a:effectLst/>
                  <a:latin typeface="Arial Narrow" pitchFamily="34" charset="0"/>
                </a:rPr>
                <a:t>READY</a:t>
              </a:r>
            </a:p>
          </p:txBody>
        </p:sp>
        <p:sp>
          <p:nvSpPr>
            <p:cNvPr id="49" name="TextBox 48"/>
            <p:cNvSpPr txBox="1"/>
            <p:nvPr/>
          </p:nvSpPr>
          <p:spPr>
            <a:xfrm>
              <a:off x="4965402" y="5020336"/>
              <a:ext cx="492443" cy="461665"/>
            </a:xfrm>
            <a:prstGeom prst="rect">
              <a:avLst/>
            </a:prstGeom>
            <a:noFill/>
          </p:spPr>
          <p:txBody>
            <a:bodyPr wrap="none" rtlCol="0" anchor="ctr" anchorCtr="0">
              <a:spAutoFit/>
            </a:bodyPr>
            <a:lstStyle/>
            <a:p>
              <a:r>
                <a:rPr lang="en-US" dirty="0" smtClean="0">
                  <a:solidFill>
                    <a:schemeClr val="dk1"/>
                  </a:solidFill>
                  <a:effectLst/>
                </a:rPr>
                <a:t>…</a:t>
              </a:r>
            </a:p>
          </p:txBody>
        </p:sp>
      </p:grpSp>
      <p:sp>
        <p:nvSpPr>
          <p:cNvPr id="48" name="Leading Question"/>
          <p:cNvSpPr txBox="1"/>
          <p:nvPr/>
        </p:nvSpPr>
        <p:spPr>
          <a:xfrm>
            <a:off x="6047536" y="6419850"/>
            <a:ext cx="2773195" cy="246221"/>
          </a:xfrm>
          <a:prstGeom prst="rect">
            <a:avLst/>
          </a:prstGeom>
          <a:noFill/>
        </p:spPr>
        <p:txBody>
          <a:bodyPr vert="horz" wrap="none" lIns="0" tIns="0" rIns="0" bIns="0" rtlCol="0" anchor="b" anchorCtr="0">
            <a:spAutoFit/>
          </a:bodyPr>
          <a:lstStyle/>
          <a:p>
            <a:pPr algn="r">
              <a:lnSpc>
                <a:spcPct val="80000"/>
              </a:lnSpc>
            </a:pPr>
            <a:r>
              <a:rPr lang="en-US" sz="2000" b="0" smtClean="0">
                <a:solidFill>
                  <a:schemeClr val="tx2"/>
                </a:solidFill>
                <a:latin typeface="Arial Narrow"/>
              </a:rPr>
              <a:t>Priority Based Semaphores…</a:t>
            </a:r>
            <a:endParaRPr lang="en-US" sz="2000" b="0" dirty="0" smtClean="0">
              <a:solidFill>
                <a:schemeClr val="tx2"/>
              </a:solidFill>
              <a:latin typeface="Arial Narrow"/>
            </a:endParaRPr>
          </a:p>
        </p:txBody>
      </p:sp>
      <p:grpSp>
        <p:nvGrpSpPr>
          <p:cNvPr id="50" name="Group 49"/>
          <p:cNvGrpSpPr/>
          <p:nvPr/>
        </p:nvGrpSpPr>
        <p:grpSpPr>
          <a:xfrm>
            <a:off x="223071" y="664534"/>
            <a:ext cx="8623553" cy="3505200"/>
            <a:chOff x="329946" y="664534"/>
            <a:chExt cx="8623553" cy="3505200"/>
          </a:xfrm>
        </p:grpSpPr>
        <p:sp>
          <p:nvSpPr>
            <p:cNvPr id="52" name="Rounded Rectangle 51"/>
            <p:cNvSpPr/>
            <p:nvPr/>
          </p:nvSpPr>
          <p:spPr bwMode="auto">
            <a:xfrm>
              <a:off x="329946" y="664534"/>
              <a:ext cx="8623553" cy="3505200"/>
            </a:xfrm>
            <a:prstGeom prst="round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53" name="Rounded Rectangle 52"/>
            <p:cNvSpPr/>
            <p:nvPr/>
          </p:nvSpPr>
          <p:spPr bwMode="auto">
            <a:xfrm>
              <a:off x="634747" y="1065031"/>
              <a:ext cx="1143000" cy="533400"/>
            </a:xfrm>
            <a:prstGeom prst="roundRect">
              <a:avLst/>
            </a:prstGeom>
            <a:solidFill>
              <a:schemeClr val="accent5">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9144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dirty="0" err="1" smtClean="0">
                  <a:ln>
                    <a:noFill/>
                  </a:ln>
                  <a:solidFill>
                    <a:schemeClr val="dk1"/>
                  </a:solidFill>
                  <a:effectLst/>
                  <a:latin typeface="Arial Narrow" pitchFamily="34" charset="0"/>
                </a:rPr>
                <a:t>Hwi</a:t>
              </a:r>
              <a:endParaRPr kumimoji="0" lang="en-US" b="0" i="0" u="none" strike="noStrike" cap="none" normalizeH="0" baseline="0" dirty="0" smtClean="0">
                <a:ln>
                  <a:noFill/>
                </a:ln>
                <a:solidFill>
                  <a:schemeClr val="dk1"/>
                </a:solidFill>
                <a:effectLst/>
                <a:latin typeface="Arial Narrow" pitchFamily="34" charset="0"/>
              </a:endParaRPr>
            </a:p>
          </p:txBody>
        </p:sp>
        <p:cxnSp>
          <p:nvCxnSpPr>
            <p:cNvPr id="54" name="Straight Connector 53"/>
            <p:cNvCxnSpPr/>
            <p:nvPr/>
          </p:nvCxnSpPr>
          <p:spPr bwMode="auto">
            <a:xfrm>
              <a:off x="5282947" y="1373461"/>
              <a:ext cx="1210694" cy="0"/>
            </a:xfrm>
            <a:prstGeom prst="line">
              <a:avLst/>
            </a:prstGeom>
            <a:solidFill>
              <a:schemeClr val="accent1"/>
            </a:solidFill>
            <a:ln w="57150" cap="flat" cmpd="sng" algn="ctr">
              <a:solidFill>
                <a:schemeClr val="tx2"/>
              </a:solidFill>
              <a:prstDash val="solid"/>
              <a:round/>
              <a:headEnd type="none" w="sm" len="sm"/>
              <a:tailEnd type="none" w="sm" len="sm"/>
            </a:ln>
            <a:effectLst/>
          </p:spPr>
        </p:cxnSp>
        <p:sp>
          <p:nvSpPr>
            <p:cNvPr id="55" name="Down Arrow 54"/>
            <p:cNvSpPr/>
            <p:nvPr/>
          </p:nvSpPr>
          <p:spPr bwMode="auto">
            <a:xfrm>
              <a:off x="5999042" y="1032373"/>
              <a:ext cx="304800" cy="304800"/>
            </a:xfrm>
            <a:prstGeom prst="downArrow">
              <a:avLst/>
            </a:prstGeom>
            <a:solidFill>
              <a:schemeClr val="tx2">
                <a:lumMod val="40000"/>
                <a:lumOff val="60000"/>
              </a:schemeClr>
            </a:solidFill>
            <a:ln w="12700" cap="flat" cmpd="sng" algn="ctr">
              <a:solidFill>
                <a:schemeClr val="tx1"/>
              </a:solidFill>
              <a:prstDash val="solid"/>
              <a:round/>
              <a:headEnd type="none" w="sm" len="sm"/>
              <a:tailEnd type="none" w="sm" len="sm"/>
            </a:ln>
            <a:effectLst/>
          </p:spPr>
          <p:txBody>
            <a:bodyPr/>
            <a:lstStyle/>
            <a:p>
              <a:pPr eaLnBrk="0" hangingPunct="0">
                <a:lnSpc>
                  <a:spcPct val="80000"/>
                </a:lnSpc>
                <a:spcBef>
                  <a:spcPct val="50000"/>
                </a:spcBef>
                <a:defRPr/>
              </a:pPr>
              <a:endParaRPr lang="en-US">
                <a:effectLst>
                  <a:outerShdw blurRad="38100" dist="38100" dir="2700000" algn="tl">
                    <a:srgbClr val="000000">
                      <a:alpha val="43137"/>
                    </a:srgbClr>
                  </a:outerShdw>
                </a:effectLst>
              </a:endParaRPr>
            </a:p>
          </p:txBody>
        </p:sp>
        <p:sp>
          <p:nvSpPr>
            <p:cNvPr id="58" name="TextBox 57"/>
            <p:cNvSpPr txBox="1"/>
            <p:nvPr/>
          </p:nvSpPr>
          <p:spPr>
            <a:xfrm>
              <a:off x="5824868" y="687661"/>
              <a:ext cx="668773" cy="400110"/>
            </a:xfrm>
            <a:prstGeom prst="rect">
              <a:avLst/>
            </a:prstGeom>
            <a:noFill/>
          </p:spPr>
          <p:txBody>
            <a:bodyPr wrap="none" rtlCol="0" anchor="ctr" anchorCtr="0">
              <a:spAutoFit/>
            </a:bodyPr>
            <a:lstStyle/>
            <a:p>
              <a:r>
                <a:rPr lang="en-US" sz="2000" b="0" dirty="0" smtClean="0">
                  <a:solidFill>
                    <a:schemeClr val="dk1"/>
                  </a:solidFill>
                  <a:effectLst/>
                </a:rPr>
                <a:t>post</a:t>
              </a:r>
            </a:p>
          </p:txBody>
        </p:sp>
        <p:cxnSp>
          <p:nvCxnSpPr>
            <p:cNvPr id="59" name="Straight Connector 58"/>
            <p:cNvCxnSpPr/>
            <p:nvPr/>
          </p:nvCxnSpPr>
          <p:spPr bwMode="auto">
            <a:xfrm>
              <a:off x="1806775" y="3716164"/>
              <a:ext cx="732972" cy="0"/>
            </a:xfrm>
            <a:prstGeom prst="line">
              <a:avLst/>
            </a:prstGeom>
            <a:solidFill>
              <a:schemeClr val="accent1"/>
            </a:solidFill>
            <a:ln w="57150" cap="flat" cmpd="sng" algn="ctr">
              <a:solidFill>
                <a:schemeClr val="tx1"/>
              </a:solidFill>
              <a:prstDash val="solid"/>
              <a:round/>
              <a:headEnd type="none" w="sm" len="sm"/>
              <a:tailEnd type="none" w="sm" len="sm"/>
            </a:ln>
            <a:effectLst/>
          </p:spPr>
        </p:cxnSp>
        <p:sp>
          <p:nvSpPr>
            <p:cNvPr id="60" name="Down Arrow 59"/>
            <p:cNvSpPr/>
            <p:nvPr/>
          </p:nvSpPr>
          <p:spPr bwMode="auto">
            <a:xfrm>
              <a:off x="2420005" y="3215422"/>
              <a:ext cx="304800" cy="304800"/>
            </a:xfrm>
            <a:prstGeom prst="downArrow">
              <a:avLst/>
            </a:prstGeom>
            <a:solidFill>
              <a:schemeClr val="tx2">
                <a:lumMod val="40000"/>
                <a:lumOff val="60000"/>
              </a:schemeClr>
            </a:solidFill>
            <a:ln w="12700" cap="flat" cmpd="sng" algn="ctr">
              <a:solidFill>
                <a:schemeClr val="tx1"/>
              </a:solidFill>
              <a:prstDash val="solid"/>
              <a:round/>
              <a:headEnd type="none" w="sm" len="sm"/>
              <a:tailEnd type="none" w="sm" len="sm"/>
            </a:ln>
            <a:effectLst/>
          </p:spPr>
          <p:txBody>
            <a:bodyPr/>
            <a:lstStyle/>
            <a:p>
              <a:pPr eaLnBrk="0" hangingPunct="0">
                <a:lnSpc>
                  <a:spcPct val="80000"/>
                </a:lnSpc>
                <a:spcBef>
                  <a:spcPct val="50000"/>
                </a:spcBef>
                <a:defRPr/>
              </a:pPr>
              <a:endParaRPr lang="en-US">
                <a:effectLst>
                  <a:outerShdw blurRad="38100" dist="38100" dir="2700000" algn="tl">
                    <a:srgbClr val="000000">
                      <a:alpha val="43137"/>
                    </a:srgbClr>
                  </a:outerShdw>
                </a:effectLst>
              </a:endParaRPr>
            </a:p>
          </p:txBody>
        </p:sp>
        <p:sp>
          <p:nvSpPr>
            <p:cNvPr id="62" name="TextBox 61"/>
            <p:cNvSpPr txBox="1"/>
            <p:nvPr/>
          </p:nvSpPr>
          <p:spPr>
            <a:xfrm>
              <a:off x="1775635" y="2841682"/>
              <a:ext cx="1651414" cy="400110"/>
            </a:xfrm>
            <a:prstGeom prst="rect">
              <a:avLst/>
            </a:prstGeom>
            <a:noFill/>
          </p:spPr>
          <p:txBody>
            <a:bodyPr wrap="none" rtlCol="0" anchor="ctr" anchorCtr="0">
              <a:spAutoFit/>
            </a:bodyPr>
            <a:lstStyle/>
            <a:p>
              <a:r>
                <a:rPr lang="en-US" sz="2000" dirty="0" smtClean="0">
                  <a:solidFill>
                    <a:schemeClr val="dk1"/>
                  </a:solidFill>
                  <a:effectLst/>
                </a:rPr>
                <a:t>Enter</a:t>
              </a:r>
              <a:r>
                <a:rPr lang="en-US" sz="2000" b="0" dirty="0" smtClean="0">
                  <a:solidFill>
                    <a:schemeClr val="dk1"/>
                  </a:solidFill>
                  <a:effectLst/>
                </a:rPr>
                <a:t> (pend)</a:t>
              </a:r>
            </a:p>
          </p:txBody>
        </p:sp>
        <p:cxnSp>
          <p:nvCxnSpPr>
            <p:cNvPr id="63" name="Straight Connector 62"/>
            <p:cNvCxnSpPr/>
            <p:nvPr/>
          </p:nvCxnSpPr>
          <p:spPr bwMode="auto">
            <a:xfrm>
              <a:off x="6172200" y="3709161"/>
              <a:ext cx="515256" cy="0"/>
            </a:xfrm>
            <a:prstGeom prst="line">
              <a:avLst/>
            </a:prstGeom>
            <a:solidFill>
              <a:schemeClr val="accent1"/>
            </a:solidFill>
            <a:ln w="12700" cap="flat" cmpd="sng" algn="ctr">
              <a:solidFill>
                <a:schemeClr val="tx1"/>
              </a:solidFill>
              <a:prstDash val="solid"/>
              <a:round/>
              <a:headEnd type="none" w="sm" len="sm"/>
              <a:tailEnd type="none" w="sm" len="sm"/>
            </a:ln>
            <a:effectLst/>
          </p:spPr>
        </p:cxnSp>
        <p:sp>
          <p:nvSpPr>
            <p:cNvPr id="64" name="TextBox 63"/>
            <p:cNvSpPr txBox="1"/>
            <p:nvPr/>
          </p:nvSpPr>
          <p:spPr>
            <a:xfrm>
              <a:off x="4981777" y="687661"/>
              <a:ext cx="668773" cy="400110"/>
            </a:xfrm>
            <a:prstGeom prst="rect">
              <a:avLst/>
            </a:prstGeom>
            <a:noFill/>
          </p:spPr>
          <p:txBody>
            <a:bodyPr wrap="none" rtlCol="0" anchor="ctr" anchorCtr="0">
              <a:spAutoFit/>
            </a:bodyPr>
            <a:lstStyle/>
            <a:p>
              <a:r>
                <a:rPr lang="en-US" sz="2000" b="0" dirty="0" smtClean="0">
                  <a:solidFill>
                    <a:schemeClr val="dk1"/>
                  </a:solidFill>
                  <a:effectLst/>
                </a:rPr>
                <a:t>INT!</a:t>
              </a:r>
            </a:p>
          </p:txBody>
        </p:sp>
        <p:cxnSp>
          <p:nvCxnSpPr>
            <p:cNvPr id="65" name="Straight Arrow Connector 64"/>
            <p:cNvCxnSpPr/>
            <p:nvPr/>
          </p:nvCxnSpPr>
          <p:spPr bwMode="auto">
            <a:xfrm>
              <a:off x="5272063" y="1036003"/>
              <a:ext cx="0" cy="304800"/>
            </a:xfrm>
            <a:prstGeom prst="straightConnector1">
              <a:avLst/>
            </a:prstGeom>
            <a:solidFill>
              <a:schemeClr val="accent1"/>
            </a:solidFill>
            <a:ln w="28575" cap="flat" cmpd="sng" algn="ctr">
              <a:solidFill>
                <a:schemeClr val="tx1"/>
              </a:solidFill>
              <a:prstDash val="solid"/>
              <a:round/>
              <a:headEnd type="none" w="sm" len="sm"/>
              <a:tailEnd type="arrow"/>
            </a:ln>
            <a:effectLst/>
          </p:spPr>
        </p:cxnSp>
        <p:sp>
          <p:nvSpPr>
            <p:cNvPr id="66" name="TextBox 65"/>
            <p:cNvSpPr txBox="1"/>
            <p:nvPr/>
          </p:nvSpPr>
          <p:spPr>
            <a:xfrm>
              <a:off x="3950072" y="3346832"/>
              <a:ext cx="723275" cy="369332"/>
            </a:xfrm>
            <a:prstGeom prst="rect">
              <a:avLst/>
            </a:prstGeom>
            <a:noFill/>
          </p:spPr>
          <p:txBody>
            <a:bodyPr wrap="none" rtlCol="0" anchor="ctr" anchorCtr="0">
              <a:spAutoFit/>
            </a:bodyPr>
            <a:lstStyle/>
            <a:p>
              <a:r>
                <a:rPr lang="en-US" sz="1800" b="0" i="1" dirty="0" smtClean="0">
                  <a:solidFill>
                    <a:schemeClr val="dk1"/>
                  </a:solidFill>
                  <a:effectLst/>
                </a:rPr>
                <a:t>block</a:t>
              </a:r>
            </a:p>
          </p:txBody>
        </p:sp>
        <p:cxnSp>
          <p:nvCxnSpPr>
            <p:cNvPr id="68" name="Straight Connector 67"/>
            <p:cNvCxnSpPr/>
            <p:nvPr/>
          </p:nvCxnSpPr>
          <p:spPr bwMode="auto">
            <a:xfrm>
              <a:off x="6477000" y="1250089"/>
              <a:ext cx="0" cy="228600"/>
            </a:xfrm>
            <a:prstGeom prst="line">
              <a:avLst/>
            </a:prstGeom>
            <a:solidFill>
              <a:schemeClr val="accent1"/>
            </a:solidFill>
            <a:ln w="38100" cap="flat" cmpd="sng" algn="ctr">
              <a:solidFill>
                <a:schemeClr val="tx1"/>
              </a:solidFill>
              <a:prstDash val="solid"/>
              <a:round/>
              <a:headEnd type="none" w="sm" len="sm"/>
              <a:tailEnd type="none" w="sm" len="sm"/>
            </a:ln>
            <a:effectLst/>
          </p:spPr>
        </p:cxnSp>
        <p:cxnSp>
          <p:nvCxnSpPr>
            <p:cNvPr id="69" name="Straight Connector 68"/>
            <p:cNvCxnSpPr/>
            <p:nvPr/>
          </p:nvCxnSpPr>
          <p:spPr bwMode="auto">
            <a:xfrm>
              <a:off x="6172200" y="3596422"/>
              <a:ext cx="0" cy="228600"/>
            </a:xfrm>
            <a:prstGeom prst="line">
              <a:avLst/>
            </a:prstGeom>
            <a:solidFill>
              <a:schemeClr val="accent1"/>
            </a:solidFill>
            <a:ln w="38100" cap="flat" cmpd="sng" algn="ctr">
              <a:solidFill>
                <a:schemeClr val="tx1"/>
              </a:solidFill>
              <a:prstDash val="solid"/>
              <a:round/>
              <a:headEnd type="none" w="sm" len="sm"/>
              <a:tailEnd type="none" w="sm" len="sm"/>
            </a:ln>
            <a:effectLst/>
          </p:spPr>
        </p:cxnSp>
        <p:sp>
          <p:nvSpPr>
            <p:cNvPr id="70" name="Rounded Rectangle 69"/>
            <p:cNvSpPr/>
            <p:nvPr/>
          </p:nvSpPr>
          <p:spPr bwMode="auto">
            <a:xfrm>
              <a:off x="634747" y="3411364"/>
              <a:ext cx="1143000" cy="533400"/>
            </a:xfrm>
            <a:prstGeom prst="round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9144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dirty="0" smtClean="0">
                  <a:ln>
                    <a:noFill/>
                  </a:ln>
                  <a:solidFill>
                    <a:schemeClr val="dk1"/>
                  </a:solidFill>
                  <a:effectLst/>
                  <a:latin typeface="Arial Narrow" pitchFamily="34" charset="0"/>
                </a:rPr>
                <a:t>TSK Lo</a:t>
              </a:r>
            </a:p>
          </p:txBody>
        </p:sp>
        <p:cxnSp>
          <p:nvCxnSpPr>
            <p:cNvPr id="71" name="Straight Connector 70"/>
            <p:cNvCxnSpPr/>
            <p:nvPr/>
          </p:nvCxnSpPr>
          <p:spPr bwMode="auto">
            <a:xfrm>
              <a:off x="2557891" y="3596422"/>
              <a:ext cx="0" cy="228600"/>
            </a:xfrm>
            <a:prstGeom prst="line">
              <a:avLst/>
            </a:prstGeom>
            <a:solidFill>
              <a:schemeClr val="accent1"/>
            </a:solidFill>
            <a:ln w="38100" cap="flat" cmpd="sng" algn="ctr">
              <a:solidFill>
                <a:schemeClr val="tx1"/>
              </a:solidFill>
              <a:prstDash val="solid"/>
              <a:round/>
              <a:headEnd type="none" w="sm" len="sm"/>
              <a:tailEnd type="none" w="sm" len="sm"/>
            </a:ln>
            <a:effectLst/>
          </p:spPr>
        </p:cxnSp>
        <p:cxnSp>
          <p:nvCxnSpPr>
            <p:cNvPr id="72" name="Straight Connector 71"/>
            <p:cNvCxnSpPr/>
            <p:nvPr/>
          </p:nvCxnSpPr>
          <p:spPr bwMode="auto">
            <a:xfrm>
              <a:off x="6477000" y="3716164"/>
              <a:ext cx="1413938" cy="0"/>
            </a:xfrm>
            <a:prstGeom prst="line">
              <a:avLst/>
            </a:prstGeom>
            <a:solidFill>
              <a:schemeClr val="accent1"/>
            </a:solidFill>
            <a:ln w="57150" cap="flat" cmpd="sng" algn="ctr">
              <a:solidFill>
                <a:schemeClr val="tx2"/>
              </a:solidFill>
              <a:prstDash val="solid"/>
              <a:round/>
              <a:headEnd type="none" w="sm" len="sm"/>
              <a:tailEnd type="none" w="sm" len="sm"/>
            </a:ln>
            <a:effectLst/>
          </p:spPr>
        </p:cxnSp>
        <p:sp>
          <p:nvSpPr>
            <p:cNvPr id="73" name="TextBox 72"/>
            <p:cNvSpPr txBox="1"/>
            <p:nvPr/>
          </p:nvSpPr>
          <p:spPr>
            <a:xfrm>
              <a:off x="6675470" y="3376735"/>
              <a:ext cx="1024639" cy="338554"/>
            </a:xfrm>
            <a:prstGeom prst="rect">
              <a:avLst/>
            </a:prstGeom>
            <a:noFill/>
          </p:spPr>
          <p:txBody>
            <a:bodyPr wrap="none" rtlCol="0" anchor="ctr" anchorCtr="0">
              <a:spAutoFit/>
            </a:bodyPr>
            <a:lstStyle/>
            <a:p>
              <a:r>
                <a:rPr lang="en-US" sz="1600" b="0" i="1" dirty="0" smtClean="0">
                  <a:solidFill>
                    <a:schemeClr val="dk1"/>
                  </a:solidFill>
                  <a:effectLst/>
                </a:rPr>
                <a:t>ACCESS</a:t>
              </a:r>
            </a:p>
          </p:txBody>
        </p:sp>
        <p:cxnSp>
          <p:nvCxnSpPr>
            <p:cNvPr id="74" name="Straight Connector 73"/>
            <p:cNvCxnSpPr/>
            <p:nvPr/>
          </p:nvCxnSpPr>
          <p:spPr bwMode="auto">
            <a:xfrm>
              <a:off x="3254575" y="2470782"/>
              <a:ext cx="1190172" cy="0"/>
            </a:xfrm>
            <a:prstGeom prst="line">
              <a:avLst/>
            </a:prstGeom>
            <a:solidFill>
              <a:schemeClr val="accent1"/>
            </a:solidFill>
            <a:ln w="57150" cap="flat" cmpd="sng" algn="ctr">
              <a:solidFill>
                <a:schemeClr val="tx1"/>
              </a:solidFill>
              <a:prstDash val="solid"/>
              <a:round/>
              <a:headEnd type="none" w="sm" len="sm"/>
              <a:tailEnd type="none" w="sm" len="sm"/>
            </a:ln>
            <a:effectLst/>
          </p:spPr>
        </p:cxnSp>
        <p:sp>
          <p:nvSpPr>
            <p:cNvPr id="75" name="Down Arrow 74"/>
            <p:cNvSpPr/>
            <p:nvPr/>
          </p:nvSpPr>
          <p:spPr bwMode="auto">
            <a:xfrm>
              <a:off x="4299012" y="1955526"/>
              <a:ext cx="304800" cy="304800"/>
            </a:xfrm>
            <a:prstGeom prst="downArrow">
              <a:avLst/>
            </a:prstGeom>
            <a:solidFill>
              <a:schemeClr val="tx2">
                <a:lumMod val="40000"/>
                <a:lumOff val="60000"/>
              </a:schemeClr>
            </a:solidFill>
            <a:ln w="12700" cap="flat" cmpd="sng" algn="ctr">
              <a:solidFill>
                <a:schemeClr val="tx1"/>
              </a:solidFill>
              <a:prstDash val="solid"/>
              <a:round/>
              <a:headEnd type="none" w="sm" len="sm"/>
              <a:tailEnd type="none" w="sm" len="sm"/>
            </a:ln>
            <a:effectLst/>
          </p:spPr>
          <p:txBody>
            <a:bodyPr/>
            <a:lstStyle/>
            <a:p>
              <a:pPr eaLnBrk="0" hangingPunct="0">
                <a:lnSpc>
                  <a:spcPct val="80000"/>
                </a:lnSpc>
                <a:spcBef>
                  <a:spcPct val="50000"/>
                </a:spcBef>
                <a:defRPr/>
              </a:pPr>
              <a:endParaRPr lang="en-US">
                <a:effectLst>
                  <a:outerShdw blurRad="38100" dist="38100" dir="2700000" algn="tl">
                    <a:srgbClr val="000000">
                      <a:alpha val="43137"/>
                    </a:srgbClr>
                  </a:outerShdw>
                </a:effectLst>
              </a:endParaRPr>
            </a:p>
          </p:txBody>
        </p:sp>
        <p:sp>
          <p:nvSpPr>
            <p:cNvPr id="76" name="TextBox 75"/>
            <p:cNvSpPr txBox="1"/>
            <p:nvPr/>
          </p:nvSpPr>
          <p:spPr>
            <a:xfrm>
              <a:off x="3670002" y="1596300"/>
              <a:ext cx="1651414" cy="400110"/>
            </a:xfrm>
            <a:prstGeom prst="rect">
              <a:avLst/>
            </a:prstGeom>
            <a:noFill/>
          </p:spPr>
          <p:txBody>
            <a:bodyPr wrap="none" rtlCol="0" anchor="ctr" anchorCtr="0">
              <a:spAutoFit/>
            </a:bodyPr>
            <a:lstStyle/>
            <a:p>
              <a:r>
                <a:rPr lang="en-US" sz="2000" dirty="0" smtClean="0">
                  <a:solidFill>
                    <a:schemeClr val="dk1"/>
                  </a:solidFill>
                  <a:effectLst/>
                </a:rPr>
                <a:t>Enter</a:t>
              </a:r>
              <a:r>
                <a:rPr lang="en-US" sz="2000" b="0" dirty="0" smtClean="0">
                  <a:solidFill>
                    <a:schemeClr val="dk1"/>
                  </a:solidFill>
                  <a:effectLst/>
                </a:rPr>
                <a:t> (pend)</a:t>
              </a:r>
            </a:p>
          </p:txBody>
        </p:sp>
        <p:sp>
          <p:nvSpPr>
            <p:cNvPr id="77" name="TextBox 76"/>
            <p:cNvSpPr txBox="1"/>
            <p:nvPr/>
          </p:nvSpPr>
          <p:spPr>
            <a:xfrm>
              <a:off x="4597147" y="2115964"/>
              <a:ext cx="1479892" cy="369332"/>
            </a:xfrm>
            <a:prstGeom prst="rect">
              <a:avLst/>
            </a:prstGeom>
            <a:noFill/>
          </p:spPr>
          <p:txBody>
            <a:bodyPr wrap="none" rtlCol="0" anchor="ctr" anchorCtr="0">
              <a:spAutoFit/>
            </a:bodyPr>
            <a:lstStyle/>
            <a:p>
              <a:r>
                <a:rPr lang="en-US" sz="1800" b="0" i="1" dirty="0" smtClean="0">
                  <a:solidFill>
                    <a:schemeClr val="dk1"/>
                  </a:solidFill>
                  <a:effectLst/>
                </a:rPr>
                <a:t>BLOCKED !!</a:t>
              </a:r>
            </a:p>
          </p:txBody>
        </p:sp>
        <p:sp>
          <p:nvSpPr>
            <p:cNvPr id="78" name="Rounded Rectangle 77"/>
            <p:cNvSpPr/>
            <p:nvPr/>
          </p:nvSpPr>
          <p:spPr bwMode="auto">
            <a:xfrm>
              <a:off x="634747" y="2165982"/>
              <a:ext cx="1143000" cy="533400"/>
            </a:xfrm>
            <a:prstGeom prst="round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9144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dirty="0" smtClean="0">
                  <a:ln>
                    <a:noFill/>
                  </a:ln>
                  <a:solidFill>
                    <a:schemeClr val="dk1"/>
                  </a:solidFill>
                  <a:effectLst/>
                  <a:latin typeface="Arial Narrow" pitchFamily="34" charset="0"/>
                </a:rPr>
                <a:t>TSK Hi</a:t>
              </a:r>
            </a:p>
          </p:txBody>
        </p:sp>
        <p:cxnSp>
          <p:nvCxnSpPr>
            <p:cNvPr id="79" name="Straight Connector 78"/>
            <p:cNvCxnSpPr/>
            <p:nvPr/>
          </p:nvCxnSpPr>
          <p:spPr bwMode="auto">
            <a:xfrm>
              <a:off x="4444747" y="2351040"/>
              <a:ext cx="0" cy="228600"/>
            </a:xfrm>
            <a:prstGeom prst="line">
              <a:avLst/>
            </a:prstGeom>
            <a:solidFill>
              <a:schemeClr val="accent1"/>
            </a:solidFill>
            <a:ln w="38100" cap="flat" cmpd="sng" algn="ctr">
              <a:solidFill>
                <a:schemeClr val="tx1"/>
              </a:solidFill>
              <a:prstDash val="solid"/>
              <a:round/>
              <a:headEnd type="none" w="sm" len="sm"/>
              <a:tailEnd type="none" w="sm" len="sm"/>
            </a:ln>
            <a:effectLst/>
          </p:spPr>
        </p:cxnSp>
        <p:sp>
          <p:nvSpPr>
            <p:cNvPr id="80" name="TextBox 79"/>
            <p:cNvSpPr txBox="1"/>
            <p:nvPr/>
          </p:nvSpPr>
          <p:spPr>
            <a:xfrm>
              <a:off x="2920747" y="1734964"/>
              <a:ext cx="668773" cy="400110"/>
            </a:xfrm>
            <a:prstGeom prst="rect">
              <a:avLst/>
            </a:prstGeom>
            <a:noFill/>
          </p:spPr>
          <p:txBody>
            <a:bodyPr wrap="none" rtlCol="0" anchor="ctr" anchorCtr="0">
              <a:spAutoFit/>
            </a:bodyPr>
            <a:lstStyle/>
            <a:p>
              <a:r>
                <a:rPr lang="en-US" sz="2000" b="0" dirty="0" smtClean="0">
                  <a:solidFill>
                    <a:schemeClr val="dk1"/>
                  </a:solidFill>
                  <a:effectLst/>
                </a:rPr>
                <a:t>INT!</a:t>
              </a:r>
            </a:p>
          </p:txBody>
        </p:sp>
        <p:cxnSp>
          <p:nvCxnSpPr>
            <p:cNvPr id="83" name="Straight Arrow Connector 82"/>
            <p:cNvCxnSpPr/>
            <p:nvPr/>
          </p:nvCxnSpPr>
          <p:spPr bwMode="auto">
            <a:xfrm>
              <a:off x="3211033" y="2083306"/>
              <a:ext cx="0" cy="304800"/>
            </a:xfrm>
            <a:prstGeom prst="straightConnector1">
              <a:avLst/>
            </a:prstGeom>
            <a:solidFill>
              <a:schemeClr val="accent1"/>
            </a:solidFill>
            <a:ln w="28575" cap="flat" cmpd="sng" algn="ctr">
              <a:solidFill>
                <a:schemeClr val="tx1"/>
              </a:solidFill>
              <a:prstDash val="solid"/>
              <a:round/>
              <a:headEnd type="none" w="sm" len="sm"/>
              <a:tailEnd type="arrow"/>
            </a:ln>
            <a:effectLst/>
          </p:spPr>
        </p:cxnSp>
        <p:cxnSp>
          <p:nvCxnSpPr>
            <p:cNvPr id="84" name="Straight Connector 83"/>
            <p:cNvCxnSpPr/>
            <p:nvPr/>
          </p:nvCxnSpPr>
          <p:spPr bwMode="auto">
            <a:xfrm>
              <a:off x="6477000" y="3592792"/>
              <a:ext cx="0" cy="228600"/>
            </a:xfrm>
            <a:prstGeom prst="line">
              <a:avLst/>
            </a:prstGeom>
            <a:solidFill>
              <a:schemeClr val="accent1"/>
            </a:solidFill>
            <a:ln w="38100" cap="flat" cmpd="sng" algn="ctr">
              <a:solidFill>
                <a:schemeClr val="tx1"/>
              </a:solidFill>
              <a:prstDash val="solid"/>
              <a:round/>
              <a:headEnd type="none" w="sm" len="sm"/>
              <a:tailEnd type="none" w="sm" len="sm"/>
            </a:ln>
            <a:effectLst/>
          </p:spPr>
        </p:cxnSp>
        <p:cxnSp>
          <p:nvCxnSpPr>
            <p:cNvPr id="85" name="Straight Connector 84"/>
            <p:cNvCxnSpPr/>
            <p:nvPr/>
          </p:nvCxnSpPr>
          <p:spPr bwMode="auto">
            <a:xfrm>
              <a:off x="4520947" y="2467936"/>
              <a:ext cx="3369003" cy="0"/>
            </a:xfrm>
            <a:prstGeom prst="line">
              <a:avLst/>
            </a:prstGeom>
            <a:solidFill>
              <a:schemeClr val="accent1"/>
            </a:solidFill>
            <a:ln w="38100" cap="flat" cmpd="sng" algn="ctr">
              <a:solidFill>
                <a:schemeClr val="tx1"/>
              </a:solidFill>
              <a:prstDash val="dash"/>
              <a:round/>
              <a:headEnd type="none" w="sm" len="sm"/>
              <a:tailEnd type="none" w="sm" len="sm"/>
            </a:ln>
            <a:effectLst/>
          </p:spPr>
        </p:cxnSp>
        <p:cxnSp>
          <p:nvCxnSpPr>
            <p:cNvPr id="87" name="Straight Connector 86"/>
            <p:cNvCxnSpPr/>
            <p:nvPr/>
          </p:nvCxnSpPr>
          <p:spPr bwMode="auto">
            <a:xfrm>
              <a:off x="2667000" y="3716164"/>
              <a:ext cx="3492254" cy="0"/>
            </a:xfrm>
            <a:prstGeom prst="line">
              <a:avLst/>
            </a:prstGeom>
            <a:solidFill>
              <a:schemeClr val="accent1"/>
            </a:solidFill>
            <a:ln w="38100" cap="flat" cmpd="sng" algn="ctr">
              <a:solidFill>
                <a:schemeClr val="tx1"/>
              </a:solidFill>
              <a:prstDash val="dash"/>
              <a:round/>
              <a:headEnd type="none" w="sm" len="sm"/>
              <a:tailEnd type="none" w="sm" len="sm"/>
            </a:ln>
            <a:effectLst/>
          </p:spPr>
        </p:cxnSp>
        <p:cxnSp>
          <p:nvCxnSpPr>
            <p:cNvPr id="90" name="Straight Connector 89"/>
            <p:cNvCxnSpPr/>
            <p:nvPr/>
          </p:nvCxnSpPr>
          <p:spPr bwMode="auto">
            <a:xfrm>
              <a:off x="6166458" y="1425273"/>
              <a:ext cx="0" cy="2115456"/>
            </a:xfrm>
            <a:prstGeom prst="line">
              <a:avLst/>
            </a:prstGeom>
            <a:solidFill>
              <a:schemeClr val="accent1"/>
            </a:solidFill>
            <a:ln w="12700" cap="flat" cmpd="sng" algn="ctr">
              <a:solidFill>
                <a:srgbClr val="FF0000"/>
              </a:solidFill>
              <a:prstDash val="solid"/>
              <a:round/>
              <a:headEnd type="none" w="sm" len="sm"/>
              <a:tailEnd type="none" w="sm" len="sm"/>
            </a:ln>
            <a:effectLst/>
          </p:spPr>
        </p:cxnSp>
        <p:sp>
          <p:nvSpPr>
            <p:cNvPr id="94" name="Down Arrow 93"/>
            <p:cNvSpPr/>
            <p:nvPr/>
          </p:nvSpPr>
          <p:spPr bwMode="auto">
            <a:xfrm>
              <a:off x="7738538" y="3215422"/>
              <a:ext cx="304800" cy="304800"/>
            </a:xfrm>
            <a:prstGeom prst="downArrow">
              <a:avLst/>
            </a:prstGeom>
            <a:solidFill>
              <a:schemeClr val="tx2">
                <a:lumMod val="40000"/>
                <a:lumOff val="60000"/>
              </a:schemeClr>
            </a:solidFill>
            <a:ln w="12700" cap="flat" cmpd="sng" algn="ctr">
              <a:solidFill>
                <a:schemeClr val="tx1"/>
              </a:solidFill>
              <a:prstDash val="solid"/>
              <a:round/>
              <a:headEnd type="none" w="sm" len="sm"/>
              <a:tailEnd type="none" w="sm" len="sm"/>
            </a:ln>
            <a:effectLst/>
          </p:spPr>
          <p:txBody>
            <a:bodyPr/>
            <a:lstStyle/>
            <a:p>
              <a:pPr eaLnBrk="0" hangingPunct="0">
                <a:lnSpc>
                  <a:spcPct val="80000"/>
                </a:lnSpc>
                <a:spcBef>
                  <a:spcPct val="50000"/>
                </a:spcBef>
                <a:defRPr/>
              </a:pPr>
              <a:endParaRPr lang="en-US">
                <a:effectLst>
                  <a:outerShdw blurRad="38100" dist="38100" dir="2700000" algn="tl">
                    <a:srgbClr val="000000">
                      <a:alpha val="43137"/>
                    </a:srgbClr>
                  </a:outerShdw>
                </a:effectLst>
              </a:endParaRPr>
            </a:p>
          </p:txBody>
        </p:sp>
        <p:sp>
          <p:nvSpPr>
            <p:cNvPr id="95" name="TextBox 94"/>
            <p:cNvSpPr txBox="1"/>
            <p:nvPr/>
          </p:nvSpPr>
          <p:spPr>
            <a:xfrm>
              <a:off x="7200498" y="2841682"/>
              <a:ext cx="1378904" cy="400110"/>
            </a:xfrm>
            <a:prstGeom prst="rect">
              <a:avLst/>
            </a:prstGeom>
            <a:noFill/>
          </p:spPr>
          <p:txBody>
            <a:bodyPr wrap="none" rtlCol="0" anchor="ctr" anchorCtr="0">
              <a:spAutoFit/>
            </a:bodyPr>
            <a:lstStyle/>
            <a:p>
              <a:r>
                <a:rPr lang="en-US" sz="2000" dirty="0" smtClean="0">
                  <a:solidFill>
                    <a:schemeClr val="dk1"/>
                  </a:solidFill>
                  <a:effectLst/>
                </a:rPr>
                <a:t>Exit</a:t>
              </a:r>
              <a:r>
                <a:rPr lang="en-US" sz="2000" b="0" dirty="0" smtClean="0">
                  <a:solidFill>
                    <a:schemeClr val="dk1"/>
                  </a:solidFill>
                  <a:effectLst/>
                </a:rPr>
                <a:t> (post)</a:t>
              </a:r>
            </a:p>
          </p:txBody>
        </p:sp>
        <p:cxnSp>
          <p:nvCxnSpPr>
            <p:cNvPr id="96" name="Straight Connector 95"/>
            <p:cNvCxnSpPr/>
            <p:nvPr/>
          </p:nvCxnSpPr>
          <p:spPr bwMode="auto">
            <a:xfrm>
              <a:off x="7890938" y="3592792"/>
              <a:ext cx="0" cy="228600"/>
            </a:xfrm>
            <a:prstGeom prst="line">
              <a:avLst/>
            </a:prstGeom>
            <a:solidFill>
              <a:schemeClr val="accent1"/>
            </a:solidFill>
            <a:ln w="38100" cap="flat" cmpd="sng" algn="ctr">
              <a:solidFill>
                <a:schemeClr val="tx1"/>
              </a:solidFill>
              <a:prstDash val="solid"/>
              <a:round/>
              <a:headEnd type="none" w="sm" len="sm"/>
              <a:tailEnd type="none" w="sm" len="sm"/>
            </a:ln>
            <a:effectLst/>
          </p:spPr>
        </p:cxnSp>
        <p:cxnSp>
          <p:nvCxnSpPr>
            <p:cNvPr id="97" name="Straight Connector 96"/>
            <p:cNvCxnSpPr/>
            <p:nvPr/>
          </p:nvCxnSpPr>
          <p:spPr bwMode="auto">
            <a:xfrm>
              <a:off x="7903309" y="2457303"/>
              <a:ext cx="935891" cy="0"/>
            </a:xfrm>
            <a:prstGeom prst="line">
              <a:avLst/>
            </a:prstGeom>
            <a:solidFill>
              <a:schemeClr val="accent1"/>
            </a:solidFill>
            <a:ln w="57150" cap="flat" cmpd="sng" algn="ctr">
              <a:solidFill>
                <a:schemeClr val="tx2"/>
              </a:solidFill>
              <a:prstDash val="solid"/>
              <a:round/>
              <a:headEnd type="none" w="sm" len="sm"/>
              <a:tailEnd type="none" w="sm" len="sm"/>
            </a:ln>
            <a:effectLst/>
          </p:spPr>
        </p:cxnSp>
        <p:cxnSp>
          <p:nvCxnSpPr>
            <p:cNvPr id="98" name="Straight Connector 97"/>
            <p:cNvCxnSpPr/>
            <p:nvPr/>
          </p:nvCxnSpPr>
          <p:spPr bwMode="auto">
            <a:xfrm>
              <a:off x="7890938" y="2351040"/>
              <a:ext cx="0" cy="228600"/>
            </a:xfrm>
            <a:prstGeom prst="line">
              <a:avLst/>
            </a:prstGeom>
            <a:solidFill>
              <a:schemeClr val="accent1"/>
            </a:solidFill>
            <a:ln w="38100" cap="flat" cmpd="sng" algn="ctr">
              <a:solidFill>
                <a:schemeClr val="tx1"/>
              </a:solidFill>
              <a:prstDash val="solid"/>
              <a:round/>
              <a:headEnd type="none" w="sm" len="sm"/>
              <a:tailEnd type="none" w="sm" len="sm"/>
            </a:ln>
            <a:effectLst/>
          </p:spPr>
        </p:cxnSp>
        <p:sp>
          <p:nvSpPr>
            <p:cNvPr id="99" name="TextBox 98"/>
            <p:cNvSpPr txBox="1"/>
            <p:nvPr/>
          </p:nvSpPr>
          <p:spPr>
            <a:xfrm>
              <a:off x="7882048" y="2125868"/>
              <a:ext cx="1024639" cy="338554"/>
            </a:xfrm>
            <a:prstGeom prst="rect">
              <a:avLst/>
            </a:prstGeom>
            <a:noFill/>
          </p:spPr>
          <p:txBody>
            <a:bodyPr wrap="none" rtlCol="0" anchor="ctr" anchorCtr="0">
              <a:spAutoFit/>
            </a:bodyPr>
            <a:lstStyle/>
            <a:p>
              <a:r>
                <a:rPr lang="en-US" sz="1600" b="0" i="1" dirty="0" smtClean="0">
                  <a:solidFill>
                    <a:schemeClr val="dk1"/>
                  </a:solidFill>
                  <a:effectLst/>
                </a:rPr>
                <a:t>ACCESS</a:t>
              </a:r>
            </a:p>
          </p:txBody>
        </p:sp>
      </p:grpSp>
    </p:spTree>
    <p:extLst>
      <p:ext uri="{BB962C8B-B14F-4D97-AF65-F5344CB8AC3E}">
        <p14:creationId xmlns:p14="http://schemas.microsoft.com/office/powerpoint/2010/main" val="2744630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6"/>
          <p:cNvSpPr>
            <a:spLocks noGrp="1" noChangeArrowheads="1"/>
          </p:cNvSpPr>
          <p:nvPr>
            <p:ph type="title"/>
          </p:nvPr>
        </p:nvSpPr>
        <p:spPr/>
        <p:txBody>
          <a:bodyPr wrap="none" anchorCtr="1">
            <a:normAutofit/>
          </a:bodyPr>
          <a:lstStyle/>
          <a:p>
            <a:r>
              <a:rPr lang="en-US" smtClean="0"/>
              <a:t>Priority-based Semaphores</a:t>
            </a:r>
            <a:endParaRPr lang="en-US" dirty="0" smtClean="0"/>
          </a:p>
        </p:txBody>
      </p:sp>
      <p:sp>
        <p:nvSpPr>
          <p:cNvPr id="138" name="TextBox 137"/>
          <p:cNvSpPr txBox="1"/>
          <p:nvPr/>
        </p:nvSpPr>
        <p:spPr>
          <a:xfrm>
            <a:off x="228600" y="4201841"/>
            <a:ext cx="8665514" cy="461665"/>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b="0" smtClean="0">
                <a:solidFill>
                  <a:schemeClr val="dk1"/>
                </a:solidFill>
                <a:latin typeface="Calibri" pitchFamily="34" charset="0"/>
                <a:cs typeface="Calibri" pitchFamily="34" charset="0"/>
              </a:rPr>
              <a:t>If you use (priority-based) type Semaphores, the higher Pri gets it:</a:t>
            </a:r>
          </a:p>
        </p:txBody>
      </p:sp>
      <p:sp>
        <p:nvSpPr>
          <p:cNvPr id="47" name="TextBox 46"/>
          <p:cNvSpPr txBox="1"/>
          <p:nvPr/>
        </p:nvSpPr>
        <p:spPr>
          <a:xfrm>
            <a:off x="228600" y="6372834"/>
            <a:ext cx="7268656" cy="387798"/>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b="0" smtClean="0">
                <a:solidFill>
                  <a:schemeClr val="dk1"/>
                </a:solidFill>
                <a:effectLst/>
                <a:latin typeface="Calibri" pitchFamily="34" charset="0"/>
                <a:cs typeface="Calibri" pitchFamily="34" charset="0"/>
              </a:rPr>
              <a:t>Hi runs first, but doesn’t fix “post” before “pend” case</a:t>
            </a:r>
            <a:endParaRPr lang="en-US" b="0" dirty="0" smtClean="0">
              <a:solidFill>
                <a:schemeClr val="dk1"/>
              </a:solidFill>
              <a:effectLst/>
              <a:latin typeface="Calibri" pitchFamily="34" charset="0"/>
              <a:cs typeface="Calibri" pitchFamily="34" charset="0"/>
            </a:endParaRPr>
          </a:p>
        </p:txBody>
      </p:sp>
      <p:sp>
        <p:nvSpPr>
          <p:cNvPr id="52" name="Rounded Rectangle 51"/>
          <p:cNvSpPr/>
          <p:nvPr/>
        </p:nvSpPr>
        <p:spPr bwMode="auto">
          <a:xfrm>
            <a:off x="223071" y="664534"/>
            <a:ext cx="8623553" cy="3505200"/>
          </a:xfrm>
          <a:prstGeom prst="round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53" name="Rounded Rectangle 52"/>
          <p:cNvSpPr/>
          <p:nvPr/>
        </p:nvSpPr>
        <p:spPr bwMode="auto">
          <a:xfrm>
            <a:off x="527872" y="1065031"/>
            <a:ext cx="1143000" cy="533400"/>
          </a:xfrm>
          <a:prstGeom prst="roundRect">
            <a:avLst/>
          </a:prstGeom>
          <a:solidFill>
            <a:schemeClr val="accent5">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9144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dirty="0" err="1" smtClean="0">
                <a:ln>
                  <a:noFill/>
                </a:ln>
                <a:solidFill>
                  <a:schemeClr val="dk1"/>
                </a:solidFill>
                <a:effectLst/>
                <a:latin typeface="Arial Narrow" pitchFamily="34" charset="0"/>
              </a:rPr>
              <a:t>Hwi</a:t>
            </a:r>
            <a:endParaRPr kumimoji="0" lang="en-US" b="0" i="0" u="none" strike="noStrike" cap="none" normalizeH="0" baseline="0" dirty="0" smtClean="0">
              <a:ln>
                <a:noFill/>
              </a:ln>
              <a:solidFill>
                <a:schemeClr val="dk1"/>
              </a:solidFill>
              <a:effectLst/>
              <a:latin typeface="Arial Narrow" pitchFamily="34" charset="0"/>
            </a:endParaRPr>
          </a:p>
        </p:txBody>
      </p:sp>
      <p:cxnSp>
        <p:nvCxnSpPr>
          <p:cNvPr id="54" name="Straight Connector 53"/>
          <p:cNvCxnSpPr/>
          <p:nvPr/>
        </p:nvCxnSpPr>
        <p:spPr bwMode="auto">
          <a:xfrm>
            <a:off x="5176072" y="1373461"/>
            <a:ext cx="1210694" cy="0"/>
          </a:xfrm>
          <a:prstGeom prst="line">
            <a:avLst/>
          </a:prstGeom>
          <a:solidFill>
            <a:schemeClr val="accent1"/>
          </a:solidFill>
          <a:ln w="57150" cap="flat" cmpd="sng" algn="ctr">
            <a:solidFill>
              <a:schemeClr val="tx2"/>
            </a:solidFill>
            <a:prstDash val="solid"/>
            <a:round/>
            <a:headEnd type="none" w="sm" len="sm"/>
            <a:tailEnd type="none" w="sm" len="sm"/>
          </a:ln>
          <a:effectLst/>
        </p:spPr>
      </p:cxnSp>
      <p:sp>
        <p:nvSpPr>
          <p:cNvPr id="55" name="Down Arrow 54"/>
          <p:cNvSpPr/>
          <p:nvPr/>
        </p:nvSpPr>
        <p:spPr bwMode="auto">
          <a:xfrm>
            <a:off x="5892167" y="1032373"/>
            <a:ext cx="304800" cy="304800"/>
          </a:xfrm>
          <a:prstGeom prst="downArrow">
            <a:avLst/>
          </a:prstGeom>
          <a:solidFill>
            <a:schemeClr val="tx2">
              <a:lumMod val="40000"/>
              <a:lumOff val="60000"/>
            </a:schemeClr>
          </a:solidFill>
          <a:ln w="12700" cap="flat" cmpd="sng" algn="ctr">
            <a:solidFill>
              <a:schemeClr val="tx1"/>
            </a:solidFill>
            <a:prstDash val="solid"/>
            <a:round/>
            <a:headEnd type="none" w="sm" len="sm"/>
            <a:tailEnd type="none" w="sm" len="sm"/>
          </a:ln>
          <a:effectLst/>
        </p:spPr>
        <p:txBody>
          <a:bodyPr/>
          <a:lstStyle/>
          <a:p>
            <a:pPr eaLnBrk="0" hangingPunct="0">
              <a:lnSpc>
                <a:spcPct val="80000"/>
              </a:lnSpc>
              <a:spcBef>
                <a:spcPct val="50000"/>
              </a:spcBef>
              <a:defRPr/>
            </a:pPr>
            <a:endParaRPr lang="en-US">
              <a:effectLst>
                <a:outerShdw blurRad="38100" dist="38100" dir="2700000" algn="tl">
                  <a:srgbClr val="000000">
                    <a:alpha val="43137"/>
                  </a:srgbClr>
                </a:outerShdw>
              </a:effectLst>
            </a:endParaRPr>
          </a:p>
        </p:txBody>
      </p:sp>
      <p:sp>
        <p:nvSpPr>
          <p:cNvPr id="58" name="TextBox 57"/>
          <p:cNvSpPr txBox="1"/>
          <p:nvPr/>
        </p:nvSpPr>
        <p:spPr>
          <a:xfrm>
            <a:off x="5717993" y="687661"/>
            <a:ext cx="668773" cy="400110"/>
          </a:xfrm>
          <a:prstGeom prst="rect">
            <a:avLst/>
          </a:prstGeom>
          <a:noFill/>
        </p:spPr>
        <p:txBody>
          <a:bodyPr wrap="none" rtlCol="0" anchor="ctr" anchorCtr="0">
            <a:spAutoFit/>
          </a:bodyPr>
          <a:lstStyle/>
          <a:p>
            <a:r>
              <a:rPr lang="en-US" sz="2000" b="0" dirty="0" smtClean="0">
                <a:solidFill>
                  <a:schemeClr val="dk1"/>
                </a:solidFill>
                <a:effectLst/>
              </a:rPr>
              <a:t>post</a:t>
            </a:r>
          </a:p>
        </p:txBody>
      </p:sp>
      <p:cxnSp>
        <p:nvCxnSpPr>
          <p:cNvPr id="59" name="Straight Connector 58"/>
          <p:cNvCxnSpPr/>
          <p:nvPr/>
        </p:nvCxnSpPr>
        <p:spPr bwMode="auto">
          <a:xfrm>
            <a:off x="1699900" y="3716164"/>
            <a:ext cx="732972" cy="0"/>
          </a:xfrm>
          <a:prstGeom prst="line">
            <a:avLst/>
          </a:prstGeom>
          <a:solidFill>
            <a:schemeClr val="accent1"/>
          </a:solidFill>
          <a:ln w="57150" cap="flat" cmpd="sng" algn="ctr">
            <a:solidFill>
              <a:schemeClr val="tx1"/>
            </a:solidFill>
            <a:prstDash val="solid"/>
            <a:round/>
            <a:headEnd type="none" w="sm" len="sm"/>
            <a:tailEnd type="none" w="sm" len="sm"/>
          </a:ln>
          <a:effectLst/>
        </p:spPr>
      </p:cxnSp>
      <p:sp>
        <p:nvSpPr>
          <p:cNvPr id="60" name="Down Arrow 59"/>
          <p:cNvSpPr/>
          <p:nvPr/>
        </p:nvSpPr>
        <p:spPr bwMode="auto">
          <a:xfrm>
            <a:off x="2313130" y="3215422"/>
            <a:ext cx="304800" cy="304800"/>
          </a:xfrm>
          <a:prstGeom prst="downArrow">
            <a:avLst/>
          </a:prstGeom>
          <a:solidFill>
            <a:schemeClr val="tx2">
              <a:lumMod val="40000"/>
              <a:lumOff val="60000"/>
            </a:schemeClr>
          </a:solidFill>
          <a:ln w="12700" cap="flat" cmpd="sng" algn="ctr">
            <a:solidFill>
              <a:schemeClr val="tx1"/>
            </a:solidFill>
            <a:prstDash val="solid"/>
            <a:round/>
            <a:headEnd type="none" w="sm" len="sm"/>
            <a:tailEnd type="none" w="sm" len="sm"/>
          </a:ln>
          <a:effectLst/>
        </p:spPr>
        <p:txBody>
          <a:bodyPr/>
          <a:lstStyle/>
          <a:p>
            <a:pPr eaLnBrk="0" hangingPunct="0">
              <a:lnSpc>
                <a:spcPct val="80000"/>
              </a:lnSpc>
              <a:spcBef>
                <a:spcPct val="50000"/>
              </a:spcBef>
              <a:defRPr/>
            </a:pPr>
            <a:endParaRPr lang="en-US">
              <a:effectLst>
                <a:outerShdw blurRad="38100" dist="38100" dir="2700000" algn="tl">
                  <a:srgbClr val="000000">
                    <a:alpha val="43137"/>
                  </a:srgbClr>
                </a:outerShdw>
              </a:effectLst>
            </a:endParaRPr>
          </a:p>
        </p:txBody>
      </p:sp>
      <p:sp>
        <p:nvSpPr>
          <p:cNvPr id="62" name="TextBox 61"/>
          <p:cNvSpPr txBox="1"/>
          <p:nvPr/>
        </p:nvSpPr>
        <p:spPr>
          <a:xfrm>
            <a:off x="1668760" y="2841682"/>
            <a:ext cx="1651414" cy="400110"/>
          </a:xfrm>
          <a:prstGeom prst="rect">
            <a:avLst/>
          </a:prstGeom>
          <a:noFill/>
        </p:spPr>
        <p:txBody>
          <a:bodyPr wrap="none" rtlCol="0" anchor="ctr" anchorCtr="0">
            <a:spAutoFit/>
          </a:bodyPr>
          <a:lstStyle/>
          <a:p>
            <a:r>
              <a:rPr lang="en-US" sz="2000" dirty="0" smtClean="0">
                <a:solidFill>
                  <a:schemeClr val="dk1"/>
                </a:solidFill>
                <a:effectLst/>
              </a:rPr>
              <a:t>Enter</a:t>
            </a:r>
            <a:r>
              <a:rPr lang="en-US" sz="2000" b="0" dirty="0" smtClean="0">
                <a:solidFill>
                  <a:schemeClr val="dk1"/>
                </a:solidFill>
                <a:effectLst/>
              </a:rPr>
              <a:t> (pend)</a:t>
            </a:r>
          </a:p>
        </p:txBody>
      </p:sp>
      <p:cxnSp>
        <p:nvCxnSpPr>
          <p:cNvPr id="63" name="Straight Connector 62"/>
          <p:cNvCxnSpPr/>
          <p:nvPr/>
        </p:nvCxnSpPr>
        <p:spPr bwMode="auto">
          <a:xfrm>
            <a:off x="6065325" y="2467302"/>
            <a:ext cx="515256" cy="0"/>
          </a:xfrm>
          <a:prstGeom prst="line">
            <a:avLst/>
          </a:prstGeom>
          <a:solidFill>
            <a:schemeClr val="accent1"/>
          </a:solidFill>
          <a:ln w="12700" cap="flat" cmpd="sng" algn="ctr">
            <a:solidFill>
              <a:schemeClr val="tx1"/>
            </a:solidFill>
            <a:prstDash val="solid"/>
            <a:round/>
            <a:headEnd type="none" w="sm" len="sm"/>
            <a:tailEnd type="none" w="sm" len="sm"/>
          </a:ln>
          <a:effectLst/>
        </p:spPr>
      </p:cxnSp>
      <p:sp>
        <p:nvSpPr>
          <p:cNvPr id="64" name="TextBox 63"/>
          <p:cNvSpPr txBox="1"/>
          <p:nvPr/>
        </p:nvSpPr>
        <p:spPr>
          <a:xfrm>
            <a:off x="4874902" y="687661"/>
            <a:ext cx="668773" cy="400110"/>
          </a:xfrm>
          <a:prstGeom prst="rect">
            <a:avLst/>
          </a:prstGeom>
          <a:noFill/>
        </p:spPr>
        <p:txBody>
          <a:bodyPr wrap="none" rtlCol="0" anchor="ctr" anchorCtr="0">
            <a:spAutoFit/>
          </a:bodyPr>
          <a:lstStyle/>
          <a:p>
            <a:r>
              <a:rPr lang="en-US" sz="2000" b="0" dirty="0" smtClean="0">
                <a:solidFill>
                  <a:schemeClr val="dk1"/>
                </a:solidFill>
                <a:effectLst/>
              </a:rPr>
              <a:t>INT!</a:t>
            </a:r>
          </a:p>
        </p:txBody>
      </p:sp>
      <p:cxnSp>
        <p:nvCxnSpPr>
          <p:cNvPr id="65" name="Straight Arrow Connector 64"/>
          <p:cNvCxnSpPr/>
          <p:nvPr/>
        </p:nvCxnSpPr>
        <p:spPr bwMode="auto">
          <a:xfrm>
            <a:off x="5165188" y="1036003"/>
            <a:ext cx="0" cy="304800"/>
          </a:xfrm>
          <a:prstGeom prst="straightConnector1">
            <a:avLst/>
          </a:prstGeom>
          <a:solidFill>
            <a:schemeClr val="accent1"/>
          </a:solidFill>
          <a:ln w="28575" cap="flat" cmpd="sng" algn="ctr">
            <a:solidFill>
              <a:schemeClr val="tx1"/>
            </a:solidFill>
            <a:prstDash val="solid"/>
            <a:round/>
            <a:headEnd type="none" w="sm" len="sm"/>
            <a:tailEnd type="arrow"/>
          </a:ln>
          <a:effectLst/>
        </p:spPr>
      </p:cxnSp>
      <p:sp>
        <p:nvSpPr>
          <p:cNvPr id="66" name="TextBox 65"/>
          <p:cNvSpPr txBox="1"/>
          <p:nvPr/>
        </p:nvSpPr>
        <p:spPr>
          <a:xfrm>
            <a:off x="3843197" y="3346832"/>
            <a:ext cx="723275" cy="369332"/>
          </a:xfrm>
          <a:prstGeom prst="rect">
            <a:avLst/>
          </a:prstGeom>
          <a:noFill/>
        </p:spPr>
        <p:txBody>
          <a:bodyPr wrap="none" rtlCol="0" anchor="ctr" anchorCtr="0">
            <a:spAutoFit/>
          </a:bodyPr>
          <a:lstStyle/>
          <a:p>
            <a:r>
              <a:rPr lang="en-US" sz="1800" b="0" i="1" dirty="0" smtClean="0">
                <a:solidFill>
                  <a:schemeClr val="dk1"/>
                </a:solidFill>
                <a:effectLst/>
              </a:rPr>
              <a:t>block</a:t>
            </a:r>
          </a:p>
        </p:txBody>
      </p:sp>
      <p:cxnSp>
        <p:nvCxnSpPr>
          <p:cNvPr id="68" name="Straight Connector 67"/>
          <p:cNvCxnSpPr/>
          <p:nvPr/>
        </p:nvCxnSpPr>
        <p:spPr bwMode="auto">
          <a:xfrm>
            <a:off x="6370125" y="1250089"/>
            <a:ext cx="0" cy="228600"/>
          </a:xfrm>
          <a:prstGeom prst="line">
            <a:avLst/>
          </a:prstGeom>
          <a:solidFill>
            <a:schemeClr val="accent1"/>
          </a:solidFill>
          <a:ln w="38100" cap="flat" cmpd="sng" algn="ctr">
            <a:solidFill>
              <a:schemeClr val="tx1"/>
            </a:solidFill>
            <a:prstDash val="solid"/>
            <a:round/>
            <a:headEnd type="none" w="sm" len="sm"/>
            <a:tailEnd type="none" w="sm" len="sm"/>
          </a:ln>
          <a:effectLst/>
        </p:spPr>
      </p:cxnSp>
      <p:cxnSp>
        <p:nvCxnSpPr>
          <p:cNvPr id="69" name="Straight Connector 68"/>
          <p:cNvCxnSpPr/>
          <p:nvPr/>
        </p:nvCxnSpPr>
        <p:spPr bwMode="auto">
          <a:xfrm>
            <a:off x="6065325" y="3596422"/>
            <a:ext cx="0" cy="228600"/>
          </a:xfrm>
          <a:prstGeom prst="line">
            <a:avLst/>
          </a:prstGeom>
          <a:solidFill>
            <a:schemeClr val="accent1"/>
          </a:solidFill>
          <a:ln w="38100" cap="flat" cmpd="sng" algn="ctr">
            <a:solidFill>
              <a:schemeClr val="tx1"/>
            </a:solidFill>
            <a:prstDash val="solid"/>
            <a:round/>
            <a:headEnd type="none" w="sm" len="sm"/>
            <a:tailEnd type="none" w="sm" len="sm"/>
          </a:ln>
          <a:effectLst/>
        </p:spPr>
      </p:cxnSp>
      <p:sp>
        <p:nvSpPr>
          <p:cNvPr id="70" name="Rounded Rectangle 69"/>
          <p:cNvSpPr/>
          <p:nvPr/>
        </p:nvSpPr>
        <p:spPr bwMode="auto">
          <a:xfrm>
            <a:off x="527872" y="3411364"/>
            <a:ext cx="1143000" cy="533400"/>
          </a:xfrm>
          <a:prstGeom prst="round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9144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dirty="0" smtClean="0">
                <a:ln>
                  <a:noFill/>
                </a:ln>
                <a:solidFill>
                  <a:schemeClr val="dk1"/>
                </a:solidFill>
                <a:effectLst/>
                <a:latin typeface="Arial Narrow" pitchFamily="34" charset="0"/>
              </a:rPr>
              <a:t>TSK Lo</a:t>
            </a:r>
          </a:p>
        </p:txBody>
      </p:sp>
      <p:cxnSp>
        <p:nvCxnSpPr>
          <p:cNvPr id="71" name="Straight Connector 70"/>
          <p:cNvCxnSpPr/>
          <p:nvPr/>
        </p:nvCxnSpPr>
        <p:spPr bwMode="auto">
          <a:xfrm>
            <a:off x="2451016" y="3596422"/>
            <a:ext cx="0" cy="228600"/>
          </a:xfrm>
          <a:prstGeom prst="line">
            <a:avLst/>
          </a:prstGeom>
          <a:solidFill>
            <a:schemeClr val="accent1"/>
          </a:solidFill>
          <a:ln w="38100" cap="flat" cmpd="sng" algn="ctr">
            <a:solidFill>
              <a:schemeClr val="tx1"/>
            </a:solidFill>
            <a:prstDash val="solid"/>
            <a:round/>
            <a:headEnd type="none" w="sm" len="sm"/>
            <a:tailEnd type="none" w="sm" len="sm"/>
          </a:ln>
          <a:effectLst/>
        </p:spPr>
      </p:cxnSp>
      <p:cxnSp>
        <p:nvCxnSpPr>
          <p:cNvPr id="72" name="Straight Connector 71"/>
          <p:cNvCxnSpPr/>
          <p:nvPr/>
        </p:nvCxnSpPr>
        <p:spPr bwMode="auto">
          <a:xfrm>
            <a:off x="6370125" y="2474682"/>
            <a:ext cx="1413938" cy="0"/>
          </a:xfrm>
          <a:prstGeom prst="line">
            <a:avLst/>
          </a:prstGeom>
          <a:solidFill>
            <a:schemeClr val="accent1"/>
          </a:solidFill>
          <a:ln w="57150" cap="flat" cmpd="sng" algn="ctr">
            <a:solidFill>
              <a:schemeClr val="tx2"/>
            </a:solidFill>
            <a:prstDash val="solid"/>
            <a:round/>
            <a:headEnd type="none" w="sm" len="sm"/>
            <a:tailEnd type="none" w="sm" len="sm"/>
          </a:ln>
          <a:effectLst/>
        </p:spPr>
      </p:cxnSp>
      <p:sp>
        <p:nvSpPr>
          <p:cNvPr id="73" name="TextBox 72"/>
          <p:cNvSpPr txBox="1"/>
          <p:nvPr/>
        </p:nvSpPr>
        <p:spPr>
          <a:xfrm>
            <a:off x="6568595" y="2135253"/>
            <a:ext cx="1024639" cy="338554"/>
          </a:xfrm>
          <a:prstGeom prst="rect">
            <a:avLst/>
          </a:prstGeom>
          <a:noFill/>
        </p:spPr>
        <p:txBody>
          <a:bodyPr wrap="none" rtlCol="0" anchor="ctr" anchorCtr="0">
            <a:spAutoFit/>
          </a:bodyPr>
          <a:lstStyle/>
          <a:p>
            <a:r>
              <a:rPr lang="en-US" sz="1600" b="0" i="1" dirty="0" smtClean="0">
                <a:solidFill>
                  <a:schemeClr val="dk1"/>
                </a:solidFill>
                <a:effectLst/>
              </a:rPr>
              <a:t>ACCESS</a:t>
            </a:r>
          </a:p>
        </p:txBody>
      </p:sp>
      <p:cxnSp>
        <p:nvCxnSpPr>
          <p:cNvPr id="74" name="Straight Connector 73"/>
          <p:cNvCxnSpPr/>
          <p:nvPr/>
        </p:nvCxnSpPr>
        <p:spPr bwMode="auto">
          <a:xfrm>
            <a:off x="3147700" y="2470782"/>
            <a:ext cx="1190172" cy="0"/>
          </a:xfrm>
          <a:prstGeom prst="line">
            <a:avLst/>
          </a:prstGeom>
          <a:solidFill>
            <a:schemeClr val="accent1"/>
          </a:solidFill>
          <a:ln w="57150" cap="flat" cmpd="sng" algn="ctr">
            <a:solidFill>
              <a:schemeClr val="tx1"/>
            </a:solidFill>
            <a:prstDash val="solid"/>
            <a:round/>
            <a:headEnd type="none" w="sm" len="sm"/>
            <a:tailEnd type="none" w="sm" len="sm"/>
          </a:ln>
          <a:effectLst/>
        </p:spPr>
      </p:cxnSp>
      <p:sp>
        <p:nvSpPr>
          <p:cNvPr id="75" name="Down Arrow 74"/>
          <p:cNvSpPr/>
          <p:nvPr/>
        </p:nvSpPr>
        <p:spPr bwMode="auto">
          <a:xfrm>
            <a:off x="4192137" y="1955526"/>
            <a:ext cx="304800" cy="304800"/>
          </a:xfrm>
          <a:prstGeom prst="downArrow">
            <a:avLst/>
          </a:prstGeom>
          <a:solidFill>
            <a:schemeClr val="tx2">
              <a:lumMod val="40000"/>
              <a:lumOff val="60000"/>
            </a:schemeClr>
          </a:solidFill>
          <a:ln w="12700" cap="flat" cmpd="sng" algn="ctr">
            <a:solidFill>
              <a:schemeClr val="tx1"/>
            </a:solidFill>
            <a:prstDash val="solid"/>
            <a:round/>
            <a:headEnd type="none" w="sm" len="sm"/>
            <a:tailEnd type="none" w="sm" len="sm"/>
          </a:ln>
          <a:effectLst/>
        </p:spPr>
        <p:txBody>
          <a:bodyPr/>
          <a:lstStyle/>
          <a:p>
            <a:pPr eaLnBrk="0" hangingPunct="0">
              <a:lnSpc>
                <a:spcPct val="80000"/>
              </a:lnSpc>
              <a:spcBef>
                <a:spcPct val="50000"/>
              </a:spcBef>
              <a:defRPr/>
            </a:pPr>
            <a:endParaRPr lang="en-US">
              <a:effectLst>
                <a:outerShdw blurRad="38100" dist="38100" dir="2700000" algn="tl">
                  <a:srgbClr val="000000">
                    <a:alpha val="43137"/>
                  </a:srgbClr>
                </a:outerShdw>
              </a:effectLst>
            </a:endParaRPr>
          </a:p>
        </p:txBody>
      </p:sp>
      <p:sp>
        <p:nvSpPr>
          <p:cNvPr id="76" name="TextBox 75"/>
          <p:cNvSpPr txBox="1"/>
          <p:nvPr/>
        </p:nvSpPr>
        <p:spPr>
          <a:xfrm>
            <a:off x="3563127" y="1596300"/>
            <a:ext cx="1651414" cy="400110"/>
          </a:xfrm>
          <a:prstGeom prst="rect">
            <a:avLst/>
          </a:prstGeom>
          <a:noFill/>
        </p:spPr>
        <p:txBody>
          <a:bodyPr wrap="none" rtlCol="0" anchor="ctr" anchorCtr="0">
            <a:spAutoFit/>
          </a:bodyPr>
          <a:lstStyle/>
          <a:p>
            <a:r>
              <a:rPr lang="en-US" sz="2000" dirty="0" smtClean="0">
                <a:solidFill>
                  <a:schemeClr val="dk1"/>
                </a:solidFill>
                <a:effectLst/>
              </a:rPr>
              <a:t>Enter</a:t>
            </a:r>
            <a:r>
              <a:rPr lang="en-US" sz="2000" b="0" dirty="0" smtClean="0">
                <a:solidFill>
                  <a:schemeClr val="dk1"/>
                </a:solidFill>
                <a:effectLst/>
              </a:rPr>
              <a:t> (pend)</a:t>
            </a:r>
          </a:p>
        </p:txBody>
      </p:sp>
      <p:sp>
        <p:nvSpPr>
          <p:cNvPr id="77" name="TextBox 76"/>
          <p:cNvSpPr txBox="1"/>
          <p:nvPr/>
        </p:nvSpPr>
        <p:spPr>
          <a:xfrm>
            <a:off x="4490272" y="2115964"/>
            <a:ext cx="1479892" cy="369332"/>
          </a:xfrm>
          <a:prstGeom prst="rect">
            <a:avLst/>
          </a:prstGeom>
          <a:noFill/>
        </p:spPr>
        <p:txBody>
          <a:bodyPr wrap="none" rtlCol="0" anchor="ctr" anchorCtr="0">
            <a:spAutoFit/>
          </a:bodyPr>
          <a:lstStyle/>
          <a:p>
            <a:r>
              <a:rPr lang="en-US" sz="1800" b="0" i="1" dirty="0" smtClean="0">
                <a:solidFill>
                  <a:schemeClr val="dk1"/>
                </a:solidFill>
                <a:effectLst/>
              </a:rPr>
              <a:t>BLOCKED !!</a:t>
            </a:r>
          </a:p>
        </p:txBody>
      </p:sp>
      <p:sp>
        <p:nvSpPr>
          <p:cNvPr id="78" name="Rounded Rectangle 77"/>
          <p:cNvSpPr/>
          <p:nvPr/>
        </p:nvSpPr>
        <p:spPr bwMode="auto">
          <a:xfrm>
            <a:off x="527872" y="2165982"/>
            <a:ext cx="1143000" cy="533400"/>
          </a:xfrm>
          <a:prstGeom prst="round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9144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0" i="0" u="none" strike="noStrike" cap="none" normalizeH="0" baseline="0" dirty="0" smtClean="0">
                <a:ln>
                  <a:noFill/>
                </a:ln>
                <a:solidFill>
                  <a:schemeClr val="dk1"/>
                </a:solidFill>
                <a:effectLst/>
                <a:latin typeface="Arial Narrow" pitchFamily="34" charset="0"/>
              </a:rPr>
              <a:t>TSK Hi</a:t>
            </a:r>
          </a:p>
        </p:txBody>
      </p:sp>
      <p:cxnSp>
        <p:nvCxnSpPr>
          <p:cNvPr id="79" name="Straight Connector 78"/>
          <p:cNvCxnSpPr/>
          <p:nvPr/>
        </p:nvCxnSpPr>
        <p:spPr bwMode="auto">
          <a:xfrm>
            <a:off x="4337872" y="2351040"/>
            <a:ext cx="0" cy="228600"/>
          </a:xfrm>
          <a:prstGeom prst="line">
            <a:avLst/>
          </a:prstGeom>
          <a:solidFill>
            <a:schemeClr val="accent1"/>
          </a:solidFill>
          <a:ln w="38100" cap="flat" cmpd="sng" algn="ctr">
            <a:solidFill>
              <a:schemeClr val="tx1"/>
            </a:solidFill>
            <a:prstDash val="solid"/>
            <a:round/>
            <a:headEnd type="none" w="sm" len="sm"/>
            <a:tailEnd type="none" w="sm" len="sm"/>
          </a:ln>
          <a:effectLst/>
        </p:spPr>
      </p:cxnSp>
      <p:sp>
        <p:nvSpPr>
          <p:cNvPr id="80" name="TextBox 79"/>
          <p:cNvSpPr txBox="1"/>
          <p:nvPr/>
        </p:nvSpPr>
        <p:spPr>
          <a:xfrm>
            <a:off x="2813872" y="1734964"/>
            <a:ext cx="668773" cy="400110"/>
          </a:xfrm>
          <a:prstGeom prst="rect">
            <a:avLst/>
          </a:prstGeom>
          <a:noFill/>
        </p:spPr>
        <p:txBody>
          <a:bodyPr wrap="none" rtlCol="0" anchor="ctr" anchorCtr="0">
            <a:spAutoFit/>
          </a:bodyPr>
          <a:lstStyle/>
          <a:p>
            <a:r>
              <a:rPr lang="en-US" sz="2000" b="0" dirty="0" smtClean="0">
                <a:solidFill>
                  <a:schemeClr val="dk1"/>
                </a:solidFill>
                <a:effectLst/>
              </a:rPr>
              <a:t>INT!</a:t>
            </a:r>
          </a:p>
        </p:txBody>
      </p:sp>
      <p:cxnSp>
        <p:nvCxnSpPr>
          <p:cNvPr id="83" name="Straight Arrow Connector 82"/>
          <p:cNvCxnSpPr/>
          <p:nvPr/>
        </p:nvCxnSpPr>
        <p:spPr bwMode="auto">
          <a:xfrm>
            <a:off x="3104158" y="2083306"/>
            <a:ext cx="0" cy="304800"/>
          </a:xfrm>
          <a:prstGeom prst="straightConnector1">
            <a:avLst/>
          </a:prstGeom>
          <a:solidFill>
            <a:schemeClr val="accent1"/>
          </a:solidFill>
          <a:ln w="28575" cap="flat" cmpd="sng" algn="ctr">
            <a:solidFill>
              <a:schemeClr val="tx1"/>
            </a:solidFill>
            <a:prstDash val="solid"/>
            <a:round/>
            <a:headEnd type="none" w="sm" len="sm"/>
            <a:tailEnd type="arrow"/>
          </a:ln>
          <a:effectLst/>
        </p:spPr>
      </p:cxnSp>
      <p:cxnSp>
        <p:nvCxnSpPr>
          <p:cNvPr id="84" name="Straight Connector 83"/>
          <p:cNvCxnSpPr/>
          <p:nvPr/>
        </p:nvCxnSpPr>
        <p:spPr bwMode="auto">
          <a:xfrm>
            <a:off x="6370125" y="2351310"/>
            <a:ext cx="0" cy="228600"/>
          </a:xfrm>
          <a:prstGeom prst="line">
            <a:avLst/>
          </a:prstGeom>
          <a:solidFill>
            <a:schemeClr val="accent1"/>
          </a:solidFill>
          <a:ln w="38100" cap="flat" cmpd="sng" algn="ctr">
            <a:solidFill>
              <a:schemeClr val="tx1"/>
            </a:solidFill>
            <a:prstDash val="solid"/>
            <a:round/>
            <a:headEnd type="none" w="sm" len="sm"/>
            <a:tailEnd type="none" w="sm" len="sm"/>
          </a:ln>
          <a:effectLst/>
        </p:spPr>
      </p:cxnSp>
      <p:cxnSp>
        <p:nvCxnSpPr>
          <p:cNvPr id="85" name="Straight Connector 84"/>
          <p:cNvCxnSpPr/>
          <p:nvPr/>
        </p:nvCxnSpPr>
        <p:spPr bwMode="auto">
          <a:xfrm>
            <a:off x="4414072" y="2467936"/>
            <a:ext cx="1630495" cy="0"/>
          </a:xfrm>
          <a:prstGeom prst="line">
            <a:avLst/>
          </a:prstGeom>
          <a:solidFill>
            <a:schemeClr val="accent1"/>
          </a:solidFill>
          <a:ln w="38100" cap="flat" cmpd="sng" algn="ctr">
            <a:solidFill>
              <a:schemeClr val="tx1"/>
            </a:solidFill>
            <a:prstDash val="dash"/>
            <a:round/>
            <a:headEnd type="none" w="sm" len="sm"/>
            <a:tailEnd type="none" w="sm" len="sm"/>
          </a:ln>
          <a:effectLst/>
        </p:spPr>
      </p:cxnSp>
      <p:cxnSp>
        <p:nvCxnSpPr>
          <p:cNvPr id="87" name="Straight Connector 86"/>
          <p:cNvCxnSpPr/>
          <p:nvPr/>
        </p:nvCxnSpPr>
        <p:spPr bwMode="auto">
          <a:xfrm>
            <a:off x="2560125" y="3716164"/>
            <a:ext cx="3492254" cy="0"/>
          </a:xfrm>
          <a:prstGeom prst="line">
            <a:avLst/>
          </a:prstGeom>
          <a:solidFill>
            <a:schemeClr val="accent1"/>
          </a:solidFill>
          <a:ln w="38100" cap="flat" cmpd="sng" algn="ctr">
            <a:solidFill>
              <a:schemeClr val="tx1"/>
            </a:solidFill>
            <a:prstDash val="dash"/>
            <a:round/>
            <a:headEnd type="none" w="sm" len="sm"/>
            <a:tailEnd type="none" w="sm" len="sm"/>
          </a:ln>
          <a:effectLst/>
        </p:spPr>
      </p:cxnSp>
      <p:cxnSp>
        <p:nvCxnSpPr>
          <p:cNvPr id="90" name="Straight Connector 89"/>
          <p:cNvCxnSpPr/>
          <p:nvPr/>
        </p:nvCxnSpPr>
        <p:spPr bwMode="auto">
          <a:xfrm>
            <a:off x="6059583" y="1425273"/>
            <a:ext cx="0" cy="2115456"/>
          </a:xfrm>
          <a:prstGeom prst="line">
            <a:avLst/>
          </a:prstGeom>
          <a:solidFill>
            <a:schemeClr val="accent1"/>
          </a:solidFill>
          <a:ln w="12700" cap="flat" cmpd="sng" algn="ctr">
            <a:solidFill>
              <a:srgbClr val="FF0000"/>
            </a:solidFill>
            <a:prstDash val="solid"/>
            <a:round/>
            <a:headEnd type="none" w="sm" len="sm"/>
            <a:tailEnd type="none" w="sm" len="sm"/>
          </a:ln>
          <a:effectLst/>
        </p:spPr>
      </p:cxnSp>
      <p:sp>
        <p:nvSpPr>
          <p:cNvPr id="94" name="Down Arrow 93"/>
          <p:cNvSpPr/>
          <p:nvPr/>
        </p:nvSpPr>
        <p:spPr bwMode="auto">
          <a:xfrm>
            <a:off x="7631663" y="1973940"/>
            <a:ext cx="304800" cy="304800"/>
          </a:xfrm>
          <a:prstGeom prst="downArrow">
            <a:avLst/>
          </a:prstGeom>
          <a:solidFill>
            <a:schemeClr val="tx2">
              <a:lumMod val="40000"/>
              <a:lumOff val="60000"/>
            </a:schemeClr>
          </a:solidFill>
          <a:ln w="12700" cap="flat" cmpd="sng" algn="ctr">
            <a:solidFill>
              <a:schemeClr val="tx1"/>
            </a:solidFill>
            <a:prstDash val="solid"/>
            <a:round/>
            <a:headEnd type="none" w="sm" len="sm"/>
            <a:tailEnd type="none" w="sm" len="sm"/>
          </a:ln>
          <a:effectLst/>
        </p:spPr>
        <p:txBody>
          <a:bodyPr/>
          <a:lstStyle/>
          <a:p>
            <a:pPr eaLnBrk="0" hangingPunct="0">
              <a:lnSpc>
                <a:spcPct val="80000"/>
              </a:lnSpc>
              <a:spcBef>
                <a:spcPct val="50000"/>
              </a:spcBef>
              <a:defRPr/>
            </a:pPr>
            <a:endParaRPr lang="en-US">
              <a:effectLst>
                <a:outerShdw blurRad="38100" dist="38100" dir="2700000" algn="tl">
                  <a:srgbClr val="000000">
                    <a:alpha val="43137"/>
                  </a:srgbClr>
                </a:outerShdw>
              </a:effectLst>
            </a:endParaRPr>
          </a:p>
        </p:txBody>
      </p:sp>
      <p:sp>
        <p:nvSpPr>
          <p:cNvPr id="95" name="TextBox 94"/>
          <p:cNvSpPr txBox="1"/>
          <p:nvPr/>
        </p:nvSpPr>
        <p:spPr>
          <a:xfrm>
            <a:off x="7093623" y="1600200"/>
            <a:ext cx="1378904" cy="400110"/>
          </a:xfrm>
          <a:prstGeom prst="rect">
            <a:avLst/>
          </a:prstGeom>
          <a:noFill/>
        </p:spPr>
        <p:txBody>
          <a:bodyPr wrap="none" rtlCol="0" anchor="ctr" anchorCtr="0">
            <a:spAutoFit/>
          </a:bodyPr>
          <a:lstStyle/>
          <a:p>
            <a:r>
              <a:rPr lang="en-US" sz="2000" dirty="0" smtClean="0">
                <a:solidFill>
                  <a:schemeClr val="dk1"/>
                </a:solidFill>
                <a:effectLst/>
              </a:rPr>
              <a:t>Exit</a:t>
            </a:r>
            <a:r>
              <a:rPr lang="en-US" sz="2000" b="0" dirty="0" smtClean="0">
                <a:solidFill>
                  <a:schemeClr val="dk1"/>
                </a:solidFill>
                <a:effectLst/>
              </a:rPr>
              <a:t> (post)</a:t>
            </a:r>
          </a:p>
        </p:txBody>
      </p:sp>
      <p:cxnSp>
        <p:nvCxnSpPr>
          <p:cNvPr id="96" name="Straight Connector 95"/>
          <p:cNvCxnSpPr/>
          <p:nvPr/>
        </p:nvCxnSpPr>
        <p:spPr bwMode="auto">
          <a:xfrm>
            <a:off x="7784063" y="2351310"/>
            <a:ext cx="0" cy="228600"/>
          </a:xfrm>
          <a:prstGeom prst="line">
            <a:avLst/>
          </a:prstGeom>
          <a:solidFill>
            <a:schemeClr val="accent1"/>
          </a:solidFill>
          <a:ln w="38100" cap="flat" cmpd="sng" algn="ctr">
            <a:solidFill>
              <a:schemeClr val="tx1"/>
            </a:solidFill>
            <a:prstDash val="solid"/>
            <a:round/>
            <a:headEnd type="none" w="sm" len="sm"/>
            <a:tailEnd type="none" w="sm" len="sm"/>
          </a:ln>
          <a:effectLst/>
        </p:spPr>
      </p:cxnSp>
      <p:cxnSp>
        <p:nvCxnSpPr>
          <p:cNvPr id="56" name="Straight Connector 55"/>
          <p:cNvCxnSpPr/>
          <p:nvPr/>
        </p:nvCxnSpPr>
        <p:spPr bwMode="auto">
          <a:xfrm>
            <a:off x="6065325" y="3715987"/>
            <a:ext cx="1875678" cy="0"/>
          </a:xfrm>
          <a:prstGeom prst="line">
            <a:avLst/>
          </a:prstGeom>
          <a:solidFill>
            <a:schemeClr val="accent1"/>
          </a:solidFill>
          <a:ln w="38100" cap="flat" cmpd="sng" algn="ctr">
            <a:solidFill>
              <a:schemeClr val="tx1"/>
            </a:solidFill>
            <a:prstDash val="dash"/>
            <a:round/>
            <a:headEnd type="none" w="sm" len="sm"/>
            <a:tailEnd type="none" w="sm" len="sm"/>
          </a:ln>
          <a:effectLst/>
        </p:spPr>
      </p:cxnSp>
      <p:cxnSp>
        <p:nvCxnSpPr>
          <p:cNvPr id="57" name="Straight Connector 56"/>
          <p:cNvCxnSpPr/>
          <p:nvPr/>
        </p:nvCxnSpPr>
        <p:spPr bwMode="auto">
          <a:xfrm>
            <a:off x="7796434" y="3724811"/>
            <a:ext cx="935891" cy="0"/>
          </a:xfrm>
          <a:prstGeom prst="line">
            <a:avLst/>
          </a:prstGeom>
          <a:solidFill>
            <a:schemeClr val="accent1"/>
          </a:solidFill>
          <a:ln w="57150" cap="flat" cmpd="sng" algn="ctr">
            <a:solidFill>
              <a:schemeClr val="tx2"/>
            </a:solidFill>
            <a:prstDash val="solid"/>
            <a:round/>
            <a:headEnd type="none" w="sm" len="sm"/>
            <a:tailEnd type="none" w="sm" len="sm"/>
          </a:ln>
          <a:effectLst/>
        </p:spPr>
      </p:cxnSp>
      <p:cxnSp>
        <p:nvCxnSpPr>
          <p:cNvPr id="61" name="Straight Connector 60"/>
          <p:cNvCxnSpPr/>
          <p:nvPr/>
        </p:nvCxnSpPr>
        <p:spPr bwMode="auto">
          <a:xfrm>
            <a:off x="7784063" y="3618548"/>
            <a:ext cx="0" cy="228600"/>
          </a:xfrm>
          <a:prstGeom prst="line">
            <a:avLst/>
          </a:prstGeom>
          <a:solidFill>
            <a:schemeClr val="accent1"/>
          </a:solidFill>
          <a:ln w="38100" cap="flat" cmpd="sng" algn="ctr">
            <a:solidFill>
              <a:schemeClr val="tx1"/>
            </a:solidFill>
            <a:prstDash val="solid"/>
            <a:round/>
            <a:headEnd type="none" w="sm" len="sm"/>
            <a:tailEnd type="none" w="sm" len="sm"/>
          </a:ln>
          <a:effectLst/>
        </p:spPr>
      </p:cxnSp>
      <p:sp>
        <p:nvSpPr>
          <p:cNvPr id="67" name="TextBox 66"/>
          <p:cNvSpPr txBox="1"/>
          <p:nvPr/>
        </p:nvSpPr>
        <p:spPr>
          <a:xfrm>
            <a:off x="7775173" y="3393376"/>
            <a:ext cx="1024639" cy="338554"/>
          </a:xfrm>
          <a:prstGeom prst="rect">
            <a:avLst/>
          </a:prstGeom>
          <a:noFill/>
        </p:spPr>
        <p:txBody>
          <a:bodyPr wrap="none" rtlCol="0" anchor="ctr" anchorCtr="0">
            <a:spAutoFit/>
          </a:bodyPr>
          <a:lstStyle/>
          <a:p>
            <a:r>
              <a:rPr lang="en-US" sz="1600" b="0" i="1" dirty="0" smtClean="0">
                <a:solidFill>
                  <a:schemeClr val="dk1"/>
                </a:solidFill>
                <a:effectLst/>
              </a:rPr>
              <a:t>ACCESS</a:t>
            </a:r>
          </a:p>
        </p:txBody>
      </p:sp>
      <p:sp>
        <p:nvSpPr>
          <p:cNvPr id="6" name="Rounded Rectangle 5"/>
          <p:cNvSpPr/>
          <p:nvPr/>
        </p:nvSpPr>
        <p:spPr bwMode="auto">
          <a:xfrm>
            <a:off x="6196967" y="1596300"/>
            <a:ext cx="2275560" cy="1245382"/>
          </a:xfrm>
          <a:prstGeom prst="roundRect">
            <a:avLst/>
          </a:prstGeom>
          <a:noFill/>
          <a:ln w="12700" cap="flat" cmpd="sng" algn="ctr">
            <a:solidFill>
              <a:schemeClr val="tx2"/>
            </a:solidFill>
            <a:prstDash val="dash"/>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pic>
        <p:nvPicPr>
          <p:cNvPr id="2" name="Picture 2" descr="C:\Users\a0159877\AppData\Local\Temp\SNAGHTMLf12a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9570" y="4663506"/>
            <a:ext cx="4486830" cy="1813494"/>
          </a:xfrm>
          <a:prstGeom prst="rect">
            <a:avLst/>
          </a:prstGeom>
          <a:noFill/>
          <a:extLst>
            <a:ext uri="{909E8E84-426E-40DD-AFC4-6F175D3DCCD1}">
              <a14:hiddenFill xmlns:a14="http://schemas.microsoft.com/office/drawing/2010/main">
                <a:solidFill>
                  <a:srgbClr val="FFFFFF"/>
                </a:solidFill>
              </a14:hiddenFill>
            </a:ext>
          </a:extLst>
        </p:spPr>
      </p:pic>
      <p:sp>
        <p:nvSpPr>
          <p:cNvPr id="44" name="Leading Question"/>
          <p:cNvSpPr txBox="1"/>
          <p:nvPr/>
        </p:nvSpPr>
        <p:spPr>
          <a:xfrm>
            <a:off x="6974392" y="5943600"/>
            <a:ext cx="1846339" cy="246221"/>
          </a:xfrm>
          <a:prstGeom prst="rect">
            <a:avLst/>
          </a:prstGeom>
          <a:noFill/>
        </p:spPr>
        <p:txBody>
          <a:bodyPr vert="horz" wrap="none" lIns="0" tIns="0" rIns="0" bIns="0" rtlCol="0" anchor="b" anchorCtr="0">
            <a:spAutoFit/>
          </a:bodyPr>
          <a:lstStyle/>
          <a:p>
            <a:pPr algn="r">
              <a:lnSpc>
                <a:spcPct val="80000"/>
              </a:lnSpc>
            </a:pPr>
            <a:r>
              <a:rPr lang="en-US" sz="2000" b="0" smtClean="0">
                <a:solidFill>
                  <a:schemeClr val="tx2"/>
                </a:solidFill>
                <a:latin typeface="Arial Narrow"/>
              </a:rPr>
              <a:t>Other useful APIs…</a:t>
            </a:r>
            <a:endParaRPr lang="en-US" sz="2000" b="0" dirty="0" smtClean="0">
              <a:solidFill>
                <a:schemeClr val="tx2"/>
              </a:solidFill>
              <a:latin typeface="Arial Narrow"/>
            </a:endParaRPr>
          </a:p>
        </p:txBody>
      </p:sp>
    </p:spTree>
    <p:custDataLst>
      <p:tags r:id="rId1"/>
    </p:custDataLst>
    <p:extLst>
      <p:ext uri="{BB962C8B-B14F-4D97-AF65-F5344CB8AC3E}">
        <p14:creationId xmlns:p14="http://schemas.microsoft.com/office/powerpoint/2010/main" val="36283438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685800"/>
            <a:ext cx="5562600" cy="5638800"/>
          </a:xfrm>
          <a:prstGeom prst="rect">
            <a:avLst/>
          </a:prstGeom>
          <a:solidFill>
            <a:srgbClr val="92D050"/>
          </a:solidFill>
          <a:ln w="19050">
            <a:solidFill>
              <a:schemeClr val="tx1"/>
            </a:solidFill>
            <a:miter lim="800000"/>
            <a:headEnd type="none" w="sm" len="sm"/>
            <a:tailEnd type="none" w="sm" len="sm"/>
          </a:ln>
          <a:effectLst>
            <a:outerShdw blurRad="50800" dist="101600" dir="2700000" algn="tl" rotWithShape="0">
              <a:prstClr val="black">
                <a:alpha val="40000"/>
              </a:prstClr>
            </a:outerShdw>
          </a:effectLst>
        </p:spPr>
        <p:txBody>
          <a:bodyPr wrap="none" tIns="36576" bIns="36576"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1" cstate="print"/>
          <a:srcRect/>
          <a:stretch>
            <a:fillRect/>
          </a:stretch>
        </p:blipFill>
        <p:spPr bwMode="auto">
          <a:xfrm>
            <a:off x="6160824" y="1153041"/>
            <a:ext cx="2819400" cy="4172713"/>
          </a:xfrm>
          <a:prstGeom prst="rect">
            <a:avLst/>
          </a:prstGeom>
          <a:noFill/>
        </p:spPr>
      </p:pic>
      <p:pic>
        <p:nvPicPr>
          <p:cNvPr id="9" name="Animated Logo" descr="tilogo_color_twoline.png"/>
          <p:cNvPicPr>
            <a:picLocks noChangeAspect="1"/>
          </p:cNvPicPr>
          <p:nvPr/>
        </p:nvPicPr>
        <p:blipFill>
          <a:blip r:embed="rId12"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3" action="ppaction://hlinksldjump"/>
          </p:cNvPr>
          <p:cNvSpPr txBox="1">
            <a:spLocks noChangeArrowheads="1"/>
          </p:cNvSpPr>
          <p:nvPr>
            <p:custDataLst>
              <p:tags r:id="rId2"/>
            </p:custDataLst>
          </p:nvPr>
        </p:nvSpPr>
        <p:spPr bwMode="auto">
          <a:xfrm>
            <a:off x="301576" y="780433"/>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Tasks</a:t>
            </a:r>
            <a:endParaRPr lang="en-US" sz="2800" dirty="0">
              <a:solidFill>
                <a:srgbClr val="000000"/>
              </a:solidFill>
            </a:endParaRPr>
          </a:p>
        </p:txBody>
      </p:sp>
      <p:sp>
        <p:nvSpPr>
          <p:cNvPr id="11" name="Text Box 4">
            <a:hlinkClick r:id="rId14" action="ppaction://hlinksldjump"/>
          </p:cNvPr>
          <p:cNvSpPr txBox="1">
            <a:spLocks noChangeArrowheads="1"/>
          </p:cNvSpPr>
          <p:nvPr>
            <p:custDataLst>
              <p:tags r:id="rId3"/>
            </p:custDataLst>
          </p:nvPr>
        </p:nvSpPr>
        <p:spPr bwMode="auto">
          <a:xfrm>
            <a:off x="301576" y="1315250"/>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Swi vs. Task</a:t>
            </a:r>
            <a:endParaRPr lang="en-US" sz="2800" dirty="0">
              <a:solidFill>
                <a:srgbClr val="000000"/>
              </a:solidFill>
            </a:endParaRPr>
          </a:p>
        </p:txBody>
      </p:sp>
      <p:sp>
        <p:nvSpPr>
          <p:cNvPr id="12" name="Text Box 4">
            <a:hlinkClick r:id="rId15" action="ppaction://hlinksldjump"/>
          </p:cNvPr>
          <p:cNvSpPr txBox="1">
            <a:spLocks noChangeArrowheads="1"/>
          </p:cNvSpPr>
          <p:nvPr>
            <p:custDataLst>
              <p:tags r:id="rId4"/>
            </p:custDataLst>
          </p:nvPr>
        </p:nvSpPr>
        <p:spPr bwMode="auto">
          <a:xfrm>
            <a:off x="301576" y="1850067"/>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Semaphores</a:t>
            </a:r>
            <a:endParaRPr lang="en-US" sz="2800" dirty="0">
              <a:solidFill>
                <a:srgbClr val="000000"/>
              </a:solidFill>
            </a:endParaRPr>
          </a:p>
        </p:txBody>
      </p:sp>
      <p:sp>
        <p:nvSpPr>
          <p:cNvPr id="13" name="Text Box 3">
            <a:hlinkClick r:id="rId16" action="ppaction://hlinksldjump"/>
          </p:cNvPr>
          <p:cNvSpPr txBox="1">
            <a:spLocks noChangeArrowheads="1"/>
          </p:cNvSpPr>
          <p:nvPr>
            <p:custDataLst>
              <p:tags r:id="rId5"/>
            </p:custDataLst>
          </p:nvPr>
        </p:nvSpPr>
        <p:spPr bwMode="auto">
          <a:xfrm>
            <a:off x="304800" y="2384884"/>
            <a:ext cx="5562600" cy="4616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Other Useful APIs…</a:t>
            </a:r>
            <a:endParaRPr lang="en-US" sz="2800" dirty="0">
              <a:solidFill>
                <a:srgbClr val="000000"/>
              </a:solidFill>
            </a:endParaRPr>
          </a:p>
        </p:txBody>
      </p:sp>
      <p:sp>
        <p:nvSpPr>
          <p:cNvPr id="14" name="Text Box 4">
            <a:hlinkClick r:id="rId17" action="ppaction://hlinksldjump"/>
          </p:cNvPr>
          <p:cNvSpPr txBox="1">
            <a:spLocks noChangeArrowheads="1"/>
          </p:cNvSpPr>
          <p:nvPr>
            <p:custDataLst>
              <p:tags r:id="rId6"/>
            </p:custDataLst>
          </p:nvPr>
        </p:nvSpPr>
        <p:spPr bwMode="auto">
          <a:xfrm>
            <a:off x="301576" y="2919701"/>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Events</a:t>
            </a:r>
            <a:endParaRPr lang="en-US" sz="2800" dirty="0">
              <a:solidFill>
                <a:srgbClr val="000000"/>
              </a:solidFill>
            </a:endParaRPr>
          </a:p>
        </p:txBody>
      </p:sp>
      <p:sp>
        <p:nvSpPr>
          <p:cNvPr id="15" name="Text Box 4">
            <a:hlinkClick r:id="rId18" action="ppaction://hlinksldjump"/>
          </p:cNvPr>
          <p:cNvSpPr txBox="1">
            <a:spLocks noChangeArrowheads="1"/>
          </p:cNvSpPr>
          <p:nvPr>
            <p:custDataLst>
              <p:tags r:id="rId7"/>
            </p:custDataLst>
          </p:nvPr>
        </p:nvSpPr>
        <p:spPr bwMode="auto">
          <a:xfrm>
            <a:off x="301576" y="3454518"/>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6" name="Text Box 4">
            <a:hlinkClick r:id="rId19" action="ppaction://hlinksldjump"/>
          </p:cNvPr>
          <p:cNvSpPr txBox="1">
            <a:spLocks noChangeArrowheads="1"/>
          </p:cNvSpPr>
          <p:nvPr>
            <p:custDataLst>
              <p:tags r:id="rId8"/>
            </p:custDataLst>
          </p:nvPr>
        </p:nvSpPr>
        <p:spPr bwMode="auto">
          <a:xfrm>
            <a:off x="301576" y="3989335"/>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Memory Footprint</a:t>
            </a:r>
            <a:endParaRPr lang="en-US" sz="2800" dirty="0">
              <a:solidFill>
                <a:srgbClr val="000000"/>
              </a:solidFill>
            </a:endParaRPr>
          </a:p>
        </p:txBody>
      </p:sp>
      <p:sp>
        <p:nvSpPr>
          <p:cNvPr id="17" name="Text Box 4">
            <a:hlinkClick r:id="rId20" action="ppaction://hlinksldjump"/>
          </p:cNvPr>
          <p:cNvSpPr txBox="1">
            <a:spLocks noChangeArrowheads="1"/>
          </p:cNvSpPr>
          <p:nvPr>
            <p:custDataLst>
              <p:tags r:id="rId9"/>
            </p:custDataLst>
          </p:nvPr>
        </p:nvSpPr>
        <p:spPr bwMode="auto">
          <a:xfrm>
            <a:off x="301576" y="4524152"/>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3994392219"/>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dirty="0" smtClean="0"/>
              <a:t>SYS/BIOS Semaphore/Task APIs</a:t>
            </a:r>
          </a:p>
        </p:txBody>
      </p:sp>
      <p:sp>
        <p:nvSpPr>
          <p:cNvPr id="14" name="TextBox 13"/>
          <p:cNvSpPr txBox="1"/>
          <p:nvPr/>
        </p:nvSpPr>
        <p:spPr>
          <a:xfrm>
            <a:off x="533400" y="1041776"/>
            <a:ext cx="8077200" cy="482224"/>
          </a:xfrm>
          <a:prstGeom prst="rect">
            <a:avLst/>
          </a:prstGeom>
          <a:solidFill>
            <a:schemeClr val="accent3">
              <a:lumMod val="40000"/>
              <a:lumOff val="60000"/>
            </a:schemeClr>
          </a:solidFill>
          <a:ln>
            <a:solidFill>
              <a:schemeClr val="tx1"/>
            </a:solidFill>
          </a:ln>
          <a:effectLst>
            <a:outerShdw blurRad="50800" dist="76200" dir="2700000" algn="tl" rotWithShape="0">
              <a:prstClr val="black">
                <a:alpha val="40000"/>
              </a:prstClr>
            </a:outerShdw>
          </a:effectLst>
        </p:spPr>
        <p:txBody>
          <a:bodyPr wrap="none" rtlCol="0" anchor="ctr" anchorCtr="1">
            <a:noAutofit/>
          </a:bodyPr>
          <a:lstStyle/>
          <a:p>
            <a:r>
              <a:rPr lang="en-US" b="0" dirty="0" err="1" smtClean="0">
                <a:latin typeface="Courier New" pitchFamily="49" charset="0"/>
                <a:cs typeface="Courier New" pitchFamily="49" charset="0"/>
              </a:rPr>
              <a:t>Semaphore_getCount</a:t>
            </a:r>
            <a:r>
              <a:rPr lang="en-US" b="0" dirty="0" smtClean="0">
                <a:latin typeface="Courier New" pitchFamily="49" charset="0"/>
                <a:cs typeface="Courier New" pitchFamily="49" charset="0"/>
              </a:rPr>
              <a:t>()	</a:t>
            </a:r>
            <a:r>
              <a:rPr lang="en-US" dirty="0" smtClean="0">
                <a:latin typeface="Courier New" pitchFamily="49" charset="0"/>
                <a:cs typeface="Courier New" pitchFamily="49" charset="0"/>
              </a:rPr>
              <a:t>	</a:t>
            </a:r>
            <a:r>
              <a:rPr lang="en-US" b="0" dirty="0" smtClean="0">
                <a:latin typeface="Calibri" pitchFamily="34" charset="0"/>
                <a:cs typeface="Calibri" pitchFamily="34" charset="0"/>
              </a:rPr>
              <a:t>Get semaphore count</a:t>
            </a:r>
          </a:p>
        </p:txBody>
      </p:sp>
      <p:sp>
        <p:nvSpPr>
          <p:cNvPr id="15" name="TextBox 14"/>
          <p:cNvSpPr txBox="1"/>
          <p:nvPr/>
        </p:nvSpPr>
        <p:spPr>
          <a:xfrm>
            <a:off x="381000" y="590264"/>
            <a:ext cx="4656788" cy="445635"/>
          </a:xfrm>
          <a:prstGeom prst="rect">
            <a:avLst/>
          </a:prstGeom>
          <a:noFill/>
        </p:spPr>
        <p:txBody>
          <a:bodyPr wrap="none" rtlCol="0">
            <a:spAutoFit/>
          </a:bodyPr>
          <a:lstStyle/>
          <a:p>
            <a:r>
              <a:rPr lang="en-US" sz="2800" dirty="0" smtClean="0">
                <a:latin typeface="Calibri" pitchFamily="34" charset="0"/>
                <a:cs typeface="Calibri" pitchFamily="34" charset="0"/>
              </a:rPr>
              <a:t>Other useful Semaphore APIs:</a:t>
            </a:r>
            <a:endParaRPr lang="en-US" sz="2800" dirty="0">
              <a:latin typeface="Calibri" pitchFamily="34" charset="0"/>
              <a:cs typeface="Calibri" pitchFamily="34" charset="0"/>
            </a:endParaRPr>
          </a:p>
        </p:txBody>
      </p:sp>
      <p:sp>
        <p:nvSpPr>
          <p:cNvPr id="11" name="TextBox 10"/>
          <p:cNvSpPr txBox="1"/>
          <p:nvPr/>
        </p:nvSpPr>
        <p:spPr>
          <a:xfrm>
            <a:off x="997623" y="2245237"/>
            <a:ext cx="7391400" cy="4191000"/>
          </a:xfrm>
          <a:prstGeom prst="rect">
            <a:avLst/>
          </a:prstGeom>
          <a:solidFill>
            <a:schemeClr val="accent4">
              <a:lumMod val="20000"/>
              <a:lumOff val="80000"/>
            </a:schemeClr>
          </a:solidFill>
          <a:ln>
            <a:solidFill>
              <a:schemeClr val="tx1"/>
            </a:solidFill>
          </a:ln>
          <a:effectLst>
            <a:outerShdw blurRad="50800" dist="76200" dir="2700000" algn="tl" rotWithShape="0">
              <a:prstClr val="black">
                <a:alpha val="40000"/>
              </a:prstClr>
            </a:outerShdw>
          </a:effectLst>
        </p:spPr>
        <p:txBody>
          <a:bodyPr wrap="none" rtlCol="0" anchor="ctr" anchorCtr="1">
            <a:noAutofit/>
          </a:bodyPr>
          <a:lstStyle/>
          <a:p>
            <a:pPr>
              <a:lnSpc>
                <a:spcPct val="100000"/>
              </a:lnSpc>
              <a:spcBef>
                <a:spcPts val="600"/>
              </a:spcBef>
              <a:spcAft>
                <a:spcPts val="600"/>
              </a:spcAft>
            </a:pPr>
            <a:r>
              <a:rPr lang="en-US" b="0" dirty="0" err="1" smtClean="0">
                <a:latin typeface="Courier New" pitchFamily="49" charset="0"/>
                <a:cs typeface="Courier New" pitchFamily="49" charset="0"/>
              </a:rPr>
              <a:t>Task_sleep</a:t>
            </a:r>
            <a:r>
              <a:rPr lang="en-US" b="0" dirty="0" smtClean="0">
                <a:latin typeface="Courier New" pitchFamily="49" charset="0"/>
                <a:cs typeface="Courier New" pitchFamily="49" charset="0"/>
              </a:rPr>
              <a:t>	()		</a:t>
            </a:r>
            <a:r>
              <a:rPr lang="en-US" b="0" dirty="0" smtClean="0">
                <a:latin typeface="Calibri" pitchFamily="34" charset="0"/>
                <a:cs typeface="Calibri" pitchFamily="34" charset="0"/>
              </a:rPr>
              <a:t>Sleep for N system ticks</a:t>
            </a:r>
          </a:p>
          <a:p>
            <a:pPr>
              <a:lnSpc>
                <a:spcPct val="100000"/>
              </a:lnSpc>
              <a:spcBef>
                <a:spcPts val="600"/>
              </a:spcBef>
              <a:spcAft>
                <a:spcPts val="600"/>
              </a:spcAft>
            </a:pPr>
            <a:r>
              <a:rPr lang="en-US" b="0" dirty="0" err="1" smtClean="0">
                <a:latin typeface="Courier New" pitchFamily="49" charset="0"/>
                <a:cs typeface="Courier New" pitchFamily="49" charset="0"/>
              </a:rPr>
              <a:t>Task_yield</a:t>
            </a:r>
            <a:r>
              <a:rPr lang="en-US" b="0" dirty="0" smtClean="0">
                <a:latin typeface="Courier New" pitchFamily="49" charset="0"/>
                <a:cs typeface="Courier New" pitchFamily="49" charset="0"/>
              </a:rPr>
              <a:t>	()		</a:t>
            </a:r>
            <a:r>
              <a:rPr lang="en-US" b="0" dirty="0" smtClean="0">
                <a:latin typeface="Calibri" pitchFamily="34" charset="0"/>
                <a:cs typeface="Calibri" pitchFamily="34" charset="0"/>
              </a:rPr>
              <a:t>Yield to same </a:t>
            </a:r>
            <a:r>
              <a:rPr lang="en-US" b="0" dirty="0" err="1" smtClean="0">
                <a:latin typeface="Calibri" pitchFamily="34" charset="0"/>
                <a:cs typeface="Calibri" pitchFamily="34" charset="0"/>
              </a:rPr>
              <a:t>pri</a:t>
            </a:r>
            <a:r>
              <a:rPr lang="en-US" b="0" dirty="0" smtClean="0">
                <a:latin typeface="Calibri" pitchFamily="34" charset="0"/>
                <a:cs typeface="Calibri" pitchFamily="34" charset="0"/>
              </a:rPr>
              <a:t> Task</a:t>
            </a:r>
          </a:p>
          <a:p>
            <a:pPr>
              <a:lnSpc>
                <a:spcPct val="100000"/>
              </a:lnSpc>
              <a:spcBef>
                <a:spcPts val="600"/>
              </a:spcBef>
              <a:spcAft>
                <a:spcPts val="600"/>
              </a:spcAft>
            </a:pPr>
            <a:r>
              <a:rPr lang="en-US" b="0" dirty="0" err="1" smtClean="0">
                <a:latin typeface="Courier New" pitchFamily="49" charset="0"/>
                <a:cs typeface="Courier New" pitchFamily="49" charset="0"/>
              </a:rPr>
              <a:t>Task_setPri</a:t>
            </a:r>
            <a:r>
              <a:rPr lang="en-US" b="0" dirty="0" smtClean="0">
                <a:latin typeface="Courier New" pitchFamily="49" charset="0"/>
                <a:cs typeface="Courier New" pitchFamily="49" charset="0"/>
              </a:rPr>
              <a:t>()		</a:t>
            </a:r>
            <a:r>
              <a:rPr lang="en-US" b="0" dirty="0" smtClean="0">
                <a:latin typeface="Calibri" pitchFamily="34" charset="0"/>
                <a:cs typeface="Calibri" pitchFamily="34" charset="0"/>
              </a:rPr>
              <a:t>Set Task priority</a:t>
            </a:r>
          </a:p>
          <a:p>
            <a:pPr>
              <a:lnSpc>
                <a:spcPct val="100000"/>
              </a:lnSpc>
              <a:spcBef>
                <a:spcPts val="600"/>
              </a:spcBef>
              <a:spcAft>
                <a:spcPts val="600"/>
              </a:spcAft>
            </a:pPr>
            <a:r>
              <a:rPr lang="en-US" b="0" dirty="0" err="1" smtClean="0">
                <a:latin typeface="Courier New" pitchFamily="49" charset="0"/>
                <a:cs typeface="Courier New" pitchFamily="49" charset="0"/>
              </a:rPr>
              <a:t>Task_getPri</a:t>
            </a:r>
            <a:r>
              <a:rPr lang="en-US" b="0" dirty="0" smtClean="0">
                <a:latin typeface="Courier New" pitchFamily="49" charset="0"/>
                <a:cs typeface="Courier New" pitchFamily="49" charset="0"/>
              </a:rPr>
              <a:t>()		</a:t>
            </a:r>
            <a:r>
              <a:rPr lang="en-US" b="0" dirty="0" smtClean="0">
                <a:latin typeface="Calibri" pitchFamily="34" charset="0"/>
                <a:cs typeface="Calibri" pitchFamily="34" charset="0"/>
              </a:rPr>
              <a:t>Get Task priority</a:t>
            </a:r>
          </a:p>
          <a:p>
            <a:pPr>
              <a:lnSpc>
                <a:spcPct val="100000"/>
              </a:lnSpc>
              <a:spcBef>
                <a:spcPts val="600"/>
              </a:spcBef>
              <a:spcAft>
                <a:spcPts val="600"/>
              </a:spcAft>
            </a:pPr>
            <a:r>
              <a:rPr lang="en-US" b="0" dirty="0" err="1" smtClean="0">
                <a:latin typeface="Courier New" pitchFamily="49" charset="0"/>
                <a:cs typeface="Courier New" pitchFamily="49" charset="0"/>
              </a:rPr>
              <a:t>Task_get</a:t>
            </a:r>
            <a:r>
              <a:rPr lang="en-US" b="0" dirty="0" smtClean="0">
                <a:latin typeface="Courier New" pitchFamily="49" charset="0"/>
                <a:cs typeface="Courier New" pitchFamily="49" charset="0"/>
              </a:rPr>
              <a:t>/</a:t>
            </a:r>
            <a:r>
              <a:rPr lang="en-US" b="0" dirty="0" err="1" smtClean="0">
                <a:latin typeface="Courier New" pitchFamily="49" charset="0"/>
                <a:cs typeface="Courier New" pitchFamily="49" charset="0"/>
              </a:rPr>
              <a:t>setEnv</a:t>
            </a:r>
            <a:r>
              <a:rPr lang="en-US" b="0" dirty="0" smtClean="0">
                <a:latin typeface="Courier New" pitchFamily="49" charset="0"/>
                <a:cs typeface="Courier New" pitchFamily="49" charset="0"/>
              </a:rPr>
              <a:t>	()	</a:t>
            </a:r>
            <a:r>
              <a:rPr lang="en-US" b="0" dirty="0" smtClean="0">
                <a:latin typeface="Calibri" pitchFamily="34" charset="0"/>
                <a:cs typeface="Calibri" pitchFamily="34" charset="0"/>
              </a:rPr>
              <a:t>Get/set Task </a:t>
            </a:r>
            <a:r>
              <a:rPr lang="en-US" b="0" dirty="0" err="1" smtClean="0">
                <a:latin typeface="Calibri" pitchFamily="34" charset="0"/>
                <a:cs typeface="Calibri" pitchFamily="34" charset="0"/>
              </a:rPr>
              <a:t>Env</a:t>
            </a:r>
            <a:endParaRPr lang="en-US" b="0" dirty="0" smtClean="0">
              <a:latin typeface="Calibri" pitchFamily="34" charset="0"/>
              <a:cs typeface="Calibri" pitchFamily="34" charset="0"/>
            </a:endParaRPr>
          </a:p>
          <a:p>
            <a:pPr>
              <a:lnSpc>
                <a:spcPct val="100000"/>
              </a:lnSpc>
              <a:spcBef>
                <a:spcPts val="600"/>
              </a:spcBef>
              <a:spcAft>
                <a:spcPts val="600"/>
              </a:spcAft>
            </a:pPr>
            <a:r>
              <a:rPr lang="en-US" b="0" dirty="0" err="1" smtClean="0">
                <a:latin typeface="Courier New" pitchFamily="49" charset="0"/>
                <a:cs typeface="Courier New" pitchFamily="49" charset="0"/>
              </a:rPr>
              <a:t>Task_enable</a:t>
            </a:r>
            <a:r>
              <a:rPr lang="en-US" b="0" dirty="0" smtClean="0">
                <a:latin typeface="Courier New" pitchFamily="49" charset="0"/>
                <a:cs typeface="Courier New" pitchFamily="49" charset="0"/>
              </a:rPr>
              <a:t>()		</a:t>
            </a:r>
            <a:r>
              <a:rPr lang="en-US" b="0" dirty="0" smtClean="0">
                <a:latin typeface="Calibri" pitchFamily="34" charset="0"/>
                <a:cs typeface="Calibri" pitchFamily="34" charset="0"/>
              </a:rPr>
              <a:t>Enable Task Mgr</a:t>
            </a:r>
          </a:p>
          <a:p>
            <a:pPr>
              <a:lnSpc>
                <a:spcPct val="100000"/>
              </a:lnSpc>
              <a:spcBef>
                <a:spcPts val="600"/>
              </a:spcBef>
              <a:spcAft>
                <a:spcPts val="600"/>
              </a:spcAft>
            </a:pPr>
            <a:r>
              <a:rPr lang="en-US" b="0" dirty="0" err="1" smtClean="0">
                <a:latin typeface="Courier New" pitchFamily="49" charset="0"/>
                <a:cs typeface="Courier New" pitchFamily="49" charset="0"/>
              </a:rPr>
              <a:t>Task_disable</a:t>
            </a:r>
            <a:r>
              <a:rPr lang="en-US" b="0" dirty="0" smtClean="0">
                <a:latin typeface="Courier New" pitchFamily="49" charset="0"/>
                <a:cs typeface="Courier New" pitchFamily="49" charset="0"/>
              </a:rPr>
              <a:t>()		</a:t>
            </a:r>
            <a:r>
              <a:rPr lang="en-US" b="0" dirty="0" smtClean="0">
                <a:latin typeface="Calibri" pitchFamily="34" charset="0"/>
                <a:cs typeface="Calibri" pitchFamily="34" charset="0"/>
              </a:rPr>
              <a:t>Disable Task Mgr</a:t>
            </a:r>
          </a:p>
          <a:p>
            <a:pPr>
              <a:lnSpc>
                <a:spcPct val="100000"/>
              </a:lnSpc>
              <a:spcBef>
                <a:spcPts val="600"/>
              </a:spcBef>
              <a:spcAft>
                <a:spcPts val="600"/>
              </a:spcAft>
            </a:pPr>
            <a:r>
              <a:rPr lang="en-US" b="0" dirty="0" err="1" smtClean="0">
                <a:latin typeface="Courier New" pitchFamily="49" charset="0"/>
                <a:cs typeface="Courier New" pitchFamily="49" charset="0"/>
              </a:rPr>
              <a:t>Task_restore</a:t>
            </a:r>
            <a:r>
              <a:rPr lang="en-US" b="0" dirty="0" smtClean="0">
                <a:latin typeface="Courier New" pitchFamily="49" charset="0"/>
                <a:cs typeface="Courier New" pitchFamily="49" charset="0"/>
              </a:rPr>
              <a:t>()		</a:t>
            </a:r>
            <a:r>
              <a:rPr lang="en-US" b="0" dirty="0" smtClean="0">
                <a:latin typeface="Calibri" pitchFamily="34" charset="0"/>
                <a:cs typeface="Calibri" pitchFamily="34" charset="0"/>
              </a:rPr>
              <a:t>Restore Task Mgr</a:t>
            </a:r>
          </a:p>
        </p:txBody>
      </p:sp>
      <p:sp>
        <p:nvSpPr>
          <p:cNvPr id="12" name="TextBox 11"/>
          <p:cNvSpPr txBox="1"/>
          <p:nvPr/>
        </p:nvSpPr>
        <p:spPr>
          <a:xfrm>
            <a:off x="457200" y="1828800"/>
            <a:ext cx="4200252" cy="437043"/>
          </a:xfrm>
          <a:prstGeom prst="rect">
            <a:avLst/>
          </a:prstGeom>
          <a:noFill/>
        </p:spPr>
        <p:txBody>
          <a:bodyPr wrap="none" rtlCol="0">
            <a:spAutoFit/>
          </a:bodyPr>
          <a:lstStyle/>
          <a:p>
            <a:r>
              <a:rPr lang="en-US" sz="2800" dirty="0" smtClean="0"/>
              <a:t>Other useful Task APIs:</a:t>
            </a:r>
            <a:endParaRPr lang="en-US" sz="2800" dirty="0"/>
          </a:p>
        </p:txBody>
      </p:sp>
      <p:cxnSp>
        <p:nvCxnSpPr>
          <p:cNvPr id="16" name="Straight Connector 15"/>
          <p:cNvCxnSpPr/>
          <p:nvPr/>
        </p:nvCxnSpPr>
        <p:spPr bwMode="auto">
          <a:xfrm rot="5400000">
            <a:off x="4876800" y="1284767"/>
            <a:ext cx="457200" cy="0"/>
          </a:xfrm>
          <a:prstGeom prst="line">
            <a:avLst/>
          </a:prstGeom>
          <a:solidFill>
            <a:schemeClr val="accent1"/>
          </a:solidFill>
          <a:ln w="12700" cap="flat" cmpd="sng" algn="ctr">
            <a:solidFill>
              <a:schemeClr val="tx1"/>
            </a:solidFill>
            <a:prstDash val="solid"/>
            <a:round/>
            <a:headEnd type="none" w="sm" len="sm"/>
            <a:tailEnd type="none" w="sm" len="sm"/>
          </a:ln>
          <a:effectLst/>
        </p:spPr>
      </p:cxnSp>
      <p:cxnSp>
        <p:nvCxnSpPr>
          <p:cNvPr id="20" name="Straight Connector 19"/>
          <p:cNvCxnSpPr/>
          <p:nvPr/>
        </p:nvCxnSpPr>
        <p:spPr bwMode="auto">
          <a:xfrm rot="5400000">
            <a:off x="2561745" y="4349782"/>
            <a:ext cx="4172910" cy="0"/>
          </a:xfrm>
          <a:prstGeom prst="line">
            <a:avLst/>
          </a:prstGeom>
          <a:solidFill>
            <a:schemeClr val="accent1"/>
          </a:solidFill>
          <a:ln w="12700" cap="flat" cmpd="sng" algn="ctr">
            <a:solidFill>
              <a:schemeClr val="tx1"/>
            </a:solidFill>
            <a:prstDash val="solid"/>
            <a:round/>
            <a:headEnd type="none" w="sm" len="sm"/>
            <a:tailEnd type="none" w="sm" len="sm"/>
          </a:ln>
          <a:effectLst/>
        </p:spPr>
      </p:cxnSp>
      <p:cxnSp>
        <p:nvCxnSpPr>
          <p:cNvPr id="24" name="Straight Connector 23"/>
          <p:cNvCxnSpPr/>
          <p:nvPr/>
        </p:nvCxnSpPr>
        <p:spPr bwMode="auto">
          <a:xfrm>
            <a:off x="997623" y="3298389"/>
            <a:ext cx="7391400" cy="0"/>
          </a:xfrm>
          <a:prstGeom prst="line">
            <a:avLst/>
          </a:prstGeom>
          <a:solidFill>
            <a:schemeClr val="accent1"/>
          </a:solidFill>
          <a:ln w="12700" cap="flat" cmpd="sng" algn="ctr">
            <a:solidFill>
              <a:schemeClr val="tx1"/>
            </a:solidFill>
            <a:prstDash val="solid"/>
            <a:round/>
            <a:headEnd type="none" w="sm" len="sm"/>
            <a:tailEnd type="none" w="sm" len="sm"/>
          </a:ln>
          <a:effectLst/>
        </p:spPr>
      </p:cxnSp>
      <p:cxnSp>
        <p:nvCxnSpPr>
          <p:cNvPr id="27" name="Straight Connector 26"/>
          <p:cNvCxnSpPr/>
          <p:nvPr/>
        </p:nvCxnSpPr>
        <p:spPr bwMode="auto">
          <a:xfrm>
            <a:off x="997623" y="4861061"/>
            <a:ext cx="7391400" cy="0"/>
          </a:xfrm>
          <a:prstGeom prst="line">
            <a:avLst/>
          </a:prstGeom>
          <a:solidFill>
            <a:schemeClr val="accent1"/>
          </a:solidFill>
          <a:ln w="12700" cap="flat" cmpd="sng" algn="ctr">
            <a:solidFill>
              <a:schemeClr val="tx1"/>
            </a:solidFill>
            <a:prstDash val="solid"/>
            <a:round/>
            <a:headEnd type="none" w="sm" len="sm"/>
            <a:tailEnd type="none" w="sm" len="sm"/>
          </a:ln>
          <a:effectLst/>
        </p:spPr>
      </p:cxnSp>
      <p:pic>
        <p:nvPicPr>
          <p:cNvPr id="19"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Tree>
    <p:custDataLst>
      <p:tags r:id="rId1"/>
    </p:custData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685800"/>
            <a:ext cx="5562600" cy="5638800"/>
          </a:xfrm>
          <a:prstGeom prst="rect">
            <a:avLst/>
          </a:prstGeom>
          <a:solidFill>
            <a:srgbClr val="92D050"/>
          </a:solidFill>
          <a:ln w="19050">
            <a:solidFill>
              <a:schemeClr val="tx1"/>
            </a:solidFill>
            <a:miter lim="800000"/>
            <a:headEnd type="none" w="sm" len="sm"/>
            <a:tailEnd type="none" w="sm" len="sm"/>
          </a:ln>
          <a:effectLst>
            <a:outerShdw blurRad="50800" dist="101600" dir="2700000" algn="tl" rotWithShape="0">
              <a:prstClr val="black">
                <a:alpha val="40000"/>
              </a:prstClr>
            </a:outerShdw>
          </a:effectLst>
        </p:spPr>
        <p:txBody>
          <a:bodyPr wrap="none" tIns="36576" bIns="36576"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1" cstate="print"/>
          <a:srcRect/>
          <a:stretch>
            <a:fillRect/>
          </a:stretch>
        </p:blipFill>
        <p:spPr bwMode="auto">
          <a:xfrm>
            <a:off x="6160824" y="1153041"/>
            <a:ext cx="2819400" cy="4172713"/>
          </a:xfrm>
          <a:prstGeom prst="rect">
            <a:avLst/>
          </a:prstGeom>
          <a:noFill/>
        </p:spPr>
      </p:pic>
      <p:pic>
        <p:nvPicPr>
          <p:cNvPr id="9" name="Animated Logo" descr="tilogo_color_twoline.png"/>
          <p:cNvPicPr>
            <a:picLocks noChangeAspect="1"/>
          </p:cNvPicPr>
          <p:nvPr/>
        </p:nvPicPr>
        <p:blipFill>
          <a:blip r:embed="rId12"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3" action="ppaction://hlinksldjump"/>
          </p:cNvPr>
          <p:cNvSpPr txBox="1">
            <a:spLocks noChangeArrowheads="1"/>
          </p:cNvSpPr>
          <p:nvPr>
            <p:custDataLst>
              <p:tags r:id="rId2"/>
            </p:custDataLst>
          </p:nvPr>
        </p:nvSpPr>
        <p:spPr bwMode="auto">
          <a:xfrm>
            <a:off x="301576" y="780433"/>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Tasks</a:t>
            </a:r>
            <a:endParaRPr lang="en-US" sz="2800" dirty="0">
              <a:solidFill>
                <a:srgbClr val="000000"/>
              </a:solidFill>
            </a:endParaRPr>
          </a:p>
        </p:txBody>
      </p:sp>
      <p:sp>
        <p:nvSpPr>
          <p:cNvPr id="11" name="Text Box 4">
            <a:hlinkClick r:id="rId14" action="ppaction://hlinksldjump"/>
          </p:cNvPr>
          <p:cNvSpPr txBox="1">
            <a:spLocks noChangeArrowheads="1"/>
          </p:cNvSpPr>
          <p:nvPr>
            <p:custDataLst>
              <p:tags r:id="rId3"/>
            </p:custDataLst>
          </p:nvPr>
        </p:nvSpPr>
        <p:spPr bwMode="auto">
          <a:xfrm>
            <a:off x="301576" y="1315250"/>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Swi vs. Task</a:t>
            </a:r>
            <a:endParaRPr lang="en-US" sz="2800" dirty="0">
              <a:solidFill>
                <a:srgbClr val="000000"/>
              </a:solidFill>
            </a:endParaRPr>
          </a:p>
        </p:txBody>
      </p:sp>
      <p:sp>
        <p:nvSpPr>
          <p:cNvPr id="12" name="Text Box 4">
            <a:hlinkClick r:id="rId15" action="ppaction://hlinksldjump"/>
          </p:cNvPr>
          <p:cNvSpPr txBox="1">
            <a:spLocks noChangeArrowheads="1"/>
          </p:cNvSpPr>
          <p:nvPr>
            <p:custDataLst>
              <p:tags r:id="rId4"/>
            </p:custDataLst>
          </p:nvPr>
        </p:nvSpPr>
        <p:spPr bwMode="auto">
          <a:xfrm>
            <a:off x="301576" y="1850067"/>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Semaphores</a:t>
            </a:r>
            <a:endParaRPr lang="en-US" sz="2800" dirty="0">
              <a:solidFill>
                <a:srgbClr val="000000"/>
              </a:solidFill>
            </a:endParaRPr>
          </a:p>
        </p:txBody>
      </p:sp>
      <p:sp>
        <p:nvSpPr>
          <p:cNvPr id="13" name="Text Box 4">
            <a:hlinkClick r:id="rId16" action="ppaction://hlinksldjump"/>
          </p:cNvPr>
          <p:cNvSpPr txBox="1">
            <a:spLocks noChangeArrowheads="1"/>
          </p:cNvSpPr>
          <p:nvPr>
            <p:custDataLst>
              <p:tags r:id="rId5"/>
            </p:custDataLst>
          </p:nvPr>
        </p:nvSpPr>
        <p:spPr bwMode="auto">
          <a:xfrm>
            <a:off x="301576" y="2384884"/>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Other Useful APIs…</a:t>
            </a:r>
            <a:endParaRPr lang="en-US" sz="2800" dirty="0">
              <a:solidFill>
                <a:srgbClr val="000000"/>
              </a:solidFill>
            </a:endParaRPr>
          </a:p>
        </p:txBody>
      </p:sp>
      <p:sp>
        <p:nvSpPr>
          <p:cNvPr id="14" name="Text Box 3">
            <a:hlinkClick r:id="rId17" action="ppaction://hlinksldjump"/>
          </p:cNvPr>
          <p:cNvSpPr txBox="1">
            <a:spLocks noChangeArrowheads="1"/>
          </p:cNvSpPr>
          <p:nvPr>
            <p:custDataLst>
              <p:tags r:id="rId6"/>
            </p:custDataLst>
          </p:nvPr>
        </p:nvSpPr>
        <p:spPr bwMode="auto">
          <a:xfrm>
            <a:off x="304800" y="2919701"/>
            <a:ext cx="5562600" cy="4616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Events</a:t>
            </a:r>
            <a:endParaRPr lang="en-US" sz="2800" dirty="0">
              <a:solidFill>
                <a:srgbClr val="000000"/>
              </a:solidFill>
            </a:endParaRPr>
          </a:p>
        </p:txBody>
      </p:sp>
      <p:sp>
        <p:nvSpPr>
          <p:cNvPr id="15" name="Text Box 4">
            <a:hlinkClick r:id="rId18" action="ppaction://hlinksldjump"/>
          </p:cNvPr>
          <p:cNvSpPr txBox="1">
            <a:spLocks noChangeArrowheads="1"/>
          </p:cNvSpPr>
          <p:nvPr>
            <p:custDataLst>
              <p:tags r:id="rId7"/>
            </p:custDataLst>
          </p:nvPr>
        </p:nvSpPr>
        <p:spPr bwMode="auto">
          <a:xfrm>
            <a:off x="301576" y="3454518"/>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6" name="Text Box 4">
            <a:hlinkClick r:id="rId19" action="ppaction://hlinksldjump"/>
          </p:cNvPr>
          <p:cNvSpPr txBox="1">
            <a:spLocks noChangeArrowheads="1"/>
          </p:cNvSpPr>
          <p:nvPr>
            <p:custDataLst>
              <p:tags r:id="rId8"/>
            </p:custDataLst>
          </p:nvPr>
        </p:nvSpPr>
        <p:spPr bwMode="auto">
          <a:xfrm>
            <a:off x="301576" y="3989335"/>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Memory Footprint</a:t>
            </a:r>
            <a:endParaRPr lang="en-US" sz="2800" dirty="0">
              <a:solidFill>
                <a:srgbClr val="000000"/>
              </a:solidFill>
            </a:endParaRPr>
          </a:p>
        </p:txBody>
      </p:sp>
      <p:sp>
        <p:nvSpPr>
          <p:cNvPr id="17" name="Text Box 4">
            <a:hlinkClick r:id="rId20" action="ppaction://hlinksldjump"/>
          </p:cNvPr>
          <p:cNvSpPr txBox="1">
            <a:spLocks noChangeArrowheads="1"/>
          </p:cNvSpPr>
          <p:nvPr>
            <p:custDataLst>
              <p:tags r:id="rId9"/>
            </p:custDataLst>
          </p:nvPr>
        </p:nvSpPr>
        <p:spPr bwMode="auto">
          <a:xfrm>
            <a:off x="301576" y="4524152"/>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286838907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p:cNvSpPr>
            <a:spLocks noGrp="1" noChangeArrowheads="1"/>
          </p:cNvSpPr>
          <p:nvPr>
            <p:ph type="title"/>
          </p:nvPr>
        </p:nvSpPr>
        <p:spPr/>
        <p:txBody>
          <a:bodyPr/>
          <a:lstStyle/>
          <a:p>
            <a:r>
              <a:rPr lang="en-US" smtClean="0"/>
              <a:t>Using Events – Explicit Post/Pend</a:t>
            </a:r>
            <a:endParaRPr lang="en-US" dirty="0" smtClean="0"/>
          </a:p>
        </p:txBody>
      </p:sp>
      <p:graphicFrame>
        <p:nvGraphicFramePr>
          <p:cNvPr id="13" name="Table 12"/>
          <p:cNvGraphicFramePr>
            <a:graphicFrameLocks noGrp="1"/>
          </p:cNvGraphicFramePr>
          <p:nvPr>
            <p:extLst>
              <p:ext uri="{D42A27DB-BD31-4B8C-83A1-F6EECF244321}">
                <p14:modId xmlns:p14="http://schemas.microsoft.com/office/powerpoint/2010/main" val="3553868967"/>
              </p:ext>
            </p:extLst>
          </p:nvPr>
        </p:nvGraphicFramePr>
        <p:xfrm>
          <a:off x="3200400" y="874361"/>
          <a:ext cx="914400" cy="2560320"/>
        </p:xfrm>
        <a:graphic>
          <a:graphicData uri="http://schemas.openxmlformats.org/drawingml/2006/table">
            <a:tbl>
              <a:tblPr firstRow="1" bandRow="1">
                <a:tableStyleId>{5C22544A-7EE6-4342-B048-85BDC9FD1C3A}</a:tableStyleId>
              </a:tblPr>
              <a:tblGrid>
                <a:gridCol w="914400"/>
              </a:tblGrid>
              <a:tr h="299720">
                <a:tc>
                  <a:txBody>
                    <a:bodyPr/>
                    <a:lstStyle/>
                    <a:p>
                      <a:pPr algn="ctr"/>
                      <a:r>
                        <a:rPr lang="en-US" dirty="0" smtClean="0">
                          <a:solidFill>
                            <a:schemeClr val="tx1"/>
                          </a:solidFill>
                        </a:rPr>
                        <a:t>EV0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299720">
                <a:tc>
                  <a:txBody>
                    <a:bodyPr/>
                    <a:lstStyle/>
                    <a:p>
                      <a:pPr algn="ctr"/>
                      <a:r>
                        <a:rPr lang="en-US" b="1" dirty="0" smtClean="0">
                          <a:solidFill>
                            <a:schemeClr val="tx1"/>
                          </a:solidFill>
                        </a:rPr>
                        <a:t>EV1</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299720">
                <a:tc>
                  <a:txBody>
                    <a:bodyPr/>
                    <a:lstStyle/>
                    <a:p>
                      <a:pPr algn="ctr"/>
                      <a:r>
                        <a:rPr lang="en-US" b="1" dirty="0" smtClean="0">
                          <a:solidFill>
                            <a:schemeClr val="tx1"/>
                          </a:solidFill>
                        </a:rPr>
                        <a:t>EV2</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299720">
                <a:tc>
                  <a:txBody>
                    <a:bodyPr/>
                    <a:lstStyle/>
                    <a:p>
                      <a:pPr algn="ctr"/>
                      <a:r>
                        <a:rPr lang="en-US" b="1" dirty="0" smtClean="0">
                          <a:solidFill>
                            <a:schemeClr val="tx1"/>
                          </a:solidFill>
                        </a:rPr>
                        <a:t>EV3</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299720">
                <a:tc>
                  <a:txBody>
                    <a:bodyPr/>
                    <a:lstStyle/>
                    <a:p>
                      <a:pPr algn="ctr"/>
                      <a:r>
                        <a:rPr lang="en-US" b="1" dirty="0" smtClean="0">
                          <a:solidFill>
                            <a:schemeClr val="tx1"/>
                          </a:solidFill>
                        </a:rPr>
                        <a:t>EV4</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299720">
                <a:tc>
                  <a:txBody>
                    <a:bodyPr/>
                    <a:lstStyle/>
                    <a:p>
                      <a:pPr algn="ctr"/>
                      <a:r>
                        <a:rPr lang="en-US" b="1" smtClean="0">
                          <a:solidFill>
                            <a:schemeClr val="tx1"/>
                          </a:solidFill>
                        </a:rPr>
                        <a:t>…</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2997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smtClean="0">
                          <a:solidFill>
                            <a:schemeClr val="tx1"/>
                          </a:solidFill>
                        </a:rPr>
                        <a:t>EV31</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bl>
          </a:graphicData>
        </a:graphic>
      </p:graphicFrame>
      <p:sp>
        <p:nvSpPr>
          <p:cNvPr id="21" name="TextBox 20"/>
          <p:cNvSpPr txBox="1"/>
          <p:nvPr/>
        </p:nvSpPr>
        <p:spPr>
          <a:xfrm>
            <a:off x="457200" y="3597890"/>
            <a:ext cx="8305800" cy="2231573"/>
          </a:xfrm>
          <a:prstGeom prst="rect">
            <a:avLst/>
          </a:prstGeom>
          <a:noFill/>
        </p:spPr>
        <p:txBody>
          <a:bodyPr wrap="square" rtlCol="0" anchor="ctr" anchorCtr="0">
            <a:spAutoFit/>
          </a:bodyPr>
          <a:lstStyle/>
          <a:p>
            <a:pPr marL="342900" indent="-342900" eaLnBrk="1" hangingPunct="1">
              <a:spcBef>
                <a:spcPts val="700"/>
              </a:spcBef>
              <a:buClr>
                <a:srgbClr val="FF0000"/>
              </a:buClr>
              <a:buSzPct val="75000"/>
              <a:buFont typeface="Wingdings"/>
              <a:buChar char=""/>
            </a:pPr>
            <a:r>
              <a:rPr lang="en-US" b="0" dirty="0" err="1" smtClean="0">
                <a:solidFill>
                  <a:srgbClr val="000000"/>
                </a:solidFill>
                <a:latin typeface="Courier New" pitchFamily="49" charset="0"/>
                <a:cs typeface="Courier New" pitchFamily="49" charset="0"/>
              </a:rPr>
              <a:t>Semaphore_pend</a:t>
            </a:r>
            <a:r>
              <a:rPr lang="en-US" b="0" dirty="0" smtClean="0">
                <a:solidFill>
                  <a:srgbClr val="000000"/>
                </a:solidFill>
                <a:latin typeface="Courier New" pitchFamily="49" charset="0"/>
                <a:cs typeface="Courier New" pitchFamily="49" charset="0"/>
              </a:rPr>
              <a:t>()</a:t>
            </a:r>
            <a:r>
              <a:rPr lang="en-US" b="0" dirty="0" smtClean="0">
                <a:solidFill>
                  <a:srgbClr val="000000"/>
                </a:solidFill>
                <a:latin typeface="Calibri" pitchFamily="34" charset="0"/>
                <a:cs typeface="Calibri" pitchFamily="34" charset="0"/>
              </a:rPr>
              <a:t>only waits on </a:t>
            </a:r>
            <a:r>
              <a:rPr lang="en-US" b="0" u="sng" dirty="0" smtClean="0">
                <a:solidFill>
                  <a:srgbClr val="000000"/>
                </a:solidFill>
                <a:latin typeface="Calibri" pitchFamily="34" charset="0"/>
                <a:cs typeface="Calibri" pitchFamily="34" charset="0"/>
              </a:rPr>
              <a:t>one</a:t>
            </a:r>
            <a:r>
              <a:rPr lang="en-US" b="0" dirty="0" smtClean="0">
                <a:solidFill>
                  <a:srgbClr val="000000"/>
                </a:solidFill>
                <a:latin typeface="Calibri" pitchFamily="34" charset="0"/>
                <a:cs typeface="Calibri" pitchFamily="34" charset="0"/>
              </a:rPr>
              <a:t> flag – a semaphore. </a:t>
            </a:r>
          </a:p>
          <a:p>
            <a:pPr marL="342900" indent="-342900" eaLnBrk="1" hangingPunct="1">
              <a:spcBef>
                <a:spcPts val="700"/>
              </a:spcBef>
              <a:buClr>
                <a:srgbClr val="FF0000"/>
              </a:buClr>
              <a:buSzPct val="75000"/>
              <a:buFont typeface="Wingdings"/>
              <a:buChar char=""/>
            </a:pPr>
            <a:r>
              <a:rPr lang="en-US" dirty="0" smtClean="0">
                <a:solidFill>
                  <a:srgbClr val="FF0000"/>
                </a:solidFill>
                <a:latin typeface="Calibri" pitchFamily="34" charset="0"/>
                <a:cs typeface="Calibri" pitchFamily="34" charset="0"/>
              </a:rPr>
              <a:t>What if you want to “unblock” based on multiple events?</a:t>
            </a:r>
          </a:p>
          <a:p>
            <a:pPr marL="342900" indent="-342900" eaLnBrk="1" hangingPunct="1">
              <a:spcBef>
                <a:spcPts val="700"/>
              </a:spcBef>
              <a:buClr>
                <a:srgbClr val="FF0000"/>
              </a:buClr>
              <a:buSzPct val="75000"/>
              <a:buFont typeface="Wingdings"/>
              <a:buChar char=""/>
            </a:pPr>
            <a:r>
              <a:rPr lang="en-US" b="0" dirty="0" smtClean="0">
                <a:solidFill>
                  <a:srgbClr val="000000"/>
                </a:solidFill>
                <a:latin typeface="Calibri" pitchFamily="34" charset="0"/>
                <a:cs typeface="Calibri" pitchFamily="34" charset="0"/>
              </a:rPr>
              <a:t>Use </a:t>
            </a:r>
            <a:r>
              <a:rPr lang="en-US" b="0" u="sng" dirty="0" smtClean="0">
                <a:solidFill>
                  <a:srgbClr val="000000"/>
                </a:solidFill>
                <a:latin typeface="Calibri" pitchFamily="34" charset="0"/>
                <a:cs typeface="Calibri" pitchFamily="34" charset="0"/>
              </a:rPr>
              <a:t>Events</a:t>
            </a:r>
            <a:r>
              <a:rPr lang="en-US" b="0" dirty="0" smtClean="0">
                <a:solidFill>
                  <a:srgbClr val="000000"/>
                </a:solidFill>
                <a:latin typeface="Calibri" pitchFamily="34" charset="0"/>
                <a:cs typeface="Calibri" pitchFamily="34" charset="0"/>
              </a:rPr>
              <a:t>.  Can OR </a:t>
            </a:r>
            <a:r>
              <a:rPr lang="en-US" b="0" dirty="0" err="1" smtClean="0">
                <a:solidFill>
                  <a:srgbClr val="000000"/>
                </a:solidFill>
                <a:latin typeface="Calibri" pitchFamily="34" charset="0"/>
                <a:cs typeface="Calibri" pitchFamily="34" charset="0"/>
              </a:rPr>
              <a:t>or</a:t>
            </a:r>
            <a:r>
              <a:rPr lang="en-US" b="0" dirty="0" smtClean="0">
                <a:solidFill>
                  <a:srgbClr val="000000"/>
                </a:solidFill>
                <a:latin typeface="Calibri" pitchFamily="34" charset="0"/>
                <a:cs typeface="Calibri" pitchFamily="34" charset="0"/>
              </a:rPr>
              <a:t> AND event IDs with bit masks</a:t>
            </a:r>
          </a:p>
          <a:p>
            <a:pPr marL="342900" indent="-342900" eaLnBrk="1" hangingPunct="1">
              <a:spcBef>
                <a:spcPts val="700"/>
              </a:spcBef>
              <a:buClr>
                <a:srgbClr val="FF0000"/>
              </a:buClr>
              <a:buSzPct val="75000"/>
              <a:buFont typeface="Wingdings"/>
              <a:buChar char=""/>
            </a:pPr>
            <a:r>
              <a:rPr lang="en-US" b="0" dirty="0" smtClean="0">
                <a:solidFill>
                  <a:srgbClr val="000000"/>
                </a:solidFill>
                <a:latin typeface="Calibri" pitchFamily="34" charset="0"/>
                <a:cs typeface="Calibri" pitchFamily="34" charset="0"/>
              </a:rPr>
              <a:t>Events are “binary semaphores”. </a:t>
            </a:r>
            <a:r>
              <a:rPr lang="en-US" b="0" i="1" dirty="0" smtClean="0">
                <a:solidFill>
                  <a:srgbClr val="000000"/>
                </a:solidFill>
                <a:latin typeface="Calibri" pitchFamily="34" charset="0"/>
                <a:cs typeface="Calibri" pitchFamily="34" charset="0"/>
              </a:rPr>
              <a:t>Only one Task can block </a:t>
            </a:r>
            <a:r>
              <a:rPr lang="en-US" b="0" i="1" smtClean="0">
                <a:solidFill>
                  <a:srgbClr val="000000"/>
                </a:solidFill>
                <a:latin typeface="Calibri" pitchFamily="34" charset="0"/>
                <a:cs typeface="Calibri" pitchFamily="34" charset="0"/>
              </a:rPr>
              <a:t>on an </a:t>
            </a:r>
            <a:r>
              <a:rPr lang="en-US" b="0" i="1" dirty="0" err="1" smtClean="0">
                <a:solidFill>
                  <a:srgbClr val="000000"/>
                </a:solidFill>
                <a:latin typeface="Calibri" pitchFamily="34" charset="0"/>
                <a:cs typeface="Calibri" pitchFamily="34" charset="0"/>
              </a:rPr>
              <a:t>Evt</a:t>
            </a:r>
            <a:r>
              <a:rPr lang="en-US" b="0" i="1" dirty="0" smtClean="0">
                <a:solidFill>
                  <a:srgbClr val="000000"/>
                </a:solidFill>
                <a:latin typeface="Calibri" pitchFamily="34" charset="0"/>
                <a:cs typeface="Calibri" pitchFamily="34" charset="0"/>
              </a:rPr>
              <a:t> object at </a:t>
            </a:r>
            <a:r>
              <a:rPr lang="en-US" b="0" i="1" smtClean="0">
                <a:solidFill>
                  <a:srgbClr val="000000"/>
                </a:solidFill>
                <a:latin typeface="Calibri" pitchFamily="34" charset="0"/>
                <a:cs typeface="Calibri" pitchFamily="34" charset="0"/>
              </a:rPr>
              <a:t>a time </a:t>
            </a:r>
            <a:r>
              <a:rPr lang="en-US" b="0" smtClean="0">
                <a:solidFill>
                  <a:srgbClr val="000000"/>
                </a:solidFill>
                <a:latin typeface="Calibri" pitchFamily="34" charset="0"/>
                <a:cs typeface="Calibri" pitchFamily="34" charset="0"/>
              </a:rPr>
              <a:t>(can’t use as “mutex”).</a:t>
            </a:r>
            <a:endParaRPr lang="en-US" b="0" dirty="0" smtClean="0">
              <a:solidFill>
                <a:srgbClr val="000000"/>
              </a:solidFill>
              <a:latin typeface="Calibri" pitchFamily="34" charset="0"/>
              <a:cs typeface="Calibri" pitchFamily="34" charset="0"/>
            </a:endParaRPr>
          </a:p>
          <a:p>
            <a:pPr marL="342900" indent="-342900" eaLnBrk="1" hangingPunct="1">
              <a:spcBef>
                <a:spcPts val="700"/>
              </a:spcBef>
              <a:buClr>
                <a:srgbClr val="FF0000"/>
              </a:buClr>
              <a:buSzPct val="75000"/>
              <a:buFont typeface="Wingdings"/>
              <a:buChar char=""/>
            </a:pPr>
            <a:r>
              <a:rPr lang="en-US" b="0" dirty="0" smtClean="0">
                <a:solidFill>
                  <a:srgbClr val="000000"/>
                </a:solidFill>
                <a:latin typeface="Calibri" pitchFamily="34" charset="0"/>
                <a:cs typeface="Calibri" pitchFamily="34" charset="0"/>
              </a:rPr>
              <a:t>The key “Explicit Post” and Pend APIs are:</a:t>
            </a:r>
          </a:p>
        </p:txBody>
      </p:sp>
      <p:sp>
        <p:nvSpPr>
          <p:cNvPr id="26" name="TextBox 25"/>
          <p:cNvSpPr txBox="1"/>
          <p:nvPr/>
        </p:nvSpPr>
        <p:spPr>
          <a:xfrm>
            <a:off x="1047464" y="5890377"/>
            <a:ext cx="7162800" cy="836831"/>
          </a:xfrm>
          <a:prstGeom prst="rect">
            <a:avLst/>
          </a:prstGeom>
          <a:solidFill>
            <a:schemeClr val="accent5">
              <a:lumMod val="20000"/>
              <a:lumOff val="80000"/>
            </a:schemeClr>
          </a:solidFill>
          <a:ln w="19050">
            <a:solidFill>
              <a:schemeClr val="tx1"/>
            </a:solidFill>
          </a:ln>
          <a:effectLst>
            <a:outerShdw blurRad="50800" dist="76200" dir="2700000" algn="tl" rotWithShape="0">
              <a:prstClr val="black">
                <a:alpha val="40000"/>
              </a:prstClr>
            </a:outerShdw>
          </a:effectLst>
        </p:spPr>
        <p:txBody>
          <a:bodyPr wrap="square" rtlCol="0" anchor="ctr" anchorCtr="1">
            <a:noAutofit/>
          </a:bodyPr>
          <a:lstStyle/>
          <a:p>
            <a:pPr eaLnBrk="1" hangingPunct="1">
              <a:lnSpc>
                <a:spcPct val="100000"/>
              </a:lnSpc>
              <a:spcBef>
                <a:spcPts val="600"/>
              </a:spcBef>
            </a:pPr>
            <a:r>
              <a:rPr lang="en-US" sz="2000" dirty="0" err="1" smtClean="0">
                <a:solidFill>
                  <a:srgbClr val="000000"/>
                </a:solidFill>
                <a:latin typeface="Courier New" pitchFamily="49" charset="0"/>
                <a:cs typeface="Courier New" pitchFamily="49" charset="0"/>
              </a:rPr>
              <a:t>Event_post</a:t>
            </a:r>
            <a:r>
              <a:rPr lang="en-US" sz="2000" dirty="0" smtClean="0">
                <a:solidFill>
                  <a:srgbClr val="000000"/>
                </a:solidFill>
                <a:latin typeface="Courier New" pitchFamily="49" charset="0"/>
                <a:cs typeface="Courier New" pitchFamily="49" charset="0"/>
              </a:rPr>
              <a:t> (&amp;</a:t>
            </a:r>
            <a:r>
              <a:rPr lang="en-US" sz="2000" dirty="0" err="1" smtClean="0">
                <a:solidFill>
                  <a:srgbClr val="000000"/>
                </a:solidFill>
                <a:latin typeface="Courier New" pitchFamily="49" charset="0"/>
                <a:cs typeface="Courier New" pitchFamily="49" charset="0"/>
              </a:rPr>
              <a:t>Evt</a:t>
            </a:r>
            <a:r>
              <a:rPr lang="en-US" sz="2000" dirty="0" smtClean="0">
                <a:solidFill>
                  <a:srgbClr val="000000"/>
                </a:solidFill>
                <a:latin typeface="Courier New" pitchFamily="49" charset="0"/>
                <a:cs typeface="Courier New" pitchFamily="49" charset="0"/>
              </a:rPr>
              <a:t>, </a:t>
            </a:r>
            <a:r>
              <a:rPr lang="en-US" sz="2000" dirty="0" err="1" smtClean="0">
                <a:solidFill>
                  <a:srgbClr val="000000"/>
                </a:solidFill>
                <a:latin typeface="Courier New" pitchFamily="49" charset="0"/>
                <a:cs typeface="Courier New" pitchFamily="49" charset="0"/>
              </a:rPr>
              <a:t>Event_Id_xx</a:t>
            </a:r>
            <a:r>
              <a:rPr lang="en-US" sz="2000" dirty="0" smtClean="0">
                <a:solidFill>
                  <a:srgbClr val="000000"/>
                </a:solidFill>
                <a:latin typeface="Courier New" pitchFamily="49" charset="0"/>
                <a:cs typeface="Courier New" pitchFamily="49" charset="0"/>
              </a:rPr>
              <a:t>);</a:t>
            </a:r>
          </a:p>
          <a:p>
            <a:pPr eaLnBrk="1" hangingPunct="1">
              <a:lnSpc>
                <a:spcPct val="100000"/>
              </a:lnSpc>
              <a:spcBef>
                <a:spcPts val="600"/>
              </a:spcBef>
            </a:pPr>
            <a:r>
              <a:rPr lang="en-US" sz="2000" dirty="0" err="1" smtClean="0">
                <a:solidFill>
                  <a:srgbClr val="000000"/>
                </a:solidFill>
                <a:latin typeface="Courier New" pitchFamily="49" charset="0"/>
                <a:cs typeface="Courier New" pitchFamily="49" charset="0"/>
              </a:rPr>
              <a:t>Event_pend</a:t>
            </a:r>
            <a:r>
              <a:rPr lang="en-US" sz="2000" dirty="0" smtClean="0">
                <a:solidFill>
                  <a:srgbClr val="000000"/>
                </a:solidFill>
                <a:latin typeface="Courier New" pitchFamily="49" charset="0"/>
                <a:cs typeface="Courier New" pitchFamily="49" charset="0"/>
              </a:rPr>
              <a:t> (&amp;</a:t>
            </a:r>
            <a:r>
              <a:rPr lang="en-US" sz="2000" dirty="0" err="1" smtClean="0">
                <a:solidFill>
                  <a:srgbClr val="000000"/>
                </a:solidFill>
                <a:latin typeface="Courier New" pitchFamily="49" charset="0"/>
                <a:cs typeface="Courier New" pitchFamily="49" charset="0"/>
              </a:rPr>
              <a:t>Evt</a:t>
            </a:r>
            <a:r>
              <a:rPr lang="en-US" sz="2000" dirty="0" smtClean="0">
                <a:solidFill>
                  <a:srgbClr val="000000"/>
                </a:solidFill>
                <a:latin typeface="Courier New" pitchFamily="49" charset="0"/>
                <a:cs typeface="Courier New" pitchFamily="49" charset="0"/>
              </a:rPr>
              <a:t>, </a:t>
            </a:r>
            <a:r>
              <a:rPr lang="en-US" sz="2000" dirty="0" err="1" smtClean="0">
                <a:solidFill>
                  <a:srgbClr val="000000"/>
                </a:solidFill>
                <a:latin typeface="Courier New" pitchFamily="49" charset="0"/>
                <a:cs typeface="Courier New" pitchFamily="49" charset="0"/>
              </a:rPr>
              <a:t>andMask</a:t>
            </a:r>
            <a:r>
              <a:rPr lang="en-US" sz="2000" dirty="0" smtClean="0">
                <a:solidFill>
                  <a:srgbClr val="000000"/>
                </a:solidFill>
                <a:latin typeface="Courier New" pitchFamily="49" charset="0"/>
                <a:cs typeface="Courier New" pitchFamily="49" charset="0"/>
              </a:rPr>
              <a:t>, </a:t>
            </a:r>
            <a:r>
              <a:rPr lang="en-US" sz="2000" dirty="0" err="1" smtClean="0">
                <a:solidFill>
                  <a:srgbClr val="000000"/>
                </a:solidFill>
                <a:latin typeface="Courier New" pitchFamily="49" charset="0"/>
                <a:cs typeface="Courier New" pitchFamily="49" charset="0"/>
              </a:rPr>
              <a:t>orMask</a:t>
            </a:r>
            <a:r>
              <a:rPr lang="en-US" sz="2000" dirty="0" smtClean="0">
                <a:solidFill>
                  <a:srgbClr val="000000"/>
                </a:solidFill>
                <a:latin typeface="Courier New" pitchFamily="49" charset="0"/>
                <a:cs typeface="Courier New" pitchFamily="49" charset="0"/>
              </a:rPr>
              <a:t>, timeout);</a:t>
            </a:r>
          </a:p>
        </p:txBody>
      </p:sp>
      <p:sp>
        <p:nvSpPr>
          <p:cNvPr id="18" name="Pentagon 17"/>
          <p:cNvSpPr/>
          <p:nvPr/>
        </p:nvSpPr>
        <p:spPr bwMode="auto">
          <a:xfrm>
            <a:off x="457200" y="877740"/>
            <a:ext cx="914400" cy="381000"/>
          </a:xfrm>
          <a:prstGeom prst="homePlate">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sz="2000" b="0" dirty="0" err="1" smtClean="0">
                <a:solidFill>
                  <a:srgbClr val="000000"/>
                </a:solidFill>
                <a:latin typeface="Arial Narrow" pitchFamily="34" charset="0"/>
              </a:rPr>
              <a:t>Hwi</a:t>
            </a:r>
            <a:r>
              <a:rPr lang="en-US" sz="2000" b="0" dirty="0" smtClean="0">
                <a:solidFill>
                  <a:srgbClr val="000000"/>
                </a:solidFill>
                <a:latin typeface="Arial Narrow" pitchFamily="34" charset="0"/>
              </a:rPr>
              <a:t> 5</a:t>
            </a:r>
          </a:p>
        </p:txBody>
      </p:sp>
      <p:sp>
        <p:nvSpPr>
          <p:cNvPr id="28" name="Pentagon 27"/>
          <p:cNvSpPr/>
          <p:nvPr/>
        </p:nvSpPr>
        <p:spPr bwMode="auto">
          <a:xfrm>
            <a:off x="457200" y="1605888"/>
            <a:ext cx="914400" cy="381000"/>
          </a:xfrm>
          <a:prstGeom prst="homePlate">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sz="2000" b="0" dirty="0" err="1" smtClean="0">
                <a:solidFill>
                  <a:srgbClr val="000000"/>
                </a:solidFill>
                <a:latin typeface="Arial Narrow" pitchFamily="34" charset="0"/>
              </a:rPr>
              <a:t>Hwi</a:t>
            </a:r>
            <a:r>
              <a:rPr lang="en-US" sz="2000" b="0" dirty="0" smtClean="0">
                <a:solidFill>
                  <a:srgbClr val="000000"/>
                </a:solidFill>
                <a:latin typeface="Arial Narrow" pitchFamily="34" charset="0"/>
              </a:rPr>
              <a:t> 7</a:t>
            </a:r>
          </a:p>
        </p:txBody>
      </p:sp>
      <p:sp>
        <p:nvSpPr>
          <p:cNvPr id="29" name="Pentagon 28"/>
          <p:cNvSpPr/>
          <p:nvPr/>
        </p:nvSpPr>
        <p:spPr bwMode="auto">
          <a:xfrm>
            <a:off x="457200" y="2318984"/>
            <a:ext cx="914400" cy="381000"/>
          </a:xfrm>
          <a:prstGeom prst="homePlate">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sz="2000" b="0" dirty="0" err="1" smtClean="0">
                <a:solidFill>
                  <a:srgbClr val="000000"/>
                </a:solidFill>
                <a:latin typeface="Arial Narrow" pitchFamily="34" charset="0"/>
              </a:rPr>
              <a:t>Hwi</a:t>
            </a:r>
            <a:r>
              <a:rPr lang="en-US" sz="2000" b="0" dirty="0" smtClean="0">
                <a:solidFill>
                  <a:srgbClr val="000000"/>
                </a:solidFill>
                <a:latin typeface="Arial Narrow" pitchFamily="34" charset="0"/>
              </a:rPr>
              <a:t> 9</a:t>
            </a:r>
          </a:p>
        </p:txBody>
      </p:sp>
      <p:cxnSp>
        <p:nvCxnSpPr>
          <p:cNvPr id="37" name="Straight Connector 36"/>
          <p:cNvCxnSpPr/>
          <p:nvPr/>
        </p:nvCxnSpPr>
        <p:spPr bwMode="auto">
          <a:xfrm>
            <a:off x="1371600" y="1793913"/>
            <a:ext cx="1828800" cy="0"/>
          </a:xfrm>
          <a:prstGeom prst="line">
            <a:avLst/>
          </a:prstGeom>
          <a:solidFill>
            <a:schemeClr val="accent1"/>
          </a:solidFill>
          <a:ln w="12700" cap="flat" cmpd="sng" algn="ctr">
            <a:solidFill>
              <a:schemeClr val="tx1"/>
            </a:solidFill>
            <a:prstDash val="solid"/>
            <a:round/>
            <a:headEnd type="none" w="med" len="med"/>
            <a:tailEnd type="triangle" w="med" len="med"/>
          </a:ln>
          <a:effectLst/>
        </p:spPr>
      </p:cxnSp>
      <p:cxnSp>
        <p:nvCxnSpPr>
          <p:cNvPr id="38" name="Straight Connector 37"/>
          <p:cNvCxnSpPr/>
          <p:nvPr/>
        </p:nvCxnSpPr>
        <p:spPr bwMode="auto">
          <a:xfrm>
            <a:off x="1371600" y="1070715"/>
            <a:ext cx="1828800" cy="0"/>
          </a:xfrm>
          <a:prstGeom prst="line">
            <a:avLst/>
          </a:prstGeom>
          <a:solidFill>
            <a:schemeClr val="accent1"/>
          </a:solidFill>
          <a:ln w="12700" cap="flat" cmpd="sng" algn="ctr">
            <a:solidFill>
              <a:schemeClr val="tx1"/>
            </a:solidFill>
            <a:prstDash val="solid"/>
            <a:round/>
            <a:headEnd type="none" w="med" len="med"/>
            <a:tailEnd type="triangle" w="med" len="med"/>
          </a:ln>
          <a:effectLst/>
        </p:spPr>
      </p:cxnSp>
      <p:cxnSp>
        <p:nvCxnSpPr>
          <p:cNvPr id="39" name="Straight Connector 38"/>
          <p:cNvCxnSpPr/>
          <p:nvPr/>
        </p:nvCxnSpPr>
        <p:spPr bwMode="auto">
          <a:xfrm>
            <a:off x="1371600" y="2511959"/>
            <a:ext cx="1828800" cy="0"/>
          </a:xfrm>
          <a:prstGeom prst="line">
            <a:avLst/>
          </a:prstGeom>
          <a:solidFill>
            <a:schemeClr val="accent1"/>
          </a:solidFill>
          <a:ln w="12700" cap="flat" cmpd="sng" algn="ctr">
            <a:solidFill>
              <a:schemeClr val="tx1"/>
            </a:solidFill>
            <a:prstDash val="solid"/>
            <a:round/>
            <a:headEnd type="none" w="med" len="med"/>
            <a:tailEnd type="triangle" w="med" len="med"/>
          </a:ln>
          <a:effectLst/>
        </p:spPr>
      </p:cxnSp>
      <p:sp>
        <p:nvSpPr>
          <p:cNvPr id="40" name="TextBox 39"/>
          <p:cNvSpPr txBox="1"/>
          <p:nvPr/>
        </p:nvSpPr>
        <p:spPr>
          <a:xfrm>
            <a:off x="1726076" y="758783"/>
            <a:ext cx="976549" cy="369332"/>
          </a:xfrm>
          <a:prstGeom prst="rect">
            <a:avLst/>
          </a:prstGeom>
          <a:noFill/>
        </p:spPr>
        <p:txBody>
          <a:bodyPr wrap="none" rtlCol="0" anchor="ctr" anchorCtr="0">
            <a:spAutoFit/>
          </a:bodyPr>
          <a:lstStyle/>
          <a:p>
            <a:pPr eaLnBrk="1" hangingPunct="1">
              <a:lnSpc>
                <a:spcPct val="100000"/>
              </a:lnSpc>
              <a:spcBef>
                <a:spcPct val="0"/>
              </a:spcBef>
            </a:pPr>
            <a:r>
              <a:rPr lang="en-US" sz="1800" b="0" dirty="0" smtClean="0">
                <a:solidFill>
                  <a:srgbClr val="000000"/>
                </a:solidFill>
                <a:latin typeface="Arial Narrow" pitchFamily="34" charset="0"/>
              </a:rPr>
              <a:t>Post EV0</a:t>
            </a:r>
          </a:p>
        </p:txBody>
      </p:sp>
      <p:sp>
        <p:nvSpPr>
          <p:cNvPr id="41" name="TextBox 40"/>
          <p:cNvSpPr txBox="1"/>
          <p:nvPr/>
        </p:nvSpPr>
        <p:spPr>
          <a:xfrm>
            <a:off x="1726076" y="1482188"/>
            <a:ext cx="976549" cy="369332"/>
          </a:xfrm>
          <a:prstGeom prst="rect">
            <a:avLst/>
          </a:prstGeom>
          <a:noFill/>
        </p:spPr>
        <p:txBody>
          <a:bodyPr wrap="none" rtlCol="0" anchor="ctr" anchorCtr="0">
            <a:spAutoFit/>
          </a:bodyPr>
          <a:lstStyle/>
          <a:p>
            <a:pPr eaLnBrk="1" hangingPunct="1">
              <a:lnSpc>
                <a:spcPct val="100000"/>
              </a:lnSpc>
              <a:spcBef>
                <a:spcPct val="0"/>
              </a:spcBef>
            </a:pPr>
            <a:r>
              <a:rPr lang="en-US" sz="1800" b="0" dirty="0" smtClean="0">
                <a:solidFill>
                  <a:srgbClr val="000000"/>
                </a:solidFill>
                <a:latin typeface="Arial Narrow" pitchFamily="34" charset="0"/>
              </a:rPr>
              <a:t>Post EV2</a:t>
            </a:r>
          </a:p>
        </p:txBody>
      </p:sp>
      <p:sp>
        <p:nvSpPr>
          <p:cNvPr id="42" name="TextBox 41"/>
          <p:cNvSpPr txBox="1"/>
          <p:nvPr/>
        </p:nvSpPr>
        <p:spPr>
          <a:xfrm>
            <a:off x="1726076" y="2166584"/>
            <a:ext cx="976549" cy="369332"/>
          </a:xfrm>
          <a:prstGeom prst="rect">
            <a:avLst/>
          </a:prstGeom>
          <a:noFill/>
        </p:spPr>
        <p:txBody>
          <a:bodyPr wrap="none" rtlCol="0" anchor="ctr" anchorCtr="0">
            <a:spAutoFit/>
          </a:bodyPr>
          <a:lstStyle/>
          <a:p>
            <a:pPr eaLnBrk="1" hangingPunct="1">
              <a:lnSpc>
                <a:spcPct val="100000"/>
              </a:lnSpc>
              <a:spcBef>
                <a:spcPct val="0"/>
              </a:spcBef>
            </a:pPr>
            <a:r>
              <a:rPr lang="en-US" sz="1800" b="0" smtClean="0">
                <a:solidFill>
                  <a:srgbClr val="000000"/>
                </a:solidFill>
                <a:latin typeface="Arial Narrow" pitchFamily="34" charset="0"/>
              </a:rPr>
              <a:t>Post </a:t>
            </a:r>
            <a:r>
              <a:rPr lang="en-US" sz="1800" b="0" smtClean="0">
                <a:solidFill>
                  <a:srgbClr val="000000"/>
                </a:solidFill>
                <a:latin typeface="Arial Narrow" pitchFamily="34" charset="0"/>
              </a:rPr>
              <a:t>EV4</a:t>
            </a:r>
            <a:endParaRPr lang="en-US" sz="1800" b="0" dirty="0" smtClean="0">
              <a:solidFill>
                <a:srgbClr val="000000"/>
              </a:solidFill>
              <a:latin typeface="Arial Narrow" pitchFamily="34" charset="0"/>
            </a:endParaRPr>
          </a:p>
        </p:txBody>
      </p:sp>
      <p:sp>
        <p:nvSpPr>
          <p:cNvPr id="46" name="TextBox 45"/>
          <p:cNvSpPr txBox="1"/>
          <p:nvPr/>
        </p:nvSpPr>
        <p:spPr>
          <a:xfrm>
            <a:off x="5255194" y="1133314"/>
            <a:ext cx="3355406" cy="1754326"/>
          </a:xfrm>
          <a:prstGeom prst="rect">
            <a:avLst/>
          </a:prstGeom>
          <a:solidFill>
            <a:schemeClr val="accent4">
              <a:lumMod val="20000"/>
              <a:lumOff val="80000"/>
            </a:schemeClr>
          </a:solidFill>
          <a:ln>
            <a:solidFill>
              <a:schemeClr val="tx1"/>
            </a:solidFill>
          </a:ln>
          <a:effectLst>
            <a:outerShdw blurRad="50800" dist="76200" dir="2700000" algn="tl" rotWithShape="0">
              <a:prstClr val="black">
                <a:alpha val="40000"/>
              </a:prstClr>
            </a:outerShdw>
          </a:effectLst>
        </p:spPr>
        <p:txBody>
          <a:bodyPr wrap="none" rtlCol="0" anchor="ctr" anchorCtr="0">
            <a:spAutoFit/>
          </a:bodyPr>
          <a:lstStyle/>
          <a:p>
            <a:pPr eaLnBrk="1" hangingPunct="1">
              <a:lnSpc>
                <a:spcPct val="100000"/>
              </a:lnSpc>
              <a:spcBef>
                <a:spcPct val="0"/>
              </a:spcBef>
            </a:pPr>
            <a:r>
              <a:rPr lang="en-US" sz="1800" b="0" dirty="0" smtClean="0">
                <a:solidFill>
                  <a:srgbClr val="000000"/>
                </a:solidFill>
                <a:latin typeface="Courier New" pitchFamily="49" charset="0"/>
                <a:cs typeface="Courier New" pitchFamily="49" charset="0"/>
              </a:rPr>
              <a:t>mask = EV0 + EV2 </a:t>
            </a:r>
            <a:r>
              <a:rPr lang="en-US" sz="1800" b="0" smtClean="0">
                <a:solidFill>
                  <a:srgbClr val="000000"/>
                </a:solidFill>
                <a:latin typeface="Courier New" pitchFamily="49" charset="0"/>
                <a:cs typeface="Courier New" pitchFamily="49" charset="0"/>
              </a:rPr>
              <a:t>+ </a:t>
            </a:r>
            <a:r>
              <a:rPr lang="en-US" sz="1800" b="0" smtClean="0">
                <a:solidFill>
                  <a:srgbClr val="000000"/>
                </a:solidFill>
                <a:latin typeface="Courier New" pitchFamily="49" charset="0"/>
                <a:cs typeface="Courier New" pitchFamily="49" charset="0"/>
              </a:rPr>
              <a:t>EV4;</a:t>
            </a:r>
            <a:endParaRPr lang="en-US" sz="1800" b="0" dirty="0" smtClean="0">
              <a:solidFill>
                <a:srgbClr val="000000"/>
              </a:solidFill>
              <a:latin typeface="Courier New" pitchFamily="49" charset="0"/>
              <a:cs typeface="Courier New" pitchFamily="49" charset="0"/>
            </a:endParaRPr>
          </a:p>
          <a:p>
            <a:pPr eaLnBrk="1" hangingPunct="1">
              <a:lnSpc>
                <a:spcPct val="100000"/>
              </a:lnSpc>
              <a:spcBef>
                <a:spcPct val="0"/>
              </a:spcBef>
            </a:pPr>
            <a:r>
              <a:rPr lang="en-US" sz="1800" b="0" dirty="0" smtClean="0">
                <a:solidFill>
                  <a:srgbClr val="000000"/>
                </a:solidFill>
                <a:latin typeface="Courier New" pitchFamily="49" charset="0"/>
                <a:cs typeface="Courier New" pitchFamily="49" charset="0"/>
              </a:rPr>
              <a:t>while(1)</a:t>
            </a:r>
          </a:p>
          <a:p>
            <a:pPr eaLnBrk="1" hangingPunct="1">
              <a:lnSpc>
                <a:spcPct val="100000"/>
              </a:lnSpc>
              <a:spcBef>
                <a:spcPct val="0"/>
              </a:spcBef>
            </a:pPr>
            <a:r>
              <a:rPr lang="en-US" sz="1800" b="0" dirty="0" smtClean="0">
                <a:solidFill>
                  <a:srgbClr val="000000"/>
                </a:solidFill>
                <a:latin typeface="Courier New" pitchFamily="49" charset="0"/>
                <a:cs typeface="Courier New" pitchFamily="49" charset="0"/>
              </a:rPr>
              <a:t>{  // “simplified” </a:t>
            </a:r>
            <a:r>
              <a:rPr lang="en-US" sz="1800" b="0" dirty="0" err="1" smtClean="0">
                <a:solidFill>
                  <a:srgbClr val="000000"/>
                </a:solidFill>
                <a:latin typeface="Courier New" pitchFamily="49" charset="0"/>
                <a:cs typeface="Courier New" pitchFamily="49" charset="0"/>
              </a:rPr>
              <a:t>ver</a:t>
            </a:r>
            <a:endParaRPr lang="en-US" sz="1800" b="0" dirty="0" smtClean="0">
              <a:solidFill>
                <a:srgbClr val="000000"/>
              </a:solidFill>
              <a:latin typeface="Courier New" pitchFamily="49" charset="0"/>
              <a:cs typeface="Courier New" pitchFamily="49" charset="0"/>
            </a:endParaRPr>
          </a:p>
          <a:p>
            <a:pPr eaLnBrk="1" hangingPunct="1">
              <a:lnSpc>
                <a:spcPct val="100000"/>
              </a:lnSpc>
              <a:spcBef>
                <a:spcPct val="0"/>
              </a:spcBef>
            </a:pPr>
            <a:r>
              <a:rPr lang="en-US" sz="1800" b="0" dirty="0" smtClean="0">
                <a:solidFill>
                  <a:srgbClr val="000000"/>
                </a:solidFill>
                <a:latin typeface="Courier New" pitchFamily="49" charset="0"/>
                <a:cs typeface="Courier New" pitchFamily="49" charset="0"/>
              </a:rPr>
              <a:t>   </a:t>
            </a:r>
            <a:r>
              <a:rPr lang="en-US" sz="1800" dirty="0" err="1" smtClean="0">
                <a:solidFill>
                  <a:srgbClr val="FF0000"/>
                </a:solidFill>
                <a:latin typeface="Courier New" pitchFamily="49" charset="0"/>
                <a:cs typeface="Courier New" pitchFamily="49" charset="0"/>
              </a:rPr>
              <a:t>Event_pend</a:t>
            </a:r>
            <a:r>
              <a:rPr lang="en-US" sz="1800" dirty="0" smtClean="0">
                <a:solidFill>
                  <a:srgbClr val="FF0000"/>
                </a:solidFill>
                <a:latin typeface="Courier New" pitchFamily="49" charset="0"/>
                <a:cs typeface="Courier New" pitchFamily="49" charset="0"/>
              </a:rPr>
              <a:t> (mask);</a:t>
            </a:r>
          </a:p>
          <a:p>
            <a:pPr eaLnBrk="1" hangingPunct="1">
              <a:lnSpc>
                <a:spcPct val="100000"/>
              </a:lnSpc>
              <a:spcBef>
                <a:spcPct val="0"/>
              </a:spcBef>
            </a:pPr>
            <a:r>
              <a:rPr lang="en-US" sz="1800" b="0" dirty="0" smtClean="0">
                <a:solidFill>
                  <a:srgbClr val="000000"/>
                </a:solidFill>
                <a:latin typeface="Courier New" pitchFamily="49" charset="0"/>
                <a:cs typeface="Courier New" pitchFamily="49" charset="0"/>
              </a:rPr>
              <a:t>   // do work</a:t>
            </a:r>
          </a:p>
          <a:p>
            <a:pPr eaLnBrk="1" hangingPunct="1">
              <a:lnSpc>
                <a:spcPct val="100000"/>
              </a:lnSpc>
              <a:spcBef>
                <a:spcPct val="0"/>
              </a:spcBef>
            </a:pPr>
            <a:r>
              <a:rPr lang="en-US" sz="1800" b="0" dirty="0" smtClean="0">
                <a:solidFill>
                  <a:srgbClr val="000000"/>
                </a:solidFill>
                <a:latin typeface="Courier New" pitchFamily="49" charset="0"/>
                <a:cs typeface="Courier New" pitchFamily="49" charset="0"/>
              </a:rPr>
              <a:t>}</a:t>
            </a:r>
          </a:p>
        </p:txBody>
      </p:sp>
      <p:sp>
        <p:nvSpPr>
          <p:cNvPr id="47" name="TextBox 46"/>
          <p:cNvSpPr txBox="1"/>
          <p:nvPr/>
        </p:nvSpPr>
        <p:spPr>
          <a:xfrm>
            <a:off x="5181600" y="756655"/>
            <a:ext cx="1121013" cy="400110"/>
          </a:xfrm>
          <a:prstGeom prst="rect">
            <a:avLst/>
          </a:prstGeom>
          <a:noFill/>
        </p:spPr>
        <p:txBody>
          <a:bodyPr wrap="none" rtlCol="0" anchor="ctr" anchorCtr="0">
            <a:spAutoFit/>
          </a:bodyPr>
          <a:lstStyle/>
          <a:p>
            <a:pPr eaLnBrk="1" hangingPunct="1">
              <a:lnSpc>
                <a:spcPct val="100000"/>
              </a:lnSpc>
              <a:spcBef>
                <a:spcPct val="0"/>
              </a:spcBef>
            </a:pPr>
            <a:r>
              <a:rPr lang="en-US" sz="2000" dirty="0" err="1" smtClean="0">
                <a:solidFill>
                  <a:srgbClr val="FF0000"/>
                </a:solidFill>
              </a:rPr>
              <a:t>myTask</a:t>
            </a:r>
            <a:endParaRPr lang="en-US" sz="2000" dirty="0" smtClean="0">
              <a:solidFill>
                <a:srgbClr val="FF0000"/>
              </a:solidFill>
            </a:endParaRPr>
          </a:p>
        </p:txBody>
      </p:sp>
      <p:cxnSp>
        <p:nvCxnSpPr>
          <p:cNvPr id="49" name="Straight Arrow Connector 48"/>
          <p:cNvCxnSpPr/>
          <p:nvPr/>
        </p:nvCxnSpPr>
        <p:spPr bwMode="auto">
          <a:xfrm>
            <a:off x="4114800" y="1081186"/>
            <a:ext cx="304800" cy="1588"/>
          </a:xfrm>
          <a:prstGeom prst="straightConnector1">
            <a:avLst/>
          </a:prstGeom>
          <a:solidFill>
            <a:schemeClr val="accent1"/>
          </a:solidFill>
          <a:ln w="12700" cap="flat" cmpd="sng" algn="ctr">
            <a:solidFill>
              <a:schemeClr val="tx1"/>
            </a:solidFill>
            <a:prstDash val="solid"/>
            <a:round/>
            <a:headEnd type="none" w="med" len="med"/>
            <a:tailEnd type="triangle" w="med" len="med"/>
          </a:ln>
          <a:effectLst/>
        </p:spPr>
      </p:cxnSp>
      <p:cxnSp>
        <p:nvCxnSpPr>
          <p:cNvPr id="50" name="Straight Arrow Connector 49"/>
          <p:cNvCxnSpPr/>
          <p:nvPr/>
        </p:nvCxnSpPr>
        <p:spPr bwMode="auto">
          <a:xfrm>
            <a:off x="4114800" y="1800636"/>
            <a:ext cx="304800" cy="1588"/>
          </a:xfrm>
          <a:prstGeom prst="straightConnector1">
            <a:avLst/>
          </a:prstGeom>
          <a:solidFill>
            <a:schemeClr val="accent1"/>
          </a:solidFill>
          <a:ln w="12700" cap="flat" cmpd="sng" algn="ctr">
            <a:solidFill>
              <a:schemeClr val="tx1"/>
            </a:solidFill>
            <a:prstDash val="solid"/>
            <a:round/>
            <a:headEnd type="none" w="med" len="med"/>
            <a:tailEnd type="triangle" w="med" len="med"/>
          </a:ln>
          <a:effectLst/>
        </p:spPr>
      </p:cxnSp>
      <p:cxnSp>
        <p:nvCxnSpPr>
          <p:cNvPr id="51" name="Straight Arrow Connector 50"/>
          <p:cNvCxnSpPr/>
          <p:nvPr/>
        </p:nvCxnSpPr>
        <p:spPr bwMode="auto">
          <a:xfrm>
            <a:off x="4114800" y="2874361"/>
            <a:ext cx="304800" cy="1588"/>
          </a:xfrm>
          <a:prstGeom prst="straightConnector1">
            <a:avLst/>
          </a:prstGeom>
          <a:solidFill>
            <a:schemeClr val="accent1"/>
          </a:solidFill>
          <a:ln w="12700" cap="flat" cmpd="sng" algn="ctr">
            <a:solidFill>
              <a:schemeClr val="tx1"/>
            </a:solidFill>
            <a:prstDash val="solid"/>
            <a:round/>
            <a:headEnd type="none" w="med" len="med"/>
            <a:tailEnd type="triangle" w="med" len="med"/>
          </a:ln>
          <a:effectLst/>
        </p:spPr>
      </p:cxnSp>
      <p:cxnSp>
        <p:nvCxnSpPr>
          <p:cNvPr id="53" name="Straight Connector 52"/>
          <p:cNvCxnSpPr/>
          <p:nvPr/>
        </p:nvCxnSpPr>
        <p:spPr bwMode="auto">
          <a:xfrm rot="5400000">
            <a:off x="3505200" y="2000536"/>
            <a:ext cx="1828800" cy="0"/>
          </a:xfrm>
          <a:prstGeom prst="line">
            <a:avLst/>
          </a:prstGeom>
          <a:solidFill>
            <a:schemeClr val="accent1"/>
          </a:solidFill>
          <a:ln w="12700" cap="flat" cmpd="sng" algn="ctr">
            <a:solidFill>
              <a:schemeClr val="tx1"/>
            </a:solidFill>
            <a:prstDash val="solid"/>
            <a:round/>
            <a:headEnd type="none" w="sm" len="sm"/>
            <a:tailEnd type="none" w="sm" len="sm"/>
          </a:ln>
          <a:effectLst/>
        </p:spPr>
      </p:cxnSp>
      <p:cxnSp>
        <p:nvCxnSpPr>
          <p:cNvPr id="57" name="Straight Arrow Connector 56"/>
          <p:cNvCxnSpPr/>
          <p:nvPr/>
        </p:nvCxnSpPr>
        <p:spPr bwMode="auto">
          <a:xfrm>
            <a:off x="4419600" y="2132565"/>
            <a:ext cx="1219200" cy="0"/>
          </a:xfrm>
          <a:prstGeom prst="straightConnector1">
            <a:avLst/>
          </a:prstGeom>
          <a:solidFill>
            <a:schemeClr val="accent1"/>
          </a:solidFill>
          <a:ln w="12700" cap="flat" cmpd="sng" algn="ctr">
            <a:solidFill>
              <a:schemeClr val="tx1"/>
            </a:solidFill>
            <a:prstDash val="solid"/>
            <a:round/>
            <a:headEnd type="none" w="med" len="med"/>
            <a:tailEnd type="triangle" w="med" len="med"/>
          </a:ln>
          <a:effectLst/>
        </p:spPr>
      </p:cxnSp>
      <p:sp>
        <p:nvSpPr>
          <p:cNvPr id="24" name="TextBox 23"/>
          <p:cNvSpPr txBox="1"/>
          <p:nvPr/>
        </p:nvSpPr>
        <p:spPr>
          <a:xfrm>
            <a:off x="4495800" y="1820840"/>
            <a:ext cx="646331" cy="400110"/>
          </a:xfrm>
          <a:prstGeom prst="rect">
            <a:avLst/>
          </a:prstGeom>
          <a:noFill/>
        </p:spPr>
        <p:txBody>
          <a:bodyPr wrap="none" rtlCol="0" anchor="ctr" anchorCtr="0">
            <a:spAutoFit/>
          </a:bodyPr>
          <a:lstStyle/>
          <a:p>
            <a:pPr eaLnBrk="1" hangingPunct="1">
              <a:lnSpc>
                <a:spcPct val="100000"/>
              </a:lnSpc>
              <a:spcBef>
                <a:spcPct val="0"/>
              </a:spcBef>
            </a:pPr>
            <a:r>
              <a:rPr lang="en-US" sz="2000" b="0" dirty="0" smtClean="0">
                <a:solidFill>
                  <a:srgbClr val="000000"/>
                </a:solidFill>
                <a:latin typeface="Courier New" pitchFamily="49" charset="0"/>
                <a:cs typeface="Courier New" pitchFamily="49" charset="0"/>
              </a:rPr>
              <a:t>AND</a:t>
            </a:r>
          </a:p>
        </p:txBody>
      </p:sp>
      <p:sp>
        <p:nvSpPr>
          <p:cNvPr id="27" name="TextBox 26"/>
          <p:cNvSpPr txBox="1"/>
          <p:nvPr/>
        </p:nvSpPr>
        <p:spPr>
          <a:xfrm>
            <a:off x="4558864" y="2094108"/>
            <a:ext cx="492443" cy="400110"/>
          </a:xfrm>
          <a:prstGeom prst="rect">
            <a:avLst/>
          </a:prstGeom>
          <a:noFill/>
        </p:spPr>
        <p:txBody>
          <a:bodyPr wrap="none" rtlCol="0" anchor="ctr" anchorCtr="0">
            <a:spAutoFit/>
          </a:bodyPr>
          <a:lstStyle/>
          <a:p>
            <a:pPr eaLnBrk="1" hangingPunct="1">
              <a:lnSpc>
                <a:spcPct val="100000"/>
              </a:lnSpc>
              <a:spcBef>
                <a:spcPct val="0"/>
              </a:spcBef>
            </a:pPr>
            <a:r>
              <a:rPr lang="en-US" sz="2000" b="0" dirty="0" smtClean="0">
                <a:solidFill>
                  <a:srgbClr val="000000"/>
                </a:solidFill>
                <a:latin typeface="Courier New" pitchFamily="49" charset="0"/>
                <a:cs typeface="Courier New" pitchFamily="49" charset="0"/>
              </a:rPr>
              <a:t>OR</a:t>
            </a:r>
          </a:p>
        </p:txBody>
      </p:sp>
      <p:sp>
        <p:nvSpPr>
          <p:cNvPr id="30" name="Leading Question"/>
          <p:cNvSpPr txBox="1"/>
          <p:nvPr/>
        </p:nvSpPr>
        <p:spPr>
          <a:xfrm>
            <a:off x="6621440" y="5466199"/>
            <a:ext cx="2401298" cy="221599"/>
          </a:xfrm>
          <a:prstGeom prst="rect">
            <a:avLst/>
          </a:prstGeom>
          <a:noFill/>
        </p:spPr>
        <p:txBody>
          <a:bodyPr vert="horz" wrap="none" lIns="0" tIns="0" rIns="0" bIns="0" rtlCol="0" anchor="b" anchorCtr="0">
            <a:spAutoFit/>
          </a:bodyPr>
          <a:lstStyle/>
          <a:p>
            <a:pPr algn="r" eaLnBrk="1" hangingPunct="1">
              <a:spcBef>
                <a:spcPct val="0"/>
              </a:spcBef>
            </a:pPr>
            <a:r>
              <a:rPr lang="en-US" sz="1800" b="0" dirty="0" smtClean="0">
                <a:solidFill>
                  <a:srgbClr val="FF0000"/>
                </a:solidFill>
                <a:latin typeface="Arial Narrow"/>
              </a:rPr>
              <a:t>What about "implicit posts" ?</a:t>
            </a:r>
          </a:p>
        </p:txBody>
      </p:sp>
      <p:sp>
        <p:nvSpPr>
          <p:cNvPr id="3" name="TextBox 2"/>
          <p:cNvSpPr txBox="1"/>
          <p:nvPr/>
        </p:nvSpPr>
        <p:spPr>
          <a:xfrm>
            <a:off x="3200813" y="601640"/>
            <a:ext cx="941283" cy="313932"/>
          </a:xfrm>
          <a:prstGeom prst="rect">
            <a:avLst/>
          </a:prstGeom>
          <a:noFill/>
        </p:spPr>
        <p:txBody>
          <a:bodyPr wrap="none" rtlCol="0" anchor="ctr" anchorCtr="0">
            <a:spAutoFit/>
          </a:bodyPr>
          <a:lstStyle/>
          <a:p>
            <a:r>
              <a:rPr lang="en-US" sz="1800" b="0" smtClean="0">
                <a:solidFill>
                  <a:srgbClr val="0070C0"/>
                </a:solidFill>
                <a:effectLst/>
              </a:rPr>
              <a:t>Evt Obj</a:t>
            </a:r>
            <a:endParaRPr lang="en-US" sz="1800" b="0" dirty="0" smtClean="0">
              <a:solidFill>
                <a:srgbClr val="0070C0"/>
              </a:solidFill>
              <a:effectLst/>
            </a:endParaRPr>
          </a:p>
        </p:txBody>
      </p:sp>
    </p:spTree>
    <p:extLst>
      <p:ext uri="{BB962C8B-B14F-4D97-AF65-F5344CB8AC3E}">
        <p14:creationId xmlns:p14="http://schemas.microsoft.com/office/powerpoint/2010/main" val="407503420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p:cNvSpPr>
            <a:spLocks noGrp="1" noChangeArrowheads="1"/>
          </p:cNvSpPr>
          <p:nvPr>
            <p:ph type="title"/>
          </p:nvPr>
        </p:nvSpPr>
        <p:spPr/>
        <p:txBody>
          <a:bodyPr/>
          <a:lstStyle/>
          <a:p>
            <a:r>
              <a:rPr lang="en-US" dirty="0" smtClean="0"/>
              <a:t>Implicit “Event Post”</a:t>
            </a:r>
          </a:p>
        </p:txBody>
      </p:sp>
      <p:sp>
        <p:nvSpPr>
          <p:cNvPr id="21" name="TextBox 20"/>
          <p:cNvSpPr txBox="1"/>
          <p:nvPr/>
        </p:nvSpPr>
        <p:spPr>
          <a:xfrm>
            <a:off x="457200" y="3473622"/>
            <a:ext cx="8346652" cy="690638"/>
          </a:xfrm>
          <a:prstGeom prst="rect">
            <a:avLst/>
          </a:prstGeom>
          <a:noFill/>
        </p:spPr>
        <p:txBody>
          <a:bodyPr wrap="square" rtlCol="0" anchor="ctr" anchorCtr="0">
            <a:spAutoFit/>
          </a:bodyPr>
          <a:lstStyle/>
          <a:p>
            <a:pPr marL="342900" indent="-342900" eaLnBrk="1" hangingPunct="1">
              <a:spcBef>
                <a:spcPts val="600"/>
              </a:spcBef>
              <a:buClr>
                <a:srgbClr val="FF0000"/>
              </a:buClr>
              <a:buSzPct val="75000"/>
              <a:buFont typeface="Wingdings"/>
              <a:buChar char=""/>
            </a:pPr>
            <a:r>
              <a:rPr lang="en-US" b="0" dirty="0" smtClean="0">
                <a:solidFill>
                  <a:srgbClr val="000000"/>
                </a:solidFill>
                <a:latin typeface="Calibri" pitchFamily="34" charset="0"/>
                <a:cs typeface="Calibri" pitchFamily="34" charset="0"/>
              </a:rPr>
              <a:t>Other APIs, as shown above, can also post events – implicitly – the </a:t>
            </a:r>
            <a:r>
              <a:rPr lang="en-US" b="0" dirty="0" err="1" smtClean="0">
                <a:solidFill>
                  <a:srgbClr val="000000"/>
                </a:solidFill>
                <a:latin typeface="Calibri" pitchFamily="34" charset="0"/>
                <a:cs typeface="Calibri" pitchFamily="34" charset="0"/>
              </a:rPr>
              <a:t>eventId</a:t>
            </a:r>
            <a:r>
              <a:rPr lang="en-US" b="0" dirty="0" smtClean="0">
                <a:solidFill>
                  <a:srgbClr val="000000"/>
                </a:solidFill>
                <a:latin typeface="Calibri" pitchFamily="34" charset="0"/>
                <a:cs typeface="Calibri" pitchFamily="34" charset="0"/>
              </a:rPr>
              <a:t> is part of the </a:t>
            </a:r>
            <a:r>
              <a:rPr lang="en-US" b="0" err="1" smtClean="0">
                <a:solidFill>
                  <a:srgbClr val="000000"/>
                </a:solidFill>
                <a:latin typeface="Calibri" pitchFamily="34" charset="0"/>
                <a:cs typeface="Calibri" pitchFamily="34" charset="0"/>
              </a:rPr>
              <a:t>params</a:t>
            </a:r>
            <a:r>
              <a:rPr lang="en-US" b="0" smtClean="0">
                <a:solidFill>
                  <a:srgbClr val="000000"/>
                </a:solidFill>
                <a:latin typeface="Calibri" pitchFamily="34" charset="0"/>
                <a:cs typeface="Calibri" pitchFamily="34" charset="0"/>
              </a:rPr>
              <a:t> structure (e.g. Semaphore):</a:t>
            </a:r>
            <a:endParaRPr lang="en-US" b="0" dirty="0" smtClean="0">
              <a:solidFill>
                <a:srgbClr val="000000"/>
              </a:solidFill>
              <a:latin typeface="Calibri" pitchFamily="34" charset="0"/>
              <a:cs typeface="Calibri" pitchFamily="34" charset="0"/>
            </a:endParaRPr>
          </a:p>
        </p:txBody>
      </p:sp>
      <p:sp>
        <p:nvSpPr>
          <p:cNvPr id="18" name="Pentagon 17"/>
          <p:cNvSpPr/>
          <p:nvPr/>
        </p:nvSpPr>
        <p:spPr bwMode="auto">
          <a:xfrm>
            <a:off x="457200" y="877740"/>
            <a:ext cx="1447800" cy="381000"/>
          </a:xfrm>
          <a:prstGeom prst="homePlate">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sz="2000" b="0" dirty="0" smtClean="0">
                <a:solidFill>
                  <a:srgbClr val="000000"/>
                </a:solidFill>
                <a:latin typeface="Arial Narrow" pitchFamily="34" charset="0"/>
              </a:rPr>
              <a:t>Semaphore</a:t>
            </a:r>
          </a:p>
        </p:txBody>
      </p:sp>
      <p:sp>
        <p:nvSpPr>
          <p:cNvPr id="28" name="Pentagon 27"/>
          <p:cNvSpPr/>
          <p:nvPr/>
        </p:nvSpPr>
        <p:spPr bwMode="auto">
          <a:xfrm>
            <a:off x="457200" y="1592240"/>
            <a:ext cx="1066800" cy="381000"/>
          </a:xfrm>
          <a:prstGeom prst="homePlate">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sz="2000" b="0" dirty="0" smtClean="0">
                <a:solidFill>
                  <a:srgbClr val="000000"/>
                </a:solidFill>
                <a:latin typeface="Arial Narrow" pitchFamily="34" charset="0"/>
              </a:rPr>
              <a:t>Mailbox</a:t>
            </a:r>
          </a:p>
        </p:txBody>
      </p:sp>
      <p:sp>
        <p:nvSpPr>
          <p:cNvPr id="29" name="Pentagon 28"/>
          <p:cNvSpPr/>
          <p:nvPr/>
        </p:nvSpPr>
        <p:spPr bwMode="auto">
          <a:xfrm>
            <a:off x="457200" y="2313296"/>
            <a:ext cx="1295400" cy="381000"/>
          </a:xfrm>
          <a:prstGeom prst="homePlate">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sz="2000" b="0" dirty="0" err="1" smtClean="0">
                <a:solidFill>
                  <a:srgbClr val="000000"/>
                </a:solidFill>
                <a:latin typeface="Arial Narrow" pitchFamily="34" charset="0"/>
              </a:rPr>
              <a:t>MessageQ</a:t>
            </a:r>
            <a:endParaRPr lang="en-US" sz="2000" b="0" dirty="0" smtClean="0">
              <a:solidFill>
                <a:srgbClr val="000000"/>
              </a:solidFill>
              <a:latin typeface="Arial Narrow" pitchFamily="34" charset="0"/>
            </a:endParaRPr>
          </a:p>
        </p:txBody>
      </p:sp>
      <p:cxnSp>
        <p:nvCxnSpPr>
          <p:cNvPr id="37" name="Straight Connector 36"/>
          <p:cNvCxnSpPr>
            <a:stCxn id="28" idx="3"/>
          </p:cNvCxnSpPr>
          <p:nvPr/>
        </p:nvCxnSpPr>
        <p:spPr bwMode="auto">
          <a:xfrm flipV="1">
            <a:off x="1524000" y="1780265"/>
            <a:ext cx="1676400" cy="2475"/>
          </a:xfrm>
          <a:prstGeom prst="line">
            <a:avLst/>
          </a:prstGeom>
          <a:solidFill>
            <a:schemeClr val="accent1"/>
          </a:solidFill>
          <a:ln w="12700" cap="flat" cmpd="sng" algn="ctr">
            <a:solidFill>
              <a:schemeClr val="tx1"/>
            </a:solidFill>
            <a:prstDash val="solid"/>
            <a:round/>
            <a:headEnd type="none" w="med" len="med"/>
            <a:tailEnd type="triangle" w="med" len="med"/>
          </a:ln>
          <a:effectLst/>
        </p:spPr>
      </p:cxnSp>
      <p:cxnSp>
        <p:nvCxnSpPr>
          <p:cNvPr id="38" name="Straight Connector 37"/>
          <p:cNvCxnSpPr>
            <a:stCxn id="18" idx="3"/>
          </p:cNvCxnSpPr>
          <p:nvPr/>
        </p:nvCxnSpPr>
        <p:spPr bwMode="auto">
          <a:xfrm>
            <a:off x="1905000" y="1068240"/>
            <a:ext cx="1295400" cy="2475"/>
          </a:xfrm>
          <a:prstGeom prst="line">
            <a:avLst/>
          </a:prstGeom>
          <a:solidFill>
            <a:schemeClr val="accent1"/>
          </a:solidFill>
          <a:ln w="12700" cap="flat" cmpd="sng" algn="ctr">
            <a:solidFill>
              <a:schemeClr val="tx1"/>
            </a:solidFill>
            <a:prstDash val="solid"/>
            <a:round/>
            <a:headEnd type="none" w="med" len="med"/>
            <a:tailEnd type="triangle" w="med" len="med"/>
          </a:ln>
          <a:effectLst/>
        </p:spPr>
      </p:cxnSp>
      <p:cxnSp>
        <p:nvCxnSpPr>
          <p:cNvPr id="39" name="Straight Connector 38"/>
          <p:cNvCxnSpPr>
            <a:stCxn id="29" idx="3"/>
          </p:cNvCxnSpPr>
          <p:nvPr/>
        </p:nvCxnSpPr>
        <p:spPr bwMode="auto">
          <a:xfrm>
            <a:off x="1752600" y="2503796"/>
            <a:ext cx="1447800" cy="2475"/>
          </a:xfrm>
          <a:prstGeom prst="line">
            <a:avLst/>
          </a:prstGeom>
          <a:solidFill>
            <a:schemeClr val="accent1"/>
          </a:solidFill>
          <a:ln w="12700" cap="flat" cmpd="sng" algn="ctr">
            <a:solidFill>
              <a:schemeClr val="tx1"/>
            </a:solidFill>
            <a:prstDash val="solid"/>
            <a:round/>
            <a:headEnd type="none" w="med" len="med"/>
            <a:tailEnd type="triangle" w="med" len="med"/>
          </a:ln>
          <a:effectLst/>
        </p:spPr>
      </p:cxnSp>
      <p:sp>
        <p:nvSpPr>
          <p:cNvPr id="40" name="TextBox 39"/>
          <p:cNvSpPr txBox="1"/>
          <p:nvPr/>
        </p:nvSpPr>
        <p:spPr>
          <a:xfrm>
            <a:off x="2006798" y="758783"/>
            <a:ext cx="976549" cy="369332"/>
          </a:xfrm>
          <a:prstGeom prst="rect">
            <a:avLst/>
          </a:prstGeom>
          <a:noFill/>
        </p:spPr>
        <p:txBody>
          <a:bodyPr wrap="none" rtlCol="0" anchor="ctr" anchorCtr="0">
            <a:spAutoFit/>
          </a:bodyPr>
          <a:lstStyle/>
          <a:p>
            <a:pPr eaLnBrk="1" hangingPunct="1">
              <a:lnSpc>
                <a:spcPct val="100000"/>
              </a:lnSpc>
              <a:spcBef>
                <a:spcPct val="0"/>
              </a:spcBef>
            </a:pPr>
            <a:r>
              <a:rPr lang="en-US" sz="1800" b="0" dirty="0" smtClean="0">
                <a:solidFill>
                  <a:srgbClr val="000000"/>
                </a:solidFill>
                <a:latin typeface="Arial Narrow" pitchFamily="34" charset="0"/>
              </a:rPr>
              <a:t>Post EV0</a:t>
            </a:r>
          </a:p>
        </p:txBody>
      </p:sp>
      <p:sp>
        <p:nvSpPr>
          <p:cNvPr id="41" name="TextBox 40"/>
          <p:cNvSpPr txBox="1"/>
          <p:nvPr/>
        </p:nvSpPr>
        <p:spPr>
          <a:xfrm>
            <a:off x="2006798" y="1468540"/>
            <a:ext cx="976549" cy="369332"/>
          </a:xfrm>
          <a:prstGeom prst="rect">
            <a:avLst/>
          </a:prstGeom>
          <a:noFill/>
        </p:spPr>
        <p:txBody>
          <a:bodyPr wrap="none" rtlCol="0" anchor="ctr" anchorCtr="0">
            <a:spAutoFit/>
          </a:bodyPr>
          <a:lstStyle/>
          <a:p>
            <a:pPr eaLnBrk="1" hangingPunct="1">
              <a:lnSpc>
                <a:spcPct val="100000"/>
              </a:lnSpc>
              <a:spcBef>
                <a:spcPct val="0"/>
              </a:spcBef>
            </a:pPr>
            <a:r>
              <a:rPr lang="en-US" sz="1800" b="0" dirty="0" smtClean="0">
                <a:solidFill>
                  <a:srgbClr val="000000"/>
                </a:solidFill>
                <a:latin typeface="Arial Narrow" pitchFamily="34" charset="0"/>
              </a:rPr>
              <a:t>Post EV2</a:t>
            </a:r>
          </a:p>
        </p:txBody>
      </p:sp>
      <p:sp>
        <p:nvSpPr>
          <p:cNvPr id="42" name="TextBox 41"/>
          <p:cNvSpPr txBox="1"/>
          <p:nvPr/>
        </p:nvSpPr>
        <p:spPr>
          <a:xfrm>
            <a:off x="2006798" y="2160896"/>
            <a:ext cx="976549" cy="369332"/>
          </a:xfrm>
          <a:prstGeom prst="rect">
            <a:avLst/>
          </a:prstGeom>
          <a:noFill/>
        </p:spPr>
        <p:txBody>
          <a:bodyPr wrap="none" rtlCol="0" anchor="ctr" anchorCtr="0">
            <a:spAutoFit/>
          </a:bodyPr>
          <a:lstStyle/>
          <a:p>
            <a:pPr eaLnBrk="1" hangingPunct="1">
              <a:lnSpc>
                <a:spcPct val="100000"/>
              </a:lnSpc>
              <a:spcBef>
                <a:spcPct val="0"/>
              </a:spcBef>
            </a:pPr>
            <a:r>
              <a:rPr lang="en-US" sz="1800" b="0" smtClean="0">
                <a:solidFill>
                  <a:srgbClr val="000000"/>
                </a:solidFill>
                <a:latin typeface="Arial Narrow" pitchFamily="34" charset="0"/>
              </a:rPr>
              <a:t>Post </a:t>
            </a:r>
            <a:r>
              <a:rPr lang="en-US" sz="1800" b="0" smtClean="0">
                <a:solidFill>
                  <a:srgbClr val="000000"/>
                </a:solidFill>
                <a:latin typeface="Arial Narrow" pitchFamily="34" charset="0"/>
              </a:rPr>
              <a:t>EV4</a:t>
            </a:r>
            <a:endParaRPr lang="en-US" sz="1800" b="0" dirty="0" smtClean="0">
              <a:solidFill>
                <a:srgbClr val="000000"/>
              </a:solidFill>
              <a:latin typeface="Arial Narrow" pitchFamily="34" charset="0"/>
            </a:endParaRPr>
          </a:p>
        </p:txBody>
      </p:sp>
      <p:cxnSp>
        <p:nvCxnSpPr>
          <p:cNvPr id="49" name="Straight Arrow Connector 48"/>
          <p:cNvCxnSpPr/>
          <p:nvPr/>
        </p:nvCxnSpPr>
        <p:spPr bwMode="auto">
          <a:xfrm>
            <a:off x="4114800" y="1053890"/>
            <a:ext cx="304800" cy="1588"/>
          </a:xfrm>
          <a:prstGeom prst="straightConnector1">
            <a:avLst/>
          </a:prstGeom>
          <a:solidFill>
            <a:schemeClr val="accent1"/>
          </a:solidFill>
          <a:ln w="12700" cap="flat" cmpd="sng" algn="ctr">
            <a:solidFill>
              <a:schemeClr val="tx1"/>
            </a:solidFill>
            <a:prstDash val="solid"/>
            <a:round/>
            <a:headEnd type="none" w="med" len="med"/>
            <a:tailEnd type="triangle" w="med" len="med"/>
          </a:ln>
          <a:effectLst/>
        </p:spPr>
      </p:cxnSp>
      <p:cxnSp>
        <p:nvCxnSpPr>
          <p:cNvPr id="50" name="Straight Arrow Connector 49"/>
          <p:cNvCxnSpPr/>
          <p:nvPr/>
        </p:nvCxnSpPr>
        <p:spPr bwMode="auto">
          <a:xfrm>
            <a:off x="4114800" y="1773340"/>
            <a:ext cx="304800" cy="1588"/>
          </a:xfrm>
          <a:prstGeom prst="straightConnector1">
            <a:avLst/>
          </a:prstGeom>
          <a:solidFill>
            <a:schemeClr val="accent1"/>
          </a:solidFill>
          <a:ln w="12700" cap="flat" cmpd="sng" algn="ctr">
            <a:solidFill>
              <a:schemeClr val="tx1"/>
            </a:solidFill>
            <a:prstDash val="solid"/>
            <a:round/>
            <a:headEnd type="none" w="med" len="med"/>
            <a:tailEnd type="triangle" w="med" len="med"/>
          </a:ln>
          <a:effectLst/>
        </p:spPr>
      </p:cxnSp>
      <p:cxnSp>
        <p:nvCxnSpPr>
          <p:cNvPr id="51" name="Straight Arrow Connector 50"/>
          <p:cNvCxnSpPr/>
          <p:nvPr/>
        </p:nvCxnSpPr>
        <p:spPr bwMode="auto">
          <a:xfrm>
            <a:off x="4114800" y="2847065"/>
            <a:ext cx="304800" cy="1588"/>
          </a:xfrm>
          <a:prstGeom prst="straightConnector1">
            <a:avLst/>
          </a:prstGeom>
          <a:solidFill>
            <a:schemeClr val="accent1"/>
          </a:solidFill>
          <a:ln w="12700" cap="flat" cmpd="sng" algn="ctr">
            <a:solidFill>
              <a:schemeClr val="tx1"/>
            </a:solidFill>
            <a:prstDash val="solid"/>
            <a:round/>
            <a:headEnd type="none" w="med" len="med"/>
            <a:tailEnd type="triangle" w="med" len="med"/>
          </a:ln>
          <a:effectLst/>
        </p:spPr>
      </p:cxnSp>
      <p:cxnSp>
        <p:nvCxnSpPr>
          <p:cNvPr id="53" name="Straight Connector 52"/>
          <p:cNvCxnSpPr/>
          <p:nvPr/>
        </p:nvCxnSpPr>
        <p:spPr bwMode="auto">
          <a:xfrm rot="5400000">
            <a:off x="3505200" y="1973240"/>
            <a:ext cx="1828800" cy="0"/>
          </a:xfrm>
          <a:prstGeom prst="line">
            <a:avLst/>
          </a:prstGeom>
          <a:solidFill>
            <a:schemeClr val="accent1"/>
          </a:solidFill>
          <a:ln w="12700" cap="flat" cmpd="sng" algn="ctr">
            <a:solidFill>
              <a:schemeClr val="tx1"/>
            </a:solidFill>
            <a:prstDash val="solid"/>
            <a:round/>
            <a:headEnd type="none" w="sm" len="sm"/>
            <a:tailEnd type="none" w="sm" len="sm"/>
          </a:ln>
          <a:effectLst/>
        </p:spPr>
      </p:cxnSp>
      <p:sp>
        <p:nvSpPr>
          <p:cNvPr id="31" name="TextBox 30"/>
          <p:cNvSpPr txBox="1"/>
          <p:nvPr/>
        </p:nvSpPr>
        <p:spPr>
          <a:xfrm>
            <a:off x="457200" y="5984544"/>
            <a:ext cx="8382000" cy="424732"/>
          </a:xfrm>
          <a:prstGeom prst="rect">
            <a:avLst/>
          </a:prstGeom>
          <a:noFill/>
        </p:spPr>
        <p:txBody>
          <a:bodyPr wrap="square" rtlCol="0" anchor="ctr" anchorCtr="0">
            <a:spAutoFit/>
          </a:bodyPr>
          <a:lstStyle/>
          <a:p>
            <a:pPr marL="342900" indent="-342900" eaLnBrk="1" hangingPunct="1">
              <a:lnSpc>
                <a:spcPct val="90000"/>
              </a:lnSpc>
              <a:spcBef>
                <a:spcPts val="600"/>
              </a:spcBef>
              <a:buClr>
                <a:srgbClr val="FF0000"/>
              </a:buClr>
              <a:buSzPct val="75000"/>
              <a:buFont typeface="Wingdings"/>
              <a:buChar char=""/>
            </a:pPr>
            <a:r>
              <a:rPr lang="en-US" b="0" dirty="0" smtClean="0">
                <a:solidFill>
                  <a:srgbClr val="000000"/>
                </a:solidFill>
                <a:latin typeface="Calibri" pitchFamily="34" charset="0"/>
                <a:cs typeface="Calibri" pitchFamily="34" charset="0"/>
              </a:rPr>
              <a:t>So, even a standard </a:t>
            </a:r>
            <a:r>
              <a:rPr lang="en-US" sz="2000" b="0" dirty="0" err="1" smtClean="0">
                <a:solidFill>
                  <a:srgbClr val="000000"/>
                </a:solidFill>
                <a:latin typeface="Courier New" pitchFamily="49" charset="0"/>
                <a:cs typeface="Courier New" pitchFamily="49" charset="0"/>
              </a:rPr>
              <a:t>Semaphore_post</a:t>
            </a:r>
            <a:r>
              <a:rPr lang="en-US" sz="2000" b="0" dirty="0" smtClean="0">
                <a:solidFill>
                  <a:srgbClr val="000000"/>
                </a:solidFill>
                <a:latin typeface="Courier New" pitchFamily="49" charset="0"/>
                <a:cs typeface="Courier New" pitchFamily="49" charset="0"/>
              </a:rPr>
              <a:t>(</a:t>
            </a:r>
            <a:r>
              <a:rPr lang="en-US" sz="2000" b="0" dirty="0" err="1" smtClean="0">
                <a:solidFill>
                  <a:srgbClr val="000000"/>
                </a:solidFill>
                <a:latin typeface="Courier New" pitchFamily="49" charset="0"/>
                <a:cs typeface="Courier New" pitchFamily="49" charset="0"/>
              </a:rPr>
              <a:t>Sem</a:t>
            </a:r>
            <a:r>
              <a:rPr lang="en-US" sz="2000" b="0" dirty="0" smtClean="0">
                <a:solidFill>
                  <a:srgbClr val="000000"/>
                </a:solidFill>
                <a:latin typeface="Courier New" pitchFamily="49" charset="0"/>
                <a:cs typeface="Courier New" pitchFamily="49" charset="0"/>
              </a:rPr>
              <a:t>)</a:t>
            </a:r>
            <a:r>
              <a:rPr lang="en-US" sz="2000" b="0" dirty="0" smtClean="0">
                <a:solidFill>
                  <a:srgbClr val="000000"/>
                </a:solidFill>
                <a:latin typeface="Calibri" pitchFamily="34" charset="0"/>
                <a:cs typeface="Calibri" pitchFamily="34" charset="0"/>
              </a:rPr>
              <a:t> </a:t>
            </a:r>
            <a:r>
              <a:rPr lang="en-US" b="0" dirty="0" smtClean="0">
                <a:solidFill>
                  <a:srgbClr val="000000"/>
                </a:solidFill>
                <a:latin typeface="Calibri" pitchFamily="34" charset="0"/>
                <a:cs typeface="Calibri" pitchFamily="34" charset="0"/>
              </a:rPr>
              <a:t>can post an event !</a:t>
            </a:r>
          </a:p>
        </p:txBody>
      </p:sp>
      <p:sp>
        <p:nvSpPr>
          <p:cNvPr id="33" name="TextBox 32"/>
          <p:cNvSpPr txBox="1"/>
          <p:nvPr/>
        </p:nvSpPr>
        <p:spPr>
          <a:xfrm>
            <a:off x="2286000" y="6475020"/>
            <a:ext cx="4821961" cy="369332"/>
          </a:xfrm>
          <a:prstGeom prst="rect">
            <a:avLst/>
          </a:prstGeom>
          <a:noFill/>
        </p:spPr>
        <p:txBody>
          <a:bodyPr wrap="none" rtlCol="0" anchor="ctr" anchorCtr="0">
            <a:spAutoFit/>
          </a:bodyPr>
          <a:lstStyle/>
          <a:p>
            <a:pPr eaLnBrk="1" hangingPunct="1">
              <a:lnSpc>
                <a:spcPct val="100000"/>
              </a:lnSpc>
              <a:spcBef>
                <a:spcPct val="0"/>
              </a:spcBef>
            </a:pPr>
            <a:r>
              <a:rPr lang="en-US" sz="1800" b="0" dirty="0" smtClean="0">
                <a:solidFill>
                  <a:srgbClr val="000000"/>
                </a:solidFill>
                <a:latin typeface="Arial Narrow" pitchFamily="34" charset="0"/>
              </a:rPr>
              <a:t>Note: see “Event” example under SYS/BIOS Templates</a:t>
            </a:r>
          </a:p>
        </p:txBody>
      </p:sp>
      <p:sp>
        <p:nvSpPr>
          <p:cNvPr id="30" name="TextBox 29"/>
          <p:cNvSpPr txBox="1"/>
          <p:nvPr/>
        </p:nvSpPr>
        <p:spPr>
          <a:xfrm>
            <a:off x="4495800" y="1820840"/>
            <a:ext cx="646331" cy="400110"/>
          </a:xfrm>
          <a:prstGeom prst="rect">
            <a:avLst/>
          </a:prstGeom>
          <a:noFill/>
        </p:spPr>
        <p:txBody>
          <a:bodyPr wrap="none" rtlCol="0" anchor="ctr" anchorCtr="0">
            <a:spAutoFit/>
          </a:bodyPr>
          <a:lstStyle/>
          <a:p>
            <a:pPr eaLnBrk="1" hangingPunct="1">
              <a:lnSpc>
                <a:spcPct val="100000"/>
              </a:lnSpc>
              <a:spcBef>
                <a:spcPct val="0"/>
              </a:spcBef>
            </a:pPr>
            <a:r>
              <a:rPr lang="en-US" sz="2000" b="0" dirty="0" smtClean="0">
                <a:solidFill>
                  <a:srgbClr val="000000"/>
                </a:solidFill>
                <a:latin typeface="Courier New" pitchFamily="49" charset="0"/>
                <a:cs typeface="Courier New" pitchFamily="49" charset="0"/>
              </a:rPr>
              <a:t>AND</a:t>
            </a:r>
          </a:p>
        </p:txBody>
      </p:sp>
      <p:sp>
        <p:nvSpPr>
          <p:cNvPr id="35" name="TextBox 34"/>
          <p:cNvSpPr txBox="1"/>
          <p:nvPr/>
        </p:nvSpPr>
        <p:spPr>
          <a:xfrm>
            <a:off x="4558864" y="2094108"/>
            <a:ext cx="492443" cy="400110"/>
          </a:xfrm>
          <a:prstGeom prst="rect">
            <a:avLst/>
          </a:prstGeom>
          <a:noFill/>
        </p:spPr>
        <p:txBody>
          <a:bodyPr wrap="none" rtlCol="0" anchor="ctr" anchorCtr="0">
            <a:spAutoFit/>
          </a:bodyPr>
          <a:lstStyle/>
          <a:p>
            <a:pPr eaLnBrk="1" hangingPunct="1">
              <a:lnSpc>
                <a:spcPct val="100000"/>
              </a:lnSpc>
              <a:spcBef>
                <a:spcPct val="0"/>
              </a:spcBef>
            </a:pPr>
            <a:r>
              <a:rPr lang="en-US" sz="2000" b="0" dirty="0" smtClean="0">
                <a:solidFill>
                  <a:srgbClr val="000000"/>
                </a:solidFill>
                <a:latin typeface="Courier New" pitchFamily="49" charset="0"/>
                <a:cs typeface="Courier New" pitchFamily="49" charset="0"/>
              </a:rPr>
              <a:t>OR</a:t>
            </a:r>
          </a:p>
        </p:txBody>
      </p:sp>
      <p:sp>
        <p:nvSpPr>
          <p:cNvPr id="36" name="TextBox 35"/>
          <p:cNvSpPr txBox="1"/>
          <p:nvPr/>
        </p:nvSpPr>
        <p:spPr>
          <a:xfrm>
            <a:off x="5255194" y="1133314"/>
            <a:ext cx="3355406" cy="1754326"/>
          </a:xfrm>
          <a:prstGeom prst="rect">
            <a:avLst/>
          </a:prstGeom>
          <a:solidFill>
            <a:schemeClr val="accent4">
              <a:lumMod val="20000"/>
              <a:lumOff val="80000"/>
            </a:schemeClr>
          </a:solidFill>
          <a:ln>
            <a:solidFill>
              <a:schemeClr val="tx1"/>
            </a:solidFill>
          </a:ln>
          <a:effectLst>
            <a:outerShdw blurRad="50800" dist="76200" dir="2700000" algn="tl" rotWithShape="0">
              <a:prstClr val="black">
                <a:alpha val="40000"/>
              </a:prstClr>
            </a:outerShdw>
          </a:effectLst>
        </p:spPr>
        <p:txBody>
          <a:bodyPr wrap="none" rtlCol="0" anchor="ctr" anchorCtr="0">
            <a:spAutoFit/>
          </a:bodyPr>
          <a:lstStyle/>
          <a:p>
            <a:pPr eaLnBrk="1" hangingPunct="1">
              <a:lnSpc>
                <a:spcPct val="100000"/>
              </a:lnSpc>
              <a:spcBef>
                <a:spcPct val="0"/>
              </a:spcBef>
            </a:pPr>
            <a:r>
              <a:rPr lang="en-US" sz="1800" b="0" dirty="0" smtClean="0">
                <a:solidFill>
                  <a:srgbClr val="000000"/>
                </a:solidFill>
                <a:latin typeface="Courier New" pitchFamily="49" charset="0"/>
                <a:cs typeface="Courier New" pitchFamily="49" charset="0"/>
              </a:rPr>
              <a:t>mask = EV0 + EV2 </a:t>
            </a:r>
            <a:r>
              <a:rPr lang="en-US" sz="1800" b="0" smtClean="0">
                <a:solidFill>
                  <a:srgbClr val="000000"/>
                </a:solidFill>
                <a:latin typeface="Courier New" pitchFamily="49" charset="0"/>
                <a:cs typeface="Courier New" pitchFamily="49" charset="0"/>
              </a:rPr>
              <a:t>+ </a:t>
            </a:r>
            <a:r>
              <a:rPr lang="en-US" sz="1800" b="0" smtClean="0">
                <a:solidFill>
                  <a:srgbClr val="000000"/>
                </a:solidFill>
                <a:latin typeface="Courier New" pitchFamily="49" charset="0"/>
                <a:cs typeface="Courier New" pitchFamily="49" charset="0"/>
              </a:rPr>
              <a:t>EV4;</a:t>
            </a:r>
            <a:endParaRPr lang="en-US" sz="1800" b="0" dirty="0" smtClean="0">
              <a:solidFill>
                <a:srgbClr val="000000"/>
              </a:solidFill>
              <a:latin typeface="Courier New" pitchFamily="49" charset="0"/>
              <a:cs typeface="Courier New" pitchFamily="49" charset="0"/>
            </a:endParaRPr>
          </a:p>
          <a:p>
            <a:pPr eaLnBrk="1" hangingPunct="1">
              <a:lnSpc>
                <a:spcPct val="100000"/>
              </a:lnSpc>
              <a:spcBef>
                <a:spcPct val="0"/>
              </a:spcBef>
            </a:pPr>
            <a:r>
              <a:rPr lang="en-US" sz="1800" b="0" dirty="0" smtClean="0">
                <a:solidFill>
                  <a:srgbClr val="000000"/>
                </a:solidFill>
                <a:latin typeface="Courier New" pitchFamily="49" charset="0"/>
                <a:cs typeface="Courier New" pitchFamily="49" charset="0"/>
              </a:rPr>
              <a:t>while(1)</a:t>
            </a:r>
          </a:p>
          <a:p>
            <a:pPr eaLnBrk="1" hangingPunct="1">
              <a:lnSpc>
                <a:spcPct val="100000"/>
              </a:lnSpc>
              <a:spcBef>
                <a:spcPct val="0"/>
              </a:spcBef>
            </a:pPr>
            <a:r>
              <a:rPr lang="en-US" sz="1800" b="0" dirty="0" smtClean="0">
                <a:solidFill>
                  <a:srgbClr val="000000"/>
                </a:solidFill>
                <a:latin typeface="Courier New" pitchFamily="49" charset="0"/>
                <a:cs typeface="Courier New" pitchFamily="49" charset="0"/>
              </a:rPr>
              <a:t>{  // “simplified” </a:t>
            </a:r>
            <a:r>
              <a:rPr lang="en-US" sz="1800" b="0" dirty="0" err="1" smtClean="0">
                <a:solidFill>
                  <a:srgbClr val="000000"/>
                </a:solidFill>
                <a:latin typeface="Courier New" pitchFamily="49" charset="0"/>
                <a:cs typeface="Courier New" pitchFamily="49" charset="0"/>
              </a:rPr>
              <a:t>ver</a:t>
            </a:r>
            <a:endParaRPr lang="en-US" sz="1800" b="0" dirty="0" smtClean="0">
              <a:solidFill>
                <a:srgbClr val="000000"/>
              </a:solidFill>
              <a:latin typeface="Courier New" pitchFamily="49" charset="0"/>
              <a:cs typeface="Courier New" pitchFamily="49" charset="0"/>
            </a:endParaRPr>
          </a:p>
          <a:p>
            <a:pPr eaLnBrk="1" hangingPunct="1">
              <a:lnSpc>
                <a:spcPct val="100000"/>
              </a:lnSpc>
              <a:spcBef>
                <a:spcPct val="0"/>
              </a:spcBef>
            </a:pPr>
            <a:r>
              <a:rPr lang="en-US" sz="1800" b="0" dirty="0" smtClean="0">
                <a:solidFill>
                  <a:srgbClr val="000000"/>
                </a:solidFill>
                <a:latin typeface="Courier New" pitchFamily="49" charset="0"/>
                <a:cs typeface="Courier New" pitchFamily="49" charset="0"/>
              </a:rPr>
              <a:t>   </a:t>
            </a:r>
            <a:r>
              <a:rPr lang="en-US" sz="1800" dirty="0" err="1" smtClean="0">
                <a:solidFill>
                  <a:srgbClr val="FF0000"/>
                </a:solidFill>
                <a:latin typeface="Courier New" pitchFamily="49" charset="0"/>
                <a:cs typeface="Courier New" pitchFamily="49" charset="0"/>
              </a:rPr>
              <a:t>Event_pend</a:t>
            </a:r>
            <a:r>
              <a:rPr lang="en-US" sz="1800" dirty="0" smtClean="0">
                <a:solidFill>
                  <a:srgbClr val="FF0000"/>
                </a:solidFill>
                <a:latin typeface="Courier New" pitchFamily="49" charset="0"/>
                <a:cs typeface="Courier New" pitchFamily="49" charset="0"/>
              </a:rPr>
              <a:t> (mask);</a:t>
            </a:r>
          </a:p>
          <a:p>
            <a:pPr eaLnBrk="1" hangingPunct="1">
              <a:lnSpc>
                <a:spcPct val="100000"/>
              </a:lnSpc>
              <a:spcBef>
                <a:spcPct val="0"/>
              </a:spcBef>
            </a:pPr>
            <a:r>
              <a:rPr lang="en-US" sz="1800" b="0" dirty="0" smtClean="0">
                <a:solidFill>
                  <a:srgbClr val="000000"/>
                </a:solidFill>
                <a:latin typeface="Courier New" pitchFamily="49" charset="0"/>
                <a:cs typeface="Courier New" pitchFamily="49" charset="0"/>
              </a:rPr>
              <a:t>   // do work</a:t>
            </a:r>
          </a:p>
          <a:p>
            <a:pPr eaLnBrk="1" hangingPunct="1">
              <a:lnSpc>
                <a:spcPct val="100000"/>
              </a:lnSpc>
              <a:spcBef>
                <a:spcPct val="0"/>
              </a:spcBef>
            </a:pPr>
            <a:r>
              <a:rPr lang="en-US" sz="1800" b="0" dirty="0" smtClean="0">
                <a:solidFill>
                  <a:srgbClr val="000000"/>
                </a:solidFill>
                <a:latin typeface="Courier New" pitchFamily="49" charset="0"/>
                <a:cs typeface="Courier New" pitchFamily="49" charset="0"/>
              </a:rPr>
              <a:t>}</a:t>
            </a:r>
          </a:p>
        </p:txBody>
      </p:sp>
      <p:sp>
        <p:nvSpPr>
          <p:cNvPr id="43" name="TextBox 42"/>
          <p:cNvSpPr txBox="1"/>
          <p:nvPr/>
        </p:nvSpPr>
        <p:spPr>
          <a:xfrm>
            <a:off x="5181600" y="756655"/>
            <a:ext cx="1121013" cy="400110"/>
          </a:xfrm>
          <a:prstGeom prst="rect">
            <a:avLst/>
          </a:prstGeom>
          <a:noFill/>
        </p:spPr>
        <p:txBody>
          <a:bodyPr wrap="none" rtlCol="0" anchor="ctr" anchorCtr="0">
            <a:spAutoFit/>
          </a:bodyPr>
          <a:lstStyle/>
          <a:p>
            <a:pPr eaLnBrk="1" hangingPunct="1">
              <a:lnSpc>
                <a:spcPct val="100000"/>
              </a:lnSpc>
              <a:spcBef>
                <a:spcPct val="0"/>
              </a:spcBef>
            </a:pPr>
            <a:r>
              <a:rPr lang="en-US" sz="2000" dirty="0" err="1" smtClean="0">
                <a:solidFill>
                  <a:srgbClr val="FF0000"/>
                </a:solidFill>
              </a:rPr>
              <a:t>myTask</a:t>
            </a:r>
            <a:endParaRPr lang="en-US" sz="2000" dirty="0" smtClean="0">
              <a:solidFill>
                <a:srgbClr val="FF0000"/>
              </a:solidFill>
            </a:endParaRPr>
          </a:p>
        </p:txBody>
      </p:sp>
      <p:pic>
        <p:nvPicPr>
          <p:cNvPr id="45"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pic>
        <p:nvPicPr>
          <p:cNvPr id="2050" name="Picture 2" descr="C:\Users\a0159877\AppData\Local\Temp\SNAGHTML114c4b.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4163" y="4158874"/>
            <a:ext cx="4488859" cy="1934853"/>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p:cNvSpPr txBox="1"/>
          <p:nvPr/>
        </p:nvSpPr>
        <p:spPr>
          <a:xfrm>
            <a:off x="4419601" y="4901823"/>
            <a:ext cx="1564852" cy="707886"/>
          </a:xfrm>
          <a:prstGeom prst="rect">
            <a:avLst/>
          </a:prstGeom>
          <a:solidFill>
            <a:schemeClr val="accent5">
              <a:lumMod val="20000"/>
              <a:lumOff val="80000"/>
            </a:schemeClr>
          </a:solidFill>
          <a:ln w="12700">
            <a:solidFill>
              <a:schemeClr val="tx1"/>
            </a:solidFill>
          </a:ln>
          <a:effectLst>
            <a:outerShdw blurRad="50800" dist="76200" dir="2700000" algn="tl" rotWithShape="0">
              <a:prstClr val="black">
                <a:alpha val="40000"/>
              </a:prstClr>
            </a:outerShdw>
          </a:effectLst>
        </p:spPr>
        <p:txBody>
          <a:bodyPr wrap="none" rtlCol="0" anchor="ctr" anchorCtr="0">
            <a:spAutoFit/>
          </a:bodyPr>
          <a:lstStyle/>
          <a:p>
            <a:pPr algn="ctr" eaLnBrk="1" hangingPunct="1">
              <a:lnSpc>
                <a:spcPct val="100000"/>
              </a:lnSpc>
              <a:spcBef>
                <a:spcPct val="0"/>
              </a:spcBef>
            </a:pPr>
            <a:r>
              <a:rPr lang="en-US" sz="2000" dirty="0" smtClean="0">
                <a:solidFill>
                  <a:srgbClr val="000000"/>
                </a:solidFill>
                <a:latin typeface="Arial Narrow" pitchFamily="34" charset="0"/>
              </a:rPr>
              <a:t>Specify Event</a:t>
            </a:r>
            <a:br>
              <a:rPr lang="en-US" sz="2000" dirty="0" smtClean="0">
                <a:solidFill>
                  <a:srgbClr val="000000"/>
                </a:solidFill>
                <a:latin typeface="Arial Narrow" pitchFamily="34" charset="0"/>
              </a:rPr>
            </a:br>
            <a:r>
              <a:rPr lang="en-US" sz="2000" dirty="0" smtClean="0">
                <a:solidFill>
                  <a:srgbClr val="000000"/>
                </a:solidFill>
                <a:latin typeface="Arial Narrow" pitchFamily="34" charset="0"/>
              </a:rPr>
              <a:t>Id here…</a:t>
            </a:r>
          </a:p>
        </p:txBody>
      </p:sp>
      <p:cxnSp>
        <p:nvCxnSpPr>
          <p:cNvPr id="34" name="Straight Arrow Connector 33"/>
          <p:cNvCxnSpPr/>
          <p:nvPr/>
        </p:nvCxnSpPr>
        <p:spPr bwMode="auto">
          <a:xfrm flipH="1">
            <a:off x="2983347" y="5407927"/>
            <a:ext cx="1588654" cy="152400"/>
          </a:xfrm>
          <a:prstGeom prst="straightConnector1">
            <a:avLst/>
          </a:prstGeom>
          <a:solidFill>
            <a:schemeClr val="accent1"/>
          </a:solidFill>
          <a:ln w="28575" cap="flat" cmpd="sng" algn="ctr">
            <a:solidFill>
              <a:schemeClr val="tx2"/>
            </a:solidFill>
            <a:prstDash val="solid"/>
            <a:round/>
            <a:headEnd type="none" w="sm" len="sm"/>
            <a:tailEnd type="arrow"/>
          </a:ln>
          <a:effectLst/>
        </p:spPr>
      </p:cxnSp>
      <p:graphicFrame>
        <p:nvGraphicFramePr>
          <p:cNvPr id="44" name="Table 43"/>
          <p:cNvGraphicFramePr>
            <a:graphicFrameLocks noGrp="1"/>
          </p:cNvGraphicFramePr>
          <p:nvPr>
            <p:extLst>
              <p:ext uri="{D42A27DB-BD31-4B8C-83A1-F6EECF244321}">
                <p14:modId xmlns:p14="http://schemas.microsoft.com/office/powerpoint/2010/main" val="4019136675"/>
              </p:ext>
            </p:extLst>
          </p:nvPr>
        </p:nvGraphicFramePr>
        <p:xfrm>
          <a:off x="3200400" y="874361"/>
          <a:ext cx="914400" cy="2560320"/>
        </p:xfrm>
        <a:graphic>
          <a:graphicData uri="http://schemas.openxmlformats.org/drawingml/2006/table">
            <a:tbl>
              <a:tblPr firstRow="1" bandRow="1">
                <a:tableStyleId>{5C22544A-7EE6-4342-B048-85BDC9FD1C3A}</a:tableStyleId>
              </a:tblPr>
              <a:tblGrid>
                <a:gridCol w="914400"/>
              </a:tblGrid>
              <a:tr h="299720">
                <a:tc>
                  <a:txBody>
                    <a:bodyPr/>
                    <a:lstStyle/>
                    <a:p>
                      <a:pPr algn="ctr"/>
                      <a:r>
                        <a:rPr lang="en-US" dirty="0" smtClean="0">
                          <a:solidFill>
                            <a:schemeClr val="tx1"/>
                          </a:solidFill>
                        </a:rPr>
                        <a:t>EV0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299720">
                <a:tc>
                  <a:txBody>
                    <a:bodyPr/>
                    <a:lstStyle/>
                    <a:p>
                      <a:pPr algn="ctr"/>
                      <a:r>
                        <a:rPr lang="en-US" b="1" dirty="0" smtClean="0">
                          <a:solidFill>
                            <a:schemeClr val="tx1"/>
                          </a:solidFill>
                        </a:rPr>
                        <a:t>EV1</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299720">
                <a:tc>
                  <a:txBody>
                    <a:bodyPr/>
                    <a:lstStyle/>
                    <a:p>
                      <a:pPr algn="ctr"/>
                      <a:r>
                        <a:rPr lang="en-US" b="1" dirty="0" smtClean="0">
                          <a:solidFill>
                            <a:schemeClr val="tx1"/>
                          </a:solidFill>
                        </a:rPr>
                        <a:t>EV2</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299720">
                <a:tc>
                  <a:txBody>
                    <a:bodyPr/>
                    <a:lstStyle/>
                    <a:p>
                      <a:pPr algn="ctr"/>
                      <a:r>
                        <a:rPr lang="en-US" b="1" dirty="0" smtClean="0">
                          <a:solidFill>
                            <a:schemeClr val="tx1"/>
                          </a:solidFill>
                        </a:rPr>
                        <a:t>EV3</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299720">
                <a:tc>
                  <a:txBody>
                    <a:bodyPr/>
                    <a:lstStyle/>
                    <a:p>
                      <a:pPr algn="ctr"/>
                      <a:r>
                        <a:rPr lang="en-US" b="1" dirty="0" smtClean="0">
                          <a:solidFill>
                            <a:schemeClr val="tx1"/>
                          </a:solidFill>
                        </a:rPr>
                        <a:t>EV4</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299720">
                <a:tc>
                  <a:txBody>
                    <a:bodyPr/>
                    <a:lstStyle/>
                    <a:p>
                      <a:pPr algn="ctr"/>
                      <a:r>
                        <a:rPr lang="en-US" b="1" smtClean="0">
                          <a:solidFill>
                            <a:schemeClr val="tx1"/>
                          </a:solidFill>
                        </a:rPr>
                        <a:t>…</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2997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smtClean="0">
                          <a:solidFill>
                            <a:schemeClr val="tx1"/>
                          </a:solidFill>
                        </a:rPr>
                        <a:t>EV31</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bl>
          </a:graphicData>
        </a:graphic>
      </p:graphicFrame>
      <p:sp>
        <p:nvSpPr>
          <p:cNvPr id="46" name="TextBox 45"/>
          <p:cNvSpPr txBox="1"/>
          <p:nvPr/>
        </p:nvSpPr>
        <p:spPr>
          <a:xfrm>
            <a:off x="3200813" y="601640"/>
            <a:ext cx="941283" cy="313932"/>
          </a:xfrm>
          <a:prstGeom prst="rect">
            <a:avLst/>
          </a:prstGeom>
          <a:noFill/>
        </p:spPr>
        <p:txBody>
          <a:bodyPr wrap="none" rtlCol="0" anchor="ctr" anchorCtr="0">
            <a:spAutoFit/>
          </a:bodyPr>
          <a:lstStyle/>
          <a:p>
            <a:r>
              <a:rPr lang="en-US" sz="1800" b="0" smtClean="0">
                <a:solidFill>
                  <a:srgbClr val="0070C0"/>
                </a:solidFill>
                <a:effectLst/>
              </a:rPr>
              <a:t>Evt Obj</a:t>
            </a:r>
            <a:endParaRPr lang="en-US" sz="1800" b="0" dirty="0" smtClean="0">
              <a:solidFill>
                <a:srgbClr val="0070C0"/>
              </a:solidFill>
              <a:effectLst/>
            </a:endParaRPr>
          </a:p>
        </p:txBody>
      </p:sp>
      <p:cxnSp>
        <p:nvCxnSpPr>
          <p:cNvPr id="57" name="Straight Arrow Connector 56"/>
          <p:cNvCxnSpPr/>
          <p:nvPr/>
        </p:nvCxnSpPr>
        <p:spPr bwMode="auto">
          <a:xfrm>
            <a:off x="4419600" y="2132565"/>
            <a:ext cx="1219200" cy="0"/>
          </a:xfrm>
          <a:prstGeom prst="straightConnector1">
            <a:avLst/>
          </a:prstGeom>
          <a:solidFill>
            <a:schemeClr val="accent1"/>
          </a:solidFill>
          <a:ln w="12700" cap="flat" cmpd="sng" algn="ctr">
            <a:solidFill>
              <a:schemeClr val="tx1"/>
            </a:solidFill>
            <a:prstDash val="solid"/>
            <a:round/>
            <a:headEnd type="none" w="med" len="med"/>
            <a:tailEnd type="triangle" w="med" len="med"/>
          </a:ln>
          <a:effectLst/>
        </p:spPr>
      </p:cxnSp>
    </p:spTree>
    <p:extLst>
      <p:ext uri="{BB962C8B-B14F-4D97-AF65-F5344CB8AC3E}">
        <p14:creationId xmlns:p14="http://schemas.microsoft.com/office/powerpoint/2010/main" val="2622144144"/>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685800"/>
            <a:ext cx="5562600" cy="5638800"/>
          </a:xfrm>
          <a:prstGeom prst="rect">
            <a:avLst/>
          </a:prstGeom>
          <a:solidFill>
            <a:srgbClr val="92D050"/>
          </a:solidFill>
          <a:ln w="19050">
            <a:solidFill>
              <a:schemeClr val="tx1"/>
            </a:solidFill>
            <a:miter lim="800000"/>
            <a:headEnd type="none" w="sm" len="sm"/>
            <a:tailEnd type="none" w="sm" len="sm"/>
          </a:ln>
          <a:effectLst>
            <a:outerShdw blurRad="50800" dist="101600" dir="2700000" algn="tl" rotWithShape="0">
              <a:prstClr val="black">
                <a:alpha val="40000"/>
              </a:prstClr>
            </a:outerShdw>
          </a:effectLst>
        </p:spPr>
        <p:txBody>
          <a:bodyPr wrap="none" tIns="36576" bIns="36576"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1" cstate="print"/>
          <a:srcRect/>
          <a:stretch>
            <a:fillRect/>
          </a:stretch>
        </p:blipFill>
        <p:spPr bwMode="auto">
          <a:xfrm>
            <a:off x="6160824" y="1153041"/>
            <a:ext cx="2819400" cy="4172713"/>
          </a:xfrm>
          <a:prstGeom prst="rect">
            <a:avLst/>
          </a:prstGeom>
          <a:noFill/>
        </p:spPr>
      </p:pic>
      <p:pic>
        <p:nvPicPr>
          <p:cNvPr id="9" name="Animated Logo" descr="tilogo_color_twoline.png"/>
          <p:cNvPicPr>
            <a:picLocks noChangeAspect="1"/>
          </p:cNvPicPr>
          <p:nvPr/>
        </p:nvPicPr>
        <p:blipFill>
          <a:blip r:embed="rId12"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3" action="ppaction://hlinksldjump"/>
          </p:cNvPr>
          <p:cNvSpPr txBox="1">
            <a:spLocks noChangeArrowheads="1"/>
          </p:cNvSpPr>
          <p:nvPr>
            <p:custDataLst>
              <p:tags r:id="rId2"/>
            </p:custDataLst>
          </p:nvPr>
        </p:nvSpPr>
        <p:spPr bwMode="auto">
          <a:xfrm>
            <a:off x="301576" y="780433"/>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Tasks</a:t>
            </a:r>
            <a:endParaRPr lang="en-US" sz="2800" dirty="0">
              <a:solidFill>
                <a:srgbClr val="000000"/>
              </a:solidFill>
            </a:endParaRPr>
          </a:p>
        </p:txBody>
      </p:sp>
      <p:sp>
        <p:nvSpPr>
          <p:cNvPr id="11" name="Text Box 4">
            <a:hlinkClick r:id="rId14" action="ppaction://hlinksldjump"/>
          </p:cNvPr>
          <p:cNvSpPr txBox="1">
            <a:spLocks noChangeArrowheads="1"/>
          </p:cNvSpPr>
          <p:nvPr>
            <p:custDataLst>
              <p:tags r:id="rId3"/>
            </p:custDataLst>
          </p:nvPr>
        </p:nvSpPr>
        <p:spPr bwMode="auto">
          <a:xfrm>
            <a:off x="301576" y="1315250"/>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Swi vs. Task</a:t>
            </a:r>
            <a:endParaRPr lang="en-US" sz="2800" dirty="0">
              <a:solidFill>
                <a:srgbClr val="000000"/>
              </a:solidFill>
            </a:endParaRPr>
          </a:p>
        </p:txBody>
      </p:sp>
      <p:sp>
        <p:nvSpPr>
          <p:cNvPr id="12" name="Text Box 4">
            <a:hlinkClick r:id="rId15" action="ppaction://hlinksldjump"/>
          </p:cNvPr>
          <p:cNvSpPr txBox="1">
            <a:spLocks noChangeArrowheads="1"/>
          </p:cNvSpPr>
          <p:nvPr>
            <p:custDataLst>
              <p:tags r:id="rId4"/>
            </p:custDataLst>
          </p:nvPr>
        </p:nvSpPr>
        <p:spPr bwMode="auto">
          <a:xfrm>
            <a:off x="301576" y="1850067"/>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Semaphores</a:t>
            </a:r>
            <a:endParaRPr lang="en-US" sz="2800" dirty="0">
              <a:solidFill>
                <a:srgbClr val="000000"/>
              </a:solidFill>
            </a:endParaRPr>
          </a:p>
        </p:txBody>
      </p:sp>
      <p:sp>
        <p:nvSpPr>
          <p:cNvPr id="13" name="Text Box 4">
            <a:hlinkClick r:id="rId16" action="ppaction://hlinksldjump"/>
          </p:cNvPr>
          <p:cNvSpPr txBox="1">
            <a:spLocks noChangeArrowheads="1"/>
          </p:cNvSpPr>
          <p:nvPr>
            <p:custDataLst>
              <p:tags r:id="rId5"/>
            </p:custDataLst>
          </p:nvPr>
        </p:nvSpPr>
        <p:spPr bwMode="auto">
          <a:xfrm>
            <a:off x="301576" y="2384884"/>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Other Useful APIs…</a:t>
            </a:r>
            <a:endParaRPr lang="en-US" sz="2800" dirty="0">
              <a:solidFill>
                <a:srgbClr val="000000"/>
              </a:solidFill>
            </a:endParaRPr>
          </a:p>
        </p:txBody>
      </p:sp>
      <p:sp>
        <p:nvSpPr>
          <p:cNvPr id="14" name="Text Box 4">
            <a:hlinkClick r:id="rId17" action="ppaction://hlinksldjump"/>
          </p:cNvPr>
          <p:cNvSpPr txBox="1">
            <a:spLocks noChangeArrowheads="1"/>
          </p:cNvSpPr>
          <p:nvPr>
            <p:custDataLst>
              <p:tags r:id="rId6"/>
            </p:custDataLst>
          </p:nvPr>
        </p:nvSpPr>
        <p:spPr bwMode="auto">
          <a:xfrm>
            <a:off x="301576" y="2919701"/>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Events</a:t>
            </a:r>
            <a:endParaRPr lang="en-US" sz="2800" dirty="0">
              <a:solidFill>
                <a:srgbClr val="000000"/>
              </a:solidFill>
            </a:endParaRPr>
          </a:p>
        </p:txBody>
      </p:sp>
      <p:sp>
        <p:nvSpPr>
          <p:cNvPr id="15" name="Text Box 3">
            <a:hlinkClick r:id="rId18" action="ppaction://hlinksldjump"/>
          </p:cNvPr>
          <p:cNvSpPr txBox="1">
            <a:spLocks noChangeArrowheads="1"/>
          </p:cNvSpPr>
          <p:nvPr>
            <p:custDataLst>
              <p:tags r:id="rId7"/>
            </p:custDataLst>
          </p:nvPr>
        </p:nvSpPr>
        <p:spPr bwMode="auto">
          <a:xfrm>
            <a:off x="304800" y="3454518"/>
            <a:ext cx="5562600" cy="4616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6" name="Text Box 4">
            <a:hlinkClick r:id="rId19" action="ppaction://hlinksldjump"/>
          </p:cNvPr>
          <p:cNvSpPr txBox="1">
            <a:spLocks noChangeArrowheads="1"/>
          </p:cNvSpPr>
          <p:nvPr>
            <p:custDataLst>
              <p:tags r:id="rId8"/>
            </p:custDataLst>
          </p:nvPr>
        </p:nvSpPr>
        <p:spPr bwMode="auto">
          <a:xfrm>
            <a:off x="301576" y="3989335"/>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Memory Footprint</a:t>
            </a:r>
            <a:endParaRPr lang="en-US" sz="2800" dirty="0">
              <a:solidFill>
                <a:srgbClr val="000000"/>
              </a:solidFill>
            </a:endParaRPr>
          </a:p>
        </p:txBody>
      </p:sp>
      <p:sp>
        <p:nvSpPr>
          <p:cNvPr id="17" name="Text Box 4">
            <a:hlinkClick r:id="rId20" action="ppaction://hlinksldjump"/>
          </p:cNvPr>
          <p:cNvSpPr txBox="1">
            <a:spLocks noChangeArrowheads="1"/>
          </p:cNvSpPr>
          <p:nvPr>
            <p:custDataLst>
              <p:tags r:id="rId9"/>
            </p:custDataLst>
          </p:nvPr>
        </p:nvSpPr>
        <p:spPr bwMode="auto">
          <a:xfrm>
            <a:off x="301576" y="4524152"/>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1211230014"/>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ChangeArrowheads="1"/>
          </p:cNvSpPr>
          <p:nvPr/>
        </p:nvSpPr>
        <p:spPr bwMode="auto">
          <a:xfrm>
            <a:off x="685800" y="3079899"/>
            <a:ext cx="6172200" cy="2581274"/>
          </a:xfrm>
          <a:prstGeom prst="rect">
            <a:avLst/>
          </a:prstGeom>
          <a:solidFill>
            <a:schemeClr val="accent4">
              <a:lumMod val="20000"/>
              <a:lumOff val="80000"/>
            </a:schemeClr>
          </a:solidFill>
          <a:ln w="12700">
            <a:solidFill>
              <a:schemeClr val="tx1"/>
            </a:solidFill>
            <a:miter lim="800000"/>
            <a:headEnd/>
            <a:tailEnd/>
          </a:ln>
          <a:effectLst>
            <a:outerShdw dist="107763" dir="2700000" algn="ctr" rotWithShape="0">
              <a:schemeClr val="bg2"/>
            </a:outerShdw>
          </a:effectLst>
        </p:spPr>
        <p:txBody>
          <a:bodyPr lIns="92075" tIns="46038" rIns="92075" bIns="46038" anchor="ctr"/>
          <a:lstStyle/>
          <a:p>
            <a:pPr>
              <a:lnSpc>
                <a:spcPct val="100000"/>
              </a:lnSpc>
              <a:spcBef>
                <a:spcPct val="0"/>
              </a:spcBef>
              <a:defRPr/>
            </a:pPr>
            <a:r>
              <a:rPr lang="en-US" sz="1800" dirty="0">
                <a:solidFill>
                  <a:srgbClr val="000000"/>
                </a:solidFill>
                <a:latin typeface="Courier New" pitchFamily="49" charset="0"/>
              </a:rPr>
              <a:t> #define COUNT 0</a:t>
            </a:r>
          </a:p>
          <a:p>
            <a:pPr>
              <a:lnSpc>
                <a:spcPct val="100000"/>
              </a:lnSpc>
              <a:spcBef>
                <a:spcPct val="0"/>
              </a:spcBef>
              <a:defRPr/>
            </a:pPr>
            <a:r>
              <a:rPr lang="en-US" sz="1800" dirty="0">
                <a:solidFill>
                  <a:srgbClr val="000000"/>
                </a:solidFill>
                <a:latin typeface="Courier New" pitchFamily="49" charset="0"/>
              </a:rPr>
              <a:t> </a:t>
            </a:r>
          </a:p>
          <a:p>
            <a:pPr>
              <a:lnSpc>
                <a:spcPct val="100000"/>
              </a:lnSpc>
              <a:spcBef>
                <a:spcPct val="0"/>
              </a:spcBef>
              <a:defRPr/>
            </a:pPr>
            <a:r>
              <a:rPr lang="en-US" sz="1800" dirty="0">
                <a:solidFill>
                  <a:srgbClr val="000000"/>
                </a:solidFill>
                <a:latin typeface="Courier New" pitchFamily="49" charset="0"/>
              </a:rPr>
              <a:t> </a:t>
            </a:r>
            <a:r>
              <a:rPr lang="en-US" sz="1800" dirty="0" err="1" smtClean="0">
                <a:solidFill>
                  <a:srgbClr val="000000"/>
                </a:solidFill>
                <a:latin typeface="Courier New" pitchFamily="49" charset="0"/>
              </a:rPr>
              <a:t>Semaphore_Handle</a:t>
            </a:r>
            <a:r>
              <a:rPr lang="en-US" sz="1800" dirty="0" smtClean="0">
                <a:solidFill>
                  <a:srgbClr val="000000"/>
                </a:solidFill>
                <a:latin typeface="Courier New" pitchFamily="49" charset="0"/>
              </a:rPr>
              <a:t>  </a:t>
            </a:r>
            <a:r>
              <a:rPr lang="en-US" sz="1800" dirty="0" err="1">
                <a:solidFill>
                  <a:srgbClr val="000000"/>
                </a:solidFill>
                <a:latin typeface="Courier New" pitchFamily="49" charset="0"/>
              </a:rPr>
              <a:t>hMySem</a:t>
            </a:r>
            <a:r>
              <a:rPr lang="en-US" sz="1800" dirty="0">
                <a:solidFill>
                  <a:srgbClr val="000000"/>
                </a:solidFill>
                <a:latin typeface="Courier New" pitchFamily="49" charset="0"/>
              </a:rPr>
              <a:t>;</a:t>
            </a:r>
          </a:p>
          <a:p>
            <a:pPr>
              <a:lnSpc>
                <a:spcPct val="100000"/>
              </a:lnSpc>
              <a:spcBef>
                <a:spcPct val="0"/>
              </a:spcBef>
              <a:defRPr/>
            </a:pPr>
            <a:r>
              <a:rPr lang="en-US" sz="1800" dirty="0">
                <a:solidFill>
                  <a:srgbClr val="000000"/>
                </a:solidFill>
                <a:latin typeface="Courier New" pitchFamily="49" charset="0"/>
              </a:rPr>
              <a:t> </a:t>
            </a:r>
            <a:r>
              <a:rPr lang="en-US" sz="1800" dirty="0" err="1">
                <a:solidFill>
                  <a:srgbClr val="000000"/>
                </a:solidFill>
                <a:latin typeface="Courier New" pitchFamily="49" charset="0"/>
              </a:rPr>
              <a:t>hMySem</a:t>
            </a:r>
            <a:r>
              <a:rPr lang="en-US" sz="1800" dirty="0">
                <a:solidFill>
                  <a:srgbClr val="000000"/>
                </a:solidFill>
                <a:latin typeface="Courier New" pitchFamily="49" charset="0"/>
              </a:rPr>
              <a:t> = </a:t>
            </a:r>
            <a:r>
              <a:rPr lang="en-US" sz="1800" dirty="0" err="1" smtClean="0">
                <a:solidFill>
                  <a:srgbClr val="FF0000"/>
                </a:solidFill>
                <a:latin typeface="Courier New" pitchFamily="49" charset="0"/>
              </a:rPr>
              <a:t>Semaphore_create</a:t>
            </a:r>
            <a:r>
              <a:rPr lang="en-US" sz="1800" dirty="0" smtClean="0">
                <a:solidFill>
                  <a:srgbClr val="000000"/>
                </a:solidFill>
                <a:latin typeface="Courier New" pitchFamily="49" charset="0"/>
              </a:rPr>
              <a:t>(</a:t>
            </a:r>
            <a:r>
              <a:rPr lang="en-US" sz="1800" dirty="0" err="1" smtClean="0">
                <a:solidFill>
                  <a:srgbClr val="000000"/>
                </a:solidFill>
                <a:latin typeface="Courier New" pitchFamily="49" charset="0"/>
              </a:rPr>
              <a:t>COUNT,NULL,&amp;eb</a:t>
            </a:r>
            <a:r>
              <a:rPr lang="en-US" sz="1800" dirty="0" smtClean="0">
                <a:solidFill>
                  <a:srgbClr val="000000"/>
                </a:solidFill>
                <a:latin typeface="Courier New" pitchFamily="49" charset="0"/>
              </a:rPr>
              <a:t>);</a:t>
            </a:r>
            <a:endParaRPr lang="en-US" sz="1800" dirty="0">
              <a:solidFill>
                <a:srgbClr val="000000"/>
              </a:solidFill>
              <a:latin typeface="Courier New" pitchFamily="49" charset="0"/>
            </a:endParaRPr>
          </a:p>
          <a:p>
            <a:pPr>
              <a:lnSpc>
                <a:spcPct val="100000"/>
              </a:lnSpc>
              <a:spcBef>
                <a:spcPct val="0"/>
              </a:spcBef>
              <a:defRPr/>
            </a:pPr>
            <a:endParaRPr lang="en-US" sz="1800" dirty="0">
              <a:solidFill>
                <a:srgbClr val="000000"/>
              </a:solidFill>
              <a:latin typeface="Courier New" pitchFamily="49" charset="0"/>
            </a:endParaRPr>
          </a:p>
          <a:p>
            <a:pPr>
              <a:lnSpc>
                <a:spcPct val="100000"/>
              </a:lnSpc>
              <a:spcBef>
                <a:spcPct val="0"/>
              </a:spcBef>
              <a:defRPr/>
            </a:pPr>
            <a:r>
              <a:rPr lang="en-US" sz="1800" dirty="0">
                <a:solidFill>
                  <a:srgbClr val="000000"/>
                </a:solidFill>
                <a:latin typeface="Courier New" pitchFamily="49" charset="0"/>
              </a:rPr>
              <a:t> </a:t>
            </a:r>
            <a:r>
              <a:rPr lang="en-US" sz="1800" dirty="0" err="1" smtClean="0">
                <a:solidFill>
                  <a:srgbClr val="000000"/>
                </a:solidFill>
                <a:latin typeface="Courier New" pitchFamily="49" charset="0"/>
              </a:rPr>
              <a:t>Semaphore_post</a:t>
            </a:r>
            <a:r>
              <a:rPr lang="en-US" sz="1800" dirty="0" smtClean="0">
                <a:solidFill>
                  <a:srgbClr val="000000"/>
                </a:solidFill>
                <a:latin typeface="Courier New" pitchFamily="49" charset="0"/>
              </a:rPr>
              <a:t>(</a:t>
            </a:r>
            <a:r>
              <a:rPr lang="en-US" sz="1800" dirty="0" err="1" smtClean="0">
                <a:solidFill>
                  <a:srgbClr val="000000"/>
                </a:solidFill>
                <a:latin typeface="Courier New" pitchFamily="49" charset="0"/>
              </a:rPr>
              <a:t>hMySem</a:t>
            </a:r>
            <a:r>
              <a:rPr lang="en-US" sz="1800" dirty="0">
                <a:solidFill>
                  <a:srgbClr val="000000"/>
                </a:solidFill>
                <a:latin typeface="Courier New" pitchFamily="49" charset="0"/>
              </a:rPr>
              <a:t>);</a:t>
            </a:r>
          </a:p>
          <a:p>
            <a:pPr>
              <a:lnSpc>
                <a:spcPct val="100000"/>
              </a:lnSpc>
              <a:spcBef>
                <a:spcPct val="0"/>
              </a:spcBef>
              <a:defRPr/>
            </a:pPr>
            <a:endParaRPr lang="en-US" sz="1800" dirty="0">
              <a:solidFill>
                <a:srgbClr val="000000"/>
              </a:solidFill>
              <a:latin typeface="Courier New" pitchFamily="49" charset="0"/>
            </a:endParaRPr>
          </a:p>
          <a:p>
            <a:pPr>
              <a:lnSpc>
                <a:spcPct val="100000"/>
              </a:lnSpc>
              <a:spcBef>
                <a:spcPct val="0"/>
              </a:spcBef>
              <a:defRPr/>
            </a:pPr>
            <a:r>
              <a:rPr lang="en-US" sz="1800" dirty="0">
                <a:solidFill>
                  <a:srgbClr val="000000"/>
                </a:solidFill>
                <a:latin typeface="Courier New" pitchFamily="49" charset="0"/>
              </a:rPr>
              <a:t> </a:t>
            </a:r>
            <a:r>
              <a:rPr lang="en-US" sz="1800" dirty="0" err="1" smtClean="0">
                <a:solidFill>
                  <a:srgbClr val="000000"/>
                </a:solidFill>
                <a:latin typeface="Courier New" pitchFamily="49" charset="0"/>
              </a:rPr>
              <a:t>Semaphore_delete</a:t>
            </a:r>
            <a:r>
              <a:rPr lang="en-US" sz="1800" dirty="0" smtClean="0">
                <a:solidFill>
                  <a:srgbClr val="000000"/>
                </a:solidFill>
                <a:latin typeface="Courier New" pitchFamily="49" charset="0"/>
              </a:rPr>
              <a:t>(&amp;</a:t>
            </a:r>
            <a:r>
              <a:rPr lang="en-US" sz="1800" dirty="0" err="1" smtClean="0">
                <a:solidFill>
                  <a:srgbClr val="000000"/>
                </a:solidFill>
                <a:latin typeface="Courier New" pitchFamily="49" charset="0"/>
              </a:rPr>
              <a:t>hMySem</a:t>
            </a:r>
            <a:r>
              <a:rPr lang="en-US" sz="1800" dirty="0">
                <a:solidFill>
                  <a:srgbClr val="000000"/>
                </a:solidFill>
                <a:latin typeface="Courier New" pitchFamily="49" charset="0"/>
              </a:rPr>
              <a:t>);</a:t>
            </a:r>
          </a:p>
        </p:txBody>
      </p:sp>
      <p:sp>
        <p:nvSpPr>
          <p:cNvPr id="24579" name="Rectangle 3"/>
          <p:cNvSpPr>
            <a:spLocks noGrp="1" noChangeArrowheads="1"/>
          </p:cNvSpPr>
          <p:nvPr>
            <p:ph type="title"/>
          </p:nvPr>
        </p:nvSpPr>
        <p:spPr>
          <a:xfrm>
            <a:off x="0" y="-44736"/>
            <a:ext cx="9144000" cy="609600"/>
          </a:xfrm>
        </p:spPr>
        <p:txBody>
          <a:bodyPr>
            <a:noAutofit/>
          </a:bodyPr>
          <a:lstStyle/>
          <a:p>
            <a:r>
              <a:rPr lang="en-US" sz="3200" dirty="0" smtClean="0"/>
              <a:t>Dynamically </a:t>
            </a:r>
            <a:r>
              <a:rPr lang="en-US" sz="3200" smtClean="0"/>
              <a:t>Creating Kernel </a:t>
            </a:r>
            <a:r>
              <a:rPr lang="en-US" sz="3200" dirty="0" smtClean="0"/>
              <a:t>Objects</a:t>
            </a:r>
          </a:p>
        </p:txBody>
      </p:sp>
      <p:sp>
        <p:nvSpPr>
          <p:cNvPr id="24580" name="Rectangle 4"/>
          <p:cNvSpPr>
            <a:spLocks noGrp="1" noChangeArrowheads="1"/>
          </p:cNvSpPr>
          <p:nvPr>
            <p:ph type="body" sz="half" idx="1"/>
          </p:nvPr>
        </p:nvSpPr>
        <p:spPr>
          <a:xfrm>
            <a:off x="304800" y="685800"/>
            <a:ext cx="8229600" cy="2360613"/>
          </a:xfrm>
          <a:noFill/>
        </p:spPr>
        <p:txBody>
          <a:bodyPr anchorCtr="0">
            <a:noAutofit/>
          </a:bodyPr>
          <a:lstStyle/>
          <a:p>
            <a:pPr marL="290513" indent="-290513"/>
            <a:r>
              <a:rPr lang="en-US" sz="2400" dirty="0" err="1" smtClean="0">
                <a:latin typeface="Calibri" pitchFamily="34" charset="0"/>
                <a:cs typeface="Calibri" pitchFamily="34" charset="0"/>
              </a:rPr>
              <a:t>Module_create</a:t>
            </a:r>
            <a:endParaRPr lang="en-US" sz="2400" dirty="0" smtClean="0">
              <a:latin typeface="Calibri" pitchFamily="34" charset="0"/>
              <a:cs typeface="Calibri" pitchFamily="34" charset="0"/>
            </a:endParaRPr>
          </a:p>
          <a:p>
            <a:pPr marL="760413" lvl="1"/>
            <a:r>
              <a:rPr lang="en-US" sz="1800" b="0" dirty="0" smtClean="0">
                <a:latin typeface="Calibri" pitchFamily="34" charset="0"/>
                <a:cs typeface="Calibri" pitchFamily="34" charset="0"/>
              </a:rPr>
              <a:t>Allocates memory for object out of heap</a:t>
            </a:r>
          </a:p>
          <a:p>
            <a:pPr marL="760413" lvl="1"/>
            <a:r>
              <a:rPr lang="en-US" sz="1800" b="0" dirty="0" smtClean="0">
                <a:latin typeface="Calibri" pitchFamily="34" charset="0"/>
                <a:cs typeface="Calibri" pitchFamily="34" charset="0"/>
              </a:rPr>
              <a:t>Returns a </a:t>
            </a:r>
            <a:r>
              <a:rPr lang="en-US" sz="1800" b="0" dirty="0" err="1" smtClean="0">
                <a:latin typeface="Calibri" pitchFamily="34" charset="0"/>
                <a:cs typeface="Calibri" pitchFamily="34" charset="0"/>
              </a:rPr>
              <a:t>Module_Handle</a:t>
            </a:r>
            <a:r>
              <a:rPr lang="en-US" sz="1800" b="0" dirty="0" smtClean="0">
                <a:latin typeface="Calibri" pitchFamily="34" charset="0"/>
                <a:cs typeface="Calibri" pitchFamily="34" charset="0"/>
              </a:rPr>
              <a:t> to the created object</a:t>
            </a:r>
          </a:p>
          <a:p>
            <a:pPr marL="290513" indent="-290513"/>
            <a:r>
              <a:rPr lang="en-US" sz="2400" dirty="0" err="1" smtClean="0">
                <a:latin typeface="Calibri" pitchFamily="34" charset="0"/>
                <a:cs typeface="Calibri" pitchFamily="34" charset="0"/>
              </a:rPr>
              <a:t>Module_delete</a:t>
            </a:r>
            <a:endParaRPr lang="en-US" sz="2400" dirty="0" smtClean="0">
              <a:latin typeface="Calibri" pitchFamily="34" charset="0"/>
              <a:cs typeface="Calibri" pitchFamily="34" charset="0"/>
            </a:endParaRPr>
          </a:p>
          <a:p>
            <a:pPr marL="760413" lvl="1"/>
            <a:r>
              <a:rPr lang="en-US" sz="1800" b="0" dirty="0" smtClean="0">
                <a:latin typeface="Calibri" pitchFamily="34" charset="0"/>
                <a:cs typeface="Calibri" pitchFamily="34" charset="0"/>
              </a:rPr>
              <a:t>Frees the object’s memory</a:t>
            </a:r>
          </a:p>
          <a:p>
            <a:pPr marL="290513" indent="-290513"/>
            <a:r>
              <a:rPr lang="en-US" sz="2400" dirty="0" smtClean="0">
                <a:latin typeface="Calibri" pitchFamily="34" charset="0"/>
                <a:cs typeface="Calibri" pitchFamily="34" charset="0"/>
              </a:rPr>
              <a:t>Example: </a:t>
            </a:r>
            <a:r>
              <a:rPr lang="en-US" sz="2400" i="1" u="sng" dirty="0" smtClean="0">
                <a:latin typeface="Calibri" pitchFamily="34" charset="0"/>
                <a:cs typeface="Calibri" pitchFamily="34" charset="0"/>
              </a:rPr>
              <a:t>Semaphore</a:t>
            </a:r>
            <a:r>
              <a:rPr lang="en-US" sz="2400" dirty="0" smtClean="0">
                <a:latin typeface="Calibri" pitchFamily="34" charset="0"/>
                <a:cs typeface="Calibri" pitchFamily="34" charset="0"/>
              </a:rPr>
              <a:t> creation/deletion:</a:t>
            </a:r>
          </a:p>
        </p:txBody>
      </p:sp>
      <p:sp>
        <p:nvSpPr>
          <p:cNvPr id="417798" name="Rectangle 6"/>
          <p:cNvSpPr>
            <a:spLocks noChangeArrowheads="1"/>
          </p:cNvSpPr>
          <p:nvPr/>
        </p:nvSpPr>
        <p:spPr bwMode="auto">
          <a:xfrm>
            <a:off x="7520238" y="1205552"/>
            <a:ext cx="1295400" cy="4419600"/>
          </a:xfrm>
          <a:prstGeom prst="rect">
            <a:avLst/>
          </a:prstGeom>
          <a:solidFill>
            <a:schemeClr val="accent5">
              <a:lumMod val="20000"/>
              <a:lumOff val="80000"/>
            </a:schemeClr>
          </a:solidFill>
          <a:ln w="12700">
            <a:solidFill>
              <a:schemeClr val="tx1"/>
            </a:solidFill>
            <a:miter lim="800000"/>
            <a:headEnd type="none" w="sm" len="sm"/>
            <a:tailEnd type="none" w="sm" len="sm"/>
          </a:ln>
          <a:effectLst>
            <a:outerShdw dist="107763" dir="2700000" algn="ctr" rotWithShape="0">
              <a:schemeClr val="bg2">
                <a:alpha val="50000"/>
              </a:schemeClr>
            </a:outerShdw>
          </a:effectLst>
        </p:spPr>
        <p:txBody>
          <a:bodyPr wrap="none" anchor="ctr"/>
          <a:lstStyle/>
          <a:p>
            <a:pPr algn="ctr">
              <a:defRPr/>
            </a:pPr>
            <a:r>
              <a:rPr lang="en-US" sz="2000" b="0" dirty="0" err="1" smtClean="0">
                <a:solidFill>
                  <a:srgbClr val="000000"/>
                </a:solidFill>
                <a:latin typeface="Arial Narrow" pitchFamily="34" charset="0"/>
              </a:rPr>
              <a:t>Hwi</a:t>
            </a:r>
            <a:endParaRPr lang="en-US" sz="2000" b="0" dirty="0" smtClean="0">
              <a:solidFill>
                <a:srgbClr val="000000"/>
              </a:solidFill>
              <a:latin typeface="Arial Narrow" pitchFamily="34" charset="0"/>
            </a:endParaRPr>
          </a:p>
          <a:p>
            <a:pPr algn="ctr">
              <a:defRPr/>
            </a:pPr>
            <a:r>
              <a:rPr lang="en-US" sz="2000" b="0" dirty="0" err="1" smtClean="0">
                <a:solidFill>
                  <a:srgbClr val="000000"/>
                </a:solidFill>
                <a:latin typeface="Arial Narrow" pitchFamily="34" charset="0"/>
              </a:rPr>
              <a:t>Swi</a:t>
            </a:r>
            <a:endParaRPr lang="en-US" sz="2000" b="0" dirty="0" smtClean="0">
              <a:solidFill>
                <a:srgbClr val="000000"/>
              </a:solidFill>
              <a:latin typeface="Arial Narrow" pitchFamily="34" charset="0"/>
            </a:endParaRPr>
          </a:p>
          <a:p>
            <a:pPr algn="ctr">
              <a:defRPr/>
            </a:pPr>
            <a:r>
              <a:rPr lang="en-US" sz="2000" b="0" dirty="0" smtClean="0">
                <a:solidFill>
                  <a:srgbClr val="000000"/>
                </a:solidFill>
                <a:latin typeface="Arial Narrow" pitchFamily="34" charset="0"/>
              </a:rPr>
              <a:t>Task</a:t>
            </a:r>
          </a:p>
          <a:p>
            <a:pPr algn="ctr">
              <a:defRPr/>
            </a:pPr>
            <a:r>
              <a:rPr lang="en-US" sz="2000" b="0" dirty="0" smtClean="0">
                <a:solidFill>
                  <a:srgbClr val="000000"/>
                </a:solidFill>
                <a:latin typeface="Arial Narrow" pitchFamily="34" charset="0"/>
              </a:rPr>
              <a:t>Semaphore</a:t>
            </a:r>
          </a:p>
          <a:p>
            <a:pPr algn="ctr">
              <a:defRPr/>
            </a:pPr>
            <a:r>
              <a:rPr lang="en-US" sz="2000" b="0" dirty="0" smtClean="0">
                <a:solidFill>
                  <a:srgbClr val="000000"/>
                </a:solidFill>
                <a:latin typeface="Arial Narrow" pitchFamily="34" charset="0"/>
              </a:rPr>
              <a:t>Stream</a:t>
            </a:r>
          </a:p>
          <a:p>
            <a:pPr algn="ctr">
              <a:defRPr/>
            </a:pPr>
            <a:r>
              <a:rPr lang="en-US" sz="2000" b="0" dirty="0" smtClean="0">
                <a:solidFill>
                  <a:srgbClr val="000000"/>
                </a:solidFill>
                <a:latin typeface="Arial Narrow" pitchFamily="34" charset="0"/>
              </a:rPr>
              <a:t>Mailbox</a:t>
            </a:r>
          </a:p>
          <a:p>
            <a:pPr algn="ctr">
              <a:defRPr/>
            </a:pPr>
            <a:r>
              <a:rPr lang="en-US" sz="2000" b="0" dirty="0" smtClean="0">
                <a:solidFill>
                  <a:srgbClr val="000000"/>
                </a:solidFill>
                <a:latin typeface="Arial Narrow" pitchFamily="34" charset="0"/>
              </a:rPr>
              <a:t>Timer</a:t>
            </a:r>
          </a:p>
          <a:p>
            <a:pPr algn="ctr">
              <a:defRPr/>
            </a:pPr>
            <a:r>
              <a:rPr lang="en-US" sz="2000" b="0" dirty="0" smtClean="0">
                <a:solidFill>
                  <a:srgbClr val="000000"/>
                </a:solidFill>
                <a:latin typeface="Arial Narrow" pitchFamily="34" charset="0"/>
              </a:rPr>
              <a:t>Clock</a:t>
            </a:r>
          </a:p>
          <a:p>
            <a:pPr algn="ctr">
              <a:defRPr/>
            </a:pPr>
            <a:r>
              <a:rPr lang="en-US" sz="2000" b="0" dirty="0" smtClean="0">
                <a:solidFill>
                  <a:srgbClr val="000000"/>
                </a:solidFill>
                <a:latin typeface="Arial Narrow" pitchFamily="34" charset="0"/>
              </a:rPr>
              <a:t>List</a:t>
            </a:r>
          </a:p>
          <a:p>
            <a:pPr algn="ctr">
              <a:defRPr/>
            </a:pPr>
            <a:r>
              <a:rPr lang="en-US" sz="2000" b="0" dirty="0" smtClean="0">
                <a:solidFill>
                  <a:srgbClr val="000000"/>
                </a:solidFill>
                <a:latin typeface="Arial Narrow" pitchFamily="34" charset="0"/>
              </a:rPr>
              <a:t>Event</a:t>
            </a:r>
          </a:p>
          <a:p>
            <a:pPr algn="ctr">
              <a:defRPr/>
            </a:pPr>
            <a:r>
              <a:rPr lang="en-US" sz="2000" b="0" dirty="0" smtClean="0">
                <a:solidFill>
                  <a:srgbClr val="000000"/>
                </a:solidFill>
                <a:latin typeface="Arial Narrow" pitchFamily="34" charset="0"/>
              </a:rPr>
              <a:t>Gate</a:t>
            </a:r>
            <a:endParaRPr lang="en-US" sz="2000" b="0" dirty="0">
              <a:solidFill>
                <a:srgbClr val="000000"/>
              </a:solidFill>
              <a:latin typeface="Arial Narrow" pitchFamily="34" charset="0"/>
            </a:endParaRPr>
          </a:p>
        </p:txBody>
      </p:sp>
      <p:sp>
        <p:nvSpPr>
          <p:cNvPr id="24594" name="Text Box 9"/>
          <p:cNvSpPr txBox="1">
            <a:spLocks noChangeArrowheads="1"/>
          </p:cNvSpPr>
          <p:nvPr/>
        </p:nvSpPr>
        <p:spPr bwMode="auto">
          <a:xfrm>
            <a:off x="6870700" y="4096230"/>
            <a:ext cx="320922" cy="344710"/>
          </a:xfrm>
          <a:prstGeom prst="rect">
            <a:avLst/>
          </a:prstGeom>
          <a:noFill/>
          <a:ln w="12700">
            <a:noFill/>
            <a:miter lim="800000"/>
            <a:headEnd type="none" w="sm" len="sm"/>
            <a:tailEnd type="none" w="sm" len="sm"/>
          </a:ln>
        </p:spPr>
        <p:txBody>
          <a:bodyPr wrap="none">
            <a:spAutoFit/>
          </a:bodyPr>
          <a:lstStyle/>
          <a:p>
            <a:r>
              <a:rPr lang="en-US" sz="2000" dirty="0">
                <a:solidFill>
                  <a:srgbClr val="FF0000"/>
                </a:solidFill>
                <a:latin typeface="Calibri" pitchFamily="34" charset="0"/>
                <a:cs typeface="Calibri" pitchFamily="34" charset="0"/>
              </a:rPr>
              <a:t>C</a:t>
            </a:r>
          </a:p>
        </p:txBody>
      </p:sp>
      <p:sp>
        <p:nvSpPr>
          <p:cNvPr id="24595" name="Text Box 10"/>
          <p:cNvSpPr txBox="1">
            <a:spLocks noChangeArrowheads="1"/>
          </p:cNvSpPr>
          <p:nvPr/>
        </p:nvSpPr>
        <p:spPr bwMode="auto">
          <a:xfrm>
            <a:off x="6877050" y="4637327"/>
            <a:ext cx="325730" cy="344710"/>
          </a:xfrm>
          <a:prstGeom prst="rect">
            <a:avLst/>
          </a:prstGeom>
          <a:noFill/>
          <a:ln w="12700">
            <a:noFill/>
            <a:miter lim="800000"/>
            <a:headEnd type="none" w="sm" len="sm"/>
            <a:tailEnd type="none" w="sm" len="sm"/>
          </a:ln>
        </p:spPr>
        <p:txBody>
          <a:bodyPr wrap="none">
            <a:spAutoFit/>
          </a:bodyPr>
          <a:lstStyle/>
          <a:p>
            <a:r>
              <a:rPr lang="en-US" sz="2000" dirty="0">
                <a:solidFill>
                  <a:srgbClr val="FF0000"/>
                </a:solidFill>
                <a:latin typeface="Calibri" pitchFamily="34" charset="0"/>
                <a:cs typeface="Calibri" pitchFamily="34" charset="0"/>
              </a:rPr>
              <a:t>X</a:t>
            </a:r>
          </a:p>
        </p:txBody>
      </p:sp>
      <p:sp>
        <p:nvSpPr>
          <p:cNvPr id="24596" name="Text Box 11"/>
          <p:cNvSpPr txBox="1">
            <a:spLocks noChangeArrowheads="1"/>
          </p:cNvSpPr>
          <p:nvPr/>
        </p:nvSpPr>
        <p:spPr bwMode="auto">
          <a:xfrm>
            <a:off x="6870700" y="5213499"/>
            <a:ext cx="346570" cy="344710"/>
          </a:xfrm>
          <a:prstGeom prst="rect">
            <a:avLst/>
          </a:prstGeom>
          <a:noFill/>
          <a:ln w="12700">
            <a:noFill/>
            <a:miter lim="800000"/>
            <a:headEnd type="none" w="sm" len="sm"/>
            <a:tailEnd type="none" w="sm" len="sm"/>
          </a:ln>
        </p:spPr>
        <p:txBody>
          <a:bodyPr wrap="none">
            <a:spAutoFit/>
          </a:bodyPr>
          <a:lstStyle/>
          <a:p>
            <a:r>
              <a:rPr lang="en-US" sz="2000" dirty="0">
                <a:solidFill>
                  <a:srgbClr val="FF0000"/>
                </a:solidFill>
                <a:latin typeface="Calibri" pitchFamily="34" charset="0"/>
                <a:cs typeface="Calibri" pitchFamily="34" charset="0"/>
              </a:rPr>
              <a:t>D</a:t>
            </a:r>
          </a:p>
        </p:txBody>
      </p:sp>
      <p:sp>
        <p:nvSpPr>
          <p:cNvPr id="417804" name="Line 12"/>
          <p:cNvSpPr>
            <a:spLocks noChangeShapeType="1"/>
          </p:cNvSpPr>
          <p:nvPr/>
        </p:nvSpPr>
        <p:spPr bwMode="auto">
          <a:xfrm>
            <a:off x="685800" y="5061099"/>
            <a:ext cx="6553200" cy="0"/>
          </a:xfrm>
          <a:prstGeom prst="line">
            <a:avLst/>
          </a:prstGeom>
          <a:noFill/>
          <a:ln w="12700">
            <a:solidFill>
              <a:schemeClr val="tx2"/>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417805" name="Line 13"/>
          <p:cNvSpPr>
            <a:spLocks noChangeShapeType="1"/>
          </p:cNvSpPr>
          <p:nvPr/>
        </p:nvSpPr>
        <p:spPr bwMode="auto">
          <a:xfrm>
            <a:off x="685800" y="4508363"/>
            <a:ext cx="6553200" cy="0"/>
          </a:xfrm>
          <a:prstGeom prst="line">
            <a:avLst/>
          </a:prstGeom>
          <a:noFill/>
          <a:ln w="12700">
            <a:solidFill>
              <a:schemeClr val="tx2"/>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24585" name="Text Box 31"/>
          <p:cNvSpPr txBox="1">
            <a:spLocks noChangeArrowheads="1"/>
          </p:cNvSpPr>
          <p:nvPr/>
        </p:nvSpPr>
        <p:spPr bwMode="auto">
          <a:xfrm>
            <a:off x="1577975" y="5867400"/>
            <a:ext cx="4748608" cy="313932"/>
          </a:xfrm>
          <a:prstGeom prst="rect">
            <a:avLst/>
          </a:prstGeom>
          <a:noFill/>
          <a:ln w="12700">
            <a:noFill/>
            <a:miter lim="800000"/>
            <a:headEnd type="none" w="sm" len="sm"/>
            <a:tailEnd type="none" w="sm" len="sm"/>
          </a:ln>
        </p:spPr>
        <p:txBody>
          <a:bodyPr wrap="none">
            <a:spAutoFit/>
          </a:bodyPr>
          <a:lstStyle/>
          <a:p>
            <a:r>
              <a:rPr lang="en-US" sz="1800" b="0" i="1" dirty="0">
                <a:solidFill>
                  <a:srgbClr val="000000"/>
                </a:solidFill>
                <a:latin typeface="Calibri" pitchFamily="34" charset="0"/>
                <a:cs typeface="Calibri" pitchFamily="34" charset="0"/>
              </a:rPr>
              <a:t>Note: always check return value of _create APIs !</a:t>
            </a:r>
          </a:p>
        </p:txBody>
      </p:sp>
      <p:sp>
        <p:nvSpPr>
          <p:cNvPr id="24586" name="Text Box 32"/>
          <p:cNvSpPr txBox="1">
            <a:spLocks noChangeArrowheads="1"/>
          </p:cNvSpPr>
          <p:nvPr/>
        </p:nvSpPr>
        <p:spPr bwMode="auto">
          <a:xfrm>
            <a:off x="7494838" y="824552"/>
            <a:ext cx="1277914" cy="387798"/>
          </a:xfrm>
          <a:prstGeom prst="rect">
            <a:avLst/>
          </a:prstGeom>
          <a:noFill/>
          <a:ln w="12700">
            <a:noFill/>
            <a:miter lim="800000"/>
            <a:headEnd type="none" w="sm" len="sm"/>
            <a:tailEnd type="none" w="sm" len="sm"/>
          </a:ln>
        </p:spPr>
        <p:txBody>
          <a:bodyPr wrap="none">
            <a:spAutoFit/>
          </a:bodyPr>
          <a:lstStyle/>
          <a:p>
            <a:r>
              <a:rPr lang="en-US" b="0" dirty="0" smtClean="0">
                <a:solidFill>
                  <a:srgbClr val="000000"/>
                </a:solidFill>
                <a:latin typeface="Calibri" pitchFamily="34" charset="0"/>
                <a:cs typeface="Calibri" pitchFamily="34" charset="0"/>
              </a:rPr>
              <a:t>Modules</a:t>
            </a:r>
            <a:endParaRPr lang="en-US" b="0" dirty="0">
              <a:solidFill>
                <a:srgbClr val="000000"/>
              </a:solidFill>
              <a:latin typeface="Calibri" pitchFamily="34" charset="0"/>
              <a:cs typeface="Calibri" pitchFamily="34" charset="0"/>
            </a:endParaRPr>
          </a:p>
        </p:txBody>
      </p:sp>
      <p:sp>
        <p:nvSpPr>
          <p:cNvPr id="15" name="TextBox 14"/>
          <p:cNvSpPr txBox="1"/>
          <p:nvPr/>
        </p:nvSpPr>
        <p:spPr>
          <a:xfrm>
            <a:off x="5710947" y="3542317"/>
            <a:ext cx="977828" cy="352032"/>
          </a:xfrm>
          <a:prstGeom prst="rect">
            <a:avLst/>
          </a:prstGeom>
          <a:solidFill>
            <a:schemeClr val="accent5">
              <a:lumMod val="20000"/>
              <a:lumOff val="80000"/>
            </a:schemeClr>
          </a:solidFill>
          <a:ln>
            <a:solidFill>
              <a:schemeClr val="tx1"/>
            </a:solidFill>
          </a:ln>
          <a:effectLst>
            <a:outerShdw blurRad="50800" dist="88900" dir="2700000" algn="tl" rotWithShape="0">
              <a:prstClr val="black">
                <a:alpha val="40000"/>
              </a:prstClr>
            </a:outerShdw>
          </a:effectLst>
        </p:spPr>
        <p:txBody>
          <a:bodyPr wrap="square" rtlCol="0" anchor="ctr" anchorCtr="1">
            <a:noAutofit/>
          </a:bodyPr>
          <a:lstStyle/>
          <a:p>
            <a:pPr algn="ctr"/>
            <a:r>
              <a:rPr lang="en-US" sz="1800" b="0" dirty="0" err="1" smtClean="0">
                <a:solidFill>
                  <a:srgbClr val="000000"/>
                </a:solidFill>
                <a:latin typeface="Arial Narrow" pitchFamily="34" charset="0"/>
              </a:rPr>
              <a:t>params</a:t>
            </a:r>
            <a:endParaRPr lang="en-US" sz="1800" b="0" dirty="0" smtClean="0">
              <a:solidFill>
                <a:srgbClr val="000000"/>
              </a:solidFill>
              <a:latin typeface="Arial Narrow" pitchFamily="34" charset="0"/>
            </a:endParaRPr>
          </a:p>
        </p:txBody>
      </p:sp>
      <p:cxnSp>
        <p:nvCxnSpPr>
          <p:cNvPr id="19" name="Straight Arrow Connector 18"/>
          <p:cNvCxnSpPr/>
          <p:nvPr/>
        </p:nvCxnSpPr>
        <p:spPr bwMode="auto">
          <a:xfrm rot="5400000">
            <a:off x="5572000" y="3839424"/>
            <a:ext cx="304800" cy="228600"/>
          </a:xfrm>
          <a:prstGeom prst="straightConnector1">
            <a:avLst/>
          </a:prstGeom>
          <a:solidFill>
            <a:schemeClr val="accent1"/>
          </a:solidFill>
          <a:ln w="28575" cap="flat" cmpd="sng" algn="ctr">
            <a:solidFill>
              <a:schemeClr val="tx1"/>
            </a:solidFill>
            <a:prstDash val="solid"/>
            <a:round/>
            <a:headEnd type="none" w="sm" len="sm"/>
            <a:tailEnd type="arrow"/>
          </a:ln>
          <a:effectLst/>
        </p:spPr>
      </p:cxnSp>
      <p:pic>
        <p:nvPicPr>
          <p:cNvPr id="21"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Tree>
    <p:extLst>
      <p:ext uri="{BB962C8B-B14F-4D97-AF65-F5344CB8AC3E}">
        <p14:creationId xmlns:p14="http://schemas.microsoft.com/office/powerpoint/2010/main" val="1951376143"/>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p:spPr>
        <p:txBody>
          <a:bodyPr lIns="92075" rIns="92075" anchor="ctr"/>
          <a:lstStyle/>
          <a:p>
            <a:r>
              <a:rPr lang="en-US" dirty="0" smtClean="0"/>
              <a:t>Example – Dynamic Task API</a:t>
            </a:r>
          </a:p>
        </p:txBody>
      </p:sp>
      <p:sp>
        <p:nvSpPr>
          <p:cNvPr id="25603" name="Rectangle 4"/>
          <p:cNvSpPr>
            <a:spLocks noChangeArrowheads="1"/>
          </p:cNvSpPr>
          <p:nvPr/>
        </p:nvSpPr>
        <p:spPr bwMode="auto">
          <a:xfrm>
            <a:off x="228600" y="931863"/>
            <a:ext cx="8305800" cy="4402137"/>
          </a:xfrm>
          <a:prstGeom prst="rect">
            <a:avLst/>
          </a:prstGeom>
          <a:solidFill>
            <a:schemeClr val="accent4">
              <a:lumMod val="20000"/>
              <a:lumOff val="80000"/>
            </a:schemeClr>
          </a:solidFill>
          <a:ln w="9525">
            <a:solidFill>
              <a:schemeClr val="tx1"/>
            </a:solidFill>
            <a:miter lim="800000"/>
            <a:headEnd/>
            <a:tailEnd/>
          </a:ln>
        </p:spPr>
        <p:txBody>
          <a:bodyPr wrap="none" lIns="92075" tIns="46038" rIns="92075" bIns="46038" anchor="ctr"/>
          <a:lstStyle/>
          <a:p>
            <a:pPr>
              <a:lnSpc>
                <a:spcPct val="70000"/>
              </a:lnSpc>
              <a:spcBef>
                <a:spcPct val="0"/>
              </a:spcBef>
              <a:spcAft>
                <a:spcPct val="30000"/>
              </a:spcAft>
            </a:pPr>
            <a:r>
              <a:rPr lang="en-US" dirty="0" err="1" smtClean="0">
                <a:solidFill>
                  <a:srgbClr val="000000"/>
                </a:solidFill>
                <a:latin typeface="Courier New" pitchFamily="49" charset="0"/>
                <a:cs typeface="Courier New" pitchFamily="49" charset="0"/>
              </a:rPr>
              <a:t>Task_Handle</a:t>
            </a:r>
            <a:r>
              <a:rPr lang="en-US" dirty="0">
                <a:solidFill>
                  <a:srgbClr val="000000"/>
                </a:solidFill>
                <a:latin typeface="Courier New" pitchFamily="49" charset="0"/>
                <a:cs typeface="Courier New" pitchFamily="49" charset="0"/>
              </a:rPr>
              <a:t>	</a:t>
            </a:r>
            <a:r>
              <a:rPr lang="en-US" dirty="0" err="1">
                <a:solidFill>
                  <a:srgbClr val="000000"/>
                </a:solidFill>
                <a:latin typeface="Courier New" pitchFamily="49" charset="0"/>
                <a:cs typeface="Courier New" pitchFamily="49" charset="0"/>
              </a:rPr>
              <a:t>hMyTsk</a:t>
            </a:r>
            <a:r>
              <a:rPr lang="en-US" dirty="0">
                <a:solidFill>
                  <a:srgbClr val="000000"/>
                </a:solidFill>
                <a:latin typeface="Courier New" pitchFamily="49" charset="0"/>
                <a:cs typeface="Courier New" pitchFamily="49" charset="0"/>
              </a:rPr>
              <a:t>;</a:t>
            </a:r>
          </a:p>
          <a:p>
            <a:pPr>
              <a:lnSpc>
                <a:spcPct val="70000"/>
              </a:lnSpc>
              <a:spcBef>
                <a:spcPct val="0"/>
              </a:spcBef>
              <a:spcAft>
                <a:spcPct val="30000"/>
              </a:spcAft>
            </a:pPr>
            <a:r>
              <a:rPr lang="en-US" dirty="0" err="1" smtClean="0">
                <a:solidFill>
                  <a:srgbClr val="000000"/>
                </a:solidFill>
                <a:latin typeface="Courier New" pitchFamily="49" charset="0"/>
                <a:cs typeface="Courier New" pitchFamily="49" charset="0"/>
              </a:rPr>
              <a:t>Task_Params</a:t>
            </a:r>
            <a:r>
              <a:rPr lang="en-US" dirty="0" smtClean="0">
                <a:solidFill>
                  <a:srgbClr val="000000"/>
                </a:solidFill>
                <a:latin typeface="Courier New" pitchFamily="49" charset="0"/>
                <a:cs typeface="Courier New" pitchFamily="49" charset="0"/>
              </a:rPr>
              <a:t>	</a:t>
            </a:r>
            <a:r>
              <a:rPr lang="en-US" dirty="0" err="1" smtClean="0">
                <a:solidFill>
                  <a:srgbClr val="000000"/>
                </a:solidFill>
                <a:latin typeface="Courier New" pitchFamily="49" charset="0"/>
                <a:cs typeface="Courier New" pitchFamily="49" charset="0"/>
              </a:rPr>
              <a:t>taskParams</a:t>
            </a:r>
            <a:r>
              <a:rPr lang="en-US" dirty="0" smtClean="0">
                <a:solidFill>
                  <a:srgbClr val="000000"/>
                </a:solidFill>
                <a:latin typeface="Courier New" pitchFamily="49" charset="0"/>
                <a:cs typeface="Courier New" pitchFamily="49" charset="0"/>
              </a:rPr>
              <a:t>; </a:t>
            </a:r>
            <a:endParaRPr lang="en-US" dirty="0">
              <a:solidFill>
                <a:srgbClr val="000000"/>
              </a:solidFill>
              <a:latin typeface="Courier New" pitchFamily="49" charset="0"/>
              <a:cs typeface="Courier New" pitchFamily="49" charset="0"/>
            </a:endParaRPr>
          </a:p>
          <a:p>
            <a:pPr>
              <a:lnSpc>
                <a:spcPct val="70000"/>
              </a:lnSpc>
              <a:spcBef>
                <a:spcPct val="0"/>
              </a:spcBef>
              <a:spcAft>
                <a:spcPct val="30000"/>
              </a:spcAft>
            </a:pPr>
            <a:endParaRPr lang="en-US" dirty="0">
              <a:solidFill>
                <a:srgbClr val="000000"/>
              </a:solidFill>
              <a:latin typeface="Courier New" pitchFamily="49" charset="0"/>
              <a:cs typeface="Courier New" pitchFamily="49" charset="0"/>
            </a:endParaRPr>
          </a:p>
          <a:p>
            <a:pPr>
              <a:lnSpc>
                <a:spcPct val="70000"/>
              </a:lnSpc>
              <a:spcBef>
                <a:spcPct val="0"/>
              </a:spcBef>
              <a:spcAft>
                <a:spcPct val="30000"/>
              </a:spcAft>
            </a:pPr>
            <a:r>
              <a:rPr lang="en-US" dirty="0" err="1" smtClean="0">
                <a:solidFill>
                  <a:srgbClr val="000000"/>
                </a:solidFill>
                <a:latin typeface="Courier New" pitchFamily="49" charset="0"/>
                <a:cs typeface="Courier New" pitchFamily="49" charset="0"/>
              </a:rPr>
              <a:t>Task_Params_init</a:t>
            </a:r>
            <a:r>
              <a:rPr lang="en-US" dirty="0" smtClean="0">
                <a:solidFill>
                  <a:srgbClr val="000000"/>
                </a:solidFill>
                <a:latin typeface="Courier New" pitchFamily="49" charset="0"/>
                <a:cs typeface="Courier New" pitchFamily="49" charset="0"/>
              </a:rPr>
              <a:t>(&amp;</a:t>
            </a:r>
            <a:r>
              <a:rPr lang="en-US" dirty="0" err="1" smtClean="0">
                <a:solidFill>
                  <a:srgbClr val="000000"/>
                </a:solidFill>
                <a:latin typeface="Courier New" pitchFamily="49" charset="0"/>
                <a:cs typeface="Courier New" pitchFamily="49" charset="0"/>
              </a:rPr>
              <a:t>taskParams</a:t>
            </a:r>
            <a:r>
              <a:rPr lang="en-US" dirty="0" smtClean="0">
                <a:solidFill>
                  <a:srgbClr val="000000"/>
                </a:solidFill>
                <a:latin typeface="Courier New" pitchFamily="49" charset="0"/>
                <a:cs typeface="Courier New" pitchFamily="49" charset="0"/>
              </a:rPr>
              <a:t>);</a:t>
            </a:r>
          </a:p>
          <a:p>
            <a:pPr>
              <a:lnSpc>
                <a:spcPct val="70000"/>
              </a:lnSpc>
              <a:spcBef>
                <a:spcPct val="0"/>
              </a:spcBef>
              <a:spcAft>
                <a:spcPct val="30000"/>
              </a:spcAft>
            </a:pPr>
            <a:r>
              <a:rPr lang="en-US" dirty="0" err="1" smtClean="0">
                <a:solidFill>
                  <a:srgbClr val="000000"/>
                </a:solidFill>
                <a:latin typeface="Courier New" pitchFamily="49" charset="0"/>
                <a:cs typeface="Courier New" pitchFamily="49" charset="0"/>
              </a:rPr>
              <a:t>taskParams.priority</a:t>
            </a:r>
            <a:r>
              <a:rPr lang="en-US" dirty="0" smtClean="0">
                <a:solidFill>
                  <a:srgbClr val="000000"/>
                </a:solidFill>
                <a:latin typeface="Courier New" pitchFamily="49" charset="0"/>
                <a:cs typeface="Courier New" pitchFamily="49" charset="0"/>
              </a:rPr>
              <a:t> </a:t>
            </a:r>
            <a:r>
              <a:rPr lang="en-US" dirty="0">
                <a:solidFill>
                  <a:srgbClr val="000000"/>
                </a:solidFill>
                <a:latin typeface="Courier New" pitchFamily="49" charset="0"/>
                <a:cs typeface="Courier New" pitchFamily="49" charset="0"/>
              </a:rPr>
              <a:t>= 3;  </a:t>
            </a:r>
          </a:p>
          <a:p>
            <a:pPr>
              <a:lnSpc>
                <a:spcPct val="100000"/>
              </a:lnSpc>
              <a:spcBef>
                <a:spcPct val="0"/>
              </a:spcBef>
              <a:spcAft>
                <a:spcPct val="30000"/>
              </a:spcAft>
            </a:pPr>
            <a:r>
              <a:rPr lang="en-US" dirty="0">
                <a:solidFill>
                  <a:srgbClr val="000000"/>
                </a:solidFill>
                <a:latin typeface="Courier New" pitchFamily="49" charset="0"/>
                <a:cs typeface="Courier New" pitchFamily="49" charset="0"/>
              </a:rPr>
              <a:t> </a:t>
            </a:r>
          </a:p>
          <a:p>
            <a:pPr>
              <a:lnSpc>
                <a:spcPct val="70000"/>
              </a:lnSpc>
              <a:spcBef>
                <a:spcPct val="0"/>
              </a:spcBef>
              <a:spcAft>
                <a:spcPct val="30000"/>
              </a:spcAft>
            </a:pPr>
            <a:r>
              <a:rPr lang="en-US" dirty="0" err="1" smtClean="0">
                <a:solidFill>
                  <a:srgbClr val="000000"/>
                </a:solidFill>
                <a:latin typeface="Courier New" pitchFamily="49" charset="0"/>
                <a:cs typeface="Courier New" pitchFamily="49" charset="0"/>
              </a:rPr>
              <a:t>hMyTsk</a:t>
            </a:r>
            <a:r>
              <a:rPr lang="en-US" dirty="0" smtClean="0">
                <a:solidFill>
                  <a:srgbClr val="000000"/>
                </a:solidFill>
                <a:latin typeface="Courier New" pitchFamily="49" charset="0"/>
                <a:cs typeface="Courier New" pitchFamily="49" charset="0"/>
              </a:rPr>
              <a:t> = </a:t>
            </a:r>
            <a:r>
              <a:rPr lang="en-US" dirty="0" err="1" smtClean="0">
                <a:solidFill>
                  <a:srgbClr val="FF0000"/>
                </a:solidFill>
                <a:latin typeface="Courier New" pitchFamily="49" charset="0"/>
                <a:cs typeface="Courier New" pitchFamily="49" charset="0"/>
              </a:rPr>
              <a:t>Task_create</a:t>
            </a:r>
            <a:r>
              <a:rPr lang="en-US" dirty="0" smtClean="0">
                <a:solidFill>
                  <a:srgbClr val="000000"/>
                </a:solidFill>
                <a:latin typeface="Courier New" pitchFamily="49" charset="0"/>
                <a:cs typeface="Courier New" pitchFamily="49" charset="0"/>
              </a:rPr>
              <a:t>(</a:t>
            </a:r>
            <a:r>
              <a:rPr lang="en-US" dirty="0" err="1" smtClean="0">
                <a:solidFill>
                  <a:srgbClr val="000000"/>
                </a:solidFill>
                <a:latin typeface="Courier New" pitchFamily="49" charset="0"/>
                <a:cs typeface="Courier New" pitchFamily="49" charset="0"/>
              </a:rPr>
              <a:t>myCode,&amp;taskParams,&amp;eb</a:t>
            </a:r>
            <a:r>
              <a:rPr lang="en-US" dirty="0" smtClean="0">
                <a:solidFill>
                  <a:srgbClr val="000000"/>
                </a:solidFill>
                <a:latin typeface="Courier New" pitchFamily="49" charset="0"/>
                <a:cs typeface="Courier New" pitchFamily="49" charset="0"/>
              </a:rPr>
              <a:t>);</a:t>
            </a:r>
            <a:r>
              <a:rPr lang="en-US" dirty="0">
                <a:solidFill>
                  <a:srgbClr val="000000"/>
                </a:solidFill>
                <a:latin typeface="Courier New" pitchFamily="49" charset="0"/>
                <a:cs typeface="Courier New" pitchFamily="49" charset="0"/>
              </a:rPr>
              <a:t/>
            </a:r>
            <a:br>
              <a:rPr lang="en-US" dirty="0">
                <a:solidFill>
                  <a:srgbClr val="000000"/>
                </a:solidFill>
                <a:latin typeface="Courier New" pitchFamily="49" charset="0"/>
                <a:cs typeface="Courier New" pitchFamily="49" charset="0"/>
              </a:rPr>
            </a:br>
            <a:r>
              <a:rPr lang="en-US" dirty="0">
                <a:solidFill>
                  <a:srgbClr val="000000"/>
                </a:solidFill>
                <a:latin typeface="Courier New" pitchFamily="49" charset="0"/>
                <a:cs typeface="Courier New" pitchFamily="49" charset="0"/>
              </a:rPr>
              <a:t/>
            </a:r>
            <a:br>
              <a:rPr lang="en-US" dirty="0">
                <a:solidFill>
                  <a:srgbClr val="000000"/>
                </a:solidFill>
                <a:latin typeface="Courier New" pitchFamily="49" charset="0"/>
                <a:cs typeface="Courier New" pitchFamily="49" charset="0"/>
              </a:rPr>
            </a:br>
            <a:r>
              <a:rPr lang="en-US" dirty="0" smtClean="0">
                <a:solidFill>
                  <a:srgbClr val="000000"/>
                </a:solidFill>
                <a:latin typeface="Courier New" pitchFamily="49" charset="0"/>
                <a:cs typeface="Courier New" pitchFamily="49" charset="0"/>
              </a:rPr>
              <a:t>   </a:t>
            </a:r>
            <a:r>
              <a:rPr lang="en-US" i="1" dirty="0" smtClean="0">
                <a:solidFill>
                  <a:srgbClr val="000000"/>
                </a:solidFill>
                <a:latin typeface="Courier New" pitchFamily="49" charset="0"/>
                <a:cs typeface="Courier New" pitchFamily="49" charset="0"/>
              </a:rPr>
              <a:t>// </a:t>
            </a:r>
            <a:r>
              <a:rPr lang="en-US" i="1" dirty="0">
                <a:solidFill>
                  <a:srgbClr val="000000"/>
                </a:solidFill>
                <a:latin typeface="Courier New" pitchFamily="49" charset="0"/>
                <a:cs typeface="Courier New" pitchFamily="49" charset="0"/>
              </a:rPr>
              <a:t>“</a:t>
            </a:r>
            <a:r>
              <a:rPr lang="en-US" i="1" dirty="0" err="1">
                <a:solidFill>
                  <a:srgbClr val="000000"/>
                </a:solidFill>
                <a:latin typeface="Courier New" pitchFamily="49" charset="0"/>
                <a:cs typeface="Courier New" pitchFamily="49" charset="0"/>
              </a:rPr>
              <a:t>MyTsk</a:t>
            </a:r>
            <a:r>
              <a:rPr lang="en-US" i="1" dirty="0">
                <a:solidFill>
                  <a:srgbClr val="000000"/>
                </a:solidFill>
                <a:latin typeface="Courier New" pitchFamily="49" charset="0"/>
                <a:cs typeface="Courier New" pitchFamily="49" charset="0"/>
              </a:rPr>
              <a:t>” </a:t>
            </a:r>
            <a:r>
              <a:rPr lang="en-US" i="1" dirty="0" smtClean="0">
                <a:solidFill>
                  <a:srgbClr val="000000"/>
                </a:solidFill>
                <a:latin typeface="Courier New" pitchFamily="49" charset="0"/>
                <a:cs typeface="Courier New" pitchFamily="49" charset="0"/>
              </a:rPr>
              <a:t>now </a:t>
            </a:r>
            <a:r>
              <a:rPr lang="en-US" i="1" dirty="0">
                <a:solidFill>
                  <a:srgbClr val="000000"/>
                </a:solidFill>
                <a:latin typeface="Courier New" pitchFamily="49" charset="0"/>
                <a:cs typeface="Courier New" pitchFamily="49" charset="0"/>
              </a:rPr>
              <a:t>active </a:t>
            </a:r>
            <a:r>
              <a:rPr lang="en-US" i="1" dirty="0" smtClean="0">
                <a:solidFill>
                  <a:srgbClr val="000000"/>
                </a:solidFill>
                <a:latin typeface="Courier New" pitchFamily="49" charset="0"/>
                <a:cs typeface="Courier New" pitchFamily="49" charset="0"/>
              </a:rPr>
              <a:t>w/priority </a:t>
            </a:r>
            <a:r>
              <a:rPr lang="en-US" i="1" dirty="0">
                <a:solidFill>
                  <a:srgbClr val="000000"/>
                </a:solidFill>
                <a:latin typeface="Courier New" pitchFamily="49" charset="0"/>
                <a:cs typeface="Courier New" pitchFamily="49" charset="0"/>
              </a:rPr>
              <a:t>= 3 ...</a:t>
            </a:r>
          </a:p>
          <a:p>
            <a:pPr>
              <a:lnSpc>
                <a:spcPct val="70000"/>
              </a:lnSpc>
              <a:spcBef>
                <a:spcPct val="0"/>
              </a:spcBef>
              <a:spcAft>
                <a:spcPct val="30000"/>
              </a:spcAft>
            </a:pPr>
            <a:r>
              <a:rPr lang="en-US" dirty="0">
                <a:solidFill>
                  <a:srgbClr val="000000"/>
                </a:solidFill>
                <a:latin typeface="Courier New" pitchFamily="49" charset="0"/>
                <a:cs typeface="Courier New" pitchFamily="49" charset="0"/>
              </a:rPr>
              <a:t>  </a:t>
            </a:r>
          </a:p>
          <a:p>
            <a:pPr>
              <a:lnSpc>
                <a:spcPct val="70000"/>
              </a:lnSpc>
              <a:spcBef>
                <a:spcPct val="0"/>
              </a:spcBef>
              <a:spcAft>
                <a:spcPct val="30000"/>
              </a:spcAft>
            </a:pPr>
            <a:r>
              <a:rPr lang="en-US" dirty="0">
                <a:solidFill>
                  <a:srgbClr val="000000"/>
                </a:solidFill>
                <a:latin typeface="Courier New" pitchFamily="49" charset="0"/>
                <a:cs typeface="Courier New" pitchFamily="49" charset="0"/>
              </a:rPr>
              <a:t> </a:t>
            </a:r>
            <a:r>
              <a:rPr lang="en-US" dirty="0" err="1" smtClean="0">
                <a:solidFill>
                  <a:srgbClr val="FF0000"/>
                </a:solidFill>
                <a:latin typeface="Courier New" pitchFamily="49" charset="0"/>
                <a:cs typeface="Courier New" pitchFamily="49" charset="0"/>
              </a:rPr>
              <a:t>Task_delete</a:t>
            </a:r>
            <a:r>
              <a:rPr lang="en-US" dirty="0" smtClean="0">
                <a:solidFill>
                  <a:srgbClr val="000000"/>
                </a:solidFill>
                <a:latin typeface="Courier New" pitchFamily="49" charset="0"/>
                <a:cs typeface="Courier New" pitchFamily="49" charset="0"/>
              </a:rPr>
              <a:t>(&amp;</a:t>
            </a:r>
            <a:r>
              <a:rPr lang="en-US" dirty="0" err="1" smtClean="0">
                <a:solidFill>
                  <a:srgbClr val="000000"/>
                </a:solidFill>
                <a:latin typeface="Courier New" pitchFamily="49" charset="0"/>
                <a:cs typeface="Courier New" pitchFamily="49" charset="0"/>
              </a:rPr>
              <a:t>hMyTsk</a:t>
            </a:r>
            <a:r>
              <a:rPr lang="en-US" dirty="0">
                <a:solidFill>
                  <a:srgbClr val="000000"/>
                </a:solidFill>
                <a:latin typeface="Courier New" pitchFamily="49" charset="0"/>
                <a:cs typeface="Courier New" pitchFamily="49" charset="0"/>
              </a:rPr>
              <a:t>);</a:t>
            </a:r>
          </a:p>
        </p:txBody>
      </p:sp>
      <p:sp>
        <p:nvSpPr>
          <p:cNvPr id="25604" name="Text Box 5"/>
          <p:cNvSpPr txBox="1">
            <a:spLocks noChangeArrowheads="1"/>
          </p:cNvSpPr>
          <p:nvPr/>
        </p:nvSpPr>
        <p:spPr bwMode="auto">
          <a:xfrm>
            <a:off x="8568708" y="3475220"/>
            <a:ext cx="348172" cy="395173"/>
          </a:xfrm>
          <a:prstGeom prst="rect">
            <a:avLst/>
          </a:prstGeom>
          <a:noFill/>
          <a:ln w="12700">
            <a:noFill/>
            <a:miter lim="800000"/>
            <a:headEnd type="none" w="sm" len="sm"/>
            <a:tailEnd type="none" w="sm" len="sm"/>
          </a:ln>
        </p:spPr>
        <p:txBody>
          <a:bodyPr wrap="none">
            <a:spAutoFit/>
          </a:bodyPr>
          <a:lstStyle/>
          <a:p>
            <a:r>
              <a:rPr lang="en-US" dirty="0">
                <a:solidFill>
                  <a:srgbClr val="FF0000"/>
                </a:solidFill>
                <a:latin typeface="Calibri" pitchFamily="34" charset="0"/>
                <a:cs typeface="Calibri" pitchFamily="34" charset="0"/>
              </a:rPr>
              <a:t>C</a:t>
            </a:r>
          </a:p>
        </p:txBody>
      </p:sp>
      <p:sp>
        <p:nvSpPr>
          <p:cNvPr id="25605" name="Text Box 6"/>
          <p:cNvSpPr txBox="1">
            <a:spLocks noChangeArrowheads="1"/>
          </p:cNvSpPr>
          <p:nvPr/>
        </p:nvSpPr>
        <p:spPr bwMode="auto">
          <a:xfrm>
            <a:off x="8563020" y="3985660"/>
            <a:ext cx="354584" cy="395173"/>
          </a:xfrm>
          <a:prstGeom prst="rect">
            <a:avLst/>
          </a:prstGeom>
          <a:noFill/>
          <a:ln w="12700">
            <a:noFill/>
            <a:miter lim="800000"/>
            <a:headEnd type="none" w="sm" len="sm"/>
            <a:tailEnd type="none" w="sm" len="sm"/>
          </a:ln>
        </p:spPr>
        <p:txBody>
          <a:bodyPr wrap="none">
            <a:spAutoFit/>
          </a:bodyPr>
          <a:lstStyle/>
          <a:p>
            <a:r>
              <a:rPr lang="en-US" dirty="0">
                <a:solidFill>
                  <a:srgbClr val="FF0000"/>
                </a:solidFill>
                <a:latin typeface="Calibri" pitchFamily="34" charset="0"/>
                <a:cs typeface="Calibri" pitchFamily="34" charset="0"/>
              </a:rPr>
              <a:t>X</a:t>
            </a:r>
          </a:p>
        </p:txBody>
      </p:sp>
      <p:sp>
        <p:nvSpPr>
          <p:cNvPr id="25606" name="Text Box 7"/>
          <p:cNvSpPr txBox="1">
            <a:spLocks noChangeArrowheads="1"/>
          </p:cNvSpPr>
          <p:nvPr/>
        </p:nvSpPr>
        <p:spPr bwMode="auto">
          <a:xfrm>
            <a:off x="8541412" y="4696018"/>
            <a:ext cx="378630" cy="395173"/>
          </a:xfrm>
          <a:prstGeom prst="rect">
            <a:avLst/>
          </a:prstGeom>
          <a:noFill/>
          <a:ln w="12700">
            <a:noFill/>
            <a:miter lim="800000"/>
            <a:headEnd type="none" w="sm" len="sm"/>
            <a:tailEnd type="none" w="sm" len="sm"/>
          </a:ln>
        </p:spPr>
        <p:txBody>
          <a:bodyPr wrap="none">
            <a:spAutoFit/>
          </a:bodyPr>
          <a:lstStyle/>
          <a:p>
            <a:r>
              <a:rPr lang="en-US" dirty="0">
                <a:solidFill>
                  <a:srgbClr val="FF0000"/>
                </a:solidFill>
                <a:latin typeface="Calibri" pitchFamily="34" charset="0"/>
                <a:cs typeface="Calibri" pitchFamily="34" charset="0"/>
              </a:rPr>
              <a:t>D</a:t>
            </a:r>
          </a:p>
        </p:txBody>
      </p:sp>
      <p:sp>
        <p:nvSpPr>
          <p:cNvPr id="421897" name="Line 9"/>
          <p:cNvSpPr>
            <a:spLocks noChangeShapeType="1"/>
          </p:cNvSpPr>
          <p:nvPr/>
        </p:nvSpPr>
        <p:spPr bwMode="auto">
          <a:xfrm>
            <a:off x="228600" y="3884821"/>
            <a:ext cx="8686800" cy="0"/>
          </a:xfrm>
          <a:prstGeom prst="line">
            <a:avLst/>
          </a:prstGeom>
          <a:noFill/>
          <a:ln w="19050">
            <a:solidFill>
              <a:schemeClr val="tx2"/>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421919" name="Line 31"/>
          <p:cNvSpPr>
            <a:spLocks noChangeShapeType="1"/>
          </p:cNvSpPr>
          <p:nvPr/>
        </p:nvSpPr>
        <p:spPr bwMode="auto">
          <a:xfrm>
            <a:off x="228600" y="4485598"/>
            <a:ext cx="8686800" cy="0"/>
          </a:xfrm>
          <a:prstGeom prst="line">
            <a:avLst/>
          </a:prstGeom>
          <a:noFill/>
          <a:ln w="19050">
            <a:solidFill>
              <a:schemeClr val="tx2"/>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25610" name="Text Box 32"/>
          <p:cNvSpPr txBox="1">
            <a:spLocks noChangeArrowheads="1"/>
          </p:cNvSpPr>
          <p:nvPr/>
        </p:nvSpPr>
        <p:spPr bwMode="auto">
          <a:xfrm>
            <a:off x="647700" y="5427663"/>
            <a:ext cx="7083221" cy="289310"/>
          </a:xfrm>
          <a:prstGeom prst="rect">
            <a:avLst/>
          </a:prstGeom>
          <a:noFill/>
          <a:ln w="12700">
            <a:noFill/>
            <a:miter lim="800000"/>
            <a:headEnd type="none" w="sm" len="sm"/>
            <a:tailEnd type="none" w="sm" len="sm"/>
          </a:ln>
        </p:spPr>
        <p:txBody>
          <a:bodyPr wrap="none">
            <a:spAutoFit/>
          </a:bodyPr>
          <a:lstStyle/>
          <a:p>
            <a:r>
              <a:rPr lang="en-US" sz="1600" b="0" i="1" dirty="0" err="1" smtClean="0">
                <a:solidFill>
                  <a:srgbClr val="000000"/>
                </a:solidFill>
                <a:latin typeface="Calibri" pitchFamily="34" charset="0"/>
                <a:cs typeface="Calibri" pitchFamily="34" charset="0"/>
              </a:rPr>
              <a:t>taskParams</a:t>
            </a:r>
            <a:r>
              <a:rPr lang="en-US" sz="1600" b="0" i="1" dirty="0" smtClean="0">
                <a:solidFill>
                  <a:srgbClr val="000000"/>
                </a:solidFill>
                <a:latin typeface="Calibri" pitchFamily="34" charset="0"/>
                <a:cs typeface="Calibri" pitchFamily="34" charset="0"/>
              </a:rPr>
              <a:t> </a:t>
            </a:r>
            <a:r>
              <a:rPr lang="en-US" sz="1600" b="0" i="1" dirty="0">
                <a:solidFill>
                  <a:srgbClr val="000000"/>
                </a:solidFill>
                <a:latin typeface="Calibri" pitchFamily="34" charset="0"/>
                <a:cs typeface="Calibri" pitchFamily="34" charset="0"/>
              </a:rPr>
              <a:t>includes: </a:t>
            </a:r>
            <a:r>
              <a:rPr lang="en-US" sz="1600" b="0" i="1" dirty="0" smtClean="0">
                <a:solidFill>
                  <a:srgbClr val="000000"/>
                </a:solidFill>
                <a:latin typeface="Calibri" pitchFamily="34" charset="0"/>
                <a:cs typeface="Calibri" pitchFamily="34" charset="0"/>
              </a:rPr>
              <a:t>heap location, priority</a:t>
            </a:r>
            <a:r>
              <a:rPr lang="en-US" sz="1600" b="0" i="1" dirty="0">
                <a:solidFill>
                  <a:srgbClr val="000000"/>
                </a:solidFill>
                <a:latin typeface="Calibri" pitchFamily="34" charset="0"/>
                <a:cs typeface="Calibri" pitchFamily="34" charset="0"/>
              </a:rPr>
              <a:t>, stack </a:t>
            </a:r>
            <a:r>
              <a:rPr lang="en-US" sz="1600" b="0" i="1" dirty="0" err="1" smtClean="0">
                <a:solidFill>
                  <a:srgbClr val="000000"/>
                </a:solidFill>
                <a:latin typeface="Calibri" pitchFamily="34" charset="0"/>
                <a:cs typeface="Calibri" pitchFamily="34" charset="0"/>
              </a:rPr>
              <a:t>ptr</a:t>
            </a:r>
            <a:r>
              <a:rPr lang="en-US" sz="1600" b="0" i="1" dirty="0" smtClean="0">
                <a:solidFill>
                  <a:srgbClr val="000000"/>
                </a:solidFill>
                <a:latin typeface="Calibri" pitchFamily="34" charset="0"/>
                <a:cs typeface="Calibri" pitchFamily="34" charset="0"/>
              </a:rPr>
              <a:t>/size, </a:t>
            </a:r>
            <a:r>
              <a:rPr lang="en-US" sz="1600" b="0" i="1" dirty="0">
                <a:solidFill>
                  <a:srgbClr val="000000"/>
                </a:solidFill>
                <a:latin typeface="Calibri" pitchFamily="34" charset="0"/>
                <a:cs typeface="Calibri" pitchFamily="34" charset="0"/>
              </a:rPr>
              <a:t>environment </a:t>
            </a:r>
            <a:r>
              <a:rPr lang="en-US" sz="1600" b="0" i="1" dirty="0" err="1">
                <a:solidFill>
                  <a:srgbClr val="000000"/>
                </a:solidFill>
                <a:latin typeface="Calibri" pitchFamily="34" charset="0"/>
                <a:cs typeface="Calibri" pitchFamily="34" charset="0"/>
              </a:rPr>
              <a:t>ptr</a:t>
            </a:r>
            <a:r>
              <a:rPr lang="en-US" sz="1600" b="0" i="1" dirty="0">
                <a:solidFill>
                  <a:srgbClr val="000000"/>
                </a:solidFill>
                <a:latin typeface="Calibri" pitchFamily="34" charset="0"/>
                <a:cs typeface="Calibri" pitchFamily="34" charset="0"/>
              </a:rPr>
              <a:t>, name  </a:t>
            </a:r>
          </a:p>
        </p:txBody>
      </p:sp>
      <p:pic>
        <p:nvPicPr>
          <p:cNvPr id="15"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Tree>
    <p:extLst>
      <p:ext uri="{BB962C8B-B14F-4D97-AF65-F5344CB8AC3E}">
        <p14:creationId xmlns:p14="http://schemas.microsoft.com/office/powerpoint/2010/main" val="102400068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6"/>
          <p:cNvSpPr>
            <a:spLocks noGrp="1" noChangeArrowheads="1"/>
          </p:cNvSpPr>
          <p:nvPr>
            <p:ph type="title"/>
          </p:nvPr>
        </p:nvSpPr>
        <p:spPr>
          <a:noFill/>
        </p:spPr>
        <p:txBody>
          <a:bodyPr wrap="none" anchorCtr="1">
            <a:normAutofit/>
          </a:bodyPr>
          <a:lstStyle/>
          <a:p>
            <a:r>
              <a:rPr lang="en-US" dirty="0" smtClean="0"/>
              <a:t>Using </a:t>
            </a:r>
            <a:r>
              <a:rPr lang="en-US" dirty="0" err="1" smtClean="0"/>
              <a:t>System_printf</a:t>
            </a:r>
            <a:r>
              <a:rPr lang="en-US" dirty="0" smtClean="0"/>
              <a:t>()</a:t>
            </a:r>
          </a:p>
        </p:txBody>
      </p:sp>
      <p:sp>
        <p:nvSpPr>
          <p:cNvPr id="6" name="TextBox 5"/>
          <p:cNvSpPr txBox="1"/>
          <p:nvPr/>
        </p:nvSpPr>
        <p:spPr>
          <a:xfrm>
            <a:off x="152400" y="667288"/>
            <a:ext cx="7619522" cy="1466235"/>
          </a:xfrm>
          <a:prstGeom prst="rect">
            <a:avLst/>
          </a:prstGeom>
          <a:noFill/>
        </p:spPr>
        <p:txBody>
          <a:bodyPr wrap="none" rtlCol="0" anchor="ctr" anchorCtr="0">
            <a:spAutoFit/>
          </a:bodyPr>
          <a:lstStyle/>
          <a:p>
            <a:pPr marL="342900" indent="-342900">
              <a:buClr>
                <a:srgbClr val="FF0000"/>
              </a:buClr>
              <a:buSzPct val="75000"/>
              <a:buFont typeface="Wingdings"/>
              <a:buChar char=""/>
            </a:pPr>
            <a:r>
              <a:rPr lang="en-US" b="0" dirty="0" smtClean="0">
                <a:solidFill>
                  <a:srgbClr val="000000"/>
                </a:solidFill>
                <a:latin typeface="Calibri" pitchFamily="34" charset="0"/>
                <a:cs typeface="Calibri" pitchFamily="34" charset="0"/>
              </a:rPr>
              <a:t>Need to print to the </a:t>
            </a:r>
            <a:r>
              <a:rPr lang="en-US" b="0" i="1" dirty="0" smtClean="0">
                <a:solidFill>
                  <a:srgbClr val="000000"/>
                </a:solidFill>
                <a:latin typeface="Calibri" pitchFamily="34" charset="0"/>
                <a:cs typeface="Calibri" pitchFamily="34" charset="0"/>
              </a:rPr>
              <a:t>Console Window </a:t>
            </a:r>
            <a:r>
              <a:rPr lang="en-US" b="0" dirty="0" smtClean="0">
                <a:solidFill>
                  <a:srgbClr val="000000"/>
                </a:solidFill>
                <a:latin typeface="Calibri" pitchFamily="34" charset="0"/>
                <a:cs typeface="Calibri" pitchFamily="34" charset="0"/>
              </a:rPr>
              <a:t>when something</a:t>
            </a:r>
            <a:br>
              <a:rPr lang="en-US" b="0" dirty="0" smtClean="0">
                <a:solidFill>
                  <a:srgbClr val="000000"/>
                </a:solidFill>
                <a:latin typeface="Calibri" pitchFamily="34" charset="0"/>
                <a:cs typeface="Calibri" pitchFamily="34" charset="0"/>
              </a:rPr>
            </a:br>
            <a:r>
              <a:rPr lang="en-US" b="0" dirty="0" smtClean="0">
                <a:solidFill>
                  <a:srgbClr val="000000"/>
                </a:solidFill>
                <a:latin typeface="Calibri" pitchFamily="34" charset="0"/>
                <a:cs typeface="Calibri" pitchFamily="34" charset="0"/>
              </a:rPr>
              <a:t>bad happens?</a:t>
            </a:r>
          </a:p>
          <a:p>
            <a:pPr marL="342900" indent="-342900">
              <a:buClr>
                <a:srgbClr val="FF0000"/>
              </a:buClr>
              <a:buSzPct val="75000"/>
              <a:buFont typeface="Wingdings"/>
              <a:buChar char=""/>
            </a:pPr>
            <a:r>
              <a:rPr lang="en-US" b="0" dirty="0" smtClean="0">
                <a:solidFill>
                  <a:srgbClr val="000000"/>
                </a:solidFill>
                <a:latin typeface="Calibri" pitchFamily="34" charset="0"/>
                <a:cs typeface="Calibri" pitchFamily="34" charset="0"/>
              </a:rPr>
              <a:t>If you don’t get a handle to a resource (bad), you can use</a:t>
            </a:r>
            <a:br>
              <a:rPr lang="en-US" b="0" dirty="0" smtClean="0">
                <a:solidFill>
                  <a:srgbClr val="000000"/>
                </a:solidFill>
                <a:latin typeface="Calibri" pitchFamily="34" charset="0"/>
                <a:cs typeface="Calibri" pitchFamily="34" charset="0"/>
              </a:rPr>
            </a:br>
            <a:r>
              <a:rPr lang="en-US" b="0" dirty="0" smtClean="0">
                <a:solidFill>
                  <a:srgbClr val="000000"/>
                </a:solidFill>
                <a:latin typeface="Calibri" pitchFamily="34" charset="0"/>
                <a:cs typeface="Calibri" pitchFamily="34" charset="0"/>
              </a:rPr>
              <a:t>this API to send a report when BIOS exits:</a:t>
            </a:r>
          </a:p>
        </p:txBody>
      </p:sp>
      <p:sp>
        <p:nvSpPr>
          <p:cNvPr id="7" name="TextBox 6"/>
          <p:cNvSpPr txBox="1"/>
          <p:nvPr/>
        </p:nvSpPr>
        <p:spPr>
          <a:xfrm>
            <a:off x="914400" y="2302888"/>
            <a:ext cx="7543800" cy="516512"/>
          </a:xfrm>
          <a:prstGeom prst="rect">
            <a:avLst/>
          </a:prstGeom>
          <a:solidFill>
            <a:schemeClr val="accent4">
              <a:lumMod val="20000"/>
              <a:lumOff val="80000"/>
            </a:schemeClr>
          </a:solidFill>
          <a:ln>
            <a:solidFill>
              <a:schemeClr val="tx1"/>
            </a:solidFill>
          </a:ln>
          <a:effectLst>
            <a:outerShdw blurRad="50800" dist="76200" dir="2700000" algn="tl" rotWithShape="0">
              <a:prstClr val="black">
                <a:alpha val="40000"/>
              </a:prstClr>
            </a:outerShdw>
          </a:effectLst>
        </p:spPr>
        <p:txBody>
          <a:bodyPr wrap="square" rtlCol="0" anchor="ctr" anchorCtr="1">
            <a:noAutofit/>
          </a:bodyPr>
          <a:lstStyle/>
          <a:p>
            <a:r>
              <a:rPr lang="en-US" dirty="0" err="1" smtClean="0">
                <a:solidFill>
                  <a:srgbClr val="000000"/>
                </a:solidFill>
                <a:latin typeface="Courier New" pitchFamily="49" charset="0"/>
                <a:cs typeface="Courier New" pitchFamily="49" charset="0"/>
              </a:rPr>
              <a:t>System_printf</a:t>
            </a:r>
            <a:r>
              <a:rPr lang="en-US" dirty="0" smtClean="0">
                <a:solidFill>
                  <a:srgbClr val="000000"/>
                </a:solidFill>
                <a:latin typeface="Courier New" pitchFamily="49" charset="0"/>
                <a:cs typeface="Courier New" pitchFamily="49" charset="0"/>
              </a:rPr>
              <a:t>(“</a:t>
            </a:r>
            <a:r>
              <a:rPr lang="en-US" dirty="0" err="1" smtClean="0">
                <a:solidFill>
                  <a:srgbClr val="000000"/>
                </a:solidFill>
                <a:latin typeface="Courier New" pitchFamily="49" charset="0"/>
                <a:cs typeface="Courier New" pitchFamily="49" charset="0"/>
              </a:rPr>
              <a:t>buf</a:t>
            </a:r>
            <a:r>
              <a:rPr lang="en-US" dirty="0" smtClean="0">
                <a:solidFill>
                  <a:srgbClr val="000000"/>
                </a:solidFill>
                <a:latin typeface="Courier New" pitchFamily="49" charset="0"/>
                <a:cs typeface="Courier New" pitchFamily="49" charset="0"/>
              </a:rPr>
              <a:t>: no resource\n");</a:t>
            </a:r>
          </a:p>
        </p:txBody>
      </p:sp>
      <p:pic>
        <p:nvPicPr>
          <p:cNvPr id="2050" name="Picture 2" descr="C:\Documents and Settings\a0159877\Desktop\sys_min_mod.png"/>
          <p:cNvPicPr>
            <a:picLocks noChangeAspect="1" noChangeArrowheads="1"/>
          </p:cNvPicPr>
          <p:nvPr/>
        </p:nvPicPr>
        <p:blipFill>
          <a:blip r:embed="rId3" cstate="print"/>
          <a:srcRect/>
          <a:stretch>
            <a:fillRect/>
          </a:stretch>
        </p:blipFill>
        <p:spPr bwMode="auto">
          <a:xfrm>
            <a:off x="4267200" y="3048000"/>
            <a:ext cx="1485900" cy="990600"/>
          </a:xfrm>
          <a:prstGeom prst="rect">
            <a:avLst/>
          </a:prstGeom>
          <a:noFill/>
          <a:ln w="28575">
            <a:solidFill>
              <a:schemeClr val="tx1"/>
            </a:solidFill>
          </a:ln>
          <a:effectLst>
            <a:outerShdw blurRad="50800" dist="76200" dir="2700000" algn="tl" rotWithShape="0">
              <a:prstClr val="black">
                <a:alpha val="40000"/>
              </a:prstClr>
            </a:outerShdw>
          </a:effectLst>
        </p:spPr>
      </p:pic>
      <p:sp>
        <p:nvSpPr>
          <p:cNvPr id="9" name="TextBox 8"/>
          <p:cNvSpPr txBox="1"/>
          <p:nvPr/>
        </p:nvSpPr>
        <p:spPr>
          <a:xfrm>
            <a:off x="152400" y="3381627"/>
            <a:ext cx="3691780" cy="387798"/>
          </a:xfrm>
          <a:prstGeom prst="rect">
            <a:avLst/>
          </a:prstGeom>
          <a:noFill/>
        </p:spPr>
        <p:txBody>
          <a:bodyPr wrap="none" rtlCol="0" anchor="ctr" anchorCtr="0">
            <a:spAutoFit/>
          </a:bodyPr>
          <a:lstStyle/>
          <a:p>
            <a:pPr marL="342900" indent="-342900">
              <a:buClr>
                <a:srgbClr val="FF0000"/>
              </a:buClr>
              <a:buSzPct val="75000"/>
              <a:buFont typeface="Wingdings"/>
              <a:buChar char=""/>
            </a:pPr>
            <a:r>
              <a:rPr lang="en-US" b="0" dirty="0" smtClean="0">
                <a:solidFill>
                  <a:srgbClr val="000000"/>
                </a:solidFill>
                <a:latin typeface="Calibri" pitchFamily="34" charset="0"/>
                <a:cs typeface="Calibri" pitchFamily="34" charset="0"/>
              </a:rPr>
              <a:t>Uses the </a:t>
            </a:r>
            <a:r>
              <a:rPr lang="en-US" b="0" dirty="0" err="1" smtClean="0">
                <a:solidFill>
                  <a:srgbClr val="000000"/>
                </a:solidFill>
                <a:latin typeface="Calibri" pitchFamily="34" charset="0"/>
                <a:cs typeface="Calibri" pitchFamily="34" charset="0"/>
              </a:rPr>
              <a:t>SysMin</a:t>
            </a:r>
            <a:r>
              <a:rPr lang="en-US" b="0" dirty="0" smtClean="0">
                <a:solidFill>
                  <a:srgbClr val="000000"/>
                </a:solidFill>
                <a:latin typeface="Calibri" pitchFamily="34" charset="0"/>
                <a:cs typeface="Calibri" pitchFamily="34" charset="0"/>
              </a:rPr>
              <a:t> Module:</a:t>
            </a:r>
          </a:p>
        </p:txBody>
      </p:sp>
      <p:sp>
        <p:nvSpPr>
          <p:cNvPr id="10" name="TextBox 9"/>
          <p:cNvSpPr txBox="1"/>
          <p:nvPr/>
        </p:nvSpPr>
        <p:spPr>
          <a:xfrm>
            <a:off x="152400" y="4376273"/>
            <a:ext cx="7764113" cy="1643527"/>
          </a:xfrm>
          <a:prstGeom prst="rect">
            <a:avLst/>
          </a:prstGeom>
          <a:noFill/>
        </p:spPr>
        <p:txBody>
          <a:bodyPr wrap="none" rtlCol="0" anchor="ctr" anchorCtr="0">
            <a:spAutoFit/>
          </a:bodyPr>
          <a:lstStyle/>
          <a:p>
            <a:pPr marL="342900" indent="-342900">
              <a:buClr>
                <a:srgbClr val="FF0000"/>
              </a:buClr>
              <a:buSzPct val="75000"/>
              <a:buFont typeface="Wingdings"/>
              <a:buChar char=""/>
            </a:pPr>
            <a:r>
              <a:rPr lang="en-US" b="0" dirty="0" smtClean="0">
                <a:solidFill>
                  <a:srgbClr val="000000"/>
                </a:solidFill>
                <a:latin typeface="Calibri" pitchFamily="34" charset="0"/>
                <a:cs typeface="Calibri" pitchFamily="34" charset="0"/>
              </a:rPr>
              <a:t>Outputs results to </a:t>
            </a:r>
            <a:r>
              <a:rPr lang="en-US" b="0" i="1" dirty="0" smtClean="0">
                <a:solidFill>
                  <a:srgbClr val="000000"/>
                </a:solidFill>
                <a:latin typeface="Calibri" pitchFamily="34" charset="0"/>
                <a:cs typeface="Calibri" pitchFamily="34" charset="0"/>
              </a:rPr>
              <a:t>Console window </a:t>
            </a:r>
            <a:r>
              <a:rPr lang="en-US" b="0" dirty="0" smtClean="0">
                <a:solidFill>
                  <a:srgbClr val="000000"/>
                </a:solidFill>
                <a:latin typeface="Calibri" pitchFamily="34" charset="0"/>
                <a:cs typeface="Calibri" pitchFamily="34" charset="0"/>
              </a:rPr>
              <a:t>when a </a:t>
            </a:r>
            <a:r>
              <a:rPr lang="en-US" b="0" dirty="0" err="1" smtClean="0">
                <a:solidFill>
                  <a:srgbClr val="000000"/>
                </a:solidFill>
                <a:latin typeface="Calibri" pitchFamily="34" charset="0"/>
                <a:cs typeface="Calibri" pitchFamily="34" charset="0"/>
              </a:rPr>
              <a:t>System_flush</a:t>
            </a:r>
            <a:r>
              <a:rPr lang="en-US" b="0" dirty="0" smtClean="0">
                <a:solidFill>
                  <a:srgbClr val="000000"/>
                </a:solidFill>
                <a:latin typeface="Calibri" pitchFamily="34" charset="0"/>
                <a:cs typeface="Calibri" pitchFamily="34" charset="0"/>
              </a:rPr>
              <a:t>()</a:t>
            </a:r>
            <a:br>
              <a:rPr lang="en-US" b="0" dirty="0" smtClean="0">
                <a:solidFill>
                  <a:srgbClr val="000000"/>
                </a:solidFill>
                <a:latin typeface="Calibri" pitchFamily="34" charset="0"/>
                <a:cs typeface="Calibri" pitchFamily="34" charset="0"/>
              </a:rPr>
            </a:br>
            <a:r>
              <a:rPr lang="en-US" b="0" dirty="0" smtClean="0">
                <a:solidFill>
                  <a:srgbClr val="000000"/>
                </a:solidFill>
                <a:latin typeface="Calibri" pitchFamily="34" charset="0"/>
                <a:cs typeface="Calibri" pitchFamily="34" charset="0"/>
              </a:rPr>
              <a:t>occurs (like when BIOS exits) or _flush is called</a:t>
            </a:r>
          </a:p>
          <a:p>
            <a:pPr marL="342900" indent="-342900">
              <a:buClr>
                <a:srgbClr val="FF0000"/>
              </a:buClr>
              <a:buSzPct val="75000"/>
              <a:buFont typeface="Wingdings"/>
              <a:buChar char=""/>
            </a:pPr>
            <a:r>
              <a:rPr lang="en-US" b="0" dirty="0" smtClean="0">
                <a:solidFill>
                  <a:srgbClr val="000000"/>
                </a:solidFill>
                <a:latin typeface="Calibri" pitchFamily="34" charset="0"/>
                <a:cs typeface="Calibri" pitchFamily="34" charset="0"/>
              </a:rPr>
              <a:t>Offers similar flexibility as </a:t>
            </a:r>
            <a:r>
              <a:rPr lang="en-US" b="0" dirty="0" err="1" smtClean="0">
                <a:solidFill>
                  <a:srgbClr val="000000"/>
                </a:solidFill>
                <a:latin typeface="Calibri" pitchFamily="34" charset="0"/>
                <a:cs typeface="Calibri" pitchFamily="34" charset="0"/>
              </a:rPr>
              <a:t>printf</a:t>
            </a:r>
            <a:r>
              <a:rPr lang="en-US" b="0" dirty="0" smtClean="0">
                <a:solidFill>
                  <a:srgbClr val="000000"/>
                </a:solidFill>
                <a:latin typeface="Calibri" pitchFamily="34" charset="0"/>
                <a:cs typeface="Calibri" pitchFamily="34" charset="0"/>
              </a:rPr>
              <a:t>() for a smaller footprint</a:t>
            </a:r>
          </a:p>
          <a:p>
            <a:pPr marL="342900" indent="-342900">
              <a:buClr>
                <a:srgbClr val="FF0000"/>
              </a:buClr>
              <a:buSzPct val="75000"/>
              <a:buFont typeface="Wingdings"/>
              <a:buChar char=""/>
            </a:pPr>
            <a:r>
              <a:rPr lang="en-US" b="0" dirty="0" smtClean="0">
                <a:solidFill>
                  <a:srgbClr val="000000"/>
                </a:solidFill>
                <a:latin typeface="Calibri" pitchFamily="34" charset="0"/>
                <a:cs typeface="Calibri" pitchFamily="34" charset="0"/>
              </a:rPr>
              <a:t>Can be called by an ISR (</a:t>
            </a:r>
            <a:r>
              <a:rPr lang="en-US" b="0" dirty="0" err="1" smtClean="0">
                <a:solidFill>
                  <a:srgbClr val="000000"/>
                </a:solidFill>
                <a:latin typeface="Calibri" pitchFamily="34" charset="0"/>
                <a:cs typeface="Calibri" pitchFamily="34" charset="0"/>
              </a:rPr>
              <a:t>Hwi</a:t>
            </a:r>
            <a:r>
              <a:rPr lang="en-US" b="0" dirty="0" smtClean="0">
                <a:solidFill>
                  <a:srgbClr val="000000"/>
                </a:solidFill>
                <a:latin typeface="Calibri" pitchFamily="34" charset="0"/>
                <a:cs typeface="Calibri" pitchFamily="34" charset="0"/>
              </a:rPr>
              <a:t>)</a:t>
            </a:r>
          </a:p>
        </p:txBody>
      </p:sp>
      <p:pic>
        <p:nvPicPr>
          <p:cNvPr id="16"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Tree>
    <p:extLst>
      <p:ext uri="{BB962C8B-B14F-4D97-AF65-F5344CB8AC3E}">
        <p14:creationId xmlns:p14="http://schemas.microsoft.com/office/powerpoint/2010/main" val="29016124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685800"/>
            <a:ext cx="5562600" cy="5638800"/>
          </a:xfrm>
          <a:prstGeom prst="rect">
            <a:avLst/>
          </a:prstGeom>
          <a:solidFill>
            <a:srgbClr val="92D050"/>
          </a:solidFill>
          <a:ln w="19050">
            <a:solidFill>
              <a:schemeClr val="tx1"/>
            </a:solidFill>
            <a:miter lim="800000"/>
            <a:headEnd type="none" w="sm" len="sm"/>
            <a:tailEnd type="none" w="sm" len="sm"/>
          </a:ln>
          <a:effectLst>
            <a:outerShdw blurRad="50800" dist="101600" dir="2700000" algn="tl" rotWithShape="0">
              <a:prstClr val="black">
                <a:alpha val="40000"/>
              </a:prstClr>
            </a:outerShdw>
          </a:effectLst>
        </p:spPr>
        <p:txBody>
          <a:bodyPr wrap="none" tIns="36576" bIns="36576"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1" cstate="print"/>
          <a:srcRect/>
          <a:stretch>
            <a:fillRect/>
          </a:stretch>
        </p:blipFill>
        <p:spPr bwMode="auto">
          <a:xfrm>
            <a:off x="6160824" y="1153041"/>
            <a:ext cx="2819400" cy="4172713"/>
          </a:xfrm>
          <a:prstGeom prst="rect">
            <a:avLst/>
          </a:prstGeom>
          <a:noFill/>
        </p:spPr>
      </p:pic>
      <p:pic>
        <p:nvPicPr>
          <p:cNvPr id="9" name="Animated Logo" descr="tilogo_color_twoline.png"/>
          <p:cNvPicPr>
            <a:picLocks noChangeAspect="1"/>
          </p:cNvPicPr>
          <p:nvPr/>
        </p:nvPicPr>
        <p:blipFill>
          <a:blip r:embed="rId12"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3" action="ppaction://hlinksldjump"/>
          </p:cNvPr>
          <p:cNvSpPr txBox="1">
            <a:spLocks noChangeArrowheads="1"/>
          </p:cNvSpPr>
          <p:nvPr>
            <p:custDataLst>
              <p:tags r:id="rId2"/>
            </p:custDataLst>
          </p:nvPr>
        </p:nvSpPr>
        <p:spPr bwMode="auto">
          <a:xfrm>
            <a:off x="301576" y="780433"/>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Tasks</a:t>
            </a:r>
            <a:endParaRPr lang="en-US" sz="2800" dirty="0">
              <a:solidFill>
                <a:srgbClr val="000000"/>
              </a:solidFill>
            </a:endParaRPr>
          </a:p>
        </p:txBody>
      </p:sp>
      <p:sp>
        <p:nvSpPr>
          <p:cNvPr id="11" name="Text Box 4">
            <a:hlinkClick r:id="rId14" action="ppaction://hlinksldjump"/>
          </p:cNvPr>
          <p:cNvSpPr txBox="1">
            <a:spLocks noChangeArrowheads="1"/>
          </p:cNvSpPr>
          <p:nvPr>
            <p:custDataLst>
              <p:tags r:id="rId3"/>
            </p:custDataLst>
          </p:nvPr>
        </p:nvSpPr>
        <p:spPr bwMode="auto">
          <a:xfrm>
            <a:off x="301576" y="1315250"/>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Swi vs. Task</a:t>
            </a:r>
            <a:endParaRPr lang="en-US" sz="2800" dirty="0">
              <a:solidFill>
                <a:srgbClr val="000000"/>
              </a:solidFill>
            </a:endParaRPr>
          </a:p>
        </p:txBody>
      </p:sp>
      <p:sp>
        <p:nvSpPr>
          <p:cNvPr id="12" name="Text Box 4">
            <a:hlinkClick r:id="rId15" action="ppaction://hlinksldjump"/>
          </p:cNvPr>
          <p:cNvSpPr txBox="1">
            <a:spLocks noChangeArrowheads="1"/>
          </p:cNvSpPr>
          <p:nvPr>
            <p:custDataLst>
              <p:tags r:id="rId4"/>
            </p:custDataLst>
          </p:nvPr>
        </p:nvSpPr>
        <p:spPr bwMode="auto">
          <a:xfrm>
            <a:off x="301576" y="1850067"/>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Semaphores</a:t>
            </a:r>
            <a:endParaRPr lang="en-US" sz="2800" dirty="0">
              <a:solidFill>
                <a:srgbClr val="000000"/>
              </a:solidFill>
            </a:endParaRPr>
          </a:p>
        </p:txBody>
      </p:sp>
      <p:sp>
        <p:nvSpPr>
          <p:cNvPr id="13" name="Text Box 4">
            <a:hlinkClick r:id="rId16" action="ppaction://hlinksldjump"/>
          </p:cNvPr>
          <p:cNvSpPr txBox="1">
            <a:spLocks noChangeArrowheads="1"/>
          </p:cNvSpPr>
          <p:nvPr>
            <p:custDataLst>
              <p:tags r:id="rId5"/>
            </p:custDataLst>
          </p:nvPr>
        </p:nvSpPr>
        <p:spPr bwMode="auto">
          <a:xfrm>
            <a:off x="301576" y="2384884"/>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Other Useful APIs…</a:t>
            </a:r>
            <a:endParaRPr lang="en-US" sz="2800" dirty="0">
              <a:solidFill>
                <a:srgbClr val="000000"/>
              </a:solidFill>
            </a:endParaRPr>
          </a:p>
        </p:txBody>
      </p:sp>
      <p:sp>
        <p:nvSpPr>
          <p:cNvPr id="14" name="Text Box 4">
            <a:hlinkClick r:id="rId17" action="ppaction://hlinksldjump"/>
          </p:cNvPr>
          <p:cNvSpPr txBox="1">
            <a:spLocks noChangeArrowheads="1"/>
          </p:cNvSpPr>
          <p:nvPr>
            <p:custDataLst>
              <p:tags r:id="rId6"/>
            </p:custDataLst>
          </p:nvPr>
        </p:nvSpPr>
        <p:spPr bwMode="auto">
          <a:xfrm>
            <a:off x="301576" y="2919701"/>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Events</a:t>
            </a:r>
            <a:endParaRPr lang="en-US" sz="2800" dirty="0">
              <a:solidFill>
                <a:srgbClr val="000000"/>
              </a:solidFill>
            </a:endParaRPr>
          </a:p>
        </p:txBody>
      </p:sp>
      <p:sp>
        <p:nvSpPr>
          <p:cNvPr id="15" name="Text Box 4">
            <a:hlinkClick r:id="rId18" action="ppaction://hlinksldjump"/>
          </p:cNvPr>
          <p:cNvSpPr txBox="1">
            <a:spLocks noChangeArrowheads="1"/>
          </p:cNvSpPr>
          <p:nvPr>
            <p:custDataLst>
              <p:tags r:id="rId7"/>
            </p:custDataLst>
          </p:nvPr>
        </p:nvSpPr>
        <p:spPr bwMode="auto">
          <a:xfrm>
            <a:off x="301576" y="3454518"/>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6" name="Text Box 3">
            <a:hlinkClick r:id="rId19" action="ppaction://hlinksldjump"/>
          </p:cNvPr>
          <p:cNvSpPr txBox="1">
            <a:spLocks noChangeArrowheads="1"/>
          </p:cNvSpPr>
          <p:nvPr>
            <p:custDataLst>
              <p:tags r:id="rId8"/>
            </p:custDataLst>
          </p:nvPr>
        </p:nvSpPr>
        <p:spPr bwMode="auto">
          <a:xfrm>
            <a:off x="304800" y="3989335"/>
            <a:ext cx="5562600" cy="4616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Memory Footprint</a:t>
            </a:r>
            <a:endParaRPr lang="en-US" sz="2800" dirty="0">
              <a:solidFill>
                <a:srgbClr val="000000"/>
              </a:solidFill>
            </a:endParaRPr>
          </a:p>
        </p:txBody>
      </p:sp>
      <p:sp>
        <p:nvSpPr>
          <p:cNvPr id="17" name="Text Box 4">
            <a:hlinkClick r:id="rId20" action="ppaction://hlinksldjump"/>
          </p:cNvPr>
          <p:cNvSpPr txBox="1">
            <a:spLocks noChangeArrowheads="1"/>
          </p:cNvSpPr>
          <p:nvPr>
            <p:custDataLst>
              <p:tags r:id="rId9"/>
            </p:custDataLst>
          </p:nvPr>
        </p:nvSpPr>
        <p:spPr bwMode="auto">
          <a:xfrm>
            <a:off x="301576" y="4524152"/>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3057074330"/>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normAutofit/>
          </a:bodyPr>
          <a:lstStyle/>
          <a:p>
            <a:r>
              <a:rPr lang="en-US" sz="3200" smtClean="0"/>
              <a:t>Memory Footprint (MCU Targets)</a:t>
            </a:r>
          </a:p>
        </p:txBody>
      </p:sp>
      <p:graphicFrame>
        <p:nvGraphicFramePr>
          <p:cNvPr id="2" name="Table 1"/>
          <p:cNvGraphicFramePr>
            <a:graphicFrameLocks noGrp="1"/>
          </p:cNvGraphicFramePr>
          <p:nvPr>
            <p:extLst>
              <p:ext uri="{D42A27DB-BD31-4B8C-83A1-F6EECF244321}">
                <p14:modId xmlns:p14="http://schemas.microsoft.com/office/powerpoint/2010/main" val="455272797"/>
              </p:ext>
            </p:extLst>
          </p:nvPr>
        </p:nvGraphicFramePr>
        <p:xfrm>
          <a:off x="304800" y="939632"/>
          <a:ext cx="8458200" cy="3623557"/>
        </p:xfrm>
        <a:graphic>
          <a:graphicData uri="http://schemas.openxmlformats.org/drawingml/2006/table">
            <a:tbl>
              <a:tblPr firstRow="1" bandRow="1">
                <a:tableStyleId>{5C22544A-7EE6-4342-B048-85BDC9FD1C3A}</a:tableStyleId>
              </a:tblPr>
              <a:tblGrid>
                <a:gridCol w="2895600"/>
                <a:gridCol w="990600"/>
                <a:gridCol w="914400"/>
                <a:gridCol w="762000"/>
                <a:gridCol w="965200"/>
                <a:gridCol w="965200"/>
                <a:gridCol w="965200"/>
              </a:tblGrid>
              <a:tr h="353276">
                <a:tc>
                  <a:txBody>
                    <a:bodyPr/>
                    <a:lstStyle/>
                    <a:p>
                      <a:r>
                        <a:rPr lang="en-US" smtClean="0">
                          <a:solidFill>
                            <a:sysClr val="windowText" lastClr="000000"/>
                          </a:solidFill>
                          <a:latin typeface="Calibri" pitchFamily="34" charset="0"/>
                          <a:cs typeface="Calibri" pitchFamily="34" charset="0"/>
                        </a:rPr>
                        <a:t>Application</a:t>
                      </a:r>
                      <a:endParaRPr lang="en-US">
                        <a:solidFill>
                          <a:sysClr val="windowText" lastClr="000000"/>
                        </a:solidFill>
                        <a:latin typeface="Calibri" pitchFamily="34" charset="0"/>
                        <a:cs typeface="Calibri"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gridSpan="3">
                  <a:txBody>
                    <a:bodyPr/>
                    <a:lstStyle/>
                    <a:p>
                      <a:r>
                        <a:rPr lang="en-US" smtClean="0">
                          <a:solidFill>
                            <a:sysClr val="windowText" lastClr="000000"/>
                          </a:solidFill>
                          <a:latin typeface="Calibri" pitchFamily="34" charset="0"/>
                          <a:cs typeface="Calibri" pitchFamily="34" charset="0"/>
                        </a:rPr>
                        <a:t>FLASH (prog) in</a:t>
                      </a:r>
                      <a:r>
                        <a:rPr lang="en-US" baseline="0" smtClean="0">
                          <a:solidFill>
                            <a:sysClr val="windowText" lastClr="000000"/>
                          </a:solidFill>
                          <a:latin typeface="Calibri" pitchFamily="34" charset="0"/>
                          <a:cs typeface="Calibri" pitchFamily="34" charset="0"/>
                        </a:rPr>
                        <a:t> bytes</a:t>
                      </a:r>
                      <a:endParaRPr lang="en-US">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hMerge="1">
                  <a:txBody>
                    <a:bodyPr/>
                    <a:lstStyle/>
                    <a:p>
                      <a:endParaRPr lang="en-US"/>
                    </a:p>
                  </a:txBody>
                  <a:tcPr/>
                </a:tc>
                <a:tc hMerge="1">
                  <a:txBody>
                    <a:bodyPr/>
                    <a:lstStyle/>
                    <a:p>
                      <a:endParaRPr lang="en-US"/>
                    </a:p>
                  </a:txBody>
                  <a:tcPr/>
                </a:tc>
                <a:tc gridSpan="3">
                  <a:txBody>
                    <a:bodyPr/>
                    <a:lstStyle/>
                    <a:p>
                      <a:r>
                        <a:rPr lang="en-US" smtClean="0">
                          <a:solidFill>
                            <a:sysClr val="windowText" lastClr="000000"/>
                          </a:solidFill>
                          <a:latin typeface="Calibri" pitchFamily="34" charset="0"/>
                          <a:cs typeface="Calibri" pitchFamily="34" charset="0"/>
                        </a:rPr>
                        <a:t>RAM (data) in bytes</a:t>
                      </a:r>
                      <a:endParaRPr lang="en-US">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hMerge="1">
                  <a:txBody>
                    <a:bodyPr/>
                    <a:lstStyle/>
                    <a:p>
                      <a:endParaRPr lang="en-US"/>
                    </a:p>
                  </a:txBody>
                  <a:tcPr/>
                </a:tc>
                <a:tc hMerge="1">
                  <a:txBody>
                    <a:bodyPr/>
                    <a:lstStyle/>
                    <a:p>
                      <a:endParaRPr lang="en-US"/>
                    </a:p>
                  </a:txBody>
                  <a:tcPr/>
                </a:tc>
              </a:tr>
              <a:tr h="396239">
                <a:tc>
                  <a:txBody>
                    <a:bodyPr/>
                    <a:lstStyle/>
                    <a:p>
                      <a:r>
                        <a:rPr lang="en-US" sz="1600" smtClean="0">
                          <a:solidFill>
                            <a:sysClr val="windowText" lastClr="000000"/>
                          </a:solidFill>
                          <a:latin typeface="Calibri" pitchFamily="34" charset="0"/>
                          <a:cs typeface="Calibri" pitchFamily="34" charset="0"/>
                        </a:rPr>
                        <a:t>BLINK LED Using</a:t>
                      </a:r>
                      <a:r>
                        <a:rPr lang="en-US" sz="1600" baseline="0" smtClean="0">
                          <a:solidFill>
                            <a:sysClr val="windowText" lastClr="000000"/>
                          </a:solidFill>
                          <a:latin typeface="Calibri" pitchFamily="34" charset="0"/>
                          <a:cs typeface="Calibri" pitchFamily="34" charset="0"/>
                        </a:rPr>
                        <a:t> xWare</a:t>
                      </a:r>
                      <a:endParaRPr lang="en-US" sz="1600" smtClean="0">
                        <a:solidFill>
                          <a:sysClr val="windowText" lastClr="000000"/>
                        </a:solidFill>
                        <a:latin typeface="Calibri" pitchFamily="34" charset="0"/>
                        <a:cs typeface="Calibri"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b="1" smtClean="0">
                          <a:solidFill>
                            <a:sysClr val="windowText" lastClr="000000"/>
                          </a:solidFill>
                          <a:latin typeface="Calibri" pitchFamily="34" charset="0"/>
                          <a:cs typeface="Calibri" pitchFamily="34" charset="0"/>
                        </a:rPr>
                        <a:t>MSP430</a:t>
                      </a:r>
                      <a:endParaRPr lang="en-US" sz="1600" b="1">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b="1" smtClean="0">
                          <a:solidFill>
                            <a:sysClr val="windowText" lastClr="000000"/>
                          </a:solidFill>
                          <a:latin typeface="Calibri" pitchFamily="34" charset="0"/>
                          <a:cs typeface="Calibri" pitchFamily="34" charset="0"/>
                        </a:rPr>
                        <a:t>C28x </a:t>
                      </a:r>
                      <a:r>
                        <a:rPr lang="en-US" sz="1400" b="1" i="1" smtClean="0">
                          <a:solidFill>
                            <a:sysClr val="windowText" lastClr="000000"/>
                          </a:solidFill>
                          <a:latin typeface="Calibri" pitchFamily="34" charset="0"/>
                          <a:cs typeface="Calibri" pitchFamily="34" charset="0"/>
                        </a:rPr>
                        <a:t>(w)</a:t>
                      </a:r>
                      <a:endParaRPr lang="en-US" sz="1600" b="1" i="1">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b="1" smtClean="0">
                          <a:solidFill>
                            <a:sysClr val="windowText" lastClr="000000"/>
                          </a:solidFill>
                          <a:latin typeface="Calibri" pitchFamily="34" charset="0"/>
                          <a:cs typeface="Calibri" pitchFamily="34" charset="0"/>
                        </a:rPr>
                        <a:t>Tiva-C</a:t>
                      </a:r>
                      <a:endParaRPr lang="en-US" sz="1600" b="1">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b="1" smtClean="0">
                          <a:solidFill>
                            <a:sysClr val="windowText" lastClr="000000"/>
                          </a:solidFill>
                          <a:latin typeface="Calibri" pitchFamily="34" charset="0"/>
                          <a:cs typeface="Calibri" pitchFamily="34" charset="0"/>
                        </a:rPr>
                        <a:t>MSP430</a:t>
                      </a:r>
                      <a:endParaRPr lang="en-US" sz="1600" b="1">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b="1" smtClean="0">
                          <a:solidFill>
                            <a:sysClr val="windowText" lastClr="000000"/>
                          </a:solidFill>
                          <a:latin typeface="Calibri" pitchFamily="34" charset="0"/>
                          <a:cs typeface="Calibri" pitchFamily="34" charset="0"/>
                        </a:rPr>
                        <a:t>C28x </a:t>
                      </a:r>
                      <a:r>
                        <a:rPr lang="en-US" sz="1400" b="1" i="1" smtClean="0">
                          <a:solidFill>
                            <a:sysClr val="windowText" lastClr="000000"/>
                          </a:solidFill>
                          <a:latin typeface="Calibri" pitchFamily="34" charset="0"/>
                          <a:cs typeface="Calibri" pitchFamily="34" charset="0"/>
                        </a:rPr>
                        <a:t>(w)</a:t>
                      </a:r>
                      <a:endParaRPr lang="en-US" sz="1600" b="1" i="1">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b="1" smtClean="0">
                          <a:solidFill>
                            <a:sysClr val="windowText" lastClr="000000"/>
                          </a:solidFill>
                          <a:latin typeface="Calibri" pitchFamily="34" charset="0"/>
                          <a:cs typeface="Calibri" pitchFamily="34" charset="0"/>
                        </a:rPr>
                        <a:t>Tiva-C</a:t>
                      </a:r>
                      <a:endParaRPr lang="en-US" sz="1600" b="1">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r>
              <a:tr h="457200">
                <a:tc>
                  <a:txBody>
                    <a:bodyPr/>
                    <a:lstStyle/>
                    <a:p>
                      <a:r>
                        <a:rPr lang="en-US" sz="1600" b="1" baseline="0" smtClean="0">
                          <a:solidFill>
                            <a:sysClr val="windowText" lastClr="000000"/>
                          </a:solidFill>
                          <a:latin typeface="Calibri" pitchFamily="34" charset="0"/>
                          <a:cs typeface="Calibri" pitchFamily="34" charset="0"/>
                        </a:rPr>
                        <a:t>BASE – No BIOS</a:t>
                      </a:r>
                      <a:r>
                        <a:rPr lang="en-US" sz="1600" baseline="0" smtClean="0">
                          <a:solidFill>
                            <a:sysClr val="windowText" lastClr="000000"/>
                          </a:solidFill>
                          <a:latin typeface="Calibri" pitchFamily="34" charset="0"/>
                          <a:cs typeface="Calibri" pitchFamily="34" charset="0"/>
                        </a:rPr>
                        <a:t> </a:t>
                      </a:r>
                      <a:r>
                        <a:rPr lang="en-US" sz="1400" i="1" baseline="0" smtClean="0">
                          <a:solidFill>
                            <a:sysClr val="windowText" lastClr="000000"/>
                          </a:solidFill>
                          <a:latin typeface="Calibri" pitchFamily="34" charset="0"/>
                          <a:cs typeface="Calibri" pitchFamily="34" charset="0"/>
                        </a:rPr>
                        <a:t>(Lab 2, Blink LED)</a:t>
                      </a:r>
                      <a:endParaRPr lang="en-US" sz="1600" i="1" smtClean="0">
                        <a:solidFill>
                          <a:sysClr val="windowText" lastClr="000000"/>
                        </a:solidFill>
                        <a:latin typeface="Calibri" pitchFamily="34" charset="0"/>
                        <a:cs typeface="Calibri"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a:txBody>
                    <a:bodyPr/>
                    <a:lstStyle/>
                    <a:p>
                      <a:pPr algn="r"/>
                      <a:r>
                        <a:rPr lang="en-US" sz="1600" smtClean="0">
                          <a:solidFill>
                            <a:sysClr val="windowText" lastClr="000000"/>
                          </a:solidFill>
                          <a:latin typeface="Calibri" pitchFamily="34" charset="0"/>
                          <a:cs typeface="Calibri" pitchFamily="34" charset="0"/>
                        </a:rPr>
                        <a:t>1658 </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a:txBody>
                    <a:bodyPr/>
                    <a:lstStyle/>
                    <a:p>
                      <a:pPr algn="r"/>
                      <a:r>
                        <a:rPr lang="en-US" sz="1600" smtClean="0">
                          <a:solidFill>
                            <a:sysClr val="windowText" lastClr="000000"/>
                          </a:solidFill>
                          <a:latin typeface="Calibri" pitchFamily="34" charset="0"/>
                          <a:cs typeface="Calibri" pitchFamily="34" charset="0"/>
                        </a:rPr>
                        <a:t>1364</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a:txBody>
                    <a:bodyPr/>
                    <a:lstStyle/>
                    <a:p>
                      <a:pPr algn="r"/>
                      <a:r>
                        <a:rPr lang="en-US" sz="1600" smtClean="0">
                          <a:solidFill>
                            <a:sysClr val="windowText" lastClr="000000"/>
                          </a:solidFill>
                          <a:latin typeface="Calibri" pitchFamily="34" charset="0"/>
                          <a:cs typeface="Calibri" pitchFamily="34" charset="0"/>
                        </a:rPr>
                        <a:t>2032</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a:txBody>
                    <a:bodyPr/>
                    <a:lstStyle/>
                    <a:p>
                      <a:pPr algn="r"/>
                      <a:r>
                        <a:rPr lang="en-US" sz="1600" smtClean="0">
                          <a:solidFill>
                            <a:sysClr val="windowText" lastClr="000000"/>
                          </a:solidFill>
                          <a:latin typeface="Calibri" pitchFamily="34" charset="0"/>
                          <a:cs typeface="Calibri" pitchFamily="34" charset="0"/>
                        </a:rPr>
                        <a:t>1026 </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a:txBody>
                    <a:bodyPr/>
                    <a:lstStyle/>
                    <a:p>
                      <a:pPr algn="r"/>
                      <a:r>
                        <a:rPr lang="en-US" sz="1600" smtClean="0">
                          <a:solidFill>
                            <a:sysClr val="windowText" lastClr="000000"/>
                          </a:solidFill>
                          <a:latin typeface="Calibri" pitchFamily="34" charset="0"/>
                          <a:cs typeface="Calibri" pitchFamily="34" charset="0"/>
                        </a:rPr>
                        <a:t>1313</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a:txBody>
                    <a:bodyPr/>
                    <a:lstStyle/>
                    <a:p>
                      <a:pPr algn="r"/>
                      <a:r>
                        <a:rPr lang="en-US" sz="1600" smtClean="0">
                          <a:solidFill>
                            <a:sysClr val="windowText" lastClr="000000"/>
                          </a:solidFill>
                          <a:latin typeface="Calibri" pitchFamily="34" charset="0"/>
                          <a:cs typeface="Calibri" pitchFamily="34" charset="0"/>
                        </a:rPr>
                        <a:t>1046</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r>
              <a:tr h="457200">
                <a:tc>
                  <a:txBody>
                    <a:bodyPr/>
                    <a:lstStyle/>
                    <a:p>
                      <a:r>
                        <a:rPr lang="en-US" sz="1600" b="1" smtClean="0">
                          <a:solidFill>
                            <a:sysClr val="windowText" lastClr="000000"/>
                          </a:solidFill>
                          <a:latin typeface="Calibri" pitchFamily="34" charset="0"/>
                          <a:cs typeface="Calibri" pitchFamily="34" charset="0"/>
                        </a:rPr>
                        <a:t>+ BIOS </a:t>
                      </a:r>
                      <a:r>
                        <a:rPr lang="en-US" sz="1600" b="1" baseline="0" smtClean="0">
                          <a:solidFill>
                            <a:sysClr val="windowText" lastClr="000000"/>
                          </a:solidFill>
                          <a:latin typeface="Calibri" pitchFamily="34" charset="0"/>
                          <a:cs typeface="Calibri" pitchFamily="34" charset="0"/>
                        </a:rPr>
                        <a:t>+ </a:t>
                      </a:r>
                      <a:r>
                        <a:rPr lang="en-US" sz="1600" b="1" smtClean="0">
                          <a:solidFill>
                            <a:sysClr val="windowText" lastClr="000000"/>
                          </a:solidFill>
                          <a:latin typeface="Calibri" pitchFamily="34" charset="0"/>
                          <a:cs typeface="Calibri" pitchFamily="34" charset="0"/>
                        </a:rPr>
                        <a:t>IDLE </a:t>
                      </a:r>
                      <a:r>
                        <a:rPr lang="en-US" sz="1400" b="0" i="1" smtClean="0">
                          <a:solidFill>
                            <a:sysClr val="windowText" lastClr="000000"/>
                          </a:solidFill>
                          <a:latin typeface="Calibri" pitchFamily="34" charset="0"/>
                          <a:cs typeface="Calibri" pitchFamily="34" charset="0"/>
                        </a:rPr>
                        <a:t>(and IDLE fxn)</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4874 </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4034</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8075</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1180 </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1668</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2318</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r>
              <a:tr h="457200">
                <a:tc>
                  <a:txBody>
                    <a:bodyPr/>
                    <a:lstStyle/>
                    <a:p>
                      <a:r>
                        <a:rPr lang="en-US" sz="1600" b="1" smtClean="0">
                          <a:solidFill>
                            <a:sysClr val="windowText" lastClr="000000"/>
                          </a:solidFill>
                          <a:latin typeface="Calibri" pitchFamily="34" charset="0"/>
                          <a:cs typeface="Calibri" pitchFamily="34" charset="0"/>
                        </a:rPr>
                        <a:t>+ Hwi</a:t>
                      </a:r>
                      <a:r>
                        <a:rPr lang="en-US" sz="1600" smtClean="0">
                          <a:solidFill>
                            <a:sysClr val="windowText" lastClr="000000"/>
                          </a:solidFill>
                          <a:latin typeface="Calibri" pitchFamily="34" charset="0"/>
                          <a:cs typeface="Calibri" pitchFamily="34" charset="0"/>
                        </a:rPr>
                        <a:t> </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4886 </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4370</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8083</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1194 </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1732</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2342</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r>
              <a:tr h="457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smtClean="0">
                          <a:solidFill>
                            <a:sysClr val="windowText" lastClr="000000"/>
                          </a:solidFill>
                          <a:latin typeface="Calibri" pitchFamily="34" charset="0"/>
                          <a:cs typeface="Calibri" pitchFamily="34" charset="0"/>
                        </a:rPr>
                        <a:t>+ Swi</a:t>
                      </a:r>
                      <a:r>
                        <a:rPr lang="en-US" sz="1600" smtClean="0">
                          <a:solidFill>
                            <a:sysClr val="windowText" lastClr="000000"/>
                          </a:solidFill>
                          <a:latin typeface="Calibri" pitchFamily="34" charset="0"/>
                          <a:cs typeface="Calibri" pitchFamily="34" charset="0"/>
                        </a:rPr>
                        <a:t> </a:t>
                      </a:r>
                      <a:r>
                        <a:rPr lang="en-US" sz="1400" i="1" smtClean="0">
                          <a:solidFill>
                            <a:sysClr val="windowText" lastClr="000000"/>
                          </a:solidFill>
                          <a:latin typeface="Calibri" pitchFamily="34" charset="0"/>
                          <a:cs typeface="Calibri" pitchFamily="34" charset="0"/>
                        </a:rPr>
                        <a:t>(incl Hwi and Swi_post</a:t>
                      </a:r>
                      <a:r>
                        <a:rPr lang="en-US" sz="1400" i="1" baseline="0" smtClean="0">
                          <a:solidFill>
                            <a:sysClr val="windowText" lastClr="000000"/>
                          </a:solidFill>
                          <a:latin typeface="Calibri" pitchFamily="34" charset="0"/>
                          <a:cs typeface="Calibri" pitchFamily="34" charset="0"/>
                        </a:rPr>
                        <a:t>)</a:t>
                      </a:r>
                      <a:endParaRPr lang="en-US" sz="1400" i="1" smtClean="0">
                        <a:solidFill>
                          <a:sysClr val="windowText" lastClr="000000"/>
                        </a:solidFill>
                        <a:latin typeface="Calibri" pitchFamily="34" charset="0"/>
                        <a:cs typeface="Calibri"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c>
                  <a:txBody>
                    <a:bodyPr/>
                    <a:lstStyle/>
                    <a:p>
                      <a:pPr algn="r"/>
                      <a:r>
                        <a:rPr lang="en-US" sz="1600" smtClean="0">
                          <a:solidFill>
                            <a:sysClr val="windowText" lastClr="000000"/>
                          </a:solidFill>
                          <a:latin typeface="Calibri" pitchFamily="34" charset="0"/>
                          <a:cs typeface="Calibri" pitchFamily="34" charset="0"/>
                        </a:rPr>
                        <a:t>5790</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c>
                  <a:txBody>
                    <a:bodyPr/>
                    <a:lstStyle/>
                    <a:p>
                      <a:pPr algn="r"/>
                      <a:r>
                        <a:rPr lang="en-US" sz="1600" smtClean="0">
                          <a:solidFill>
                            <a:sysClr val="windowText" lastClr="000000"/>
                          </a:solidFill>
                          <a:latin typeface="Calibri" pitchFamily="34" charset="0"/>
                          <a:cs typeface="Calibri" pitchFamily="34" charset="0"/>
                        </a:rPr>
                        <a:t>4807</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c>
                  <a:txBody>
                    <a:bodyPr/>
                    <a:lstStyle/>
                    <a:p>
                      <a:pPr algn="r"/>
                      <a:r>
                        <a:rPr lang="en-US" sz="1600" smtClean="0">
                          <a:solidFill>
                            <a:sysClr val="windowText" lastClr="000000"/>
                          </a:solidFill>
                          <a:latin typeface="Calibri" pitchFamily="34" charset="0"/>
                          <a:cs typeface="Calibri" pitchFamily="34" charset="0"/>
                        </a:rPr>
                        <a:t>8199</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c>
                  <a:txBody>
                    <a:bodyPr/>
                    <a:lstStyle/>
                    <a:p>
                      <a:pPr algn="r"/>
                      <a:r>
                        <a:rPr lang="en-US" sz="1600" smtClean="0">
                          <a:solidFill>
                            <a:sysClr val="windowText" lastClr="000000"/>
                          </a:solidFill>
                          <a:latin typeface="Calibri" pitchFamily="34" charset="0"/>
                          <a:cs typeface="Calibri" pitchFamily="34" charset="0"/>
                        </a:rPr>
                        <a:t>1390</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c>
                  <a:txBody>
                    <a:bodyPr/>
                    <a:lstStyle/>
                    <a:p>
                      <a:pPr algn="r"/>
                      <a:r>
                        <a:rPr lang="en-US" sz="1600" smtClean="0">
                          <a:solidFill>
                            <a:sysClr val="windowText" lastClr="000000"/>
                          </a:solidFill>
                          <a:latin typeface="Calibri" pitchFamily="34" charset="0"/>
                          <a:cs typeface="Calibri" pitchFamily="34" charset="0"/>
                        </a:rPr>
                        <a:t>1796</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c>
                  <a:txBody>
                    <a:bodyPr/>
                    <a:lstStyle/>
                    <a:p>
                      <a:pPr algn="r"/>
                      <a:r>
                        <a:rPr lang="en-US" sz="1600" smtClean="0">
                          <a:solidFill>
                            <a:sysClr val="windowText" lastClr="000000"/>
                          </a:solidFill>
                          <a:latin typeface="Calibri" pitchFamily="34" charset="0"/>
                          <a:cs typeface="Calibri" pitchFamily="34" charset="0"/>
                        </a:rPr>
                        <a:t>2390</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r>
              <a:tr h="48411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smtClean="0">
                          <a:solidFill>
                            <a:sysClr val="windowText" lastClr="000000"/>
                          </a:solidFill>
                          <a:latin typeface="Calibri" pitchFamily="34" charset="0"/>
                          <a:cs typeface="Calibri" pitchFamily="34" charset="0"/>
                        </a:rPr>
                        <a:t>+ Task/Sem</a:t>
                      </a:r>
                      <a:r>
                        <a:rPr lang="en-US" sz="1600" baseline="0" smtClean="0">
                          <a:solidFill>
                            <a:sysClr val="windowText" lastClr="000000"/>
                          </a:solidFill>
                          <a:latin typeface="Calibri" pitchFamily="34" charset="0"/>
                          <a:cs typeface="Calibri" pitchFamily="34" charset="0"/>
                        </a:rPr>
                        <a:t> </a:t>
                      </a:r>
                      <a:r>
                        <a:rPr lang="en-US" sz="1400" i="1" baseline="0" smtClean="0">
                          <a:solidFill>
                            <a:sysClr val="windowText" lastClr="000000"/>
                          </a:solidFill>
                          <a:latin typeface="Calibri" pitchFamily="34" charset="0"/>
                          <a:cs typeface="Calibri" pitchFamily="34" charset="0"/>
                        </a:rPr>
                        <a:t>(incl Hwi to post Sem)</a:t>
                      </a:r>
                      <a:endParaRPr lang="en-US" sz="1600" i="1" smtClean="0">
                        <a:solidFill>
                          <a:sysClr val="windowText" lastClr="000000"/>
                        </a:solidFill>
                        <a:latin typeface="Calibri" pitchFamily="34" charset="0"/>
                        <a:cs typeface="Calibri"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8488</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6507</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11161</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2682</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2500</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4732</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r>
              <a:tr h="48411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i="1" smtClean="0">
                          <a:solidFill>
                            <a:sysClr val="windowText" lastClr="000000"/>
                          </a:solidFill>
                          <a:latin typeface="Calibri" pitchFamily="34" charset="0"/>
                          <a:cs typeface="Calibri" pitchFamily="34" charset="0"/>
                        </a:rPr>
                        <a:t>+ UIA</a:t>
                      </a:r>
                      <a:r>
                        <a:rPr lang="en-US" sz="1600" i="1" smtClean="0">
                          <a:solidFill>
                            <a:sysClr val="windowText" lastClr="000000"/>
                          </a:solidFill>
                          <a:latin typeface="Calibri" pitchFamily="34" charset="0"/>
                          <a:cs typeface="Calibri" pitchFamily="34" charset="0"/>
                        </a:rPr>
                        <a:t> to Task/Sem application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i="1" smtClean="0">
                          <a:solidFill>
                            <a:sysClr val="windowText" lastClr="000000"/>
                          </a:solidFill>
                          <a:latin typeface="Calibri" pitchFamily="34" charset="0"/>
                          <a:cs typeface="Calibri" pitchFamily="34" charset="0"/>
                        </a:rPr>
                        <a:t>(default buffer sizes used)</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5000"/>
                      </a:schemeClr>
                    </a:solidFill>
                  </a:tcPr>
                </a:tc>
                <a:tc>
                  <a:txBody>
                    <a:bodyPr/>
                    <a:lstStyle/>
                    <a:p>
                      <a:pPr algn="r"/>
                      <a:r>
                        <a:rPr lang="en-US" sz="1600" smtClean="0">
                          <a:solidFill>
                            <a:sysClr val="windowText" lastClr="000000"/>
                          </a:solidFill>
                          <a:latin typeface="Calibri" pitchFamily="34" charset="0"/>
                          <a:cs typeface="Calibri" pitchFamily="34" charset="0"/>
                        </a:rPr>
                        <a:t>15520</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5000"/>
                      </a:schemeClr>
                    </a:solidFill>
                  </a:tcPr>
                </a:tc>
                <a:tc>
                  <a:txBody>
                    <a:bodyPr/>
                    <a:lstStyle/>
                    <a:p>
                      <a:pPr algn="r"/>
                      <a:r>
                        <a:rPr lang="en-US" sz="1600" smtClean="0">
                          <a:solidFill>
                            <a:sysClr val="windowText" lastClr="000000"/>
                          </a:solidFill>
                          <a:latin typeface="Calibri" pitchFamily="34" charset="0"/>
                          <a:cs typeface="Calibri" pitchFamily="34" charset="0"/>
                        </a:rPr>
                        <a:t>9595</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5000"/>
                      </a:schemeClr>
                    </a:solidFill>
                  </a:tcPr>
                </a:tc>
                <a:tc>
                  <a:txBody>
                    <a:bodyPr/>
                    <a:lstStyle/>
                    <a:p>
                      <a:pPr algn="r"/>
                      <a:r>
                        <a:rPr lang="en-US" sz="1600" smtClean="0">
                          <a:solidFill>
                            <a:sysClr val="windowText" lastClr="000000"/>
                          </a:solidFill>
                          <a:latin typeface="Calibri" pitchFamily="34" charset="0"/>
                          <a:cs typeface="Calibri" pitchFamily="34" charset="0"/>
                        </a:rPr>
                        <a:t>15733</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5000"/>
                      </a:schemeClr>
                    </a:solidFill>
                  </a:tcPr>
                </a:tc>
                <a:tc>
                  <a:txBody>
                    <a:bodyPr/>
                    <a:lstStyle/>
                    <a:p>
                      <a:pPr algn="r"/>
                      <a:r>
                        <a:rPr lang="en-US" sz="1600" smtClean="0">
                          <a:solidFill>
                            <a:sysClr val="windowText" lastClr="000000"/>
                          </a:solidFill>
                          <a:latin typeface="Calibri" pitchFamily="34" charset="0"/>
                          <a:cs typeface="Calibri" pitchFamily="34" charset="0"/>
                        </a:rPr>
                        <a:t>6088</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5000"/>
                      </a:schemeClr>
                    </a:solidFill>
                  </a:tcPr>
                </a:tc>
                <a:tc>
                  <a:txBody>
                    <a:bodyPr/>
                    <a:lstStyle/>
                    <a:p>
                      <a:pPr algn="r"/>
                      <a:r>
                        <a:rPr lang="en-US" sz="1600" smtClean="0">
                          <a:solidFill>
                            <a:sysClr val="windowText" lastClr="000000"/>
                          </a:solidFill>
                          <a:latin typeface="Calibri" pitchFamily="34" charset="0"/>
                          <a:cs typeface="Calibri" pitchFamily="34" charset="0"/>
                        </a:rPr>
                        <a:t>5706</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5000"/>
                      </a:schemeClr>
                    </a:solidFill>
                  </a:tcPr>
                </a:tc>
                <a:tc>
                  <a:txBody>
                    <a:bodyPr/>
                    <a:lstStyle/>
                    <a:p>
                      <a:pPr algn="r"/>
                      <a:r>
                        <a:rPr lang="en-US" sz="1600" smtClean="0">
                          <a:solidFill>
                            <a:sysClr val="windowText" lastClr="000000"/>
                          </a:solidFill>
                          <a:latin typeface="Calibri" pitchFamily="34" charset="0"/>
                          <a:cs typeface="Calibri" pitchFamily="34" charset="0"/>
                        </a:rPr>
                        <a:t>8272</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5000"/>
                      </a:schemeClr>
                    </a:solidFill>
                  </a:tcPr>
                </a:tc>
              </a:tr>
            </a:tbl>
          </a:graphicData>
        </a:graphic>
      </p:graphicFrame>
      <p:sp>
        <p:nvSpPr>
          <p:cNvPr id="5" name="TextBox 4"/>
          <p:cNvSpPr txBox="1"/>
          <p:nvPr/>
        </p:nvSpPr>
        <p:spPr>
          <a:xfrm>
            <a:off x="76200" y="533400"/>
            <a:ext cx="7762574" cy="395173"/>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b="0" smtClean="0">
                <a:solidFill>
                  <a:schemeClr val="dk1"/>
                </a:solidFill>
                <a:effectLst/>
                <a:latin typeface="Calibri" pitchFamily="34" charset="0"/>
                <a:cs typeface="Calibri" pitchFamily="34" charset="0"/>
              </a:rPr>
              <a:t>Application Baseline Footprints – Non-BIOS vs. BIOS (MIN)</a:t>
            </a:r>
            <a:endParaRPr lang="en-US" b="0" dirty="0" smtClean="0">
              <a:solidFill>
                <a:schemeClr val="dk1"/>
              </a:solidFill>
              <a:effectLst/>
              <a:latin typeface="Calibri" pitchFamily="34" charset="0"/>
              <a:cs typeface="Calibri" pitchFamily="34" charset="0"/>
            </a:endParaRPr>
          </a:p>
        </p:txBody>
      </p:sp>
      <p:sp>
        <p:nvSpPr>
          <p:cNvPr id="7" name="TextBox 6"/>
          <p:cNvSpPr txBox="1"/>
          <p:nvPr/>
        </p:nvSpPr>
        <p:spPr>
          <a:xfrm>
            <a:off x="381000" y="4537545"/>
            <a:ext cx="8534400" cy="2403735"/>
          </a:xfrm>
          <a:prstGeom prst="rect">
            <a:avLst/>
          </a:prstGeom>
          <a:noFill/>
        </p:spPr>
        <p:txBody>
          <a:bodyPr wrap="square" rtlCol="0" anchor="ctr" anchorCtr="0">
            <a:spAutoFit/>
          </a:bodyPr>
          <a:lstStyle/>
          <a:p>
            <a:pPr marL="342900" indent="-342900">
              <a:spcBef>
                <a:spcPts val="500"/>
              </a:spcBef>
              <a:buClr>
                <a:schemeClr val="tx2"/>
              </a:buClr>
              <a:buSzPct val="75000"/>
              <a:buFont typeface="Wingdings"/>
              <a:buChar char=""/>
            </a:pPr>
            <a:r>
              <a:rPr lang="en-US" sz="1600" b="0" smtClean="0">
                <a:solidFill>
                  <a:schemeClr val="dk1"/>
                </a:solidFill>
                <a:latin typeface="Calibri" pitchFamily="34" charset="0"/>
                <a:cs typeface="Calibri" pitchFamily="34" charset="0"/>
              </a:rPr>
              <a:t>All BIOS applications used “MIN” BIOS CFG (modified from the BIOS U/G – Appendix D) plus whatever </a:t>
            </a:r>
            <a:r>
              <a:rPr lang="en-US" sz="1600" b="0" i="1" smtClean="0">
                <a:solidFill>
                  <a:schemeClr val="dk1"/>
                </a:solidFill>
                <a:latin typeface="Calibri" pitchFamily="34" charset="0"/>
                <a:cs typeface="Calibri" pitchFamily="34" charset="0"/>
              </a:rPr>
              <a:t>objects</a:t>
            </a:r>
            <a:r>
              <a:rPr lang="en-US" sz="1600" b="0" smtClean="0">
                <a:solidFill>
                  <a:schemeClr val="dk1"/>
                </a:solidFill>
                <a:latin typeface="Calibri" pitchFamily="34" charset="0"/>
                <a:cs typeface="Calibri" pitchFamily="34" charset="0"/>
              </a:rPr>
              <a:t>, </a:t>
            </a:r>
            <a:r>
              <a:rPr lang="en-US" sz="1600" b="0" i="1" smtClean="0">
                <a:solidFill>
                  <a:schemeClr val="dk1"/>
                </a:solidFill>
                <a:latin typeface="Calibri" pitchFamily="34" charset="0"/>
                <a:cs typeface="Calibri" pitchFamily="34" charset="0"/>
              </a:rPr>
              <a:t>code</a:t>
            </a:r>
            <a:r>
              <a:rPr lang="en-US" sz="1600" b="0" smtClean="0">
                <a:solidFill>
                  <a:schemeClr val="dk1"/>
                </a:solidFill>
                <a:latin typeface="Calibri" pitchFamily="34" charset="0"/>
                <a:cs typeface="Calibri" pitchFamily="34" charset="0"/>
              </a:rPr>
              <a:t> and </a:t>
            </a:r>
            <a:r>
              <a:rPr lang="en-US" sz="1600" b="0" i="1" smtClean="0">
                <a:solidFill>
                  <a:schemeClr val="dk1"/>
                </a:solidFill>
                <a:latin typeface="Calibri" pitchFamily="34" charset="0"/>
                <a:cs typeface="Calibri" pitchFamily="34" charset="0"/>
              </a:rPr>
              <a:t>stack</a:t>
            </a:r>
            <a:r>
              <a:rPr lang="en-US" sz="1600" b="0" smtClean="0">
                <a:solidFill>
                  <a:schemeClr val="dk1"/>
                </a:solidFill>
                <a:latin typeface="Calibri" pitchFamily="34" charset="0"/>
                <a:cs typeface="Calibri" pitchFamily="34" charset="0"/>
              </a:rPr>
              <a:t> that were necessary (</a:t>
            </a:r>
            <a:r>
              <a:rPr lang="en-US" sz="1600" b="0" i="1" smtClean="0">
                <a:solidFill>
                  <a:schemeClr val="dk1"/>
                </a:solidFill>
                <a:latin typeface="Calibri" pitchFamily="34" charset="0"/>
                <a:cs typeface="Calibri" pitchFamily="34" charset="0"/>
              </a:rPr>
              <a:t>projects available in TI-RTOS folder</a:t>
            </a:r>
            <a:r>
              <a:rPr lang="en-US" sz="1600" b="0" smtClean="0">
                <a:solidFill>
                  <a:schemeClr val="dk1"/>
                </a:solidFill>
                <a:latin typeface="Calibri" pitchFamily="34" charset="0"/>
                <a:cs typeface="Calibri" pitchFamily="34" charset="0"/>
              </a:rPr>
              <a:t>)</a:t>
            </a:r>
          </a:p>
          <a:p>
            <a:pPr marL="342900" indent="-342900">
              <a:spcBef>
                <a:spcPts val="500"/>
              </a:spcBef>
              <a:buClr>
                <a:schemeClr val="tx2"/>
              </a:buClr>
              <a:buSzPct val="75000"/>
              <a:buFont typeface="Wingdings"/>
              <a:buChar char=""/>
            </a:pPr>
            <a:r>
              <a:rPr lang="en-US" sz="1600" b="0" smtClean="0">
                <a:solidFill>
                  <a:schemeClr val="dk1"/>
                </a:solidFill>
                <a:effectLst/>
                <a:latin typeface="Calibri" pitchFamily="34" charset="0"/>
                <a:cs typeface="Calibri" pitchFamily="34" charset="0"/>
              </a:rPr>
              <a:t>All applications include a 1K user (system) stack (for Hwi/Swi)</a:t>
            </a:r>
          </a:p>
          <a:p>
            <a:pPr marL="342900" indent="-342900">
              <a:spcBef>
                <a:spcPts val="500"/>
              </a:spcBef>
              <a:buClr>
                <a:schemeClr val="tx2"/>
              </a:buClr>
              <a:buSzPct val="75000"/>
              <a:buFont typeface="Wingdings"/>
              <a:buChar char=""/>
            </a:pPr>
            <a:r>
              <a:rPr lang="en-US" sz="1600" b="0" smtClean="0">
                <a:solidFill>
                  <a:schemeClr val="dk1"/>
                </a:solidFill>
                <a:latin typeface="Calibri" pitchFamily="34" charset="0"/>
                <a:cs typeface="Calibri" pitchFamily="34" charset="0"/>
              </a:rPr>
              <a:t>All applications used the RELEASE build configuration (for source files)</a:t>
            </a:r>
          </a:p>
          <a:p>
            <a:pPr marL="342900" indent="-342900">
              <a:spcBef>
                <a:spcPts val="500"/>
              </a:spcBef>
              <a:buClr>
                <a:schemeClr val="tx2"/>
              </a:buClr>
              <a:buSzPct val="75000"/>
              <a:buFont typeface="Wingdings"/>
              <a:buChar char=""/>
            </a:pPr>
            <a:r>
              <a:rPr lang="en-US" sz="1600" b="0" smtClean="0">
                <a:solidFill>
                  <a:schemeClr val="dk1"/>
                </a:solidFill>
                <a:effectLst/>
                <a:latin typeface="Calibri" pitchFamily="34" charset="0"/>
                <a:cs typeface="Calibri" pitchFamily="34" charset="0"/>
              </a:rPr>
              <a:t>No heap (dynamic memory allocation turned off)</a:t>
            </a:r>
          </a:p>
          <a:p>
            <a:pPr marL="342900" indent="-342900">
              <a:spcBef>
                <a:spcPts val="500"/>
              </a:spcBef>
              <a:buClr>
                <a:schemeClr val="tx2"/>
              </a:buClr>
              <a:buSzPct val="75000"/>
              <a:buFont typeface="Wingdings"/>
              <a:buChar char=""/>
            </a:pPr>
            <a:r>
              <a:rPr lang="en-US" sz="1600" b="0" smtClean="0">
                <a:solidFill>
                  <a:schemeClr val="dk1"/>
                </a:solidFill>
                <a:latin typeface="Calibri" pitchFamily="34" charset="0"/>
                <a:cs typeface="Calibri" pitchFamily="34" charset="0"/>
              </a:rPr>
              <a:t>All BIOS builds used “custom” optimizations which is the </a:t>
            </a:r>
            <a:r>
              <a:rPr lang="en-US" sz="1600" b="0" i="1" smtClean="0">
                <a:solidFill>
                  <a:schemeClr val="dk1"/>
                </a:solidFill>
                <a:latin typeface="Calibri" pitchFamily="34" charset="0"/>
                <a:cs typeface="Calibri" pitchFamily="34" charset="0"/>
              </a:rPr>
              <a:t>default</a:t>
            </a:r>
            <a:r>
              <a:rPr lang="en-US" sz="1600" b="0" smtClean="0">
                <a:solidFill>
                  <a:schemeClr val="dk1"/>
                </a:solidFill>
                <a:latin typeface="Calibri" pitchFamily="34" charset="0"/>
                <a:cs typeface="Calibri" pitchFamily="34" charset="0"/>
              </a:rPr>
              <a:t> for BIOS libraries</a:t>
            </a:r>
          </a:p>
          <a:p>
            <a:pPr marL="342900" indent="-342900">
              <a:spcBef>
                <a:spcPts val="500"/>
              </a:spcBef>
              <a:buClr>
                <a:schemeClr val="tx2"/>
              </a:buClr>
              <a:buSzPct val="75000"/>
              <a:buFont typeface="Wingdings"/>
              <a:buChar char=""/>
            </a:pPr>
            <a:r>
              <a:rPr lang="en-US" sz="1600" b="0" smtClean="0">
                <a:solidFill>
                  <a:schemeClr val="dk1"/>
                </a:solidFill>
                <a:effectLst/>
                <a:latin typeface="Calibri" pitchFamily="34" charset="0"/>
                <a:cs typeface="Calibri" pitchFamily="34" charset="0"/>
              </a:rPr>
              <a:t>Task/Idle stacks – defaults used (MSP430: 512B, C28x: 256B, TM4C: 1K)</a:t>
            </a:r>
          </a:p>
          <a:p>
            <a:pPr marL="342900" indent="-342900">
              <a:spcBef>
                <a:spcPts val="500"/>
              </a:spcBef>
              <a:buClr>
                <a:schemeClr val="tx2"/>
              </a:buClr>
              <a:buSzPct val="75000"/>
              <a:buFont typeface="Wingdings"/>
              <a:buChar char=""/>
            </a:pPr>
            <a:r>
              <a:rPr lang="en-US" sz="1600" b="0" smtClean="0">
                <a:solidFill>
                  <a:schemeClr val="dk1"/>
                </a:solidFill>
                <a:latin typeface="Calibri" pitchFamily="34" charset="0"/>
                <a:cs typeface="Calibri" pitchFamily="34" charset="0"/>
              </a:rPr>
              <a:t>Tiva-C: exception handling turned OFF (commented in .cfg file used in project)</a:t>
            </a:r>
            <a:endParaRPr lang="en-US" sz="1600" b="0" smtClean="0">
              <a:solidFill>
                <a:schemeClr val="dk1"/>
              </a:solidFill>
              <a:effectLst/>
              <a:latin typeface="Calibri" pitchFamily="34" charset="0"/>
              <a:cs typeface="Calibri" pitchFamily="34" charset="0"/>
            </a:endParaRPr>
          </a:p>
          <a:p>
            <a:pPr marL="342900" indent="-342900">
              <a:spcBef>
                <a:spcPts val="500"/>
              </a:spcBef>
              <a:buClr>
                <a:schemeClr val="tx2"/>
              </a:buClr>
              <a:buSzPct val="75000"/>
              <a:buFont typeface="Wingdings"/>
              <a:buChar char=""/>
            </a:pPr>
            <a:r>
              <a:rPr lang="en-US" sz="1600" b="0" smtClean="0">
                <a:solidFill>
                  <a:schemeClr val="dk1"/>
                </a:solidFill>
                <a:latin typeface="Calibri" pitchFamily="34" charset="0"/>
                <a:cs typeface="Calibri" pitchFamily="34" charset="0"/>
              </a:rPr>
              <a:t>C28x FLASH vs. RAM - .map file (FLASH = FLASH,  RAM = M0-1 + L0-6), boot ROM tables excluded</a:t>
            </a:r>
            <a:endParaRPr lang="en-US" sz="1600" b="0" dirty="0" smtClean="0">
              <a:solidFill>
                <a:schemeClr val="dk1"/>
              </a:solidFill>
              <a:effectLst/>
              <a:latin typeface="Calibri" pitchFamily="34" charset="0"/>
              <a:cs typeface="Calibri" pitchFamily="34" charset="0"/>
            </a:endParaRPr>
          </a:p>
        </p:txBody>
      </p:sp>
      <p:cxnSp>
        <p:nvCxnSpPr>
          <p:cNvPr id="8" name="Straight Connector 7"/>
          <p:cNvCxnSpPr/>
          <p:nvPr/>
        </p:nvCxnSpPr>
        <p:spPr bwMode="auto">
          <a:xfrm>
            <a:off x="3200400" y="956623"/>
            <a:ext cx="0" cy="3592458"/>
          </a:xfrm>
          <a:prstGeom prst="line">
            <a:avLst/>
          </a:prstGeom>
          <a:solidFill>
            <a:schemeClr val="accent1"/>
          </a:solidFill>
          <a:ln w="28575" cap="flat" cmpd="sng" algn="ctr">
            <a:solidFill>
              <a:schemeClr val="tx1"/>
            </a:solidFill>
            <a:prstDash val="solid"/>
            <a:round/>
            <a:headEnd type="none" w="sm" len="sm"/>
            <a:tailEnd type="none" w="sm" len="sm"/>
          </a:ln>
          <a:effectLst/>
        </p:spPr>
      </p:cxnSp>
      <p:cxnSp>
        <p:nvCxnSpPr>
          <p:cNvPr id="9" name="Straight Connector 8"/>
          <p:cNvCxnSpPr/>
          <p:nvPr/>
        </p:nvCxnSpPr>
        <p:spPr bwMode="auto">
          <a:xfrm>
            <a:off x="5867400" y="956623"/>
            <a:ext cx="0" cy="3592458"/>
          </a:xfrm>
          <a:prstGeom prst="line">
            <a:avLst/>
          </a:prstGeom>
          <a:solidFill>
            <a:schemeClr val="accent1"/>
          </a:solidFill>
          <a:ln w="28575" cap="flat" cmpd="sng" algn="ctr">
            <a:solidFill>
              <a:schemeClr val="tx1"/>
            </a:solidFill>
            <a:prstDash val="solid"/>
            <a:round/>
            <a:headEnd type="none" w="sm" len="sm"/>
            <a:tailEnd type="none" w="sm" len="sm"/>
          </a:ln>
          <a:effectLst/>
        </p:spPr>
      </p:cxnSp>
    </p:spTree>
    <p:custDataLst>
      <p:tags r:id="rId1"/>
    </p:custDataLst>
    <p:extLst>
      <p:ext uri="{BB962C8B-B14F-4D97-AF65-F5344CB8AC3E}">
        <p14:creationId xmlns:p14="http://schemas.microsoft.com/office/powerpoint/2010/main" val="3138812663"/>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685800"/>
            <a:ext cx="5562600" cy="5638800"/>
          </a:xfrm>
          <a:prstGeom prst="rect">
            <a:avLst/>
          </a:prstGeom>
          <a:solidFill>
            <a:srgbClr val="92D050"/>
          </a:solidFill>
          <a:ln w="19050">
            <a:solidFill>
              <a:schemeClr val="tx1"/>
            </a:solidFill>
            <a:miter lim="800000"/>
            <a:headEnd type="none" w="sm" len="sm"/>
            <a:tailEnd type="none" w="sm" len="sm"/>
          </a:ln>
          <a:effectLst>
            <a:outerShdw blurRad="50800" dist="101600" dir="2700000" algn="tl" rotWithShape="0">
              <a:prstClr val="black">
                <a:alpha val="40000"/>
              </a:prstClr>
            </a:outerShdw>
          </a:effectLst>
        </p:spPr>
        <p:txBody>
          <a:bodyPr wrap="none" tIns="36576" bIns="36576"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4" cstate="print"/>
          <a:srcRect/>
          <a:stretch>
            <a:fillRect/>
          </a:stretch>
        </p:blipFill>
        <p:spPr bwMode="auto">
          <a:xfrm>
            <a:off x="6160824" y="1153041"/>
            <a:ext cx="2819400" cy="4172713"/>
          </a:xfrm>
          <a:prstGeom prst="rect">
            <a:avLst/>
          </a:prstGeom>
          <a:noFill/>
        </p:spPr>
      </p:pic>
      <p:pic>
        <p:nvPicPr>
          <p:cNvPr id="9" name="Animated Logo" descr="tilogo_color_twoline.png"/>
          <p:cNvPicPr>
            <a:picLocks noChangeAspect="1"/>
          </p:cNvPicPr>
          <p:nvPr/>
        </p:nvPicPr>
        <p:blipFill>
          <a:blip r:embed="rId15"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6" action="ppaction://hlinksldjump"/>
          </p:cNvPr>
          <p:cNvSpPr txBox="1">
            <a:spLocks noChangeArrowheads="1"/>
          </p:cNvSpPr>
          <p:nvPr>
            <p:custDataLst>
              <p:tags r:id="rId2"/>
            </p:custDataLst>
          </p:nvPr>
        </p:nvSpPr>
        <p:spPr bwMode="auto">
          <a:xfrm>
            <a:off x="301576" y="780433"/>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Tasks</a:t>
            </a:r>
            <a:endParaRPr lang="en-US" sz="2800" dirty="0">
              <a:solidFill>
                <a:srgbClr val="000000"/>
              </a:solidFill>
            </a:endParaRPr>
          </a:p>
        </p:txBody>
      </p:sp>
      <p:sp>
        <p:nvSpPr>
          <p:cNvPr id="11" name="Text Box 6">
            <a:hlinkClick r:id="rId17" action="ppaction://hlinksldjump"/>
          </p:cNvPr>
          <p:cNvSpPr txBox="1">
            <a:spLocks noChangeArrowheads="1"/>
          </p:cNvSpPr>
          <p:nvPr>
            <p:custDataLst>
              <p:tags r:id="rId3"/>
            </p:custDataLst>
          </p:nvPr>
        </p:nvSpPr>
        <p:spPr bwMode="auto">
          <a:xfrm>
            <a:off x="805502" y="1319852"/>
            <a:ext cx="4667250" cy="366712"/>
          </a:xfrm>
          <a:prstGeom prst="rect">
            <a:avLst/>
          </a:prstGeom>
          <a:noFill/>
          <a:ln w="12700">
            <a:noFill/>
            <a:miter lim="800000"/>
            <a:headEnd type="none" w="sm" len="sm"/>
            <a:tailEnd type="none" w="sm" len="sm"/>
          </a:ln>
        </p:spPr>
        <p:txBody>
          <a:bodyPr tIns="18288" bIns="18288">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Intro</a:t>
            </a:r>
            <a:endParaRPr lang="en-US" dirty="0">
              <a:solidFill>
                <a:srgbClr val="000000"/>
              </a:solidFill>
            </a:endParaRPr>
          </a:p>
        </p:txBody>
      </p:sp>
      <p:sp>
        <p:nvSpPr>
          <p:cNvPr id="12" name="Text Box 6">
            <a:hlinkClick r:id="rId18" action="ppaction://hlinksldjump"/>
          </p:cNvPr>
          <p:cNvSpPr txBox="1">
            <a:spLocks noChangeArrowheads="1"/>
          </p:cNvSpPr>
          <p:nvPr>
            <p:custDataLst>
              <p:tags r:id="rId4"/>
            </p:custDataLst>
          </p:nvPr>
        </p:nvSpPr>
        <p:spPr bwMode="auto">
          <a:xfrm>
            <a:off x="805502" y="1725680"/>
            <a:ext cx="4667250" cy="366712"/>
          </a:xfrm>
          <a:prstGeom prst="rect">
            <a:avLst/>
          </a:prstGeom>
          <a:noFill/>
          <a:ln w="12700">
            <a:noFill/>
            <a:miter lim="800000"/>
            <a:headEnd type="none" w="sm" len="sm"/>
            <a:tailEnd type="none" w="sm" len="sm"/>
          </a:ln>
        </p:spPr>
        <p:txBody>
          <a:bodyPr tIns="18288" bIns="18288">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Task – Topology</a:t>
            </a:r>
            <a:endParaRPr lang="en-US" dirty="0">
              <a:solidFill>
                <a:srgbClr val="000000"/>
              </a:solidFill>
            </a:endParaRPr>
          </a:p>
        </p:txBody>
      </p:sp>
      <p:sp>
        <p:nvSpPr>
          <p:cNvPr id="13" name="Text Box 6">
            <a:hlinkClick r:id="rId19" action="ppaction://hlinksldjump"/>
          </p:cNvPr>
          <p:cNvSpPr txBox="1">
            <a:spLocks noChangeArrowheads="1"/>
          </p:cNvSpPr>
          <p:nvPr>
            <p:custDataLst>
              <p:tags r:id="rId5"/>
            </p:custDataLst>
          </p:nvPr>
        </p:nvSpPr>
        <p:spPr bwMode="auto">
          <a:xfrm>
            <a:off x="805502" y="2131508"/>
            <a:ext cx="4667250" cy="366712"/>
          </a:xfrm>
          <a:prstGeom prst="rect">
            <a:avLst/>
          </a:prstGeom>
          <a:noFill/>
          <a:ln w="12700">
            <a:noFill/>
            <a:miter lim="800000"/>
            <a:headEnd type="none" w="sm" len="sm"/>
            <a:tailEnd type="none" w="sm" len="sm"/>
          </a:ln>
        </p:spPr>
        <p:txBody>
          <a:bodyPr tIns="18288" bIns="18288">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Task – Configuration</a:t>
            </a:r>
            <a:endParaRPr lang="en-US" dirty="0">
              <a:solidFill>
                <a:srgbClr val="000000"/>
              </a:solidFill>
            </a:endParaRPr>
          </a:p>
        </p:txBody>
      </p:sp>
      <p:sp>
        <p:nvSpPr>
          <p:cNvPr id="14" name="Text Box 4">
            <a:hlinkClick r:id="rId20" action="ppaction://hlinksldjump"/>
          </p:cNvPr>
          <p:cNvSpPr txBox="1">
            <a:spLocks noChangeArrowheads="1"/>
          </p:cNvSpPr>
          <p:nvPr>
            <p:custDataLst>
              <p:tags r:id="rId6"/>
            </p:custDataLst>
          </p:nvPr>
        </p:nvSpPr>
        <p:spPr bwMode="auto">
          <a:xfrm>
            <a:off x="301576" y="2532734"/>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Swi vs. Task</a:t>
            </a:r>
            <a:endParaRPr lang="en-US" sz="2800" dirty="0">
              <a:solidFill>
                <a:srgbClr val="000000"/>
              </a:solidFill>
            </a:endParaRPr>
          </a:p>
        </p:txBody>
      </p:sp>
      <p:sp>
        <p:nvSpPr>
          <p:cNvPr id="15" name="Text Box 4">
            <a:hlinkClick r:id="rId21" action="ppaction://hlinksldjump"/>
          </p:cNvPr>
          <p:cNvSpPr txBox="1">
            <a:spLocks noChangeArrowheads="1"/>
          </p:cNvSpPr>
          <p:nvPr>
            <p:custDataLst>
              <p:tags r:id="rId7"/>
            </p:custDataLst>
          </p:nvPr>
        </p:nvSpPr>
        <p:spPr bwMode="auto">
          <a:xfrm>
            <a:off x="301576" y="3067551"/>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Semaphores</a:t>
            </a:r>
            <a:endParaRPr lang="en-US" sz="2800" dirty="0">
              <a:solidFill>
                <a:srgbClr val="000000"/>
              </a:solidFill>
            </a:endParaRPr>
          </a:p>
        </p:txBody>
      </p:sp>
      <p:sp>
        <p:nvSpPr>
          <p:cNvPr id="16" name="Text Box 4">
            <a:hlinkClick r:id="rId22" action="ppaction://hlinksldjump"/>
          </p:cNvPr>
          <p:cNvSpPr txBox="1">
            <a:spLocks noChangeArrowheads="1"/>
          </p:cNvSpPr>
          <p:nvPr>
            <p:custDataLst>
              <p:tags r:id="rId8"/>
            </p:custDataLst>
          </p:nvPr>
        </p:nvSpPr>
        <p:spPr bwMode="auto">
          <a:xfrm>
            <a:off x="301576" y="3602368"/>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Other Useful APIs…</a:t>
            </a:r>
            <a:endParaRPr lang="en-US" sz="2800" dirty="0">
              <a:solidFill>
                <a:srgbClr val="000000"/>
              </a:solidFill>
            </a:endParaRPr>
          </a:p>
        </p:txBody>
      </p:sp>
      <p:sp>
        <p:nvSpPr>
          <p:cNvPr id="17" name="Text Box 4">
            <a:hlinkClick r:id="rId23" action="ppaction://hlinksldjump"/>
          </p:cNvPr>
          <p:cNvSpPr txBox="1">
            <a:spLocks noChangeArrowheads="1"/>
          </p:cNvSpPr>
          <p:nvPr>
            <p:custDataLst>
              <p:tags r:id="rId9"/>
            </p:custDataLst>
          </p:nvPr>
        </p:nvSpPr>
        <p:spPr bwMode="auto">
          <a:xfrm>
            <a:off x="301576" y="4137185"/>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Using Events</a:t>
            </a:r>
            <a:endParaRPr lang="en-US" sz="2800" dirty="0">
              <a:solidFill>
                <a:srgbClr val="000000"/>
              </a:solidFill>
            </a:endParaRPr>
          </a:p>
        </p:txBody>
      </p:sp>
      <p:sp>
        <p:nvSpPr>
          <p:cNvPr id="18" name="Text Box 4">
            <a:hlinkClick r:id="rId24" action="ppaction://hlinksldjump"/>
          </p:cNvPr>
          <p:cNvSpPr txBox="1">
            <a:spLocks noChangeArrowheads="1"/>
          </p:cNvSpPr>
          <p:nvPr>
            <p:custDataLst>
              <p:tags r:id="rId10"/>
            </p:custDataLst>
          </p:nvPr>
        </p:nvSpPr>
        <p:spPr bwMode="auto">
          <a:xfrm>
            <a:off x="301576" y="4672002"/>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9" name="Text Box 4">
            <a:hlinkClick r:id="rId25" action="ppaction://hlinksldjump"/>
          </p:cNvPr>
          <p:cNvSpPr txBox="1">
            <a:spLocks noChangeArrowheads="1"/>
          </p:cNvSpPr>
          <p:nvPr>
            <p:custDataLst>
              <p:tags r:id="rId11"/>
            </p:custDataLst>
          </p:nvPr>
        </p:nvSpPr>
        <p:spPr bwMode="auto">
          <a:xfrm>
            <a:off x="301576" y="5206819"/>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Memory Footprint</a:t>
            </a:r>
            <a:endParaRPr lang="en-US" sz="2800" dirty="0">
              <a:solidFill>
                <a:srgbClr val="000000"/>
              </a:solidFill>
            </a:endParaRPr>
          </a:p>
        </p:txBody>
      </p:sp>
      <p:sp>
        <p:nvSpPr>
          <p:cNvPr id="20" name="Text Box 3">
            <a:hlinkClick r:id="rId26" action="ppaction://hlinksldjump"/>
          </p:cNvPr>
          <p:cNvSpPr txBox="1">
            <a:spLocks noChangeArrowheads="1"/>
          </p:cNvSpPr>
          <p:nvPr>
            <p:custDataLst>
              <p:tags r:id="rId12"/>
            </p:custDataLst>
          </p:nvPr>
        </p:nvSpPr>
        <p:spPr bwMode="auto">
          <a:xfrm>
            <a:off x="304800" y="5741636"/>
            <a:ext cx="5562600" cy="4616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3776711363"/>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a:bodyPr>
          <a:lstStyle/>
          <a:p>
            <a:r>
              <a:rPr lang="en-US" smtClean="0"/>
              <a:t>Labs 5-9 “Roadmap”</a:t>
            </a:r>
            <a:endParaRPr lang="en-US" u="sng" dirty="0" smtClean="0"/>
          </a:p>
        </p:txBody>
      </p:sp>
      <p:sp>
        <p:nvSpPr>
          <p:cNvPr id="33795" name="Rectangle 6"/>
          <p:cNvSpPr>
            <a:spLocks noChangeArrowheads="1"/>
          </p:cNvSpPr>
          <p:nvPr/>
        </p:nvSpPr>
        <p:spPr bwMode="auto">
          <a:xfrm>
            <a:off x="561975" y="6216650"/>
            <a:ext cx="184150" cy="625475"/>
          </a:xfrm>
          <a:prstGeom prst="rect">
            <a:avLst/>
          </a:prstGeom>
          <a:noFill/>
          <a:ln w="12700">
            <a:noFill/>
            <a:miter lim="800000"/>
            <a:headEnd type="none" w="sm" len="sm"/>
            <a:tailEnd type="none" w="sm" len="sm"/>
          </a:ln>
        </p:spPr>
        <p:txBody>
          <a:bodyPr wrap="none" anchor="ctr">
            <a:spAutoFit/>
          </a:bodyPr>
          <a:lstStyle/>
          <a:p>
            <a:pPr>
              <a:lnSpc>
                <a:spcPct val="100000"/>
              </a:lnSpc>
              <a:spcBef>
                <a:spcPct val="0"/>
              </a:spcBef>
            </a:pPr>
            <a:r>
              <a:rPr lang="en-US" sz="1100" b="0">
                <a:solidFill>
                  <a:srgbClr val="000000"/>
                </a:solidFill>
                <a:latin typeface="Times New Roman" pitchFamily="18" charset="0"/>
                <a:cs typeface="Times New Roman" pitchFamily="18" charset="0"/>
              </a:rPr>
              <a:t/>
            </a:r>
            <a:br>
              <a:rPr lang="en-US" sz="1100" b="0">
                <a:solidFill>
                  <a:srgbClr val="000000"/>
                </a:solidFill>
                <a:latin typeface="Times New Roman" pitchFamily="18" charset="0"/>
                <a:cs typeface="Times New Roman" pitchFamily="18" charset="0"/>
              </a:rPr>
            </a:br>
            <a:endParaRPr lang="en-US" b="0">
              <a:solidFill>
                <a:srgbClr val="000000"/>
              </a:solidFill>
              <a:latin typeface="Times New Roman" pitchFamily="18" charset="0"/>
            </a:endParaRPr>
          </a:p>
        </p:txBody>
      </p:sp>
      <p:cxnSp>
        <p:nvCxnSpPr>
          <p:cNvPr id="19" name="Straight Arrow Connector 18"/>
          <p:cNvCxnSpPr/>
          <p:nvPr/>
        </p:nvCxnSpPr>
        <p:spPr bwMode="auto">
          <a:xfrm>
            <a:off x="5029198" y="1866917"/>
            <a:ext cx="1828800" cy="0"/>
          </a:xfrm>
          <a:prstGeom prst="straightConnector1">
            <a:avLst/>
          </a:prstGeom>
          <a:solidFill>
            <a:schemeClr val="accent1"/>
          </a:solidFill>
          <a:ln w="19050" cap="flat" cmpd="sng" algn="ctr">
            <a:solidFill>
              <a:schemeClr val="tx1"/>
            </a:solidFill>
            <a:prstDash val="solid"/>
            <a:round/>
            <a:headEnd type="none" w="sm" len="sm"/>
            <a:tailEnd type="arrow"/>
          </a:ln>
          <a:effectLst/>
        </p:spPr>
      </p:cxnSp>
      <p:cxnSp>
        <p:nvCxnSpPr>
          <p:cNvPr id="20" name="Straight Arrow Connector 19"/>
          <p:cNvCxnSpPr/>
          <p:nvPr/>
        </p:nvCxnSpPr>
        <p:spPr bwMode="auto">
          <a:xfrm>
            <a:off x="3276598" y="2466292"/>
            <a:ext cx="3581400" cy="0"/>
          </a:xfrm>
          <a:prstGeom prst="straightConnector1">
            <a:avLst/>
          </a:prstGeom>
          <a:solidFill>
            <a:schemeClr val="accent1"/>
          </a:solidFill>
          <a:ln w="19050" cap="flat" cmpd="sng" algn="ctr">
            <a:solidFill>
              <a:schemeClr val="tx1"/>
            </a:solidFill>
            <a:prstDash val="solid"/>
            <a:round/>
            <a:headEnd type="none" w="sm" len="sm"/>
            <a:tailEnd type="arrow"/>
          </a:ln>
          <a:effectLst/>
        </p:spPr>
      </p:cxnSp>
      <p:cxnSp>
        <p:nvCxnSpPr>
          <p:cNvPr id="21" name="Straight Arrow Connector 20"/>
          <p:cNvCxnSpPr/>
          <p:nvPr/>
        </p:nvCxnSpPr>
        <p:spPr bwMode="auto">
          <a:xfrm>
            <a:off x="6465123" y="3421267"/>
            <a:ext cx="457200" cy="0"/>
          </a:xfrm>
          <a:prstGeom prst="straightConnector1">
            <a:avLst/>
          </a:prstGeom>
          <a:solidFill>
            <a:schemeClr val="accent1"/>
          </a:solidFill>
          <a:ln w="19050" cap="flat" cmpd="sng" algn="ctr">
            <a:solidFill>
              <a:schemeClr val="tx1"/>
            </a:solidFill>
            <a:prstDash val="solid"/>
            <a:round/>
            <a:headEnd type="none" w="sm" len="sm"/>
            <a:tailEnd type="arrow"/>
          </a:ln>
          <a:effectLst/>
        </p:spPr>
      </p:cxnSp>
      <p:cxnSp>
        <p:nvCxnSpPr>
          <p:cNvPr id="22" name="Straight Arrow Connector 21"/>
          <p:cNvCxnSpPr/>
          <p:nvPr/>
        </p:nvCxnSpPr>
        <p:spPr bwMode="auto">
          <a:xfrm>
            <a:off x="3071748" y="4042742"/>
            <a:ext cx="3862450" cy="0"/>
          </a:xfrm>
          <a:prstGeom prst="straightConnector1">
            <a:avLst/>
          </a:prstGeom>
          <a:solidFill>
            <a:schemeClr val="accent1"/>
          </a:solidFill>
          <a:ln w="19050" cap="flat" cmpd="sng" algn="ctr">
            <a:solidFill>
              <a:schemeClr val="tx1"/>
            </a:solidFill>
            <a:prstDash val="solid"/>
            <a:round/>
            <a:headEnd type="none" w="sm" len="sm"/>
            <a:tailEnd type="arrow"/>
          </a:ln>
          <a:effectLst/>
        </p:spPr>
      </p:cxnSp>
      <p:cxnSp>
        <p:nvCxnSpPr>
          <p:cNvPr id="23" name="Straight Arrow Connector 22"/>
          <p:cNvCxnSpPr/>
          <p:nvPr/>
        </p:nvCxnSpPr>
        <p:spPr bwMode="auto">
          <a:xfrm>
            <a:off x="6465123" y="5250067"/>
            <a:ext cx="457200" cy="0"/>
          </a:xfrm>
          <a:prstGeom prst="straightConnector1">
            <a:avLst/>
          </a:prstGeom>
          <a:solidFill>
            <a:schemeClr val="accent1"/>
          </a:solidFill>
          <a:ln w="19050" cap="flat" cmpd="sng" algn="ctr">
            <a:solidFill>
              <a:schemeClr val="tx1"/>
            </a:solidFill>
            <a:prstDash val="solid"/>
            <a:round/>
            <a:headEnd type="none" w="sm" len="sm"/>
            <a:tailEnd type="arrow"/>
          </a:ln>
          <a:effectLst/>
        </p:spPr>
      </p:cxnSp>
      <p:cxnSp>
        <p:nvCxnSpPr>
          <p:cNvPr id="24" name="Straight Arrow Connector 23"/>
          <p:cNvCxnSpPr/>
          <p:nvPr/>
        </p:nvCxnSpPr>
        <p:spPr bwMode="auto">
          <a:xfrm>
            <a:off x="5029198" y="1866917"/>
            <a:ext cx="1828800" cy="0"/>
          </a:xfrm>
          <a:prstGeom prst="straightConnector1">
            <a:avLst/>
          </a:prstGeom>
          <a:solidFill>
            <a:schemeClr val="accent1"/>
          </a:solidFill>
          <a:ln w="19050" cap="flat" cmpd="sng" algn="ctr">
            <a:solidFill>
              <a:schemeClr val="tx1"/>
            </a:solidFill>
            <a:prstDash val="solid"/>
            <a:round/>
            <a:headEnd type="none" w="sm" len="sm"/>
            <a:tailEnd type="arrow"/>
          </a:ln>
          <a:effectLst/>
        </p:spPr>
      </p:cxnSp>
      <p:cxnSp>
        <p:nvCxnSpPr>
          <p:cNvPr id="25" name="Straight Arrow Connector 24"/>
          <p:cNvCxnSpPr/>
          <p:nvPr/>
        </p:nvCxnSpPr>
        <p:spPr bwMode="auto">
          <a:xfrm>
            <a:off x="3276598" y="2466292"/>
            <a:ext cx="3581400" cy="0"/>
          </a:xfrm>
          <a:prstGeom prst="straightConnector1">
            <a:avLst/>
          </a:prstGeom>
          <a:solidFill>
            <a:schemeClr val="accent1"/>
          </a:solidFill>
          <a:ln w="19050" cap="flat" cmpd="sng" algn="ctr">
            <a:solidFill>
              <a:schemeClr val="tx1"/>
            </a:solidFill>
            <a:prstDash val="solid"/>
            <a:round/>
            <a:headEnd type="none" w="sm" len="sm"/>
            <a:tailEnd type="arrow"/>
          </a:ln>
          <a:effectLst/>
        </p:spPr>
      </p:cxnSp>
      <p:cxnSp>
        <p:nvCxnSpPr>
          <p:cNvPr id="26" name="Straight Arrow Connector 25"/>
          <p:cNvCxnSpPr/>
          <p:nvPr/>
        </p:nvCxnSpPr>
        <p:spPr bwMode="auto">
          <a:xfrm>
            <a:off x="6465123" y="3421267"/>
            <a:ext cx="457200" cy="0"/>
          </a:xfrm>
          <a:prstGeom prst="straightConnector1">
            <a:avLst/>
          </a:prstGeom>
          <a:solidFill>
            <a:schemeClr val="accent1"/>
          </a:solidFill>
          <a:ln w="19050" cap="flat" cmpd="sng" algn="ctr">
            <a:solidFill>
              <a:schemeClr val="tx1"/>
            </a:solidFill>
            <a:prstDash val="solid"/>
            <a:round/>
            <a:headEnd type="none" w="sm" len="sm"/>
            <a:tailEnd type="arrow"/>
          </a:ln>
          <a:effectLst/>
        </p:spPr>
      </p:cxnSp>
      <p:cxnSp>
        <p:nvCxnSpPr>
          <p:cNvPr id="27" name="Straight Arrow Connector 26"/>
          <p:cNvCxnSpPr/>
          <p:nvPr/>
        </p:nvCxnSpPr>
        <p:spPr bwMode="auto">
          <a:xfrm>
            <a:off x="3071748" y="4042742"/>
            <a:ext cx="3862450" cy="0"/>
          </a:xfrm>
          <a:prstGeom prst="straightConnector1">
            <a:avLst/>
          </a:prstGeom>
          <a:solidFill>
            <a:schemeClr val="accent1"/>
          </a:solidFill>
          <a:ln w="19050" cap="flat" cmpd="sng" algn="ctr">
            <a:solidFill>
              <a:schemeClr val="tx1"/>
            </a:solidFill>
            <a:prstDash val="solid"/>
            <a:round/>
            <a:headEnd type="none" w="sm" len="sm"/>
            <a:tailEnd type="arrow"/>
          </a:ln>
          <a:effectLst/>
        </p:spPr>
      </p:cxnSp>
      <p:cxnSp>
        <p:nvCxnSpPr>
          <p:cNvPr id="28" name="Straight Arrow Connector 27"/>
          <p:cNvCxnSpPr/>
          <p:nvPr/>
        </p:nvCxnSpPr>
        <p:spPr bwMode="auto">
          <a:xfrm>
            <a:off x="6465123" y="5250067"/>
            <a:ext cx="457200" cy="0"/>
          </a:xfrm>
          <a:prstGeom prst="straightConnector1">
            <a:avLst/>
          </a:prstGeom>
          <a:solidFill>
            <a:schemeClr val="accent1"/>
          </a:solidFill>
          <a:ln w="19050" cap="flat" cmpd="sng" algn="ctr">
            <a:solidFill>
              <a:schemeClr val="tx1"/>
            </a:solidFill>
            <a:prstDash val="solid"/>
            <a:round/>
            <a:headEnd type="none" w="sm" len="sm"/>
            <a:tailEnd type="arrow"/>
          </a:ln>
          <a:effectLst/>
        </p:spPr>
      </p:cxnSp>
      <p:graphicFrame>
        <p:nvGraphicFramePr>
          <p:cNvPr id="29" name="Table 28"/>
          <p:cNvGraphicFramePr>
            <a:graphicFrameLocks noGrp="1"/>
          </p:cNvGraphicFramePr>
          <p:nvPr>
            <p:extLst>
              <p:ext uri="{D42A27DB-BD31-4B8C-83A1-F6EECF244321}">
                <p14:modId xmlns:p14="http://schemas.microsoft.com/office/powerpoint/2010/main" val="1315845226"/>
              </p:ext>
            </p:extLst>
          </p:nvPr>
        </p:nvGraphicFramePr>
        <p:xfrm>
          <a:off x="457200" y="762000"/>
          <a:ext cx="8256700" cy="5706715"/>
        </p:xfrm>
        <a:graphic>
          <a:graphicData uri="http://schemas.openxmlformats.org/drawingml/2006/table">
            <a:tbl>
              <a:tblPr firstRow="1" bandRow="1">
                <a:effectLst>
                  <a:outerShdw blurRad="50800" dist="88900" dir="2700000" algn="tl" rotWithShape="0">
                    <a:prstClr val="black">
                      <a:alpha val="40000"/>
                    </a:prstClr>
                  </a:outerShdw>
                </a:effectLst>
                <a:tableStyleId>{5C22544A-7EE6-4342-B048-85BDC9FD1C3A}</a:tableStyleId>
              </a:tblPr>
              <a:tblGrid>
                <a:gridCol w="1237133"/>
                <a:gridCol w="2048602"/>
                <a:gridCol w="1528828"/>
                <a:gridCol w="1460937"/>
                <a:gridCol w="1981200"/>
              </a:tblGrid>
              <a:tr h="476119">
                <a:tc>
                  <a:txBody>
                    <a:bodyPr/>
                    <a:lstStyle/>
                    <a:p>
                      <a:pPr algn="ctr"/>
                      <a:r>
                        <a:rPr lang="en-US" sz="2400" smtClean="0">
                          <a:solidFill>
                            <a:schemeClr val="tx1"/>
                          </a:solidFill>
                          <a:latin typeface="Calibri" pitchFamily="34" charset="0"/>
                          <a:cs typeface="Calibri" pitchFamily="34" charset="0"/>
                        </a:rPr>
                        <a:t>Lab</a:t>
                      </a:r>
                      <a:endParaRPr lang="en-US" sz="2400">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2400" smtClean="0">
                          <a:solidFill>
                            <a:schemeClr val="tx1"/>
                          </a:solidFill>
                          <a:latin typeface="Calibri" pitchFamily="34" charset="0"/>
                          <a:cs typeface="Calibri" pitchFamily="34" charset="0"/>
                        </a:rPr>
                        <a:t>Trigger</a:t>
                      </a:r>
                      <a:endParaRPr lang="en-US" sz="2400">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2400" smtClean="0">
                          <a:solidFill>
                            <a:schemeClr val="tx1"/>
                          </a:solidFill>
                          <a:latin typeface="Calibri" pitchFamily="34" charset="0"/>
                          <a:cs typeface="Calibri" pitchFamily="34" charset="0"/>
                        </a:rPr>
                        <a:t>Hwi</a:t>
                      </a:r>
                      <a:endParaRPr lang="en-US" sz="2400">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2400" smtClean="0">
                          <a:solidFill>
                            <a:schemeClr val="tx1"/>
                          </a:solidFill>
                          <a:latin typeface="Calibri" pitchFamily="34" charset="0"/>
                          <a:cs typeface="Calibri" pitchFamily="34" charset="0"/>
                        </a:rPr>
                        <a:t>Other</a:t>
                      </a:r>
                      <a:endParaRPr lang="en-US" sz="2400">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2400" smtClean="0">
                          <a:solidFill>
                            <a:schemeClr val="tx1"/>
                          </a:solidFill>
                          <a:latin typeface="Calibri" pitchFamily="34" charset="0"/>
                          <a:cs typeface="Calibri" pitchFamily="34" charset="0"/>
                        </a:rPr>
                        <a:t>Fxn</a:t>
                      </a:r>
                      <a:endParaRPr lang="en-US" sz="2400">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r>
              <a:tr h="730639">
                <a:tc>
                  <a:txBody>
                    <a:bodyPr/>
                    <a:lstStyle/>
                    <a:p>
                      <a:pPr algn="ctr"/>
                      <a:r>
                        <a:rPr lang="en-US" sz="2400" smtClean="0">
                          <a:solidFill>
                            <a:schemeClr val="tx1"/>
                          </a:solidFill>
                          <a:latin typeface="Calibri" pitchFamily="34" charset="0"/>
                          <a:cs typeface="Calibri" pitchFamily="34" charset="0"/>
                        </a:rPr>
                        <a:t>5</a:t>
                      </a:r>
                      <a:endParaRPr lang="en-US" sz="2400">
                        <a:solidFill>
                          <a:schemeClr val="tx1"/>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smtClean="0">
                          <a:solidFill>
                            <a:schemeClr val="tx1"/>
                          </a:solidFill>
                          <a:latin typeface="Calibri" pitchFamily="34" charset="0"/>
                          <a:cs typeface="Calibri" pitchFamily="34" charset="0"/>
                        </a:rPr>
                        <a:t>h/w</a:t>
                      </a:r>
                      <a:r>
                        <a:rPr lang="en-US" sz="2400" baseline="0" smtClean="0">
                          <a:solidFill>
                            <a:schemeClr val="tx1"/>
                          </a:solidFill>
                          <a:latin typeface="Calibri" pitchFamily="34" charset="0"/>
                          <a:cs typeface="Calibri" pitchFamily="34" charset="0"/>
                        </a:rPr>
                        <a:t> timer</a:t>
                      </a:r>
                      <a:endParaRPr lang="en-US" sz="2400">
                        <a:solidFill>
                          <a:schemeClr val="tx1"/>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gridSpan="3">
                  <a:txBody>
                    <a:bodyPr/>
                    <a:lstStyle/>
                    <a:p>
                      <a:pPr algn="l"/>
                      <a:r>
                        <a:rPr lang="en-US" sz="2400" smtClean="0">
                          <a:solidFill>
                            <a:schemeClr val="tx1"/>
                          </a:solidFill>
                          <a:latin typeface="Calibri" pitchFamily="34" charset="0"/>
                          <a:cs typeface="Calibri" pitchFamily="34" charset="0"/>
                        </a:rPr>
                        <a:t> </a:t>
                      </a:r>
                      <a:r>
                        <a:rPr lang="en-US" sz="2400" smtClean="0">
                          <a:solidFill>
                            <a:schemeClr val="tx2"/>
                          </a:solidFill>
                          <a:latin typeface="Calibri" pitchFamily="34" charset="0"/>
                          <a:cs typeface="Calibri" pitchFamily="34" charset="0"/>
                        </a:rPr>
                        <a:t>BIOS Hwi</a:t>
                      </a:r>
                      <a:r>
                        <a:rPr lang="en-US" sz="2400" smtClean="0">
                          <a:solidFill>
                            <a:schemeClr val="tx1"/>
                          </a:solidFill>
                          <a:latin typeface="Calibri" pitchFamily="34" charset="0"/>
                          <a:cs typeface="Calibri" pitchFamily="34" charset="0"/>
                        </a:rPr>
                        <a:t>                              </a:t>
                      </a:r>
                      <a:r>
                        <a:rPr lang="en-US" sz="2000" smtClean="0">
                          <a:solidFill>
                            <a:schemeClr val="tx1"/>
                          </a:solidFill>
                          <a:latin typeface="Courier New" pitchFamily="49" charset="0"/>
                          <a:cs typeface="Courier New" pitchFamily="49" charset="0"/>
                        </a:rPr>
                        <a:t>ledToggle</a:t>
                      </a:r>
                      <a:endParaRPr lang="en-US" sz="2000">
                        <a:solidFill>
                          <a:schemeClr val="tx1"/>
                        </a:solidFill>
                        <a:latin typeface="Courier New" pitchFamily="49" charset="0"/>
                        <a:cs typeface="Courier New"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US"/>
                    </a:p>
                  </a:txBody>
                  <a:tcPr/>
                </a:tc>
                <a:tc hMerge="1">
                  <a:txBody>
                    <a:bodyPr/>
                    <a:lstStyle/>
                    <a:p>
                      <a:endParaRPr lang="en-US"/>
                    </a:p>
                  </a:txBody>
                  <a:tcPr/>
                </a:tc>
              </a:tr>
              <a:tr h="803451">
                <a:tc>
                  <a:txBody>
                    <a:bodyPr/>
                    <a:lstStyle/>
                    <a:p>
                      <a:pPr algn="ctr"/>
                      <a:r>
                        <a:rPr lang="en-US" sz="2400" smtClean="0">
                          <a:solidFill>
                            <a:schemeClr val="tx1"/>
                          </a:solidFill>
                          <a:latin typeface="Calibri" pitchFamily="34" charset="0"/>
                          <a:cs typeface="Calibri" pitchFamily="34" charset="0"/>
                        </a:rPr>
                        <a:t>5B</a:t>
                      </a:r>
                      <a:endParaRPr lang="en-US" sz="2400">
                        <a:solidFill>
                          <a:schemeClr val="tx1"/>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gridSpan="4">
                  <a:txBody>
                    <a:bodyPr/>
                    <a:lstStyle/>
                    <a:p>
                      <a:pPr algn="l"/>
                      <a:r>
                        <a:rPr lang="en-US" sz="2400" smtClean="0">
                          <a:solidFill>
                            <a:schemeClr val="tx1"/>
                          </a:solidFill>
                          <a:latin typeface="Calibri" pitchFamily="34" charset="0"/>
                          <a:cs typeface="Calibri" pitchFamily="34" charset="0"/>
                        </a:rPr>
                        <a:t>   </a:t>
                      </a:r>
                      <a:r>
                        <a:rPr lang="en-US" sz="2400" smtClean="0">
                          <a:solidFill>
                            <a:schemeClr val="tx2"/>
                          </a:solidFill>
                          <a:latin typeface="Calibri" pitchFamily="34" charset="0"/>
                          <a:cs typeface="Calibri" pitchFamily="34" charset="0"/>
                        </a:rPr>
                        <a:t>BIOS timer</a:t>
                      </a:r>
                      <a:r>
                        <a:rPr lang="en-US" sz="2400" smtClean="0">
                          <a:solidFill>
                            <a:schemeClr val="tx1"/>
                          </a:solidFill>
                          <a:latin typeface="Calibri" pitchFamily="34" charset="0"/>
                          <a:cs typeface="Calibri" pitchFamily="34" charset="0"/>
                        </a:rPr>
                        <a:t>                                                       </a:t>
                      </a:r>
                      <a:r>
                        <a:rPr lang="en-US" sz="2000" smtClean="0">
                          <a:solidFill>
                            <a:schemeClr val="tx1"/>
                          </a:solidFill>
                          <a:latin typeface="Courier New" pitchFamily="49" charset="0"/>
                          <a:cs typeface="Courier New" pitchFamily="49" charset="0"/>
                        </a:rPr>
                        <a:t>ledToggle</a:t>
                      </a:r>
                      <a:r>
                        <a:rPr lang="en-US" sz="2000" smtClean="0">
                          <a:solidFill>
                            <a:schemeClr val="tx1"/>
                          </a:solidFill>
                          <a:latin typeface="Calibri" pitchFamily="34" charset="0"/>
                          <a:cs typeface="Calibri" pitchFamily="34" charset="0"/>
                        </a:rPr>
                        <a:t/>
                      </a:r>
                      <a:br>
                        <a:rPr lang="en-US" sz="2000" smtClean="0">
                          <a:solidFill>
                            <a:schemeClr val="tx1"/>
                          </a:solidFill>
                          <a:latin typeface="Calibri" pitchFamily="34" charset="0"/>
                          <a:cs typeface="Calibri" pitchFamily="34" charset="0"/>
                        </a:rPr>
                      </a:br>
                      <a:r>
                        <a:rPr lang="en-US" sz="2400" smtClean="0">
                          <a:solidFill>
                            <a:schemeClr val="tx1"/>
                          </a:solidFill>
                          <a:latin typeface="Calibri" pitchFamily="34" charset="0"/>
                          <a:cs typeface="Calibri" pitchFamily="34" charset="0"/>
                        </a:rPr>
                        <a:t>      </a:t>
                      </a:r>
                      <a:r>
                        <a:rPr lang="en-US" sz="2400" smtClean="0">
                          <a:solidFill>
                            <a:schemeClr val="bg1">
                              <a:lumMod val="65000"/>
                            </a:schemeClr>
                          </a:solidFill>
                          <a:latin typeface="Calibri" pitchFamily="34" charset="0"/>
                          <a:cs typeface="Calibri" pitchFamily="34" charset="0"/>
                        </a:rPr>
                        <a:t> </a:t>
                      </a:r>
                      <a:r>
                        <a:rPr lang="en-US" sz="2400" smtClean="0">
                          <a:solidFill>
                            <a:schemeClr val="bg1">
                              <a:lumMod val="50000"/>
                            </a:schemeClr>
                          </a:solidFill>
                          <a:latin typeface="Calibri" pitchFamily="34" charset="0"/>
                          <a:cs typeface="Calibri" pitchFamily="34" charset="0"/>
                        </a:rPr>
                        <a:t>(Hwi)</a:t>
                      </a:r>
                      <a:endParaRPr lang="en-US" sz="2400">
                        <a:solidFill>
                          <a:schemeClr val="bg1">
                            <a:lumMod val="50000"/>
                          </a:schemeClr>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algn="ctr"/>
                      <a:endParaRPr lang="en-US" sz="2400">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US"/>
                    </a:p>
                  </a:txBody>
                  <a:tcPr/>
                </a:tc>
              </a:tr>
              <a:tr h="758238">
                <a:tc>
                  <a:txBody>
                    <a:bodyPr/>
                    <a:lstStyle/>
                    <a:p>
                      <a:pPr algn="ctr"/>
                      <a:r>
                        <a:rPr lang="en-US" sz="2400" smtClean="0">
                          <a:solidFill>
                            <a:schemeClr val="tx1"/>
                          </a:solidFill>
                          <a:latin typeface="Calibri" pitchFamily="34" charset="0"/>
                          <a:cs typeface="Calibri" pitchFamily="34" charset="0"/>
                        </a:rPr>
                        <a:t>6</a:t>
                      </a:r>
                      <a:endParaRPr lang="en-US" sz="2400">
                        <a:solidFill>
                          <a:schemeClr val="tx1"/>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algn="ctr"/>
                      <a:r>
                        <a:rPr lang="en-US" sz="2400" smtClean="0">
                          <a:solidFill>
                            <a:schemeClr val="tx1"/>
                          </a:solidFill>
                          <a:latin typeface="Calibri" pitchFamily="34" charset="0"/>
                          <a:cs typeface="Calibri" pitchFamily="34" charset="0"/>
                        </a:rPr>
                        <a:t>h/w</a:t>
                      </a:r>
                      <a:r>
                        <a:rPr lang="en-US" sz="2400" baseline="0" smtClean="0">
                          <a:solidFill>
                            <a:schemeClr val="tx1"/>
                          </a:solidFill>
                          <a:latin typeface="Calibri" pitchFamily="34" charset="0"/>
                          <a:cs typeface="Calibri" pitchFamily="34" charset="0"/>
                        </a:rPr>
                        <a:t> timer</a:t>
                      </a:r>
                      <a:endParaRPr lang="en-US" sz="2400">
                        <a:solidFill>
                          <a:schemeClr val="tx1"/>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algn="ctr"/>
                      <a:r>
                        <a:rPr lang="en-US" sz="2400" smtClean="0">
                          <a:solidFill>
                            <a:schemeClr val="tx1"/>
                          </a:solidFill>
                          <a:latin typeface="Calibri" pitchFamily="34" charset="0"/>
                          <a:cs typeface="Calibri" pitchFamily="34" charset="0"/>
                        </a:rPr>
                        <a:t>BIOS Hwi</a:t>
                      </a:r>
                      <a:endParaRPr lang="en-US" sz="2400">
                        <a:solidFill>
                          <a:schemeClr val="tx1"/>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gridSpan="2">
                  <a:txBody>
                    <a:bodyPr/>
                    <a:lstStyle/>
                    <a:p>
                      <a:r>
                        <a:rPr lang="en-US" sz="2400" smtClean="0">
                          <a:latin typeface="Calibri" pitchFamily="34" charset="0"/>
                          <a:cs typeface="Calibri" pitchFamily="34" charset="0"/>
                        </a:rPr>
                        <a:t> </a:t>
                      </a:r>
                      <a:r>
                        <a:rPr lang="en-US" sz="2400" smtClean="0">
                          <a:solidFill>
                            <a:schemeClr val="tx2"/>
                          </a:solidFill>
                          <a:latin typeface="Calibri" pitchFamily="34" charset="0"/>
                          <a:cs typeface="Calibri" pitchFamily="34" charset="0"/>
                        </a:rPr>
                        <a:t>BIOS Swi</a:t>
                      </a:r>
                      <a:r>
                        <a:rPr lang="en-US" sz="2400" smtClean="0">
                          <a:latin typeface="Calibri" pitchFamily="34" charset="0"/>
                          <a:cs typeface="Calibri" pitchFamily="34" charset="0"/>
                        </a:rPr>
                        <a:t>         </a:t>
                      </a:r>
                      <a:r>
                        <a:rPr lang="en-US" sz="2000" smtClean="0">
                          <a:solidFill>
                            <a:schemeClr val="tx1"/>
                          </a:solidFill>
                          <a:latin typeface="Courier New" pitchFamily="49" charset="0"/>
                          <a:cs typeface="Courier New" pitchFamily="49" charset="0"/>
                        </a:rPr>
                        <a:t>ledToggle</a:t>
                      </a:r>
                      <a:endParaRPr lang="en-US" sz="2400">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r>
              <a:tr h="945843">
                <a:tc>
                  <a:txBody>
                    <a:bodyPr/>
                    <a:lstStyle/>
                    <a:p>
                      <a:pPr algn="ctr"/>
                      <a:r>
                        <a:rPr lang="en-US" sz="2400" smtClean="0">
                          <a:solidFill>
                            <a:schemeClr val="tx1"/>
                          </a:solidFill>
                          <a:latin typeface="Calibri" pitchFamily="34" charset="0"/>
                          <a:cs typeface="Calibri" pitchFamily="34" charset="0"/>
                        </a:rPr>
                        <a:t>7</a:t>
                      </a:r>
                      <a:endParaRPr lang="en-US" sz="2400">
                        <a:solidFill>
                          <a:schemeClr val="tx1"/>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c gridSpan="4">
                  <a:txBody>
                    <a:bodyPr/>
                    <a:lstStyle/>
                    <a:p>
                      <a:pPr algn="l"/>
                      <a:r>
                        <a:rPr lang="en-US" sz="2400" smtClean="0">
                          <a:solidFill>
                            <a:schemeClr val="tx2"/>
                          </a:solidFill>
                          <a:latin typeface="Calibri" pitchFamily="34" charset="0"/>
                          <a:cs typeface="Calibri" pitchFamily="34" charset="0"/>
                        </a:rPr>
                        <a:t>BIOS Clock</a:t>
                      </a:r>
                      <a:r>
                        <a:rPr lang="en-US" sz="2400" smtClean="0">
                          <a:solidFill>
                            <a:schemeClr val="tx1"/>
                          </a:solidFill>
                          <a:latin typeface="Calibri" pitchFamily="34" charset="0"/>
                          <a:cs typeface="Calibri" pitchFamily="34" charset="0"/>
                        </a:rPr>
                        <a:t>                                                           </a:t>
                      </a:r>
                      <a:r>
                        <a:rPr lang="en-US" sz="2000" smtClean="0">
                          <a:solidFill>
                            <a:schemeClr val="tx1"/>
                          </a:solidFill>
                          <a:latin typeface="Courier New" pitchFamily="49" charset="0"/>
                          <a:cs typeface="Courier New" pitchFamily="49" charset="0"/>
                        </a:rPr>
                        <a:t>ledToggle</a:t>
                      </a:r>
                      <a:endParaRPr lang="en-US" sz="2400" smtClean="0">
                        <a:solidFill>
                          <a:schemeClr val="tx1"/>
                        </a:solidFill>
                        <a:latin typeface="Calibri" pitchFamily="34" charset="0"/>
                        <a:cs typeface="Calibri" pitchFamily="34" charset="0"/>
                      </a:endParaRPr>
                    </a:p>
                    <a:p>
                      <a:pPr algn="l"/>
                      <a:r>
                        <a:rPr lang="en-US" sz="2400" smtClean="0">
                          <a:solidFill>
                            <a:schemeClr val="bg1">
                              <a:lumMod val="50000"/>
                            </a:schemeClr>
                          </a:solidFill>
                          <a:latin typeface="Calibri" pitchFamily="34" charset="0"/>
                          <a:cs typeface="Calibri" pitchFamily="34" charset="0"/>
                        </a:rPr>
                        <a:t>(Hwi, Swi)</a:t>
                      </a:r>
                      <a:endParaRPr lang="en-US" sz="2400">
                        <a:solidFill>
                          <a:schemeClr val="bg1">
                            <a:lumMod val="50000"/>
                          </a:schemeClr>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c hMerge="1">
                  <a:txBody>
                    <a:bodyPr/>
                    <a:lstStyle/>
                    <a:p>
                      <a:pPr algn="ctr"/>
                      <a:endParaRPr lang="en-US" sz="2400">
                        <a:solidFill>
                          <a:schemeClr val="tx1"/>
                        </a:solidFill>
                        <a:latin typeface="Calibri" pitchFamily="34" charset="0"/>
                        <a:cs typeface="Calibri"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r>
              <a:tr h="986458">
                <a:tc>
                  <a:txBody>
                    <a:bodyPr/>
                    <a:lstStyle/>
                    <a:p>
                      <a:pPr algn="ctr"/>
                      <a:r>
                        <a:rPr lang="en-US" sz="2400" smtClean="0">
                          <a:solidFill>
                            <a:schemeClr val="tx1"/>
                          </a:solidFill>
                          <a:latin typeface="Calibri" pitchFamily="34" charset="0"/>
                          <a:cs typeface="Calibri" pitchFamily="34" charset="0"/>
                        </a:rPr>
                        <a:t>8</a:t>
                      </a:r>
                      <a:endParaRPr lang="en-US" sz="2400">
                        <a:solidFill>
                          <a:schemeClr val="tx1"/>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2400" smtClean="0">
                          <a:solidFill>
                            <a:schemeClr val="tx1"/>
                          </a:solidFill>
                          <a:latin typeface="Calibri" pitchFamily="34" charset="0"/>
                          <a:cs typeface="Calibri" pitchFamily="34" charset="0"/>
                        </a:rPr>
                        <a:t>h/w timer</a:t>
                      </a:r>
                      <a:endParaRPr lang="en-US" sz="2400">
                        <a:solidFill>
                          <a:schemeClr val="tx1"/>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2400" smtClean="0">
                          <a:solidFill>
                            <a:schemeClr val="tx1"/>
                          </a:solidFill>
                          <a:latin typeface="Calibri" pitchFamily="34" charset="0"/>
                          <a:cs typeface="Calibri" pitchFamily="34" charset="0"/>
                        </a:rPr>
                        <a:t>BIOS Hwi</a:t>
                      </a:r>
                      <a:endParaRPr lang="en-US" sz="2400">
                        <a:solidFill>
                          <a:schemeClr val="tx1"/>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2">
                  <a:txBody>
                    <a:bodyPr/>
                    <a:lstStyle/>
                    <a:p>
                      <a:pPr algn="l"/>
                      <a:r>
                        <a:rPr lang="en-US" sz="2400" smtClean="0">
                          <a:solidFill>
                            <a:schemeClr val="tx2"/>
                          </a:solidFill>
                          <a:latin typeface="Calibri" pitchFamily="34" charset="0"/>
                          <a:cs typeface="Calibri" pitchFamily="34" charset="0"/>
                        </a:rPr>
                        <a:t>BIOS Task</a:t>
                      </a:r>
                      <a:r>
                        <a:rPr lang="en-US" sz="2400" smtClean="0">
                          <a:latin typeface="Calibri" pitchFamily="34" charset="0"/>
                          <a:cs typeface="Calibri" pitchFamily="34" charset="0"/>
                        </a:rPr>
                        <a:t>         </a:t>
                      </a:r>
                      <a:r>
                        <a:rPr lang="en-US" sz="2000" smtClean="0">
                          <a:solidFill>
                            <a:schemeClr val="tx1"/>
                          </a:solidFill>
                          <a:latin typeface="Courier New" pitchFamily="49" charset="0"/>
                          <a:cs typeface="Courier New" pitchFamily="49" charset="0"/>
                        </a:rPr>
                        <a:t>ledToggle</a:t>
                      </a:r>
                      <a:endParaRPr lang="en-US" sz="2000">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algn="ct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r>
              <a:tr h="986458">
                <a:tc>
                  <a:txBody>
                    <a:bodyPr/>
                    <a:lstStyle/>
                    <a:p>
                      <a:pPr algn="ctr"/>
                      <a:r>
                        <a:rPr lang="en-US" sz="2400" smtClean="0">
                          <a:solidFill>
                            <a:schemeClr val="tx1"/>
                          </a:solidFill>
                          <a:latin typeface="Calibri" pitchFamily="34" charset="0"/>
                          <a:cs typeface="Calibri" pitchFamily="34" charset="0"/>
                        </a:rPr>
                        <a:t>9</a:t>
                      </a:r>
                      <a:endParaRPr lang="en-US" sz="2400">
                        <a:solidFill>
                          <a:schemeClr val="tx1"/>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sz="2400" smtClean="0">
                          <a:solidFill>
                            <a:schemeClr val="tx1"/>
                          </a:solidFill>
                          <a:latin typeface="Calibri" pitchFamily="34" charset="0"/>
                          <a:cs typeface="Calibri" pitchFamily="34" charset="0"/>
                        </a:rPr>
                        <a:t>h/w</a:t>
                      </a:r>
                      <a:r>
                        <a:rPr lang="en-US" sz="2400" baseline="0" smtClean="0">
                          <a:solidFill>
                            <a:schemeClr val="tx1"/>
                          </a:solidFill>
                          <a:latin typeface="Calibri" pitchFamily="34" charset="0"/>
                          <a:cs typeface="Calibri" pitchFamily="34" charset="0"/>
                        </a:rPr>
                        <a:t> timer</a:t>
                      </a:r>
                      <a:endParaRPr lang="en-US" sz="2400">
                        <a:solidFill>
                          <a:schemeClr val="tx1"/>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sz="2400" smtClean="0">
                          <a:solidFill>
                            <a:schemeClr val="tx1"/>
                          </a:solidFill>
                          <a:latin typeface="Calibri" pitchFamily="34" charset="0"/>
                          <a:cs typeface="Calibri" pitchFamily="34" charset="0"/>
                        </a:rPr>
                        <a:t>BIOS Hwi</a:t>
                      </a:r>
                      <a:endParaRPr lang="en-US" sz="2400">
                        <a:solidFill>
                          <a:schemeClr val="tx1"/>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gridSpan="2">
                  <a:txBody>
                    <a:bodyPr/>
                    <a:lstStyle/>
                    <a:p>
                      <a:pPr algn="l"/>
                      <a:r>
                        <a:rPr lang="en-US" sz="1800" smtClean="0">
                          <a:latin typeface="Calibri" pitchFamily="34" charset="0"/>
                          <a:cs typeface="Calibri" pitchFamily="34" charset="0"/>
                        </a:rPr>
                        <a:t>LED</a:t>
                      </a:r>
                      <a:r>
                        <a:rPr lang="en-US" sz="1800" baseline="0" smtClean="0">
                          <a:latin typeface="Calibri" pitchFamily="34" charset="0"/>
                          <a:cs typeface="Calibri" pitchFamily="34" charset="0"/>
                        </a:rPr>
                        <a:t> State → Mbx/Que →ledToggle</a:t>
                      </a:r>
                      <a:endParaRPr lang="en-US" sz="1800">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hMerge="1">
                  <a:txBody>
                    <a:bodyPr/>
                    <a:lstStyle/>
                    <a:p>
                      <a:endParaRPr lang="en-US"/>
                    </a:p>
                  </a:txBody>
                  <a:tcPr/>
                </a:tc>
              </a:tr>
            </a:tbl>
          </a:graphicData>
        </a:graphic>
      </p:graphicFrame>
      <p:cxnSp>
        <p:nvCxnSpPr>
          <p:cNvPr id="30" name="Straight Arrow Connector 29"/>
          <p:cNvCxnSpPr/>
          <p:nvPr/>
        </p:nvCxnSpPr>
        <p:spPr bwMode="auto">
          <a:xfrm>
            <a:off x="5149701" y="1634174"/>
            <a:ext cx="1828800" cy="0"/>
          </a:xfrm>
          <a:prstGeom prst="straightConnector1">
            <a:avLst/>
          </a:prstGeom>
          <a:solidFill>
            <a:schemeClr val="accent1"/>
          </a:solidFill>
          <a:ln w="19050" cap="flat" cmpd="sng" algn="ctr">
            <a:solidFill>
              <a:schemeClr val="tx1"/>
            </a:solidFill>
            <a:prstDash val="solid"/>
            <a:round/>
            <a:headEnd type="none" w="sm" len="sm"/>
            <a:tailEnd type="arrow"/>
          </a:ln>
          <a:effectLst/>
        </p:spPr>
      </p:cxnSp>
      <p:cxnSp>
        <p:nvCxnSpPr>
          <p:cNvPr id="32" name="Straight Arrow Connector 31"/>
          <p:cNvCxnSpPr/>
          <p:nvPr/>
        </p:nvCxnSpPr>
        <p:spPr bwMode="auto">
          <a:xfrm>
            <a:off x="3416598" y="2233549"/>
            <a:ext cx="3581400" cy="0"/>
          </a:xfrm>
          <a:prstGeom prst="straightConnector1">
            <a:avLst/>
          </a:prstGeom>
          <a:solidFill>
            <a:schemeClr val="accent1"/>
          </a:solidFill>
          <a:ln w="19050" cap="flat" cmpd="sng" algn="ctr">
            <a:solidFill>
              <a:schemeClr val="tx1"/>
            </a:solidFill>
            <a:prstDash val="solid"/>
            <a:round/>
            <a:headEnd type="none" w="sm" len="sm"/>
            <a:tailEnd type="arrow"/>
          </a:ln>
          <a:effectLst/>
        </p:spPr>
      </p:cxnSp>
      <p:cxnSp>
        <p:nvCxnSpPr>
          <p:cNvPr id="33" name="Straight Arrow Connector 32"/>
          <p:cNvCxnSpPr/>
          <p:nvPr/>
        </p:nvCxnSpPr>
        <p:spPr bwMode="auto">
          <a:xfrm>
            <a:off x="6618767" y="3188524"/>
            <a:ext cx="457200" cy="0"/>
          </a:xfrm>
          <a:prstGeom prst="straightConnector1">
            <a:avLst/>
          </a:prstGeom>
          <a:solidFill>
            <a:schemeClr val="accent1"/>
          </a:solidFill>
          <a:ln w="19050" cap="flat" cmpd="sng" algn="ctr">
            <a:solidFill>
              <a:schemeClr val="tx1"/>
            </a:solidFill>
            <a:prstDash val="solid"/>
            <a:round/>
            <a:headEnd type="none" w="sm" len="sm"/>
            <a:tailEnd type="arrow"/>
          </a:ln>
          <a:effectLst/>
        </p:spPr>
      </p:cxnSp>
      <p:cxnSp>
        <p:nvCxnSpPr>
          <p:cNvPr id="34" name="Straight Arrow Connector 33"/>
          <p:cNvCxnSpPr/>
          <p:nvPr/>
        </p:nvCxnSpPr>
        <p:spPr bwMode="auto">
          <a:xfrm>
            <a:off x="3224150" y="3809999"/>
            <a:ext cx="3862450" cy="0"/>
          </a:xfrm>
          <a:prstGeom prst="straightConnector1">
            <a:avLst/>
          </a:prstGeom>
          <a:solidFill>
            <a:schemeClr val="accent1"/>
          </a:solidFill>
          <a:ln w="19050" cap="flat" cmpd="sng" algn="ctr">
            <a:solidFill>
              <a:schemeClr val="tx1"/>
            </a:solidFill>
            <a:prstDash val="solid"/>
            <a:round/>
            <a:headEnd type="none" w="sm" len="sm"/>
            <a:tailEnd type="arrow"/>
          </a:ln>
          <a:effectLst/>
        </p:spPr>
      </p:cxnSp>
      <p:cxnSp>
        <p:nvCxnSpPr>
          <p:cNvPr id="35" name="Straight Arrow Connector 34"/>
          <p:cNvCxnSpPr/>
          <p:nvPr/>
        </p:nvCxnSpPr>
        <p:spPr bwMode="auto">
          <a:xfrm>
            <a:off x="6640033" y="5017324"/>
            <a:ext cx="457200" cy="0"/>
          </a:xfrm>
          <a:prstGeom prst="straightConnector1">
            <a:avLst/>
          </a:prstGeom>
          <a:solidFill>
            <a:schemeClr val="accent1"/>
          </a:solidFill>
          <a:ln w="19050" cap="flat" cmpd="sng" algn="ctr">
            <a:solidFill>
              <a:schemeClr val="tx1"/>
            </a:solidFill>
            <a:prstDash val="solid"/>
            <a:round/>
            <a:headEnd type="none" w="sm" len="sm"/>
            <a:tailEnd type="arrow"/>
          </a:ln>
          <a:effectLst/>
        </p:spPr>
      </p:cxnSp>
      <p:sp>
        <p:nvSpPr>
          <p:cNvPr id="36" name="Right Arrow 35"/>
          <p:cNvSpPr/>
          <p:nvPr/>
        </p:nvSpPr>
        <p:spPr bwMode="auto">
          <a:xfrm>
            <a:off x="271436" y="4724400"/>
            <a:ext cx="617668" cy="533400"/>
          </a:xfrm>
          <a:prstGeom prst="rightArrow">
            <a:avLst/>
          </a:prstGeom>
          <a:solidFill>
            <a:schemeClr val="accent5"/>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pic>
        <p:nvPicPr>
          <p:cNvPr id="37" name="Picture 3" descr="C:\Users\a0159877\AppData\Local\Microsoft\Windows\Temporary Internet Files\Content.IE5\9ZCI4UZ6\MC90044131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7497" y="1335754"/>
            <a:ext cx="533400" cy="53340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 descr="C:\Users\a0159877\AppData\Local\Microsoft\Windows\Temporary Internet Files\Content.IE5\9ZCI4UZ6\MC90044131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3731" y="2108191"/>
            <a:ext cx="533400" cy="53340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 descr="C:\Users\a0159877\AppData\Local\Microsoft\Windows\Temporary Internet Files\Content.IE5\9ZCI4UZ6\MC90044131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7497" y="2887867"/>
            <a:ext cx="533400" cy="53340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 descr="C:\Users\a0159877\AppData\Local\Microsoft\Windows\Temporary Internet Files\Content.IE5\9ZCI4UZ6\MC90044131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7497" y="3776042"/>
            <a:ext cx="533400" cy="5334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602303424"/>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a:bodyPr>
          <a:lstStyle/>
          <a:p>
            <a:r>
              <a:rPr lang="en-US" smtClean="0"/>
              <a:t>Lab 8 – “Blink LED” Using </a:t>
            </a:r>
            <a:r>
              <a:rPr lang="en-US" u="sng" smtClean="0"/>
              <a:t>Task</a:t>
            </a:r>
            <a:endParaRPr lang="en-US" u="sng" dirty="0" smtClean="0"/>
          </a:p>
        </p:txBody>
      </p:sp>
      <p:sp>
        <p:nvSpPr>
          <p:cNvPr id="33795" name="Rectangle 6"/>
          <p:cNvSpPr>
            <a:spLocks noChangeArrowheads="1"/>
          </p:cNvSpPr>
          <p:nvPr/>
        </p:nvSpPr>
        <p:spPr bwMode="auto">
          <a:xfrm>
            <a:off x="561975" y="6216650"/>
            <a:ext cx="184150" cy="625475"/>
          </a:xfrm>
          <a:prstGeom prst="rect">
            <a:avLst/>
          </a:prstGeom>
          <a:noFill/>
          <a:ln w="12700">
            <a:noFill/>
            <a:miter lim="800000"/>
            <a:headEnd type="none" w="sm" len="sm"/>
            <a:tailEnd type="none" w="sm" len="sm"/>
          </a:ln>
        </p:spPr>
        <p:txBody>
          <a:bodyPr wrap="none" anchor="ctr">
            <a:spAutoFit/>
          </a:bodyPr>
          <a:lstStyle/>
          <a:p>
            <a:pPr>
              <a:lnSpc>
                <a:spcPct val="100000"/>
              </a:lnSpc>
              <a:spcBef>
                <a:spcPct val="0"/>
              </a:spcBef>
            </a:pPr>
            <a:r>
              <a:rPr lang="en-US" sz="1100" b="0">
                <a:latin typeface="Times New Roman" pitchFamily="18" charset="0"/>
                <a:cs typeface="Times New Roman" pitchFamily="18" charset="0"/>
              </a:rPr>
              <a:t/>
            </a:r>
            <a:br>
              <a:rPr lang="en-US" sz="1100" b="0">
                <a:latin typeface="Times New Roman" pitchFamily="18" charset="0"/>
                <a:cs typeface="Times New Roman" pitchFamily="18" charset="0"/>
              </a:rPr>
            </a:br>
            <a:endParaRPr lang="en-US" b="0">
              <a:latin typeface="Times New Roman" pitchFamily="18" charset="0"/>
            </a:endParaRPr>
          </a:p>
        </p:txBody>
      </p:sp>
      <p:sp>
        <p:nvSpPr>
          <p:cNvPr id="33796" name="AutoShape 99"/>
          <p:cNvSpPr>
            <a:spLocks noChangeArrowheads="1"/>
          </p:cNvSpPr>
          <p:nvPr/>
        </p:nvSpPr>
        <p:spPr bwMode="auto">
          <a:xfrm>
            <a:off x="152400" y="2039715"/>
            <a:ext cx="2057400" cy="1480520"/>
          </a:xfrm>
          <a:prstGeom prst="roundRect">
            <a:avLst>
              <a:gd name="adj" fmla="val 16667"/>
            </a:avLst>
          </a:prstGeom>
          <a:solidFill>
            <a:schemeClr val="accent2"/>
          </a:solidFill>
          <a:ln w="12700">
            <a:solidFill>
              <a:schemeClr val="tx1"/>
            </a:solidFill>
            <a:round/>
            <a:headEnd type="none" w="sm" len="sm"/>
            <a:tailEnd type="none" w="sm" len="sm"/>
          </a:ln>
        </p:spPr>
        <p:txBody>
          <a:bodyPr wrap="none" anchor="ctr"/>
          <a:lstStyle/>
          <a:p>
            <a:r>
              <a:rPr lang="en-US" sz="1600" dirty="0">
                <a:latin typeface="Courier New" pitchFamily="49" charset="0"/>
              </a:rPr>
              <a:t>main() {</a:t>
            </a:r>
          </a:p>
          <a:p>
            <a:r>
              <a:rPr lang="en-US" sz="1600">
                <a:latin typeface="Courier New" pitchFamily="49" charset="0"/>
              </a:rPr>
              <a:t>  </a:t>
            </a:r>
            <a:r>
              <a:rPr lang="en-US" sz="1600" smtClean="0">
                <a:latin typeface="Courier New" pitchFamily="49" charset="0"/>
              </a:rPr>
              <a:t>init_hw();</a:t>
            </a:r>
            <a:endParaRPr lang="en-US" sz="1600" dirty="0">
              <a:latin typeface="Courier New" pitchFamily="49" charset="0"/>
            </a:endParaRPr>
          </a:p>
          <a:p>
            <a:pPr>
              <a:spcBef>
                <a:spcPts val="600"/>
              </a:spcBef>
            </a:pPr>
            <a:r>
              <a:rPr lang="en-US" sz="1600">
                <a:latin typeface="Courier New" pitchFamily="49" charset="0"/>
              </a:rPr>
              <a:t>  </a:t>
            </a:r>
            <a:r>
              <a:rPr lang="en-US" sz="1600" smtClean="0">
                <a:latin typeface="Courier New" pitchFamily="49" charset="0"/>
              </a:rPr>
              <a:t>Timer (500ms)</a:t>
            </a:r>
            <a:endParaRPr lang="en-US" sz="1600" dirty="0">
              <a:latin typeface="Courier New" pitchFamily="49" charset="0"/>
            </a:endParaRPr>
          </a:p>
          <a:p>
            <a:r>
              <a:rPr lang="en-US" sz="1600" dirty="0">
                <a:latin typeface="Courier New" pitchFamily="49" charset="0"/>
              </a:rPr>
              <a:t>  </a:t>
            </a:r>
            <a:r>
              <a:rPr lang="en-US" sz="1600" dirty="0" err="1" smtClean="0">
                <a:latin typeface="Courier New" pitchFamily="49" charset="0"/>
              </a:rPr>
              <a:t>BIOS_start</a:t>
            </a:r>
            <a:r>
              <a:rPr lang="en-US" sz="1600" dirty="0" smtClean="0">
                <a:latin typeface="Courier New" pitchFamily="49" charset="0"/>
              </a:rPr>
              <a:t>();</a:t>
            </a:r>
            <a:endParaRPr lang="en-US" sz="1600" dirty="0">
              <a:latin typeface="Courier New" pitchFamily="49" charset="0"/>
            </a:endParaRPr>
          </a:p>
          <a:p>
            <a:r>
              <a:rPr lang="en-US" sz="1600" dirty="0">
                <a:latin typeface="Courier New" pitchFamily="49" charset="0"/>
              </a:rPr>
              <a:t>} </a:t>
            </a:r>
          </a:p>
        </p:txBody>
      </p:sp>
      <p:sp>
        <p:nvSpPr>
          <p:cNvPr id="33797" name="AutoShape 102"/>
          <p:cNvSpPr>
            <a:spLocks noChangeArrowheads="1"/>
          </p:cNvSpPr>
          <p:nvPr/>
        </p:nvSpPr>
        <p:spPr bwMode="auto">
          <a:xfrm>
            <a:off x="1685264" y="3849815"/>
            <a:ext cx="1524000" cy="2703385"/>
          </a:xfrm>
          <a:prstGeom prst="roundRect">
            <a:avLst>
              <a:gd name="adj" fmla="val 16667"/>
            </a:avLst>
          </a:prstGeom>
          <a:solidFill>
            <a:schemeClr val="accent5">
              <a:lumMod val="20000"/>
              <a:lumOff val="80000"/>
            </a:schemeClr>
          </a:solidFill>
          <a:ln w="12700">
            <a:solidFill>
              <a:schemeClr val="tx1"/>
            </a:solidFill>
            <a:round/>
            <a:headEnd type="none" w="sm" len="sm"/>
            <a:tailEnd type="none" w="sm" len="sm"/>
          </a:ln>
        </p:spPr>
        <p:txBody>
          <a:bodyPr wrap="none" anchor="ctr"/>
          <a:lstStyle/>
          <a:p>
            <a:endParaRPr lang="en-US" sz="1800">
              <a:latin typeface="Courier New" pitchFamily="49" charset="0"/>
            </a:endParaRPr>
          </a:p>
        </p:txBody>
      </p:sp>
      <p:sp>
        <p:nvSpPr>
          <p:cNvPr id="33798" name="Text Box 103"/>
          <p:cNvSpPr txBox="1">
            <a:spLocks noChangeArrowheads="1"/>
          </p:cNvSpPr>
          <p:nvPr/>
        </p:nvSpPr>
        <p:spPr bwMode="auto">
          <a:xfrm>
            <a:off x="623855" y="1752057"/>
            <a:ext cx="1107996" cy="353943"/>
          </a:xfrm>
          <a:prstGeom prst="rect">
            <a:avLst/>
          </a:prstGeom>
          <a:noFill/>
          <a:ln w="12700">
            <a:noFill/>
            <a:miter lim="800000"/>
            <a:headEnd type="none" w="sm" len="sm"/>
            <a:tailEnd type="none" w="sm" len="sm"/>
          </a:ln>
        </p:spPr>
        <p:txBody>
          <a:bodyPr wrap="none">
            <a:spAutoFit/>
          </a:bodyPr>
          <a:lstStyle/>
          <a:p>
            <a:r>
              <a:rPr lang="en-US" sz="2000" i="1">
                <a:latin typeface="Courier New" pitchFamily="49" charset="0"/>
              </a:rPr>
              <a:t>main.c</a:t>
            </a:r>
          </a:p>
        </p:txBody>
      </p:sp>
      <p:sp>
        <p:nvSpPr>
          <p:cNvPr id="33799" name="AutoShape 104"/>
          <p:cNvSpPr>
            <a:spLocks noChangeArrowheads="1"/>
          </p:cNvSpPr>
          <p:nvPr/>
        </p:nvSpPr>
        <p:spPr bwMode="auto">
          <a:xfrm>
            <a:off x="2057400" y="4003984"/>
            <a:ext cx="685800" cy="457200"/>
          </a:xfrm>
          <a:prstGeom prst="cube">
            <a:avLst>
              <a:gd name="adj" fmla="val 16319"/>
            </a:avLst>
          </a:prstGeom>
          <a:solidFill>
            <a:srgbClr val="C0C0C0"/>
          </a:solidFill>
          <a:ln w="12700">
            <a:solidFill>
              <a:schemeClr val="tx1"/>
            </a:solidFill>
            <a:miter lim="800000"/>
            <a:headEnd type="none" w="sm" len="sm"/>
            <a:tailEnd type="none" w="sm" len="sm"/>
          </a:ln>
        </p:spPr>
        <p:txBody>
          <a:bodyPr wrap="none" anchor="ctr"/>
          <a:lstStyle/>
          <a:p>
            <a:pPr algn="ctr"/>
            <a:r>
              <a:rPr lang="en-US" sz="1800" dirty="0" err="1" smtClean="0"/>
              <a:t>Hwi</a:t>
            </a:r>
            <a:endParaRPr lang="en-US" sz="1800" dirty="0"/>
          </a:p>
        </p:txBody>
      </p:sp>
      <p:sp>
        <p:nvSpPr>
          <p:cNvPr id="33800" name="Text Box 105"/>
          <p:cNvSpPr txBox="1">
            <a:spLocks noChangeArrowheads="1"/>
          </p:cNvSpPr>
          <p:nvPr/>
        </p:nvSpPr>
        <p:spPr bwMode="auto">
          <a:xfrm>
            <a:off x="1676400" y="3560080"/>
            <a:ext cx="1569660" cy="353943"/>
          </a:xfrm>
          <a:prstGeom prst="rect">
            <a:avLst/>
          </a:prstGeom>
          <a:noFill/>
          <a:ln w="12700">
            <a:noFill/>
            <a:miter lim="800000"/>
            <a:headEnd type="none" w="sm" len="sm"/>
            <a:tailEnd type="none" w="sm" len="sm"/>
          </a:ln>
        </p:spPr>
        <p:txBody>
          <a:bodyPr wrap="none">
            <a:spAutoFit/>
          </a:bodyPr>
          <a:lstStyle/>
          <a:p>
            <a:r>
              <a:rPr lang="en-US" sz="2000" i="1">
                <a:latin typeface="Courier New" pitchFamily="49" charset="0"/>
              </a:rPr>
              <a:t>Scheduler</a:t>
            </a:r>
          </a:p>
        </p:txBody>
      </p:sp>
      <p:sp>
        <p:nvSpPr>
          <p:cNvPr id="33802" name="AutoShape 107"/>
          <p:cNvSpPr>
            <a:spLocks noChangeArrowheads="1"/>
          </p:cNvSpPr>
          <p:nvPr/>
        </p:nvSpPr>
        <p:spPr bwMode="auto">
          <a:xfrm>
            <a:off x="2057400" y="5954233"/>
            <a:ext cx="685800" cy="457200"/>
          </a:xfrm>
          <a:prstGeom prst="cube">
            <a:avLst>
              <a:gd name="adj" fmla="val 16319"/>
            </a:avLst>
          </a:prstGeom>
          <a:solidFill>
            <a:schemeClr val="accent3"/>
          </a:solidFill>
          <a:ln w="12700">
            <a:solidFill>
              <a:schemeClr val="tx1"/>
            </a:solidFill>
            <a:miter lim="800000"/>
            <a:headEnd type="none" w="sm" len="sm"/>
            <a:tailEnd type="none" w="sm" len="sm"/>
          </a:ln>
        </p:spPr>
        <p:txBody>
          <a:bodyPr wrap="none" anchor="ctr"/>
          <a:lstStyle/>
          <a:p>
            <a:pPr algn="ctr"/>
            <a:r>
              <a:rPr lang="en-US" sz="1800" dirty="0" smtClean="0"/>
              <a:t>Idle</a:t>
            </a:r>
            <a:endParaRPr lang="en-US" sz="1800" dirty="0"/>
          </a:p>
        </p:txBody>
      </p:sp>
      <p:sp>
        <p:nvSpPr>
          <p:cNvPr id="33810" name="AutoShape 117"/>
          <p:cNvSpPr>
            <a:spLocks noChangeArrowheads="1"/>
          </p:cNvSpPr>
          <p:nvPr/>
        </p:nvSpPr>
        <p:spPr bwMode="auto">
          <a:xfrm>
            <a:off x="3730726" y="3933203"/>
            <a:ext cx="3432074" cy="577701"/>
          </a:xfrm>
          <a:prstGeom prst="roundRect">
            <a:avLst>
              <a:gd name="adj" fmla="val 16667"/>
            </a:avLst>
          </a:prstGeom>
          <a:solidFill>
            <a:schemeClr val="accent3">
              <a:lumMod val="40000"/>
              <a:lumOff val="60000"/>
            </a:schemeClr>
          </a:solidFill>
          <a:ln w="12700">
            <a:solidFill>
              <a:schemeClr val="tx1"/>
            </a:solidFill>
            <a:round/>
            <a:headEnd type="none" w="sm" len="sm"/>
            <a:tailEnd type="none" w="sm" len="sm"/>
          </a:ln>
        </p:spPr>
        <p:txBody>
          <a:bodyPr wrap="none" anchor="ctr"/>
          <a:lstStyle/>
          <a:p>
            <a:r>
              <a:rPr lang="en-US" sz="1600" smtClean="0">
                <a:solidFill>
                  <a:schemeClr val="tx2"/>
                </a:solidFill>
                <a:latin typeface="Courier New" pitchFamily="49" charset="0"/>
              </a:rPr>
              <a:t>Semaphore_post(LedSem);</a:t>
            </a:r>
            <a:endParaRPr lang="en-US" sz="1600">
              <a:solidFill>
                <a:schemeClr val="tx2"/>
              </a:solidFill>
              <a:latin typeface="Courier New" pitchFamily="49" charset="0"/>
            </a:endParaRPr>
          </a:p>
        </p:txBody>
      </p:sp>
      <p:sp>
        <p:nvSpPr>
          <p:cNvPr id="33816" name="Text Box 131"/>
          <p:cNvSpPr txBox="1">
            <a:spLocks noChangeArrowheads="1"/>
          </p:cNvSpPr>
          <p:nvPr/>
        </p:nvSpPr>
        <p:spPr bwMode="auto">
          <a:xfrm>
            <a:off x="3924970" y="685800"/>
            <a:ext cx="1707519" cy="387798"/>
          </a:xfrm>
          <a:prstGeom prst="rect">
            <a:avLst/>
          </a:prstGeom>
          <a:noFill/>
          <a:ln w="12700">
            <a:noFill/>
            <a:miter lim="800000"/>
            <a:headEnd type="none" w="sm" len="sm"/>
            <a:tailEnd type="none" w="sm" len="sm"/>
          </a:ln>
        </p:spPr>
        <p:txBody>
          <a:bodyPr wrap="none">
            <a:spAutoFit/>
          </a:bodyPr>
          <a:lstStyle/>
          <a:p>
            <a:r>
              <a:rPr lang="en-US" u="sng" dirty="0">
                <a:solidFill>
                  <a:schemeClr val="tx2"/>
                </a:solidFill>
              </a:rPr>
              <a:t>Procedure</a:t>
            </a:r>
          </a:p>
        </p:txBody>
      </p:sp>
      <p:sp>
        <p:nvSpPr>
          <p:cNvPr id="33817" name="Text Box 132"/>
          <p:cNvSpPr txBox="1">
            <a:spLocks noChangeArrowheads="1"/>
          </p:cNvSpPr>
          <p:nvPr/>
        </p:nvSpPr>
        <p:spPr bwMode="auto">
          <a:xfrm>
            <a:off x="4001170" y="1185053"/>
            <a:ext cx="4914230" cy="2339102"/>
          </a:xfrm>
          <a:prstGeom prst="rect">
            <a:avLst/>
          </a:prstGeom>
          <a:noFill/>
          <a:ln w="12700">
            <a:noFill/>
            <a:miter lim="800000"/>
            <a:headEnd type="none" w="sm" len="sm"/>
            <a:tailEnd type="none" w="sm" len="sm"/>
          </a:ln>
        </p:spPr>
        <p:txBody>
          <a:bodyPr wrap="none">
            <a:spAutoFit/>
          </a:bodyPr>
          <a:lstStyle/>
          <a:p>
            <a:pPr>
              <a:buFontTx/>
              <a:buChar char="•"/>
            </a:pPr>
            <a:r>
              <a:rPr lang="en-US" sz="2000">
                <a:latin typeface="Calibri" pitchFamily="34" charset="0"/>
                <a:cs typeface="Calibri" pitchFamily="34" charset="0"/>
              </a:rPr>
              <a:t> </a:t>
            </a:r>
            <a:r>
              <a:rPr lang="en-US" sz="2000" b="0" u="sng" smtClean="0">
                <a:solidFill>
                  <a:schemeClr val="tx2"/>
                </a:solidFill>
                <a:latin typeface="Calibri" pitchFamily="34" charset="0"/>
                <a:cs typeface="Calibri" pitchFamily="34" charset="0"/>
              </a:rPr>
              <a:t>Import</a:t>
            </a:r>
            <a:r>
              <a:rPr lang="en-US" sz="2000" b="0" smtClean="0">
                <a:latin typeface="Calibri" pitchFamily="34" charset="0"/>
                <a:cs typeface="Calibri" pitchFamily="34" charset="0"/>
              </a:rPr>
              <a:t> archived (.zip) project (from Swi lab)</a:t>
            </a:r>
            <a:endParaRPr lang="en-US" sz="2000" b="0" i="1" dirty="0">
              <a:latin typeface="Calibri" pitchFamily="34" charset="0"/>
              <a:cs typeface="Calibri" pitchFamily="34" charset="0"/>
            </a:endParaRPr>
          </a:p>
          <a:p>
            <a:pPr>
              <a:buFontTx/>
              <a:buChar char="•"/>
            </a:pPr>
            <a:r>
              <a:rPr lang="en-US" sz="2000" b="0">
                <a:latin typeface="Calibri" pitchFamily="34" charset="0"/>
                <a:cs typeface="Calibri" pitchFamily="34" charset="0"/>
              </a:rPr>
              <a:t> </a:t>
            </a:r>
            <a:r>
              <a:rPr lang="en-US" sz="2000" b="0" i="1" u="sng" smtClean="0">
                <a:solidFill>
                  <a:schemeClr val="tx2"/>
                </a:solidFill>
                <a:latin typeface="Calibri" pitchFamily="34" charset="0"/>
                <a:cs typeface="Calibri" pitchFamily="34" charset="0"/>
              </a:rPr>
              <a:t>Add Task </a:t>
            </a:r>
            <a:r>
              <a:rPr lang="en-US" sz="2000" b="0" i="1" u="sng" dirty="0" smtClean="0">
                <a:solidFill>
                  <a:schemeClr val="tx2"/>
                </a:solidFill>
                <a:latin typeface="Calibri" pitchFamily="34" charset="0"/>
                <a:cs typeface="Calibri" pitchFamily="34" charset="0"/>
              </a:rPr>
              <a:t>object </a:t>
            </a:r>
            <a:r>
              <a:rPr lang="en-US" sz="2000" b="0" dirty="0" smtClean="0">
                <a:latin typeface="Calibri" pitchFamily="34" charset="0"/>
                <a:cs typeface="Calibri" pitchFamily="34" charset="0"/>
              </a:rPr>
              <a:t>(</a:t>
            </a:r>
            <a:r>
              <a:rPr lang="en-US" sz="2000" b="0" smtClean="0">
                <a:latin typeface="Calibri" pitchFamily="34" charset="0"/>
                <a:cs typeface="Calibri" pitchFamily="34" charset="0"/>
              </a:rPr>
              <a:t>for ledToggle)</a:t>
            </a:r>
            <a:endParaRPr lang="en-US" sz="2000" b="0" dirty="0">
              <a:latin typeface="Calibri" pitchFamily="34" charset="0"/>
              <a:cs typeface="Calibri" pitchFamily="34" charset="0"/>
            </a:endParaRPr>
          </a:p>
          <a:p>
            <a:pPr>
              <a:buFontTx/>
              <a:buChar char="•"/>
            </a:pPr>
            <a:r>
              <a:rPr lang="en-US" sz="2000" b="0" dirty="0">
                <a:latin typeface="Calibri" pitchFamily="34" charset="0"/>
                <a:cs typeface="Calibri" pitchFamily="34" charset="0"/>
              </a:rPr>
              <a:t> Build, “Play</a:t>
            </a:r>
            <a:r>
              <a:rPr lang="en-US" sz="2000" b="0">
                <a:latin typeface="Calibri" pitchFamily="34" charset="0"/>
                <a:cs typeface="Calibri" pitchFamily="34" charset="0"/>
              </a:rPr>
              <a:t>”, </a:t>
            </a:r>
            <a:r>
              <a:rPr lang="en-US" sz="2000" b="0" smtClean="0">
                <a:latin typeface="Calibri" pitchFamily="34" charset="0"/>
                <a:cs typeface="Calibri" pitchFamily="34" charset="0"/>
              </a:rPr>
              <a:t>Debug</a:t>
            </a:r>
          </a:p>
          <a:p>
            <a:pPr>
              <a:buFontTx/>
              <a:buChar char="•"/>
            </a:pPr>
            <a:r>
              <a:rPr lang="en-US" sz="2000" b="0">
                <a:latin typeface="Calibri" pitchFamily="34" charset="0"/>
                <a:cs typeface="Calibri" pitchFamily="34" charset="0"/>
              </a:rPr>
              <a:t> </a:t>
            </a:r>
            <a:r>
              <a:rPr lang="en-US" sz="2000" b="0" smtClean="0">
                <a:latin typeface="Calibri" pitchFamily="34" charset="0"/>
                <a:cs typeface="Calibri" pitchFamily="34" charset="0"/>
              </a:rPr>
              <a:t>Use ROV/UIA to debug/analyze</a:t>
            </a:r>
          </a:p>
          <a:p>
            <a:pPr>
              <a:buFontTx/>
              <a:buChar char="•"/>
            </a:pPr>
            <a:r>
              <a:rPr lang="en-US" sz="2000" b="0">
                <a:latin typeface="Calibri" pitchFamily="34" charset="0"/>
                <a:cs typeface="Calibri" pitchFamily="34" charset="0"/>
              </a:rPr>
              <a:t> </a:t>
            </a:r>
            <a:r>
              <a:rPr lang="en-US" sz="2000" b="0" i="1" smtClean="0">
                <a:solidFill>
                  <a:schemeClr val="accent4">
                    <a:lumMod val="50000"/>
                  </a:schemeClr>
                </a:solidFill>
                <a:latin typeface="Calibri" pitchFamily="34" charset="0"/>
                <a:cs typeface="Calibri" pitchFamily="34" charset="0"/>
              </a:rPr>
              <a:t>Replace Hwi, Sem, Timer with Task_sleep()</a:t>
            </a:r>
          </a:p>
          <a:p>
            <a:pPr>
              <a:buFontTx/>
              <a:buChar char="•"/>
            </a:pPr>
            <a:r>
              <a:rPr lang="en-US" sz="2000" b="0">
                <a:latin typeface="Calibri" pitchFamily="34" charset="0"/>
                <a:cs typeface="Calibri" pitchFamily="34" charset="0"/>
              </a:rPr>
              <a:t> </a:t>
            </a:r>
            <a:r>
              <a:rPr lang="en-US" sz="2000" b="0" smtClean="0">
                <a:latin typeface="Calibri" pitchFamily="34" charset="0"/>
                <a:cs typeface="Calibri" pitchFamily="34" charset="0"/>
              </a:rPr>
              <a:t>[</a:t>
            </a:r>
            <a:r>
              <a:rPr lang="en-US" sz="2000" b="0" i="1" smtClean="0">
                <a:solidFill>
                  <a:srgbClr val="FF0000"/>
                </a:solidFill>
                <a:latin typeface="Calibri" pitchFamily="34" charset="0"/>
                <a:cs typeface="Calibri" pitchFamily="34" charset="0"/>
              </a:rPr>
              <a:t>OPTIONAL</a:t>
            </a:r>
            <a:r>
              <a:rPr lang="en-US" sz="2000" b="0" smtClean="0">
                <a:latin typeface="Calibri" pitchFamily="34" charset="0"/>
                <a:cs typeface="Calibri" pitchFamily="34" charset="0"/>
              </a:rPr>
              <a:t>] (create Sem/Task dynamically)</a:t>
            </a:r>
          </a:p>
        </p:txBody>
      </p:sp>
      <p:sp>
        <p:nvSpPr>
          <p:cNvPr id="30" name="Text Box 102"/>
          <p:cNvSpPr txBox="1">
            <a:spLocks noChangeArrowheads="1"/>
          </p:cNvSpPr>
          <p:nvPr/>
        </p:nvSpPr>
        <p:spPr bwMode="auto">
          <a:xfrm>
            <a:off x="3801705" y="6531848"/>
            <a:ext cx="2446695" cy="338554"/>
          </a:xfrm>
          <a:prstGeom prst="rect">
            <a:avLst/>
          </a:prstGeom>
          <a:noFill/>
          <a:ln w="12700">
            <a:noFill/>
            <a:miter lim="800000"/>
            <a:headEnd type="none" w="sm" len="sm"/>
            <a:tailEnd type="none" w="sm" len="sm"/>
          </a:ln>
        </p:spPr>
        <p:txBody>
          <a:bodyPr wrap="none">
            <a:spAutoFit/>
          </a:bodyPr>
          <a:lstStyle/>
          <a:p>
            <a:pPr marL="342900" indent="-342900">
              <a:buClr>
                <a:schemeClr val="tx2"/>
              </a:buClr>
              <a:buSzPct val="75000"/>
              <a:buFont typeface="Wingdings" pitchFamily="2" charset="2"/>
              <a:buChar char=""/>
            </a:pPr>
            <a:r>
              <a:rPr lang="en-US" sz="2000" dirty="0">
                <a:solidFill>
                  <a:schemeClr val="tx2"/>
                </a:solidFill>
              </a:rPr>
              <a:t>Time</a:t>
            </a:r>
            <a:r>
              <a:rPr lang="en-US" sz="2000">
                <a:solidFill>
                  <a:schemeClr val="tx2"/>
                </a:solidFill>
              </a:rPr>
              <a:t>: </a:t>
            </a:r>
            <a:r>
              <a:rPr lang="en-US" sz="2000" smtClean="0">
                <a:solidFill>
                  <a:schemeClr val="tx2"/>
                </a:solidFill>
              </a:rPr>
              <a:t>17.35 min</a:t>
            </a:r>
            <a:endParaRPr lang="en-US" sz="2000" dirty="0">
              <a:solidFill>
                <a:schemeClr val="tx2"/>
              </a:solidFill>
            </a:endParaRPr>
          </a:p>
        </p:txBody>
      </p:sp>
      <p:pic>
        <p:nvPicPr>
          <p:cNvPr id="31"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cxnSp>
        <p:nvCxnSpPr>
          <p:cNvPr id="5" name="Straight Arrow Connector 4"/>
          <p:cNvCxnSpPr>
            <a:endCxn id="1026" idx="0"/>
          </p:cNvCxnSpPr>
          <p:nvPr/>
        </p:nvCxnSpPr>
        <p:spPr bwMode="auto">
          <a:xfrm>
            <a:off x="1155652" y="3520235"/>
            <a:ext cx="9800" cy="394749"/>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cxnSp>
        <p:nvCxnSpPr>
          <p:cNvPr id="3" name="Straight Arrow Connector 2"/>
          <p:cNvCxnSpPr/>
          <p:nvPr/>
        </p:nvCxnSpPr>
        <p:spPr bwMode="auto">
          <a:xfrm>
            <a:off x="2858859" y="4223725"/>
            <a:ext cx="871868" cy="0"/>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sp>
        <p:nvSpPr>
          <p:cNvPr id="22" name="TextBox 21"/>
          <p:cNvSpPr txBox="1"/>
          <p:nvPr/>
        </p:nvSpPr>
        <p:spPr>
          <a:xfrm>
            <a:off x="7261180" y="4032339"/>
            <a:ext cx="1120820" cy="395173"/>
          </a:xfrm>
          <a:prstGeom prst="rect">
            <a:avLst/>
          </a:prstGeom>
          <a:noFill/>
        </p:spPr>
        <p:txBody>
          <a:bodyPr wrap="none" rtlCol="0" anchor="ctr" anchorCtr="0">
            <a:spAutoFit/>
          </a:bodyPr>
          <a:lstStyle/>
          <a:p>
            <a:r>
              <a:rPr lang="en-US" b="0" smtClean="0">
                <a:solidFill>
                  <a:schemeClr val="dk1"/>
                </a:solidFill>
                <a:effectLst/>
                <a:latin typeface="Calibri" pitchFamily="34" charset="0"/>
                <a:cs typeface="Calibri" pitchFamily="34" charset="0"/>
              </a:rPr>
              <a:t>Hwi ISR</a:t>
            </a:r>
            <a:endParaRPr lang="en-US" b="0" dirty="0" smtClean="0">
              <a:solidFill>
                <a:schemeClr val="dk1"/>
              </a:solidFill>
              <a:effectLst/>
              <a:latin typeface="Calibri" pitchFamily="34" charset="0"/>
              <a:cs typeface="Calibri" pitchFamily="34" charset="0"/>
            </a:endParaRPr>
          </a:p>
        </p:txBody>
      </p:sp>
      <p:sp>
        <p:nvSpPr>
          <p:cNvPr id="24" name="AutoShape 117"/>
          <p:cNvSpPr>
            <a:spLocks noChangeArrowheads="1"/>
          </p:cNvSpPr>
          <p:nvPr/>
        </p:nvSpPr>
        <p:spPr bwMode="auto">
          <a:xfrm>
            <a:off x="3733800" y="4605668"/>
            <a:ext cx="3429000" cy="1794747"/>
          </a:xfrm>
          <a:prstGeom prst="roundRect">
            <a:avLst>
              <a:gd name="adj" fmla="val 16667"/>
            </a:avLst>
          </a:prstGeom>
          <a:solidFill>
            <a:schemeClr val="accent4">
              <a:lumMod val="20000"/>
              <a:lumOff val="80000"/>
            </a:schemeClr>
          </a:solidFill>
          <a:ln w="28575">
            <a:solidFill>
              <a:schemeClr val="tx1"/>
            </a:solidFill>
            <a:round/>
            <a:headEnd type="none" w="sm" len="sm"/>
            <a:tailEnd type="none" w="sm" len="sm"/>
          </a:ln>
          <a:effectLst>
            <a:outerShdw blurRad="50800" dist="63500" dir="2700000" algn="tl" rotWithShape="0">
              <a:prstClr val="black">
                <a:alpha val="42000"/>
              </a:prstClr>
            </a:outerShdw>
          </a:effectLst>
        </p:spPr>
        <p:txBody>
          <a:bodyPr wrap="none" anchor="ctr"/>
          <a:lstStyle/>
          <a:p>
            <a:pPr>
              <a:spcBef>
                <a:spcPts val="600"/>
              </a:spcBef>
            </a:pPr>
            <a:r>
              <a:rPr lang="en-US" sz="1600" smtClean="0">
                <a:solidFill>
                  <a:schemeClr val="tx2"/>
                </a:solidFill>
                <a:latin typeface="Courier New" pitchFamily="49" charset="0"/>
              </a:rPr>
              <a:t> ledToggle()</a:t>
            </a:r>
            <a:r>
              <a:rPr lang="en-US" sz="1600" smtClean="0">
                <a:latin typeface="Courier New" pitchFamily="49" charset="0"/>
              </a:rPr>
              <a:t> {</a:t>
            </a:r>
            <a:endParaRPr lang="en-US" sz="1600">
              <a:latin typeface="Courier New" pitchFamily="49" charset="0"/>
            </a:endParaRPr>
          </a:p>
          <a:p>
            <a:pPr>
              <a:spcBef>
                <a:spcPts val="600"/>
              </a:spcBef>
            </a:pPr>
            <a:r>
              <a:rPr lang="en-US" sz="1600">
                <a:latin typeface="Courier New" pitchFamily="49" charset="0"/>
              </a:rPr>
              <a:t> </a:t>
            </a:r>
            <a:r>
              <a:rPr lang="en-US" sz="1600" smtClean="0">
                <a:latin typeface="Courier New" pitchFamily="49" charset="0"/>
              </a:rPr>
              <a:t>while(1) {</a:t>
            </a:r>
          </a:p>
          <a:p>
            <a:pPr>
              <a:spcBef>
                <a:spcPts val="600"/>
              </a:spcBef>
            </a:pPr>
            <a:r>
              <a:rPr lang="en-US" sz="1600" smtClean="0">
                <a:latin typeface="Courier New" pitchFamily="49" charset="0"/>
              </a:rPr>
              <a:t>   </a:t>
            </a:r>
            <a:r>
              <a:rPr lang="en-US" sz="1600" smtClean="0">
                <a:solidFill>
                  <a:schemeClr val="tx2"/>
                </a:solidFill>
                <a:latin typeface="Courier New" pitchFamily="49" charset="0"/>
              </a:rPr>
              <a:t>Semaphore_pend(LedSem);</a:t>
            </a:r>
            <a:endParaRPr lang="en-US" sz="1600">
              <a:solidFill>
                <a:schemeClr val="tx2"/>
              </a:solidFill>
              <a:latin typeface="Courier New" pitchFamily="49" charset="0"/>
            </a:endParaRPr>
          </a:p>
          <a:p>
            <a:pPr>
              <a:spcBef>
                <a:spcPts val="600"/>
              </a:spcBef>
            </a:pPr>
            <a:r>
              <a:rPr lang="en-US" sz="1600">
                <a:latin typeface="Courier New" pitchFamily="49" charset="0"/>
              </a:rPr>
              <a:t>  </a:t>
            </a:r>
            <a:r>
              <a:rPr lang="en-US" sz="1600" smtClean="0">
                <a:latin typeface="Courier New" pitchFamily="49" charset="0"/>
              </a:rPr>
              <a:t> Toggle_LED;</a:t>
            </a:r>
          </a:p>
          <a:p>
            <a:pPr>
              <a:spcBef>
                <a:spcPts val="600"/>
              </a:spcBef>
            </a:pPr>
            <a:r>
              <a:rPr lang="en-US" sz="1600" smtClean="0">
                <a:latin typeface="Courier New" pitchFamily="49" charset="0"/>
              </a:rPr>
              <a:t>   }</a:t>
            </a:r>
          </a:p>
          <a:p>
            <a:pPr>
              <a:spcBef>
                <a:spcPts val="600"/>
              </a:spcBef>
            </a:pPr>
            <a:r>
              <a:rPr lang="en-US" sz="1600" smtClean="0">
                <a:latin typeface="Courier New" pitchFamily="49" charset="0"/>
              </a:rPr>
              <a:t> } </a:t>
            </a:r>
            <a:endParaRPr lang="en-US" sz="1600">
              <a:latin typeface="Courier New" pitchFamily="49" charset="0"/>
            </a:endParaRPr>
          </a:p>
        </p:txBody>
      </p:sp>
      <p:sp>
        <p:nvSpPr>
          <p:cNvPr id="27" name="AutoShape 104"/>
          <p:cNvSpPr>
            <a:spLocks noChangeArrowheads="1"/>
          </p:cNvSpPr>
          <p:nvPr/>
        </p:nvSpPr>
        <p:spPr bwMode="auto">
          <a:xfrm>
            <a:off x="2057400" y="4572000"/>
            <a:ext cx="685800" cy="457200"/>
          </a:xfrm>
          <a:prstGeom prst="cube">
            <a:avLst>
              <a:gd name="adj" fmla="val 16319"/>
            </a:avLst>
          </a:prstGeom>
          <a:solidFill>
            <a:srgbClr val="C0C0C0"/>
          </a:solidFill>
          <a:ln w="12700">
            <a:solidFill>
              <a:schemeClr val="tx1"/>
            </a:solidFill>
            <a:miter lim="800000"/>
            <a:headEnd type="none" w="sm" len="sm"/>
            <a:tailEnd type="none" w="sm" len="sm"/>
          </a:ln>
        </p:spPr>
        <p:txBody>
          <a:bodyPr wrap="none" anchor="ctr"/>
          <a:lstStyle/>
          <a:p>
            <a:pPr algn="ctr"/>
            <a:r>
              <a:rPr lang="en-US" sz="1800" smtClean="0"/>
              <a:t>Task</a:t>
            </a:r>
            <a:endParaRPr lang="en-US" sz="1800" dirty="0"/>
          </a:p>
        </p:txBody>
      </p:sp>
      <p:sp>
        <p:nvSpPr>
          <p:cNvPr id="29" name="TextBox 28"/>
          <p:cNvSpPr txBox="1"/>
          <p:nvPr/>
        </p:nvSpPr>
        <p:spPr>
          <a:xfrm>
            <a:off x="7228367" y="5404891"/>
            <a:ext cx="1905843" cy="395173"/>
          </a:xfrm>
          <a:prstGeom prst="rect">
            <a:avLst/>
          </a:prstGeom>
          <a:noFill/>
        </p:spPr>
        <p:txBody>
          <a:bodyPr wrap="none" rtlCol="0" anchor="ctr" anchorCtr="0">
            <a:spAutoFit/>
          </a:bodyPr>
          <a:lstStyle/>
          <a:p>
            <a:r>
              <a:rPr lang="en-US" b="0" smtClean="0">
                <a:solidFill>
                  <a:schemeClr val="tx2"/>
                </a:solidFill>
                <a:effectLst/>
                <a:latin typeface="Calibri" pitchFamily="34" charset="0"/>
                <a:cs typeface="Calibri" pitchFamily="34" charset="0"/>
              </a:rPr>
              <a:t>ledToggleTask</a:t>
            </a:r>
            <a:endParaRPr lang="en-US" b="0" dirty="0" smtClean="0">
              <a:solidFill>
                <a:schemeClr val="tx2"/>
              </a:solidFill>
              <a:effectLst/>
              <a:latin typeface="Calibri" pitchFamily="34" charset="0"/>
              <a:cs typeface="Calibri" pitchFamily="34" charset="0"/>
            </a:endParaRPr>
          </a:p>
        </p:txBody>
      </p:sp>
      <p:cxnSp>
        <p:nvCxnSpPr>
          <p:cNvPr id="32" name="Straight Arrow Connector 31"/>
          <p:cNvCxnSpPr/>
          <p:nvPr/>
        </p:nvCxnSpPr>
        <p:spPr bwMode="auto">
          <a:xfrm>
            <a:off x="2858859" y="4790406"/>
            <a:ext cx="1141743" cy="0"/>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cxnSp>
        <p:nvCxnSpPr>
          <p:cNvPr id="33" name="Straight Arrow Connector 32"/>
          <p:cNvCxnSpPr/>
          <p:nvPr/>
        </p:nvCxnSpPr>
        <p:spPr bwMode="auto">
          <a:xfrm flipH="1">
            <a:off x="2858859" y="6182833"/>
            <a:ext cx="1141743" cy="0"/>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pic>
        <p:nvPicPr>
          <p:cNvPr id="102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7567" y="3914984"/>
            <a:ext cx="675769" cy="678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TextBox 24"/>
          <p:cNvSpPr txBox="1"/>
          <p:nvPr/>
        </p:nvSpPr>
        <p:spPr>
          <a:xfrm>
            <a:off x="145475" y="662765"/>
            <a:ext cx="3512125" cy="995657"/>
          </a:xfrm>
          <a:prstGeom prst="rect">
            <a:avLst/>
          </a:prstGeom>
          <a:solidFill>
            <a:schemeClr val="accent4">
              <a:lumMod val="20000"/>
              <a:lumOff val="80000"/>
            </a:schemeClr>
          </a:solidFill>
          <a:ln>
            <a:solidFill>
              <a:schemeClr val="tx1"/>
            </a:solidFill>
          </a:ln>
          <a:effectLst>
            <a:outerShdw blurRad="50800" dist="76200" dir="2700000" algn="tl" rotWithShape="0">
              <a:prstClr val="black">
                <a:alpha val="40000"/>
              </a:prstClr>
            </a:outerShdw>
          </a:effectLst>
        </p:spPr>
        <p:txBody>
          <a:bodyPr wrap="square" rtlCol="0" anchor="ctr" anchorCtr="0">
            <a:spAutoFit/>
          </a:bodyPr>
          <a:lstStyle/>
          <a:p>
            <a:pPr>
              <a:spcBef>
                <a:spcPts val="900"/>
              </a:spcBef>
            </a:pPr>
            <a:r>
              <a:rPr lang="en-US" u="sng" smtClean="0">
                <a:solidFill>
                  <a:srgbClr val="FF0000"/>
                </a:solidFill>
                <a:latin typeface="Calibri" pitchFamily="34" charset="0"/>
                <a:cs typeface="Calibri" pitchFamily="34" charset="0"/>
              </a:rPr>
              <a:t>Lab Goal:</a:t>
            </a:r>
          </a:p>
          <a:p>
            <a:pPr>
              <a:spcBef>
                <a:spcPts val="900"/>
              </a:spcBef>
            </a:pPr>
            <a:r>
              <a:rPr lang="en-US" sz="2000" b="0" smtClean="0">
                <a:solidFill>
                  <a:schemeClr val="dk1"/>
                </a:solidFill>
                <a:latin typeface="Calibri" pitchFamily="34" charset="0"/>
                <a:cs typeface="Calibri" pitchFamily="34" charset="0"/>
              </a:rPr>
              <a:t>The Hwi’s ISR will now post a SEMAPHORE to unblock a Task</a:t>
            </a:r>
            <a:endParaRPr lang="en-US" sz="2000" b="0" dirty="0" smtClean="0">
              <a:solidFill>
                <a:schemeClr val="dk1"/>
              </a:solidFill>
              <a:effectLst/>
              <a:latin typeface="Calibri" pitchFamily="34" charset="0"/>
              <a:cs typeface="Calibri" pitchFamily="34" charset="0"/>
            </a:endParaRPr>
          </a:p>
        </p:txBody>
      </p:sp>
      <p:cxnSp>
        <p:nvCxnSpPr>
          <p:cNvPr id="7" name="Straight Arrow Connector 6"/>
          <p:cNvCxnSpPr/>
          <p:nvPr/>
        </p:nvCxnSpPr>
        <p:spPr bwMode="auto">
          <a:xfrm>
            <a:off x="1503336" y="4222226"/>
            <a:ext cx="477864" cy="0"/>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spTree>
    <p:custDataLst>
      <p:tags r:id="rId1"/>
    </p:custDataLst>
    <p:extLst>
      <p:ext uri="{BB962C8B-B14F-4D97-AF65-F5344CB8AC3E}">
        <p14:creationId xmlns:p14="http://schemas.microsoft.com/office/powerpoint/2010/main" val="951897202"/>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ChangeArrowheads="1"/>
          </p:cNvSpPr>
          <p:nvPr/>
        </p:nvSpPr>
        <p:spPr bwMode="auto">
          <a:xfrm>
            <a:off x="0" y="0"/>
            <a:ext cx="9144000" cy="6858000"/>
          </a:xfrm>
          <a:prstGeom prst="rect">
            <a:avLst/>
          </a:prstGeom>
          <a:solidFill>
            <a:srgbClr val="FFFFFF">
              <a:alpha val="50000"/>
            </a:srgbClr>
          </a:solidFill>
          <a:ln w="12700">
            <a:solidFill>
              <a:schemeClr val="tx1"/>
            </a:solidFill>
            <a:miter lim="800000"/>
            <a:headEnd type="none" w="sm" len="sm"/>
            <a:tailEnd type="none" w="sm" len="sm"/>
          </a:ln>
          <a:effectLst/>
        </p:spPr>
        <p:txBody>
          <a:bodyPr wrap="none" anchor="ctr"/>
          <a:lstStyle/>
          <a:p>
            <a:pPr eaLnBrk="1" hangingPunct="1">
              <a:lnSpc>
                <a:spcPct val="100000"/>
              </a:lnSpc>
              <a:spcBef>
                <a:spcPct val="0"/>
              </a:spcBef>
              <a:defRPr/>
            </a:pPr>
            <a:endParaRPr lang="en-US">
              <a:solidFill>
                <a:srgbClr val="000000"/>
              </a:solidFill>
              <a:effectLst>
                <a:outerShdw blurRad="38100" dist="38100" dir="2700000" algn="tl">
                  <a:srgbClr val="000000">
                    <a:alpha val="43137"/>
                  </a:srgbClr>
                </a:outerShdw>
              </a:effectLst>
              <a:latin typeface="Arial" pitchFamily="34" charset="0"/>
            </a:endParaRPr>
          </a:p>
        </p:txBody>
      </p:sp>
      <p:pic>
        <p:nvPicPr>
          <p:cNvPr id="5" name="Picture 2" descr="ti_stk_2c_pos_rgb_jpg"/>
          <p:cNvPicPr>
            <a:picLocks noChangeAspect="1" noChangeArrowheads="1"/>
          </p:cNvPicPr>
          <p:nvPr/>
        </p:nvPicPr>
        <p:blipFill>
          <a:blip r:embed="rId4" cstate="print"/>
          <a:srcRect/>
          <a:stretch>
            <a:fillRect/>
          </a:stretch>
        </p:blipFill>
        <p:spPr bwMode="auto">
          <a:xfrm>
            <a:off x="159325" y="1752600"/>
            <a:ext cx="8839200" cy="3101975"/>
          </a:xfrm>
          <a:prstGeom prst="rect">
            <a:avLst/>
          </a:prstGeom>
          <a:noFill/>
          <a:ln w="9525">
            <a:noFill/>
            <a:miter lim="800000"/>
            <a:headEnd/>
            <a:tailEnd/>
          </a:ln>
        </p:spPr>
      </p:pic>
      <p:pic>
        <p:nvPicPr>
          <p:cNvPr id="6" name="Animated Logo" descr="tilogo_color_twoline.png"/>
          <p:cNvPicPr>
            <a:picLocks noChangeAspect="1"/>
          </p:cNvPicPr>
          <p:nvPr/>
        </p:nvPicPr>
        <p:blipFill>
          <a:blip r:embed="rId5" cstate="print"/>
          <a:stretch>
            <a:fillRect/>
          </a:stretch>
        </p:blipFill>
        <p:spPr>
          <a:xfrm>
            <a:off x="50800" y="6477000"/>
            <a:ext cx="1438537" cy="347443"/>
          </a:xfrm>
          <a:prstGeom prst="rect">
            <a:avLst/>
          </a:prstGeom>
        </p:spPr>
      </p:pic>
    </p:spTree>
    <p:custDataLst>
      <p:tags r:id="rId1"/>
    </p:custDataLst>
    <p:extLst>
      <p:ext uri="{BB962C8B-B14F-4D97-AF65-F5344CB8AC3E}">
        <p14:creationId xmlns:p14="http://schemas.microsoft.com/office/powerpoint/2010/main" val="1180148710"/>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685800"/>
            <a:ext cx="5562600" cy="5638800"/>
          </a:xfrm>
          <a:prstGeom prst="rect">
            <a:avLst/>
          </a:prstGeom>
          <a:solidFill>
            <a:srgbClr val="92D050"/>
          </a:solidFill>
          <a:ln w="19050">
            <a:solidFill>
              <a:schemeClr val="tx1"/>
            </a:solidFill>
            <a:miter lim="800000"/>
            <a:headEnd type="none" w="sm" len="sm"/>
            <a:tailEnd type="none" w="sm" len="sm"/>
          </a:ln>
          <a:effectLst>
            <a:outerShdw blurRad="50800" dist="101600" dir="2700000" algn="tl" rotWithShape="0">
              <a:prstClr val="black">
                <a:alpha val="40000"/>
              </a:prstClr>
            </a:outerShdw>
          </a:effectLst>
        </p:spPr>
        <p:txBody>
          <a:bodyPr wrap="none" tIns="36576" bIns="36576"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41988" name="Text Box 3"/>
          <p:cNvSpPr txBox="1">
            <a:spLocks noChangeArrowheads="1"/>
          </p:cNvSpPr>
          <p:nvPr>
            <p:custDataLst>
              <p:tags r:id="rId2"/>
            </p:custDataLst>
          </p:nvPr>
        </p:nvSpPr>
        <p:spPr bwMode="auto">
          <a:xfrm>
            <a:off x="304800" y="785035"/>
            <a:ext cx="5562600" cy="4616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dirty="0" err="1">
                <a:solidFill>
                  <a:srgbClr val="000000"/>
                </a:solidFill>
              </a:rPr>
              <a:t>MainHighlight</a:t>
            </a:r>
            <a:endParaRPr lang="en-US" sz="2800" dirty="0">
              <a:solidFill>
                <a:srgbClr val="000000"/>
              </a:solidFill>
            </a:endParaRPr>
          </a:p>
        </p:txBody>
      </p:sp>
      <p:sp>
        <p:nvSpPr>
          <p:cNvPr id="41989" name="Text Box 4"/>
          <p:cNvSpPr txBox="1">
            <a:spLocks noChangeArrowheads="1"/>
          </p:cNvSpPr>
          <p:nvPr>
            <p:custDataLst>
              <p:tags r:id="rId3"/>
            </p:custDataLst>
          </p:nvPr>
        </p:nvSpPr>
        <p:spPr bwMode="auto">
          <a:xfrm>
            <a:off x="301576" y="1242098"/>
            <a:ext cx="5543550" cy="461665"/>
          </a:xfrm>
          <a:prstGeom prst="rect">
            <a:avLst/>
          </a:prstGeom>
          <a:noFill/>
          <a:ln w="12700">
            <a:noFill/>
            <a:miter lim="800000"/>
            <a:headEnd type="none" w="sm" len="sm"/>
            <a:tailEnd type="none" w="sm" len="sm"/>
          </a:ln>
        </p:spPr>
        <p:txBody>
          <a:bodyPr tIns="36576" bIns="36576">
            <a:spAutoFit/>
          </a:bodyPr>
          <a:lstStyle/>
          <a:p>
            <a:pPr marL="342900" indent="-342900">
              <a:lnSpc>
                <a:spcPct val="90000"/>
              </a:lnSpc>
              <a:spcBef>
                <a:spcPct val="0"/>
              </a:spcBef>
              <a:buClr>
                <a:srgbClr val="0066FF"/>
              </a:buClr>
              <a:buSzPct val="75000"/>
              <a:buFont typeface="Wingdings" pitchFamily="2" charset="2"/>
              <a:buChar char=""/>
            </a:pPr>
            <a:r>
              <a:rPr lang="en-US" sz="2800" dirty="0" err="1">
                <a:solidFill>
                  <a:srgbClr val="000000"/>
                </a:solidFill>
              </a:rPr>
              <a:t>MainNormal</a:t>
            </a:r>
            <a:endParaRPr lang="en-US" sz="2800" dirty="0">
              <a:solidFill>
                <a:srgbClr val="000000"/>
              </a:solidFill>
            </a:endParaRPr>
          </a:p>
        </p:txBody>
      </p:sp>
      <p:sp>
        <p:nvSpPr>
          <p:cNvPr id="41990" name="Text Box 5"/>
          <p:cNvSpPr txBox="1">
            <a:spLocks noChangeArrowheads="1"/>
          </p:cNvSpPr>
          <p:nvPr>
            <p:custDataLst>
              <p:tags r:id="rId4"/>
            </p:custDataLst>
          </p:nvPr>
        </p:nvSpPr>
        <p:spPr bwMode="auto">
          <a:xfrm>
            <a:off x="809625" y="1697230"/>
            <a:ext cx="4600575" cy="4062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dirty="0" err="1">
                <a:solidFill>
                  <a:srgbClr val="000000"/>
                </a:solidFill>
              </a:rPr>
              <a:t>SubHighlight</a:t>
            </a:r>
            <a:endParaRPr lang="en-US" dirty="0">
              <a:solidFill>
                <a:srgbClr val="000000"/>
              </a:solidFill>
            </a:endParaRPr>
          </a:p>
        </p:txBody>
      </p:sp>
      <p:sp>
        <p:nvSpPr>
          <p:cNvPr id="41991" name="Text Box 6"/>
          <p:cNvSpPr txBox="1">
            <a:spLocks noChangeArrowheads="1"/>
          </p:cNvSpPr>
          <p:nvPr>
            <p:custDataLst>
              <p:tags r:id="rId5"/>
            </p:custDataLst>
          </p:nvPr>
        </p:nvSpPr>
        <p:spPr bwMode="auto">
          <a:xfrm>
            <a:off x="805502" y="2116970"/>
            <a:ext cx="4667250" cy="366712"/>
          </a:xfrm>
          <a:prstGeom prst="rect">
            <a:avLst/>
          </a:prstGeom>
          <a:noFill/>
          <a:ln w="12700">
            <a:noFill/>
            <a:miter lim="800000"/>
            <a:headEnd type="none" w="sm" len="sm"/>
            <a:tailEnd type="none" w="sm" len="sm"/>
          </a:ln>
        </p:spPr>
        <p:txBody>
          <a:bodyPr tIns="18288" bIns="18288">
            <a:spAutoFit/>
          </a:bodyPr>
          <a:lstStyle/>
          <a:p>
            <a:pPr marL="342900" indent="-342900">
              <a:lnSpc>
                <a:spcPct val="90000"/>
              </a:lnSpc>
              <a:spcBef>
                <a:spcPct val="0"/>
              </a:spcBef>
              <a:buClr>
                <a:srgbClr val="0066FF"/>
              </a:buClr>
              <a:buSzPct val="75000"/>
              <a:buFont typeface="Wingdings" pitchFamily="2" charset="2"/>
              <a:buChar char=""/>
            </a:pPr>
            <a:r>
              <a:rPr lang="en-US" dirty="0" err="1">
                <a:solidFill>
                  <a:srgbClr val="000000"/>
                </a:solidFill>
              </a:rPr>
              <a:t>SubNormal</a:t>
            </a:r>
            <a:endParaRPr lang="en-US" dirty="0">
              <a:solidFill>
                <a:srgbClr val="000000"/>
              </a:solidFill>
            </a:endParaRPr>
          </a:p>
        </p:txBody>
      </p:sp>
      <p:pic>
        <p:nvPicPr>
          <p:cNvPr id="72706" name="Picture 2" descr="C:\Documents and Settings\a0159877\Desktop\250px-Operating_system_placement.svg.png"/>
          <p:cNvPicPr>
            <a:picLocks noChangeAspect="1" noChangeArrowheads="1"/>
          </p:cNvPicPr>
          <p:nvPr/>
        </p:nvPicPr>
        <p:blipFill>
          <a:blip r:embed="rId7" cstate="print"/>
          <a:srcRect/>
          <a:stretch>
            <a:fillRect/>
          </a:stretch>
        </p:blipFill>
        <p:spPr bwMode="auto">
          <a:xfrm>
            <a:off x="6160824" y="1153041"/>
            <a:ext cx="2819400" cy="4172713"/>
          </a:xfrm>
          <a:prstGeom prst="rect">
            <a:avLst/>
          </a:prstGeom>
          <a:noFill/>
        </p:spPr>
      </p:pic>
      <p:pic>
        <p:nvPicPr>
          <p:cNvPr id="9" name="Animated Logo" descr="tilogo_color_twoline.png"/>
          <p:cNvPicPr>
            <a:picLocks noChangeAspect="1"/>
          </p:cNvPicPr>
          <p:nvPr/>
        </p:nvPicPr>
        <p:blipFill>
          <a:blip r:embed="rId8" cstate="print"/>
          <a:stretch>
            <a:fillRect/>
          </a:stretch>
        </p:blipFill>
        <p:spPr>
          <a:xfrm>
            <a:off x="50800" y="6477000"/>
            <a:ext cx="1438537" cy="347443"/>
          </a:xfrm>
          <a:prstGeom prst="rect">
            <a:avLst/>
          </a:prstGeom>
        </p:spPr>
      </p:pic>
    </p:spTree>
    <p:custDataLst>
      <p:tags r:id="rId1"/>
    </p:custData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COLORSCHEMEINDEX" val="4"/>
</p:tagLst>
</file>

<file path=ppt/tags/tag2.xml><?xml version="1.0" encoding="utf-8"?>
<p:tagLst xmlns:a="http://schemas.openxmlformats.org/drawingml/2006/main" xmlns:r="http://schemas.openxmlformats.org/officeDocument/2006/relationships" xmlns:p="http://schemas.openxmlformats.org/presentationml/2006/main">
  <p:tag name="NO LOGOS" val="true"/>
</p:tagLst>
</file>

<file path=ppt/tags/tag3.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4.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5.xml><?xml version="1.0" encoding="utf-8"?>
<p:tagLst xmlns:a="http://schemas.openxmlformats.org/drawingml/2006/main" xmlns:r="http://schemas.openxmlformats.org/officeDocument/2006/relationships" xmlns:p="http://schemas.openxmlformats.org/presentationml/2006/main">
  <p:tag name="MILELISTITEM" val=""/>
</p:tagLst>
</file>

<file path=ppt/tags/tag6.xml><?xml version="1.0" encoding="utf-8"?>
<p:tagLst xmlns:a="http://schemas.openxmlformats.org/drawingml/2006/main" xmlns:r="http://schemas.openxmlformats.org/officeDocument/2006/relationships" xmlns:p="http://schemas.openxmlformats.org/presentationml/2006/main">
  <p:tag name="MILELISTITEM" val=""/>
</p:tagLst>
</file>

<file path=ppt/tags/tag7.xml><?xml version="1.0" encoding="utf-8"?>
<p:tagLst xmlns:a="http://schemas.openxmlformats.org/drawingml/2006/main" xmlns:r="http://schemas.openxmlformats.org/officeDocument/2006/relationships" xmlns:p="http://schemas.openxmlformats.org/presentationml/2006/main">
  <p:tag name="MILELISTITEM" val=""/>
</p:tagLst>
</file>

<file path=ppt/tags/tag8.xml><?xml version="1.0" encoding="utf-8"?>
<p:tagLst xmlns:a="http://schemas.openxmlformats.org/drawingml/2006/main" xmlns:r="http://schemas.openxmlformats.org/officeDocument/2006/relationships" xmlns:p="http://schemas.openxmlformats.org/presentationml/2006/main">
  <p:tag name="MILELISTITEM" val=""/>
</p:tagLst>
</file>

<file path=ppt/tags/tag9.xml><?xml version="1.0" encoding="utf-8"?>
<p:tagLst xmlns:a="http://schemas.openxmlformats.org/drawingml/2006/main" xmlns:r="http://schemas.openxmlformats.org/officeDocument/2006/relationships" xmlns:p="http://schemas.openxmlformats.org/presentationml/2006/main">
  <p:tag name="MILELISTITEM" val=""/>
</p:tagLst>
</file>

<file path=ppt/tags/tag10.xml><?xml version="1.0" encoding="utf-8"?>
<p:tagLst xmlns:a="http://schemas.openxmlformats.org/drawingml/2006/main" xmlns:r="http://schemas.openxmlformats.org/officeDocument/2006/relationships" xmlns:p="http://schemas.openxmlformats.org/presentationml/2006/main">
  <p:tag name="MILELISTITEM" val=""/>
</p:tagLst>
</file>

<file path=ppt/tags/tag11.xml><?xml version="1.0" encoding="utf-8"?>
<p:tagLst xmlns:a="http://schemas.openxmlformats.org/drawingml/2006/main" xmlns:r="http://schemas.openxmlformats.org/officeDocument/2006/relationships" xmlns:p="http://schemas.openxmlformats.org/presentationml/2006/main">
  <p:tag name="MILELISTITEM" val=""/>
</p:tagLst>
</file>

<file path=ppt/tags/tag12.xml><?xml version="1.0" encoding="utf-8"?>
<p:tagLst xmlns:a="http://schemas.openxmlformats.org/drawingml/2006/main" xmlns:r="http://schemas.openxmlformats.org/officeDocument/2006/relationships" xmlns:p="http://schemas.openxmlformats.org/presentationml/2006/main">
  <p:tag name="MILELISTITEM" val=""/>
</p:tagLst>
</file>

<file path=ppt/tags/tag13.xml><?xml version="1.0" encoding="utf-8"?>
<p:tagLst xmlns:a="http://schemas.openxmlformats.org/drawingml/2006/main" xmlns:r="http://schemas.openxmlformats.org/officeDocument/2006/relationships" xmlns:p="http://schemas.openxmlformats.org/presentationml/2006/main">
  <p:tag name="MILELISTITEM" val=""/>
</p:tagLst>
</file>

<file path=ppt/tags/tag14.xml><?xml version="1.0" encoding="utf-8"?>
<p:tagLst xmlns:a="http://schemas.openxmlformats.org/drawingml/2006/main" xmlns:r="http://schemas.openxmlformats.org/officeDocument/2006/relationships" xmlns:p="http://schemas.openxmlformats.org/presentationml/2006/main">
  <p:tag name="MILELISTITEM" val=""/>
</p:tagLst>
</file>

<file path=ppt/tags/tag15.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2"/>
</p:tagLst>
</file>

<file path=ppt/tags/tag16.xml><?xml version="1.0" encoding="utf-8"?>
<p:tagLst xmlns:a="http://schemas.openxmlformats.org/drawingml/2006/main" xmlns:r="http://schemas.openxmlformats.org/officeDocument/2006/relationships" xmlns:p="http://schemas.openxmlformats.org/presentationml/2006/main">
  <p:tag name="MILELISTITEM" val=""/>
</p:tagLst>
</file>

<file path=ppt/tags/tag17.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18.xml><?xml version="1.0" encoding="utf-8"?>
<p:tagLst xmlns:a="http://schemas.openxmlformats.org/drawingml/2006/main" xmlns:r="http://schemas.openxmlformats.org/officeDocument/2006/relationships" xmlns:p="http://schemas.openxmlformats.org/presentationml/2006/main">
  <p:tag name="MILELISTITEM" val=""/>
</p:tagLst>
</file>

<file path=ppt/tags/tag19.xml><?xml version="1.0" encoding="utf-8"?>
<p:tagLst xmlns:a="http://schemas.openxmlformats.org/drawingml/2006/main" xmlns:r="http://schemas.openxmlformats.org/officeDocument/2006/relationships" xmlns:p="http://schemas.openxmlformats.org/presentationml/2006/main">
  <p:tag name="MILELISTITEM" val=""/>
</p:tagLst>
</file>

<file path=ppt/tags/tag20.xml><?xml version="1.0" encoding="utf-8"?>
<p:tagLst xmlns:a="http://schemas.openxmlformats.org/drawingml/2006/main" xmlns:r="http://schemas.openxmlformats.org/officeDocument/2006/relationships" xmlns:p="http://schemas.openxmlformats.org/presentationml/2006/main">
  <p:tag name="MILELISTITEM" val=""/>
</p:tagLst>
</file>

<file path=ppt/tags/tag21.xml><?xml version="1.0" encoding="utf-8"?>
<p:tagLst xmlns:a="http://schemas.openxmlformats.org/drawingml/2006/main" xmlns:r="http://schemas.openxmlformats.org/officeDocument/2006/relationships" xmlns:p="http://schemas.openxmlformats.org/presentationml/2006/main">
  <p:tag name="MILELISTITEM" val=""/>
</p:tagLst>
</file>

<file path=ppt/tags/tag22.xml><?xml version="1.0" encoding="utf-8"?>
<p:tagLst xmlns:a="http://schemas.openxmlformats.org/drawingml/2006/main" xmlns:r="http://schemas.openxmlformats.org/officeDocument/2006/relationships" xmlns:p="http://schemas.openxmlformats.org/presentationml/2006/main">
  <p:tag name="MILELISTITEM" val=""/>
</p:tagLst>
</file>

<file path=ppt/tags/tag23.xml><?xml version="1.0" encoding="utf-8"?>
<p:tagLst xmlns:a="http://schemas.openxmlformats.org/drawingml/2006/main" xmlns:r="http://schemas.openxmlformats.org/officeDocument/2006/relationships" xmlns:p="http://schemas.openxmlformats.org/presentationml/2006/main">
  <p:tag name="MILELISTITEM" val=""/>
</p:tagLst>
</file>

<file path=ppt/tags/tag24.xml><?xml version="1.0" encoding="utf-8"?>
<p:tagLst xmlns:a="http://schemas.openxmlformats.org/drawingml/2006/main" xmlns:r="http://schemas.openxmlformats.org/officeDocument/2006/relationships" xmlns:p="http://schemas.openxmlformats.org/presentationml/2006/main">
  <p:tag name="MILELISTITEM" val=""/>
</p:tagLst>
</file>

<file path=ppt/tags/tag25.xml><?xml version="1.0" encoding="utf-8"?>
<p:tagLst xmlns:a="http://schemas.openxmlformats.org/drawingml/2006/main" xmlns:r="http://schemas.openxmlformats.org/officeDocument/2006/relationships" xmlns:p="http://schemas.openxmlformats.org/presentationml/2006/main">
  <p:tag name="MILELISTITEM" val=""/>
</p:tagLst>
</file>

<file path=ppt/tags/tag26.xml><?xml version="1.0" encoding="utf-8"?>
<p:tagLst xmlns:a="http://schemas.openxmlformats.org/drawingml/2006/main" xmlns:r="http://schemas.openxmlformats.org/officeDocument/2006/relationships" xmlns:p="http://schemas.openxmlformats.org/presentationml/2006/main">
  <p:tag name="MILELISTITEM" val=""/>
</p:tagLst>
</file>

<file path=ppt/tags/tag27.xml><?xml version="1.0" encoding="utf-8"?>
<p:tagLst xmlns:a="http://schemas.openxmlformats.org/drawingml/2006/main" xmlns:r="http://schemas.openxmlformats.org/officeDocument/2006/relationships" xmlns:p="http://schemas.openxmlformats.org/presentationml/2006/main">
  <p:tag name="COLORSCHEMEINDEX" val="4"/>
</p:tagLst>
</file>

<file path=ppt/tags/tag28.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2"/>
</p:tagLst>
</file>

<file path=ppt/tags/tag29.xml><?xml version="1.0" encoding="utf-8"?>
<p:tagLst xmlns:a="http://schemas.openxmlformats.org/drawingml/2006/main" xmlns:r="http://schemas.openxmlformats.org/officeDocument/2006/relationships" xmlns:p="http://schemas.openxmlformats.org/presentationml/2006/main">
  <p:tag name="MILELISTITEM" val=""/>
</p:tagLst>
</file>

<file path=ppt/tags/tag30.xml><?xml version="1.0" encoding="utf-8"?>
<p:tagLst xmlns:a="http://schemas.openxmlformats.org/drawingml/2006/main" xmlns:r="http://schemas.openxmlformats.org/officeDocument/2006/relationships" xmlns:p="http://schemas.openxmlformats.org/presentationml/2006/main">
  <p:tag name="MILELISTITEM" val=""/>
</p:tagLst>
</file>

<file path=ppt/tags/tag31.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32.xml><?xml version="1.0" encoding="utf-8"?>
<p:tagLst xmlns:a="http://schemas.openxmlformats.org/drawingml/2006/main" xmlns:r="http://schemas.openxmlformats.org/officeDocument/2006/relationships" xmlns:p="http://schemas.openxmlformats.org/presentationml/2006/main">
  <p:tag name="MILELISTITEM" val=""/>
</p:tagLst>
</file>

<file path=ppt/tags/tag33.xml><?xml version="1.0" encoding="utf-8"?>
<p:tagLst xmlns:a="http://schemas.openxmlformats.org/drawingml/2006/main" xmlns:r="http://schemas.openxmlformats.org/officeDocument/2006/relationships" xmlns:p="http://schemas.openxmlformats.org/presentationml/2006/main">
  <p:tag name="MILELISTITEM" val=""/>
</p:tagLst>
</file>

<file path=ppt/tags/tag34.xml><?xml version="1.0" encoding="utf-8"?>
<p:tagLst xmlns:a="http://schemas.openxmlformats.org/drawingml/2006/main" xmlns:r="http://schemas.openxmlformats.org/officeDocument/2006/relationships" xmlns:p="http://schemas.openxmlformats.org/presentationml/2006/main">
  <p:tag name="MILELISTITEM" val=""/>
</p:tagLst>
</file>

<file path=ppt/tags/tag35.xml><?xml version="1.0" encoding="utf-8"?>
<p:tagLst xmlns:a="http://schemas.openxmlformats.org/drawingml/2006/main" xmlns:r="http://schemas.openxmlformats.org/officeDocument/2006/relationships" xmlns:p="http://schemas.openxmlformats.org/presentationml/2006/main">
  <p:tag name="MILELISTITEM" val=""/>
</p:tagLst>
</file>

<file path=ppt/tags/tag36.xml><?xml version="1.0" encoding="utf-8"?>
<p:tagLst xmlns:a="http://schemas.openxmlformats.org/drawingml/2006/main" xmlns:r="http://schemas.openxmlformats.org/officeDocument/2006/relationships" xmlns:p="http://schemas.openxmlformats.org/presentationml/2006/main">
  <p:tag name="MILELISTITEM" val=""/>
</p:tagLst>
</file>

<file path=ppt/tags/tag37.xml><?xml version="1.0" encoding="utf-8"?>
<p:tagLst xmlns:a="http://schemas.openxmlformats.org/drawingml/2006/main" xmlns:r="http://schemas.openxmlformats.org/officeDocument/2006/relationships" xmlns:p="http://schemas.openxmlformats.org/presentationml/2006/main">
  <p:tag name="MILELISTITEM" val=""/>
</p:tagLst>
</file>

<file path=ppt/tags/tag38.xml><?xml version="1.0" encoding="utf-8"?>
<p:tagLst xmlns:a="http://schemas.openxmlformats.org/drawingml/2006/main" xmlns:r="http://schemas.openxmlformats.org/officeDocument/2006/relationships" xmlns:p="http://schemas.openxmlformats.org/presentationml/2006/main">
  <p:tag name="MILELISTITEM" val=""/>
</p:tagLst>
</file>

<file path=ppt/tags/tag39.xml><?xml version="1.0" encoding="utf-8"?>
<p:tagLst xmlns:a="http://schemas.openxmlformats.org/drawingml/2006/main" xmlns:r="http://schemas.openxmlformats.org/officeDocument/2006/relationships" xmlns:p="http://schemas.openxmlformats.org/presentationml/2006/main">
  <p:tag name="MILELISTITEM" val=""/>
</p:tagLst>
</file>

<file path=ppt/tags/tag40.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2"/>
</p:tagLst>
</file>

<file path=ppt/tags/tag41.xml><?xml version="1.0" encoding="utf-8"?>
<p:tagLst xmlns:a="http://schemas.openxmlformats.org/drawingml/2006/main" xmlns:r="http://schemas.openxmlformats.org/officeDocument/2006/relationships" xmlns:p="http://schemas.openxmlformats.org/presentationml/2006/main">
  <p:tag name="MILELISTITEM" val=""/>
</p:tagLst>
</file>

<file path=ppt/tags/tag42.xml><?xml version="1.0" encoding="utf-8"?>
<p:tagLst xmlns:a="http://schemas.openxmlformats.org/drawingml/2006/main" xmlns:r="http://schemas.openxmlformats.org/officeDocument/2006/relationships" xmlns:p="http://schemas.openxmlformats.org/presentationml/2006/main">
  <p:tag name="MILELISTITEM" val=""/>
</p:tagLst>
</file>

<file path=ppt/tags/tag43.xml><?xml version="1.0" encoding="utf-8"?>
<p:tagLst xmlns:a="http://schemas.openxmlformats.org/drawingml/2006/main" xmlns:r="http://schemas.openxmlformats.org/officeDocument/2006/relationships" xmlns:p="http://schemas.openxmlformats.org/presentationml/2006/main">
  <p:tag name="MILELISTITEM" val=""/>
</p:tagLst>
</file>

<file path=ppt/tags/tag44.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45.xml><?xml version="1.0" encoding="utf-8"?>
<p:tagLst xmlns:a="http://schemas.openxmlformats.org/drawingml/2006/main" xmlns:r="http://schemas.openxmlformats.org/officeDocument/2006/relationships" xmlns:p="http://schemas.openxmlformats.org/presentationml/2006/main">
  <p:tag name="MILELISTITEM" val=""/>
</p:tagLst>
</file>

<file path=ppt/tags/tag46.xml><?xml version="1.0" encoding="utf-8"?>
<p:tagLst xmlns:a="http://schemas.openxmlformats.org/drawingml/2006/main" xmlns:r="http://schemas.openxmlformats.org/officeDocument/2006/relationships" xmlns:p="http://schemas.openxmlformats.org/presentationml/2006/main">
  <p:tag name="MILELISTITEM" val=""/>
</p:tagLst>
</file>

<file path=ppt/tags/tag47.xml><?xml version="1.0" encoding="utf-8"?>
<p:tagLst xmlns:a="http://schemas.openxmlformats.org/drawingml/2006/main" xmlns:r="http://schemas.openxmlformats.org/officeDocument/2006/relationships" xmlns:p="http://schemas.openxmlformats.org/presentationml/2006/main">
  <p:tag name="MILELISTITEM" val=""/>
</p:tagLst>
</file>

<file path=ppt/tags/tag48.xml><?xml version="1.0" encoding="utf-8"?>
<p:tagLst xmlns:a="http://schemas.openxmlformats.org/drawingml/2006/main" xmlns:r="http://schemas.openxmlformats.org/officeDocument/2006/relationships" xmlns:p="http://schemas.openxmlformats.org/presentationml/2006/main">
  <p:tag name="MILELISTITEM" val=""/>
</p:tagLst>
</file>

<file path=ppt/tags/tag49.xml><?xml version="1.0" encoding="utf-8"?>
<p:tagLst xmlns:a="http://schemas.openxmlformats.org/drawingml/2006/main" xmlns:r="http://schemas.openxmlformats.org/officeDocument/2006/relationships" xmlns:p="http://schemas.openxmlformats.org/presentationml/2006/main">
  <p:tag name="MILELISTITEM" val=""/>
</p:tagLst>
</file>

<file path=ppt/tags/tag50.xml><?xml version="1.0" encoding="utf-8"?>
<p:tagLst xmlns:a="http://schemas.openxmlformats.org/drawingml/2006/main" xmlns:r="http://schemas.openxmlformats.org/officeDocument/2006/relationships" xmlns:p="http://schemas.openxmlformats.org/presentationml/2006/main">
  <p:tag name="MILELISTITEM" val=""/>
</p:tagLst>
</file>

<file path=ppt/tags/tag51.xml><?xml version="1.0" encoding="utf-8"?>
<p:tagLst xmlns:a="http://schemas.openxmlformats.org/drawingml/2006/main" xmlns:r="http://schemas.openxmlformats.org/officeDocument/2006/relationships" xmlns:p="http://schemas.openxmlformats.org/presentationml/2006/main">
  <p:tag name="MILELISTITEM" val=""/>
</p:tagLst>
</file>

<file path=ppt/tags/tag52.xml><?xml version="1.0" encoding="utf-8"?>
<p:tagLst xmlns:a="http://schemas.openxmlformats.org/drawingml/2006/main" xmlns:r="http://schemas.openxmlformats.org/officeDocument/2006/relationships" xmlns:p="http://schemas.openxmlformats.org/presentationml/2006/main">
  <p:tag name="COLORSCHEMEINDEX" val="4"/>
</p:tagLst>
</file>

<file path=ppt/tags/tag53.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54.xml><?xml version="1.0" encoding="utf-8"?>
<p:tagLst xmlns:a="http://schemas.openxmlformats.org/drawingml/2006/main" xmlns:r="http://schemas.openxmlformats.org/officeDocument/2006/relationships" xmlns:p="http://schemas.openxmlformats.org/presentationml/2006/main">
  <p:tag name="MILELISTITEM" val=""/>
</p:tagLst>
</file>

<file path=ppt/tags/tag55.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56.xml><?xml version="1.0" encoding="utf-8"?>
<p:tagLst xmlns:a="http://schemas.openxmlformats.org/drawingml/2006/main" xmlns:r="http://schemas.openxmlformats.org/officeDocument/2006/relationships" xmlns:p="http://schemas.openxmlformats.org/presentationml/2006/main">
  <p:tag name="MILELISTITEM" val=""/>
</p:tagLst>
</file>

<file path=ppt/tags/tag57.xml><?xml version="1.0" encoding="utf-8"?>
<p:tagLst xmlns:a="http://schemas.openxmlformats.org/drawingml/2006/main" xmlns:r="http://schemas.openxmlformats.org/officeDocument/2006/relationships" xmlns:p="http://schemas.openxmlformats.org/presentationml/2006/main">
  <p:tag name="MILELISTITEM" val=""/>
</p:tagLst>
</file>

<file path=ppt/tags/tag58.xml><?xml version="1.0" encoding="utf-8"?>
<p:tagLst xmlns:a="http://schemas.openxmlformats.org/drawingml/2006/main" xmlns:r="http://schemas.openxmlformats.org/officeDocument/2006/relationships" xmlns:p="http://schemas.openxmlformats.org/presentationml/2006/main">
  <p:tag name="MILELISTITEM" val=""/>
</p:tagLst>
</file>

<file path=ppt/tags/tag59.xml><?xml version="1.0" encoding="utf-8"?>
<p:tagLst xmlns:a="http://schemas.openxmlformats.org/drawingml/2006/main" xmlns:r="http://schemas.openxmlformats.org/officeDocument/2006/relationships" xmlns:p="http://schemas.openxmlformats.org/presentationml/2006/main">
  <p:tag name="MILELISTITEM" val=""/>
</p:tagLst>
</file>

<file path=ppt/tags/tag60.xml><?xml version="1.0" encoding="utf-8"?>
<p:tagLst xmlns:a="http://schemas.openxmlformats.org/drawingml/2006/main" xmlns:r="http://schemas.openxmlformats.org/officeDocument/2006/relationships" xmlns:p="http://schemas.openxmlformats.org/presentationml/2006/main">
  <p:tag name="MILELISTITEM" val=""/>
</p:tagLst>
</file>

<file path=ppt/tags/tag61.xml><?xml version="1.0" encoding="utf-8"?>
<p:tagLst xmlns:a="http://schemas.openxmlformats.org/drawingml/2006/main" xmlns:r="http://schemas.openxmlformats.org/officeDocument/2006/relationships" xmlns:p="http://schemas.openxmlformats.org/presentationml/2006/main">
  <p:tag name="MILELISTITEM" val=""/>
</p:tagLst>
</file>

<file path=ppt/tags/tag62.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63.xml><?xml version="1.0" encoding="utf-8"?>
<p:tagLst xmlns:a="http://schemas.openxmlformats.org/drawingml/2006/main" xmlns:r="http://schemas.openxmlformats.org/officeDocument/2006/relationships" xmlns:p="http://schemas.openxmlformats.org/presentationml/2006/main">
  <p:tag name="MILELISTITEM" val=""/>
</p:tagLst>
</file>

<file path=ppt/tags/tag64.xml><?xml version="1.0" encoding="utf-8"?>
<p:tagLst xmlns:a="http://schemas.openxmlformats.org/drawingml/2006/main" xmlns:r="http://schemas.openxmlformats.org/officeDocument/2006/relationships" xmlns:p="http://schemas.openxmlformats.org/presentationml/2006/main">
  <p:tag name="MILELISTITEM" val=""/>
</p:tagLst>
</file>

<file path=ppt/tags/tag65.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66.xml><?xml version="1.0" encoding="utf-8"?>
<p:tagLst xmlns:a="http://schemas.openxmlformats.org/drawingml/2006/main" xmlns:r="http://schemas.openxmlformats.org/officeDocument/2006/relationships" xmlns:p="http://schemas.openxmlformats.org/presentationml/2006/main">
  <p:tag name="MILELISTITEM" val=""/>
</p:tagLst>
</file>

<file path=ppt/tags/tag67.xml><?xml version="1.0" encoding="utf-8"?>
<p:tagLst xmlns:a="http://schemas.openxmlformats.org/drawingml/2006/main" xmlns:r="http://schemas.openxmlformats.org/officeDocument/2006/relationships" xmlns:p="http://schemas.openxmlformats.org/presentationml/2006/main">
  <p:tag name="MILELISTITEM" val=""/>
</p:tagLst>
</file>

<file path=ppt/tags/tag68.xml><?xml version="1.0" encoding="utf-8"?>
<p:tagLst xmlns:a="http://schemas.openxmlformats.org/drawingml/2006/main" xmlns:r="http://schemas.openxmlformats.org/officeDocument/2006/relationships" xmlns:p="http://schemas.openxmlformats.org/presentationml/2006/main">
  <p:tag name="MILELISTITEM" val=""/>
</p:tagLst>
</file>

<file path=ppt/tags/tag69.xml><?xml version="1.0" encoding="utf-8"?>
<p:tagLst xmlns:a="http://schemas.openxmlformats.org/drawingml/2006/main" xmlns:r="http://schemas.openxmlformats.org/officeDocument/2006/relationships" xmlns:p="http://schemas.openxmlformats.org/presentationml/2006/main">
  <p:tag name="MILELISTITEM" val=""/>
</p:tagLst>
</file>

<file path=ppt/tags/tag70.xml><?xml version="1.0" encoding="utf-8"?>
<p:tagLst xmlns:a="http://schemas.openxmlformats.org/drawingml/2006/main" xmlns:r="http://schemas.openxmlformats.org/officeDocument/2006/relationships" xmlns:p="http://schemas.openxmlformats.org/presentationml/2006/main">
  <p:tag name="MILELISTITEM" val=""/>
</p:tagLst>
</file>

<file path=ppt/tags/tag71.xml><?xml version="1.0" encoding="utf-8"?>
<p:tagLst xmlns:a="http://schemas.openxmlformats.org/drawingml/2006/main" xmlns:r="http://schemas.openxmlformats.org/officeDocument/2006/relationships" xmlns:p="http://schemas.openxmlformats.org/presentationml/2006/main">
  <p:tag name="COLORSCHEMEINDEX" val="4"/>
</p:tagLst>
</file>

<file path=ppt/tags/tag72.xml><?xml version="1.0" encoding="utf-8"?>
<p:tagLst xmlns:a="http://schemas.openxmlformats.org/drawingml/2006/main" xmlns:r="http://schemas.openxmlformats.org/officeDocument/2006/relationships" xmlns:p="http://schemas.openxmlformats.org/presentationml/2006/main">
  <p:tag name="NO LOGOS" val="true"/>
</p:tagLst>
</file>

<file path=ppt/tags/tag73.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74.xml><?xml version="1.0" encoding="utf-8"?>
<p:tagLst xmlns:a="http://schemas.openxmlformats.org/drawingml/2006/main" xmlns:r="http://schemas.openxmlformats.org/officeDocument/2006/relationships" xmlns:p="http://schemas.openxmlformats.org/presentationml/2006/main">
  <p:tag name="MILELISTITEM" val=""/>
</p:tagLst>
</file>

<file path=ppt/tags/tag75.xml><?xml version="1.0" encoding="utf-8"?>
<p:tagLst xmlns:a="http://schemas.openxmlformats.org/drawingml/2006/main" xmlns:r="http://schemas.openxmlformats.org/officeDocument/2006/relationships" xmlns:p="http://schemas.openxmlformats.org/presentationml/2006/main">
  <p:tag name="MILELISTITEM" val=""/>
</p:tagLst>
</file>

<file path=ppt/tags/tag76.xml><?xml version="1.0" encoding="utf-8"?>
<p:tagLst xmlns:a="http://schemas.openxmlformats.org/drawingml/2006/main" xmlns:r="http://schemas.openxmlformats.org/officeDocument/2006/relationships" xmlns:p="http://schemas.openxmlformats.org/presentationml/2006/main">
  <p:tag name="MILELISTITEM" val=""/>
</p:tagLst>
</file>

<file path=ppt/tags/tag77.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78.xml><?xml version="1.0" encoding="utf-8"?>
<p:tagLst xmlns:a="http://schemas.openxmlformats.org/drawingml/2006/main" xmlns:r="http://schemas.openxmlformats.org/officeDocument/2006/relationships" xmlns:p="http://schemas.openxmlformats.org/presentationml/2006/main">
  <p:tag name="MILELISTITEM" val=""/>
</p:tagLst>
</file>

<file path=ppt/tags/tag79.xml><?xml version="1.0" encoding="utf-8"?>
<p:tagLst xmlns:a="http://schemas.openxmlformats.org/drawingml/2006/main" xmlns:r="http://schemas.openxmlformats.org/officeDocument/2006/relationships" xmlns:p="http://schemas.openxmlformats.org/presentationml/2006/main">
  <p:tag name="MILELISTITEM" val=""/>
</p:tagLst>
</file>

<file path=ppt/tags/tag80.xml><?xml version="1.0" encoding="utf-8"?>
<p:tagLst xmlns:a="http://schemas.openxmlformats.org/drawingml/2006/main" xmlns:r="http://schemas.openxmlformats.org/officeDocument/2006/relationships" xmlns:p="http://schemas.openxmlformats.org/presentationml/2006/main">
  <p:tag name="MILELISTITEM" val=""/>
</p:tagLst>
</file>

<file path=ppt/tags/tag81.xml><?xml version="1.0" encoding="utf-8"?>
<p:tagLst xmlns:a="http://schemas.openxmlformats.org/drawingml/2006/main" xmlns:r="http://schemas.openxmlformats.org/officeDocument/2006/relationships" xmlns:p="http://schemas.openxmlformats.org/presentationml/2006/main">
  <p:tag name="MILELISTITEM" val=""/>
</p:tagLst>
</file>

<file path=ppt/tags/tag82.xml><?xml version="1.0" encoding="utf-8"?>
<p:tagLst xmlns:a="http://schemas.openxmlformats.org/drawingml/2006/main" xmlns:r="http://schemas.openxmlformats.org/officeDocument/2006/relationships" xmlns:p="http://schemas.openxmlformats.org/presentationml/2006/main">
  <p:tag name="COLORSCHEMEINDEX" val="4"/>
</p:tagLst>
</file>

<file path=ppt/tags/tag83.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84.xml><?xml version="1.0" encoding="utf-8"?>
<p:tagLst xmlns:a="http://schemas.openxmlformats.org/drawingml/2006/main" xmlns:r="http://schemas.openxmlformats.org/officeDocument/2006/relationships" xmlns:p="http://schemas.openxmlformats.org/presentationml/2006/main">
  <p:tag name="MILELISTITEM" val=""/>
</p:tagLst>
</file>

<file path=ppt/tags/tag85.xml><?xml version="1.0" encoding="utf-8"?>
<p:tagLst xmlns:a="http://schemas.openxmlformats.org/drawingml/2006/main" xmlns:r="http://schemas.openxmlformats.org/officeDocument/2006/relationships" xmlns:p="http://schemas.openxmlformats.org/presentationml/2006/main">
  <p:tag name="MILELISTITEM" val=""/>
</p:tagLst>
</file>

<file path=ppt/tags/tag86.xml><?xml version="1.0" encoding="utf-8"?>
<p:tagLst xmlns:a="http://schemas.openxmlformats.org/drawingml/2006/main" xmlns:r="http://schemas.openxmlformats.org/officeDocument/2006/relationships" xmlns:p="http://schemas.openxmlformats.org/presentationml/2006/main">
  <p:tag name="MILELISTITEM" val=""/>
</p:tagLst>
</file>

<file path=ppt/tags/tag87.xml><?xml version="1.0" encoding="utf-8"?>
<p:tagLst xmlns:a="http://schemas.openxmlformats.org/drawingml/2006/main" xmlns:r="http://schemas.openxmlformats.org/officeDocument/2006/relationships" xmlns:p="http://schemas.openxmlformats.org/presentationml/2006/main">
  <p:tag name="MILELISTITEM" val=""/>
</p:tagLst>
</file>

<file path=ppt/tags/tag88.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89.xml><?xml version="1.0" encoding="utf-8"?>
<p:tagLst xmlns:a="http://schemas.openxmlformats.org/drawingml/2006/main" xmlns:r="http://schemas.openxmlformats.org/officeDocument/2006/relationships" xmlns:p="http://schemas.openxmlformats.org/presentationml/2006/main">
  <p:tag name="MILELISTITEM" val=""/>
</p:tagLst>
</file>

<file path=ppt/tags/tag90.xml><?xml version="1.0" encoding="utf-8"?>
<p:tagLst xmlns:a="http://schemas.openxmlformats.org/drawingml/2006/main" xmlns:r="http://schemas.openxmlformats.org/officeDocument/2006/relationships" xmlns:p="http://schemas.openxmlformats.org/presentationml/2006/main">
  <p:tag name="MILELISTITEM" val=""/>
</p:tagLst>
</file>

<file path=ppt/tags/tag91.xml><?xml version="1.0" encoding="utf-8"?>
<p:tagLst xmlns:a="http://schemas.openxmlformats.org/drawingml/2006/main" xmlns:r="http://schemas.openxmlformats.org/officeDocument/2006/relationships" xmlns:p="http://schemas.openxmlformats.org/presentationml/2006/main">
  <p:tag name="MILELISTITEM" val=""/>
</p:tagLst>
</file>

<file path=ppt/tags/tag92.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93.xml><?xml version="1.0" encoding="utf-8"?>
<p:tagLst xmlns:a="http://schemas.openxmlformats.org/drawingml/2006/main" xmlns:r="http://schemas.openxmlformats.org/officeDocument/2006/relationships" xmlns:p="http://schemas.openxmlformats.org/presentationml/2006/main">
  <p:tag name="MILELISTITEM" val=""/>
</p:tagLst>
</file>

<file path=ppt/tags/tag94.xml><?xml version="1.0" encoding="utf-8"?>
<p:tagLst xmlns:a="http://schemas.openxmlformats.org/drawingml/2006/main" xmlns:r="http://schemas.openxmlformats.org/officeDocument/2006/relationships" xmlns:p="http://schemas.openxmlformats.org/presentationml/2006/main">
  <p:tag name="MILELISTITEM" val=""/>
</p:tagLst>
</file>

<file path=ppt/tags/tag95.xml><?xml version="1.0" encoding="utf-8"?>
<p:tagLst xmlns:a="http://schemas.openxmlformats.org/drawingml/2006/main" xmlns:r="http://schemas.openxmlformats.org/officeDocument/2006/relationships" xmlns:p="http://schemas.openxmlformats.org/presentationml/2006/main">
  <p:tag name="MILELISTITEM" val=""/>
</p:tagLst>
</file>

<file path=ppt/tags/tag96.xml><?xml version="1.0" encoding="utf-8"?>
<p:tagLst xmlns:a="http://schemas.openxmlformats.org/drawingml/2006/main" xmlns:r="http://schemas.openxmlformats.org/officeDocument/2006/relationships" xmlns:p="http://schemas.openxmlformats.org/presentationml/2006/main">
  <p:tag name="MILELISTITEM" val=""/>
</p:tagLst>
</file>

<file path=ppt/tags/tag97.xml><?xml version="1.0" encoding="utf-8"?>
<p:tagLst xmlns:a="http://schemas.openxmlformats.org/drawingml/2006/main" xmlns:r="http://schemas.openxmlformats.org/officeDocument/2006/relationships" xmlns:p="http://schemas.openxmlformats.org/presentationml/2006/main">
  <p:tag name="MILELISTITEM" val=""/>
</p:tagLst>
</file>

<file path=ppt/tags/tag98.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99.xml><?xml version="1.0" encoding="utf-8"?>
<p:tagLst xmlns:a="http://schemas.openxmlformats.org/drawingml/2006/main" xmlns:r="http://schemas.openxmlformats.org/officeDocument/2006/relationships" xmlns:p="http://schemas.openxmlformats.org/presentationml/2006/main">
  <p:tag name="MILELISTITEM" val=""/>
</p:tagLst>
</file>

<file path=ppt/tags/tag100.xml><?xml version="1.0" encoding="utf-8"?>
<p:tagLst xmlns:a="http://schemas.openxmlformats.org/drawingml/2006/main" xmlns:r="http://schemas.openxmlformats.org/officeDocument/2006/relationships" xmlns:p="http://schemas.openxmlformats.org/presentationml/2006/main">
  <p:tag name="MILELISTITEM" val=""/>
</p:tagLst>
</file>

<file path=ppt/tags/tag101.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102.xml><?xml version="1.0" encoding="utf-8"?>
<p:tagLst xmlns:a="http://schemas.openxmlformats.org/drawingml/2006/main" xmlns:r="http://schemas.openxmlformats.org/officeDocument/2006/relationships" xmlns:p="http://schemas.openxmlformats.org/presentationml/2006/main">
  <p:tag name="MILELISTITEM" val=""/>
</p:tagLst>
</file>

<file path=ppt/tags/tag103.xml><?xml version="1.0" encoding="utf-8"?>
<p:tagLst xmlns:a="http://schemas.openxmlformats.org/drawingml/2006/main" xmlns:r="http://schemas.openxmlformats.org/officeDocument/2006/relationships" xmlns:p="http://schemas.openxmlformats.org/presentationml/2006/main">
  <p:tag name="MILELISTITEM" val=""/>
</p:tagLst>
</file>

<file path=ppt/tags/tag104.xml><?xml version="1.0" encoding="utf-8"?>
<p:tagLst xmlns:a="http://schemas.openxmlformats.org/drawingml/2006/main" xmlns:r="http://schemas.openxmlformats.org/officeDocument/2006/relationships" xmlns:p="http://schemas.openxmlformats.org/presentationml/2006/main">
  <p:tag name="MILELISTITEM" val=""/>
</p:tagLst>
</file>

<file path=ppt/tags/tag105.xml><?xml version="1.0" encoding="utf-8"?>
<p:tagLst xmlns:a="http://schemas.openxmlformats.org/drawingml/2006/main" xmlns:r="http://schemas.openxmlformats.org/officeDocument/2006/relationships" xmlns:p="http://schemas.openxmlformats.org/presentationml/2006/main">
  <p:tag name="MILELISTITEM" val=""/>
</p:tagLst>
</file>

<file path=ppt/tags/tag106.xml><?xml version="1.0" encoding="utf-8"?>
<p:tagLst xmlns:a="http://schemas.openxmlformats.org/drawingml/2006/main" xmlns:r="http://schemas.openxmlformats.org/officeDocument/2006/relationships" xmlns:p="http://schemas.openxmlformats.org/presentationml/2006/main">
  <p:tag name="MILELISTITEM" val=""/>
</p:tagLst>
</file>

<file path=ppt/tags/tag107.xml><?xml version="1.0" encoding="utf-8"?>
<p:tagLst xmlns:a="http://schemas.openxmlformats.org/drawingml/2006/main" xmlns:r="http://schemas.openxmlformats.org/officeDocument/2006/relationships" xmlns:p="http://schemas.openxmlformats.org/presentationml/2006/main">
  <p:tag name="MILELISTITEM" val=""/>
</p:tagLst>
</file>

<file path=ppt/tags/tag108.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109.xml><?xml version="1.0" encoding="utf-8"?>
<p:tagLst xmlns:a="http://schemas.openxmlformats.org/drawingml/2006/main" xmlns:r="http://schemas.openxmlformats.org/officeDocument/2006/relationships" xmlns:p="http://schemas.openxmlformats.org/presentationml/2006/main">
  <p:tag name="MILELISTITEM" val=""/>
</p:tagLst>
</file>

<file path=ppt/tags/tag110.xml><?xml version="1.0" encoding="utf-8"?>
<p:tagLst xmlns:a="http://schemas.openxmlformats.org/drawingml/2006/main" xmlns:r="http://schemas.openxmlformats.org/officeDocument/2006/relationships" xmlns:p="http://schemas.openxmlformats.org/presentationml/2006/main">
  <p:tag name="COLORSCHEMEINDEX" val="4"/>
</p:tagLst>
</file>

<file path=ppt/tags/tag111.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112.xml><?xml version="1.0" encoding="utf-8"?>
<p:tagLst xmlns:a="http://schemas.openxmlformats.org/drawingml/2006/main" xmlns:r="http://schemas.openxmlformats.org/officeDocument/2006/relationships" xmlns:p="http://schemas.openxmlformats.org/presentationml/2006/main">
  <p:tag name="MILELISTITEM" val=""/>
</p:tagLst>
</file>

<file path=ppt/tags/tag113.xml><?xml version="1.0" encoding="utf-8"?>
<p:tagLst xmlns:a="http://schemas.openxmlformats.org/drawingml/2006/main" xmlns:r="http://schemas.openxmlformats.org/officeDocument/2006/relationships" xmlns:p="http://schemas.openxmlformats.org/presentationml/2006/main">
  <p:tag name="MILELISTITEM" val=""/>
</p:tagLst>
</file>

<file path=ppt/tags/tag114.xml><?xml version="1.0" encoding="utf-8"?>
<p:tagLst xmlns:a="http://schemas.openxmlformats.org/drawingml/2006/main" xmlns:r="http://schemas.openxmlformats.org/officeDocument/2006/relationships" xmlns:p="http://schemas.openxmlformats.org/presentationml/2006/main">
  <p:tag name="MILELISTITEM" val=""/>
</p:tagLst>
</file>

<file path=ppt/tags/tag115.xml><?xml version="1.0" encoding="utf-8"?>
<p:tagLst xmlns:a="http://schemas.openxmlformats.org/drawingml/2006/main" xmlns:r="http://schemas.openxmlformats.org/officeDocument/2006/relationships" xmlns:p="http://schemas.openxmlformats.org/presentationml/2006/main">
  <p:tag name="MILELISTITEM" val=""/>
</p:tagLst>
</file>

<file path=ppt/tags/tag116.xml><?xml version="1.0" encoding="utf-8"?>
<p:tagLst xmlns:a="http://schemas.openxmlformats.org/drawingml/2006/main" xmlns:r="http://schemas.openxmlformats.org/officeDocument/2006/relationships" xmlns:p="http://schemas.openxmlformats.org/presentationml/2006/main">
  <p:tag name="MILELISTITEM" val=""/>
</p:tagLst>
</file>

<file path=ppt/tags/tag117.xml><?xml version="1.0" encoding="utf-8"?>
<p:tagLst xmlns:a="http://schemas.openxmlformats.org/drawingml/2006/main" xmlns:r="http://schemas.openxmlformats.org/officeDocument/2006/relationships" xmlns:p="http://schemas.openxmlformats.org/presentationml/2006/main">
  <p:tag name="MILELISTITEM" val=""/>
</p:tagLst>
</file>

<file path=ppt/tags/tag118.xml><?xml version="1.0" encoding="utf-8"?>
<p:tagLst xmlns:a="http://schemas.openxmlformats.org/drawingml/2006/main" xmlns:r="http://schemas.openxmlformats.org/officeDocument/2006/relationships" xmlns:p="http://schemas.openxmlformats.org/presentationml/2006/main">
  <p:tag name="MILELISTITEM" val=""/>
</p:tagLst>
</file>

<file path=ppt/tags/tag119.xml><?xml version="1.0" encoding="utf-8"?>
<p:tagLst xmlns:a="http://schemas.openxmlformats.org/drawingml/2006/main" xmlns:r="http://schemas.openxmlformats.org/officeDocument/2006/relationships" xmlns:p="http://schemas.openxmlformats.org/presentationml/2006/main">
  <p:tag name="MILELISTITEM" val=""/>
</p:tagLst>
</file>

<file path=ppt/tags/tag120.xml><?xml version="1.0" encoding="utf-8"?>
<p:tagLst xmlns:a="http://schemas.openxmlformats.org/drawingml/2006/main" xmlns:r="http://schemas.openxmlformats.org/officeDocument/2006/relationships" xmlns:p="http://schemas.openxmlformats.org/presentationml/2006/main">
  <p:tag name="MILELISTITEM" val=""/>
</p:tagLst>
</file>

<file path=ppt/tags/tag121.xml><?xml version="1.0" encoding="utf-8"?>
<p:tagLst xmlns:a="http://schemas.openxmlformats.org/drawingml/2006/main" xmlns:r="http://schemas.openxmlformats.org/officeDocument/2006/relationships" xmlns:p="http://schemas.openxmlformats.org/presentationml/2006/main">
  <p:tag name="MILELISTITEM" val=""/>
</p:tagLst>
</file>

<file path=ppt/tags/tag122.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123.xml><?xml version="1.0" encoding="utf-8"?>
<p:tagLst xmlns:a="http://schemas.openxmlformats.org/drawingml/2006/main" xmlns:r="http://schemas.openxmlformats.org/officeDocument/2006/relationships" xmlns:p="http://schemas.openxmlformats.org/presentationml/2006/main">
  <p:tag name="COLORSCHEMEINDEX" val="4"/>
  <p:tag name="ADMINISTRATIVESLIDE" val="True"/>
  <p:tag name="NO LOGOS" val="true"/>
</p:tagLst>
</file>

<file path=ppt/tags/tag124.xml><?xml version="1.0" encoding="utf-8"?>
<p:tagLst xmlns:a="http://schemas.openxmlformats.org/drawingml/2006/main" xmlns:r="http://schemas.openxmlformats.org/officeDocument/2006/relationships" xmlns:p="http://schemas.openxmlformats.org/presentationml/2006/main">
  <p:tag name="COLORSCHEMEINDEX" val="4"/>
  <p:tag name="ADMINISTRATIVESLIDE" val="True"/>
</p:tagLst>
</file>

<file path=ppt/tags/tag125.xml><?xml version="1.0" encoding="utf-8"?>
<p:tagLst xmlns:a="http://schemas.openxmlformats.org/drawingml/2006/main" xmlns:r="http://schemas.openxmlformats.org/officeDocument/2006/relationships" xmlns:p="http://schemas.openxmlformats.org/presentationml/2006/main">
  <p:tag name="ADMINISTRATIVESLIDE" val="True"/>
</p:tagLst>
</file>

<file path=ppt/tags/tag126.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Lst>
</file>

<file path=ppt/tags/tag127.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128.xml><?xml version="1.0" encoding="utf-8"?>
<p:tagLst xmlns:a="http://schemas.openxmlformats.org/drawingml/2006/main" xmlns:r="http://schemas.openxmlformats.org/officeDocument/2006/relationships" xmlns:p="http://schemas.openxmlformats.org/presentationml/2006/main">
  <p:tag name="MILELISTITEM" val="Level_1_Normal"/>
</p:tagLst>
</file>

<file path=ppt/tags/tag129.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130.xml><?xml version="1.0" encoding="utf-8"?>
<p:tagLst xmlns:a="http://schemas.openxmlformats.org/drawingml/2006/main" xmlns:r="http://schemas.openxmlformats.org/officeDocument/2006/relationships" xmlns:p="http://schemas.openxmlformats.org/presentationml/2006/main">
  <p:tag name="MILELISTITEM" val="Level_2_Normal"/>
</p:tagLst>
</file>

<file path=ppt/theme/theme1.xml><?xml version="1.0" encoding="utf-8"?>
<a:theme xmlns:a="http://schemas.openxmlformats.org/drawingml/2006/main" name="ttoTheme">
  <a:themeElements>
    <a:clrScheme name="TTO standard">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C7C7C7"/>
      </a:hlink>
      <a:folHlink>
        <a:srgbClr val="6699FF"/>
      </a:folHlink>
    </a:clrScheme>
    <a:fontScheme name="tt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rtlCol="0" anchor="ctr"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sz="2800" b="1" i="0" u="none" strike="noStrike" cap="none" normalizeH="0" baseline="0" dirty="0" smtClean="0">
            <a:ln>
              <a:noFill/>
            </a:ln>
            <a:solidFill>
              <a:schemeClr val="dk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lang="en-US" sz="2800" b="1" i="0" u="none" strike="noStrike" cap="none" normalizeH="0" baseline="0" smtClean="0">
            <a:ln>
              <a:noFill/>
            </a:ln>
            <a:solidFill>
              <a:schemeClr val="tx1"/>
            </a:solidFill>
            <a:effectLst>
              <a:outerShdw blurRad="38100" dist="38100" dir="2700000" algn="tl">
                <a:srgbClr val="000000">
                  <a:alpha val="43137"/>
                </a:srgbClr>
              </a:outerShdw>
            </a:effectLst>
            <a:latin typeface="Arial Narrow" pitchFamily="34" charset="0"/>
          </a:defRPr>
        </a:defPPr>
      </a:lstStyle>
    </a:lnDef>
    <a:txDef>
      <a:spPr>
        <a:noFill/>
      </a:spPr>
      <a:bodyPr wrap="square" rtlCol="0" anchor="ctr" anchorCtr="0">
        <a:spAutoFit/>
      </a:bodyPr>
      <a:lstStyle>
        <a:defPPr>
          <a:defRPr dirty="0" smtClean="0">
            <a:solidFill>
              <a:schemeClr val="dk1"/>
            </a:solidFill>
            <a:effectLst/>
          </a:defRPr>
        </a:defPPr>
      </a:lstStyle>
    </a:txDef>
  </a:objectDefaults>
  <a:extraClrSchemeLst>
    <a:extraClrScheme>
      <a:clrScheme name="TTO standard">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C7C7C7"/>
        </a:hlink>
        <a:folHlink>
          <a:srgbClr val="6699FF"/>
        </a:folHlink>
      </a:clrScheme>
      <a:clrMap bg1="lt1" tx1="dk1" bg2="lt2" tx2="dk2" accent1="accent1" accent2="accent2" accent3="accent3" accent4="accent4" accent5="accent5" accent6="accent6" hlink="hlink" folHlink="folHlink"/>
    </a:extraClrScheme>
    <a:extraClrScheme>
      <a:clrScheme name="TI standard">
        <a:dk1>
          <a:srgbClr val="000000"/>
        </a:dk1>
        <a:lt1>
          <a:srgbClr val="FFFFFF"/>
        </a:lt1>
        <a:dk2>
          <a:srgbClr val="DE0000"/>
        </a:dk2>
        <a:lt2>
          <a:srgbClr val="808080"/>
        </a:lt2>
        <a:accent1>
          <a:srgbClr val="DE0000"/>
        </a:accent1>
        <a:accent2>
          <a:srgbClr val="AEAEAE"/>
        </a:accent2>
        <a:accent3>
          <a:srgbClr val="117788"/>
        </a:accent3>
        <a:accent4>
          <a:srgbClr val="404040"/>
        </a:accent4>
        <a:accent5>
          <a:srgbClr val="7F7F7F"/>
        </a:accent5>
        <a:accent6>
          <a:srgbClr val="32B4CE"/>
        </a:accent6>
        <a:hlink>
          <a:srgbClr val="DE0000"/>
        </a:hlink>
        <a:folHlink>
          <a:srgbClr val="AAAAAA"/>
        </a:folHlink>
      </a:clrScheme>
      <a:clrMap bg1="lt1" tx1="dk1" bg2="lt2" tx2="dk2" accent1="accent1" accent2="accent2" accent3="accent3" accent4="accent4" accent5="accent5" accent6="accent6" hlink="hlink" folHlink="folHlink"/>
    </a:extraClrScheme>
    <a:extraClrScheme>
      <a:clrScheme name="tto 1">
        <a:dk1>
          <a:srgbClr val="000000"/>
        </a:dk1>
        <a:lt1>
          <a:srgbClr val="FEFFFF"/>
        </a:lt1>
        <a:dk2>
          <a:srgbClr val="000000"/>
        </a:dk2>
        <a:lt2>
          <a:srgbClr val="FEFFFF"/>
        </a:lt2>
        <a:accent1>
          <a:srgbClr val="F6F6F6"/>
        </a:accent1>
        <a:accent2>
          <a:srgbClr val="AFAFAF"/>
        </a:accent2>
        <a:accent3>
          <a:srgbClr val="DEDEDE"/>
        </a:accent3>
        <a:accent4>
          <a:srgbClr val="C3C3C3"/>
        </a:accent4>
        <a:accent5>
          <a:srgbClr val="FAFAFA"/>
        </a:accent5>
        <a:accent6>
          <a:srgbClr val="9E9E9E"/>
        </a:accent6>
        <a:hlink>
          <a:srgbClr val="DEDEDE"/>
        </a:hlink>
        <a:folHlink>
          <a:srgbClr val="C3C3C3"/>
        </a:folHlink>
      </a:clrScheme>
      <a:clrMap bg1="lt1" tx1="dk1" bg2="lt2" tx2="dk2" accent1="accent1" accent2="accent2" accent3="accent3" accent4="accent4" accent5="accent5" accent6="accent6" hlink="hlink" folHlink="folHlink"/>
    </a:extraClrScheme>
    <a:extraClrScheme>
      <a:clrScheme name="tto 2">
        <a:dk1>
          <a:srgbClr val="2181B7"/>
        </a:dk1>
        <a:lt1>
          <a:srgbClr val="FFFFFF"/>
        </a:lt1>
        <a:dk2>
          <a:srgbClr val="2181B7"/>
        </a:dk2>
        <a:lt2>
          <a:srgbClr val="FFFF99"/>
        </a:lt2>
        <a:accent1>
          <a:srgbClr val="003399"/>
        </a:accent1>
        <a:accent2>
          <a:srgbClr val="01B0FF"/>
        </a:accent2>
        <a:accent3>
          <a:srgbClr val="6666FF"/>
        </a:accent3>
        <a:accent4>
          <a:srgbClr val="1C6D9A"/>
        </a:accent4>
        <a:accent5>
          <a:srgbClr val="474B72"/>
        </a:accent5>
        <a:accent6>
          <a:srgbClr val="7030A0"/>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tto 3">
        <a:dk1>
          <a:srgbClr val="042AA4"/>
        </a:dk1>
        <a:lt1>
          <a:srgbClr val="FFFFFF"/>
        </a:lt1>
        <a:dk2>
          <a:srgbClr val="042AA4"/>
        </a:dk2>
        <a:lt2>
          <a:srgbClr val="FE9B03"/>
        </a:lt2>
        <a:accent1>
          <a:srgbClr val="000F40"/>
        </a:accent1>
        <a:accent2>
          <a:srgbClr val="603900"/>
        </a:accent2>
        <a:accent3>
          <a:srgbClr val="005C00"/>
        </a:accent3>
        <a:accent4>
          <a:srgbClr val="0249FC"/>
        </a:accent4>
        <a:accent5>
          <a:srgbClr val="7030A0"/>
        </a:accent5>
        <a:accent6>
          <a:srgbClr val="000000"/>
        </a:accent6>
        <a:hlink>
          <a:srgbClr val="005C00"/>
        </a:hlink>
        <a:folHlink>
          <a:srgbClr val="0249FC"/>
        </a:folHlink>
      </a:clrScheme>
      <a:clrMap bg1="dk2" tx1="lt1" bg2="dk1" tx2="lt2" accent1="accent1" accent2="accent2" accent3="accent3" accent4="accent4" accent5="accent5" accent6="accent6" hlink="hlink" folHlink="folHlink"/>
    </a:extraClrScheme>
    <a:extraClrScheme>
      <a:clrScheme name="tto 4">
        <a:dk1>
          <a:srgbClr val="000000"/>
        </a:dk1>
        <a:lt1>
          <a:srgbClr val="FFFFFF"/>
        </a:lt1>
        <a:dk2>
          <a:srgbClr val="4282E0"/>
        </a:dk2>
        <a:lt2>
          <a:srgbClr val="FFFFFF"/>
        </a:lt2>
        <a:accent1>
          <a:srgbClr val="C0F6F5"/>
        </a:accent1>
        <a:accent2>
          <a:srgbClr val="FAFEDA"/>
        </a:accent2>
        <a:accent3>
          <a:srgbClr val="FFCCFF"/>
        </a:accent3>
        <a:accent4>
          <a:srgbClr val="B4FCB2"/>
        </a:accent4>
        <a:accent5>
          <a:srgbClr val="FFFF99"/>
        </a:accent5>
        <a:accent6>
          <a:srgbClr val="5DD3FF"/>
        </a:accent6>
        <a:hlink>
          <a:srgbClr val="FFCCFF"/>
        </a:hlink>
        <a:folHlink>
          <a:srgbClr val="B4FCB2"/>
        </a:folHlink>
      </a:clrScheme>
      <a:clrMap bg1="lt1" tx1="dk1" bg2="lt2" tx2="dk2" accent1="accent1" accent2="accent2" accent3="accent3" accent4="accent4" accent5="accent5" accent6="accent6" hlink="hlink" folHlink="folHlink"/>
    </a:extraClrScheme>
    <a:extraClrScheme>
      <a:clrScheme name="tto 5">
        <a:dk1>
          <a:srgbClr val="000000"/>
        </a:dk1>
        <a:lt1>
          <a:srgbClr val="FFFFFF"/>
        </a:lt1>
        <a:dk2>
          <a:srgbClr val="0066FF"/>
        </a:dk2>
        <a:lt2>
          <a:srgbClr val="FFFFFF"/>
        </a:lt2>
        <a:accent1>
          <a:srgbClr val="FFFFCC"/>
        </a:accent1>
        <a:accent2>
          <a:srgbClr val="B5E0E3"/>
        </a:accent2>
        <a:accent3>
          <a:srgbClr val="E5D093"/>
        </a:accent3>
        <a:accent4>
          <a:srgbClr val="CCB374"/>
        </a:accent4>
        <a:accent5>
          <a:srgbClr val="C7A2E3"/>
        </a:accent5>
        <a:accent6>
          <a:srgbClr val="5DD3FF"/>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tto 6">
        <a:dk1>
          <a:srgbClr val="000000"/>
        </a:dk1>
        <a:lt1>
          <a:srgbClr val="FFFFFF"/>
        </a:lt1>
        <a:dk2>
          <a:srgbClr val="FF0000"/>
        </a:dk2>
        <a:lt2>
          <a:srgbClr val="FFFFFF"/>
        </a:lt2>
        <a:accent1>
          <a:srgbClr val="FFFF66"/>
        </a:accent1>
        <a:accent2>
          <a:srgbClr val="99FF66"/>
        </a:accent2>
        <a:accent3>
          <a:srgbClr val="99FFCC"/>
        </a:accent3>
        <a:accent4>
          <a:srgbClr val="FF99FF"/>
        </a:accent4>
        <a:accent5>
          <a:srgbClr val="93E2FF"/>
        </a:accent5>
        <a:accent6>
          <a:srgbClr val="FFE599"/>
        </a:accent6>
        <a:hlink>
          <a:srgbClr val="99FFCC"/>
        </a:hlink>
        <a:folHlink>
          <a:srgbClr val="FF99FF"/>
        </a:folHlink>
      </a:clrScheme>
      <a:clrMap bg1="lt1" tx1="dk1" bg2="lt2" tx2="dk2" accent1="accent1" accent2="accent2" accent3="accent3" accent4="accent4" accent5="accent5" accent6="accent6" hlink="hlink" folHlink="folHlink"/>
    </a:extraClrScheme>
    <a:extraClrScheme>
      <a:clrScheme name="tto 7">
        <a:dk1>
          <a:srgbClr val="FEFFFF"/>
        </a:dk1>
        <a:lt1>
          <a:srgbClr val="000000"/>
        </a:lt1>
        <a:dk2>
          <a:srgbClr val="FEFFFF"/>
        </a:dk2>
        <a:lt2>
          <a:srgbClr val="000000"/>
        </a:lt2>
        <a:accent1>
          <a:srgbClr val="F6F6F6"/>
        </a:accent1>
        <a:accent2>
          <a:srgbClr val="AFAFAF"/>
        </a:accent2>
        <a:accent3>
          <a:srgbClr val="DEDEDE"/>
        </a:accent3>
        <a:accent4>
          <a:srgbClr val="C3C3C3"/>
        </a:accent4>
        <a:accent5>
          <a:srgbClr val="FAFAFA"/>
        </a:accent5>
        <a:accent6>
          <a:srgbClr val="000000"/>
        </a:accent6>
        <a:hlink>
          <a:srgbClr val="DEDEDE"/>
        </a:hlink>
        <a:folHlink>
          <a:srgbClr val="C3C3C3"/>
        </a:folHlink>
      </a:clrScheme>
      <a:clrMap bg1="dk2" tx1="lt1" bg2="dk1" tx2="lt2" accent1="accent1" accent2="accent2" accent3="accent3" accent4="accent4" accent5="accent5" accent6="accent6" hlink="hlink" folHlink="folHlink"/>
    </a:extraClrScheme>
    <a:extraClrScheme>
      <a:clrScheme name="tto 8">
        <a:dk1>
          <a:srgbClr val="FFFFFF"/>
        </a:dk1>
        <a:lt1>
          <a:srgbClr val="000000"/>
        </a:lt1>
        <a:dk2>
          <a:srgbClr val="FFFFFF"/>
        </a:dk2>
        <a:lt2>
          <a:srgbClr val="FF0000"/>
        </a:lt2>
        <a:accent1>
          <a:srgbClr val="00CCFF"/>
        </a:accent1>
        <a:accent2>
          <a:srgbClr val="CC9900"/>
        </a:accent2>
        <a:accent3>
          <a:srgbClr val="00CC66"/>
        </a:accent3>
        <a:accent4>
          <a:srgbClr val="FFFF99"/>
        </a:accent4>
        <a:accent5>
          <a:srgbClr val="FF99CC"/>
        </a:accent5>
        <a:accent6>
          <a:srgbClr val="000000"/>
        </a:accent6>
        <a:hlink>
          <a:srgbClr val="00CC66"/>
        </a:hlink>
        <a:folHlink>
          <a:srgbClr val="FFFF99"/>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ttoTheme">
  <a:themeElements>
    <a:clrScheme name="TTO standard">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C7C7C7"/>
      </a:hlink>
      <a:folHlink>
        <a:srgbClr val="6699FF"/>
      </a:folHlink>
    </a:clrScheme>
    <a:fontScheme name="tt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rtlCol="0" anchor="ctr"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sz="2800" b="1" i="0" u="none" strike="noStrike" cap="none" normalizeH="0" baseline="0" dirty="0" smtClean="0">
            <a:ln>
              <a:noFill/>
            </a:ln>
            <a:solidFill>
              <a:schemeClr val="dk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lang="en-US" sz="2800" b="1" i="0" u="none" strike="noStrike" cap="none" normalizeH="0" baseline="0" smtClean="0">
            <a:ln>
              <a:noFill/>
            </a:ln>
            <a:solidFill>
              <a:schemeClr val="tx1"/>
            </a:solidFill>
            <a:effectLst>
              <a:outerShdw blurRad="38100" dist="38100" dir="2700000" algn="tl">
                <a:srgbClr val="000000">
                  <a:alpha val="43137"/>
                </a:srgbClr>
              </a:outerShdw>
            </a:effectLst>
            <a:latin typeface="Arial Narrow" pitchFamily="34" charset="0"/>
          </a:defRPr>
        </a:defPPr>
      </a:lstStyle>
    </a:lnDef>
    <a:txDef>
      <a:spPr>
        <a:noFill/>
      </a:spPr>
      <a:bodyPr wrap="square" rtlCol="0" anchor="ctr" anchorCtr="0">
        <a:spAutoFit/>
      </a:bodyPr>
      <a:lstStyle>
        <a:defPPr>
          <a:defRPr dirty="0" smtClean="0">
            <a:solidFill>
              <a:schemeClr val="dk1"/>
            </a:solidFill>
            <a:effectLst/>
          </a:defRPr>
        </a:defPPr>
      </a:lstStyle>
    </a:txDef>
  </a:objectDefaults>
  <a:extraClrSchemeLst>
    <a:extraClrScheme>
      <a:clrScheme name="TTO standard">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C7C7C7"/>
        </a:hlink>
        <a:folHlink>
          <a:srgbClr val="6699FF"/>
        </a:folHlink>
      </a:clrScheme>
      <a:clrMap bg1="lt1" tx1="dk1" bg2="lt2" tx2="dk2" accent1="accent1" accent2="accent2" accent3="accent3" accent4="accent4" accent5="accent5" accent6="accent6" hlink="hlink" folHlink="folHlink"/>
    </a:extraClrScheme>
    <a:extraClrScheme>
      <a:clrScheme name="TI standard">
        <a:dk1>
          <a:srgbClr val="000000"/>
        </a:dk1>
        <a:lt1>
          <a:srgbClr val="FFFFFF"/>
        </a:lt1>
        <a:dk2>
          <a:srgbClr val="DE0000"/>
        </a:dk2>
        <a:lt2>
          <a:srgbClr val="808080"/>
        </a:lt2>
        <a:accent1>
          <a:srgbClr val="DE0000"/>
        </a:accent1>
        <a:accent2>
          <a:srgbClr val="AEAEAE"/>
        </a:accent2>
        <a:accent3>
          <a:srgbClr val="117788"/>
        </a:accent3>
        <a:accent4>
          <a:srgbClr val="404040"/>
        </a:accent4>
        <a:accent5>
          <a:srgbClr val="7F7F7F"/>
        </a:accent5>
        <a:accent6>
          <a:srgbClr val="32B4CE"/>
        </a:accent6>
        <a:hlink>
          <a:srgbClr val="DE0000"/>
        </a:hlink>
        <a:folHlink>
          <a:srgbClr val="AAAAAA"/>
        </a:folHlink>
      </a:clrScheme>
      <a:clrMap bg1="lt1" tx1="dk1" bg2="lt2" tx2="dk2" accent1="accent1" accent2="accent2" accent3="accent3" accent4="accent4" accent5="accent5" accent6="accent6" hlink="hlink" folHlink="folHlink"/>
    </a:extraClrScheme>
    <a:extraClrScheme>
      <a:clrScheme name="tto 1">
        <a:dk1>
          <a:srgbClr val="000000"/>
        </a:dk1>
        <a:lt1>
          <a:srgbClr val="FEFFFF"/>
        </a:lt1>
        <a:dk2>
          <a:srgbClr val="000000"/>
        </a:dk2>
        <a:lt2>
          <a:srgbClr val="FEFFFF"/>
        </a:lt2>
        <a:accent1>
          <a:srgbClr val="F6F6F6"/>
        </a:accent1>
        <a:accent2>
          <a:srgbClr val="AFAFAF"/>
        </a:accent2>
        <a:accent3>
          <a:srgbClr val="DEDEDE"/>
        </a:accent3>
        <a:accent4>
          <a:srgbClr val="C3C3C3"/>
        </a:accent4>
        <a:accent5>
          <a:srgbClr val="FAFAFA"/>
        </a:accent5>
        <a:accent6>
          <a:srgbClr val="9E9E9E"/>
        </a:accent6>
        <a:hlink>
          <a:srgbClr val="DEDEDE"/>
        </a:hlink>
        <a:folHlink>
          <a:srgbClr val="C3C3C3"/>
        </a:folHlink>
      </a:clrScheme>
      <a:clrMap bg1="lt1" tx1="dk1" bg2="lt2" tx2="dk2" accent1="accent1" accent2="accent2" accent3="accent3" accent4="accent4" accent5="accent5" accent6="accent6" hlink="hlink" folHlink="folHlink"/>
    </a:extraClrScheme>
    <a:extraClrScheme>
      <a:clrScheme name="tto 2">
        <a:dk1>
          <a:srgbClr val="2181B7"/>
        </a:dk1>
        <a:lt1>
          <a:srgbClr val="FFFFFF"/>
        </a:lt1>
        <a:dk2>
          <a:srgbClr val="2181B7"/>
        </a:dk2>
        <a:lt2>
          <a:srgbClr val="FFFF99"/>
        </a:lt2>
        <a:accent1>
          <a:srgbClr val="003399"/>
        </a:accent1>
        <a:accent2>
          <a:srgbClr val="01B0FF"/>
        </a:accent2>
        <a:accent3>
          <a:srgbClr val="6666FF"/>
        </a:accent3>
        <a:accent4>
          <a:srgbClr val="1C6D9A"/>
        </a:accent4>
        <a:accent5>
          <a:srgbClr val="474B72"/>
        </a:accent5>
        <a:accent6>
          <a:srgbClr val="7030A0"/>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tto 3">
        <a:dk1>
          <a:srgbClr val="042AA4"/>
        </a:dk1>
        <a:lt1>
          <a:srgbClr val="FFFFFF"/>
        </a:lt1>
        <a:dk2>
          <a:srgbClr val="042AA4"/>
        </a:dk2>
        <a:lt2>
          <a:srgbClr val="FE9B03"/>
        </a:lt2>
        <a:accent1>
          <a:srgbClr val="000F40"/>
        </a:accent1>
        <a:accent2>
          <a:srgbClr val="603900"/>
        </a:accent2>
        <a:accent3>
          <a:srgbClr val="005C00"/>
        </a:accent3>
        <a:accent4>
          <a:srgbClr val="0249FC"/>
        </a:accent4>
        <a:accent5>
          <a:srgbClr val="7030A0"/>
        </a:accent5>
        <a:accent6>
          <a:srgbClr val="000000"/>
        </a:accent6>
        <a:hlink>
          <a:srgbClr val="005C00"/>
        </a:hlink>
        <a:folHlink>
          <a:srgbClr val="0249FC"/>
        </a:folHlink>
      </a:clrScheme>
      <a:clrMap bg1="dk2" tx1="lt1" bg2="dk1" tx2="lt2" accent1="accent1" accent2="accent2" accent3="accent3" accent4="accent4" accent5="accent5" accent6="accent6" hlink="hlink" folHlink="folHlink"/>
    </a:extraClrScheme>
    <a:extraClrScheme>
      <a:clrScheme name="tto 4">
        <a:dk1>
          <a:srgbClr val="000000"/>
        </a:dk1>
        <a:lt1>
          <a:srgbClr val="FFFFFF"/>
        </a:lt1>
        <a:dk2>
          <a:srgbClr val="4282E0"/>
        </a:dk2>
        <a:lt2>
          <a:srgbClr val="FFFFFF"/>
        </a:lt2>
        <a:accent1>
          <a:srgbClr val="C0F6F5"/>
        </a:accent1>
        <a:accent2>
          <a:srgbClr val="FAFEDA"/>
        </a:accent2>
        <a:accent3>
          <a:srgbClr val="FFCCFF"/>
        </a:accent3>
        <a:accent4>
          <a:srgbClr val="B4FCB2"/>
        </a:accent4>
        <a:accent5>
          <a:srgbClr val="FFFF99"/>
        </a:accent5>
        <a:accent6>
          <a:srgbClr val="5DD3FF"/>
        </a:accent6>
        <a:hlink>
          <a:srgbClr val="FFCCFF"/>
        </a:hlink>
        <a:folHlink>
          <a:srgbClr val="B4FCB2"/>
        </a:folHlink>
      </a:clrScheme>
      <a:clrMap bg1="lt1" tx1="dk1" bg2="lt2" tx2="dk2" accent1="accent1" accent2="accent2" accent3="accent3" accent4="accent4" accent5="accent5" accent6="accent6" hlink="hlink" folHlink="folHlink"/>
    </a:extraClrScheme>
    <a:extraClrScheme>
      <a:clrScheme name="tto 5">
        <a:dk1>
          <a:srgbClr val="000000"/>
        </a:dk1>
        <a:lt1>
          <a:srgbClr val="FFFFFF"/>
        </a:lt1>
        <a:dk2>
          <a:srgbClr val="0066FF"/>
        </a:dk2>
        <a:lt2>
          <a:srgbClr val="FFFFFF"/>
        </a:lt2>
        <a:accent1>
          <a:srgbClr val="FFFFCC"/>
        </a:accent1>
        <a:accent2>
          <a:srgbClr val="B5E0E3"/>
        </a:accent2>
        <a:accent3>
          <a:srgbClr val="E5D093"/>
        </a:accent3>
        <a:accent4>
          <a:srgbClr val="CCB374"/>
        </a:accent4>
        <a:accent5>
          <a:srgbClr val="C7A2E3"/>
        </a:accent5>
        <a:accent6>
          <a:srgbClr val="5DD3FF"/>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tto 6">
        <a:dk1>
          <a:srgbClr val="000000"/>
        </a:dk1>
        <a:lt1>
          <a:srgbClr val="FFFFFF"/>
        </a:lt1>
        <a:dk2>
          <a:srgbClr val="FF0000"/>
        </a:dk2>
        <a:lt2>
          <a:srgbClr val="FFFFFF"/>
        </a:lt2>
        <a:accent1>
          <a:srgbClr val="FFFF66"/>
        </a:accent1>
        <a:accent2>
          <a:srgbClr val="99FF66"/>
        </a:accent2>
        <a:accent3>
          <a:srgbClr val="99FFCC"/>
        </a:accent3>
        <a:accent4>
          <a:srgbClr val="FF99FF"/>
        </a:accent4>
        <a:accent5>
          <a:srgbClr val="93E2FF"/>
        </a:accent5>
        <a:accent6>
          <a:srgbClr val="FFE599"/>
        </a:accent6>
        <a:hlink>
          <a:srgbClr val="99FFCC"/>
        </a:hlink>
        <a:folHlink>
          <a:srgbClr val="FF99FF"/>
        </a:folHlink>
      </a:clrScheme>
      <a:clrMap bg1="lt1" tx1="dk1" bg2="lt2" tx2="dk2" accent1="accent1" accent2="accent2" accent3="accent3" accent4="accent4" accent5="accent5" accent6="accent6" hlink="hlink" folHlink="folHlink"/>
    </a:extraClrScheme>
    <a:extraClrScheme>
      <a:clrScheme name="tto 7">
        <a:dk1>
          <a:srgbClr val="FEFFFF"/>
        </a:dk1>
        <a:lt1>
          <a:srgbClr val="000000"/>
        </a:lt1>
        <a:dk2>
          <a:srgbClr val="FEFFFF"/>
        </a:dk2>
        <a:lt2>
          <a:srgbClr val="000000"/>
        </a:lt2>
        <a:accent1>
          <a:srgbClr val="F6F6F6"/>
        </a:accent1>
        <a:accent2>
          <a:srgbClr val="AFAFAF"/>
        </a:accent2>
        <a:accent3>
          <a:srgbClr val="DEDEDE"/>
        </a:accent3>
        <a:accent4>
          <a:srgbClr val="C3C3C3"/>
        </a:accent4>
        <a:accent5>
          <a:srgbClr val="FAFAFA"/>
        </a:accent5>
        <a:accent6>
          <a:srgbClr val="000000"/>
        </a:accent6>
        <a:hlink>
          <a:srgbClr val="DEDEDE"/>
        </a:hlink>
        <a:folHlink>
          <a:srgbClr val="C3C3C3"/>
        </a:folHlink>
      </a:clrScheme>
      <a:clrMap bg1="dk2" tx1="lt1" bg2="dk1" tx2="lt2" accent1="accent1" accent2="accent2" accent3="accent3" accent4="accent4" accent5="accent5" accent6="accent6" hlink="hlink" folHlink="folHlink"/>
    </a:extraClrScheme>
    <a:extraClrScheme>
      <a:clrScheme name="tto 8">
        <a:dk1>
          <a:srgbClr val="FFFFFF"/>
        </a:dk1>
        <a:lt1>
          <a:srgbClr val="000000"/>
        </a:lt1>
        <a:dk2>
          <a:srgbClr val="FFFFFF"/>
        </a:dk2>
        <a:lt2>
          <a:srgbClr val="FF0000"/>
        </a:lt2>
        <a:accent1>
          <a:srgbClr val="00CCFF"/>
        </a:accent1>
        <a:accent2>
          <a:srgbClr val="CC9900"/>
        </a:accent2>
        <a:accent3>
          <a:srgbClr val="00CC66"/>
        </a:accent3>
        <a:accent4>
          <a:srgbClr val="FFFF99"/>
        </a:accent4>
        <a:accent5>
          <a:srgbClr val="FF99CC"/>
        </a:accent5>
        <a:accent6>
          <a:srgbClr val="000000"/>
        </a:accent6>
        <a:hlink>
          <a:srgbClr val="00CC66"/>
        </a:hlink>
        <a:folHlink>
          <a:srgbClr val="FFFF99"/>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ttoTheme">
  <a:themeElements>
    <a:clrScheme name="TTO standard">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C7C7C7"/>
      </a:hlink>
      <a:folHlink>
        <a:srgbClr val="6699FF"/>
      </a:folHlink>
    </a:clrScheme>
    <a:fontScheme name="tt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rtlCol="0" anchor="ctr"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sz="2800" b="1" i="0" u="none" strike="noStrike" cap="none" normalizeH="0" baseline="0" dirty="0" smtClean="0">
            <a:ln>
              <a:noFill/>
            </a:ln>
            <a:solidFill>
              <a:schemeClr val="dk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lang="en-US" sz="2800" b="1" i="0" u="none" strike="noStrike" cap="none" normalizeH="0" baseline="0" smtClean="0">
            <a:ln>
              <a:noFill/>
            </a:ln>
            <a:solidFill>
              <a:schemeClr val="tx1"/>
            </a:solidFill>
            <a:effectLst>
              <a:outerShdw blurRad="38100" dist="38100" dir="2700000" algn="tl">
                <a:srgbClr val="000000">
                  <a:alpha val="43137"/>
                </a:srgbClr>
              </a:outerShdw>
            </a:effectLst>
            <a:latin typeface="Arial Narrow" pitchFamily="34" charset="0"/>
          </a:defRPr>
        </a:defPPr>
      </a:lstStyle>
    </a:lnDef>
    <a:txDef>
      <a:spPr>
        <a:noFill/>
      </a:spPr>
      <a:bodyPr wrap="square" rtlCol="0" anchor="ctr" anchorCtr="0">
        <a:spAutoFit/>
      </a:bodyPr>
      <a:lstStyle>
        <a:defPPr>
          <a:defRPr dirty="0" smtClean="0">
            <a:solidFill>
              <a:schemeClr val="dk1"/>
            </a:solidFill>
            <a:effectLst/>
          </a:defRPr>
        </a:defPPr>
      </a:lstStyle>
    </a:txDef>
  </a:objectDefaults>
  <a:extraClrSchemeLst>
    <a:extraClrScheme>
      <a:clrScheme name="TTO standard">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C7C7C7"/>
        </a:hlink>
        <a:folHlink>
          <a:srgbClr val="6699FF"/>
        </a:folHlink>
      </a:clrScheme>
      <a:clrMap bg1="lt1" tx1="dk1" bg2="lt2" tx2="dk2" accent1="accent1" accent2="accent2" accent3="accent3" accent4="accent4" accent5="accent5" accent6="accent6" hlink="hlink" folHlink="folHlink"/>
    </a:extraClrScheme>
    <a:extraClrScheme>
      <a:clrScheme name="TI standard">
        <a:dk1>
          <a:srgbClr val="000000"/>
        </a:dk1>
        <a:lt1>
          <a:srgbClr val="FFFFFF"/>
        </a:lt1>
        <a:dk2>
          <a:srgbClr val="DE0000"/>
        </a:dk2>
        <a:lt2>
          <a:srgbClr val="808080"/>
        </a:lt2>
        <a:accent1>
          <a:srgbClr val="DE0000"/>
        </a:accent1>
        <a:accent2>
          <a:srgbClr val="AEAEAE"/>
        </a:accent2>
        <a:accent3>
          <a:srgbClr val="117788"/>
        </a:accent3>
        <a:accent4>
          <a:srgbClr val="404040"/>
        </a:accent4>
        <a:accent5>
          <a:srgbClr val="7F7F7F"/>
        </a:accent5>
        <a:accent6>
          <a:srgbClr val="32B4CE"/>
        </a:accent6>
        <a:hlink>
          <a:srgbClr val="DE0000"/>
        </a:hlink>
        <a:folHlink>
          <a:srgbClr val="AAAAAA"/>
        </a:folHlink>
      </a:clrScheme>
      <a:clrMap bg1="lt1" tx1="dk1" bg2="lt2" tx2="dk2" accent1="accent1" accent2="accent2" accent3="accent3" accent4="accent4" accent5="accent5" accent6="accent6" hlink="hlink" folHlink="folHlink"/>
    </a:extraClrScheme>
    <a:extraClrScheme>
      <a:clrScheme name="tto 1">
        <a:dk1>
          <a:srgbClr val="000000"/>
        </a:dk1>
        <a:lt1>
          <a:srgbClr val="FEFFFF"/>
        </a:lt1>
        <a:dk2>
          <a:srgbClr val="000000"/>
        </a:dk2>
        <a:lt2>
          <a:srgbClr val="FEFFFF"/>
        </a:lt2>
        <a:accent1>
          <a:srgbClr val="F6F6F6"/>
        </a:accent1>
        <a:accent2>
          <a:srgbClr val="AFAFAF"/>
        </a:accent2>
        <a:accent3>
          <a:srgbClr val="DEDEDE"/>
        </a:accent3>
        <a:accent4>
          <a:srgbClr val="C3C3C3"/>
        </a:accent4>
        <a:accent5>
          <a:srgbClr val="FAFAFA"/>
        </a:accent5>
        <a:accent6>
          <a:srgbClr val="9E9E9E"/>
        </a:accent6>
        <a:hlink>
          <a:srgbClr val="DEDEDE"/>
        </a:hlink>
        <a:folHlink>
          <a:srgbClr val="C3C3C3"/>
        </a:folHlink>
      </a:clrScheme>
      <a:clrMap bg1="lt1" tx1="dk1" bg2="lt2" tx2="dk2" accent1="accent1" accent2="accent2" accent3="accent3" accent4="accent4" accent5="accent5" accent6="accent6" hlink="hlink" folHlink="folHlink"/>
    </a:extraClrScheme>
    <a:extraClrScheme>
      <a:clrScheme name="tto 2">
        <a:dk1>
          <a:srgbClr val="2181B7"/>
        </a:dk1>
        <a:lt1>
          <a:srgbClr val="FFFFFF"/>
        </a:lt1>
        <a:dk2>
          <a:srgbClr val="2181B7"/>
        </a:dk2>
        <a:lt2>
          <a:srgbClr val="FFFF99"/>
        </a:lt2>
        <a:accent1>
          <a:srgbClr val="003399"/>
        </a:accent1>
        <a:accent2>
          <a:srgbClr val="01B0FF"/>
        </a:accent2>
        <a:accent3>
          <a:srgbClr val="6666FF"/>
        </a:accent3>
        <a:accent4>
          <a:srgbClr val="1C6D9A"/>
        </a:accent4>
        <a:accent5>
          <a:srgbClr val="474B72"/>
        </a:accent5>
        <a:accent6>
          <a:srgbClr val="7030A0"/>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tto 3">
        <a:dk1>
          <a:srgbClr val="042AA4"/>
        </a:dk1>
        <a:lt1>
          <a:srgbClr val="FFFFFF"/>
        </a:lt1>
        <a:dk2>
          <a:srgbClr val="042AA4"/>
        </a:dk2>
        <a:lt2>
          <a:srgbClr val="FE9B03"/>
        </a:lt2>
        <a:accent1>
          <a:srgbClr val="000F40"/>
        </a:accent1>
        <a:accent2>
          <a:srgbClr val="603900"/>
        </a:accent2>
        <a:accent3>
          <a:srgbClr val="005C00"/>
        </a:accent3>
        <a:accent4>
          <a:srgbClr val="0249FC"/>
        </a:accent4>
        <a:accent5>
          <a:srgbClr val="7030A0"/>
        </a:accent5>
        <a:accent6>
          <a:srgbClr val="000000"/>
        </a:accent6>
        <a:hlink>
          <a:srgbClr val="005C00"/>
        </a:hlink>
        <a:folHlink>
          <a:srgbClr val="0249FC"/>
        </a:folHlink>
      </a:clrScheme>
      <a:clrMap bg1="dk2" tx1="lt1" bg2="dk1" tx2="lt2" accent1="accent1" accent2="accent2" accent3="accent3" accent4="accent4" accent5="accent5" accent6="accent6" hlink="hlink" folHlink="folHlink"/>
    </a:extraClrScheme>
    <a:extraClrScheme>
      <a:clrScheme name="tto 4">
        <a:dk1>
          <a:srgbClr val="000000"/>
        </a:dk1>
        <a:lt1>
          <a:srgbClr val="FFFFFF"/>
        </a:lt1>
        <a:dk2>
          <a:srgbClr val="4282E0"/>
        </a:dk2>
        <a:lt2>
          <a:srgbClr val="FFFFFF"/>
        </a:lt2>
        <a:accent1>
          <a:srgbClr val="C0F6F5"/>
        </a:accent1>
        <a:accent2>
          <a:srgbClr val="FAFEDA"/>
        </a:accent2>
        <a:accent3>
          <a:srgbClr val="FFCCFF"/>
        </a:accent3>
        <a:accent4>
          <a:srgbClr val="B4FCB2"/>
        </a:accent4>
        <a:accent5>
          <a:srgbClr val="FFFF99"/>
        </a:accent5>
        <a:accent6>
          <a:srgbClr val="5DD3FF"/>
        </a:accent6>
        <a:hlink>
          <a:srgbClr val="FFCCFF"/>
        </a:hlink>
        <a:folHlink>
          <a:srgbClr val="B4FCB2"/>
        </a:folHlink>
      </a:clrScheme>
      <a:clrMap bg1="lt1" tx1="dk1" bg2="lt2" tx2="dk2" accent1="accent1" accent2="accent2" accent3="accent3" accent4="accent4" accent5="accent5" accent6="accent6" hlink="hlink" folHlink="folHlink"/>
    </a:extraClrScheme>
    <a:extraClrScheme>
      <a:clrScheme name="tto 5">
        <a:dk1>
          <a:srgbClr val="000000"/>
        </a:dk1>
        <a:lt1>
          <a:srgbClr val="FFFFFF"/>
        </a:lt1>
        <a:dk2>
          <a:srgbClr val="0066FF"/>
        </a:dk2>
        <a:lt2>
          <a:srgbClr val="FFFFFF"/>
        </a:lt2>
        <a:accent1>
          <a:srgbClr val="FFFFCC"/>
        </a:accent1>
        <a:accent2>
          <a:srgbClr val="B5E0E3"/>
        </a:accent2>
        <a:accent3>
          <a:srgbClr val="E5D093"/>
        </a:accent3>
        <a:accent4>
          <a:srgbClr val="CCB374"/>
        </a:accent4>
        <a:accent5>
          <a:srgbClr val="C7A2E3"/>
        </a:accent5>
        <a:accent6>
          <a:srgbClr val="5DD3FF"/>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tto 6">
        <a:dk1>
          <a:srgbClr val="000000"/>
        </a:dk1>
        <a:lt1>
          <a:srgbClr val="FFFFFF"/>
        </a:lt1>
        <a:dk2>
          <a:srgbClr val="FF0000"/>
        </a:dk2>
        <a:lt2>
          <a:srgbClr val="FFFFFF"/>
        </a:lt2>
        <a:accent1>
          <a:srgbClr val="FFFF66"/>
        </a:accent1>
        <a:accent2>
          <a:srgbClr val="99FF66"/>
        </a:accent2>
        <a:accent3>
          <a:srgbClr val="99FFCC"/>
        </a:accent3>
        <a:accent4>
          <a:srgbClr val="FF99FF"/>
        </a:accent4>
        <a:accent5>
          <a:srgbClr val="93E2FF"/>
        </a:accent5>
        <a:accent6>
          <a:srgbClr val="FFE599"/>
        </a:accent6>
        <a:hlink>
          <a:srgbClr val="99FFCC"/>
        </a:hlink>
        <a:folHlink>
          <a:srgbClr val="FF99FF"/>
        </a:folHlink>
      </a:clrScheme>
      <a:clrMap bg1="lt1" tx1="dk1" bg2="lt2" tx2="dk2" accent1="accent1" accent2="accent2" accent3="accent3" accent4="accent4" accent5="accent5" accent6="accent6" hlink="hlink" folHlink="folHlink"/>
    </a:extraClrScheme>
    <a:extraClrScheme>
      <a:clrScheme name="tto 7">
        <a:dk1>
          <a:srgbClr val="FEFFFF"/>
        </a:dk1>
        <a:lt1>
          <a:srgbClr val="000000"/>
        </a:lt1>
        <a:dk2>
          <a:srgbClr val="FEFFFF"/>
        </a:dk2>
        <a:lt2>
          <a:srgbClr val="000000"/>
        </a:lt2>
        <a:accent1>
          <a:srgbClr val="F6F6F6"/>
        </a:accent1>
        <a:accent2>
          <a:srgbClr val="AFAFAF"/>
        </a:accent2>
        <a:accent3>
          <a:srgbClr val="DEDEDE"/>
        </a:accent3>
        <a:accent4>
          <a:srgbClr val="C3C3C3"/>
        </a:accent4>
        <a:accent5>
          <a:srgbClr val="FAFAFA"/>
        </a:accent5>
        <a:accent6>
          <a:srgbClr val="000000"/>
        </a:accent6>
        <a:hlink>
          <a:srgbClr val="DEDEDE"/>
        </a:hlink>
        <a:folHlink>
          <a:srgbClr val="C3C3C3"/>
        </a:folHlink>
      </a:clrScheme>
      <a:clrMap bg1="dk2" tx1="lt1" bg2="dk1" tx2="lt2" accent1="accent1" accent2="accent2" accent3="accent3" accent4="accent4" accent5="accent5" accent6="accent6" hlink="hlink" folHlink="folHlink"/>
    </a:extraClrScheme>
    <a:extraClrScheme>
      <a:clrScheme name="tto 8">
        <a:dk1>
          <a:srgbClr val="FFFFFF"/>
        </a:dk1>
        <a:lt1>
          <a:srgbClr val="000000"/>
        </a:lt1>
        <a:dk2>
          <a:srgbClr val="FFFFFF"/>
        </a:dk2>
        <a:lt2>
          <a:srgbClr val="FF0000"/>
        </a:lt2>
        <a:accent1>
          <a:srgbClr val="00CCFF"/>
        </a:accent1>
        <a:accent2>
          <a:srgbClr val="CC9900"/>
        </a:accent2>
        <a:accent3>
          <a:srgbClr val="00CC66"/>
        </a:accent3>
        <a:accent4>
          <a:srgbClr val="FFFF99"/>
        </a:accent4>
        <a:accent5>
          <a:srgbClr val="FF99CC"/>
        </a:accent5>
        <a:accent6>
          <a:srgbClr val="000000"/>
        </a:accent6>
        <a:hlink>
          <a:srgbClr val="00CC66"/>
        </a:hlink>
        <a:folHlink>
          <a:srgbClr val="FFFF99"/>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ttoTheme">
  <a:themeElements>
    <a:clrScheme name="TTO standard">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C7C7C7"/>
      </a:hlink>
      <a:folHlink>
        <a:srgbClr val="6699FF"/>
      </a:folHlink>
    </a:clrScheme>
    <a:fontScheme name="tt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rtlCol="0" anchor="ctr"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sz="2800" b="1" i="0" u="none" strike="noStrike" cap="none" normalizeH="0" baseline="0" dirty="0" smtClean="0">
            <a:ln>
              <a:noFill/>
            </a:ln>
            <a:solidFill>
              <a:schemeClr val="dk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lang="en-US" sz="2800" b="1" i="0" u="none" strike="noStrike" cap="none" normalizeH="0" baseline="0" smtClean="0">
            <a:ln>
              <a:noFill/>
            </a:ln>
            <a:solidFill>
              <a:schemeClr val="tx1"/>
            </a:solidFill>
            <a:effectLst>
              <a:outerShdw blurRad="38100" dist="38100" dir="2700000" algn="tl">
                <a:srgbClr val="000000">
                  <a:alpha val="43137"/>
                </a:srgbClr>
              </a:outerShdw>
            </a:effectLst>
            <a:latin typeface="Arial Narrow" pitchFamily="34" charset="0"/>
          </a:defRPr>
        </a:defPPr>
      </a:lstStyle>
    </a:lnDef>
    <a:txDef>
      <a:spPr>
        <a:noFill/>
      </a:spPr>
      <a:bodyPr wrap="square" rtlCol="0" anchor="ctr" anchorCtr="0">
        <a:spAutoFit/>
      </a:bodyPr>
      <a:lstStyle>
        <a:defPPr>
          <a:defRPr dirty="0" smtClean="0">
            <a:solidFill>
              <a:schemeClr val="dk1"/>
            </a:solidFill>
            <a:effectLst/>
          </a:defRPr>
        </a:defPPr>
      </a:lstStyle>
    </a:txDef>
  </a:objectDefaults>
  <a:extraClrSchemeLst>
    <a:extraClrScheme>
      <a:clrScheme name="TTO standard">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C7C7C7"/>
        </a:hlink>
        <a:folHlink>
          <a:srgbClr val="6699FF"/>
        </a:folHlink>
      </a:clrScheme>
      <a:clrMap bg1="lt1" tx1="dk1" bg2="lt2" tx2="dk2" accent1="accent1" accent2="accent2" accent3="accent3" accent4="accent4" accent5="accent5" accent6="accent6" hlink="hlink" folHlink="folHlink"/>
    </a:extraClrScheme>
    <a:extraClrScheme>
      <a:clrScheme name="TI standard">
        <a:dk1>
          <a:srgbClr val="000000"/>
        </a:dk1>
        <a:lt1>
          <a:srgbClr val="FFFFFF"/>
        </a:lt1>
        <a:dk2>
          <a:srgbClr val="DE0000"/>
        </a:dk2>
        <a:lt2>
          <a:srgbClr val="808080"/>
        </a:lt2>
        <a:accent1>
          <a:srgbClr val="DE0000"/>
        </a:accent1>
        <a:accent2>
          <a:srgbClr val="AEAEAE"/>
        </a:accent2>
        <a:accent3>
          <a:srgbClr val="117788"/>
        </a:accent3>
        <a:accent4>
          <a:srgbClr val="404040"/>
        </a:accent4>
        <a:accent5>
          <a:srgbClr val="7F7F7F"/>
        </a:accent5>
        <a:accent6>
          <a:srgbClr val="32B4CE"/>
        </a:accent6>
        <a:hlink>
          <a:srgbClr val="DE0000"/>
        </a:hlink>
        <a:folHlink>
          <a:srgbClr val="AAAAAA"/>
        </a:folHlink>
      </a:clrScheme>
      <a:clrMap bg1="lt1" tx1="dk1" bg2="lt2" tx2="dk2" accent1="accent1" accent2="accent2" accent3="accent3" accent4="accent4" accent5="accent5" accent6="accent6" hlink="hlink" folHlink="folHlink"/>
    </a:extraClrScheme>
    <a:extraClrScheme>
      <a:clrScheme name="tto 1">
        <a:dk1>
          <a:srgbClr val="000000"/>
        </a:dk1>
        <a:lt1>
          <a:srgbClr val="FEFFFF"/>
        </a:lt1>
        <a:dk2>
          <a:srgbClr val="000000"/>
        </a:dk2>
        <a:lt2>
          <a:srgbClr val="FEFFFF"/>
        </a:lt2>
        <a:accent1>
          <a:srgbClr val="F6F6F6"/>
        </a:accent1>
        <a:accent2>
          <a:srgbClr val="AFAFAF"/>
        </a:accent2>
        <a:accent3>
          <a:srgbClr val="DEDEDE"/>
        </a:accent3>
        <a:accent4>
          <a:srgbClr val="C3C3C3"/>
        </a:accent4>
        <a:accent5>
          <a:srgbClr val="FAFAFA"/>
        </a:accent5>
        <a:accent6>
          <a:srgbClr val="9E9E9E"/>
        </a:accent6>
        <a:hlink>
          <a:srgbClr val="DEDEDE"/>
        </a:hlink>
        <a:folHlink>
          <a:srgbClr val="C3C3C3"/>
        </a:folHlink>
      </a:clrScheme>
      <a:clrMap bg1="lt1" tx1="dk1" bg2="lt2" tx2="dk2" accent1="accent1" accent2="accent2" accent3="accent3" accent4="accent4" accent5="accent5" accent6="accent6" hlink="hlink" folHlink="folHlink"/>
    </a:extraClrScheme>
    <a:extraClrScheme>
      <a:clrScheme name="tto 2">
        <a:dk1>
          <a:srgbClr val="2181B7"/>
        </a:dk1>
        <a:lt1>
          <a:srgbClr val="FFFFFF"/>
        </a:lt1>
        <a:dk2>
          <a:srgbClr val="2181B7"/>
        </a:dk2>
        <a:lt2>
          <a:srgbClr val="FFFF99"/>
        </a:lt2>
        <a:accent1>
          <a:srgbClr val="003399"/>
        </a:accent1>
        <a:accent2>
          <a:srgbClr val="01B0FF"/>
        </a:accent2>
        <a:accent3>
          <a:srgbClr val="6666FF"/>
        </a:accent3>
        <a:accent4>
          <a:srgbClr val="1C6D9A"/>
        </a:accent4>
        <a:accent5>
          <a:srgbClr val="474B72"/>
        </a:accent5>
        <a:accent6>
          <a:srgbClr val="7030A0"/>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tto 3">
        <a:dk1>
          <a:srgbClr val="042AA4"/>
        </a:dk1>
        <a:lt1>
          <a:srgbClr val="FFFFFF"/>
        </a:lt1>
        <a:dk2>
          <a:srgbClr val="042AA4"/>
        </a:dk2>
        <a:lt2>
          <a:srgbClr val="FE9B03"/>
        </a:lt2>
        <a:accent1>
          <a:srgbClr val="000F40"/>
        </a:accent1>
        <a:accent2>
          <a:srgbClr val="603900"/>
        </a:accent2>
        <a:accent3>
          <a:srgbClr val="005C00"/>
        </a:accent3>
        <a:accent4>
          <a:srgbClr val="0249FC"/>
        </a:accent4>
        <a:accent5>
          <a:srgbClr val="7030A0"/>
        </a:accent5>
        <a:accent6>
          <a:srgbClr val="000000"/>
        </a:accent6>
        <a:hlink>
          <a:srgbClr val="005C00"/>
        </a:hlink>
        <a:folHlink>
          <a:srgbClr val="0249FC"/>
        </a:folHlink>
      </a:clrScheme>
      <a:clrMap bg1="dk2" tx1="lt1" bg2="dk1" tx2="lt2" accent1="accent1" accent2="accent2" accent3="accent3" accent4="accent4" accent5="accent5" accent6="accent6" hlink="hlink" folHlink="folHlink"/>
    </a:extraClrScheme>
    <a:extraClrScheme>
      <a:clrScheme name="tto 4">
        <a:dk1>
          <a:srgbClr val="000000"/>
        </a:dk1>
        <a:lt1>
          <a:srgbClr val="FFFFFF"/>
        </a:lt1>
        <a:dk2>
          <a:srgbClr val="4282E0"/>
        </a:dk2>
        <a:lt2>
          <a:srgbClr val="FFFFFF"/>
        </a:lt2>
        <a:accent1>
          <a:srgbClr val="C0F6F5"/>
        </a:accent1>
        <a:accent2>
          <a:srgbClr val="FAFEDA"/>
        </a:accent2>
        <a:accent3>
          <a:srgbClr val="FFCCFF"/>
        </a:accent3>
        <a:accent4>
          <a:srgbClr val="B4FCB2"/>
        </a:accent4>
        <a:accent5>
          <a:srgbClr val="FFFF99"/>
        </a:accent5>
        <a:accent6>
          <a:srgbClr val="5DD3FF"/>
        </a:accent6>
        <a:hlink>
          <a:srgbClr val="FFCCFF"/>
        </a:hlink>
        <a:folHlink>
          <a:srgbClr val="B4FCB2"/>
        </a:folHlink>
      </a:clrScheme>
      <a:clrMap bg1="lt1" tx1="dk1" bg2="lt2" tx2="dk2" accent1="accent1" accent2="accent2" accent3="accent3" accent4="accent4" accent5="accent5" accent6="accent6" hlink="hlink" folHlink="folHlink"/>
    </a:extraClrScheme>
    <a:extraClrScheme>
      <a:clrScheme name="tto 5">
        <a:dk1>
          <a:srgbClr val="000000"/>
        </a:dk1>
        <a:lt1>
          <a:srgbClr val="FFFFFF"/>
        </a:lt1>
        <a:dk2>
          <a:srgbClr val="0066FF"/>
        </a:dk2>
        <a:lt2>
          <a:srgbClr val="FFFFFF"/>
        </a:lt2>
        <a:accent1>
          <a:srgbClr val="FFFFCC"/>
        </a:accent1>
        <a:accent2>
          <a:srgbClr val="B5E0E3"/>
        </a:accent2>
        <a:accent3>
          <a:srgbClr val="E5D093"/>
        </a:accent3>
        <a:accent4>
          <a:srgbClr val="CCB374"/>
        </a:accent4>
        <a:accent5>
          <a:srgbClr val="C7A2E3"/>
        </a:accent5>
        <a:accent6>
          <a:srgbClr val="5DD3FF"/>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tto 6">
        <a:dk1>
          <a:srgbClr val="000000"/>
        </a:dk1>
        <a:lt1>
          <a:srgbClr val="FFFFFF"/>
        </a:lt1>
        <a:dk2>
          <a:srgbClr val="FF0000"/>
        </a:dk2>
        <a:lt2>
          <a:srgbClr val="FFFFFF"/>
        </a:lt2>
        <a:accent1>
          <a:srgbClr val="FFFF66"/>
        </a:accent1>
        <a:accent2>
          <a:srgbClr val="99FF66"/>
        </a:accent2>
        <a:accent3>
          <a:srgbClr val="99FFCC"/>
        </a:accent3>
        <a:accent4>
          <a:srgbClr val="FF99FF"/>
        </a:accent4>
        <a:accent5>
          <a:srgbClr val="93E2FF"/>
        </a:accent5>
        <a:accent6>
          <a:srgbClr val="FFE599"/>
        </a:accent6>
        <a:hlink>
          <a:srgbClr val="99FFCC"/>
        </a:hlink>
        <a:folHlink>
          <a:srgbClr val="FF99FF"/>
        </a:folHlink>
      </a:clrScheme>
      <a:clrMap bg1="lt1" tx1="dk1" bg2="lt2" tx2="dk2" accent1="accent1" accent2="accent2" accent3="accent3" accent4="accent4" accent5="accent5" accent6="accent6" hlink="hlink" folHlink="folHlink"/>
    </a:extraClrScheme>
    <a:extraClrScheme>
      <a:clrScheme name="tto 7">
        <a:dk1>
          <a:srgbClr val="FEFFFF"/>
        </a:dk1>
        <a:lt1>
          <a:srgbClr val="000000"/>
        </a:lt1>
        <a:dk2>
          <a:srgbClr val="FEFFFF"/>
        </a:dk2>
        <a:lt2>
          <a:srgbClr val="000000"/>
        </a:lt2>
        <a:accent1>
          <a:srgbClr val="F6F6F6"/>
        </a:accent1>
        <a:accent2>
          <a:srgbClr val="AFAFAF"/>
        </a:accent2>
        <a:accent3>
          <a:srgbClr val="DEDEDE"/>
        </a:accent3>
        <a:accent4>
          <a:srgbClr val="C3C3C3"/>
        </a:accent4>
        <a:accent5>
          <a:srgbClr val="FAFAFA"/>
        </a:accent5>
        <a:accent6>
          <a:srgbClr val="000000"/>
        </a:accent6>
        <a:hlink>
          <a:srgbClr val="DEDEDE"/>
        </a:hlink>
        <a:folHlink>
          <a:srgbClr val="C3C3C3"/>
        </a:folHlink>
      </a:clrScheme>
      <a:clrMap bg1="dk2" tx1="lt1" bg2="dk1" tx2="lt2" accent1="accent1" accent2="accent2" accent3="accent3" accent4="accent4" accent5="accent5" accent6="accent6" hlink="hlink" folHlink="folHlink"/>
    </a:extraClrScheme>
    <a:extraClrScheme>
      <a:clrScheme name="tto 8">
        <a:dk1>
          <a:srgbClr val="FFFFFF"/>
        </a:dk1>
        <a:lt1>
          <a:srgbClr val="000000"/>
        </a:lt1>
        <a:dk2>
          <a:srgbClr val="FFFFFF"/>
        </a:dk2>
        <a:lt2>
          <a:srgbClr val="FF0000"/>
        </a:lt2>
        <a:accent1>
          <a:srgbClr val="00CCFF"/>
        </a:accent1>
        <a:accent2>
          <a:srgbClr val="CC9900"/>
        </a:accent2>
        <a:accent3>
          <a:srgbClr val="00CC66"/>
        </a:accent3>
        <a:accent4>
          <a:srgbClr val="FFFF99"/>
        </a:accent4>
        <a:accent5>
          <a:srgbClr val="FF99CC"/>
        </a:accent5>
        <a:accent6>
          <a:srgbClr val="000000"/>
        </a:accent6>
        <a:hlink>
          <a:srgbClr val="00CC66"/>
        </a:hlink>
        <a:folHlink>
          <a:srgbClr val="FFFF99"/>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ttoTheme</Template>
  <TotalTime>16608</TotalTime>
  <Pages>3</Pages>
  <Words>2617</Words>
  <Application>Microsoft Office PowerPoint</Application>
  <PresentationFormat>On-screen Show (4:3)</PresentationFormat>
  <Paragraphs>672</Paragraphs>
  <Slides>36</Slides>
  <Notes>20</Notes>
  <HiddenSlides>2</HiddenSlides>
  <MMClips>0</MMClips>
  <ScaleCrop>false</ScaleCrop>
  <HeadingPairs>
    <vt:vector size="4" baseType="variant">
      <vt:variant>
        <vt:lpstr>Theme</vt:lpstr>
      </vt:variant>
      <vt:variant>
        <vt:i4>4</vt:i4>
      </vt:variant>
      <vt:variant>
        <vt:lpstr>Slide Titles</vt:lpstr>
      </vt:variant>
      <vt:variant>
        <vt:i4>36</vt:i4>
      </vt:variant>
    </vt:vector>
  </HeadingPairs>
  <TitlesOfParts>
    <vt:vector size="40" baseType="lpstr">
      <vt:lpstr>ttoTheme</vt:lpstr>
      <vt:lpstr>1_ttoTheme</vt:lpstr>
      <vt:lpstr>2_ttoTheme</vt:lpstr>
      <vt:lpstr>3_ttoTheme</vt:lpstr>
      <vt:lpstr>PowerPoint Presentation</vt:lpstr>
      <vt:lpstr>Objectives</vt:lpstr>
      <vt:lpstr>Outline</vt:lpstr>
      <vt:lpstr>Outline</vt:lpstr>
      <vt:lpstr>SYS/BIOS Thread Types (including Tasks)</vt:lpstr>
      <vt:lpstr>Outline</vt:lpstr>
      <vt:lpstr>Task Code Topology – Pending </vt:lpstr>
      <vt:lpstr>Outline</vt:lpstr>
      <vt:lpstr>Configuring a Task – Statically via the GUI</vt:lpstr>
      <vt:lpstr>Modification of a Task’s Priority</vt:lpstr>
      <vt:lpstr>Thread Preemption Example</vt:lpstr>
      <vt:lpstr>Task Object Concepts...</vt:lpstr>
      <vt:lpstr>Outline</vt:lpstr>
      <vt:lpstr>Swi vs. Task</vt:lpstr>
      <vt:lpstr>Outline</vt:lpstr>
      <vt:lpstr>Semaphore Pend</vt:lpstr>
      <vt:lpstr>Semaphore Post</vt:lpstr>
      <vt:lpstr>Configuring a Semaphore – Statically via GUI</vt:lpstr>
      <vt:lpstr>Shared Semaphores – FIFO…</vt:lpstr>
      <vt:lpstr>Priority-based Semaphores</vt:lpstr>
      <vt:lpstr>Outline</vt:lpstr>
      <vt:lpstr>SYS/BIOS Semaphore/Task APIs</vt:lpstr>
      <vt:lpstr>Outline</vt:lpstr>
      <vt:lpstr>Using Events – Explicit Post/Pend</vt:lpstr>
      <vt:lpstr>Implicit “Event Post”</vt:lpstr>
      <vt:lpstr>Outline</vt:lpstr>
      <vt:lpstr>Dynamically Creating Kernel Objects</vt:lpstr>
      <vt:lpstr>Example – Dynamic Task API</vt:lpstr>
      <vt:lpstr>Using System_printf()</vt:lpstr>
      <vt:lpstr>Outline</vt:lpstr>
      <vt:lpstr>Memory Footprint (MCU Targets)</vt:lpstr>
      <vt:lpstr>Outline</vt:lpstr>
      <vt:lpstr>Labs 5-9 “Roadmap”</vt:lpstr>
      <vt:lpstr>Lab 8 – “Blink LED” Using Task</vt:lpstr>
      <vt:lpstr>PowerPoint Presentation</vt:lpstr>
      <vt:lpstr>Outline</vt:lpstr>
    </vt:vector>
  </TitlesOfParts>
  <Company>SC Sales &amp; Marketing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TI-RTOS Kernel Workshop</dc:title>
  <dc:subject/>
  <dc:creator>ericw@ti.com</dc:creator>
  <cp:keywords/>
  <dc:description/>
  <cp:lastModifiedBy>Eric Wilbur</cp:lastModifiedBy>
  <cp:revision>416</cp:revision>
  <cp:lastPrinted>2013-11-29T20:45:50Z</cp:lastPrinted>
  <dcterms:created xsi:type="dcterms:W3CDTF">2001-09-20T20:19:44Z</dcterms:created>
  <dcterms:modified xsi:type="dcterms:W3CDTF">2015-05-07T21:15:56Z</dcterms:modified>
</cp:coreProperties>
</file>