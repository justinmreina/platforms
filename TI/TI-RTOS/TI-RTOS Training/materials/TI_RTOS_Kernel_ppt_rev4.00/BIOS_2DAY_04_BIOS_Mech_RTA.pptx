
<file path=[Content_Types].xml><?xml version="1.0" encoding="utf-8"?>
<Types xmlns="http://schemas.openxmlformats.org/package/2006/content-types">
  <Default Extension="png" ContentType="image/png"/>
  <Default Extension="jpeg" ContentType="image/jpeg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ppt/tags/tag2.xml" ContentType="application/vnd.openxmlformats-officedocument.presentationml.tags+xml"/>
  <Override PartName="/ppt/notesSlides/notesSlide2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notesSlides/notesSlide3.xml" ContentType="application/vnd.openxmlformats-officedocument.presentationml.notesSlide+xml"/>
  <Override PartName="/ppt/tags/tag12.xml" ContentType="application/vnd.openxmlformats-officedocument.presentationml.tags+xml"/>
  <Override PartName="/ppt/notesSlides/notesSlide4.xml" ContentType="application/vnd.openxmlformats-officedocument.presentationml.notesSlide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notesSlides/notesSlide5.xml" ContentType="application/vnd.openxmlformats-officedocument.presentationml.notesSlide+xml"/>
  <Override PartName="/ppt/tags/tag21.xml" ContentType="application/vnd.openxmlformats-officedocument.presentationml.tags+xml"/>
  <Override PartName="/ppt/notesSlides/notesSlide6.xml" ContentType="application/vnd.openxmlformats-officedocument.presentationml.notesSlide+xml"/>
  <Override PartName="/ppt/tags/tag22.xml" ContentType="application/vnd.openxmlformats-officedocument.presentationml.tags+xml"/>
  <Override PartName="/ppt/notesSlides/notesSlide7.xml" ContentType="application/vnd.openxmlformats-officedocument.presentationml.notesSlide+xml"/>
  <Override PartName="/ppt/tags/tag23.xml" ContentType="application/vnd.openxmlformats-officedocument.presentationml.tags+xml"/>
  <Override PartName="/ppt/notesSlides/notesSlide8.xml" ContentType="application/vnd.openxmlformats-officedocument.presentationml.notesSlide+xml"/>
  <Override PartName="/ppt/tags/tag24.xml" ContentType="application/vnd.openxmlformats-officedocument.presentationml.tags+xml"/>
  <Override PartName="/ppt/notesSlides/notesSlide9.xml" ContentType="application/vnd.openxmlformats-officedocument.presentationml.notesSlide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notesSlides/notesSlide10.xml" ContentType="application/vnd.openxmlformats-officedocument.presentationml.notesSlide+xml"/>
  <Override PartName="/ppt/tags/tag41.xml" ContentType="application/vnd.openxmlformats-officedocument.presentationml.tags+xml"/>
  <Override PartName="/ppt/notesSlides/notesSlide11.xml" ContentType="application/vnd.openxmlformats-officedocument.presentationml.notesSlide+xml"/>
  <Override PartName="/ppt/tags/tag42.xml" ContentType="application/vnd.openxmlformats-officedocument.presentationml.tags+xml"/>
  <Override PartName="/ppt/notesSlides/notesSlide12.xml" ContentType="application/vnd.openxmlformats-officedocument.presentationml.notesSlide+xml"/>
  <Override PartName="/ppt/tags/tag43.xml" ContentType="application/vnd.openxmlformats-officedocument.presentationml.tags+xml"/>
  <Override PartName="/ppt/notesSlides/notesSlide13.xml" ContentType="application/vnd.openxmlformats-officedocument.presentationml.notesSlide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notesSlides/notesSlide14.xml" ContentType="application/vnd.openxmlformats-officedocument.presentationml.notesSlide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tags/tag61.xml" ContentType="application/vnd.openxmlformats-officedocument.presentationml.tags+xml"/>
  <Override PartName="/ppt/notesSlides/notesSlide17.xml" ContentType="application/vnd.openxmlformats-officedocument.presentationml.notesSlide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752" r:id="rId1"/>
  </p:sldMasterIdLst>
  <p:notesMasterIdLst>
    <p:notesMasterId r:id="rId29"/>
  </p:notesMasterIdLst>
  <p:handoutMasterIdLst>
    <p:handoutMasterId r:id="rId30"/>
  </p:handoutMasterIdLst>
  <p:sldIdLst>
    <p:sldId id="2786" r:id="rId2"/>
    <p:sldId id="1157" r:id="rId3"/>
    <p:sldId id="2935" r:id="rId4"/>
    <p:sldId id="2678" r:id="rId5"/>
    <p:sldId id="1625" r:id="rId6"/>
    <p:sldId id="2787" r:id="rId7"/>
    <p:sldId id="2936" r:id="rId8"/>
    <p:sldId id="2679" r:id="rId9"/>
    <p:sldId id="2680" r:id="rId10"/>
    <p:sldId id="2681" r:id="rId11"/>
    <p:sldId id="2584" r:id="rId12"/>
    <p:sldId id="1622" r:id="rId13"/>
    <p:sldId id="2937" r:id="rId14"/>
    <p:sldId id="1570" r:id="rId15"/>
    <p:sldId id="2938" r:id="rId16"/>
    <p:sldId id="2683" r:id="rId17"/>
    <p:sldId id="2684" r:id="rId18"/>
    <p:sldId id="2685" r:id="rId19"/>
    <p:sldId id="2686" r:id="rId20"/>
    <p:sldId id="2939" r:id="rId21"/>
    <p:sldId id="2813" r:id="rId22"/>
    <p:sldId id="2940" r:id="rId23"/>
    <p:sldId id="1586" r:id="rId24"/>
    <p:sldId id="2619" r:id="rId25"/>
    <p:sldId id="2583" r:id="rId26"/>
    <p:sldId id="2788" r:id="rId27"/>
    <p:sldId id="1587" r:id="rId28"/>
  </p:sldIdLst>
  <p:sldSz cx="9144000" cy="6858000" type="screen4x3"/>
  <p:notesSz cx="7315200" cy="9601200"/>
  <p:defaultTextStyle>
    <a:defPPr>
      <a:defRPr lang="en-US"/>
    </a:defPPr>
    <a:lvl1pPr algn="l" rtl="0" eaLnBrk="0" fontAlgn="base" hangingPunct="0">
      <a:lnSpc>
        <a:spcPct val="80000"/>
      </a:lnSpc>
      <a:spcBef>
        <a:spcPct val="50000"/>
      </a:spcBef>
      <a:spcAft>
        <a:spcPct val="0"/>
      </a:spcAft>
      <a:defRPr sz="2400" b="1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lnSpc>
        <a:spcPct val="80000"/>
      </a:lnSpc>
      <a:spcBef>
        <a:spcPct val="50000"/>
      </a:spcBef>
      <a:spcAft>
        <a:spcPct val="0"/>
      </a:spcAft>
      <a:defRPr sz="2400" b="1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lnSpc>
        <a:spcPct val="80000"/>
      </a:lnSpc>
      <a:spcBef>
        <a:spcPct val="50000"/>
      </a:spcBef>
      <a:spcAft>
        <a:spcPct val="0"/>
      </a:spcAft>
      <a:defRPr sz="2400" b="1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lnSpc>
        <a:spcPct val="80000"/>
      </a:lnSpc>
      <a:spcBef>
        <a:spcPct val="50000"/>
      </a:spcBef>
      <a:spcAft>
        <a:spcPct val="0"/>
      </a:spcAft>
      <a:defRPr sz="2400" b="1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lnSpc>
        <a:spcPct val="80000"/>
      </a:lnSpc>
      <a:spcBef>
        <a:spcPct val="50000"/>
      </a:spcBef>
      <a:spcAft>
        <a:spcPct val="0"/>
      </a:spcAft>
      <a:defRPr sz="2400" b="1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2400" b="1"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sz="2400" b="1"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sz="2400" b="1"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sz="2400" b="1"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FF66"/>
    <a:srgbClr val="FFFFFF"/>
    <a:srgbClr val="99FF33"/>
    <a:srgbClr val="808080"/>
    <a:srgbClr val="CCFF33"/>
    <a:srgbClr val="66FF33"/>
    <a:srgbClr val="00FF00"/>
    <a:srgbClr val="FF66FF"/>
    <a:srgbClr val="FF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287" autoAdjust="0"/>
    <p:restoredTop sz="89894" autoAdjust="0"/>
  </p:normalViewPr>
  <p:slideViewPr>
    <p:cSldViewPr>
      <p:cViewPr>
        <p:scale>
          <a:sx n="70" d="100"/>
          <a:sy n="70" d="100"/>
        </p:scale>
        <p:origin x="-1404" y="-21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138" tIns="0" rIns="20138" bIns="0" numCol="1" anchor="t" anchorCtr="0" compatLnSpc="1">
            <a:prstTxWarp prst="textNoShape">
              <a:avLst/>
            </a:prstTxWarp>
          </a:bodyPr>
          <a:lstStyle>
            <a:lvl1pPr defTabSz="966788">
              <a:defRPr sz="1100" b="0" i="1">
                <a:effectLst/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144963" y="0"/>
            <a:ext cx="3170237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138" tIns="0" rIns="20138" bIns="0" numCol="1" anchor="t" anchorCtr="0" compatLnSpc="1">
            <a:prstTxWarp prst="textNoShape">
              <a:avLst/>
            </a:prstTxWarp>
          </a:bodyPr>
          <a:lstStyle>
            <a:lvl1pPr algn="r" defTabSz="966788">
              <a:defRPr sz="1100" b="0" i="1">
                <a:effectLst/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121775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138" tIns="0" rIns="20138" bIns="0" numCol="1" anchor="b" anchorCtr="0" compatLnSpc="1">
            <a:prstTxWarp prst="textNoShape">
              <a:avLst/>
            </a:prstTxWarp>
          </a:bodyPr>
          <a:lstStyle>
            <a:lvl1pPr defTabSz="966788">
              <a:defRPr sz="1100" b="0" i="1">
                <a:effectLst/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144963" y="9121775"/>
            <a:ext cx="3170237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138" tIns="0" rIns="20138" bIns="0" numCol="1" anchor="b" anchorCtr="0" compatLnSpc="1">
            <a:prstTxWarp prst="textNoShape">
              <a:avLst/>
            </a:prstTxWarp>
          </a:bodyPr>
          <a:lstStyle>
            <a:lvl1pPr algn="r" defTabSz="966788">
              <a:defRPr sz="1100" b="0" i="1">
                <a:effectLst/>
                <a:latin typeface="Times New Roman" pitchFamily="18" charset="0"/>
              </a:defRPr>
            </a:lvl1pPr>
          </a:lstStyle>
          <a:p>
            <a:pPr>
              <a:defRPr/>
            </a:pPr>
            <a:fld id="{F9125EF3-9C84-446D-814E-D843392E7CF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011859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138" tIns="0" rIns="20138" bIns="0" numCol="1" anchor="t" anchorCtr="0" compatLnSpc="1">
            <a:prstTxWarp prst="textNoShape">
              <a:avLst/>
            </a:prstTxWarp>
          </a:bodyPr>
          <a:lstStyle>
            <a:lvl1pPr defTabSz="966788">
              <a:lnSpc>
                <a:spcPct val="100000"/>
              </a:lnSpc>
              <a:spcBef>
                <a:spcPct val="0"/>
              </a:spcBef>
              <a:defRPr sz="1100" b="0" i="1">
                <a:effectLst/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144963" y="0"/>
            <a:ext cx="3170237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138" tIns="0" rIns="20138" bIns="0" numCol="1" anchor="t" anchorCtr="0" compatLnSpc="1">
            <a:prstTxWarp prst="textNoShape">
              <a:avLst/>
            </a:prstTxWarp>
          </a:bodyPr>
          <a:lstStyle>
            <a:lvl1pPr algn="r" defTabSz="966788">
              <a:lnSpc>
                <a:spcPct val="100000"/>
              </a:lnSpc>
              <a:spcBef>
                <a:spcPct val="0"/>
              </a:spcBef>
              <a:defRPr sz="1100" b="0" i="1">
                <a:effectLst/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52" name="Rectangle 4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121775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138" tIns="0" rIns="20138" bIns="0" numCol="1" anchor="b" anchorCtr="0" compatLnSpc="1">
            <a:prstTxWarp prst="textNoShape">
              <a:avLst/>
            </a:prstTxWarp>
          </a:bodyPr>
          <a:lstStyle>
            <a:lvl1pPr defTabSz="966788">
              <a:lnSpc>
                <a:spcPct val="100000"/>
              </a:lnSpc>
              <a:spcBef>
                <a:spcPct val="0"/>
              </a:spcBef>
              <a:defRPr sz="1100" b="0" i="1">
                <a:effectLst/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53" name="Rectangle 5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144963" y="9121775"/>
            <a:ext cx="3170237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138" tIns="0" rIns="20138" bIns="0" numCol="1" anchor="b" anchorCtr="0" compatLnSpc="1">
            <a:prstTxWarp prst="textNoShape">
              <a:avLst/>
            </a:prstTxWarp>
          </a:bodyPr>
          <a:lstStyle>
            <a:lvl1pPr algn="r" defTabSz="966788">
              <a:lnSpc>
                <a:spcPct val="100000"/>
              </a:lnSpc>
              <a:spcBef>
                <a:spcPct val="0"/>
              </a:spcBef>
              <a:defRPr sz="1100" b="0" i="1">
                <a:effectLst/>
                <a:latin typeface="Times New Roman" pitchFamily="18" charset="0"/>
              </a:defRPr>
            </a:lvl1pPr>
          </a:lstStyle>
          <a:p>
            <a:pPr>
              <a:defRPr/>
            </a:pPr>
            <a:fld id="{2E1AA8B8-BF0A-4758-8A28-14443BF2716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2054" name="Rectangle 6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74725" y="4560888"/>
            <a:ext cx="5365750" cy="43195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7332" tIns="48667" rIns="97332" bIns="48667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41991" name="Rectangle 7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66825" y="727075"/>
            <a:ext cx="4781550" cy="3586163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</p:sp>
    </p:spTree>
    <p:extLst>
      <p:ext uri="{BB962C8B-B14F-4D97-AF65-F5344CB8AC3E}">
        <p14:creationId xmlns:p14="http://schemas.microsoft.com/office/powerpoint/2010/main" val="175355597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2C6C0C1-1B8F-4B4F-94B0-B1692E2C7C4C}" type="slidenum">
              <a:rPr lang="en-US">
                <a:solidFill>
                  <a:prstClr val="black"/>
                </a:solidFill>
              </a:rPr>
              <a:pPr/>
              <a:t>1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573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734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381125" y="5110163"/>
            <a:ext cx="5688013" cy="3370262"/>
          </a:xfrm>
          <a:noFill/>
          <a:ln/>
        </p:spPr>
        <p:txBody>
          <a:bodyPr/>
          <a:lstStyle/>
          <a:p>
            <a:endParaRPr lang="en-US" dirty="0" smtClean="0">
              <a:latin typeface="Arial" pitchFamily="34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DC453DA8-F35D-407D-9EA1-F8DD4262E605}" type="slidenum">
              <a:rPr lang="en-US" smtClean="0"/>
              <a:pPr/>
              <a:t>2</a:t>
            </a:fld>
            <a:endParaRPr lang="en-US" smtClean="0"/>
          </a:p>
        </p:txBody>
      </p:sp>
      <p:sp>
        <p:nvSpPr>
          <p:cNvPr id="450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50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dirty="0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2C6C0C1-1B8F-4B4F-94B0-B1692E2C7C4C}" type="slidenum">
              <a:rPr lang="en-US">
                <a:solidFill>
                  <a:prstClr val="black"/>
                </a:solidFill>
              </a:rPr>
              <a:pPr/>
              <a:t>5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573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734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381125" y="5110163"/>
            <a:ext cx="5688013" cy="3370262"/>
          </a:xfrm>
          <a:noFill/>
          <a:ln/>
        </p:spPr>
        <p:txBody>
          <a:bodyPr/>
          <a:lstStyle/>
          <a:p>
            <a:endParaRPr lang="en-US" dirty="0" smtClean="0">
              <a:latin typeface="Arial" pitchFamily="34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2C6C0C1-1B8F-4B4F-94B0-B1692E2C7C4C}" type="slidenum">
              <a:rPr lang="en-US">
                <a:solidFill>
                  <a:prstClr val="black"/>
                </a:solidFill>
              </a:rPr>
              <a:pPr/>
              <a:t>6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573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734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381125" y="5110163"/>
            <a:ext cx="5688013" cy="3370262"/>
          </a:xfrm>
          <a:noFill/>
          <a:ln/>
        </p:spPr>
        <p:txBody>
          <a:bodyPr/>
          <a:lstStyle/>
          <a:p>
            <a:endParaRPr lang="en-US" dirty="0" smtClean="0">
              <a:latin typeface="Arial" pitchFamily="34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2C6C0C1-1B8F-4B4F-94B0-B1692E2C7C4C}" type="slidenum">
              <a:rPr lang="en-US">
                <a:solidFill>
                  <a:prstClr val="black"/>
                </a:solidFill>
              </a:rPr>
              <a:pPr/>
              <a:t>8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573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734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381125" y="5110163"/>
            <a:ext cx="5688013" cy="3370262"/>
          </a:xfrm>
          <a:noFill/>
          <a:ln/>
        </p:spPr>
        <p:txBody>
          <a:bodyPr/>
          <a:lstStyle/>
          <a:p>
            <a:endParaRPr lang="en-US" dirty="0" smtClean="0">
              <a:latin typeface="Arial" pitchFamily="34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2C6C0C1-1B8F-4B4F-94B0-B1692E2C7C4C}" type="slidenum">
              <a:rPr lang="en-US">
                <a:solidFill>
                  <a:prstClr val="black"/>
                </a:solidFill>
              </a:rPr>
              <a:pPr/>
              <a:t>9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573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734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381125" y="5110163"/>
            <a:ext cx="5688013" cy="3370262"/>
          </a:xfrm>
          <a:noFill/>
          <a:ln/>
        </p:spPr>
        <p:txBody>
          <a:bodyPr/>
          <a:lstStyle/>
          <a:p>
            <a:endParaRPr lang="en-US" dirty="0" smtClean="0">
              <a:latin typeface="Arial" pitchFamily="34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2C6C0C1-1B8F-4B4F-94B0-B1692E2C7C4C}" type="slidenum">
              <a:rPr lang="en-US">
                <a:solidFill>
                  <a:prstClr val="black"/>
                </a:solidFill>
              </a:rPr>
              <a:pPr/>
              <a:t>10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573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734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381125" y="5110163"/>
            <a:ext cx="5688013" cy="3370262"/>
          </a:xfrm>
          <a:noFill/>
          <a:ln/>
        </p:spPr>
        <p:txBody>
          <a:bodyPr/>
          <a:lstStyle/>
          <a:p>
            <a:endParaRPr lang="en-US" dirty="0" smtClean="0">
              <a:latin typeface="Arial" pitchFamily="34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7DB09FB-C3E7-4D53-B5FF-1E40BE23FC94}" type="slidenum">
              <a:rPr lang="en-US">
                <a:solidFill>
                  <a:prstClr val="black"/>
                </a:solidFill>
              </a:rPr>
              <a:pPr/>
              <a:t>11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604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042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381125" y="5110163"/>
            <a:ext cx="5688013" cy="3370262"/>
          </a:xfrm>
          <a:noFill/>
          <a:ln/>
        </p:spPr>
        <p:txBody>
          <a:bodyPr/>
          <a:lstStyle/>
          <a:p>
            <a:endParaRPr lang="en-US" dirty="0" smtClean="0">
              <a:latin typeface="Arial" pitchFamily="34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2F065EA-FFA7-4396-ADC3-1992C7CD0BBB}" type="slidenum">
              <a:rPr lang="en-US">
                <a:solidFill>
                  <a:prstClr val="black"/>
                </a:solidFill>
              </a:rPr>
              <a:pPr/>
              <a:t>12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532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325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381125" y="5110163"/>
            <a:ext cx="5688013" cy="3370262"/>
          </a:xfrm>
          <a:noFill/>
          <a:ln/>
        </p:spPr>
        <p:txBody>
          <a:bodyPr/>
          <a:lstStyle/>
          <a:p>
            <a:endParaRPr lang="en-US" dirty="0" smtClean="0">
              <a:latin typeface="Arial" pitchFamily="34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5507374-DF37-4C2A-86E7-E20097238C0A}" type="slidenum">
              <a:rPr lang="en-US" smtClean="0"/>
              <a:pPr/>
              <a:t>16</a:t>
            </a:fld>
            <a:endParaRPr lang="en-US" smtClean="0"/>
          </a:p>
        </p:txBody>
      </p:sp>
      <p:sp>
        <p:nvSpPr>
          <p:cNvPr id="522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71588" y="715963"/>
            <a:ext cx="4776787" cy="3582987"/>
          </a:xfrm>
          <a:ln/>
        </p:spPr>
      </p:sp>
      <p:sp>
        <p:nvSpPr>
          <p:cNvPr id="5222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4725" y="4537075"/>
            <a:ext cx="1352550" cy="476250"/>
          </a:xfrm>
          <a:noFill/>
          <a:ln/>
        </p:spPr>
        <p:txBody>
          <a:bodyPr/>
          <a:lstStyle/>
          <a:p>
            <a:endParaRPr lang="en-US" dirty="0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5507374-DF37-4C2A-86E7-E20097238C0A}" type="slidenum">
              <a:rPr lang="en-US" smtClean="0"/>
              <a:pPr/>
              <a:t>17</a:t>
            </a:fld>
            <a:endParaRPr lang="en-US" smtClean="0"/>
          </a:p>
        </p:txBody>
      </p:sp>
      <p:sp>
        <p:nvSpPr>
          <p:cNvPr id="522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71588" y="715963"/>
            <a:ext cx="4776787" cy="3582987"/>
          </a:xfrm>
          <a:ln/>
        </p:spPr>
      </p:sp>
      <p:sp>
        <p:nvSpPr>
          <p:cNvPr id="5222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4725" y="4537075"/>
            <a:ext cx="1352550" cy="476250"/>
          </a:xfrm>
          <a:noFill/>
          <a:ln/>
        </p:spPr>
        <p:txBody>
          <a:bodyPr/>
          <a:lstStyle/>
          <a:p>
            <a:endParaRPr lang="en-US" dirty="0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5507374-DF37-4C2A-86E7-E20097238C0A}" type="slidenum">
              <a:rPr lang="en-US" smtClean="0"/>
              <a:pPr/>
              <a:t>18</a:t>
            </a:fld>
            <a:endParaRPr lang="en-US" smtClean="0"/>
          </a:p>
        </p:txBody>
      </p:sp>
      <p:sp>
        <p:nvSpPr>
          <p:cNvPr id="522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71588" y="715963"/>
            <a:ext cx="4776787" cy="3582987"/>
          </a:xfrm>
          <a:ln/>
        </p:spPr>
      </p:sp>
      <p:sp>
        <p:nvSpPr>
          <p:cNvPr id="5222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4725" y="4537075"/>
            <a:ext cx="1352550" cy="476250"/>
          </a:xfrm>
          <a:noFill/>
          <a:ln/>
        </p:spPr>
        <p:txBody>
          <a:bodyPr/>
          <a:lstStyle/>
          <a:p>
            <a:endParaRPr lang="en-US" dirty="0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5507374-DF37-4C2A-86E7-E20097238C0A}" type="slidenum">
              <a:rPr lang="en-US" smtClean="0"/>
              <a:pPr/>
              <a:t>19</a:t>
            </a:fld>
            <a:endParaRPr lang="en-US" smtClean="0"/>
          </a:p>
        </p:txBody>
      </p:sp>
      <p:sp>
        <p:nvSpPr>
          <p:cNvPr id="522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71588" y="715963"/>
            <a:ext cx="4776787" cy="3582987"/>
          </a:xfrm>
          <a:ln/>
        </p:spPr>
      </p:sp>
      <p:sp>
        <p:nvSpPr>
          <p:cNvPr id="5222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4725" y="4537075"/>
            <a:ext cx="1352550" cy="476250"/>
          </a:xfrm>
          <a:noFill/>
          <a:ln/>
        </p:spPr>
        <p:txBody>
          <a:bodyPr/>
          <a:lstStyle/>
          <a:p>
            <a:endParaRPr lang="en-US" dirty="0" smtClean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C3E7387F-42D9-4779-AFA7-125F4ABA639D}" type="slidenum">
              <a:rPr lang="en-US">
                <a:solidFill>
                  <a:prstClr val="black"/>
                </a:solidFill>
              </a:rPr>
              <a:pPr/>
              <a:t>21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696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963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381125" y="5110163"/>
            <a:ext cx="5688013" cy="3370262"/>
          </a:xfrm>
          <a:noFill/>
          <a:ln/>
        </p:spPr>
        <p:txBody>
          <a:bodyPr/>
          <a:lstStyle/>
          <a:p>
            <a:endParaRPr lang="en-US" dirty="0" smtClean="0">
              <a:latin typeface="Arial" pitchFamily="34" charset="0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A6CF76D9-8C4F-404E-B421-838159FF4993}" type="slidenum">
              <a:rPr lang="en-US" smtClean="0">
                <a:solidFill>
                  <a:prstClr val="black"/>
                </a:solidFill>
              </a:rPr>
              <a:pPr/>
              <a:t>24</a:t>
            </a:fld>
            <a:endParaRPr lang="en-US" smtClean="0">
              <a:solidFill>
                <a:prstClr val="black"/>
              </a:solidFill>
            </a:endParaRPr>
          </a:p>
        </p:txBody>
      </p:sp>
      <p:sp>
        <p:nvSpPr>
          <p:cNvPr id="409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 cap="flat"/>
        </p:spPr>
      </p:sp>
      <p:sp>
        <p:nvSpPr>
          <p:cNvPr id="4096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75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257300" y="720725"/>
            <a:ext cx="4800600" cy="360045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4755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731520" y="4560570"/>
            <a:ext cx="5852160" cy="432054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0BF2A9B-7231-4DCA-8C32-4EE3742A70A2}" type="slidenum">
              <a:rPr lang="en-US">
                <a:solidFill>
                  <a:prstClr val="black"/>
                </a:solidFill>
              </a:rPr>
              <a:pPr/>
              <a:t>26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614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4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381125" y="5110163"/>
            <a:ext cx="5688013" cy="3370262"/>
          </a:xfrm>
          <a:noFill/>
          <a:ln/>
        </p:spPr>
        <p:txBody>
          <a:bodyPr/>
          <a:lstStyle/>
          <a:p>
            <a:endParaRPr lang="en-US" dirty="0" smtClean="0">
              <a:latin typeface="Arial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noFill/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3810000"/>
            <a:ext cx="7772400" cy="1752600"/>
          </a:xfrm>
        </p:spPr>
        <p:txBody>
          <a:bodyPr>
            <a:normAutofit/>
          </a:bodyPr>
          <a:lstStyle>
            <a:lvl1pPr marL="0" indent="0" algn="l">
              <a:buNone/>
              <a:defRPr sz="28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F89BD6-E300-4C67-B175-76E5828D27B4}" type="datetimeFigureOut">
              <a:rPr lang="en-US" smtClean="0"/>
              <a:pPr/>
              <a:t>2/18/2015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582210-5FCA-4178-AB04-4337EADA3D81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8" name="Picture 7" descr="ti_pptbar_white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326486" y="6324600"/>
            <a:ext cx="8491027" cy="481544"/>
          </a:xfrm>
          <a:prstGeom prst="rect">
            <a:avLst/>
          </a:prstGeom>
        </p:spPr>
      </p:pic>
      <p:grpSp>
        <p:nvGrpSpPr>
          <p:cNvPr id="10" name="Group 16"/>
          <p:cNvGrpSpPr>
            <a:grpSpLocks/>
          </p:cNvGrpSpPr>
          <p:nvPr/>
        </p:nvGrpSpPr>
        <p:grpSpPr bwMode="auto">
          <a:xfrm>
            <a:off x="-7938" y="6323013"/>
            <a:ext cx="8815388" cy="466725"/>
            <a:chOff x="-7620" y="6323077"/>
            <a:chExt cx="8814816" cy="466344"/>
          </a:xfrm>
        </p:grpSpPr>
        <p:cxnSp>
          <p:nvCxnSpPr>
            <p:cNvPr id="11" name="Straight Connector 10"/>
            <p:cNvCxnSpPr/>
            <p:nvPr userDrawn="1"/>
          </p:nvCxnSpPr>
          <p:spPr>
            <a:xfrm>
              <a:off x="-7620" y="6789421"/>
              <a:ext cx="8814816" cy="0"/>
            </a:xfrm>
            <a:prstGeom prst="line">
              <a:avLst/>
            </a:prstGeom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 userDrawn="1"/>
          </p:nvCxnSpPr>
          <p:spPr>
            <a:xfrm>
              <a:off x="-7620" y="6324663"/>
              <a:ext cx="8814816" cy="0"/>
            </a:xfrm>
            <a:prstGeom prst="line">
              <a:avLst/>
            </a:prstGeom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 userDrawn="1"/>
          </p:nvCxnSpPr>
          <p:spPr>
            <a:xfrm rot="16200000">
              <a:off x="8570849" y="6556249"/>
              <a:ext cx="466344" cy="0"/>
            </a:xfrm>
            <a:prstGeom prst="line">
              <a:avLst/>
            </a:prstGeom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  <p:pic>
        <p:nvPicPr>
          <p:cNvPr id="14" name="Picture 8" descr="ti_logo_powerpoint_1_line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75438" y="6440488"/>
            <a:ext cx="1874837" cy="231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6" descr="selected_powerpoint_bg_2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4"/>
          <p:cNvSpPr/>
          <p:nvPr/>
        </p:nvSpPr>
        <p:spPr>
          <a:xfrm>
            <a:off x="0" y="6324600"/>
            <a:ext cx="8804275" cy="457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grpSp>
        <p:nvGrpSpPr>
          <p:cNvPr id="6" name="Group 18"/>
          <p:cNvGrpSpPr>
            <a:grpSpLocks/>
          </p:cNvGrpSpPr>
          <p:nvPr/>
        </p:nvGrpSpPr>
        <p:grpSpPr bwMode="auto">
          <a:xfrm>
            <a:off x="-7938" y="6323013"/>
            <a:ext cx="8815388" cy="466725"/>
            <a:chOff x="-7620" y="6323077"/>
            <a:chExt cx="8814816" cy="466344"/>
          </a:xfrm>
        </p:grpSpPr>
        <p:cxnSp>
          <p:nvCxnSpPr>
            <p:cNvPr id="7" name="Straight Connector 6"/>
            <p:cNvCxnSpPr/>
            <p:nvPr userDrawn="1"/>
          </p:nvCxnSpPr>
          <p:spPr>
            <a:xfrm>
              <a:off x="-7620" y="6789421"/>
              <a:ext cx="8814816" cy="0"/>
            </a:xfrm>
            <a:prstGeom prst="line">
              <a:avLst/>
            </a:prstGeom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8" name="Straight Connector 7"/>
            <p:cNvCxnSpPr/>
            <p:nvPr userDrawn="1"/>
          </p:nvCxnSpPr>
          <p:spPr>
            <a:xfrm>
              <a:off x="-7620" y="6324663"/>
              <a:ext cx="8814816" cy="0"/>
            </a:xfrm>
            <a:prstGeom prst="line">
              <a:avLst/>
            </a:prstGeom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 userDrawn="1"/>
          </p:nvCxnSpPr>
          <p:spPr>
            <a:xfrm rot="16200000">
              <a:off x="8570849" y="6556249"/>
              <a:ext cx="466344" cy="0"/>
            </a:xfrm>
            <a:prstGeom prst="line">
              <a:avLst/>
            </a:prstGeom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  <p:pic>
        <p:nvPicPr>
          <p:cNvPr id="10" name="Picture 25" descr="ti_logo_powerpoint_1_line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75438" y="6440488"/>
            <a:ext cx="1874837" cy="231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342900" y="1943100"/>
            <a:ext cx="8458200" cy="1470025"/>
          </a:xfrm>
        </p:spPr>
        <p:txBody>
          <a:bodyPr>
            <a:normAutofit/>
          </a:bodyPr>
          <a:lstStyle>
            <a:lvl1pPr algn="l"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342900" y="3698875"/>
            <a:ext cx="8458200" cy="1485900"/>
          </a:xfrm>
          <a:ln/>
        </p:spPr>
        <p:txBody>
          <a:bodyPr>
            <a:normAutofit/>
          </a:bodyPr>
          <a:lstStyle>
            <a:lvl1pPr marL="0" indent="0">
              <a:buFontTx/>
              <a:buNone/>
              <a:defRPr sz="2800" b="1"/>
            </a:lvl1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672641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6" descr="selected_powerpoint_bg_1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4"/>
          <p:cNvSpPr/>
          <p:nvPr/>
        </p:nvSpPr>
        <p:spPr>
          <a:xfrm>
            <a:off x="0" y="6324600"/>
            <a:ext cx="8804275" cy="457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grpSp>
        <p:nvGrpSpPr>
          <p:cNvPr id="6" name="Group 13"/>
          <p:cNvGrpSpPr>
            <a:grpSpLocks/>
          </p:cNvGrpSpPr>
          <p:nvPr/>
        </p:nvGrpSpPr>
        <p:grpSpPr bwMode="auto">
          <a:xfrm>
            <a:off x="-7938" y="6323013"/>
            <a:ext cx="8815388" cy="466725"/>
            <a:chOff x="-7620" y="6323077"/>
            <a:chExt cx="8814816" cy="466344"/>
          </a:xfrm>
        </p:grpSpPr>
        <p:cxnSp>
          <p:nvCxnSpPr>
            <p:cNvPr id="7" name="Straight Connector 6"/>
            <p:cNvCxnSpPr/>
            <p:nvPr userDrawn="1"/>
          </p:nvCxnSpPr>
          <p:spPr>
            <a:xfrm>
              <a:off x="-7620" y="6789421"/>
              <a:ext cx="8814816" cy="0"/>
            </a:xfrm>
            <a:prstGeom prst="line">
              <a:avLst/>
            </a:prstGeom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8" name="Straight Connector 7"/>
            <p:cNvCxnSpPr/>
            <p:nvPr userDrawn="1"/>
          </p:nvCxnSpPr>
          <p:spPr>
            <a:xfrm>
              <a:off x="-7620" y="6324663"/>
              <a:ext cx="8814816" cy="0"/>
            </a:xfrm>
            <a:prstGeom prst="line">
              <a:avLst/>
            </a:prstGeom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 userDrawn="1"/>
          </p:nvCxnSpPr>
          <p:spPr>
            <a:xfrm rot="16200000">
              <a:off x="8570849" y="6556249"/>
              <a:ext cx="466344" cy="0"/>
            </a:xfrm>
            <a:prstGeom prst="line">
              <a:avLst/>
            </a:prstGeom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  <p:pic>
        <p:nvPicPr>
          <p:cNvPr id="10" name="Picture 25" descr="ti_logo_powerpoint_1_line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75438" y="6440488"/>
            <a:ext cx="1874837" cy="231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342900" y="1943100"/>
            <a:ext cx="8458200" cy="1470025"/>
          </a:xfrm>
        </p:spPr>
        <p:txBody>
          <a:bodyPr>
            <a:normAutofit/>
          </a:bodyPr>
          <a:lstStyle>
            <a:lvl1pPr algn="l"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342900" y="3698875"/>
            <a:ext cx="8458200" cy="1485900"/>
          </a:xfrm>
          <a:ln/>
        </p:spPr>
        <p:txBody>
          <a:bodyPr>
            <a:normAutofit/>
          </a:bodyPr>
          <a:lstStyle>
            <a:lvl1pPr marL="0" indent="0">
              <a:buFontTx/>
              <a:buNone/>
              <a:defRPr sz="2800" b="1"/>
            </a:lvl1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11" name="Rectangle 24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6642100" y="6038850"/>
            <a:ext cx="2133600" cy="206375"/>
          </a:xfrm>
        </p:spPr>
        <p:txBody>
          <a:bodyPr/>
          <a:lstStyle>
            <a:lvl1pPr>
              <a:defRPr/>
            </a:lvl1pPr>
          </a:lstStyle>
          <a:p>
            <a:fld id="{E427ED86-F7CD-4E74-A97C-6D3BAEB102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994255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6" descr="selected_powerpoint_bg_1_grey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4"/>
          <p:cNvSpPr/>
          <p:nvPr/>
        </p:nvSpPr>
        <p:spPr>
          <a:xfrm>
            <a:off x="0" y="6324600"/>
            <a:ext cx="8782050" cy="457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grpSp>
        <p:nvGrpSpPr>
          <p:cNvPr id="6" name="Group 13"/>
          <p:cNvGrpSpPr>
            <a:grpSpLocks/>
          </p:cNvGrpSpPr>
          <p:nvPr/>
        </p:nvGrpSpPr>
        <p:grpSpPr bwMode="auto">
          <a:xfrm>
            <a:off x="-7938" y="6323013"/>
            <a:ext cx="8815388" cy="466725"/>
            <a:chOff x="-7620" y="6323077"/>
            <a:chExt cx="8814816" cy="466344"/>
          </a:xfrm>
        </p:grpSpPr>
        <p:cxnSp>
          <p:nvCxnSpPr>
            <p:cNvPr id="7" name="Straight Connector 6"/>
            <p:cNvCxnSpPr/>
            <p:nvPr userDrawn="1"/>
          </p:nvCxnSpPr>
          <p:spPr>
            <a:xfrm>
              <a:off x="-7620" y="6789421"/>
              <a:ext cx="8814816" cy="0"/>
            </a:xfrm>
            <a:prstGeom prst="line">
              <a:avLst/>
            </a:prstGeom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8" name="Straight Connector 7"/>
            <p:cNvCxnSpPr/>
            <p:nvPr userDrawn="1"/>
          </p:nvCxnSpPr>
          <p:spPr>
            <a:xfrm>
              <a:off x="-7620" y="6324663"/>
              <a:ext cx="8814816" cy="0"/>
            </a:xfrm>
            <a:prstGeom prst="line">
              <a:avLst/>
            </a:prstGeom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 userDrawn="1"/>
          </p:nvCxnSpPr>
          <p:spPr>
            <a:xfrm rot="16200000">
              <a:off x="8570849" y="6556249"/>
              <a:ext cx="466344" cy="0"/>
            </a:xfrm>
            <a:prstGeom prst="line">
              <a:avLst/>
            </a:prstGeom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  <p:pic>
        <p:nvPicPr>
          <p:cNvPr id="10" name="Picture 25" descr="ti_logo_powerpoint_1_line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75438" y="6440488"/>
            <a:ext cx="1874837" cy="231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342900" y="1943100"/>
            <a:ext cx="8458200" cy="1470025"/>
          </a:xfrm>
        </p:spPr>
        <p:txBody>
          <a:bodyPr>
            <a:normAutofit/>
          </a:bodyPr>
          <a:lstStyle>
            <a:lvl1pPr algn="l"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342900" y="3698875"/>
            <a:ext cx="8458200" cy="1485900"/>
          </a:xfrm>
          <a:ln/>
        </p:spPr>
        <p:txBody>
          <a:bodyPr>
            <a:normAutofit/>
          </a:bodyPr>
          <a:lstStyle>
            <a:lvl1pPr marL="0" indent="0">
              <a:buFontTx/>
              <a:buNone/>
              <a:defRPr sz="2800" b="1"/>
            </a:lvl1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9527067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F89BD6-E300-4C67-B175-76E5828D27B4}" type="datetimeFigureOut">
              <a:rPr lang="en-US" smtClean="0"/>
              <a:pPr/>
              <a:t>2/18/2015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582210-5FCA-4178-AB04-4337EADA3D8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F89BD6-E300-4C67-B175-76E5828D27B4}" type="datetimeFigureOut">
              <a:rPr lang="en-US" smtClean="0"/>
              <a:pPr/>
              <a:t>2/18/2015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582210-5FCA-4178-AB04-4337EADA3D8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F89BD6-E300-4C67-B175-76E5828D27B4}" type="datetimeFigureOut">
              <a:rPr lang="en-US" smtClean="0"/>
              <a:pPr/>
              <a:t>2/18/2015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582210-5FCA-4178-AB04-4337EADA3D8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F89BD6-E300-4C67-B175-76E5828D27B4}" type="datetimeFigureOut">
              <a:rPr lang="en-US" smtClean="0"/>
              <a:pPr/>
              <a:t>2/18/2015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582210-5FCA-4178-AB04-4337EADA3D8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F89BD6-E300-4C67-B175-76E5828D27B4}" type="datetimeFigureOut">
              <a:rPr lang="en-US" smtClean="0"/>
              <a:pPr/>
              <a:t>2/18/2015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582210-5FCA-4178-AB04-4337EADA3D8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F89BD6-E300-4C67-B175-76E5828D27B4}" type="datetimeFigureOut">
              <a:rPr lang="en-US" smtClean="0"/>
              <a:pPr/>
              <a:t>2/18/2015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582210-5FCA-4178-AB04-4337EADA3D8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F89BD6-E300-4C67-B175-76E5828D27B4}" type="datetimeFigureOut">
              <a:rPr lang="en-US" smtClean="0"/>
              <a:pPr/>
              <a:t>2/18/2015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582210-5FCA-4178-AB04-4337EADA3D8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0" y="1"/>
            <a:ext cx="9144000" cy="742950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762000"/>
            <a:ext cx="8229600" cy="5562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EF89BD6-E300-4C67-B175-76E5828D27B4}" type="datetimeFigureOut">
              <a:rPr lang="en-US" smtClean="0"/>
              <a:pPr/>
              <a:t>2/18/2015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582210-5FCA-4178-AB04-4337EADA3D81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TI Logo Color One Line" descr="tilogo_color_oneline.png" hidden="1"/>
          <p:cNvPicPr>
            <a:picLocks noChangeAspect="1"/>
          </p:cNvPicPr>
          <p:nvPr/>
        </p:nvPicPr>
        <p:blipFill>
          <a:blip r:embed="rId13" cstate="print"/>
          <a:stretch>
            <a:fillRect/>
          </a:stretch>
        </p:blipFill>
        <p:spPr>
          <a:xfrm>
            <a:off x="147730" y="6101890"/>
            <a:ext cx="1840840" cy="237724"/>
          </a:xfrm>
          <a:prstGeom prst="rect">
            <a:avLst/>
          </a:prstGeom>
        </p:spPr>
      </p:pic>
      <p:pic>
        <p:nvPicPr>
          <p:cNvPr id="8" name="TI Logo White One Line" descr="tilogo_bw_oneline.png" hidden="1"/>
          <p:cNvPicPr>
            <a:picLocks noChangeAspect="1"/>
          </p:cNvPicPr>
          <p:nvPr/>
        </p:nvPicPr>
        <p:blipFill>
          <a:blip r:embed="rId14" cstate="print"/>
          <a:stretch>
            <a:fillRect/>
          </a:stretch>
        </p:blipFill>
        <p:spPr>
          <a:xfrm>
            <a:off x="136939" y="5288938"/>
            <a:ext cx="1822553" cy="237724"/>
          </a:xfrm>
          <a:prstGeom prst="rect">
            <a:avLst/>
          </a:prstGeom>
        </p:spPr>
      </p:pic>
      <p:pic>
        <p:nvPicPr>
          <p:cNvPr id="9" name="TI Logo White Stack" descr="tilogo_bw_twoline.png" hidden="1"/>
          <p:cNvPicPr>
            <a:picLocks noChangeAspect="1"/>
          </p:cNvPicPr>
          <p:nvPr/>
        </p:nvPicPr>
        <p:blipFill>
          <a:blip r:embed="rId15" cstate="print"/>
          <a:stretch>
            <a:fillRect/>
          </a:stretch>
        </p:blipFill>
        <p:spPr>
          <a:xfrm>
            <a:off x="121847" y="5656160"/>
            <a:ext cx="1456824" cy="353539"/>
          </a:xfrm>
          <a:prstGeom prst="rect">
            <a:avLst/>
          </a:prstGeom>
        </p:spPr>
      </p:pic>
      <p:pic>
        <p:nvPicPr>
          <p:cNvPr id="10" name="TI Logo Color Stack" descr="tilogo_color_twoline.png" hidden="1"/>
          <p:cNvPicPr>
            <a:picLocks noChangeAspect="1"/>
          </p:cNvPicPr>
          <p:nvPr/>
        </p:nvPicPr>
        <p:blipFill>
          <a:blip r:embed="rId16" cstate="print"/>
          <a:stretch>
            <a:fillRect/>
          </a:stretch>
        </p:blipFill>
        <p:spPr>
          <a:xfrm>
            <a:off x="127241" y="6399926"/>
            <a:ext cx="1438537" cy="34744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53" r:id="rId1"/>
    <p:sldLayoutId id="2147483754" r:id="rId2"/>
    <p:sldLayoutId id="2147483755" r:id="rId3"/>
    <p:sldLayoutId id="2147483756" r:id="rId4"/>
    <p:sldLayoutId id="2147483757" r:id="rId5"/>
    <p:sldLayoutId id="2147483758" r:id="rId6"/>
    <p:sldLayoutId id="2147483759" r:id="rId7"/>
    <p:sldLayoutId id="2147483760" r:id="rId8"/>
    <p:sldLayoutId id="2147483761" r:id="rId9"/>
    <p:sldLayoutId id="2147483762" r:id="rId10"/>
    <p:sldLayoutId id="2147483763" r:id="rId11"/>
  </p:sldLayoutIdLst>
  <p:transition>
    <p:fade/>
  </p:transition>
  <p:timing>
    <p:tnLst>
      <p:par>
        <p:cTn id="1" dur="indefinite" restart="never" nodeType="tmRoot"/>
      </p:par>
    </p:tnLst>
  </p:timing>
  <p:txStyles>
    <p:titleStyle>
      <a:lvl1pPr algn="ctr" defTabSz="914400" rtl="0" eaLnBrk="1" latinLnBrk="0" hangingPunct="1">
        <a:spcBef>
          <a:spcPct val="0"/>
        </a:spcBef>
        <a:buNone/>
        <a:defRPr sz="3600" b="1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Clr>
          <a:schemeClr val="tx2"/>
        </a:buClr>
        <a:buSzPct val="75000"/>
        <a:buFont typeface="Wingdings" pitchFamily="2" charset="2"/>
        <a:buChar char=""/>
        <a:defRPr sz="32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Clr>
          <a:schemeClr val="tx2"/>
        </a:buClr>
        <a:buSzPct val="75000"/>
        <a:buFont typeface="Wingdings" pitchFamily="2" charset="2"/>
        <a:buChar char=""/>
        <a:defRPr sz="2800" b="1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Clr>
          <a:schemeClr val="tx2"/>
        </a:buClr>
        <a:buSzPct val="75000"/>
        <a:buFont typeface="Wingdings" pitchFamily="2" charset="2"/>
        <a:buChar char=""/>
        <a:defRPr sz="2400" b="1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Clr>
          <a:schemeClr val="tx2"/>
        </a:buClr>
        <a:buSzPct val="75000"/>
        <a:buFont typeface="Wingdings" pitchFamily="2" charset="2"/>
        <a:buChar char=""/>
        <a:defRPr sz="2000" b="1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Clr>
          <a:schemeClr val="tx2"/>
        </a:buClr>
        <a:buSzPct val="75000"/>
        <a:buFont typeface="Wingdings" pitchFamily="2" charset="2"/>
        <a:buChar char=""/>
        <a:defRPr sz="2000" b="1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1.xml"/><Relationship Id="rId4" Type="http://schemas.openxmlformats.org/officeDocument/2006/relationships/image" Target="../media/image10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2.xml"/><Relationship Id="rId4" Type="http://schemas.openxmlformats.org/officeDocument/2006/relationships/image" Target="../media/image11.wmf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" Target="slide15.xml"/><Relationship Id="rId3" Type="http://schemas.openxmlformats.org/officeDocument/2006/relationships/tags" Target="../tags/tag5.xml"/><Relationship Id="rId7" Type="http://schemas.openxmlformats.org/officeDocument/2006/relationships/tags" Target="../tags/tag9.xml"/><Relationship Id="rId12" Type="http://schemas.openxmlformats.org/officeDocument/2006/relationships/slide" Target="slide13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6" Type="http://schemas.openxmlformats.org/officeDocument/2006/relationships/tags" Target="../tags/tag8.xml"/><Relationship Id="rId11" Type="http://schemas.openxmlformats.org/officeDocument/2006/relationships/slide" Target="slide7.xml"/><Relationship Id="rId5" Type="http://schemas.openxmlformats.org/officeDocument/2006/relationships/tags" Target="../tags/tag7.xml"/><Relationship Id="rId15" Type="http://schemas.openxmlformats.org/officeDocument/2006/relationships/slide" Target="slide22.xml"/><Relationship Id="rId10" Type="http://schemas.openxmlformats.org/officeDocument/2006/relationships/slide" Target="slide3.xml"/><Relationship Id="rId4" Type="http://schemas.openxmlformats.org/officeDocument/2006/relationships/tags" Target="../tags/tag6.xml"/><Relationship Id="rId9" Type="http://schemas.openxmlformats.org/officeDocument/2006/relationships/image" Target="../media/image12.png"/><Relationship Id="rId14" Type="http://schemas.openxmlformats.org/officeDocument/2006/relationships/slide" Target="slide20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10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7" Type="http://schemas.openxmlformats.org/officeDocument/2006/relationships/image" Target="../media/image17.png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11.xml"/><Relationship Id="rId6" Type="http://schemas.openxmlformats.org/officeDocument/2006/relationships/image" Target="../media/image4.png"/><Relationship Id="rId5" Type="http://schemas.openxmlformats.org/officeDocument/2006/relationships/image" Target="../media/image15.png"/><Relationship Id="rId4" Type="http://schemas.openxmlformats.org/officeDocument/2006/relationships/image" Target="../media/image1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12.xml"/><Relationship Id="rId5" Type="http://schemas.openxmlformats.org/officeDocument/2006/relationships/image" Target="../media/image4.png"/><Relationship Id="rId4" Type="http://schemas.openxmlformats.org/officeDocument/2006/relationships/image" Target="../media/image18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" Target="slide15.xml"/><Relationship Id="rId3" Type="http://schemas.openxmlformats.org/officeDocument/2006/relationships/tags" Target="../tags/tag15.xml"/><Relationship Id="rId7" Type="http://schemas.openxmlformats.org/officeDocument/2006/relationships/tags" Target="../tags/tag19.xml"/><Relationship Id="rId12" Type="http://schemas.openxmlformats.org/officeDocument/2006/relationships/slide" Target="slide13.xml"/><Relationship Id="rId2" Type="http://schemas.openxmlformats.org/officeDocument/2006/relationships/tags" Target="../tags/tag14.xml"/><Relationship Id="rId1" Type="http://schemas.openxmlformats.org/officeDocument/2006/relationships/tags" Target="../tags/tag13.xml"/><Relationship Id="rId6" Type="http://schemas.openxmlformats.org/officeDocument/2006/relationships/tags" Target="../tags/tag18.xml"/><Relationship Id="rId11" Type="http://schemas.openxmlformats.org/officeDocument/2006/relationships/slide" Target="slide7.xml"/><Relationship Id="rId5" Type="http://schemas.openxmlformats.org/officeDocument/2006/relationships/tags" Target="../tags/tag17.xml"/><Relationship Id="rId15" Type="http://schemas.openxmlformats.org/officeDocument/2006/relationships/slide" Target="slide22.xml"/><Relationship Id="rId10" Type="http://schemas.openxmlformats.org/officeDocument/2006/relationships/slide" Target="slide3.xml"/><Relationship Id="rId4" Type="http://schemas.openxmlformats.org/officeDocument/2006/relationships/tags" Target="../tags/tag16.xml"/><Relationship Id="rId9" Type="http://schemas.openxmlformats.org/officeDocument/2006/relationships/image" Target="../media/image12.png"/><Relationship Id="rId14" Type="http://schemas.openxmlformats.org/officeDocument/2006/relationships/slide" Target="slide20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7" Type="http://schemas.openxmlformats.org/officeDocument/2006/relationships/image" Target="../media/image21.png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20.xml"/><Relationship Id="rId6" Type="http://schemas.openxmlformats.org/officeDocument/2006/relationships/image" Target="../media/image4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21.xml"/><Relationship Id="rId6" Type="http://schemas.openxmlformats.org/officeDocument/2006/relationships/image" Target="../media/image19.png"/><Relationship Id="rId5" Type="http://schemas.openxmlformats.org/officeDocument/2006/relationships/image" Target="../media/image4.png"/><Relationship Id="rId4" Type="http://schemas.openxmlformats.org/officeDocument/2006/relationships/image" Target="../media/image2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7" Type="http://schemas.openxmlformats.org/officeDocument/2006/relationships/image" Target="../media/image19.png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22.xml"/><Relationship Id="rId6" Type="http://schemas.openxmlformats.org/officeDocument/2006/relationships/image" Target="../media/image4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23.xml"/><Relationship Id="rId4" Type="http://schemas.openxmlformats.org/officeDocument/2006/relationships/image" Target="../media/image2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24.xml"/><Relationship Id="rId4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" Target="slide15.xml"/><Relationship Id="rId3" Type="http://schemas.openxmlformats.org/officeDocument/2006/relationships/tags" Target="../tags/tag27.xml"/><Relationship Id="rId7" Type="http://schemas.openxmlformats.org/officeDocument/2006/relationships/tags" Target="../tags/tag31.xml"/><Relationship Id="rId12" Type="http://schemas.openxmlformats.org/officeDocument/2006/relationships/slide" Target="slide13.xml"/><Relationship Id="rId2" Type="http://schemas.openxmlformats.org/officeDocument/2006/relationships/tags" Target="../tags/tag26.xml"/><Relationship Id="rId1" Type="http://schemas.openxmlformats.org/officeDocument/2006/relationships/tags" Target="../tags/tag25.xml"/><Relationship Id="rId6" Type="http://schemas.openxmlformats.org/officeDocument/2006/relationships/tags" Target="../tags/tag30.xml"/><Relationship Id="rId11" Type="http://schemas.openxmlformats.org/officeDocument/2006/relationships/slide" Target="slide7.xml"/><Relationship Id="rId5" Type="http://schemas.openxmlformats.org/officeDocument/2006/relationships/tags" Target="../tags/tag29.xml"/><Relationship Id="rId15" Type="http://schemas.openxmlformats.org/officeDocument/2006/relationships/slide" Target="slide22.xml"/><Relationship Id="rId10" Type="http://schemas.openxmlformats.org/officeDocument/2006/relationships/slide" Target="slide3.xml"/><Relationship Id="rId4" Type="http://schemas.openxmlformats.org/officeDocument/2006/relationships/tags" Target="../tags/tag28.xml"/><Relationship Id="rId9" Type="http://schemas.openxmlformats.org/officeDocument/2006/relationships/image" Target="../media/image12.png"/><Relationship Id="rId14" Type="http://schemas.openxmlformats.org/officeDocument/2006/relationships/slide" Target="slide20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32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" Target="slide15.xml"/><Relationship Id="rId3" Type="http://schemas.openxmlformats.org/officeDocument/2006/relationships/tags" Target="../tags/tag35.xml"/><Relationship Id="rId7" Type="http://schemas.openxmlformats.org/officeDocument/2006/relationships/tags" Target="../tags/tag39.xml"/><Relationship Id="rId12" Type="http://schemas.openxmlformats.org/officeDocument/2006/relationships/slide" Target="slide13.xml"/><Relationship Id="rId2" Type="http://schemas.openxmlformats.org/officeDocument/2006/relationships/tags" Target="../tags/tag34.xml"/><Relationship Id="rId1" Type="http://schemas.openxmlformats.org/officeDocument/2006/relationships/tags" Target="../tags/tag33.xml"/><Relationship Id="rId6" Type="http://schemas.openxmlformats.org/officeDocument/2006/relationships/tags" Target="../tags/tag38.xml"/><Relationship Id="rId11" Type="http://schemas.openxmlformats.org/officeDocument/2006/relationships/slide" Target="slide7.xml"/><Relationship Id="rId5" Type="http://schemas.openxmlformats.org/officeDocument/2006/relationships/tags" Target="../tags/tag37.xml"/><Relationship Id="rId15" Type="http://schemas.openxmlformats.org/officeDocument/2006/relationships/slide" Target="slide22.xml"/><Relationship Id="rId10" Type="http://schemas.openxmlformats.org/officeDocument/2006/relationships/slide" Target="slide3.xml"/><Relationship Id="rId4" Type="http://schemas.openxmlformats.org/officeDocument/2006/relationships/tags" Target="../tags/tag36.xml"/><Relationship Id="rId9" Type="http://schemas.openxmlformats.org/officeDocument/2006/relationships/image" Target="../media/image12.png"/><Relationship Id="rId14" Type="http://schemas.openxmlformats.org/officeDocument/2006/relationships/slide" Target="slide20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7" Type="http://schemas.openxmlformats.org/officeDocument/2006/relationships/image" Target="../media/image28.png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40.xml"/><Relationship Id="rId6" Type="http://schemas.openxmlformats.org/officeDocument/2006/relationships/image" Target="../media/image4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41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42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43.xml"/><Relationship Id="rId6" Type="http://schemas.openxmlformats.org/officeDocument/2006/relationships/image" Target="../media/image34.png"/><Relationship Id="rId5" Type="http://schemas.openxmlformats.org/officeDocument/2006/relationships/image" Target="../media/image4.png"/><Relationship Id="rId4" Type="http://schemas.openxmlformats.org/officeDocument/2006/relationships/image" Target="../media/image33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" Target="slide15.xml"/><Relationship Id="rId3" Type="http://schemas.openxmlformats.org/officeDocument/2006/relationships/tags" Target="../tags/tag46.xml"/><Relationship Id="rId7" Type="http://schemas.openxmlformats.org/officeDocument/2006/relationships/tags" Target="../tags/tag50.xml"/><Relationship Id="rId12" Type="http://schemas.openxmlformats.org/officeDocument/2006/relationships/slide" Target="slide13.xml"/><Relationship Id="rId2" Type="http://schemas.openxmlformats.org/officeDocument/2006/relationships/tags" Target="../tags/tag45.xml"/><Relationship Id="rId1" Type="http://schemas.openxmlformats.org/officeDocument/2006/relationships/tags" Target="../tags/tag44.xml"/><Relationship Id="rId6" Type="http://schemas.openxmlformats.org/officeDocument/2006/relationships/tags" Target="../tags/tag49.xml"/><Relationship Id="rId11" Type="http://schemas.openxmlformats.org/officeDocument/2006/relationships/slide" Target="slide7.xml"/><Relationship Id="rId5" Type="http://schemas.openxmlformats.org/officeDocument/2006/relationships/tags" Target="../tags/tag48.xml"/><Relationship Id="rId15" Type="http://schemas.openxmlformats.org/officeDocument/2006/relationships/slide" Target="slide22.xml"/><Relationship Id="rId10" Type="http://schemas.openxmlformats.org/officeDocument/2006/relationships/slide" Target="slide3.xml"/><Relationship Id="rId4" Type="http://schemas.openxmlformats.org/officeDocument/2006/relationships/tags" Target="../tags/tag47.xml"/><Relationship Id="rId9" Type="http://schemas.openxmlformats.org/officeDocument/2006/relationships/image" Target="../media/image12.png"/><Relationship Id="rId14" Type="http://schemas.openxmlformats.org/officeDocument/2006/relationships/slide" Target="slide20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51.xml"/><Relationship Id="rId4" Type="http://schemas.openxmlformats.org/officeDocument/2006/relationships/image" Target="../media/image35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" Target="slide15.xml"/><Relationship Id="rId3" Type="http://schemas.openxmlformats.org/officeDocument/2006/relationships/tags" Target="../tags/tag54.xml"/><Relationship Id="rId7" Type="http://schemas.openxmlformats.org/officeDocument/2006/relationships/tags" Target="../tags/tag58.xml"/><Relationship Id="rId12" Type="http://schemas.openxmlformats.org/officeDocument/2006/relationships/slide" Target="slide13.xml"/><Relationship Id="rId2" Type="http://schemas.openxmlformats.org/officeDocument/2006/relationships/tags" Target="../tags/tag53.xml"/><Relationship Id="rId1" Type="http://schemas.openxmlformats.org/officeDocument/2006/relationships/tags" Target="../tags/tag52.xml"/><Relationship Id="rId6" Type="http://schemas.openxmlformats.org/officeDocument/2006/relationships/tags" Target="../tags/tag57.xml"/><Relationship Id="rId11" Type="http://schemas.openxmlformats.org/officeDocument/2006/relationships/slide" Target="slide7.xml"/><Relationship Id="rId5" Type="http://schemas.openxmlformats.org/officeDocument/2006/relationships/tags" Target="../tags/tag56.xml"/><Relationship Id="rId15" Type="http://schemas.openxmlformats.org/officeDocument/2006/relationships/slide" Target="slide22.xml"/><Relationship Id="rId10" Type="http://schemas.openxmlformats.org/officeDocument/2006/relationships/slide" Target="slide3.xml"/><Relationship Id="rId4" Type="http://schemas.openxmlformats.org/officeDocument/2006/relationships/tags" Target="../tags/tag55.xml"/><Relationship Id="rId9" Type="http://schemas.openxmlformats.org/officeDocument/2006/relationships/image" Target="../media/image12.png"/><Relationship Id="rId14" Type="http://schemas.openxmlformats.org/officeDocument/2006/relationships/slide" Target="slide20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8.xml"/><Relationship Id="rId1" Type="http://schemas.openxmlformats.org/officeDocument/2006/relationships/tags" Target="../tags/tag59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9.xml"/><Relationship Id="rId1" Type="http://schemas.openxmlformats.org/officeDocument/2006/relationships/tags" Target="../tags/tag60.xml"/><Relationship Id="rId5" Type="http://schemas.openxmlformats.org/officeDocument/2006/relationships/image" Target="../media/image4.png"/><Relationship Id="rId4" Type="http://schemas.openxmlformats.org/officeDocument/2006/relationships/image" Target="../media/image36.jpe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4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7" Type="http://schemas.openxmlformats.org/officeDocument/2006/relationships/image" Target="../media/image4.png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61.xml"/><Relationship Id="rId6" Type="http://schemas.openxmlformats.org/officeDocument/2006/relationships/image" Target="../media/image18.png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tags" Target="../tags/tag64.xml"/><Relationship Id="rId7" Type="http://schemas.openxmlformats.org/officeDocument/2006/relationships/image" Target="../media/image12.png"/><Relationship Id="rId2" Type="http://schemas.openxmlformats.org/officeDocument/2006/relationships/tags" Target="../tags/tag63.xml"/><Relationship Id="rId1" Type="http://schemas.openxmlformats.org/officeDocument/2006/relationships/tags" Target="../tags/tag62.xml"/><Relationship Id="rId6" Type="http://schemas.openxmlformats.org/officeDocument/2006/relationships/slideLayout" Target="../slideLayouts/slideLayout8.xml"/><Relationship Id="rId5" Type="http://schemas.openxmlformats.org/officeDocument/2006/relationships/tags" Target="../tags/tag66.xml"/><Relationship Id="rId4" Type="http://schemas.openxmlformats.org/officeDocument/2006/relationships/tags" Target="../tags/tag6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7" y="0"/>
            <a:ext cx="9132639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15091365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3266" name="Rectangle 2"/>
          <p:cNvSpPr>
            <a:spLocks noChangeArrowheads="1"/>
          </p:cNvSpPr>
          <p:nvPr/>
        </p:nvSpPr>
        <p:spPr bwMode="auto">
          <a:xfrm>
            <a:off x="0" y="0"/>
            <a:ext cx="9144000" cy="6858000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>
                <a:solidFill>
                  <a:srgbClr val="FFFF66"/>
                </a:solidFill>
              </a:rPr>
              <a:t>Objectives</a:t>
            </a:r>
          </a:p>
        </p:txBody>
      </p:sp>
      <p:pic>
        <p:nvPicPr>
          <p:cNvPr id="4100" name="Picture 4" descr="dglxasset[3]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04800" y="762000"/>
            <a:ext cx="8458200" cy="58943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101" name="Text Box 5"/>
          <p:cNvSpPr txBox="1">
            <a:spLocks noChangeArrowheads="1"/>
          </p:cNvSpPr>
          <p:nvPr/>
        </p:nvSpPr>
        <p:spPr bwMode="auto">
          <a:xfrm>
            <a:off x="1597356" y="1600200"/>
            <a:ext cx="6098844" cy="3662541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square">
            <a:spAutoFit/>
          </a:bodyPr>
          <a:lstStyle/>
          <a:p>
            <a:pPr marL="287338" indent="-287338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D60093"/>
              </a:buClr>
              <a:buSzPct val="120000"/>
              <a:buFont typeface="Wingdings" pitchFamily="2" charset="2"/>
              <a:buChar char="§"/>
            </a:pPr>
            <a:r>
              <a:rPr lang="en-US">
                <a:latin typeface="Arial Narrow" pitchFamily="34" charset="0"/>
              </a:rPr>
              <a:t>Learn how to </a:t>
            </a:r>
            <a:r>
              <a:rPr lang="en-US" i="1" u="sng">
                <a:latin typeface="Arial Narrow" pitchFamily="34" charset="0"/>
              </a:rPr>
              <a:t>create a new SYS/BIOS project</a:t>
            </a:r>
          </a:p>
          <a:p>
            <a:pPr marL="287338" indent="-287338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D60093"/>
              </a:buClr>
              <a:buSzPct val="120000"/>
              <a:buFont typeface="Wingdings" pitchFamily="2" charset="2"/>
              <a:buChar char="§"/>
            </a:pPr>
            <a:r>
              <a:rPr lang="en-US" smtClean="0">
                <a:latin typeface="Arial Narrow" pitchFamily="34" charset="0"/>
              </a:rPr>
              <a:t>Understand how to </a:t>
            </a:r>
            <a:r>
              <a:rPr lang="en-US" i="1" u="sng" smtClean="0">
                <a:latin typeface="Arial Narrow" pitchFamily="34" charset="0"/>
              </a:rPr>
              <a:t>create and configure BIOS objects</a:t>
            </a:r>
            <a:r>
              <a:rPr lang="en-US" smtClean="0">
                <a:latin typeface="Arial Narrow" pitchFamily="34" charset="0"/>
              </a:rPr>
              <a:t> using the .cfg file and GUI editor</a:t>
            </a:r>
            <a:endParaRPr lang="en-US" dirty="0" smtClean="0">
              <a:latin typeface="Arial Narrow" pitchFamily="34" charset="0"/>
            </a:endParaRPr>
          </a:p>
          <a:p>
            <a:pPr marL="287338" indent="-287338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D60093"/>
              </a:buClr>
              <a:buSzPct val="120000"/>
              <a:buFont typeface="Wingdings" pitchFamily="2" charset="2"/>
              <a:buChar char="§"/>
            </a:pPr>
            <a:r>
              <a:rPr lang="en-US" smtClean="0">
                <a:latin typeface="Arial Narrow" pitchFamily="34" charset="0"/>
              </a:rPr>
              <a:t>Analyze the </a:t>
            </a:r>
            <a:r>
              <a:rPr lang="en-US" i="1" u="sng" smtClean="0">
                <a:latin typeface="Arial Narrow" pitchFamily="34" charset="0"/>
              </a:rPr>
              <a:t>timeline of events</a:t>
            </a:r>
            <a:r>
              <a:rPr lang="en-US" smtClean="0">
                <a:latin typeface="Arial Narrow" pitchFamily="34" charset="0"/>
              </a:rPr>
              <a:t> in a BIOS system</a:t>
            </a:r>
          </a:p>
          <a:p>
            <a:pPr marL="287338" indent="-287338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D60093"/>
              </a:buClr>
              <a:buSzPct val="120000"/>
              <a:buFont typeface="Wingdings" pitchFamily="2" charset="2"/>
              <a:buChar char="§"/>
            </a:pPr>
            <a:r>
              <a:rPr lang="en-US" smtClean="0">
                <a:latin typeface="Arial Narrow" pitchFamily="34" charset="0"/>
              </a:rPr>
              <a:t>Explore the built-in </a:t>
            </a:r>
            <a:r>
              <a:rPr lang="en-US" i="1" u="sng" smtClean="0">
                <a:latin typeface="Arial Narrow" pitchFamily="34" charset="0"/>
              </a:rPr>
              <a:t>Visibility/Debug tools (UIA)</a:t>
            </a:r>
            <a:endParaRPr lang="en-US" i="1" u="sng" dirty="0" smtClean="0">
              <a:latin typeface="Arial Narrow" pitchFamily="34" charset="0"/>
            </a:endParaRPr>
          </a:p>
          <a:p>
            <a:pPr marL="287338" indent="-287338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D60093"/>
              </a:buClr>
              <a:buSzPct val="120000"/>
              <a:buFont typeface="Wingdings" pitchFamily="2" charset="2"/>
              <a:buChar char="§"/>
            </a:pPr>
            <a:r>
              <a:rPr lang="en-US" i="1" u="sng" smtClean="0">
                <a:latin typeface="Arial Narrow" pitchFamily="34" charset="0"/>
              </a:rPr>
              <a:t>Lab</a:t>
            </a:r>
            <a:r>
              <a:rPr lang="en-US" i="1" smtClean="0">
                <a:latin typeface="Arial Narrow" pitchFamily="34" charset="0"/>
              </a:rPr>
              <a:t> </a:t>
            </a:r>
            <a:r>
              <a:rPr lang="en-US" smtClean="0">
                <a:latin typeface="Arial Narrow" pitchFamily="34" charset="0"/>
              </a:rPr>
              <a:t>– </a:t>
            </a:r>
            <a:r>
              <a:rPr lang="en-US" dirty="0">
                <a:latin typeface="Arial Narrow" pitchFamily="34" charset="0"/>
              </a:rPr>
              <a:t>Create, build and debug </a:t>
            </a:r>
            <a:r>
              <a:rPr lang="en-US" smtClean="0">
                <a:latin typeface="Arial Narrow" pitchFamily="34" charset="0"/>
              </a:rPr>
              <a:t>a TI-RTOS kernel </a:t>
            </a:r>
            <a:r>
              <a:rPr lang="en-US" dirty="0" smtClean="0">
                <a:latin typeface="Arial Narrow" pitchFamily="34" charset="0"/>
              </a:rPr>
              <a:t>application that blinks an LED</a:t>
            </a:r>
            <a:endParaRPr lang="en-US" i="1" u="sng" dirty="0">
              <a:latin typeface="Arial Narrow" pitchFamily="34" charset="0"/>
            </a:endParaRPr>
          </a:p>
        </p:txBody>
      </p:sp>
    </p:spTree>
    <p:custDataLst>
      <p:tags r:id="rId1"/>
    </p:custData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6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9704" name="Rectangle 8"/>
          <p:cNvSpPr>
            <a:spLocks noChangeArrowheads="1"/>
          </p:cNvSpPr>
          <p:nvPr/>
        </p:nvSpPr>
        <p:spPr bwMode="auto">
          <a:xfrm>
            <a:off x="547048" y="1524000"/>
            <a:ext cx="5105400" cy="3810000"/>
          </a:xfrm>
          <a:prstGeom prst="rect">
            <a:avLst/>
          </a:prstGeom>
          <a:solidFill>
            <a:srgbClr val="92D050"/>
          </a:solidFill>
          <a:ln w="19050">
            <a:solidFill>
              <a:schemeClr val="tx1"/>
            </a:solidFill>
            <a:miter lim="800000"/>
            <a:headEnd type="none" w="sm" len="sm"/>
            <a:tailEnd type="none" w="sm" len="sm"/>
          </a:ln>
          <a:effectLst>
            <a:outerShdw blurRad="50800" dist="88900" dir="2700000" algn="tl" rotWithShape="0">
              <a:prstClr val="black">
                <a:alpha val="40000"/>
              </a:prstClr>
            </a:outerShdw>
          </a:effectLst>
        </p:spPr>
        <p:txBody>
          <a:bodyPr wrap="none" anchor="ctr"/>
          <a:lstStyle/>
          <a:p>
            <a:pPr>
              <a:defRPr/>
            </a:pPr>
            <a:endParaRPr lang="en-US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72706" name="Picture 2" descr="C:\Documents and Settings\a0159877\Desktop\250px-Operating_system_placement.svg.png"/>
          <p:cNvPicPr>
            <a:picLocks noChangeAspect="1" noChangeArrowheads="1"/>
          </p:cNvPicPr>
          <p:nvPr/>
        </p:nvPicPr>
        <p:blipFill>
          <a:blip r:embed="rId9" cstate="print"/>
          <a:srcRect/>
          <a:stretch>
            <a:fillRect/>
          </a:stretch>
        </p:blipFill>
        <p:spPr bwMode="auto">
          <a:xfrm>
            <a:off x="6160824" y="1316817"/>
            <a:ext cx="2819400" cy="4172713"/>
          </a:xfrm>
          <a:prstGeom prst="rect">
            <a:avLst/>
          </a:prstGeom>
          <a:noFill/>
        </p:spPr>
      </p:pic>
      <p:sp>
        <p:nvSpPr>
          <p:cNvPr id="4198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>
                <a:solidFill>
                  <a:schemeClr val="tx1"/>
                </a:solidFill>
              </a:rPr>
              <a:t>Outline</a:t>
            </a:r>
          </a:p>
        </p:txBody>
      </p:sp>
      <p:sp>
        <p:nvSpPr>
          <p:cNvPr id="9" name="Text Box 3">
            <a:hlinkClick r:id="rId10" action="ppaction://hlinksldjump"/>
          </p:cNvPr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547048" y="1630538"/>
            <a:ext cx="5105400" cy="480131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square" tIns="45720" bIns="45720" anchor="ctr" anchorCtr="0">
            <a:spAutoFit/>
          </a:bodyPr>
          <a:lstStyle/>
          <a:p>
            <a:pPr marL="342900" indent="-342900">
              <a:lnSpc>
                <a:spcPct val="90000"/>
              </a:lnSpc>
              <a:spcBef>
                <a:spcPct val="0"/>
              </a:spcBef>
              <a:buClr>
                <a:srgbClr val="0066FF"/>
              </a:buClr>
              <a:buSzPct val="75000"/>
              <a:buFont typeface="Wingdings" pitchFamily="2" charset="2"/>
              <a:buChar char=""/>
            </a:pPr>
            <a:r>
              <a:rPr lang="en-US" sz="2800" smtClean="0">
                <a:solidFill>
                  <a:srgbClr val="000000"/>
                </a:solidFill>
              </a:rPr>
              <a:t>Creating A New Project</a:t>
            </a:r>
            <a:endParaRPr lang="en-US" sz="2800" dirty="0">
              <a:solidFill>
                <a:srgbClr val="000000"/>
              </a:solidFill>
            </a:endParaRPr>
          </a:p>
        </p:txBody>
      </p:sp>
      <p:sp>
        <p:nvSpPr>
          <p:cNvPr id="10" name="Text Box 4">
            <a:hlinkClick r:id="rId11" action="ppaction://hlinksldjump"/>
          </p:cNvPr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552450" y="2209221"/>
            <a:ext cx="5099998" cy="480131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square" tIns="45720" bIns="45720" anchor="ctr" anchorCtr="0">
            <a:spAutoFit/>
          </a:bodyPr>
          <a:lstStyle/>
          <a:p>
            <a:pPr marL="342900" indent="-342900">
              <a:lnSpc>
                <a:spcPct val="90000"/>
              </a:lnSpc>
              <a:spcBef>
                <a:spcPct val="0"/>
              </a:spcBef>
              <a:buClr>
                <a:srgbClr val="0066FF"/>
              </a:buClr>
              <a:buSzPct val="75000"/>
              <a:buFont typeface="Wingdings" pitchFamily="2" charset="2"/>
              <a:buChar char=""/>
            </a:pPr>
            <a:r>
              <a:rPr lang="en-US" sz="2800" smtClean="0">
                <a:solidFill>
                  <a:srgbClr val="000000"/>
                </a:solidFill>
              </a:rPr>
              <a:t>TI-RTOS Config (.CFG)</a:t>
            </a:r>
            <a:endParaRPr lang="en-US" sz="2800" dirty="0">
              <a:solidFill>
                <a:srgbClr val="000000"/>
              </a:solidFill>
            </a:endParaRPr>
          </a:p>
        </p:txBody>
      </p:sp>
      <p:sp>
        <p:nvSpPr>
          <p:cNvPr id="11" name="Text Box 4">
            <a:hlinkClick r:id="rId12" action="ppaction://hlinksldjump"/>
          </p:cNvPr>
          <p:cNvSpPr txBox="1"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552450" y="2787904"/>
            <a:ext cx="5099998" cy="480131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square" tIns="45720" bIns="45720" anchor="ctr" anchorCtr="0">
            <a:spAutoFit/>
          </a:bodyPr>
          <a:lstStyle/>
          <a:p>
            <a:pPr marL="342900" indent="-342900">
              <a:lnSpc>
                <a:spcPct val="90000"/>
              </a:lnSpc>
              <a:spcBef>
                <a:spcPct val="0"/>
              </a:spcBef>
              <a:buClr>
                <a:srgbClr val="0066FF"/>
              </a:buClr>
              <a:buSzPct val="75000"/>
              <a:buFont typeface="Wingdings" pitchFamily="2" charset="2"/>
              <a:buChar char=""/>
            </a:pPr>
            <a:r>
              <a:rPr lang="en-US" sz="2800" smtClean="0">
                <a:solidFill>
                  <a:srgbClr val="000000"/>
                </a:solidFill>
              </a:rPr>
              <a:t>System Timeline</a:t>
            </a:r>
            <a:endParaRPr lang="en-US" sz="2800" dirty="0">
              <a:solidFill>
                <a:srgbClr val="000000"/>
              </a:solidFill>
            </a:endParaRPr>
          </a:p>
        </p:txBody>
      </p:sp>
      <p:sp>
        <p:nvSpPr>
          <p:cNvPr id="12" name="Text Box 4">
            <a:hlinkClick r:id="rId13" action="ppaction://hlinksldjump"/>
          </p:cNvPr>
          <p:cNvSpPr txBox="1"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552450" y="3366587"/>
            <a:ext cx="5099998" cy="480131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square" tIns="45720" bIns="45720" anchor="ctr" anchorCtr="0">
            <a:spAutoFit/>
          </a:bodyPr>
          <a:lstStyle/>
          <a:p>
            <a:pPr marL="342900" indent="-342900">
              <a:lnSpc>
                <a:spcPct val="90000"/>
              </a:lnSpc>
              <a:spcBef>
                <a:spcPct val="0"/>
              </a:spcBef>
              <a:buClr>
                <a:srgbClr val="0066FF"/>
              </a:buClr>
              <a:buSzPct val="75000"/>
              <a:buFont typeface="Wingdings" pitchFamily="2" charset="2"/>
              <a:buChar char=""/>
            </a:pPr>
            <a:r>
              <a:rPr lang="en-US" sz="2800" smtClean="0">
                <a:solidFill>
                  <a:srgbClr val="000000"/>
                </a:solidFill>
              </a:rPr>
              <a:t>UIA &amp; RTOS Analyzer</a:t>
            </a:r>
            <a:endParaRPr lang="en-US" sz="2800" dirty="0">
              <a:solidFill>
                <a:srgbClr val="000000"/>
              </a:solidFill>
            </a:endParaRPr>
          </a:p>
        </p:txBody>
      </p:sp>
      <p:sp>
        <p:nvSpPr>
          <p:cNvPr id="13" name="Text Box 4">
            <a:hlinkClick r:id="rId14" action="ppaction://hlinksldjump"/>
          </p:cNvPr>
          <p:cNvSpPr txBox="1"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552450" y="3945270"/>
            <a:ext cx="5099998" cy="480131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square" tIns="45720" bIns="45720" anchor="ctr" anchorCtr="0">
            <a:spAutoFit/>
          </a:bodyPr>
          <a:lstStyle/>
          <a:p>
            <a:pPr marL="342900" indent="-342900">
              <a:lnSpc>
                <a:spcPct val="90000"/>
              </a:lnSpc>
              <a:spcBef>
                <a:spcPct val="0"/>
              </a:spcBef>
              <a:buClr>
                <a:srgbClr val="0066FF"/>
              </a:buClr>
              <a:buSzPct val="75000"/>
              <a:buFont typeface="Wingdings" pitchFamily="2" charset="2"/>
              <a:buChar char=""/>
            </a:pPr>
            <a:r>
              <a:rPr lang="en-US" sz="2800" smtClean="0">
                <a:solidFill>
                  <a:srgbClr val="000000"/>
                </a:solidFill>
              </a:rPr>
              <a:t>Version Control</a:t>
            </a:r>
            <a:endParaRPr lang="en-US" sz="2800" dirty="0">
              <a:solidFill>
                <a:srgbClr val="000000"/>
              </a:solidFill>
            </a:endParaRPr>
          </a:p>
        </p:txBody>
      </p:sp>
      <p:sp>
        <p:nvSpPr>
          <p:cNvPr id="14" name="Text Box 4">
            <a:hlinkClick r:id="rId15" action="ppaction://hlinksldjump"/>
          </p:cNvPr>
          <p:cNvSpPr txBox="1">
            <a:spLocks noChangeArrowheads="1"/>
          </p:cNvSpPr>
          <p:nvPr>
            <p:custDataLst>
              <p:tags r:id="rId7"/>
            </p:custDataLst>
          </p:nvPr>
        </p:nvSpPr>
        <p:spPr bwMode="auto">
          <a:xfrm>
            <a:off x="552450" y="4523953"/>
            <a:ext cx="5099998" cy="480131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square" tIns="45720" bIns="45720" anchor="ctr" anchorCtr="0">
            <a:spAutoFit/>
          </a:bodyPr>
          <a:lstStyle/>
          <a:p>
            <a:pPr marL="342900" indent="-342900">
              <a:lnSpc>
                <a:spcPct val="90000"/>
              </a:lnSpc>
              <a:spcBef>
                <a:spcPct val="0"/>
              </a:spcBef>
              <a:buClr>
                <a:srgbClr val="0066FF"/>
              </a:buClr>
              <a:buSzPct val="75000"/>
              <a:buFont typeface="Wingdings" pitchFamily="2" charset="2"/>
              <a:buChar char=""/>
            </a:pPr>
            <a:r>
              <a:rPr lang="en-US" sz="2800" smtClean="0">
                <a:solidFill>
                  <a:srgbClr val="000000"/>
                </a:solidFill>
              </a:rPr>
              <a:t>Lab</a:t>
            </a:r>
            <a:endParaRPr lang="en-US" sz="2800" dirty="0">
              <a:solidFill>
                <a:srgbClr val="000000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51444738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 descr="C:\Users\a0159877\AppData\Local\Temp\SNAGHTML307be3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264" y="551345"/>
            <a:ext cx="4911324" cy="63294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-76200"/>
            <a:ext cx="9144000" cy="742950"/>
          </a:xfrm>
        </p:spPr>
        <p:txBody>
          <a:bodyPr>
            <a:normAutofit/>
          </a:bodyPr>
          <a:lstStyle/>
          <a:p>
            <a:r>
              <a:rPr lang="en-US" smtClean="0"/>
              <a:t>Creating a New TI-RTOS Project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953000" y="2057400"/>
            <a:ext cx="4131530" cy="2871555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marL="342900" indent="-342900">
              <a:lnSpc>
                <a:spcPct val="90000"/>
              </a:lnSpc>
              <a:spcBef>
                <a:spcPts val="600"/>
              </a:spcBef>
              <a:buClr>
                <a:srgbClr val="0066FF"/>
              </a:buClr>
              <a:buSzPct val="75000"/>
              <a:buFont typeface="Wingdings"/>
              <a:buChar char=""/>
            </a:pPr>
            <a:r>
              <a:rPr lang="en-US" smtClean="0">
                <a:solidFill>
                  <a:schemeClr val="tx2"/>
                </a:solidFill>
                <a:latin typeface="Calibri" pitchFamily="34" charset="0"/>
                <a:cs typeface="Calibri" pitchFamily="34" charset="0"/>
              </a:rPr>
              <a:t>“Driver” Project Template</a:t>
            </a:r>
          </a:p>
          <a:p>
            <a:pPr marL="574675" indent="-169863">
              <a:spcBef>
                <a:spcPts val="600"/>
              </a:spcBef>
              <a:buSzPct val="100000"/>
              <a:buFont typeface="Arial" pitchFamily="34" charset="0"/>
              <a:buChar char="•"/>
            </a:pPr>
            <a:r>
              <a:rPr lang="en-US" sz="2000" b="0" smtClean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empty.c</a:t>
            </a:r>
            <a:r>
              <a:rPr lang="en-US" sz="2000" b="0" smtClean="0">
                <a:solidFill>
                  <a:srgbClr val="000000"/>
                </a:solidFill>
                <a:latin typeface="Calibri" pitchFamily="34" charset="0"/>
                <a:cs typeface="Calibri" pitchFamily="34" charset="0"/>
              </a:rPr>
              <a:t> that contains #includes for header files and some starter “driver” code </a:t>
            </a:r>
          </a:p>
          <a:p>
            <a:pPr marL="574675" indent="-169863">
              <a:spcBef>
                <a:spcPts val="600"/>
              </a:spcBef>
              <a:buSzPct val="100000"/>
              <a:buFont typeface="Arial" pitchFamily="34" charset="0"/>
              <a:buChar char="•"/>
            </a:pPr>
            <a:r>
              <a:rPr lang="en-US" sz="2000" b="0" smtClean="0">
                <a:solidFill>
                  <a:srgbClr val="000000"/>
                </a:solidFill>
                <a:latin typeface="Calibri" pitchFamily="34" charset="0"/>
                <a:cs typeface="Calibri" pitchFamily="34" charset="0"/>
              </a:rPr>
              <a:t>BIOS Config file (</a:t>
            </a:r>
            <a:r>
              <a:rPr lang="en-US" sz="2000" b="0" smtClean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empty.cfg</a:t>
            </a:r>
            <a:r>
              <a:rPr lang="en-US" sz="2000" b="0" smtClean="0">
                <a:solidFill>
                  <a:srgbClr val="000000"/>
                </a:solidFill>
                <a:latin typeface="Calibri" pitchFamily="34" charset="0"/>
                <a:cs typeface="Calibri" pitchFamily="34" charset="0"/>
              </a:rPr>
              <a:t>) – contains UIA and “starter” BIOS services</a:t>
            </a:r>
          </a:p>
          <a:p>
            <a:pPr marL="574675" indent="-169863">
              <a:spcBef>
                <a:spcPts val="600"/>
              </a:spcBef>
              <a:buSzPct val="100000"/>
              <a:buFont typeface="Arial" pitchFamily="34" charset="0"/>
              <a:buChar char="•"/>
            </a:pPr>
            <a:r>
              <a:rPr lang="en-US" sz="2000" b="0" smtClean="0">
                <a:solidFill>
                  <a:srgbClr val="000000"/>
                </a:solidFill>
                <a:latin typeface="Calibri" pitchFamily="34" charset="0"/>
                <a:cs typeface="Calibri" pitchFamily="34" charset="0"/>
              </a:rPr>
              <a:t>Auto adds xWare driver lib and necessary include search path – great for Tiva-C &amp; MSP430 users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953000" y="693949"/>
            <a:ext cx="3849772" cy="1317284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pPr marL="342900" indent="-342900">
              <a:lnSpc>
                <a:spcPct val="90000"/>
              </a:lnSpc>
              <a:spcBef>
                <a:spcPts val="600"/>
              </a:spcBef>
              <a:buClr>
                <a:srgbClr val="0066FF"/>
              </a:buClr>
              <a:buSzPct val="75000"/>
              <a:buFont typeface="Wingdings"/>
              <a:buChar char=""/>
            </a:pPr>
            <a:r>
              <a:rPr lang="en-US" smtClean="0">
                <a:solidFill>
                  <a:schemeClr val="tx2"/>
                </a:solidFill>
                <a:latin typeface="Calibri" pitchFamily="34" charset="0"/>
                <a:cs typeface="Calibri" pitchFamily="34" charset="0"/>
              </a:rPr>
              <a:t>Create CCS Project</a:t>
            </a:r>
          </a:p>
          <a:p>
            <a:pPr marL="574675" indent="-169863">
              <a:spcBef>
                <a:spcPts val="600"/>
              </a:spcBef>
              <a:buSzPct val="100000"/>
              <a:buFont typeface="Arial" pitchFamily="34" charset="0"/>
              <a:buChar char="•"/>
            </a:pPr>
            <a:r>
              <a:rPr lang="en-US" sz="2000" b="0" smtClean="0">
                <a:solidFill>
                  <a:srgbClr val="000000"/>
                </a:solidFill>
                <a:latin typeface="Calibri" pitchFamily="34" charset="0"/>
                <a:cs typeface="Calibri" pitchFamily="34" charset="0"/>
              </a:rPr>
              <a:t>Same as before except…</a:t>
            </a:r>
          </a:p>
          <a:p>
            <a:pPr marL="574675" indent="-169863">
              <a:spcBef>
                <a:spcPts val="600"/>
              </a:spcBef>
              <a:buSzPct val="100000"/>
              <a:buFont typeface="Arial" pitchFamily="34" charset="0"/>
              <a:buChar char="•"/>
            </a:pPr>
            <a:r>
              <a:rPr lang="en-US" sz="2000" b="0" smtClean="0">
                <a:solidFill>
                  <a:srgbClr val="000000"/>
                </a:solidFill>
                <a:latin typeface="Calibri" pitchFamily="34" charset="0"/>
                <a:cs typeface="Calibri" pitchFamily="34" charset="0"/>
              </a:rPr>
              <a:t>You need to choose a TI-RTOS</a:t>
            </a:r>
            <a:br>
              <a:rPr lang="en-US" sz="2000" b="0" smtClean="0">
                <a:solidFill>
                  <a:srgbClr val="000000"/>
                </a:solidFill>
                <a:latin typeface="Calibri" pitchFamily="34" charset="0"/>
                <a:cs typeface="Calibri" pitchFamily="34" charset="0"/>
              </a:rPr>
            </a:br>
            <a:r>
              <a:rPr lang="en-US" sz="2000" b="0" smtClean="0">
                <a:solidFill>
                  <a:srgbClr val="000000"/>
                </a:solidFill>
                <a:latin typeface="Calibri" pitchFamily="34" charset="0"/>
                <a:cs typeface="Calibri" pitchFamily="34" charset="0"/>
              </a:rPr>
              <a:t>project template</a:t>
            </a:r>
          </a:p>
        </p:txBody>
      </p:sp>
      <p:sp>
        <p:nvSpPr>
          <p:cNvPr id="4" name="Leading Question"/>
          <p:cNvSpPr txBox="1"/>
          <p:nvPr/>
        </p:nvSpPr>
        <p:spPr>
          <a:xfrm>
            <a:off x="5791200" y="6317341"/>
            <a:ext cx="1473160" cy="2462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rtlCol="0" anchor="b" anchorCtr="0">
            <a:spAutoFit/>
          </a:bodyPr>
          <a:lstStyle/>
          <a:p>
            <a:pPr algn="r">
              <a:spcBef>
                <a:spcPct val="0"/>
              </a:spcBef>
            </a:pPr>
            <a:r>
              <a:rPr lang="en-US" sz="2000" b="0" smtClean="0">
                <a:solidFill>
                  <a:srgbClr val="0066FF"/>
                </a:solidFill>
                <a:latin typeface="Arial Narrow"/>
              </a:rPr>
              <a:t>When you click:</a:t>
            </a:r>
            <a:endParaRPr lang="en-US" sz="2000" b="0" dirty="0" smtClean="0">
              <a:solidFill>
                <a:srgbClr val="0066FF"/>
              </a:solidFill>
              <a:latin typeface="Arial Narrow"/>
            </a:endParaRPr>
          </a:p>
        </p:txBody>
      </p:sp>
      <p:grpSp>
        <p:nvGrpSpPr>
          <p:cNvPr id="5" name="Group 4"/>
          <p:cNvGrpSpPr/>
          <p:nvPr/>
        </p:nvGrpSpPr>
        <p:grpSpPr>
          <a:xfrm>
            <a:off x="7357482" y="6226114"/>
            <a:ext cx="1270705" cy="555686"/>
            <a:chOff x="1876959" y="6281048"/>
            <a:chExt cx="1270705" cy="555686"/>
          </a:xfrm>
        </p:grpSpPr>
        <p:pic>
          <p:nvPicPr>
            <p:cNvPr id="21" name="Picture 2"/>
            <p:cNvPicPr>
              <a:picLocks noChangeAspect="1" noChangeArrowheads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 bwMode="auto">
            <a:xfrm>
              <a:off x="1876959" y="6281048"/>
              <a:ext cx="1258957" cy="3810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blurRad="50800" dist="63500" dir="2700000" algn="tl" rotWithShape="0">
                <a:prstClr val="black">
                  <a:alpha val="40000"/>
                </a:prstClr>
              </a:outerShdw>
            </a:effectLst>
          </p:spPr>
        </p:pic>
        <p:pic>
          <p:nvPicPr>
            <p:cNvPr id="22" name="Picture 4" descr="C:\Documents and Settings\a0159877\Desktop\image_gallery.png"/>
            <p:cNvPicPr>
              <a:picLocks noChangeAspect="1" noChangeArrowheads="1"/>
            </p:cNvPicPr>
            <p:nvPr/>
          </p:nvPicPr>
          <p:blipFill>
            <a:blip r:embed="rId5" cstate="print"/>
            <a:srcRect/>
            <a:stretch>
              <a:fillRect/>
            </a:stretch>
          </p:blipFill>
          <p:spPr bwMode="auto">
            <a:xfrm>
              <a:off x="2778769" y="6467839"/>
              <a:ext cx="368895" cy="368895"/>
            </a:xfrm>
            <a:prstGeom prst="rect">
              <a:avLst/>
            </a:prstGeom>
            <a:noFill/>
          </p:spPr>
        </p:pic>
      </p:grpSp>
      <p:sp>
        <p:nvSpPr>
          <p:cNvPr id="2" name="Rectangle 1"/>
          <p:cNvSpPr/>
          <p:nvPr/>
        </p:nvSpPr>
        <p:spPr bwMode="auto">
          <a:xfrm>
            <a:off x="475999" y="4957215"/>
            <a:ext cx="2267201" cy="1179456"/>
          </a:xfrm>
          <a:prstGeom prst="rect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800" b="1" i="0" u="none" strike="noStrike" cap="none" normalizeH="0" baseline="0" dirty="0" smtClean="0">
              <a:ln>
                <a:noFill/>
              </a:ln>
              <a:solidFill>
                <a:schemeClr val="dk1"/>
              </a:solidFill>
              <a:effectLst/>
              <a:latin typeface="Arial Narrow" pitchFamily="34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953000" y="4953000"/>
            <a:ext cx="3255507" cy="1071062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pPr marL="342900" indent="-342900">
              <a:lnSpc>
                <a:spcPct val="90000"/>
              </a:lnSpc>
              <a:spcBef>
                <a:spcPts val="600"/>
              </a:spcBef>
              <a:buClr>
                <a:srgbClr val="0066FF"/>
              </a:buClr>
              <a:buSzPct val="75000"/>
              <a:buFont typeface="Wingdings"/>
              <a:buChar char=""/>
            </a:pPr>
            <a:r>
              <a:rPr lang="en-US" smtClean="0">
                <a:solidFill>
                  <a:schemeClr val="tx2"/>
                </a:solidFill>
                <a:latin typeface="Calibri" pitchFamily="34" charset="0"/>
                <a:cs typeface="Calibri" pitchFamily="34" charset="0"/>
              </a:rPr>
              <a:t>Kernel Examples</a:t>
            </a:r>
          </a:p>
          <a:p>
            <a:pPr marL="574675" indent="-169863">
              <a:spcBef>
                <a:spcPts val="600"/>
              </a:spcBef>
              <a:buSzPct val="100000"/>
              <a:buFont typeface="Arial" pitchFamily="34" charset="0"/>
              <a:buChar char="•"/>
            </a:pPr>
            <a:r>
              <a:rPr lang="en-US" sz="2000" b="0" smtClean="0">
                <a:solidFill>
                  <a:srgbClr val="000000"/>
                </a:solidFill>
                <a:latin typeface="Calibri" pitchFamily="34" charset="0"/>
                <a:cs typeface="Calibri" pitchFamily="34" charset="0"/>
              </a:rPr>
              <a:t>C28x/C6000 users</a:t>
            </a:r>
          </a:p>
          <a:p>
            <a:pPr marL="574675" indent="-169863">
              <a:spcBef>
                <a:spcPts val="600"/>
              </a:spcBef>
              <a:buSzPct val="100000"/>
              <a:buFont typeface="Arial" pitchFamily="34" charset="0"/>
              <a:buChar char="•"/>
            </a:pPr>
            <a:r>
              <a:rPr lang="en-US" sz="2000" b="0" smtClean="0">
                <a:solidFill>
                  <a:srgbClr val="000000"/>
                </a:solidFill>
                <a:latin typeface="Calibri" pitchFamily="34" charset="0"/>
                <a:cs typeface="Calibri" pitchFamily="34" charset="0"/>
              </a:rPr>
              <a:t>Pick “Minimal” example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56063342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utoUpdateAnimBg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533525"/>
            <a:ext cx="5019675" cy="4943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SYS/BIOS Project Settings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2400" y="649120"/>
            <a:ext cx="8208144" cy="837152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pPr marL="342900" indent="-342900">
              <a:spcBef>
                <a:spcPts val="1200"/>
              </a:spcBef>
              <a:buClr>
                <a:schemeClr val="tx2"/>
              </a:buClr>
              <a:buSzPct val="75000"/>
              <a:buFont typeface="Wingdings"/>
              <a:buChar char=""/>
            </a:pPr>
            <a:r>
              <a:rPr lang="en-US" b="0" smtClean="0">
                <a:latin typeface="Calibri" pitchFamily="34" charset="0"/>
                <a:cs typeface="Calibri" pitchFamily="34" charset="0"/>
              </a:rPr>
              <a:t>Select versions of XDC Tools and TI-RTOS </a:t>
            </a:r>
            <a:r>
              <a:rPr lang="en-US" sz="2000" b="0" i="1" smtClean="0">
                <a:latin typeface="Calibri" pitchFamily="34" charset="0"/>
                <a:cs typeface="Calibri" pitchFamily="34" charset="0"/>
              </a:rPr>
              <a:t>(plus others if necessary)</a:t>
            </a:r>
          </a:p>
          <a:p>
            <a:pPr marL="342900" indent="-342900">
              <a:spcBef>
                <a:spcPts val="1200"/>
              </a:spcBef>
              <a:buClr>
                <a:schemeClr val="tx2"/>
              </a:buClr>
              <a:buSzPct val="75000"/>
              <a:buFont typeface="Wingdings"/>
              <a:buChar char=""/>
            </a:pPr>
            <a:r>
              <a:rPr lang="en-US" b="0" smtClean="0">
                <a:latin typeface="Calibri" pitchFamily="34" charset="0"/>
                <a:cs typeface="Calibri" pitchFamily="34" charset="0"/>
              </a:rPr>
              <a:t>Target, Platform and Build-profile are auto-selected</a:t>
            </a:r>
          </a:p>
        </p:txBody>
      </p:sp>
      <p:sp>
        <p:nvSpPr>
          <p:cNvPr id="14" name="Rounded Rectangle 13"/>
          <p:cNvSpPr/>
          <p:nvPr/>
        </p:nvSpPr>
        <p:spPr bwMode="auto">
          <a:xfrm>
            <a:off x="678874" y="2795649"/>
            <a:ext cx="1911925" cy="293643"/>
          </a:xfrm>
          <a:prstGeom prst="roundRect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</a:endParaRPr>
          </a:p>
        </p:txBody>
      </p:sp>
      <p:sp>
        <p:nvSpPr>
          <p:cNvPr id="15" name="Rounded Rectangle 14"/>
          <p:cNvSpPr/>
          <p:nvPr/>
        </p:nvSpPr>
        <p:spPr bwMode="auto">
          <a:xfrm>
            <a:off x="989885" y="4162300"/>
            <a:ext cx="1423311" cy="381000"/>
          </a:xfrm>
          <a:prstGeom prst="roundRect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</a:endParaRPr>
          </a:p>
        </p:txBody>
      </p:sp>
      <p:pic>
        <p:nvPicPr>
          <p:cNvPr id="2052" name="Picture 4" descr="C:\Documents and Settings\a0159877\Desktop\image_gallery.png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4064367" y="6011315"/>
            <a:ext cx="368895" cy="368895"/>
          </a:xfrm>
          <a:prstGeom prst="rect">
            <a:avLst/>
          </a:prstGeom>
          <a:noFill/>
        </p:spPr>
      </p:pic>
      <p:sp>
        <p:nvSpPr>
          <p:cNvPr id="19" name="TextBox 18"/>
          <p:cNvSpPr txBox="1"/>
          <p:nvPr/>
        </p:nvSpPr>
        <p:spPr>
          <a:xfrm>
            <a:off x="5486400" y="1600200"/>
            <a:ext cx="3467100" cy="2262158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marL="342900" indent="-342900">
              <a:lnSpc>
                <a:spcPct val="90000"/>
              </a:lnSpc>
              <a:spcBef>
                <a:spcPts val="600"/>
              </a:spcBef>
              <a:buClr>
                <a:schemeClr val="tx2"/>
              </a:buClr>
              <a:buSzPct val="75000"/>
              <a:buFont typeface="Wingdings"/>
              <a:buChar char=""/>
            </a:pPr>
            <a:r>
              <a:rPr lang="en-US" sz="2000" b="0" smtClean="0">
                <a:solidFill>
                  <a:schemeClr val="tx2"/>
                </a:solidFill>
                <a:latin typeface="Calibri" pitchFamily="34" charset="0"/>
                <a:cs typeface="Calibri" pitchFamily="34" charset="0"/>
              </a:rPr>
              <a:t>Platform Pkgs:</a:t>
            </a:r>
          </a:p>
          <a:p>
            <a:pPr marL="690563" lvl="1" indent="-233363">
              <a:lnSpc>
                <a:spcPct val="90000"/>
              </a:lnSpc>
              <a:spcBef>
                <a:spcPts val="600"/>
              </a:spcBef>
              <a:buClr>
                <a:schemeClr val="tx2"/>
              </a:buClr>
              <a:buSzPct val="100000"/>
              <a:buFont typeface="Wingdings" pitchFamily="2" charset="2"/>
              <a:buChar char="§"/>
            </a:pPr>
            <a:r>
              <a:rPr lang="en-US" sz="2000" b="0" smtClean="0">
                <a:latin typeface="Calibri" pitchFamily="34" charset="0"/>
                <a:cs typeface="Calibri" pitchFamily="34" charset="0"/>
              </a:rPr>
              <a:t>All MCU – auto chosen</a:t>
            </a:r>
          </a:p>
          <a:p>
            <a:pPr marL="690563" lvl="1" indent="-233363">
              <a:lnSpc>
                <a:spcPct val="90000"/>
              </a:lnSpc>
              <a:spcBef>
                <a:spcPts val="600"/>
              </a:spcBef>
              <a:buClr>
                <a:schemeClr val="tx2"/>
              </a:buClr>
              <a:buSzPct val="100000"/>
              <a:buFont typeface="Wingdings" pitchFamily="2" charset="2"/>
              <a:buChar char="§"/>
            </a:pPr>
            <a:r>
              <a:rPr lang="en-US" sz="2000" b="0" smtClean="0">
                <a:latin typeface="Calibri" pitchFamily="34" charset="0"/>
                <a:cs typeface="Calibri" pitchFamily="34" charset="0"/>
              </a:rPr>
              <a:t>C6000 – must choose and can customize</a:t>
            </a:r>
            <a:endParaRPr lang="en-US" sz="2000" b="0">
              <a:latin typeface="Calibri" pitchFamily="34" charset="0"/>
              <a:cs typeface="Calibri" pitchFamily="34" charset="0"/>
            </a:endParaRPr>
          </a:p>
          <a:p>
            <a:pPr marL="342900" indent="-342900">
              <a:lnSpc>
                <a:spcPct val="90000"/>
              </a:lnSpc>
              <a:spcBef>
                <a:spcPts val="600"/>
              </a:spcBef>
              <a:buClr>
                <a:schemeClr val="tx2"/>
              </a:buClr>
              <a:buSzPct val="75000"/>
              <a:buFont typeface="Wingdings"/>
              <a:buChar char=""/>
            </a:pPr>
            <a:r>
              <a:rPr lang="en-US" sz="2000" b="0" smtClean="0">
                <a:solidFill>
                  <a:schemeClr val="tx2"/>
                </a:solidFill>
                <a:latin typeface="Calibri" pitchFamily="34" charset="0"/>
                <a:cs typeface="Calibri" pitchFamily="34" charset="0"/>
              </a:rPr>
              <a:t>When you click “Finish”</a:t>
            </a:r>
            <a:r>
              <a:rPr lang="en-US" sz="2000" b="0" smtClean="0">
                <a:latin typeface="Calibri" pitchFamily="34" charset="0"/>
                <a:cs typeface="Calibri" pitchFamily="34" charset="0"/>
              </a:rPr>
              <a:t>,</a:t>
            </a:r>
            <a:br>
              <a:rPr lang="en-US" sz="2000" b="0" smtClean="0">
                <a:latin typeface="Calibri" pitchFamily="34" charset="0"/>
                <a:cs typeface="Calibri" pitchFamily="34" charset="0"/>
              </a:rPr>
            </a:br>
            <a:r>
              <a:rPr lang="en-US" sz="2000" b="0" smtClean="0">
                <a:latin typeface="Calibri" pitchFamily="34" charset="0"/>
                <a:cs typeface="Calibri" pitchFamily="34" charset="0"/>
              </a:rPr>
              <a:t>you get the following project (driver example):</a:t>
            </a:r>
          </a:p>
        </p:txBody>
      </p:sp>
      <p:sp>
        <p:nvSpPr>
          <p:cNvPr id="5" name="Leading Question"/>
          <p:cNvSpPr txBox="1"/>
          <p:nvPr/>
        </p:nvSpPr>
        <p:spPr>
          <a:xfrm>
            <a:off x="6759990" y="6477000"/>
            <a:ext cx="1926810" cy="2462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rtlCol="0" anchor="b" anchorCtr="0">
            <a:spAutoFit/>
          </a:bodyPr>
          <a:lstStyle/>
          <a:p>
            <a:pPr algn="r">
              <a:spcBef>
                <a:spcPct val="0"/>
              </a:spcBef>
            </a:pPr>
            <a:r>
              <a:rPr lang="en-US" sz="2000" b="0" smtClean="0">
                <a:solidFill>
                  <a:schemeClr val="tx2"/>
                </a:solidFill>
                <a:effectLst/>
                <a:latin typeface="Arial Narrow"/>
              </a:rPr>
              <a:t>More on Platforms…</a:t>
            </a:r>
            <a:endParaRPr lang="en-US" sz="2000" b="0" dirty="0" smtClean="0">
              <a:solidFill>
                <a:schemeClr val="tx2"/>
              </a:solidFill>
              <a:effectLst/>
              <a:latin typeface="Arial Narrow"/>
            </a:endParaRPr>
          </a:p>
        </p:txBody>
      </p:sp>
      <p:pic>
        <p:nvPicPr>
          <p:cNvPr id="16" name="Animated Logo" descr="tilogo_color_twoline.png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50800" y="6477000"/>
            <a:ext cx="1438537" cy="347443"/>
          </a:xfrm>
          <a:prstGeom prst="rect">
            <a:avLst/>
          </a:prstGeom>
        </p:spPr>
      </p:pic>
      <p:pic>
        <p:nvPicPr>
          <p:cNvPr id="3" name="Picture 4" descr="C:\Users\a0159877\AppData\Local\Temp\SNAGHTML3d649c.PNG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37202" y="3877202"/>
            <a:ext cx="3206798" cy="25997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custDataLst>
      <p:tags r:id="rId1"/>
    </p:custData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50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utoUpdateAnimBg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Memory Configuration (Platform Pkgs)</a:t>
            </a:r>
          </a:p>
        </p:txBody>
      </p:sp>
      <p:sp>
        <p:nvSpPr>
          <p:cNvPr id="8" name="Leading Question"/>
          <p:cNvSpPr txBox="1"/>
          <p:nvPr/>
        </p:nvSpPr>
        <p:spPr>
          <a:xfrm>
            <a:off x="6096000" y="6459379"/>
            <a:ext cx="2518318" cy="2462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rtlCol="0" anchor="b" anchorCtr="0">
            <a:spAutoFit/>
          </a:bodyPr>
          <a:lstStyle/>
          <a:p>
            <a:pPr algn="r">
              <a:spcBef>
                <a:spcPct val="0"/>
              </a:spcBef>
            </a:pPr>
            <a:r>
              <a:rPr lang="en-US" sz="2000" b="0" smtClean="0">
                <a:solidFill>
                  <a:schemeClr val="tx2"/>
                </a:solidFill>
                <a:effectLst/>
                <a:latin typeface="Arial Narrow"/>
              </a:rPr>
              <a:t>What is in the app.cfg file ?</a:t>
            </a:r>
            <a:endParaRPr lang="en-US" sz="2000" b="0" dirty="0" smtClean="0">
              <a:solidFill>
                <a:schemeClr val="tx2"/>
              </a:solidFill>
              <a:effectLst/>
              <a:latin typeface="Arial Narrow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228600" y="685800"/>
            <a:ext cx="8648700" cy="2555571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marL="342900" indent="-342900">
              <a:spcBef>
                <a:spcPts val="900"/>
              </a:spcBef>
              <a:buClr>
                <a:schemeClr val="tx2"/>
              </a:buClr>
              <a:buSzPct val="75000"/>
              <a:buFont typeface="Wingdings"/>
              <a:buChar char=""/>
            </a:pPr>
            <a:r>
              <a:rPr lang="en-US" smtClean="0">
                <a:solidFill>
                  <a:srgbClr val="FF0000"/>
                </a:solidFill>
                <a:effectLst/>
                <a:latin typeface="Calibri" pitchFamily="34" charset="0"/>
                <a:cs typeface="Calibri" pitchFamily="34" charset="0"/>
              </a:rPr>
              <a:t>MCU Users:</a:t>
            </a:r>
          </a:p>
          <a:p>
            <a:pPr marL="628650" lvl="1" indent="-225425">
              <a:spcBef>
                <a:spcPts val="900"/>
              </a:spcBef>
              <a:buClr>
                <a:schemeClr val="tx2"/>
              </a:buClr>
              <a:buSzPct val="100000"/>
              <a:buFont typeface="Arial" pitchFamily="34" charset="0"/>
              <a:buChar char="•"/>
            </a:pPr>
            <a:r>
              <a:rPr lang="en-US" sz="2000" b="0" smtClean="0">
                <a:solidFill>
                  <a:schemeClr val="dk1"/>
                </a:solidFill>
                <a:latin typeface="Calibri" pitchFamily="34" charset="0"/>
                <a:cs typeface="Calibri" pitchFamily="34" charset="0"/>
              </a:rPr>
              <a:t>Provided with a </a:t>
            </a:r>
            <a:r>
              <a:rPr lang="en-US" sz="2000" b="0" smtClean="0">
                <a:solidFill>
                  <a:schemeClr val="dk1"/>
                </a:solidFill>
                <a:effectLst/>
                <a:latin typeface="Calibri" pitchFamily="34" charset="0"/>
                <a:cs typeface="Calibri" pitchFamily="34" charset="0"/>
              </a:rPr>
              <a:t> </a:t>
            </a:r>
            <a:r>
              <a:rPr lang="en-US" sz="2000" b="0" smtClean="0">
                <a:solidFill>
                  <a:schemeClr val="tx2"/>
                </a:solidFill>
                <a:effectLst/>
                <a:latin typeface="Calibri" pitchFamily="34" charset="0"/>
                <a:cs typeface="Calibri" pitchFamily="34" charset="0"/>
              </a:rPr>
              <a:t>linker.cmd</a:t>
            </a:r>
            <a:r>
              <a:rPr lang="en-US" sz="2000" b="0" smtClean="0">
                <a:solidFill>
                  <a:schemeClr val="dk1"/>
                </a:solidFill>
                <a:effectLst/>
                <a:latin typeface="Calibri" pitchFamily="34" charset="0"/>
                <a:cs typeface="Calibri" pitchFamily="34" charset="0"/>
              </a:rPr>
              <a:t> file to manage memory</a:t>
            </a:r>
          </a:p>
          <a:p>
            <a:pPr marL="628650" lvl="1" indent="-225425">
              <a:spcBef>
                <a:spcPts val="900"/>
              </a:spcBef>
              <a:buClr>
                <a:schemeClr val="tx2"/>
              </a:buClr>
              <a:buSzPct val="100000"/>
              <a:buFont typeface="Arial" pitchFamily="34" charset="0"/>
              <a:buChar char="•"/>
            </a:pPr>
            <a:r>
              <a:rPr lang="en-US" sz="2000" b="0" smtClean="0">
                <a:solidFill>
                  <a:schemeClr val="dk1"/>
                </a:solidFill>
                <a:latin typeface="Calibri" pitchFamily="34" charset="0"/>
                <a:cs typeface="Calibri" pitchFamily="34" charset="0"/>
              </a:rPr>
              <a:t>Only </a:t>
            </a:r>
            <a:r>
              <a:rPr lang="en-US" sz="2000" b="0" smtClean="0">
                <a:solidFill>
                  <a:schemeClr val="dk1"/>
                </a:solidFill>
                <a:effectLst/>
                <a:latin typeface="Calibri" pitchFamily="34" charset="0"/>
                <a:cs typeface="Calibri" pitchFamily="34" charset="0"/>
              </a:rPr>
              <a:t>“base” or “superset” MCU devices have platforms auto-selected</a:t>
            </a:r>
          </a:p>
          <a:p>
            <a:pPr marL="342900" indent="-342900">
              <a:spcBef>
                <a:spcPts val="1400"/>
              </a:spcBef>
              <a:buClr>
                <a:schemeClr val="tx2"/>
              </a:buClr>
              <a:buSzPct val="75000"/>
              <a:buFont typeface="Wingdings"/>
              <a:buChar char=""/>
            </a:pPr>
            <a:r>
              <a:rPr lang="en-US" smtClean="0">
                <a:solidFill>
                  <a:srgbClr val="FF0000"/>
                </a:solidFill>
                <a:latin typeface="Calibri" pitchFamily="34" charset="0"/>
                <a:cs typeface="Calibri" pitchFamily="34" charset="0"/>
              </a:rPr>
              <a:t>C6000 Users:</a:t>
            </a:r>
            <a:endParaRPr lang="en-US" smtClean="0">
              <a:solidFill>
                <a:srgbClr val="FF0000"/>
              </a:solidFill>
              <a:effectLst/>
              <a:latin typeface="Calibri" pitchFamily="34" charset="0"/>
              <a:cs typeface="Calibri" pitchFamily="34" charset="0"/>
            </a:endParaRPr>
          </a:p>
          <a:p>
            <a:pPr marL="628650" lvl="1" indent="-225425">
              <a:spcBef>
                <a:spcPts val="900"/>
              </a:spcBef>
              <a:buClr>
                <a:schemeClr val="tx2"/>
              </a:buClr>
              <a:buSzPct val="100000"/>
              <a:buFont typeface="Arial" pitchFamily="34" charset="0"/>
              <a:buChar char="•"/>
            </a:pPr>
            <a:r>
              <a:rPr lang="en-US" sz="2000" b="0" smtClean="0">
                <a:solidFill>
                  <a:schemeClr val="dk1"/>
                </a:solidFill>
                <a:latin typeface="Calibri" pitchFamily="34" charset="0"/>
                <a:cs typeface="Calibri" pitchFamily="34" charset="0"/>
              </a:rPr>
              <a:t>BIOS will create a </a:t>
            </a:r>
            <a:r>
              <a:rPr lang="en-US" sz="2000" b="0" smtClean="0">
                <a:solidFill>
                  <a:schemeClr val="tx2"/>
                </a:solidFill>
                <a:latin typeface="Calibri" pitchFamily="34" charset="0"/>
                <a:cs typeface="Calibri" pitchFamily="34" charset="0"/>
              </a:rPr>
              <a:t>linker.cmd</a:t>
            </a:r>
            <a:r>
              <a:rPr lang="en-US" sz="2000" b="0" smtClean="0">
                <a:solidFill>
                  <a:schemeClr val="dk1"/>
                </a:solidFill>
                <a:latin typeface="Calibri" pitchFamily="34" charset="0"/>
                <a:cs typeface="Calibri" pitchFamily="34" charset="0"/>
              </a:rPr>
              <a:t> file based on the settings in the </a:t>
            </a:r>
            <a:r>
              <a:rPr lang="en-US" sz="2000" b="0" smtClean="0">
                <a:solidFill>
                  <a:schemeClr val="tx2"/>
                </a:solidFill>
                <a:latin typeface="Calibri" pitchFamily="34" charset="0"/>
                <a:cs typeface="Calibri" pitchFamily="34" charset="0"/>
              </a:rPr>
              <a:t>PLATFORM</a:t>
            </a:r>
            <a:r>
              <a:rPr lang="en-US" sz="2000" b="0" smtClean="0">
                <a:solidFill>
                  <a:schemeClr val="dk1"/>
                </a:solidFill>
                <a:latin typeface="Calibri" pitchFamily="34" charset="0"/>
                <a:cs typeface="Calibri" pitchFamily="34" charset="0"/>
              </a:rPr>
              <a:t> pkg</a:t>
            </a:r>
          </a:p>
          <a:p>
            <a:pPr marL="628650" lvl="1" indent="-225425">
              <a:spcBef>
                <a:spcPts val="900"/>
              </a:spcBef>
              <a:buClr>
                <a:schemeClr val="tx2"/>
              </a:buClr>
              <a:buSzPct val="100000"/>
              <a:buFont typeface="Arial" pitchFamily="34" charset="0"/>
              <a:buChar char="•"/>
            </a:pPr>
            <a:r>
              <a:rPr lang="en-US" sz="2000" b="0" smtClean="0">
                <a:solidFill>
                  <a:schemeClr val="dk1"/>
                </a:solidFill>
                <a:latin typeface="Calibri" pitchFamily="34" charset="0"/>
                <a:cs typeface="Calibri" pitchFamily="34" charset="0"/>
              </a:rPr>
              <a:t>When creating a new project, C6000 users will typically choose the default “seed” platform file as shown:</a:t>
            </a:r>
            <a:endParaRPr lang="en-US" sz="2000" b="0" dirty="0" smtClean="0">
              <a:solidFill>
                <a:schemeClr val="dk1"/>
              </a:solidFill>
              <a:effectLst/>
              <a:latin typeface="Calibri" pitchFamily="34" charset="0"/>
              <a:cs typeface="Calibri" pitchFamily="34" charset="0"/>
            </a:endParaRPr>
          </a:p>
        </p:txBody>
      </p:sp>
      <p:pic>
        <p:nvPicPr>
          <p:cNvPr id="9" name="Picture 2" descr="C:\Users\a0159877\AppData\Local\Temp\SNAGHTML9d70476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2999" y="3289277"/>
            <a:ext cx="3581401" cy="16156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/>
          <p:cNvSpPr txBox="1"/>
          <p:nvPr/>
        </p:nvSpPr>
        <p:spPr>
          <a:xfrm>
            <a:off x="633350" y="4944316"/>
            <a:ext cx="7980968" cy="338554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marL="225425" indent="-225425">
              <a:buClr>
                <a:schemeClr val="tx2"/>
              </a:buClr>
              <a:buSzPct val="100000"/>
              <a:buFont typeface="Arial" pitchFamily="34" charset="0"/>
              <a:buChar char="•"/>
            </a:pPr>
            <a:r>
              <a:rPr lang="en-US" sz="2000" b="0" smtClean="0">
                <a:solidFill>
                  <a:schemeClr val="dk1"/>
                </a:solidFill>
                <a:latin typeface="Calibri" pitchFamily="34" charset="0"/>
                <a:cs typeface="Calibri" pitchFamily="34" charset="0"/>
              </a:rPr>
              <a:t>C6000 users can c</a:t>
            </a:r>
            <a:r>
              <a:rPr lang="en-US" sz="2000" b="0" smtClean="0">
                <a:solidFill>
                  <a:schemeClr val="dk1"/>
                </a:solidFill>
                <a:effectLst/>
                <a:latin typeface="Calibri" pitchFamily="34" charset="0"/>
                <a:cs typeface="Calibri" pitchFamily="34" charset="0"/>
              </a:rPr>
              <a:t>reate their own CUSTOM platform package to modify:</a:t>
            </a:r>
            <a:endParaRPr lang="en-US" sz="2000" b="0" dirty="0" smtClean="0">
              <a:solidFill>
                <a:schemeClr val="dk1"/>
              </a:solidFill>
              <a:effectLst/>
              <a:latin typeface="Calibri" pitchFamily="34" charset="0"/>
              <a:cs typeface="Calibri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38480" y="5289146"/>
            <a:ext cx="2973571" cy="859723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pPr marL="233363" indent="-233363">
              <a:spcBef>
                <a:spcPts val="400"/>
              </a:spcBef>
              <a:buFont typeface="Arial" pitchFamily="34" charset="0"/>
              <a:buChar char="•"/>
            </a:pPr>
            <a:r>
              <a:rPr lang="en-US" sz="1800" b="0" smtClean="0">
                <a:solidFill>
                  <a:schemeClr val="dk1"/>
                </a:solidFill>
                <a:effectLst/>
                <a:latin typeface="Calibri" pitchFamily="34" charset="0"/>
                <a:cs typeface="Calibri" pitchFamily="34" charset="0"/>
              </a:rPr>
              <a:t>Cache Settings</a:t>
            </a:r>
          </a:p>
          <a:p>
            <a:pPr marL="233363" indent="-233363">
              <a:spcBef>
                <a:spcPts val="400"/>
              </a:spcBef>
              <a:buFont typeface="Arial" pitchFamily="34" charset="0"/>
              <a:buChar char="•"/>
            </a:pPr>
            <a:r>
              <a:rPr lang="en-US" sz="1800" b="0" smtClean="0">
                <a:solidFill>
                  <a:schemeClr val="dk1"/>
                </a:solidFill>
                <a:latin typeface="Calibri" pitchFamily="34" charset="0"/>
                <a:cs typeface="Calibri" pitchFamily="34" charset="0"/>
              </a:rPr>
              <a:t>User-named sections</a:t>
            </a:r>
          </a:p>
          <a:p>
            <a:pPr marL="233363" indent="-233363">
              <a:spcBef>
                <a:spcPts val="400"/>
              </a:spcBef>
              <a:buFont typeface="Arial" pitchFamily="34" charset="0"/>
              <a:buChar char="•"/>
            </a:pPr>
            <a:r>
              <a:rPr lang="en-US" sz="1800" b="0" smtClean="0">
                <a:solidFill>
                  <a:schemeClr val="dk1"/>
                </a:solidFill>
                <a:effectLst/>
                <a:latin typeface="Calibri" pitchFamily="34" charset="0"/>
                <a:cs typeface="Calibri" pitchFamily="34" charset="0"/>
              </a:rPr>
              <a:t>External Memory (DDR2/3)</a:t>
            </a:r>
            <a:endParaRPr lang="en-US" sz="1800" b="0" dirty="0" smtClean="0">
              <a:solidFill>
                <a:schemeClr val="dk1"/>
              </a:solidFill>
              <a:effectLst/>
              <a:latin typeface="Calibri" pitchFamily="34" charset="0"/>
              <a:cs typeface="Calibri" pitchFamily="34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338880" y="5285948"/>
            <a:ext cx="3966920" cy="865237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pPr marL="233363" indent="-233363">
              <a:spcBef>
                <a:spcPts val="400"/>
              </a:spcBef>
              <a:buFont typeface="Arial" pitchFamily="34" charset="0"/>
              <a:buChar char="•"/>
            </a:pPr>
            <a:r>
              <a:rPr lang="en-US" sz="1800" b="0" smtClean="0">
                <a:solidFill>
                  <a:schemeClr val="dk1"/>
                </a:solidFill>
                <a:effectLst/>
                <a:latin typeface="Calibri" pitchFamily="34" charset="0"/>
                <a:cs typeface="Calibri" pitchFamily="34" charset="0"/>
              </a:rPr>
              <a:t>Code, data, stack placement</a:t>
            </a:r>
          </a:p>
          <a:p>
            <a:pPr marL="233363" indent="-233363">
              <a:spcBef>
                <a:spcPts val="400"/>
              </a:spcBef>
              <a:buFont typeface="Arial" pitchFamily="34" charset="0"/>
              <a:buChar char="•"/>
            </a:pPr>
            <a:r>
              <a:rPr lang="en-US" sz="1800" b="0" smtClean="0">
                <a:solidFill>
                  <a:schemeClr val="dk1"/>
                </a:solidFill>
                <a:latin typeface="Calibri" pitchFamily="34" charset="0"/>
                <a:cs typeface="Calibri" pitchFamily="34" charset="0"/>
              </a:rPr>
              <a:t>Customize internal memory segments</a:t>
            </a:r>
          </a:p>
          <a:p>
            <a:pPr marL="233363" indent="-233363">
              <a:spcBef>
                <a:spcPts val="400"/>
              </a:spcBef>
              <a:buFont typeface="Arial" pitchFamily="34" charset="0"/>
              <a:buChar char="•"/>
            </a:pPr>
            <a:r>
              <a:rPr lang="en-US" sz="1800" b="0" smtClean="0">
                <a:solidFill>
                  <a:schemeClr val="dk1"/>
                </a:solidFill>
                <a:effectLst/>
                <a:latin typeface="Calibri" pitchFamily="34" charset="0"/>
                <a:cs typeface="Calibri" pitchFamily="34" charset="0"/>
              </a:rPr>
              <a:t>Benefit?  Optimization…</a:t>
            </a:r>
            <a:endParaRPr lang="en-US" sz="1800" b="0" dirty="0" smtClean="0">
              <a:solidFill>
                <a:schemeClr val="dk1"/>
              </a:solidFill>
              <a:effectLst/>
              <a:latin typeface="Calibri" pitchFamily="34" charset="0"/>
              <a:cs typeface="Calibri" pitchFamily="34" charset="0"/>
            </a:endParaRPr>
          </a:p>
        </p:txBody>
      </p:sp>
      <p:pic>
        <p:nvPicPr>
          <p:cNvPr id="13" name="Animated Logo" descr="tilogo_color_twoline.png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50800" y="6477000"/>
            <a:ext cx="1438537" cy="347443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94658580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50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utoUpdateAnimBg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6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9704" name="Rectangle 8"/>
          <p:cNvSpPr>
            <a:spLocks noChangeArrowheads="1"/>
          </p:cNvSpPr>
          <p:nvPr/>
        </p:nvSpPr>
        <p:spPr bwMode="auto">
          <a:xfrm>
            <a:off x="547048" y="1524000"/>
            <a:ext cx="5105400" cy="3810000"/>
          </a:xfrm>
          <a:prstGeom prst="rect">
            <a:avLst/>
          </a:prstGeom>
          <a:solidFill>
            <a:srgbClr val="92D050"/>
          </a:solidFill>
          <a:ln w="19050">
            <a:solidFill>
              <a:schemeClr val="tx1"/>
            </a:solidFill>
            <a:miter lim="800000"/>
            <a:headEnd type="none" w="sm" len="sm"/>
            <a:tailEnd type="none" w="sm" len="sm"/>
          </a:ln>
          <a:effectLst>
            <a:outerShdw blurRad="50800" dist="88900" dir="2700000" algn="tl" rotWithShape="0">
              <a:prstClr val="black">
                <a:alpha val="40000"/>
              </a:prstClr>
            </a:outerShdw>
          </a:effectLst>
        </p:spPr>
        <p:txBody>
          <a:bodyPr wrap="none" anchor="ctr"/>
          <a:lstStyle/>
          <a:p>
            <a:pPr>
              <a:defRPr/>
            </a:pPr>
            <a:endParaRPr lang="en-US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72706" name="Picture 2" descr="C:\Documents and Settings\a0159877\Desktop\250px-Operating_system_placement.svg.png"/>
          <p:cNvPicPr>
            <a:picLocks noChangeAspect="1" noChangeArrowheads="1"/>
          </p:cNvPicPr>
          <p:nvPr/>
        </p:nvPicPr>
        <p:blipFill>
          <a:blip r:embed="rId9" cstate="print"/>
          <a:srcRect/>
          <a:stretch>
            <a:fillRect/>
          </a:stretch>
        </p:blipFill>
        <p:spPr bwMode="auto">
          <a:xfrm>
            <a:off x="6160824" y="1316817"/>
            <a:ext cx="2819400" cy="4172713"/>
          </a:xfrm>
          <a:prstGeom prst="rect">
            <a:avLst/>
          </a:prstGeom>
          <a:noFill/>
        </p:spPr>
      </p:pic>
      <p:sp>
        <p:nvSpPr>
          <p:cNvPr id="4198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>
                <a:solidFill>
                  <a:schemeClr val="tx1"/>
                </a:solidFill>
              </a:rPr>
              <a:t>Outline</a:t>
            </a:r>
          </a:p>
        </p:txBody>
      </p:sp>
      <p:sp>
        <p:nvSpPr>
          <p:cNvPr id="9" name="Text Box 4">
            <a:hlinkClick r:id="rId10" action="ppaction://hlinksldjump"/>
          </p:cNvPr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552450" y="1630538"/>
            <a:ext cx="5099998" cy="480131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square" tIns="45720" bIns="45720" anchor="ctr" anchorCtr="0">
            <a:spAutoFit/>
          </a:bodyPr>
          <a:lstStyle/>
          <a:p>
            <a:pPr marL="342900" indent="-342900">
              <a:lnSpc>
                <a:spcPct val="90000"/>
              </a:lnSpc>
              <a:spcBef>
                <a:spcPct val="0"/>
              </a:spcBef>
              <a:buClr>
                <a:srgbClr val="0066FF"/>
              </a:buClr>
              <a:buSzPct val="75000"/>
              <a:buFont typeface="Wingdings" pitchFamily="2" charset="2"/>
              <a:buChar char=""/>
            </a:pPr>
            <a:r>
              <a:rPr lang="en-US" sz="2800" smtClean="0">
                <a:solidFill>
                  <a:srgbClr val="000000"/>
                </a:solidFill>
              </a:rPr>
              <a:t>Creating A New Project</a:t>
            </a:r>
            <a:endParaRPr lang="en-US" sz="2800" dirty="0">
              <a:solidFill>
                <a:srgbClr val="000000"/>
              </a:solidFill>
            </a:endParaRPr>
          </a:p>
        </p:txBody>
      </p:sp>
      <p:sp>
        <p:nvSpPr>
          <p:cNvPr id="10" name="Text Box 3">
            <a:hlinkClick r:id="rId11" action="ppaction://hlinksldjump"/>
          </p:cNvPr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547048" y="2209221"/>
            <a:ext cx="5105400" cy="480131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square" tIns="45720" bIns="45720" anchor="ctr" anchorCtr="0">
            <a:spAutoFit/>
          </a:bodyPr>
          <a:lstStyle/>
          <a:p>
            <a:pPr marL="342900" indent="-342900">
              <a:lnSpc>
                <a:spcPct val="90000"/>
              </a:lnSpc>
              <a:spcBef>
                <a:spcPct val="0"/>
              </a:spcBef>
              <a:buClr>
                <a:srgbClr val="0066FF"/>
              </a:buClr>
              <a:buSzPct val="75000"/>
              <a:buFont typeface="Wingdings" pitchFamily="2" charset="2"/>
              <a:buChar char=""/>
            </a:pPr>
            <a:r>
              <a:rPr lang="en-US" sz="2800" smtClean="0">
                <a:solidFill>
                  <a:srgbClr val="000000"/>
                </a:solidFill>
              </a:rPr>
              <a:t>TI-RTOS Config (.CFG)</a:t>
            </a:r>
            <a:endParaRPr lang="en-US" sz="2800" dirty="0">
              <a:solidFill>
                <a:srgbClr val="000000"/>
              </a:solidFill>
            </a:endParaRPr>
          </a:p>
        </p:txBody>
      </p:sp>
      <p:sp>
        <p:nvSpPr>
          <p:cNvPr id="11" name="Text Box 4">
            <a:hlinkClick r:id="rId12" action="ppaction://hlinksldjump"/>
          </p:cNvPr>
          <p:cNvSpPr txBox="1"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552450" y="2787904"/>
            <a:ext cx="5099998" cy="480131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square" tIns="45720" bIns="45720" anchor="ctr" anchorCtr="0">
            <a:spAutoFit/>
          </a:bodyPr>
          <a:lstStyle/>
          <a:p>
            <a:pPr marL="342900" indent="-342900">
              <a:lnSpc>
                <a:spcPct val="90000"/>
              </a:lnSpc>
              <a:spcBef>
                <a:spcPct val="0"/>
              </a:spcBef>
              <a:buClr>
                <a:srgbClr val="0066FF"/>
              </a:buClr>
              <a:buSzPct val="75000"/>
              <a:buFont typeface="Wingdings" pitchFamily="2" charset="2"/>
              <a:buChar char=""/>
            </a:pPr>
            <a:r>
              <a:rPr lang="en-US" sz="2800" smtClean="0">
                <a:solidFill>
                  <a:srgbClr val="000000"/>
                </a:solidFill>
              </a:rPr>
              <a:t>System Timeline</a:t>
            </a:r>
            <a:endParaRPr lang="en-US" sz="2800" dirty="0">
              <a:solidFill>
                <a:srgbClr val="000000"/>
              </a:solidFill>
            </a:endParaRPr>
          </a:p>
        </p:txBody>
      </p:sp>
      <p:sp>
        <p:nvSpPr>
          <p:cNvPr id="12" name="Text Box 4">
            <a:hlinkClick r:id="rId13" action="ppaction://hlinksldjump"/>
          </p:cNvPr>
          <p:cNvSpPr txBox="1"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552450" y="3366587"/>
            <a:ext cx="5099998" cy="480131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square" tIns="45720" bIns="45720" anchor="ctr" anchorCtr="0">
            <a:spAutoFit/>
          </a:bodyPr>
          <a:lstStyle/>
          <a:p>
            <a:pPr marL="342900" indent="-342900">
              <a:lnSpc>
                <a:spcPct val="90000"/>
              </a:lnSpc>
              <a:spcBef>
                <a:spcPct val="0"/>
              </a:spcBef>
              <a:buClr>
                <a:srgbClr val="0066FF"/>
              </a:buClr>
              <a:buSzPct val="75000"/>
              <a:buFont typeface="Wingdings" pitchFamily="2" charset="2"/>
              <a:buChar char=""/>
            </a:pPr>
            <a:r>
              <a:rPr lang="en-US" sz="2800" smtClean="0">
                <a:solidFill>
                  <a:srgbClr val="000000"/>
                </a:solidFill>
              </a:rPr>
              <a:t>UIA &amp; RTOS Analyzer</a:t>
            </a:r>
            <a:endParaRPr lang="en-US" sz="2800" dirty="0">
              <a:solidFill>
                <a:srgbClr val="000000"/>
              </a:solidFill>
            </a:endParaRPr>
          </a:p>
        </p:txBody>
      </p:sp>
      <p:sp>
        <p:nvSpPr>
          <p:cNvPr id="13" name="Text Box 4">
            <a:hlinkClick r:id="rId14" action="ppaction://hlinksldjump"/>
          </p:cNvPr>
          <p:cNvSpPr txBox="1"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552450" y="3945270"/>
            <a:ext cx="5099998" cy="480131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square" tIns="45720" bIns="45720" anchor="ctr" anchorCtr="0">
            <a:spAutoFit/>
          </a:bodyPr>
          <a:lstStyle/>
          <a:p>
            <a:pPr marL="342900" indent="-342900">
              <a:lnSpc>
                <a:spcPct val="90000"/>
              </a:lnSpc>
              <a:spcBef>
                <a:spcPct val="0"/>
              </a:spcBef>
              <a:buClr>
                <a:srgbClr val="0066FF"/>
              </a:buClr>
              <a:buSzPct val="75000"/>
              <a:buFont typeface="Wingdings" pitchFamily="2" charset="2"/>
              <a:buChar char=""/>
            </a:pPr>
            <a:r>
              <a:rPr lang="en-US" sz="2800" smtClean="0">
                <a:solidFill>
                  <a:srgbClr val="000000"/>
                </a:solidFill>
              </a:rPr>
              <a:t>Version Control</a:t>
            </a:r>
            <a:endParaRPr lang="en-US" sz="2800" dirty="0">
              <a:solidFill>
                <a:srgbClr val="000000"/>
              </a:solidFill>
            </a:endParaRPr>
          </a:p>
        </p:txBody>
      </p:sp>
      <p:sp>
        <p:nvSpPr>
          <p:cNvPr id="14" name="Text Box 4">
            <a:hlinkClick r:id="rId15" action="ppaction://hlinksldjump"/>
          </p:cNvPr>
          <p:cNvSpPr txBox="1">
            <a:spLocks noChangeArrowheads="1"/>
          </p:cNvSpPr>
          <p:nvPr>
            <p:custDataLst>
              <p:tags r:id="rId7"/>
            </p:custDataLst>
          </p:nvPr>
        </p:nvSpPr>
        <p:spPr bwMode="auto">
          <a:xfrm>
            <a:off x="552450" y="4523953"/>
            <a:ext cx="5099998" cy="480131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square" tIns="45720" bIns="45720" anchor="ctr" anchorCtr="0">
            <a:spAutoFit/>
          </a:bodyPr>
          <a:lstStyle/>
          <a:p>
            <a:pPr marL="342900" indent="-342900">
              <a:lnSpc>
                <a:spcPct val="90000"/>
              </a:lnSpc>
              <a:spcBef>
                <a:spcPct val="0"/>
              </a:spcBef>
              <a:buClr>
                <a:srgbClr val="0066FF"/>
              </a:buClr>
              <a:buSzPct val="75000"/>
              <a:buFont typeface="Wingdings" pitchFamily="2" charset="2"/>
              <a:buChar char=""/>
            </a:pPr>
            <a:r>
              <a:rPr lang="en-US" sz="2800" smtClean="0">
                <a:solidFill>
                  <a:srgbClr val="000000"/>
                </a:solidFill>
              </a:rPr>
              <a:t>Lab</a:t>
            </a:r>
            <a:endParaRPr lang="en-US" sz="2800" dirty="0">
              <a:solidFill>
                <a:srgbClr val="000000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88813581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4" descr="C:\Users\a0159877\AppData\Local\Temp\SNAGHTML323d2c9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82256" y="1871362"/>
            <a:ext cx="2129556" cy="47580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 descr="C:\Users\a0159877\AppData\Local\Temp\SNAGHTML3222819.PN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79211" y="1835750"/>
            <a:ext cx="2762693" cy="47730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Static BIOS Configuration (.cfg)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200" y="652132"/>
            <a:ext cx="9146991" cy="1132618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pPr marL="342900" indent="-342900">
              <a:spcBef>
                <a:spcPts val="1200"/>
              </a:spcBef>
              <a:buClr>
                <a:schemeClr val="tx2"/>
              </a:buClr>
              <a:buSzPct val="75000"/>
              <a:buFont typeface="Wingdings"/>
              <a:buChar char=""/>
            </a:pPr>
            <a:r>
              <a:rPr lang="en-US" b="0" smtClean="0">
                <a:latin typeface="Calibri" pitchFamily="34" charset="0"/>
                <a:cs typeface="Calibri" pitchFamily="34" charset="0"/>
              </a:rPr>
              <a:t>The .cfg file contains all STATIC BIOS services used in the project</a:t>
            </a:r>
            <a:endParaRPr lang="en-US" sz="2000" b="0" i="1" smtClean="0">
              <a:latin typeface="Calibri" pitchFamily="34" charset="0"/>
              <a:cs typeface="Calibri" pitchFamily="34" charset="0"/>
            </a:endParaRPr>
          </a:p>
          <a:p>
            <a:pPr marL="342900" indent="-342900">
              <a:spcBef>
                <a:spcPts val="1200"/>
              </a:spcBef>
              <a:buClr>
                <a:schemeClr val="tx2"/>
              </a:buClr>
              <a:buSzPct val="75000"/>
              <a:buFont typeface="Wingdings"/>
              <a:buChar char=""/>
            </a:pPr>
            <a:r>
              <a:rPr lang="en-US" b="0" smtClean="0">
                <a:latin typeface="Calibri" pitchFamily="34" charset="0"/>
                <a:cs typeface="Calibri" pitchFamily="34" charset="0"/>
              </a:rPr>
              <a:t>To ADD a service, right-click on service in </a:t>
            </a:r>
            <a:r>
              <a:rPr lang="en-US" b="0" i="1" smtClean="0">
                <a:latin typeface="Calibri" pitchFamily="34" charset="0"/>
                <a:cs typeface="Calibri" pitchFamily="34" charset="0"/>
              </a:rPr>
              <a:t>Available Products</a:t>
            </a:r>
            <a:r>
              <a:rPr lang="en-US" b="0" smtClean="0">
                <a:latin typeface="Calibri" pitchFamily="34" charset="0"/>
                <a:cs typeface="Calibri" pitchFamily="34" charset="0"/>
              </a:rPr>
              <a:t> and</a:t>
            </a:r>
            <a:br>
              <a:rPr lang="en-US" b="0" smtClean="0">
                <a:latin typeface="Calibri" pitchFamily="34" charset="0"/>
                <a:cs typeface="Calibri" pitchFamily="34" charset="0"/>
              </a:rPr>
            </a:br>
            <a:r>
              <a:rPr lang="en-US" b="0" smtClean="0">
                <a:latin typeface="Calibri" pitchFamily="34" charset="0"/>
                <a:cs typeface="Calibri" pitchFamily="34" charset="0"/>
              </a:rPr>
              <a:t>select “</a:t>
            </a:r>
            <a:r>
              <a:rPr lang="en-US" b="0" i="1" smtClean="0">
                <a:latin typeface="Calibri" pitchFamily="34" charset="0"/>
                <a:cs typeface="Calibri" pitchFamily="34" charset="0"/>
              </a:rPr>
              <a:t>Use xyz</a:t>
            </a:r>
            <a:r>
              <a:rPr lang="en-US" b="0" smtClean="0">
                <a:latin typeface="Calibri" pitchFamily="34" charset="0"/>
                <a:cs typeface="Calibri" pitchFamily="34" charset="0"/>
              </a:rPr>
              <a:t>”. It will then appear in your .cfg file (see Outline view)</a:t>
            </a:r>
          </a:p>
        </p:txBody>
      </p:sp>
      <p:sp>
        <p:nvSpPr>
          <p:cNvPr id="5" name="Leading Question"/>
          <p:cNvSpPr txBox="1"/>
          <p:nvPr/>
        </p:nvSpPr>
        <p:spPr>
          <a:xfrm>
            <a:off x="6526066" y="6553200"/>
            <a:ext cx="2313134" cy="2462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rtlCol="0" anchor="b" anchorCtr="0">
            <a:spAutoFit/>
          </a:bodyPr>
          <a:lstStyle/>
          <a:p>
            <a:pPr algn="r">
              <a:spcBef>
                <a:spcPct val="0"/>
              </a:spcBef>
            </a:pPr>
            <a:r>
              <a:rPr lang="en-US" sz="2000" b="0" smtClean="0">
                <a:solidFill>
                  <a:schemeClr val="tx2"/>
                </a:solidFill>
                <a:effectLst/>
                <a:latin typeface="Arial Narrow"/>
              </a:rPr>
              <a:t>When you click on Idle…</a:t>
            </a:r>
            <a:endParaRPr lang="en-US" sz="2000" b="0" dirty="0" smtClean="0">
              <a:solidFill>
                <a:schemeClr val="tx2"/>
              </a:solidFill>
              <a:effectLst/>
              <a:latin typeface="Arial Narrow"/>
            </a:endParaRPr>
          </a:p>
        </p:txBody>
      </p:sp>
      <p:sp>
        <p:nvSpPr>
          <p:cNvPr id="16" name="Right Arrow 15"/>
          <p:cNvSpPr/>
          <p:nvPr/>
        </p:nvSpPr>
        <p:spPr bwMode="auto">
          <a:xfrm>
            <a:off x="5029200" y="3678839"/>
            <a:ext cx="838200" cy="652078"/>
          </a:xfrm>
          <a:prstGeom prst="rightArrow">
            <a:avLst/>
          </a:prstGeom>
          <a:solidFill>
            <a:srgbClr val="FFFF66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pPr>
              <a:defRPr/>
            </a:pPr>
            <a:endParaRPr lang="en-US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13" name="Animated Logo" descr="tilogo_color_twoline.png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50800" y="6477000"/>
            <a:ext cx="1438537" cy="347443"/>
          </a:xfrm>
          <a:prstGeom prst="rect">
            <a:avLst/>
          </a:prstGeom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83747" y="5192232"/>
            <a:ext cx="1369253" cy="324297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50800" dist="63500" dir="2700000" algn="ctr" rotWithShape="0">
              <a:schemeClr val="tx1">
                <a:alpha val="46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8203423" y="2667000"/>
            <a:ext cx="559577" cy="34471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6350">
            <a:solidFill>
              <a:schemeClr val="tx1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 anchor="ctr" anchorCtr="0">
            <a:spAutoFit/>
          </a:bodyPr>
          <a:lstStyle/>
          <a:p>
            <a:r>
              <a:rPr lang="en-US" sz="2000" b="0" smtClean="0">
                <a:solidFill>
                  <a:schemeClr val="dk1"/>
                </a:solidFill>
                <a:effectLst/>
                <a:latin typeface="Calibri" pitchFamily="34" charset="0"/>
                <a:cs typeface="Calibri" pitchFamily="34" charset="0"/>
              </a:rPr>
              <a:t>.cfg</a:t>
            </a:r>
            <a:endParaRPr lang="en-US" sz="2000" b="0" dirty="0" smtClean="0">
              <a:solidFill>
                <a:schemeClr val="dk1"/>
              </a:solidFill>
              <a:effectLst/>
              <a:latin typeface="Calibri" pitchFamily="34" charset="0"/>
              <a:cs typeface="Calibri" pitchFamily="34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2362200" y="6462354"/>
            <a:ext cx="3883948" cy="319446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r>
              <a:rPr lang="en-US" sz="1800" b="0" i="1" smtClean="0">
                <a:solidFill>
                  <a:schemeClr val="accent4">
                    <a:lumMod val="75000"/>
                  </a:schemeClr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Note: you can also drag/drop services…</a:t>
            </a:r>
            <a:endParaRPr lang="en-US" sz="1800" b="0" i="1" dirty="0" smtClean="0">
              <a:solidFill>
                <a:schemeClr val="accent4">
                  <a:lumMod val="75000"/>
                </a:schemeClr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67650585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50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utoUpdateAnimBg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mtClean="0"/>
              <a:t>Static BIOS Configuration – Adding Idle Fxn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200" y="762000"/>
            <a:ext cx="8666347" cy="683264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pPr marL="342900" indent="-342900">
              <a:spcBef>
                <a:spcPts val="1200"/>
              </a:spcBef>
              <a:buClr>
                <a:schemeClr val="tx2"/>
              </a:buClr>
              <a:buSzPct val="75000"/>
              <a:buFont typeface="Wingdings"/>
              <a:buChar char=""/>
            </a:pPr>
            <a:r>
              <a:rPr lang="en-US" b="0" smtClean="0">
                <a:latin typeface="Calibri" pitchFamily="34" charset="0"/>
                <a:cs typeface="Calibri" pitchFamily="34" charset="0"/>
              </a:rPr>
              <a:t>When you click on a service (or BIOS module) in the Outline view,</a:t>
            </a:r>
            <a:br>
              <a:rPr lang="en-US" b="0" smtClean="0">
                <a:latin typeface="Calibri" pitchFamily="34" charset="0"/>
                <a:cs typeface="Calibri" pitchFamily="34" charset="0"/>
              </a:rPr>
            </a:br>
            <a:r>
              <a:rPr lang="en-US" b="0" smtClean="0">
                <a:latin typeface="Calibri" pitchFamily="34" charset="0"/>
                <a:cs typeface="Calibri" pitchFamily="34" charset="0"/>
              </a:rPr>
              <a:t>you can then configure its settings (e.g. adding an Idle function):</a:t>
            </a: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799" y="1884935"/>
            <a:ext cx="4800601" cy="369646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50800" dist="76200" dir="2700000" algn="ctr" rotWithShape="0">
              <a:schemeClr val="tx1">
                <a:alpha val="49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sp>
        <p:nvSpPr>
          <p:cNvPr id="14" name="Right Arrow 13"/>
          <p:cNvSpPr/>
          <p:nvPr/>
        </p:nvSpPr>
        <p:spPr bwMode="auto">
          <a:xfrm rot="10800000">
            <a:off x="5334001" y="3352800"/>
            <a:ext cx="838200" cy="652078"/>
          </a:xfrm>
          <a:prstGeom prst="rightArrow">
            <a:avLst/>
          </a:prstGeom>
          <a:solidFill>
            <a:srgbClr val="FFFF66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pPr>
              <a:defRPr/>
            </a:pPr>
            <a:endParaRPr lang="en-US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15" name="Animated Logo" descr="tilogo_color_twoline.png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50800" y="6477000"/>
            <a:ext cx="1438537" cy="347443"/>
          </a:xfrm>
          <a:prstGeom prst="rect">
            <a:avLst/>
          </a:prstGeom>
        </p:spPr>
      </p:pic>
      <p:pic>
        <p:nvPicPr>
          <p:cNvPr id="11" name="Picture 4" descr="C:\Users\a0159877\AppData\Local\Temp\SNAGHTML323d2c9.PNG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82256" y="1871362"/>
            <a:ext cx="2129556" cy="47580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Box 11"/>
          <p:cNvSpPr txBox="1"/>
          <p:nvPr/>
        </p:nvSpPr>
        <p:spPr>
          <a:xfrm>
            <a:off x="8203423" y="2667000"/>
            <a:ext cx="559577" cy="34471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6350">
            <a:solidFill>
              <a:schemeClr val="tx1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 anchor="ctr" anchorCtr="0">
            <a:spAutoFit/>
          </a:bodyPr>
          <a:lstStyle/>
          <a:p>
            <a:r>
              <a:rPr lang="en-US" sz="2000" b="0" smtClean="0">
                <a:solidFill>
                  <a:schemeClr val="dk1"/>
                </a:solidFill>
                <a:effectLst/>
                <a:latin typeface="Calibri" pitchFamily="34" charset="0"/>
                <a:cs typeface="Calibri" pitchFamily="34" charset="0"/>
              </a:rPr>
              <a:t>.cfg</a:t>
            </a:r>
            <a:endParaRPr lang="en-US" sz="2000" b="0" dirty="0" smtClean="0">
              <a:solidFill>
                <a:schemeClr val="dk1"/>
              </a:solidFill>
              <a:effectLst/>
              <a:latin typeface="Calibri" pitchFamily="34" charset="0"/>
              <a:cs typeface="Calibri" pitchFamily="34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65160868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mtClean="0"/>
              <a:t>Static BIOS Configuration – Adding Idle Fxn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200" y="705517"/>
            <a:ext cx="8458200" cy="1428083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marL="342900" indent="-342900">
              <a:spcBef>
                <a:spcPts val="1200"/>
              </a:spcBef>
              <a:buClr>
                <a:schemeClr val="tx2"/>
              </a:buClr>
              <a:buSzPct val="75000"/>
              <a:buFont typeface="Wingdings"/>
              <a:buChar char=""/>
            </a:pPr>
            <a:r>
              <a:rPr lang="en-US" b="0" smtClean="0">
                <a:latin typeface="Calibri" pitchFamily="34" charset="0"/>
                <a:cs typeface="Calibri" pitchFamily="34" charset="0"/>
              </a:rPr>
              <a:t>All changes made to the GUI are reflected in the script (.cfg file) and vice versa</a:t>
            </a:r>
          </a:p>
          <a:p>
            <a:pPr marL="342900" indent="-342900">
              <a:spcBef>
                <a:spcPts val="1200"/>
              </a:spcBef>
              <a:buClr>
                <a:schemeClr val="tx2"/>
              </a:buClr>
              <a:buSzPct val="75000"/>
              <a:buFont typeface="Wingdings"/>
              <a:buChar char=""/>
            </a:pPr>
            <a:r>
              <a:rPr lang="en-US" b="0" smtClean="0">
                <a:latin typeface="Calibri" pitchFamily="34" charset="0"/>
                <a:cs typeface="Calibri" pitchFamily="34" charset="0"/>
              </a:rPr>
              <a:t>Click on a module on the right and you can see the  corresponding script in </a:t>
            </a:r>
            <a:r>
              <a:rPr lang="en-US" b="0" i="1" smtClean="0">
                <a:solidFill>
                  <a:schemeClr val="tx2"/>
                </a:solidFill>
                <a:latin typeface="Calibri" pitchFamily="34" charset="0"/>
                <a:cs typeface="Calibri" pitchFamily="34" charset="0"/>
              </a:rPr>
              <a:t>app.cfg</a:t>
            </a:r>
            <a:r>
              <a:rPr lang="en-US" b="0" smtClean="0">
                <a:latin typeface="Calibri" pitchFamily="34" charset="0"/>
                <a:cs typeface="Calibri" pitchFamily="34" charset="0"/>
              </a:rPr>
              <a:t>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1927" y="5202866"/>
            <a:ext cx="5737468" cy="289310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r>
              <a:rPr lang="en-US" sz="1600" b="0" i="1" dirty="0" smtClean="0">
                <a:solidFill>
                  <a:schemeClr val="dk1"/>
                </a:solidFill>
                <a:effectLst/>
                <a:latin typeface="Arial Narrow" pitchFamily="34" charset="0"/>
              </a:rPr>
              <a:t>Note: .</a:t>
            </a:r>
            <a:r>
              <a:rPr lang="en-US" sz="1600" b="0" i="1" dirty="0" err="1" smtClean="0">
                <a:solidFill>
                  <a:schemeClr val="dk1"/>
                </a:solidFill>
                <a:effectLst/>
                <a:latin typeface="Arial Narrow" pitchFamily="34" charset="0"/>
              </a:rPr>
              <a:t>cfg</a:t>
            </a:r>
            <a:r>
              <a:rPr lang="en-US" sz="1600" b="0" i="1" dirty="0" smtClean="0">
                <a:solidFill>
                  <a:schemeClr val="dk1"/>
                </a:solidFill>
                <a:effectLst/>
                <a:latin typeface="Arial Narrow" pitchFamily="34" charset="0"/>
              </a:rPr>
              <a:t> files don’t “build up” entries like the older .</a:t>
            </a:r>
            <a:r>
              <a:rPr lang="en-US" sz="1600" b="0" i="1" err="1" smtClean="0">
                <a:solidFill>
                  <a:schemeClr val="dk1"/>
                </a:solidFill>
                <a:effectLst/>
                <a:latin typeface="Arial Narrow" pitchFamily="34" charset="0"/>
              </a:rPr>
              <a:t>tcf</a:t>
            </a:r>
            <a:r>
              <a:rPr lang="en-US" sz="1600" b="0" i="1" smtClean="0">
                <a:solidFill>
                  <a:schemeClr val="dk1"/>
                </a:solidFill>
                <a:effectLst/>
                <a:latin typeface="Arial Narrow" pitchFamily="34" charset="0"/>
              </a:rPr>
              <a:t> (DSP/BIOS) files </a:t>
            </a:r>
            <a:r>
              <a:rPr lang="en-US" sz="1600" b="0" i="1" dirty="0" smtClean="0">
                <a:solidFill>
                  <a:schemeClr val="dk1"/>
                </a:solidFill>
                <a:effectLst/>
                <a:latin typeface="Arial Narrow" pitchFamily="34" charset="0"/>
              </a:rPr>
              <a:t>did</a:t>
            </a:r>
          </a:p>
        </p:txBody>
      </p:sp>
      <p:pic>
        <p:nvPicPr>
          <p:cNvPr id="1026" name="Picture 2" descr="C:\Users\a0159877\AppData\Local\Temp\SNAGHTML2ba544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2286000"/>
            <a:ext cx="6109980" cy="1447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C:\Users\a0159877\AppData\Local\Temp\SNAGHTML2cfa65.PN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340" y="3783516"/>
            <a:ext cx="6109639" cy="14742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Animated Logo" descr="tilogo_color_twoline.png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50800" y="6477000"/>
            <a:ext cx="1438537" cy="347443"/>
          </a:xfrm>
          <a:prstGeom prst="rect">
            <a:avLst/>
          </a:prstGeom>
        </p:spPr>
      </p:pic>
      <p:pic>
        <p:nvPicPr>
          <p:cNvPr id="10" name="Picture 4" descr="C:\Users\a0159877\AppData\Local\Temp\SNAGHTML323d2c9.PNG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82256" y="1871362"/>
            <a:ext cx="2129556" cy="47580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Box 12"/>
          <p:cNvSpPr txBox="1"/>
          <p:nvPr/>
        </p:nvSpPr>
        <p:spPr>
          <a:xfrm>
            <a:off x="8203423" y="2667000"/>
            <a:ext cx="559577" cy="34471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6350">
            <a:solidFill>
              <a:schemeClr val="tx1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 anchor="ctr" anchorCtr="0">
            <a:spAutoFit/>
          </a:bodyPr>
          <a:lstStyle/>
          <a:p>
            <a:r>
              <a:rPr lang="en-US" sz="2000" b="0" smtClean="0">
                <a:solidFill>
                  <a:schemeClr val="dk1"/>
                </a:solidFill>
                <a:effectLst/>
                <a:latin typeface="Calibri" pitchFamily="34" charset="0"/>
                <a:cs typeface="Calibri" pitchFamily="34" charset="0"/>
              </a:rPr>
              <a:t>.cfg</a:t>
            </a:r>
            <a:endParaRPr lang="en-US" sz="2000" b="0" dirty="0" smtClean="0">
              <a:solidFill>
                <a:schemeClr val="dk1"/>
              </a:solidFill>
              <a:effectLst/>
              <a:latin typeface="Calibri" pitchFamily="34" charset="0"/>
              <a:cs typeface="Calibri" pitchFamily="34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93608957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BIOS System Overview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609600"/>
            <a:ext cx="7239000" cy="6120196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>
            <a:outerShdw blurRad="50800" dist="88900" dir="2700000" algn="ctr" rotWithShape="0">
              <a:schemeClr val="tx1">
                <a:alpha val="48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sp>
        <p:nvSpPr>
          <p:cNvPr id="22532" name="TextBox 19"/>
          <p:cNvSpPr txBox="1">
            <a:spLocks noChangeArrowheads="1"/>
          </p:cNvSpPr>
          <p:nvPr/>
        </p:nvSpPr>
        <p:spPr bwMode="auto">
          <a:xfrm>
            <a:off x="6400800" y="1371600"/>
            <a:ext cx="2523448" cy="2246769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wrap="none">
            <a:spAutoFit/>
          </a:bodyPr>
          <a:lstStyle/>
          <a:p>
            <a:pPr marL="342900" indent="-342900">
              <a:lnSpc>
                <a:spcPct val="100000"/>
              </a:lnSpc>
              <a:buClr>
                <a:srgbClr val="0066FF"/>
              </a:buClr>
              <a:buSzPct val="75000"/>
              <a:buFont typeface="Wingdings" pitchFamily="2" charset="2"/>
              <a:buChar char=""/>
            </a:pPr>
            <a:r>
              <a:rPr lang="en-US" sz="2000" b="0" dirty="0" smtClean="0">
                <a:solidFill>
                  <a:srgbClr val="000000"/>
                </a:solidFill>
                <a:latin typeface="Arial Narrow" pitchFamily="34" charset="0"/>
              </a:rPr>
              <a:t>To see the services</a:t>
            </a:r>
            <a:br>
              <a:rPr lang="en-US" sz="2000" b="0" dirty="0" smtClean="0">
                <a:solidFill>
                  <a:srgbClr val="000000"/>
                </a:solidFill>
                <a:latin typeface="Arial Narrow" pitchFamily="34" charset="0"/>
              </a:rPr>
            </a:br>
            <a:r>
              <a:rPr lang="en-US" sz="2000" b="0" dirty="0" smtClean="0">
                <a:solidFill>
                  <a:srgbClr val="000000"/>
                </a:solidFill>
                <a:latin typeface="Arial Narrow" pitchFamily="34" charset="0"/>
              </a:rPr>
              <a:t>used in YOUR</a:t>
            </a:r>
            <a:br>
              <a:rPr lang="en-US" sz="2000" b="0" dirty="0" smtClean="0">
                <a:solidFill>
                  <a:srgbClr val="000000"/>
                </a:solidFill>
                <a:latin typeface="Arial Narrow" pitchFamily="34" charset="0"/>
              </a:rPr>
            </a:br>
            <a:r>
              <a:rPr lang="en-US" sz="2000" b="0" dirty="0" smtClean="0">
                <a:solidFill>
                  <a:srgbClr val="000000"/>
                </a:solidFill>
                <a:latin typeface="Arial Narrow" pitchFamily="34" charset="0"/>
              </a:rPr>
              <a:t>.</a:t>
            </a:r>
            <a:r>
              <a:rPr lang="en-US" sz="2000" b="0" dirty="0" err="1" smtClean="0">
                <a:solidFill>
                  <a:srgbClr val="000000"/>
                </a:solidFill>
                <a:latin typeface="Arial Narrow" pitchFamily="34" charset="0"/>
              </a:rPr>
              <a:t>cfg</a:t>
            </a:r>
            <a:r>
              <a:rPr lang="en-US" sz="2000" b="0" dirty="0" smtClean="0">
                <a:solidFill>
                  <a:srgbClr val="000000"/>
                </a:solidFill>
                <a:latin typeface="Arial Narrow" pitchFamily="34" charset="0"/>
              </a:rPr>
              <a:t> file, choose:</a:t>
            </a:r>
          </a:p>
          <a:p>
            <a:pPr marL="342900" indent="-342900">
              <a:lnSpc>
                <a:spcPct val="100000"/>
              </a:lnSpc>
              <a:buClr>
                <a:srgbClr val="0066FF"/>
              </a:buClr>
              <a:buSzPct val="75000"/>
              <a:buFont typeface="Wingdings" pitchFamily="2" charset="2"/>
              <a:buChar char=""/>
            </a:pPr>
            <a:r>
              <a:rPr lang="en-US" sz="2000" b="0" dirty="0" smtClean="0">
                <a:solidFill>
                  <a:srgbClr val="000000"/>
                </a:solidFill>
                <a:latin typeface="Arial Narrow" pitchFamily="34" charset="0"/>
              </a:rPr>
              <a:t>BIOS </a:t>
            </a:r>
            <a:r>
              <a:rPr lang="en-US" sz="2000" b="0" dirty="0" smtClean="0">
                <a:solidFill>
                  <a:srgbClr val="000000"/>
                </a:solidFill>
                <a:latin typeface="Arial Narrow" pitchFamily="34" charset="0"/>
                <a:sym typeface="Wingdings"/>
              </a:rPr>
              <a:t> </a:t>
            </a:r>
            <a:r>
              <a:rPr lang="en-US" sz="2000" b="0" dirty="0" smtClean="0">
                <a:solidFill>
                  <a:srgbClr val="000000"/>
                </a:solidFill>
                <a:latin typeface="Arial Narrow" pitchFamily="34" charset="0"/>
              </a:rPr>
              <a:t>System O/V</a:t>
            </a:r>
          </a:p>
          <a:p>
            <a:pPr marL="342900" indent="-342900">
              <a:lnSpc>
                <a:spcPct val="100000"/>
              </a:lnSpc>
              <a:buClr>
                <a:srgbClr val="0066FF"/>
              </a:buClr>
              <a:buSzPct val="75000"/>
              <a:buFont typeface="Wingdings" pitchFamily="2" charset="2"/>
              <a:buChar char=""/>
            </a:pPr>
            <a:r>
              <a:rPr lang="en-US" sz="2000" b="0" dirty="0" smtClean="0">
                <a:solidFill>
                  <a:srgbClr val="000000"/>
                </a:solidFill>
                <a:latin typeface="Arial Narrow" pitchFamily="34" charset="0"/>
              </a:rPr>
              <a:t>Notice the green</a:t>
            </a:r>
            <a:br>
              <a:rPr lang="en-US" sz="2000" b="0" dirty="0" smtClean="0">
                <a:solidFill>
                  <a:srgbClr val="000000"/>
                </a:solidFill>
                <a:latin typeface="Arial Narrow" pitchFamily="34" charset="0"/>
              </a:rPr>
            </a:br>
            <a:r>
              <a:rPr lang="en-US" sz="2000" b="0" dirty="0" smtClean="0">
                <a:solidFill>
                  <a:srgbClr val="000000"/>
                </a:solidFill>
                <a:latin typeface="Arial Narrow" pitchFamily="34" charset="0"/>
              </a:rPr>
              <a:t>checkmarks (</a:t>
            </a:r>
            <a:r>
              <a:rPr lang="en-US" sz="2000" b="0" dirty="0" smtClean="0">
                <a:solidFill>
                  <a:srgbClr val="00B050"/>
                </a:solidFill>
                <a:latin typeface="Arial Narrow" pitchFamily="34" charset="0"/>
                <a:sym typeface="Wingdings"/>
              </a:rPr>
              <a:t></a:t>
            </a:r>
            <a:r>
              <a:rPr lang="en-US" sz="2000" b="0" dirty="0" smtClean="0">
                <a:latin typeface="Arial Narrow" pitchFamily="34" charset="0"/>
                <a:sym typeface="Wingdings"/>
              </a:rPr>
              <a:t>)</a:t>
            </a:r>
            <a:endParaRPr lang="en-US" sz="2000" b="0" dirty="0" smtClean="0">
              <a:latin typeface="Arial Narrow" pitchFamily="34" charset="0"/>
            </a:endParaRPr>
          </a:p>
        </p:txBody>
      </p:sp>
    </p:spTree>
    <p:custDataLst>
      <p:tags r:id="rId1"/>
    </p:custData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Configuration Build Flow (CFG)</a:t>
            </a:r>
          </a:p>
        </p:txBody>
      </p:sp>
      <p:sp>
        <p:nvSpPr>
          <p:cNvPr id="13315" name="TextBox 24"/>
          <p:cNvSpPr txBox="1">
            <a:spLocks noChangeArrowheads="1"/>
          </p:cNvSpPr>
          <p:nvPr/>
        </p:nvSpPr>
        <p:spPr bwMode="auto">
          <a:xfrm>
            <a:off x="747713" y="660776"/>
            <a:ext cx="5997575" cy="7985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marL="225425" indent="-225425">
              <a:lnSpc>
                <a:spcPct val="70000"/>
              </a:lnSpc>
              <a:buFont typeface="Arial" pitchFamily="34" charset="0"/>
              <a:buChar char="•"/>
            </a:pPr>
            <a:r>
              <a:rPr lang="en-US" b="0" u="sng">
                <a:solidFill>
                  <a:srgbClr val="000000"/>
                </a:solidFill>
                <a:latin typeface="Arial Narrow" pitchFamily="34" charset="0"/>
              </a:rPr>
              <a:t>SYS/BIOS</a:t>
            </a:r>
            <a:r>
              <a:rPr lang="en-US" b="0">
                <a:solidFill>
                  <a:srgbClr val="000000"/>
                </a:solidFill>
                <a:latin typeface="Arial Narrow" pitchFamily="34" charset="0"/>
              </a:rPr>
              <a:t> – user configures system with </a:t>
            </a:r>
            <a:r>
              <a:rPr lang="en-US" b="0" u="sng">
                <a:solidFill>
                  <a:srgbClr val="000000"/>
                </a:solidFill>
                <a:latin typeface="Arial Narrow" pitchFamily="34" charset="0"/>
              </a:rPr>
              <a:t>CFG file</a:t>
            </a:r>
          </a:p>
          <a:p>
            <a:pPr marL="225425" indent="-225425">
              <a:lnSpc>
                <a:spcPct val="70000"/>
              </a:lnSpc>
              <a:buFont typeface="Arial" pitchFamily="34" charset="0"/>
              <a:buChar char="•"/>
            </a:pPr>
            <a:r>
              <a:rPr lang="en-US" b="0">
                <a:solidFill>
                  <a:srgbClr val="000000"/>
                </a:solidFill>
                <a:latin typeface="Arial Narrow" pitchFamily="34" charset="0"/>
              </a:rPr>
              <a:t>The rest is “under the hood”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354240" y="2209800"/>
            <a:ext cx="1295400" cy="128744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tx1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txBody>
          <a:bodyPr anchorCtr="1"/>
          <a:lstStyle/>
          <a:p>
            <a:pPr>
              <a:defRPr/>
            </a:pPr>
            <a:r>
              <a:rPr lang="en-US" sz="2000" b="0" dirty="0">
                <a:solidFill>
                  <a:srgbClr val="000000"/>
                </a:solidFill>
                <a:latin typeface="Arial Narrow" pitchFamily="34" charset="0"/>
              </a:rPr>
              <a:t>XDC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6744" y="3878240"/>
            <a:ext cx="990600" cy="6858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1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txBody>
          <a:bodyPr anchor="ctr" anchorCtr="1"/>
          <a:lstStyle/>
          <a:p>
            <a:pPr>
              <a:defRPr/>
            </a:pPr>
            <a:r>
              <a:rPr lang="en-US" sz="2000" b="0" dirty="0">
                <a:solidFill>
                  <a:srgbClr val="000000"/>
                </a:solidFill>
                <a:latin typeface="Arial Narrow" pitchFamily="34" charset="0"/>
              </a:rPr>
              <a:t>.C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06840" y="3878240"/>
            <a:ext cx="1143000" cy="685800"/>
          </a:xfrm>
          <a:prstGeom prst="rect">
            <a:avLst/>
          </a:prstGeom>
          <a:solidFill>
            <a:srgbClr val="C0C0C0"/>
          </a:solidFill>
          <a:ln w="12700">
            <a:solidFill>
              <a:schemeClr val="tx1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txBody>
          <a:bodyPr anchor="ctr" anchorCtr="1"/>
          <a:lstStyle/>
          <a:p>
            <a:pPr>
              <a:defRPr/>
            </a:pPr>
            <a:r>
              <a:rPr lang="en-US" sz="2000" b="0" dirty="0">
                <a:solidFill>
                  <a:srgbClr val="000000"/>
                </a:solidFill>
                <a:latin typeface="Arial Narrow" pitchFamily="34" charset="0"/>
              </a:rPr>
              <a:t>Compiler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59440" y="3878240"/>
            <a:ext cx="1143000" cy="685800"/>
          </a:xfrm>
          <a:prstGeom prst="rect">
            <a:avLst/>
          </a:prstGeom>
          <a:solidFill>
            <a:srgbClr val="C0C0C0"/>
          </a:solidFill>
          <a:ln w="12700">
            <a:solidFill>
              <a:schemeClr val="tx1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txBody>
          <a:bodyPr anchor="ctr" anchorCtr="1"/>
          <a:lstStyle/>
          <a:p>
            <a:pPr>
              <a:defRPr/>
            </a:pPr>
            <a:r>
              <a:rPr lang="en-US" sz="2000" b="0" dirty="0">
                <a:solidFill>
                  <a:srgbClr val="000000"/>
                </a:solidFill>
                <a:latin typeface="Arial Narrow" pitchFamily="34" charset="0"/>
              </a:rPr>
              <a:t>Linker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612040" y="3878240"/>
            <a:ext cx="1143000" cy="685800"/>
          </a:xfrm>
          <a:prstGeom prst="rect">
            <a:avLst/>
          </a:prstGeom>
          <a:solidFill>
            <a:srgbClr val="92D050"/>
          </a:solidFill>
          <a:ln w="12700">
            <a:solidFill>
              <a:schemeClr val="tx1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txBody>
          <a:bodyPr anchor="ctr" anchorCtr="1"/>
          <a:lstStyle/>
          <a:p>
            <a:pPr>
              <a:defRPr/>
            </a:pPr>
            <a:r>
              <a:rPr lang="en-US" sz="2000" b="0" dirty="0" err="1">
                <a:solidFill>
                  <a:srgbClr val="000000"/>
                </a:solidFill>
                <a:latin typeface="Arial Narrow" pitchFamily="34" charset="0"/>
              </a:rPr>
              <a:t>app.out</a:t>
            </a:r>
            <a:endParaRPr lang="en-US" sz="2000" b="0" dirty="0">
              <a:solidFill>
                <a:srgbClr val="000000"/>
              </a:solidFill>
              <a:latin typeface="Arial Narrow" pitchFamily="34" charset="0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5859440" y="5249840"/>
            <a:ext cx="1143000" cy="685800"/>
          </a:xfrm>
          <a:prstGeom prst="rect">
            <a:avLst/>
          </a:prstGeom>
          <a:solidFill>
            <a:srgbClr val="FFC000"/>
          </a:solidFill>
          <a:ln w="12700">
            <a:solidFill>
              <a:schemeClr val="tx1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txBody>
          <a:bodyPr anchor="ctr" anchorCtr="1"/>
          <a:lstStyle/>
          <a:p>
            <a:pPr>
              <a:defRPr/>
            </a:pPr>
            <a:r>
              <a:rPr lang="en-US" sz="2000" b="0" dirty="0">
                <a:solidFill>
                  <a:srgbClr val="000000"/>
                </a:solidFill>
                <a:latin typeface="Arial Narrow" pitchFamily="34" charset="0"/>
              </a:rPr>
              <a:t>BIOS </a:t>
            </a:r>
            <a:r>
              <a:rPr lang="en-US" sz="2000" b="0" dirty="0" err="1">
                <a:solidFill>
                  <a:srgbClr val="000000"/>
                </a:solidFill>
                <a:latin typeface="Arial Narrow" pitchFamily="34" charset="0"/>
              </a:rPr>
              <a:t>libs</a:t>
            </a:r>
            <a:endParaRPr lang="en-US" sz="2000" b="0" dirty="0">
              <a:solidFill>
                <a:srgbClr val="000000"/>
              </a:solidFill>
              <a:latin typeface="Arial Narrow" pitchFamily="34" charset="0"/>
            </a:endParaRPr>
          </a:p>
        </p:txBody>
      </p:sp>
      <p:cxnSp>
        <p:nvCxnSpPr>
          <p:cNvPr id="13322" name="Shape 34"/>
          <p:cNvCxnSpPr>
            <a:cxnSpLocks noChangeShapeType="1"/>
            <a:stCxn id="26" idx="3"/>
            <a:endCxn id="28" idx="0"/>
          </p:cNvCxnSpPr>
          <p:nvPr/>
        </p:nvCxnSpPr>
        <p:spPr bwMode="auto">
          <a:xfrm>
            <a:off x="3649640" y="2853520"/>
            <a:ext cx="1028700" cy="1024720"/>
          </a:xfrm>
          <a:prstGeom prst="bentConnector2">
            <a:avLst/>
          </a:prstGeom>
          <a:noFill/>
          <a:ln w="19050" algn="ctr">
            <a:solidFill>
              <a:schemeClr val="tx1"/>
            </a:solidFill>
            <a:round/>
            <a:headEnd type="none" w="sm" len="sm"/>
            <a:tailEnd type="arrow" w="med" len="med"/>
          </a:ln>
        </p:spPr>
      </p:cxnSp>
      <p:cxnSp>
        <p:nvCxnSpPr>
          <p:cNvPr id="13323" name="Shape 36"/>
          <p:cNvCxnSpPr>
            <a:cxnSpLocks noChangeShapeType="1"/>
            <a:stCxn id="26" idx="3"/>
            <a:endCxn id="29" idx="0"/>
          </p:cNvCxnSpPr>
          <p:nvPr/>
        </p:nvCxnSpPr>
        <p:spPr bwMode="auto">
          <a:xfrm>
            <a:off x="3649640" y="2853520"/>
            <a:ext cx="2781300" cy="1024720"/>
          </a:xfrm>
          <a:prstGeom prst="bentConnector2">
            <a:avLst/>
          </a:prstGeom>
          <a:noFill/>
          <a:ln w="19050" algn="ctr">
            <a:solidFill>
              <a:schemeClr val="tx1"/>
            </a:solidFill>
            <a:round/>
            <a:headEnd type="none" w="sm" len="sm"/>
            <a:tailEnd type="arrow" w="med" len="med"/>
          </a:ln>
        </p:spPr>
      </p:cxnSp>
      <p:cxnSp>
        <p:nvCxnSpPr>
          <p:cNvPr id="13324" name="Straight Arrow Connector 38"/>
          <p:cNvCxnSpPr>
            <a:cxnSpLocks noChangeShapeType="1"/>
            <a:stCxn id="27" idx="3"/>
            <a:endCxn id="28" idx="1"/>
          </p:cNvCxnSpPr>
          <p:nvPr/>
        </p:nvCxnSpPr>
        <p:spPr bwMode="auto">
          <a:xfrm>
            <a:off x="1717344" y="4221140"/>
            <a:ext cx="2389496" cy="1588"/>
          </a:xfrm>
          <a:prstGeom prst="straightConnector1">
            <a:avLst/>
          </a:prstGeom>
          <a:noFill/>
          <a:ln w="38100" algn="ctr">
            <a:solidFill>
              <a:schemeClr val="tx2"/>
            </a:solidFill>
            <a:round/>
            <a:headEnd type="none" w="sm" len="sm"/>
            <a:tailEnd type="arrow" w="med" len="med"/>
          </a:ln>
        </p:spPr>
      </p:cxnSp>
      <p:cxnSp>
        <p:nvCxnSpPr>
          <p:cNvPr id="13325" name="Straight Arrow Connector 39"/>
          <p:cNvCxnSpPr>
            <a:cxnSpLocks noChangeShapeType="1"/>
          </p:cNvCxnSpPr>
          <p:nvPr/>
        </p:nvCxnSpPr>
        <p:spPr bwMode="auto">
          <a:xfrm>
            <a:off x="5249840" y="4221140"/>
            <a:ext cx="609600" cy="1587"/>
          </a:xfrm>
          <a:prstGeom prst="straightConnector1">
            <a:avLst/>
          </a:prstGeom>
          <a:noFill/>
          <a:ln w="19050" algn="ctr">
            <a:solidFill>
              <a:schemeClr val="tx1"/>
            </a:solidFill>
            <a:round/>
            <a:headEnd type="none" w="sm" len="sm"/>
            <a:tailEnd type="arrow" w="med" len="med"/>
          </a:ln>
        </p:spPr>
      </p:cxnSp>
      <p:cxnSp>
        <p:nvCxnSpPr>
          <p:cNvPr id="13326" name="Straight Arrow Connector 40"/>
          <p:cNvCxnSpPr>
            <a:cxnSpLocks noChangeShapeType="1"/>
          </p:cNvCxnSpPr>
          <p:nvPr/>
        </p:nvCxnSpPr>
        <p:spPr bwMode="auto">
          <a:xfrm>
            <a:off x="7002440" y="4221140"/>
            <a:ext cx="609600" cy="1587"/>
          </a:xfrm>
          <a:prstGeom prst="straightConnector1">
            <a:avLst/>
          </a:prstGeom>
          <a:noFill/>
          <a:ln w="38100" algn="ctr">
            <a:solidFill>
              <a:schemeClr val="tx2"/>
            </a:solidFill>
            <a:round/>
            <a:headEnd type="none" w="sm" len="sm"/>
            <a:tailEnd type="arrow" w="med" len="med"/>
          </a:ln>
        </p:spPr>
      </p:cxnSp>
      <p:sp>
        <p:nvSpPr>
          <p:cNvPr id="13327" name="TextBox 41"/>
          <p:cNvSpPr txBox="1">
            <a:spLocks noChangeArrowheads="1"/>
          </p:cNvSpPr>
          <p:nvPr/>
        </p:nvSpPr>
        <p:spPr bwMode="auto">
          <a:xfrm>
            <a:off x="3767115" y="2570185"/>
            <a:ext cx="1838325" cy="314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800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compiler.opt</a:t>
            </a:r>
          </a:p>
        </p:txBody>
      </p:sp>
      <p:sp>
        <p:nvSpPr>
          <p:cNvPr id="13328" name="TextBox 42"/>
          <p:cNvSpPr txBox="1">
            <a:spLocks noChangeArrowheads="1"/>
          </p:cNvSpPr>
          <p:nvPr/>
        </p:nvSpPr>
        <p:spPr bwMode="auto">
          <a:xfrm>
            <a:off x="6054703" y="2570185"/>
            <a:ext cx="736600" cy="314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80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.cmd</a:t>
            </a:r>
          </a:p>
        </p:txBody>
      </p:sp>
      <p:cxnSp>
        <p:nvCxnSpPr>
          <p:cNvPr id="13329" name="Straight Arrow Connector 44"/>
          <p:cNvCxnSpPr>
            <a:cxnSpLocks noChangeShapeType="1"/>
            <a:stCxn id="31" idx="0"/>
            <a:endCxn id="29" idx="2"/>
          </p:cNvCxnSpPr>
          <p:nvPr/>
        </p:nvCxnSpPr>
        <p:spPr bwMode="auto">
          <a:xfrm rot="5400000" flipH="1" flipV="1">
            <a:off x="6088041" y="4906939"/>
            <a:ext cx="685800" cy="3175"/>
          </a:xfrm>
          <a:prstGeom prst="straightConnector1">
            <a:avLst/>
          </a:prstGeom>
          <a:noFill/>
          <a:ln w="19050" algn="ctr">
            <a:solidFill>
              <a:schemeClr val="tx1"/>
            </a:solidFill>
            <a:round/>
            <a:headEnd type="none" w="sm" len="sm"/>
            <a:tailEnd type="arrow" w="med" len="med"/>
          </a:ln>
        </p:spPr>
      </p:cxnSp>
      <p:sp>
        <p:nvSpPr>
          <p:cNvPr id="13330" name="TextBox 45"/>
          <p:cNvSpPr txBox="1">
            <a:spLocks noChangeArrowheads="1"/>
          </p:cNvSpPr>
          <p:nvPr/>
        </p:nvSpPr>
        <p:spPr bwMode="auto">
          <a:xfrm>
            <a:off x="638130" y="1777624"/>
            <a:ext cx="969963" cy="338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000" dirty="0">
                <a:solidFill>
                  <a:srgbClr val="0066FF"/>
                </a:solidFill>
                <a:latin typeface="Arial" pitchFamily="34" charset="0"/>
              </a:rPr>
              <a:t>USER </a:t>
            </a:r>
          </a:p>
        </p:txBody>
      </p:sp>
      <p:sp>
        <p:nvSpPr>
          <p:cNvPr id="13331" name="Rounded Rectangle 48"/>
          <p:cNvSpPr>
            <a:spLocks noChangeArrowheads="1"/>
          </p:cNvSpPr>
          <p:nvPr/>
        </p:nvSpPr>
        <p:spPr bwMode="auto">
          <a:xfrm>
            <a:off x="2430440" y="2612408"/>
            <a:ext cx="1143000" cy="45720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2700" algn="ctr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anchor="ctr"/>
          <a:lstStyle/>
          <a:p>
            <a:r>
              <a:rPr lang="en-US" sz="2000" b="0">
                <a:solidFill>
                  <a:srgbClr val="000000"/>
                </a:solidFill>
                <a:latin typeface="Arial Narrow" pitchFamily="34" charset="0"/>
              </a:rPr>
              <a:t>Configuro</a:t>
            </a:r>
          </a:p>
        </p:txBody>
      </p:sp>
      <p:sp>
        <p:nvSpPr>
          <p:cNvPr id="13332" name="TextBox 49"/>
          <p:cNvSpPr txBox="1">
            <a:spLocks noChangeArrowheads="1"/>
          </p:cNvSpPr>
          <p:nvPr/>
        </p:nvSpPr>
        <p:spPr bwMode="auto">
          <a:xfrm>
            <a:off x="4645003" y="3344840"/>
            <a:ext cx="492125" cy="3540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00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-I</a:t>
            </a:r>
          </a:p>
        </p:txBody>
      </p:sp>
      <p:sp>
        <p:nvSpPr>
          <p:cNvPr id="13333" name="TextBox 50"/>
          <p:cNvSpPr txBox="1">
            <a:spLocks noChangeArrowheads="1"/>
          </p:cNvSpPr>
          <p:nvPr/>
        </p:nvSpPr>
        <p:spPr bwMode="auto">
          <a:xfrm>
            <a:off x="6392840" y="3344840"/>
            <a:ext cx="492125" cy="3540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00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-L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52400" y="2215487"/>
            <a:ext cx="1752600" cy="1219201"/>
          </a:xfrm>
          <a:prstGeom prst="rect">
            <a:avLst/>
          </a:prstGeom>
          <a:solidFill>
            <a:srgbClr val="FFFF66"/>
          </a:solidFill>
          <a:ln w="12700">
            <a:solidFill>
              <a:schemeClr val="tx1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txBody>
          <a:bodyPr anchor="ctr" anchorCtr="1"/>
          <a:lstStyle/>
          <a:p>
            <a:pPr marL="119063" indent="-119063">
              <a:buFont typeface="Arial" pitchFamily="34" charset="0"/>
              <a:buChar char="•"/>
              <a:defRPr/>
            </a:pPr>
            <a:r>
              <a:rPr lang="en-US" sz="1800" b="0" dirty="0" smtClean="0">
                <a:solidFill>
                  <a:srgbClr val="000000"/>
                </a:solidFill>
                <a:latin typeface="Arial Narrow" pitchFamily="34" charset="0"/>
              </a:rPr>
              <a:t>BIOS </a:t>
            </a:r>
            <a:r>
              <a:rPr lang="en-US" sz="1800" b="0" dirty="0" err="1" smtClean="0">
                <a:solidFill>
                  <a:srgbClr val="000000"/>
                </a:solidFill>
                <a:latin typeface="Arial Narrow" pitchFamily="34" charset="0"/>
              </a:rPr>
              <a:t>pkgs</a:t>
            </a:r>
            <a:r>
              <a:rPr lang="en-US" sz="1800" b="0" dirty="0" smtClean="0">
                <a:solidFill>
                  <a:srgbClr val="000000"/>
                </a:solidFill>
                <a:latin typeface="Arial Narrow" pitchFamily="34" charset="0"/>
              </a:rPr>
              <a:t> (.</a:t>
            </a:r>
            <a:r>
              <a:rPr lang="en-US" sz="1800" b="0" dirty="0" err="1" smtClean="0">
                <a:solidFill>
                  <a:srgbClr val="000000"/>
                </a:solidFill>
                <a:latin typeface="Arial Narrow" pitchFamily="34" charset="0"/>
              </a:rPr>
              <a:t>cfg</a:t>
            </a:r>
            <a:r>
              <a:rPr lang="en-US" sz="1800" b="0" dirty="0" smtClean="0">
                <a:solidFill>
                  <a:srgbClr val="000000"/>
                </a:solidFill>
                <a:latin typeface="Arial Narrow" pitchFamily="34" charset="0"/>
              </a:rPr>
              <a:t>)</a:t>
            </a:r>
            <a:endParaRPr lang="en-US" sz="1800" b="0" dirty="0">
              <a:solidFill>
                <a:srgbClr val="000000"/>
              </a:solidFill>
              <a:latin typeface="Arial Narrow" pitchFamily="34" charset="0"/>
            </a:endParaRPr>
          </a:p>
          <a:p>
            <a:pPr marL="119063" indent="-119063">
              <a:buFont typeface="Arial" pitchFamily="34" charset="0"/>
              <a:buChar char="•"/>
              <a:defRPr/>
            </a:pPr>
            <a:r>
              <a:rPr lang="en-US" sz="1800" b="0" dirty="0" smtClean="0">
                <a:solidFill>
                  <a:srgbClr val="000000"/>
                </a:solidFill>
                <a:latin typeface="Arial Narrow" pitchFamily="34" charset="0"/>
              </a:rPr>
              <a:t>Platform/Target</a:t>
            </a:r>
          </a:p>
          <a:p>
            <a:pPr marL="119063" indent="-119063">
              <a:buFont typeface="Arial" pitchFamily="34" charset="0"/>
              <a:buChar char="•"/>
              <a:defRPr/>
            </a:pPr>
            <a:r>
              <a:rPr lang="en-US" sz="1800" b="0" dirty="0" smtClean="0">
                <a:solidFill>
                  <a:srgbClr val="000000"/>
                </a:solidFill>
                <a:latin typeface="Arial Narrow" pitchFamily="34" charset="0"/>
              </a:rPr>
              <a:t>Build Options</a:t>
            </a:r>
            <a:endParaRPr lang="en-US" sz="1800" b="0" dirty="0">
              <a:solidFill>
                <a:srgbClr val="000000"/>
              </a:solidFill>
              <a:latin typeface="Arial Narrow" pitchFamily="34" charset="0"/>
            </a:endParaRPr>
          </a:p>
        </p:txBody>
      </p:sp>
      <p:cxnSp>
        <p:nvCxnSpPr>
          <p:cNvPr id="13335" name="Straight Arrow Connector 55"/>
          <p:cNvCxnSpPr>
            <a:cxnSpLocks noChangeShapeType="1"/>
          </p:cNvCxnSpPr>
          <p:nvPr/>
        </p:nvCxnSpPr>
        <p:spPr bwMode="auto">
          <a:xfrm>
            <a:off x="1744640" y="2819400"/>
            <a:ext cx="609600" cy="1588"/>
          </a:xfrm>
          <a:prstGeom prst="straightConnector1">
            <a:avLst/>
          </a:prstGeom>
          <a:noFill/>
          <a:ln w="38100" algn="ctr">
            <a:solidFill>
              <a:schemeClr val="tx2"/>
            </a:solidFill>
            <a:round/>
            <a:headEnd type="none" w="sm" len="sm"/>
            <a:tailEnd type="arrow" w="med" len="med"/>
          </a:ln>
        </p:spPr>
      </p:cxnSp>
      <p:sp>
        <p:nvSpPr>
          <p:cNvPr id="13336" name="TextBox 56"/>
          <p:cNvSpPr txBox="1">
            <a:spLocks noChangeArrowheads="1"/>
          </p:cNvSpPr>
          <p:nvPr/>
        </p:nvSpPr>
        <p:spPr bwMode="auto">
          <a:xfrm>
            <a:off x="255896" y="4735776"/>
            <a:ext cx="5391150" cy="1698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marL="166688" indent="-166688">
              <a:buFont typeface="Arial" pitchFamily="34" charset="0"/>
              <a:buChar char="•"/>
            </a:pPr>
            <a:r>
              <a:rPr lang="en-US" sz="1800" b="0" dirty="0">
                <a:solidFill>
                  <a:srgbClr val="000000"/>
                </a:solidFill>
                <a:latin typeface="Arial Narrow" pitchFamily="34" charset="0"/>
              </a:rPr>
              <a:t>BIOS modules (like HWI, Clock, Semaphore, etc.) are</a:t>
            </a:r>
            <a:br>
              <a:rPr lang="en-US" sz="1800" b="0" dirty="0">
                <a:solidFill>
                  <a:srgbClr val="000000"/>
                </a:solidFill>
                <a:latin typeface="Arial Narrow" pitchFamily="34" charset="0"/>
              </a:rPr>
            </a:br>
            <a:r>
              <a:rPr lang="en-US" sz="1800" b="0" dirty="0">
                <a:solidFill>
                  <a:srgbClr val="000000"/>
                </a:solidFill>
                <a:latin typeface="Arial Narrow" pitchFamily="34" charset="0"/>
              </a:rPr>
              <a:t>delivered as RTSC compliant packages</a:t>
            </a:r>
          </a:p>
          <a:p>
            <a:pPr marL="166688" indent="-166688">
              <a:buFont typeface="Arial" pitchFamily="34" charset="0"/>
              <a:buChar char="•"/>
            </a:pPr>
            <a:r>
              <a:rPr lang="en-US" sz="1800" b="0" dirty="0">
                <a:solidFill>
                  <a:srgbClr val="000000"/>
                </a:solidFill>
                <a:latin typeface="Arial Narrow" pitchFamily="34" charset="0"/>
              </a:rPr>
              <a:t>RTSC – Real Time Software Components – Packages that</a:t>
            </a:r>
            <a:br>
              <a:rPr lang="en-US" sz="1800" b="0" dirty="0">
                <a:solidFill>
                  <a:srgbClr val="000000"/>
                </a:solidFill>
                <a:latin typeface="Arial Narrow" pitchFamily="34" charset="0"/>
              </a:rPr>
            </a:br>
            <a:r>
              <a:rPr lang="en-US" sz="1800" b="0" dirty="0">
                <a:solidFill>
                  <a:srgbClr val="000000"/>
                </a:solidFill>
                <a:latin typeface="Arial Narrow" pitchFamily="34" charset="0"/>
              </a:rPr>
              <a:t>contain libraries and metadata (similar to Java.jar files)</a:t>
            </a:r>
          </a:p>
          <a:p>
            <a:pPr marL="166688" indent="-166688">
              <a:buFont typeface="Arial" pitchFamily="34" charset="0"/>
              <a:buChar char="•"/>
            </a:pPr>
            <a:r>
              <a:rPr lang="en-US" sz="1800" b="0" dirty="0">
                <a:solidFill>
                  <a:srgbClr val="000000"/>
                </a:solidFill>
                <a:latin typeface="Arial Narrow" pitchFamily="34" charset="0"/>
              </a:rPr>
              <a:t>XDC – </a:t>
            </a:r>
            <a:r>
              <a:rPr lang="en-US" sz="1800" b="0" dirty="0" err="1">
                <a:solidFill>
                  <a:srgbClr val="000000"/>
                </a:solidFill>
                <a:latin typeface="Arial Narrow" pitchFamily="34" charset="0"/>
              </a:rPr>
              <a:t>eXpress</a:t>
            </a:r>
            <a:r>
              <a:rPr lang="en-US" sz="1800" b="0" dirty="0">
                <a:solidFill>
                  <a:srgbClr val="000000"/>
                </a:solidFill>
                <a:latin typeface="Arial Narrow" pitchFamily="34" charset="0"/>
              </a:rPr>
              <a:t> DSP Components – set of tools to consume</a:t>
            </a:r>
            <a:br>
              <a:rPr lang="en-US" sz="1800" b="0" dirty="0">
                <a:solidFill>
                  <a:srgbClr val="000000"/>
                </a:solidFill>
                <a:latin typeface="Arial Narrow" pitchFamily="34" charset="0"/>
              </a:rPr>
            </a:br>
            <a:r>
              <a:rPr lang="en-US" sz="1800" b="0" dirty="0">
                <a:solidFill>
                  <a:srgbClr val="000000"/>
                </a:solidFill>
                <a:latin typeface="Arial Narrow" pitchFamily="34" charset="0"/>
              </a:rPr>
              <a:t>RTSC packages (knows how to read RTSC metadata)</a:t>
            </a:r>
          </a:p>
        </p:txBody>
      </p:sp>
      <p:sp>
        <p:nvSpPr>
          <p:cNvPr id="39" name="TextBox 45"/>
          <p:cNvSpPr txBox="1">
            <a:spLocks noChangeArrowheads="1"/>
          </p:cNvSpPr>
          <p:nvPr/>
        </p:nvSpPr>
        <p:spPr bwMode="auto">
          <a:xfrm>
            <a:off x="3733800" y="1777624"/>
            <a:ext cx="3714671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000" dirty="0" smtClean="0">
                <a:solidFill>
                  <a:srgbClr val="0066FF"/>
                </a:solidFill>
                <a:latin typeface="Arial" pitchFamily="34" charset="0"/>
              </a:rPr>
              <a:t>UNDER THE HOOD (TOOLS) </a:t>
            </a:r>
            <a:endParaRPr lang="en-US" sz="2000" dirty="0">
              <a:solidFill>
                <a:srgbClr val="0066FF"/>
              </a:solidFill>
              <a:latin typeface="Arial" pitchFamily="34" charset="0"/>
            </a:endParaRPr>
          </a:p>
        </p:txBody>
      </p:sp>
      <p:cxnSp>
        <p:nvCxnSpPr>
          <p:cNvPr id="42" name="Straight Connector 41"/>
          <p:cNvCxnSpPr/>
          <p:nvPr/>
        </p:nvCxnSpPr>
        <p:spPr bwMode="auto">
          <a:xfrm>
            <a:off x="152400" y="1646832"/>
            <a:ext cx="8686800" cy="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dash"/>
            <a:round/>
            <a:headEnd type="none" w="sm" len="sm"/>
            <a:tailEnd type="none" w="sm" len="sm"/>
          </a:ln>
          <a:effectLst/>
        </p:spPr>
      </p:cxnSp>
      <p:cxnSp>
        <p:nvCxnSpPr>
          <p:cNvPr id="44" name="Straight Connector 43"/>
          <p:cNvCxnSpPr/>
          <p:nvPr/>
        </p:nvCxnSpPr>
        <p:spPr bwMode="auto">
          <a:xfrm rot="5400000">
            <a:off x="664192" y="3124200"/>
            <a:ext cx="2895600" cy="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dash"/>
            <a:round/>
            <a:headEnd type="none" w="sm" len="sm"/>
            <a:tailEnd type="none" w="sm" len="sm"/>
          </a:ln>
          <a:effectLst/>
        </p:spPr>
      </p:cxnSp>
      <p:pic>
        <p:nvPicPr>
          <p:cNvPr id="32" name="Animated Logo" descr="tilogo_color_twoline.pn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50800" y="6477000"/>
            <a:ext cx="1438537" cy="347443"/>
          </a:xfrm>
          <a:prstGeom prst="rect">
            <a:avLst/>
          </a:prstGeom>
        </p:spPr>
      </p:pic>
    </p:spTree>
    <p:custDataLst>
      <p:tags r:id="rId1"/>
    </p:custData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6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9704" name="Rectangle 8"/>
          <p:cNvSpPr>
            <a:spLocks noChangeArrowheads="1"/>
          </p:cNvSpPr>
          <p:nvPr/>
        </p:nvSpPr>
        <p:spPr bwMode="auto">
          <a:xfrm>
            <a:off x="547048" y="1524000"/>
            <a:ext cx="5105400" cy="3810000"/>
          </a:xfrm>
          <a:prstGeom prst="rect">
            <a:avLst/>
          </a:prstGeom>
          <a:solidFill>
            <a:srgbClr val="92D050"/>
          </a:solidFill>
          <a:ln w="19050">
            <a:solidFill>
              <a:schemeClr val="tx1"/>
            </a:solidFill>
            <a:miter lim="800000"/>
            <a:headEnd type="none" w="sm" len="sm"/>
            <a:tailEnd type="none" w="sm" len="sm"/>
          </a:ln>
          <a:effectLst>
            <a:outerShdw blurRad="50800" dist="88900" dir="2700000" algn="tl" rotWithShape="0">
              <a:prstClr val="black">
                <a:alpha val="40000"/>
              </a:prstClr>
            </a:outerShdw>
          </a:effectLst>
        </p:spPr>
        <p:txBody>
          <a:bodyPr wrap="none" anchor="ctr"/>
          <a:lstStyle/>
          <a:p>
            <a:pPr>
              <a:defRPr/>
            </a:pPr>
            <a:endParaRPr lang="en-US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72706" name="Picture 2" descr="C:\Documents and Settings\a0159877\Desktop\250px-Operating_system_placement.svg.png"/>
          <p:cNvPicPr>
            <a:picLocks noChangeAspect="1" noChangeArrowheads="1"/>
          </p:cNvPicPr>
          <p:nvPr/>
        </p:nvPicPr>
        <p:blipFill>
          <a:blip r:embed="rId9" cstate="print"/>
          <a:srcRect/>
          <a:stretch>
            <a:fillRect/>
          </a:stretch>
        </p:blipFill>
        <p:spPr bwMode="auto">
          <a:xfrm>
            <a:off x="6160824" y="1316817"/>
            <a:ext cx="2819400" cy="4172713"/>
          </a:xfrm>
          <a:prstGeom prst="rect">
            <a:avLst/>
          </a:prstGeom>
          <a:noFill/>
        </p:spPr>
      </p:pic>
      <p:sp>
        <p:nvSpPr>
          <p:cNvPr id="4198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>
                <a:solidFill>
                  <a:schemeClr val="tx1"/>
                </a:solidFill>
              </a:rPr>
              <a:t>Outline</a:t>
            </a:r>
          </a:p>
        </p:txBody>
      </p:sp>
      <p:sp>
        <p:nvSpPr>
          <p:cNvPr id="9" name="Text Box 4">
            <a:hlinkClick r:id="rId10" action="ppaction://hlinksldjump"/>
          </p:cNvPr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552450" y="1630538"/>
            <a:ext cx="5099998" cy="480131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square" tIns="45720" bIns="45720" anchor="ctr" anchorCtr="0">
            <a:spAutoFit/>
          </a:bodyPr>
          <a:lstStyle/>
          <a:p>
            <a:pPr marL="342900" indent="-342900">
              <a:lnSpc>
                <a:spcPct val="90000"/>
              </a:lnSpc>
              <a:spcBef>
                <a:spcPct val="0"/>
              </a:spcBef>
              <a:buClr>
                <a:srgbClr val="0066FF"/>
              </a:buClr>
              <a:buSzPct val="75000"/>
              <a:buFont typeface="Wingdings" pitchFamily="2" charset="2"/>
              <a:buChar char=""/>
            </a:pPr>
            <a:r>
              <a:rPr lang="en-US" sz="2800" smtClean="0">
                <a:solidFill>
                  <a:srgbClr val="000000"/>
                </a:solidFill>
              </a:rPr>
              <a:t>Creating A New Project</a:t>
            </a:r>
            <a:endParaRPr lang="en-US" sz="2800" dirty="0">
              <a:solidFill>
                <a:srgbClr val="000000"/>
              </a:solidFill>
            </a:endParaRPr>
          </a:p>
        </p:txBody>
      </p:sp>
      <p:sp>
        <p:nvSpPr>
          <p:cNvPr id="10" name="Text Box 4">
            <a:hlinkClick r:id="rId11" action="ppaction://hlinksldjump"/>
          </p:cNvPr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552450" y="2209221"/>
            <a:ext cx="5099998" cy="480131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square" tIns="45720" bIns="45720" anchor="ctr" anchorCtr="0">
            <a:spAutoFit/>
          </a:bodyPr>
          <a:lstStyle/>
          <a:p>
            <a:pPr marL="342900" indent="-342900">
              <a:lnSpc>
                <a:spcPct val="90000"/>
              </a:lnSpc>
              <a:spcBef>
                <a:spcPct val="0"/>
              </a:spcBef>
              <a:buClr>
                <a:srgbClr val="0066FF"/>
              </a:buClr>
              <a:buSzPct val="75000"/>
              <a:buFont typeface="Wingdings" pitchFamily="2" charset="2"/>
              <a:buChar char=""/>
            </a:pPr>
            <a:r>
              <a:rPr lang="en-US" sz="2800" smtClean="0">
                <a:solidFill>
                  <a:srgbClr val="000000"/>
                </a:solidFill>
              </a:rPr>
              <a:t>TI-RTOS Config (.CFG)</a:t>
            </a:r>
            <a:endParaRPr lang="en-US" sz="2800" dirty="0">
              <a:solidFill>
                <a:srgbClr val="000000"/>
              </a:solidFill>
            </a:endParaRPr>
          </a:p>
        </p:txBody>
      </p:sp>
      <p:sp>
        <p:nvSpPr>
          <p:cNvPr id="11" name="Text Box 3">
            <a:hlinkClick r:id="rId12" action="ppaction://hlinksldjump"/>
          </p:cNvPr>
          <p:cNvSpPr txBox="1"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547048" y="2787904"/>
            <a:ext cx="5105400" cy="480131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square" tIns="45720" bIns="45720" anchor="ctr" anchorCtr="0">
            <a:spAutoFit/>
          </a:bodyPr>
          <a:lstStyle/>
          <a:p>
            <a:pPr marL="342900" indent="-342900">
              <a:lnSpc>
                <a:spcPct val="90000"/>
              </a:lnSpc>
              <a:spcBef>
                <a:spcPct val="0"/>
              </a:spcBef>
              <a:buClr>
                <a:srgbClr val="0066FF"/>
              </a:buClr>
              <a:buSzPct val="75000"/>
              <a:buFont typeface="Wingdings" pitchFamily="2" charset="2"/>
              <a:buChar char=""/>
            </a:pPr>
            <a:r>
              <a:rPr lang="en-US" sz="2800" smtClean="0">
                <a:solidFill>
                  <a:srgbClr val="000000"/>
                </a:solidFill>
              </a:rPr>
              <a:t>System Timeline</a:t>
            </a:r>
            <a:endParaRPr lang="en-US" sz="2800" dirty="0">
              <a:solidFill>
                <a:srgbClr val="000000"/>
              </a:solidFill>
            </a:endParaRPr>
          </a:p>
        </p:txBody>
      </p:sp>
      <p:sp>
        <p:nvSpPr>
          <p:cNvPr id="12" name="Text Box 4">
            <a:hlinkClick r:id="rId13" action="ppaction://hlinksldjump"/>
          </p:cNvPr>
          <p:cNvSpPr txBox="1"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552450" y="3366587"/>
            <a:ext cx="5099998" cy="480131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square" tIns="45720" bIns="45720" anchor="ctr" anchorCtr="0">
            <a:spAutoFit/>
          </a:bodyPr>
          <a:lstStyle/>
          <a:p>
            <a:pPr marL="342900" indent="-342900">
              <a:lnSpc>
                <a:spcPct val="90000"/>
              </a:lnSpc>
              <a:spcBef>
                <a:spcPct val="0"/>
              </a:spcBef>
              <a:buClr>
                <a:srgbClr val="0066FF"/>
              </a:buClr>
              <a:buSzPct val="75000"/>
              <a:buFont typeface="Wingdings" pitchFamily="2" charset="2"/>
              <a:buChar char=""/>
            </a:pPr>
            <a:r>
              <a:rPr lang="en-US" sz="2800" smtClean="0">
                <a:solidFill>
                  <a:srgbClr val="000000"/>
                </a:solidFill>
              </a:rPr>
              <a:t>UIA &amp; RTOS Analyzer</a:t>
            </a:r>
            <a:endParaRPr lang="en-US" sz="2800" dirty="0">
              <a:solidFill>
                <a:srgbClr val="000000"/>
              </a:solidFill>
            </a:endParaRPr>
          </a:p>
        </p:txBody>
      </p:sp>
      <p:sp>
        <p:nvSpPr>
          <p:cNvPr id="13" name="Text Box 4">
            <a:hlinkClick r:id="rId14" action="ppaction://hlinksldjump"/>
          </p:cNvPr>
          <p:cNvSpPr txBox="1"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552450" y="3945270"/>
            <a:ext cx="5099998" cy="480131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square" tIns="45720" bIns="45720" anchor="ctr" anchorCtr="0">
            <a:spAutoFit/>
          </a:bodyPr>
          <a:lstStyle/>
          <a:p>
            <a:pPr marL="342900" indent="-342900">
              <a:lnSpc>
                <a:spcPct val="90000"/>
              </a:lnSpc>
              <a:spcBef>
                <a:spcPct val="0"/>
              </a:spcBef>
              <a:buClr>
                <a:srgbClr val="0066FF"/>
              </a:buClr>
              <a:buSzPct val="75000"/>
              <a:buFont typeface="Wingdings" pitchFamily="2" charset="2"/>
              <a:buChar char=""/>
            </a:pPr>
            <a:r>
              <a:rPr lang="en-US" sz="2800" smtClean="0">
                <a:solidFill>
                  <a:srgbClr val="000000"/>
                </a:solidFill>
              </a:rPr>
              <a:t>Version Control</a:t>
            </a:r>
            <a:endParaRPr lang="en-US" sz="2800" dirty="0">
              <a:solidFill>
                <a:srgbClr val="000000"/>
              </a:solidFill>
            </a:endParaRPr>
          </a:p>
        </p:txBody>
      </p:sp>
      <p:sp>
        <p:nvSpPr>
          <p:cNvPr id="14" name="Text Box 4">
            <a:hlinkClick r:id="rId15" action="ppaction://hlinksldjump"/>
          </p:cNvPr>
          <p:cNvSpPr txBox="1">
            <a:spLocks noChangeArrowheads="1"/>
          </p:cNvSpPr>
          <p:nvPr>
            <p:custDataLst>
              <p:tags r:id="rId7"/>
            </p:custDataLst>
          </p:nvPr>
        </p:nvSpPr>
        <p:spPr bwMode="auto">
          <a:xfrm>
            <a:off x="552450" y="4523953"/>
            <a:ext cx="5099998" cy="480131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square" tIns="45720" bIns="45720" anchor="ctr" anchorCtr="0">
            <a:spAutoFit/>
          </a:bodyPr>
          <a:lstStyle/>
          <a:p>
            <a:pPr marL="342900" indent="-342900">
              <a:lnSpc>
                <a:spcPct val="90000"/>
              </a:lnSpc>
              <a:spcBef>
                <a:spcPct val="0"/>
              </a:spcBef>
              <a:buClr>
                <a:srgbClr val="0066FF"/>
              </a:buClr>
              <a:buSzPct val="75000"/>
              <a:buFont typeface="Wingdings" pitchFamily="2" charset="2"/>
              <a:buChar char=""/>
            </a:pPr>
            <a:r>
              <a:rPr lang="en-US" sz="2800" smtClean="0">
                <a:solidFill>
                  <a:srgbClr val="000000"/>
                </a:solidFill>
              </a:rPr>
              <a:t>Lab</a:t>
            </a:r>
            <a:endParaRPr lang="en-US" sz="2800" dirty="0">
              <a:solidFill>
                <a:srgbClr val="000000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70598341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76834" name="Group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63520258"/>
              </p:ext>
            </p:extLst>
          </p:nvPr>
        </p:nvGraphicFramePr>
        <p:xfrm>
          <a:off x="228600" y="728331"/>
          <a:ext cx="8712518" cy="2436813"/>
        </p:xfrm>
        <a:graphic>
          <a:graphicData uri="http://schemas.openxmlformats.org/drawingml/2006/table">
            <a:tbl>
              <a:tblPr/>
              <a:tblGrid>
                <a:gridCol w="1241425"/>
                <a:gridCol w="1239838"/>
                <a:gridCol w="208280"/>
                <a:gridCol w="1298575"/>
                <a:gridCol w="1219200"/>
                <a:gridCol w="1345882"/>
                <a:gridCol w="2159318"/>
              </a:tblGrid>
              <a:tr h="296863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Hardware</a:t>
                      </a:r>
                    </a:p>
                  </a:txBody>
                  <a:tcPr anchor="ctr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Software</a:t>
                      </a:r>
                    </a:p>
                  </a:txBody>
                  <a:tcPr anchor="ctr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302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 Narrow" pitchFamily="34" charset="0"/>
                        </a:rPr>
                        <a:t>Reset </a:t>
                      </a:r>
                      <a:b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 Narrow" pitchFamily="34" charset="0"/>
                        </a:rPr>
                      </a:b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 Narrow" pitchFamily="34" charset="0"/>
                        </a:rPr>
                        <a:t>H/W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 Narrow" pitchFamily="34" charset="0"/>
                        </a:rPr>
                        <a:t>BOOT MODE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 Narrow" pitchFamily="34" charset="0"/>
                        </a:rPr>
                        <a:t>Provided by TI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 Narrow" pitchFamily="34" charset="0"/>
                        </a:rPr>
                        <a:t>main.c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 Narrow" pitchFamily="34" charset="0"/>
                        </a:rPr>
                        <a:t>Provided by TI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</a:tr>
              <a:tr h="60801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Device Reset</a:t>
                      </a: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Boot Loader</a:t>
                      </a:r>
                    </a:p>
                  </a:txBody>
                  <a:tcPr anchor="b" horzOverflow="overflow">
                    <a:lnL w="1270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(_c_int00)</a:t>
                      </a: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 </a:t>
                      </a:r>
                      <a:b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</a:b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BIOS_init()</a:t>
                      </a:r>
                      <a:endParaRPr kumimoji="0" 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System Init Code</a:t>
                      </a:r>
                    </a:p>
                  </a:txBody>
                  <a:tcPr anchor="b" horzOverflow="overflow">
                    <a:lnL w="1270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BIOS_start</a:t>
                      </a: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()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sz="1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 Narrow" pitchFamily="34" charset="0"/>
                        </a:rPr>
                        <a:t>(Provided by TI)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SYS/BIOS Scheduler</a:t>
                      </a:r>
                    </a:p>
                  </a:txBody>
                  <a:tcPr anchor="b" horzOverflow="overflow">
                    <a:lnL w="1270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</a:tr>
              <a:tr h="334963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2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</a:tr>
              <a:tr h="36512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166688" marR="0" lvl="0" indent="-166688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166688" marR="0" lvl="0" indent="-166688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166688" marR="0" lvl="0" indent="-166688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66688" marR="0" lvl="0" indent="-166688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66688" marR="0" lvl="0" indent="-166688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66688" marR="0" lvl="0" indent="-166688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Char char=""/>
                        <a:tabLst/>
                      </a:pPr>
                      <a:endParaRPr kumimoji="0" lang="en-US" sz="2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</a:tr>
            </a:tbl>
          </a:graphicData>
        </a:graphic>
      </p:graphicFrame>
      <p:sp>
        <p:nvSpPr>
          <p:cNvPr id="17452" name="Rectangle 5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System Timeline</a:t>
            </a:r>
          </a:p>
        </p:txBody>
      </p:sp>
      <p:cxnSp>
        <p:nvCxnSpPr>
          <p:cNvPr id="17453" name="AutoShape 54"/>
          <p:cNvCxnSpPr>
            <a:cxnSpLocks noChangeShapeType="1"/>
          </p:cNvCxnSpPr>
          <p:nvPr/>
        </p:nvCxnSpPr>
        <p:spPr bwMode="auto">
          <a:xfrm>
            <a:off x="228600" y="2514268"/>
            <a:ext cx="1241425" cy="0"/>
          </a:xfrm>
          <a:prstGeom prst="straightConnector1">
            <a:avLst/>
          </a:prstGeom>
          <a:noFill/>
          <a:ln w="76200">
            <a:solidFill>
              <a:schemeClr val="tx1"/>
            </a:solidFill>
            <a:round/>
            <a:headEnd type="diamond" w="sm" len="sm"/>
            <a:tailEnd type="none" w="sm" len="sm"/>
          </a:ln>
        </p:spPr>
      </p:cxnSp>
      <p:cxnSp>
        <p:nvCxnSpPr>
          <p:cNvPr id="17454" name="AutoShape 55"/>
          <p:cNvCxnSpPr>
            <a:cxnSpLocks noChangeShapeType="1"/>
          </p:cNvCxnSpPr>
          <p:nvPr/>
        </p:nvCxnSpPr>
        <p:spPr bwMode="auto">
          <a:xfrm>
            <a:off x="2892425" y="2514268"/>
            <a:ext cx="1298575" cy="0"/>
          </a:xfrm>
          <a:prstGeom prst="straightConnector1">
            <a:avLst/>
          </a:prstGeom>
          <a:noFill/>
          <a:ln w="76200">
            <a:solidFill>
              <a:schemeClr val="tx1"/>
            </a:solidFill>
            <a:round/>
            <a:headEnd type="diamond" w="sm" len="sm"/>
            <a:tailEnd type="none" w="sm" len="sm"/>
          </a:ln>
        </p:spPr>
      </p:cxnSp>
      <p:cxnSp>
        <p:nvCxnSpPr>
          <p:cNvPr id="17455" name="AutoShape 56"/>
          <p:cNvCxnSpPr>
            <a:cxnSpLocks noChangeShapeType="1"/>
          </p:cNvCxnSpPr>
          <p:nvPr/>
        </p:nvCxnSpPr>
        <p:spPr bwMode="auto">
          <a:xfrm>
            <a:off x="5410200" y="2514268"/>
            <a:ext cx="1219200" cy="0"/>
          </a:xfrm>
          <a:prstGeom prst="straightConnector1">
            <a:avLst/>
          </a:prstGeom>
          <a:noFill/>
          <a:ln w="76200">
            <a:solidFill>
              <a:schemeClr val="tx1"/>
            </a:solidFill>
            <a:round/>
            <a:headEnd type="diamond" w="sm" len="sm"/>
            <a:tailEnd type="none" w="sm" len="sm"/>
          </a:ln>
        </p:spPr>
      </p:cxnSp>
      <p:cxnSp>
        <p:nvCxnSpPr>
          <p:cNvPr id="17456" name="AutoShape 57"/>
          <p:cNvCxnSpPr>
            <a:cxnSpLocks noChangeShapeType="1"/>
          </p:cNvCxnSpPr>
          <p:nvPr/>
        </p:nvCxnSpPr>
        <p:spPr bwMode="auto">
          <a:xfrm>
            <a:off x="6629400" y="2514268"/>
            <a:ext cx="2286000" cy="0"/>
          </a:xfrm>
          <a:prstGeom prst="straightConnector1">
            <a:avLst/>
          </a:prstGeom>
          <a:noFill/>
          <a:ln w="76200">
            <a:solidFill>
              <a:schemeClr val="tx1"/>
            </a:solidFill>
            <a:prstDash val="sysDot"/>
            <a:round/>
            <a:headEnd/>
            <a:tailEnd type="diamond" w="sm" len="sm"/>
          </a:ln>
        </p:spPr>
      </p:cxnSp>
      <p:cxnSp>
        <p:nvCxnSpPr>
          <p:cNvPr id="17457" name="AutoShape 58"/>
          <p:cNvCxnSpPr>
            <a:cxnSpLocks noChangeShapeType="1"/>
          </p:cNvCxnSpPr>
          <p:nvPr/>
        </p:nvCxnSpPr>
        <p:spPr bwMode="auto">
          <a:xfrm>
            <a:off x="1470025" y="2514268"/>
            <a:ext cx="1239838" cy="0"/>
          </a:xfrm>
          <a:prstGeom prst="straightConnector1">
            <a:avLst/>
          </a:prstGeom>
          <a:noFill/>
          <a:ln w="76200">
            <a:solidFill>
              <a:srgbClr val="FF0000"/>
            </a:solidFill>
            <a:round/>
            <a:headEnd type="diamond" w="sm" len="sm"/>
            <a:tailEnd type="diamond" w="sm" len="sm"/>
          </a:ln>
        </p:spPr>
      </p:cxnSp>
      <p:cxnSp>
        <p:nvCxnSpPr>
          <p:cNvPr id="17458" name="AutoShape 59"/>
          <p:cNvCxnSpPr>
            <a:cxnSpLocks noChangeShapeType="1"/>
          </p:cNvCxnSpPr>
          <p:nvPr/>
        </p:nvCxnSpPr>
        <p:spPr bwMode="auto">
          <a:xfrm>
            <a:off x="4191000" y="2514268"/>
            <a:ext cx="1219200" cy="0"/>
          </a:xfrm>
          <a:prstGeom prst="straightConnector1">
            <a:avLst/>
          </a:prstGeom>
          <a:noFill/>
          <a:ln w="76200">
            <a:solidFill>
              <a:schemeClr val="tx2"/>
            </a:solidFill>
            <a:round/>
            <a:headEnd type="diamond" w="sm" len="sm"/>
            <a:tailEnd type="diamond" w="sm" len="sm"/>
          </a:ln>
        </p:spPr>
      </p:cxnSp>
      <p:sp>
        <p:nvSpPr>
          <p:cNvPr id="17460" name="Text Box 68"/>
          <p:cNvSpPr txBox="1">
            <a:spLocks noChangeArrowheads="1"/>
          </p:cNvSpPr>
          <p:nvPr/>
        </p:nvSpPr>
        <p:spPr bwMode="auto">
          <a:xfrm>
            <a:off x="-76200" y="3352800"/>
            <a:ext cx="9220200" cy="257488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lIns="274320" tIns="91440" anchor="ctr"/>
          <a:lstStyle/>
          <a:p>
            <a:pPr marL="342900" indent="-342900">
              <a:spcBef>
                <a:spcPts val="900"/>
              </a:spcBef>
              <a:buClr>
                <a:schemeClr val="tx2"/>
              </a:buClr>
              <a:buSzPct val="75000"/>
              <a:buFont typeface="Wingdings" pitchFamily="2" charset="2"/>
              <a:buChar char=""/>
            </a:pPr>
            <a:r>
              <a:rPr lang="en-US" b="0" dirty="0">
                <a:latin typeface="Calibri" pitchFamily="34" charset="0"/>
                <a:cs typeface="Calibri" pitchFamily="34" charset="0"/>
              </a:rPr>
              <a:t>RESET – Device is reset, then jumps </a:t>
            </a:r>
            <a:r>
              <a:rPr lang="en-US" b="0">
                <a:latin typeface="Calibri" pitchFamily="34" charset="0"/>
                <a:cs typeface="Calibri" pitchFamily="34" charset="0"/>
              </a:rPr>
              <a:t>to </a:t>
            </a:r>
            <a:r>
              <a:rPr lang="en-US" b="0" smtClean="0">
                <a:latin typeface="Calibri" pitchFamily="34" charset="0"/>
                <a:cs typeface="Calibri" pitchFamily="34" charset="0"/>
              </a:rPr>
              <a:t>bootloader (optional) </a:t>
            </a:r>
            <a:br>
              <a:rPr lang="en-US" b="0" smtClean="0">
                <a:latin typeface="Calibri" pitchFamily="34" charset="0"/>
                <a:cs typeface="Calibri" pitchFamily="34" charset="0"/>
              </a:rPr>
            </a:br>
            <a:r>
              <a:rPr lang="en-US" b="0" smtClean="0">
                <a:latin typeface="Calibri" pitchFamily="34" charset="0"/>
                <a:cs typeface="Calibri" pitchFamily="34" charset="0"/>
              </a:rPr>
              <a:t>or code entry </a:t>
            </a:r>
            <a:r>
              <a:rPr lang="en-US" b="0" dirty="0">
                <a:latin typeface="Calibri" pitchFamily="34" charset="0"/>
                <a:cs typeface="Calibri" pitchFamily="34" charset="0"/>
              </a:rPr>
              <a:t>point (</a:t>
            </a:r>
            <a:r>
              <a:rPr lang="en-US" sz="2000" b="0">
                <a:latin typeface="Courier New" pitchFamily="49" charset="0"/>
                <a:cs typeface="Courier New" pitchFamily="49" charset="0"/>
              </a:rPr>
              <a:t>c_int00</a:t>
            </a:r>
            <a:r>
              <a:rPr lang="en-US" b="0" smtClean="0">
                <a:latin typeface="Calibri" pitchFamily="34" charset="0"/>
                <a:cs typeface="Calibri" pitchFamily="34" charset="0"/>
              </a:rPr>
              <a:t>) to init SP and globals/statics</a:t>
            </a:r>
          </a:p>
          <a:p>
            <a:pPr marL="342900" indent="-342900">
              <a:spcBef>
                <a:spcPts val="900"/>
              </a:spcBef>
              <a:buClr>
                <a:schemeClr val="tx2"/>
              </a:buClr>
              <a:buSzPct val="75000"/>
              <a:buFont typeface="Wingdings" pitchFamily="2" charset="2"/>
              <a:buChar char=""/>
            </a:pPr>
            <a:r>
              <a:rPr lang="en-US" b="0" smtClean="0">
                <a:latin typeface="Calibri" pitchFamily="34" charset="0"/>
                <a:cs typeface="Calibri" pitchFamily="34" charset="0"/>
              </a:rPr>
              <a:t>Most MCUs have on-chip Flash and therefore don’t use a bootloader</a:t>
            </a:r>
            <a:endParaRPr lang="en-US" b="0" dirty="0">
              <a:latin typeface="Calibri" pitchFamily="34" charset="0"/>
              <a:cs typeface="Calibri" pitchFamily="34" charset="0"/>
            </a:endParaRPr>
          </a:p>
          <a:p>
            <a:pPr marL="342900" indent="-342900">
              <a:spcBef>
                <a:spcPts val="900"/>
              </a:spcBef>
              <a:buClr>
                <a:schemeClr val="tx2"/>
              </a:buClr>
              <a:buSzPct val="75000"/>
              <a:buFont typeface="Wingdings" pitchFamily="2" charset="2"/>
              <a:buChar char=""/>
            </a:pPr>
            <a:r>
              <a:rPr lang="en-US" b="0" smtClean="0">
                <a:latin typeface="Courier New" pitchFamily="49" charset="0"/>
                <a:cs typeface="Courier New" pitchFamily="49" charset="0"/>
              </a:rPr>
              <a:t>BIOS_init</a:t>
            </a:r>
            <a:r>
              <a:rPr lang="en-US" b="0" dirty="0" smtClean="0">
                <a:latin typeface="Courier New" pitchFamily="49" charset="0"/>
                <a:cs typeface="Courier New" pitchFamily="49" charset="0"/>
              </a:rPr>
              <a:t>()</a:t>
            </a:r>
            <a:r>
              <a:rPr lang="en-US" b="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b="0" dirty="0">
                <a:latin typeface="Calibri" pitchFamily="34" charset="0"/>
                <a:cs typeface="Calibri" pitchFamily="34" charset="0"/>
              </a:rPr>
              <a:t>– </a:t>
            </a:r>
            <a:r>
              <a:rPr lang="en-US" b="0" dirty="0" err="1" smtClean="0">
                <a:latin typeface="Calibri" pitchFamily="34" charset="0"/>
                <a:cs typeface="Calibri" pitchFamily="34" charset="0"/>
              </a:rPr>
              <a:t>configs</a:t>
            </a:r>
            <a:r>
              <a:rPr lang="en-US" b="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b="0" dirty="0">
                <a:latin typeface="Calibri" pitchFamily="34" charset="0"/>
                <a:cs typeface="Calibri" pitchFamily="34" charset="0"/>
              </a:rPr>
              <a:t>static </a:t>
            </a:r>
            <a:r>
              <a:rPr lang="en-US" b="0">
                <a:latin typeface="Calibri" pitchFamily="34" charset="0"/>
                <a:cs typeface="Calibri" pitchFamily="34" charset="0"/>
              </a:rPr>
              <a:t>BIOS </a:t>
            </a:r>
            <a:r>
              <a:rPr lang="en-US" b="0" smtClean="0">
                <a:latin typeface="Calibri" pitchFamily="34" charset="0"/>
                <a:cs typeface="Calibri" pitchFamily="34" charset="0"/>
              </a:rPr>
              <a:t>objects, then </a:t>
            </a:r>
            <a:r>
              <a:rPr lang="en-US" b="0" dirty="0" smtClean="0">
                <a:latin typeface="Calibri" pitchFamily="34" charset="0"/>
                <a:cs typeface="Calibri" pitchFamily="34" charset="0"/>
              </a:rPr>
              <a:t>calls </a:t>
            </a:r>
            <a:r>
              <a:rPr lang="en-US" b="0" dirty="0" smtClean="0">
                <a:latin typeface="Courier New" pitchFamily="49" charset="0"/>
                <a:cs typeface="Courier New" pitchFamily="49" charset="0"/>
              </a:rPr>
              <a:t>main()</a:t>
            </a:r>
            <a:endParaRPr lang="en-US" b="0" dirty="0">
              <a:latin typeface="Courier New" pitchFamily="49" charset="0"/>
              <a:cs typeface="Courier New" pitchFamily="49" charset="0"/>
            </a:endParaRPr>
          </a:p>
          <a:p>
            <a:pPr marL="342900" indent="-342900">
              <a:spcBef>
                <a:spcPts val="900"/>
              </a:spcBef>
              <a:buClr>
                <a:schemeClr val="tx2"/>
              </a:buClr>
              <a:buSzPct val="75000"/>
              <a:buFont typeface="Wingdings" pitchFamily="2" charset="2"/>
              <a:buChar char=""/>
            </a:pPr>
            <a:r>
              <a:rPr lang="en-US" b="0" dirty="0" smtClean="0">
                <a:latin typeface="Courier New" pitchFamily="49" charset="0"/>
                <a:cs typeface="Courier New" pitchFamily="49" charset="0"/>
              </a:rPr>
              <a:t>main()</a:t>
            </a:r>
          </a:p>
          <a:p>
            <a:pPr marL="800100" lvl="1" indent="-342900">
              <a:spcBef>
                <a:spcPts val="900"/>
              </a:spcBef>
              <a:buSzPct val="100000"/>
              <a:buFont typeface="Arial" pitchFamily="34" charset="0"/>
              <a:buChar char="•"/>
            </a:pPr>
            <a:r>
              <a:rPr lang="en-US" b="0" dirty="0" smtClean="0">
                <a:latin typeface="Calibri" pitchFamily="34" charset="0"/>
                <a:cs typeface="Calibri" pitchFamily="34" charset="0"/>
              </a:rPr>
              <a:t>User initialization</a:t>
            </a:r>
          </a:p>
          <a:p>
            <a:pPr marL="800100" lvl="1" indent="-342900">
              <a:spcBef>
                <a:spcPts val="900"/>
              </a:spcBef>
              <a:buSzPct val="100000"/>
              <a:buFont typeface="Arial" pitchFamily="34" charset="0"/>
              <a:buChar char="•"/>
            </a:pPr>
            <a:r>
              <a:rPr lang="en-US" b="0" dirty="0" smtClean="0">
                <a:latin typeface="Calibri" pitchFamily="34" charset="0"/>
                <a:cs typeface="Calibri" pitchFamily="34" charset="0"/>
              </a:rPr>
              <a:t>Must execute </a:t>
            </a:r>
            <a:r>
              <a:rPr lang="en-US" b="0" dirty="0" err="1" smtClean="0">
                <a:latin typeface="Courier New" pitchFamily="49" charset="0"/>
                <a:cs typeface="Courier New" pitchFamily="49" charset="0"/>
              </a:rPr>
              <a:t>BIOS_start</a:t>
            </a:r>
            <a:r>
              <a:rPr lang="en-US" b="0" dirty="0" smtClean="0">
                <a:latin typeface="Courier New" pitchFamily="49" charset="0"/>
                <a:cs typeface="Courier New" pitchFamily="49" charset="0"/>
              </a:rPr>
              <a:t>()</a:t>
            </a:r>
            <a:r>
              <a:rPr lang="en-US" b="0" dirty="0" smtClean="0">
                <a:latin typeface="Calibri" pitchFamily="34" charset="0"/>
                <a:cs typeface="Calibri" pitchFamily="34" charset="0"/>
              </a:rPr>
              <a:t> to </a:t>
            </a:r>
            <a:r>
              <a:rPr lang="en-US" b="0" dirty="0">
                <a:latin typeface="Calibri" pitchFamily="34" charset="0"/>
                <a:cs typeface="Calibri" pitchFamily="34" charset="0"/>
              </a:rPr>
              <a:t>enable BIOS </a:t>
            </a:r>
            <a:r>
              <a:rPr lang="en-US" b="0" dirty="0" smtClean="0">
                <a:latin typeface="Calibri" pitchFamily="34" charset="0"/>
                <a:cs typeface="Calibri" pitchFamily="34" charset="0"/>
              </a:rPr>
              <a:t>Scheduler &amp; INTs</a:t>
            </a:r>
            <a:endParaRPr lang="en-US" b="0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651789" y="2658365"/>
            <a:ext cx="835485" cy="294183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r>
              <a:rPr lang="en-US" sz="1600" b="0" smtClean="0">
                <a:solidFill>
                  <a:schemeClr val="dk1"/>
                </a:solidFill>
                <a:latin typeface="Calibri" pitchFamily="34" charset="0"/>
                <a:cs typeface="Calibri" pitchFamily="34" charset="0"/>
              </a:rPr>
              <a:t>(C6000)</a:t>
            </a:r>
            <a:endParaRPr lang="en-US" sz="1600" b="0" dirty="0" smtClean="0">
              <a:solidFill>
                <a:schemeClr val="dk1"/>
              </a:solidFill>
              <a:effectLst/>
              <a:latin typeface="Calibri" pitchFamily="34" charset="0"/>
              <a:cs typeface="Calibri" pitchFamily="34" charset="0"/>
            </a:endParaRPr>
          </a:p>
        </p:txBody>
      </p:sp>
      <p:pic>
        <p:nvPicPr>
          <p:cNvPr id="15" name="Animated Logo" descr="tilogo_color_twoline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50800" y="6477000"/>
            <a:ext cx="1438537" cy="347443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6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9704" name="Rectangle 8"/>
          <p:cNvSpPr>
            <a:spLocks noChangeArrowheads="1"/>
          </p:cNvSpPr>
          <p:nvPr/>
        </p:nvSpPr>
        <p:spPr bwMode="auto">
          <a:xfrm>
            <a:off x="547048" y="1524000"/>
            <a:ext cx="5105400" cy="3810000"/>
          </a:xfrm>
          <a:prstGeom prst="rect">
            <a:avLst/>
          </a:prstGeom>
          <a:solidFill>
            <a:srgbClr val="92D050"/>
          </a:solidFill>
          <a:ln w="19050">
            <a:solidFill>
              <a:schemeClr val="tx1"/>
            </a:solidFill>
            <a:miter lim="800000"/>
            <a:headEnd type="none" w="sm" len="sm"/>
            <a:tailEnd type="none" w="sm" len="sm"/>
          </a:ln>
          <a:effectLst>
            <a:outerShdw blurRad="50800" dist="88900" dir="2700000" algn="tl" rotWithShape="0">
              <a:prstClr val="black">
                <a:alpha val="40000"/>
              </a:prstClr>
            </a:outerShdw>
          </a:effectLst>
        </p:spPr>
        <p:txBody>
          <a:bodyPr wrap="none" anchor="ctr"/>
          <a:lstStyle/>
          <a:p>
            <a:pPr>
              <a:defRPr/>
            </a:pPr>
            <a:endParaRPr lang="en-US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72706" name="Picture 2" descr="C:\Documents and Settings\a0159877\Desktop\250px-Operating_system_placement.svg.png"/>
          <p:cNvPicPr>
            <a:picLocks noChangeAspect="1" noChangeArrowheads="1"/>
          </p:cNvPicPr>
          <p:nvPr/>
        </p:nvPicPr>
        <p:blipFill>
          <a:blip r:embed="rId9" cstate="print"/>
          <a:srcRect/>
          <a:stretch>
            <a:fillRect/>
          </a:stretch>
        </p:blipFill>
        <p:spPr bwMode="auto">
          <a:xfrm>
            <a:off x="6160824" y="1316817"/>
            <a:ext cx="2819400" cy="4172713"/>
          </a:xfrm>
          <a:prstGeom prst="rect">
            <a:avLst/>
          </a:prstGeom>
          <a:noFill/>
        </p:spPr>
      </p:pic>
      <p:sp>
        <p:nvSpPr>
          <p:cNvPr id="4198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>
                <a:solidFill>
                  <a:schemeClr val="tx1"/>
                </a:solidFill>
              </a:rPr>
              <a:t>Outline</a:t>
            </a:r>
          </a:p>
        </p:txBody>
      </p:sp>
      <p:sp>
        <p:nvSpPr>
          <p:cNvPr id="9" name="Text Box 4">
            <a:hlinkClick r:id="rId10" action="ppaction://hlinksldjump"/>
          </p:cNvPr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552450" y="1630538"/>
            <a:ext cx="5099998" cy="480131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square" tIns="45720" bIns="45720" anchor="ctr" anchorCtr="0">
            <a:spAutoFit/>
          </a:bodyPr>
          <a:lstStyle/>
          <a:p>
            <a:pPr marL="342900" indent="-342900">
              <a:lnSpc>
                <a:spcPct val="90000"/>
              </a:lnSpc>
              <a:spcBef>
                <a:spcPct val="0"/>
              </a:spcBef>
              <a:buClr>
                <a:srgbClr val="0066FF"/>
              </a:buClr>
              <a:buSzPct val="75000"/>
              <a:buFont typeface="Wingdings" pitchFamily="2" charset="2"/>
              <a:buChar char=""/>
            </a:pPr>
            <a:r>
              <a:rPr lang="en-US" sz="2800" smtClean="0">
                <a:solidFill>
                  <a:srgbClr val="000000"/>
                </a:solidFill>
              </a:rPr>
              <a:t>Creating A New Project</a:t>
            </a:r>
            <a:endParaRPr lang="en-US" sz="2800" dirty="0">
              <a:solidFill>
                <a:srgbClr val="000000"/>
              </a:solidFill>
            </a:endParaRPr>
          </a:p>
        </p:txBody>
      </p:sp>
      <p:sp>
        <p:nvSpPr>
          <p:cNvPr id="10" name="Text Box 4">
            <a:hlinkClick r:id="rId11" action="ppaction://hlinksldjump"/>
          </p:cNvPr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552450" y="2209221"/>
            <a:ext cx="5099998" cy="480131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square" tIns="45720" bIns="45720" anchor="ctr" anchorCtr="0">
            <a:spAutoFit/>
          </a:bodyPr>
          <a:lstStyle/>
          <a:p>
            <a:pPr marL="342900" indent="-342900">
              <a:lnSpc>
                <a:spcPct val="90000"/>
              </a:lnSpc>
              <a:spcBef>
                <a:spcPct val="0"/>
              </a:spcBef>
              <a:buClr>
                <a:srgbClr val="0066FF"/>
              </a:buClr>
              <a:buSzPct val="75000"/>
              <a:buFont typeface="Wingdings" pitchFamily="2" charset="2"/>
              <a:buChar char=""/>
            </a:pPr>
            <a:r>
              <a:rPr lang="en-US" sz="2800" smtClean="0">
                <a:solidFill>
                  <a:srgbClr val="000000"/>
                </a:solidFill>
              </a:rPr>
              <a:t>TI-RTOS Config (.CFG)</a:t>
            </a:r>
            <a:endParaRPr lang="en-US" sz="2800" dirty="0">
              <a:solidFill>
                <a:srgbClr val="000000"/>
              </a:solidFill>
            </a:endParaRPr>
          </a:p>
        </p:txBody>
      </p:sp>
      <p:sp>
        <p:nvSpPr>
          <p:cNvPr id="11" name="Text Box 4">
            <a:hlinkClick r:id="rId12" action="ppaction://hlinksldjump"/>
          </p:cNvPr>
          <p:cNvSpPr txBox="1"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552450" y="2787904"/>
            <a:ext cx="5099998" cy="480131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square" tIns="45720" bIns="45720" anchor="ctr" anchorCtr="0">
            <a:spAutoFit/>
          </a:bodyPr>
          <a:lstStyle/>
          <a:p>
            <a:pPr marL="342900" indent="-342900">
              <a:lnSpc>
                <a:spcPct val="90000"/>
              </a:lnSpc>
              <a:spcBef>
                <a:spcPct val="0"/>
              </a:spcBef>
              <a:buClr>
                <a:srgbClr val="0066FF"/>
              </a:buClr>
              <a:buSzPct val="75000"/>
              <a:buFont typeface="Wingdings" pitchFamily="2" charset="2"/>
              <a:buChar char=""/>
            </a:pPr>
            <a:r>
              <a:rPr lang="en-US" sz="2800" smtClean="0">
                <a:solidFill>
                  <a:srgbClr val="000000"/>
                </a:solidFill>
              </a:rPr>
              <a:t>System Timeline</a:t>
            </a:r>
            <a:endParaRPr lang="en-US" sz="2800" dirty="0">
              <a:solidFill>
                <a:srgbClr val="000000"/>
              </a:solidFill>
            </a:endParaRPr>
          </a:p>
        </p:txBody>
      </p:sp>
      <p:sp>
        <p:nvSpPr>
          <p:cNvPr id="12" name="Text Box 3">
            <a:hlinkClick r:id="rId13" action="ppaction://hlinksldjump"/>
          </p:cNvPr>
          <p:cNvSpPr txBox="1"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547048" y="3366587"/>
            <a:ext cx="5105400" cy="480131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square" tIns="45720" bIns="45720" anchor="ctr" anchorCtr="0">
            <a:spAutoFit/>
          </a:bodyPr>
          <a:lstStyle/>
          <a:p>
            <a:pPr marL="342900" indent="-342900">
              <a:lnSpc>
                <a:spcPct val="90000"/>
              </a:lnSpc>
              <a:spcBef>
                <a:spcPct val="0"/>
              </a:spcBef>
              <a:buClr>
                <a:srgbClr val="0066FF"/>
              </a:buClr>
              <a:buSzPct val="75000"/>
              <a:buFont typeface="Wingdings" pitchFamily="2" charset="2"/>
              <a:buChar char=""/>
            </a:pPr>
            <a:r>
              <a:rPr lang="en-US" sz="2800" smtClean="0">
                <a:solidFill>
                  <a:srgbClr val="000000"/>
                </a:solidFill>
              </a:rPr>
              <a:t>UIA &amp; RTOS Analyzer</a:t>
            </a:r>
            <a:endParaRPr lang="en-US" sz="2800" dirty="0">
              <a:solidFill>
                <a:srgbClr val="000000"/>
              </a:solidFill>
            </a:endParaRPr>
          </a:p>
        </p:txBody>
      </p:sp>
      <p:sp>
        <p:nvSpPr>
          <p:cNvPr id="13" name="Text Box 4">
            <a:hlinkClick r:id="rId14" action="ppaction://hlinksldjump"/>
          </p:cNvPr>
          <p:cNvSpPr txBox="1"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552450" y="3945270"/>
            <a:ext cx="5099998" cy="480131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square" tIns="45720" bIns="45720" anchor="ctr" anchorCtr="0">
            <a:spAutoFit/>
          </a:bodyPr>
          <a:lstStyle/>
          <a:p>
            <a:pPr marL="342900" indent="-342900">
              <a:lnSpc>
                <a:spcPct val="90000"/>
              </a:lnSpc>
              <a:spcBef>
                <a:spcPct val="0"/>
              </a:spcBef>
              <a:buClr>
                <a:srgbClr val="0066FF"/>
              </a:buClr>
              <a:buSzPct val="75000"/>
              <a:buFont typeface="Wingdings" pitchFamily="2" charset="2"/>
              <a:buChar char=""/>
            </a:pPr>
            <a:r>
              <a:rPr lang="en-US" sz="2800" smtClean="0">
                <a:solidFill>
                  <a:srgbClr val="000000"/>
                </a:solidFill>
              </a:rPr>
              <a:t>Version Control</a:t>
            </a:r>
            <a:endParaRPr lang="en-US" sz="2800" dirty="0">
              <a:solidFill>
                <a:srgbClr val="000000"/>
              </a:solidFill>
            </a:endParaRPr>
          </a:p>
        </p:txBody>
      </p:sp>
      <p:sp>
        <p:nvSpPr>
          <p:cNvPr id="14" name="Text Box 4">
            <a:hlinkClick r:id="rId15" action="ppaction://hlinksldjump"/>
          </p:cNvPr>
          <p:cNvSpPr txBox="1">
            <a:spLocks noChangeArrowheads="1"/>
          </p:cNvSpPr>
          <p:nvPr>
            <p:custDataLst>
              <p:tags r:id="rId7"/>
            </p:custDataLst>
          </p:nvPr>
        </p:nvSpPr>
        <p:spPr bwMode="auto">
          <a:xfrm>
            <a:off x="552450" y="4523953"/>
            <a:ext cx="5099998" cy="480131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square" tIns="45720" bIns="45720" anchor="ctr" anchorCtr="0">
            <a:spAutoFit/>
          </a:bodyPr>
          <a:lstStyle/>
          <a:p>
            <a:pPr marL="342900" indent="-342900">
              <a:lnSpc>
                <a:spcPct val="90000"/>
              </a:lnSpc>
              <a:spcBef>
                <a:spcPct val="0"/>
              </a:spcBef>
              <a:buClr>
                <a:srgbClr val="0066FF"/>
              </a:buClr>
              <a:buSzPct val="75000"/>
              <a:buFont typeface="Wingdings" pitchFamily="2" charset="2"/>
              <a:buChar char=""/>
            </a:pPr>
            <a:r>
              <a:rPr lang="en-US" sz="2800" smtClean="0">
                <a:solidFill>
                  <a:srgbClr val="000000"/>
                </a:solidFill>
              </a:rPr>
              <a:t>Lab</a:t>
            </a:r>
            <a:endParaRPr lang="en-US" sz="2800" dirty="0">
              <a:solidFill>
                <a:srgbClr val="000000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22841389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4" descr="C:\Users\a0159877\AppData\Local\Temp\SNAGHTMLece65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29000" y="1907380"/>
            <a:ext cx="4667820" cy="48664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Configuring UIA &amp; RTOS Analyzer</a:t>
            </a:r>
            <a:endParaRPr lang="en-US" dirty="0" smtClean="0"/>
          </a:p>
        </p:txBody>
      </p:sp>
      <p:sp>
        <p:nvSpPr>
          <p:cNvPr id="15" name="TextBox 14"/>
          <p:cNvSpPr txBox="1"/>
          <p:nvPr/>
        </p:nvSpPr>
        <p:spPr>
          <a:xfrm>
            <a:off x="120501" y="674502"/>
            <a:ext cx="8642499" cy="1231106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marL="342900" indent="-342900">
              <a:spcBef>
                <a:spcPts val="600"/>
              </a:spcBef>
              <a:buClr>
                <a:schemeClr val="tx2"/>
              </a:buClr>
              <a:buSzPct val="75000"/>
              <a:buFont typeface="Wingdings"/>
              <a:buChar char=""/>
            </a:pPr>
            <a:r>
              <a:rPr lang="en-US" sz="2000" b="0" smtClean="0">
                <a:solidFill>
                  <a:schemeClr val="dk1"/>
                </a:solidFill>
                <a:effectLst/>
                <a:latin typeface="Calibri" pitchFamily="34" charset="0"/>
                <a:cs typeface="Calibri" pitchFamily="34" charset="0"/>
              </a:rPr>
              <a:t>UIA (Unified Instrumentation Architecture) provides instrumentation APIs that run on the </a:t>
            </a:r>
            <a:r>
              <a:rPr lang="en-US" sz="2000" smtClean="0">
                <a:solidFill>
                  <a:schemeClr val="tx2"/>
                </a:solidFill>
                <a:effectLst/>
                <a:latin typeface="Calibri" pitchFamily="34" charset="0"/>
                <a:cs typeface="Calibri" pitchFamily="34" charset="0"/>
              </a:rPr>
              <a:t>TARGET – </a:t>
            </a:r>
            <a:r>
              <a:rPr lang="en-US" sz="2000" b="0" smtClean="0">
                <a:solidFill>
                  <a:schemeClr val="tx2"/>
                </a:solidFill>
                <a:effectLst/>
                <a:latin typeface="Calibri" pitchFamily="34" charset="0"/>
                <a:cs typeface="Calibri" pitchFamily="34" charset="0"/>
              </a:rPr>
              <a:t>Why?</a:t>
            </a:r>
            <a:r>
              <a:rPr lang="en-US" sz="2000" smtClean="0">
                <a:solidFill>
                  <a:schemeClr val="tx2"/>
                </a:solidFill>
                <a:effectLst/>
                <a:latin typeface="Calibri" pitchFamily="34" charset="0"/>
                <a:cs typeface="Calibri" pitchFamily="34" charset="0"/>
              </a:rPr>
              <a:t> </a:t>
            </a:r>
            <a:r>
              <a:rPr lang="en-US" sz="1800" b="0" smtClean="0">
                <a:solidFill>
                  <a:schemeClr val="tx2"/>
                </a:solidFill>
                <a:effectLst/>
                <a:latin typeface="Calibri" pitchFamily="34" charset="0"/>
                <a:cs typeface="Calibri" pitchFamily="34" charset="0"/>
              </a:rPr>
              <a:t>Visibility into what your program is doing (or not doing)</a:t>
            </a:r>
            <a:endParaRPr lang="en-US" sz="2000" b="0" smtClean="0">
              <a:solidFill>
                <a:schemeClr val="tx2"/>
              </a:solidFill>
              <a:effectLst/>
              <a:latin typeface="Calibri" pitchFamily="34" charset="0"/>
              <a:cs typeface="Calibri" pitchFamily="34" charset="0"/>
            </a:endParaRPr>
          </a:p>
          <a:p>
            <a:pPr marL="342900" indent="-342900">
              <a:spcBef>
                <a:spcPts val="600"/>
              </a:spcBef>
              <a:buClr>
                <a:schemeClr val="tx2"/>
              </a:buClr>
              <a:buSzPct val="75000"/>
              <a:buFont typeface="Wingdings"/>
              <a:buChar char=""/>
            </a:pPr>
            <a:r>
              <a:rPr lang="en-US" sz="2000" b="0" smtClean="0">
                <a:solidFill>
                  <a:schemeClr val="dk1"/>
                </a:solidFill>
                <a:latin typeface="Calibri" pitchFamily="34" charset="0"/>
                <a:cs typeface="Calibri" pitchFamily="34" charset="0"/>
              </a:rPr>
              <a:t>The RTOS Analyzer displays the results of these commands in </a:t>
            </a:r>
            <a:r>
              <a:rPr lang="en-US" sz="2000" smtClean="0">
                <a:solidFill>
                  <a:schemeClr val="tx2"/>
                </a:solidFill>
                <a:latin typeface="Calibri" pitchFamily="34" charset="0"/>
                <a:cs typeface="Calibri" pitchFamily="34" charset="0"/>
              </a:rPr>
              <a:t>CCS</a:t>
            </a:r>
          </a:p>
          <a:p>
            <a:pPr marL="342900" indent="-342900">
              <a:spcBef>
                <a:spcPts val="600"/>
              </a:spcBef>
              <a:buClr>
                <a:schemeClr val="tx2"/>
              </a:buClr>
              <a:buSzPct val="75000"/>
              <a:buFont typeface="Wingdings"/>
              <a:buChar char=""/>
            </a:pPr>
            <a:r>
              <a:rPr lang="en-US" sz="2000" b="0" smtClean="0">
                <a:solidFill>
                  <a:schemeClr val="dk1"/>
                </a:solidFill>
                <a:effectLst/>
                <a:latin typeface="Calibri" pitchFamily="34" charset="0"/>
                <a:cs typeface="Calibri" pitchFamily="34" charset="0"/>
              </a:rPr>
              <a:t>Multiple transport protocols are supported – we will use </a:t>
            </a:r>
            <a:r>
              <a:rPr lang="en-US" sz="2000" smtClean="0">
                <a:solidFill>
                  <a:schemeClr val="tx2"/>
                </a:solidFill>
                <a:effectLst/>
                <a:latin typeface="Calibri" pitchFamily="34" charset="0"/>
                <a:cs typeface="Calibri" pitchFamily="34" charset="0"/>
              </a:rPr>
              <a:t>STOP-MODE JTAG</a:t>
            </a:r>
            <a:endParaRPr lang="en-US" sz="2000" dirty="0" smtClean="0">
              <a:solidFill>
                <a:schemeClr val="tx2"/>
              </a:solidFill>
              <a:effectLst/>
              <a:latin typeface="Calibri" pitchFamily="34" charset="0"/>
              <a:cs typeface="Calibri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28600" y="4386669"/>
            <a:ext cx="2754087" cy="169892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 anchor="ctr" anchorCtr="0">
            <a:spAutoFit/>
          </a:bodyPr>
          <a:lstStyle/>
          <a:p>
            <a:pPr marL="233363" indent="-233363">
              <a:buClr>
                <a:schemeClr val="tx2"/>
              </a:buClr>
              <a:buSzPct val="75000"/>
              <a:buFont typeface="Wingdings"/>
              <a:buChar char=""/>
            </a:pPr>
            <a:r>
              <a:rPr lang="en-US" sz="1800" b="0" smtClean="0">
                <a:solidFill>
                  <a:schemeClr val="dk1"/>
                </a:solidFill>
                <a:effectLst/>
                <a:latin typeface="Calibri" pitchFamily="34" charset="0"/>
                <a:cs typeface="Calibri" pitchFamily="34" charset="0"/>
              </a:rPr>
              <a:t>Add “LoggingSetup” to your .cfg file, then config</a:t>
            </a:r>
          </a:p>
          <a:p>
            <a:pPr marL="233363" indent="-233363">
              <a:buClr>
                <a:schemeClr val="tx2"/>
              </a:buClr>
              <a:buSzPct val="75000"/>
              <a:buFont typeface="Wingdings"/>
              <a:buChar char=""/>
            </a:pPr>
            <a:r>
              <a:rPr lang="en-US" sz="1800" b="0" smtClean="0">
                <a:solidFill>
                  <a:schemeClr val="dk1"/>
                </a:solidFill>
                <a:latin typeface="Calibri" pitchFamily="34" charset="0"/>
                <a:cs typeface="Calibri" pitchFamily="34" charset="0"/>
              </a:rPr>
              <a:t>Tasks take less memory</a:t>
            </a:r>
            <a:br>
              <a:rPr lang="en-US" sz="1800" b="0" smtClean="0">
                <a:solidFill>
                  <a:schemeClr val="dk1"/>
                </a:solidFill>
                <a:latin typeface="Calibri" pitchFamily="34" charset="0"/>
                <a:cs typeface="Calibri" pitchFamily="34" charset="0"/>
              </a:rPr>
            </a:br>
            <a:r>
              <a:rPr lang="en-US" sz="1800" b="0" smtClean="0">
                <a:solidFill>
                  <a:schemeClr val="dk1"/>
                </a:solidFill>
                <a:latin typeface="Calibri" pitchFamily="34" charset="0"/>
                <a:cs typeface="Calibri" pitchFamily="34" charset="0"/>
              </a:rPr>
              <a:t>to track, Hwi/Swi require</a:t>
            </a:r>
            <a:br>
              <a:rPr lang="en-US" sz="1800" b="0" smtClean="0">
                <a:solidFill>
                  <a:schemeClr val="dk1"/>
                </a:solidFill>
                <a:latin typeface="Calibri" pitchFamily="34" charset="0"/>
                <a:cs typeface="Calibri" pitchFamily="34" charset="0"/>
              </a:rPr>
            </a:br>
            <a:r>
              <a:rPr lang="en-US" sz="1800" b="0" smtClean="0">
                <a:solidFill>
                  <a:schemeClr val="dk1"/>
                </a:solidFill>
                <a:latin typeface="Calibri" pitchFamily="34" charset="0"/>
                <a:cs typeface="Calibri" pitchFamily="34" charset="0"/>
              </a:rPr>
              <a:t>bigger buffers</a:t>
            </a:r>
          </a:p>
          <a:p>
            <a:pPr marL="233363" indent="-233363">
              <a:buClr>
                <a:schemeClr val="tx2"/>
              </a:buClr>
              <a:buSzPct val="75000"/>
              <a:buFont typeface="Wingdings"/>
              <a:buChar char=""/>
            </a:pPr>
            <a:r>
              <a:rPr lang="en-US" sz="1800" b="0" smtClean="0">
                <a:solidFill>
                  <a:schemeClr val="dk1"/>
                </a:solidFill>
                <a:effectLst/>
                <a:latin typeface="Calibri" pitchFamily="34" charset="0"/>
                <a:cs typeface="Calibri" pitchFamily="34" charset="0"/>
              </a:rPr>
              <a:t>Buffers are circular</a:t>
            </a:r>
            <a:endParaRPr lang="en-US" sz="1800" b="0" dirty="0" smtClean="0">
              <a:solidFill>
                <a:schemeClr val="dk1"/>
              </a:solidFill>
              <a:effectLst/>
              <a:latin typeface="Calibri" pitchFamily="34" charset="0"/>
              <a:cs typeface="Calibri" pitchFamily="34" charset="0"/>
            </a:endParaRPr>
          </a:p>
        </p:txBody>
      </p:sp>
      <p:sp>
        <p:nvSpPr>
          <p:cNvPr id="2" name="Leading Question"/>
          <p:cNvSpPr txBox="1"/>
          <p:nvPr/>
        </p:nvSpPr>
        <p:spPr>
          <a:xfrm>
            <a:off x="8166690" y="6527610"/>
            <a:ext cx="629980" cy="2462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rtlCol="0" anchor="b" anchorCtr="0">
            <a:spAutoFit/>
          </a:bodyPr>
          <a:lstStyle/>
          <a:p>
            <a:pPr algn="r">
              <a:spcBef>
                <a:spcPct val="0"/>
              </a:spcBef>
            </a:pPr>
            <a:r>
              <a:rPr lang="en-US" sz="2000" b="0" smtClean="0">
                <a:solidFill>
                  <a:schemeClr val="tx2"/>
                </a:solidFill>
                <a:effectLst/>
                <a:latin typeface="Arial Narrow"/>
              </a:rPr>
              <a:t>Logs...</a:t>
            </a:r>
            <a:endParaRPr lang="en-US" sz="2000" b="0" dirty="0" smtClean="0">
              <a:solidFill>
                <a:schemeClr val="tx2"/>
              </a:solidFill>
              <a:effectLst/>
              <a:latin typeface="Arial Narrow"/>
            </a:endParaRPr>
          </a:p>
        </p:txBody>
      </p:sp>
      <p:pic>
        <p:nvPicPr>
          <p:cNvPr id="1026" name="Picture 2" descr="C:\Users\a0159877\AppData\Local\Temp\SNAGHTML3c90c05.PN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7300" y="2843596"/>
            <a:ext cx="2608082" cy="1524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5" name="Straight Arrow Connector 4"/>
          <p:cNvCxnSpPr/>
          <p:nvPr/>
        </p:nvCxnSpPr>
        <p:spPr bwMode="auto">
          <a:xfrm flipV="1">
            <a:off x="2373879" y="2375800"/>
            <a:ext cx="1308460" cy="1358000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sm" len="sm"/>
            <a:tailEnd type="arrow"/>
          </a:ln>
          <a:effectLst/>
        </p:spPr>
      </p:cxnSp>
      <p:pic>
        <p:nvPicPr>
          <p:cNvPr id="23" name="Animated Logo" descr="tilogo_color_twoline.png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50800" y="6477000"/>
            <a:ext cx="1438537" cy="347443"/>
          </a:xfrm>
          <a:prstGeom prst="rect">
            <a:avLst/>
          </a:prstGeom>
        </p:spPr>
      </p:pic>
      <p:pic>
        <p:nvPicPr>
          <p:cNvPr id="3" name="Picture 2" descr="C:\Users\a0159877\AppData\Local\Temp\SNAGHTML12a61e3.PNG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8040" y="1907380"/>
            <a:ext cx="2902265" cy="9362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Down Arrow 5"/>
          <p:cNvSpPr/>
          <p:nvPr/>
        </p:nvSpPr>
        <p:spPr bwMode="auto">
          <a:xfrm rot="2693602">
            <a:off x="1772149" y="2384678"/>
            <a:ext cx="381000" cy="782884"/>
          </a:xfrm>
          <a:prstGeom prst="downArrow">
            <a:avLst/>
          </a:prstGeom>
          <a:solidFill>
            <a:schemeClr val="accent3">
              <a:lumMod val="60000"/>
              <a:lumOff val="40000"/>
            </a:scheme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800" b="1" i="0" u="none" strike="noStrike" cap="none" normalizeH="0" baseline="0" dirty="0" smtClean="0">
              <a:ln>
                <a:noFill/>
              </a:ln>
              <a:solidFill>
                <a:schemeClr val="dk1"/>
              </a:solidFill>
              <a:effectLst/>
              <a:latin typeface="Arial Narrow" pitchFamily="34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017241" y="2222111"/>
            <a:ext cx="635110" cy="313932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r>
              <a:rPr lang="en-US" sz="1800" smtClean="0">
                <a:solidFill>
                  <a:schemeClr val="accent4">
                    <a:lumMod val="75000"/>
                  </a:schemeClr>
                </a:solidFill>
                <a:effectLst/>
                <a:latin typeface="Arial Narrow" panose="020B0506020202030204" pitchFamily="34" charset="0"/>
              </a:rPr>
              <a:t>(UIA)</a:t>
            </a:r>
            <a:endParaRPr lang="en-US" sz="1800" dirty="0" smtClean="0">
              <a:solidFill>
                <a:schemeClr val="accent4">
                  <a:lumMod val="75000"/>
                </a:schemeClr>
              </a:solidFill>
              <a:effectLst/>
              <a:latin typeface="Arial Narrow" panose="020B0506020202030204" pitchFamily="34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248938067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50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utoUpdateAnimBg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Using Logs</a:t>
            </a:r>
            <a:endParaRPr lang="en-US" dirty="0" smtClean="0"/>
          </a:p>
        </p:txBody>
      </p:sp>
      <p:sp>
        <p:nvSpPr>
          <p:cNvPr id="15" name="TextBox 14"/>
          <p:cNvSpPr txBox="1"/>
          <p:nvPr/>
        </p:nvSpPr>
        <p:spPr>
          <a:xfrm>
            <a:off x="99235" y="620233"/>
            <a:ext cx="9237978" cy="1055674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pPr marL="342900" indent="-342900">
              <a:spcBef>
                <a:spcPts val="600"/>
              </a:spcBef>
              <a:buClr>
                <a:schemeClr val="tx2"/>
              </a:buClr>
              <a:buSzPct val="75000"/>
              <a:buFont typeface="Wingdings"/>
              <a:buChar char=""/>
            </a:pPr>
            <a:r>
              <a:rPr lang="en-US" b="0">
                <a:solidFill>
                  <a:schemeClr val="dk1"/>
                </a:solidFill>
                <a:latin typeface="Courier New" pitchFamily="49" charset="0"/>
                <a:cs typeface="Courier New" pitchFamily="49" charset="0"/>
              </a:rPr>
              <a:t>p</a:t>
            </a:r>
            <a:r>
              <a:rPr lang="en-US" b="0" smtClean="0">
                <a:solidFill>
                  <a:schemeClr val="dk1"/>
                </a:solidFill>
                <a:effectLst/>
                <a:latin typeface="Courier New" pitchFamily="49" charset="0"/>
                <a:cs typeface="Courier New" pitchFamily="49" charset="0"/>
              </a:rPr>
              <a:t>rintf()</a:t>
            </a:r>
            <a:r>
              <a:rPr lang="en-US" b="0" smtClean="0">
                <a:solidFill>
                  <a:schemeClr val="dk1"/>
                </a:solidFill>
                <a:effectLst/>
                <a:latin typeface="Calibri" pitchFamily="34" charset="0"/>
                <a:cs typeface="Calibri" pitchFamily="34" charset="0"/>
              </a:rPr>
              <a:t> is a popular debug tool, but it can cost cycles/code size</a:t>
            </a:r>
            <a:br>
              <a:rPr lang="en-US" b="0" smtClean="0">
                <a:solidFill>
                  <a:schemeClr val="dk1"/>
                </a:solidFill>
                <a:effectLst/>
                <a:latin typeface="Calibri" pitchFamily="34" charset="0"/>
                <a:cs typeface="Calibri" pitchFamily="34" charset="0"/>
              </a:rPr>
            </a:br>
            <a:r>
              <a:rPr lang="en-US" b="0" smtClean="0">
                <a:solidFill>
                  <a:schemeClr val="dk1"/>
                </a:solidFill>
                <a:effectLst/>
                <a:latin typeface="Calibri" pitchFamily="34" charset="0"/>
                <a:cs typeface="Calibri" pitchFamily="34" charset="0"/>
              </a:rPr>
              <a:t>on some MCUs and certainly is a bad idea on DSPs</a:t>
            </a:r>
          </a:p>
          <a:p>
            <a:pPr marL="342900" indent="-342900">
              <a:spcBef>
                <a:spcPts val="600"/>
              </a:spcBef>
              <a:buClr>
                <a:schemeClr val="tx2"/>
              </a:buClr>
              <a:buSzPct val="75000"/>
              <a:buFont typeface="Wingdings"/>
              <a:buChar char=""/>
            </a:pPr>
            <a:r>
              <a:rPr lang="en-US" b="0" smtClean="0">
                <a:solidFill>
                  <a:schemeClr val="dk1"/>
                </a:solidFill>
                <a:latin typeface="Calibri" pitchFamily="34" charset="0"/>
                <a:cs typeface="Calibri" pitchFamily="34" charset="0"/>
              </a:rPr>
              <a:t>Log_info() is ~40 cycles, provides similar benefits (allows 0-5 args):</a:t>
            </a:r>
            <a:endParaRPr lang="en-US" b="0" dirty="0" smtClean="0">
              <a:solidFill>
                <a:schemeClr val="dk1"/>
              </a:solidFill>
              <a:effectLst/>
              <a:latin typeface="Calibri" pitchFamily="34" charset="0"/>
              <a:cs typeface="Calibri" pitchFamily="34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680542" y="1777222"/>
            <a:ext cx="7549057" cy="432578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none" rtlCol="0" anchor="ctr" anchorCtr="1">
            <a:noAutofit/>
          </a:bodyPr>
          <a:lstStyle/>
          <a:p>
            <a:r>
              <a:rPr lang="en-US" sz="2000" smtClean="0">
                <a:solidFill>
                  <a:schemeClr val="tx2"/>
                </a:solidFill>
                <a:effectLst/>
                <a:latin typeface="Courier New" pitchFamily="49" charset="0"/>
                <a:cs typeface="Courier New" pitchFamily="49" charset="0"/>
              </a:rPr>
              <a:t>Log_info1</a:t>
            </a:r>
            <a:r>
              <a:rPr lang="en-US" sz="2000" smtClean="0">
                <a:solidFill>
                  <a:schemeClr val="dk1"/>
                </a:solidFill>
                <a:effectLst/>
                <a:latin typeface="Courier New" pitchFamily="49" charset="0"/>
                <a:cs typeface="Courier New" pitchFamily="49" charset="0"/>
              </a:rPr>
              <a:t>(“LED TOGGLED = [%u] TIMES”, toggles);</a:t>
            </a:r>
            <a:endParaRPr lang="en-US" sz="2000" dirty="0" smtClean="0">
              <a:solidFill>
                <a:schemeClr val="dk1"/>
              </a:solidFill>
              <a:effectLst/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99236" y="2531138"/>
            <a:ext cx="5234764" cy="1126462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marL="342900" indent="-342900">
              <a:spcBef>
                <a:spcPts val="600"/>
              </a:spcBef>
              <a:buClr>
                <a:schemeClr val="tx2"/>
              </a:buClr>
              <a:buSzPct val="75000"/>
              <a:buFont typeface="Wingdings"/>
              <a:buChar char=""/>
            </a:pPr>
            <a:r>
              <a:rPr lang="en-US" smtClean="0">
                <a:solidFill>
                  <a:schemeClr val="tx2"/>
                </a:solidFill>
                <a:latin typeface="Calibri" pitchFamily="34" charset="0"/>
                <a:cs typeface="Calibri" pitchFamily="34" charset="0"/>
              </a:rPr>
              <a:t>Halt</a:t>
            </a:r>
            <a:r>
              <a:rPr lang="en-US" b="0" smtClean="0">
                <a:solidFill>
                  <a:schemeClr val="dk1"/>
                </a:solidFill>
                <a:latin typeface="Calibri" pitchFamily="34" charset="0"/>
                <a:cs typeface="Calibri" pitchFamily="34" charset="0"/>
              </a:rPr>
              <a:t>, choose proper tool via: </a:t>
            </a:r>
            <a:r>
              <a:rPr lang="en-US" sz="2000" b="0" smtClean="0">
                <a:solidFill>
                  <a:schemeClr val="dk1"/>
                </a:solidFill>
                <a:latin typeface="Calibri" pitchFamily="34" charset="0"/>
                <a:cs typeface="Calibri" pitchFamily="34" charset="0"/>
              </a:rPr>
              <a:t/>
            </a:r>
            <a:br>
              <a:rPr lang="en-US" sz="2000" b="0" smtClean="0">
                <a:solidFill>
                  <a:schemeClr val="dk1"/>
                </a:solidFill>
                <a:latin typeface="Calibri" pitchFamily="34" charset="0"/>
                <a:cs typeface="Calibri" pitchFamily="34" charset="0"/>
              </a:rPr>
            </a:br>
            <a:r>
              <a:rPr lang="en-US" sz="2000" b="0" i="1" smtClean="0">
                <a:solidFill>
                  <a:schemeClr val="dk1"/>
                </a:solidFill>
                <a:latin typeface="Calibri" pitchFamily="34" charset="0"/>
                <a:cs typeface="Calibri" pitchFamily="34" charset="0"/>
              </a:rPr>
              <a:t>Tools → RTOS </a:t>
            </a:r>
            <a:r>
              <a:rPr lang="en-US" sz="2000" b="0" i="1">
                <a:solidFill>
                  <a:schemeClr val="dk1"/>
                </a:solidFill>
                <a:latin typeface="Calibri" pitchFamily="34" charset="0"/>
                <a:cs typeface="Calibri" pitchFamily="34" charset="0"/>
              </a:rPr>
              <a:t>Analyzer </a:t>
            </a:r>
            <a:r>
              <a:rPr lang="en-US" sz="2000" b="0" i="1" smtClean="0">
                <a:solidFill>
                  <a:schemeClr val="dk1"/>
                </a:solidFill>
                <a:latin typeface="Calibri" pitchFamily="34" charset="0"/>
                <a:cs typeface="Calibri" pitchFamily="34" charset="0"/>
              </a:rPr>
              <a:t>→ Execution Analysis (pick services here, “Live Session” shows Log_info results)</a:t>
            </a:r>
            <a:endParaRPr lang="en-US" b="0" i="1" dirty="0" smtClean="0">
              <a:solidFill>
                <a:schemeClr val="dk1"/>
              </a:solidFill>
              <a:effectLst/>
              <a:latin typeface="Calibri" pitchFamily="34" charset="0"/>
              <a:cs typeface="Calibri" pitchFamily="34" charset="0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1403549" y="5814176"/>
            <a:ext cx="3719288" cy="313932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r>
              <a:rPr lang="en-US" sz="1800" b="0" i="1" dirty="0" smtClean="0">
                <a:solidFill>
                  <a:srgbClr val="000000"/>
                </a:solidFill>
                <a:latin typeface="Arial Narrow" pitchFamily="34" charset="0"/>
              </a:rPr>
              <a:t>Note: users can export log data to .</a:t>
            </a:r>
            <a:r>
              <a:rPr lang="en-US" sz="1800" b="0" i="1" dirty="0" err="1" smtClean="0">
                <a:solidFill>
                  <a:srgbClr val="000000"/>
                </a:solidFill>
                <a:latin typeface="Arial Narrow" pitchFamily="34" charset="0"/>
              </a:rPr>
              <a:t>csv</a:t>
            </a:r>
            <a:r>
              <a:rPr lang="en-US" sz="1800" b="0" i="1" dirty="0" smtClean="0">
                <a:solidFill>
                  <a:srgbClr val="000000"/>
                </a:solidFill>
                <a:latin typeface="Arial Narrow" pitchFamily="34" charset="0"/>
              </a:rPr>
              <a:t> file</a:t>
            </a:r>
          </a:p>
        </p:txBody>
      </p:sp>
      <p:sp>
        <p:nvSpPr>
          <p:cNvPr id="16" name="Leading Question"/>
          <p:cNvSpPr txBox="1"/>
          <p:nvPr/>
        </p:nvSpPr>
        <p:spPr>
          <a:xfrm>
            <a:off x="6781800" y="6172200"/>
            <a:ext cx="1777731" cy="2462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rtlCol="0" anchor="b" anchorCtr="0">
            <a:spAutoFit/>
          </a:bodyPr>
          <a:lstStyle/>
          <a:p>
            <a:pPr algn="r">
              <a:spcBef>
                <a:spcPct val="0"/>
              </a:spcBef>
            </a:pPr>
            <a:r>
              <a:rPr lang="en-US" sz="2000" b="0" smtClean="0">
                <a:solidFill>
                  <a:schemeClr val="tx2"/>
                </a:solidFill>
                <a:effectLst/>
                <a:latin typeface="Arial Narrow"/>
              </a:rPr>
              <a:t>Execution Graph…</a:t>
            </a:r>
            <a:endParaRPr lang="en-US" sz="2000" b="0" dirty="0" smtClean="0">
              <a:solidFill>
                <a:schemeClr val="tx2"/>
              </a:solidFill>
              <a:effectLst/>
              <a:latin typeface="Arial Narrow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99235" y="3886200"/>
            <a:ext cx="3904274" cy="387798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pPr marL="342900" indent="-342900">
              <a:spcBef>
                <a:spcPts val="600"/>
              </a:spcBef>
              <a:buClr>
                <a:schemeClr val="tx2"/>
              </a:buClr>
              <a:buSzPct val="75000"/>
              <a:buFont typeface="Wingdings"/>
              <a:buChar char=""/>
            </a:pPr>
            <a:r>
              <a:rPr lang="en-US" smtClean="0">
                <a:solidFill>
                  <a:schemeClr val="tx2"/>
                </a:solidFill>
                <a:latin typeface="Calibri" pitchFamily="34" charset="0"/>
                <a:cs typeface="Calibri" pitchFamily="34" charset="0"/>
              </a:rPr>
              <a:t>Display</a:t>
            </a:r>
            <a:r>
              <a:rPr lang="en-US" b="0">
                <a:solidFill>
                  <a:schemeClr val="dk1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en-US" b="0" smtClean="0">
                <a:solidFill>
                  <a:schemeClr val="dk1"/>
                </a:solidFill>
                <a:latin typeface="Calibri" pitchFamily="34" charset="0"/>
                <a:cs typeface="Calibri" pitchFamily="34" charset="0"/>
              </a:rPr>
              <a:t>the filtered results:</a:t>
            </a:r>
            <a:endParaRPr lang="en-US" b="0" dirty="0" smtClean="0">
              <a:solidFill>
                <a:schemeClr val="dk1"/>
              </a:solidFill>
              <a:effectLst/>
              <a:latin typeface="Calibri" pitchFamily="34" charset="0"/>
              <a:cs typeface="Calibri" pitchFamily="34" charset="0"/>
            </a:endParaRPr>
          </a:p>
        </p:txBody>
      </p:sp>
      <p:pic>
        <p:nvPicPr>
          <p:cNvPr id="2050" name="Picture 2" descr="C:\Users\a0159877\AppData\Local\Temp\SNAGHTML144672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81649" y="2343149"/>
            <a:ext cx="2337893" cy="29518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4" descr="C:\Users\a0159877\AppData\Local\Temp\SNAGHTML17536c.PN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4273998"/>
            <a:ext cx="4648200" cy="1590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553156684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utoUpdateAnimBg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Using Execution Graph</a:t>
            </a:r>
            <a:endParaRPr lang="en-US" dirty="0" smtClean="0"/>
          </a:p>
        </p:txBody>
      </p:sp>
      <p:sp>
        <p:nvSpPr>
          <p:cNvPr id="15" name="TextBox 14"/>
          <p:cNvSpPr txBox="1"/>
          <p:nvPr/>
        </p:nvSpPr>
        <p:spPr>
          <a:xfrm>
            <a:off x="99235" y="609600"/>
            <a:ext cx="8790676" cy="683264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pPr marL="342900" indent="-342900">
              <a:spcBef>
                <a:spcPts val="600"/>
              </a:spcBef>
              <a:buClr>
                <a:schemeClr val="tx2"/>
              </a:buClr>
              <a:buSzPct val="75000"/>
              <a:buFont typeface="Wingdings"/>
              <a:buChar char=""/>
            </a:pPr>
            <a:r>
              <a:rPr lang="en-US" b="0" smtClean="0">
                <a:solidFill>
                  <a:schemeClr val="dk1"/>
                </a:solidFill>
                <a:latin typeface="Calibri" pitchFamily="34" charset="0"/>
                <a:cs typeface="Calibri" pitchFamily="34" charset="0"/>
              </a:rPr>
              <a:t>Execution Graph is a </a:t>
            </a:r>
            <a:r>
              <a:rPr lang="en-US" b="0" i="1" smtClean="0">
                <a:solidFill>
                  <a:schemeClr val="tx2"/>
                </a:solidFill>
                <a:latin typeface="Calibri" pitchFamily="34" charset="0"/>
                <a:cs typeface="Calibri" pitchFamily="34" charset="0"/>
              </a:rPr>
              <a:t>software logic analyzer</a:t>
            </a:r>
            <a:r>
              <a:rPr lang="en-US" b="0" smtClean="0">
                <a:solidFill>
                  <a:schemeClr val="dk1"/>
                </a:solidFill>
                <a:latin typeface="Calibri" pitchFamily="34" charset="0"/>
                <a:cs typeface="Calibri" pitchFamily="34" charset="0"/>
              </a:rPr>
              <a:t> that provides visibility</a:t>
            </a:r>
            <a:br>
              <a:rPr lang="en-US" b="0" smtClean="0">
                <a:solidFill>
                  <a:schemeClr val="dk1"/>
                </a:solidFill>
                <a:latin typeface="Calibri" pitchFamily="34" charset="0"/>
                <a:cs typeface="Calibri" pitchFamily="34" charset="0"/>
              </a:rPr>
            </a:br>
            <a:r>
              <a:rPr lang="en-US" b="0" smtClean="0">
                <a:solidFill>
                  <a:schemeClr val="dk1"/>
                </a:solidFill>
                <a:latin typeface="Calibri" pitchFamily="34" charset="0"/>
                <a:cs typeface="Calibri" pitchFamily="34" charset="0"/>
              </a:rPr>
              <a:t>into almost every event in the system – down to the nanosecond.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4900" y="4043690"/>
            <a:ext cx="4482189" cy="1723549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pPr marL="225425" indent="-225425">
              <a:spcBef>
                <a:spcPts val="600"/>
              </a:spcBef>
              <a:buClr>
                <a:schemeClr val="tx2"/>
              </a:buClr>
              <a:buSzPct val="75000"/>
              <a:buFont typeface="Wingdings"/>
              <a:buChar char=""/>
            </a:pPr>
            <a:r>
              <a:rPr lang="en-US" sz="2000" b="0" smtClean="0">
                <a:solidFill>
                  <a:schemeClr val="dk1"/>
                </a:solidFill>
                <a:latin typeface="Calibri" pitchFamily="34" charset="0"/>
                <a:cs typeface="Calibri" pitchFamily="34" charset="0"/>
              </a:rPr>
              <a:t>Results are written to a system log,</a:t>
            </a:r>
            <a:br>
              <a:rPr lang="en-US" sz="2000" b="0" smtClean="0">
                <a:solidFill>
                  <a:schemeClr val="dk1"/>
                </a:solidFill>
                <a:latin typeface="Calibri" pitchFamily="34" charset="0"/>
                <a:cs typeface="Calibri" pitchFamily="34" charset="0"/>
              </a:rPr>
            </a:br>
            <a:r>
              <a:rPr lang="en-US" sz="2000" b="0" smtClean="0">
                <a:solidFill>
                  <a:schemeClr val="dk1"/>
                </a:solidFill>
                <a:latin typeface="Calibri" pitchFamily="34" charset="0"/>
                <a:cs typeface="Calibri" pitchFamily="34" charset="0"/>
              </a:rPr>
              <a:t>then displayed on the graph.</a:t>
            </a:r>
          </a:p>
          <a:p>
            <a:pPr marL="225425" indent="-225425">
              <a:spcBef>
                <a:spcPts val="600"/>
              </a:spcBef>
              <a:buClr>
                <a:schemeClr val="tx2"/>
              </a:buClr>
              <a:buSzPct val="75000"/>
              <a:buFont typeface="Wingdings"/>
              <a:buChar char=""/>
            </a:pPr>
            <a:r>
              <a:rPr lang="en-US" sz="2000" b="0" smtClean="0">
                <a:solidFill>
                  <a:schemeClr val="dk1"/>
                </a:solidFill>
                <a:latin typeface="Calibri" pitchFamily="34" charset="0"/>
                <a:cs typeface="Calibri" pitchFamily="34" charset="0"/>
              </a:rPr>
              <a:t>To view – halt, the use:</a:t>
            </a:r>
            <a:br>
              <a:rPr lang="en-US" sz="2000" b="0" smtClean="0">
                <a:solidFill>
                  <a:schemeClr val="dk1"/>
                </a:solidFill>
                <a:latin typeface="Calibri" pitchFamily="34" charset="0"/>
                <a:cs typeface="Calibri" pitchFamily="34" charset="0"/>
              </a:rPr>
            </a:br>
            <a:r>
              <a:rPr lang="en-US" sz="2000" b="0" i="1" smtClean="0">
                <a:solidFill>
                  <a:schemeClr val="dk1"/>
                </a:solidFill>
                <a:latin typeface="Calibri" pitchFamily="34" charset="0"/>
                <a:cs typeface="Calibri" pitchFamily="34" charset="0"/>
              </a:rPr>
              <a:t>Tools </a:t>
            </a:r>
            <a:r>
              <a:rPr lang="en-US" sz="2000" b="0" i="1">
                <a:solidFill>
                  <a:schemeClr val="dk1"/>
                </a:solidFill>
                <a:latin typeface="Calibri" pitchFamily="34" charset="0"/>
                <a:cs typeface="Calibri" pitchFamily="34" charset="0"/>
              </a:rPr>
              <a:t>→ RTOS Analyzer → </a:t>
            </a:r>
            <a:r>
              <a:rPr lang="en-US" sz="2000" b="0" i="1" smtClean="0">
                <a:solidFill>
                  <a:schemeClr val="dk1"/>
                </a:solidFill>
                <a:latin typeface="Calibri" pitchFamily="34" charset="0"/>
                <a:cs typeface="Calibri" pitchFamily="34" charset="0"/>
              </a:rPr>
              <a:t>Exec Analysis</a:t>
            </a:r>
          </a:p>
          <a:p>
            <a:pPr marL="225425" indent="-225425">
              <a:spcBef>
                <a:spcPts val="600"/>
              </a:spcBef>
              <a:buClr>
                <a:schemeClr val="tx2"/>
              </a:buClr>
              <a:buSzPct val="75000"/>
              <a:buFont typeface="Wingdings"/>
              <a:buChar char=""/>
            </a:pPr>
            <a:r>
              <a:rPr lang="en-US" sz="2000" b="0" smtClean="0">
                <a:solidFill>
                  <a:schemeClr val="dk1"/>
                </a:solidFill>
                <a:latin typeface="Calibri" pitchFamily="34" charset="0"/>
                <a:cs typeface="Calibri" pitchFamily="34" charset="0"/>
              </a:rPr>
              <a:t>Users can also </a:t>
            </a:r>
            <a:r>
              <a:rPr lang="en-US" sz="2000" b="0" smtClean="0">
                <a:solidFill>
                  <a:schemeClr val="tx2"/>
                </a:solidFill>
                <a:latin typeface="Calibri" pitchFamily="34" charset="0"/>
                <a:cs typeface="Calibri" pitchFamily="34" charset="0"/>
              </a:rPr>
              <a:t>BENCHMARK</a:t>
            </a:r>
            <a:r>
              <a:rPr lang="en-US" sz="2000" b="0" smtClean="0">
                <a:solidFill>
                  <a:schemeClr val="dk1"/>
                </a:solidFill>
                <a:latin typeface="Calibri" pitchFamily="34" charset="0"/>
                <a:cs typeface="Calibri" pitchFamily="34" charset="0"/>
              </a:rPr>
              <a:t> using</a:t>
            </a:r>
            <a:br>
              <a:rPr lang="en-US" sz="2000" b="0" smtClean="0">
                <a:solidFill>
                  <a:schemeClr val="dk1"/>
                </a:solidFill>
                <a:latin typeface="Calibri" pitchFamily="34" charset="0"/>
                <a:cs typeface="Calibri" pitchFamily="34" charset="0"/>
              </a:rPr>
            </a:br>
            <a:r>
              <a:rPr lang="en-US" sz="2000" b="0" smtClean="0">
                <a:solidFill>
                  <a:schemeClr val="dk1"/>
                </a:solidFill>
                <a:latin typeface="Calibri" pitchFamily="34" charset="0"/>
                <a:cs typeface="Calibri" pitchFamily="34" charset="0"/>
              </a:rPr>
              <a:t>markers on the graph</a:t>
            </a:r>
          </a:p>
        </p:txBody>
      </p:sp>
      <p:sp>
        <p:nvSpPr>
          <p:cNvPr id="30" name="Leading Question"/>
          <p:cNvSpPr txBox="1"/>
          <p:nvPr/>
        </p:nvSpPr>
        <p:spPr>
          <a:xfrm>
            <a:off x="6345915" y="6552767"/>
            <a:ext cx="2338717" cy="2215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rtlCol="0" anchor="b" anchorCtr="0">
            <a:spAutoFit/>
          </a:bodyPr>
          <a:lstStyle/>
          <a:p>
            <a:pPr algn="r">
              <a:spcBef>
                <a:spcPct val="0"/>
              </a:spcBef>
            </a:pPr>
            <a:r>
              <a:rPr lang="en-US" sz="1800" b="0" smtClean="0">
                <a:solidFill>
                  <a:schemeClr val="tx2"/>
                </a:solidFill>
                <a:effectLst/>
                <a:latin typeface="Arial Narrow"/>
              </a:rPr>
              <a:t>CPU and Thread Loading…</a:t>
            </a:r>
            <a:endParaRPr lang="en-US" sz="1800" b="0" dirty="0" smtClean="0">
              <a:solidFill>
                <a:schemeClr val="tx2"/>
              </a:solidFill>
              <a:effectLst/>
              <a:latin typeface="Arial Narrow"/>
            </a:endParaRPr>
          </a:p>
        </p:txBody>
      </p:sp>
      <p:pic>
        <p:nvPicPr>
          <p:cNvPr id="16" name="Animated Logo" descr="tilogo_color_twoline.pn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50800" y="6477000"/>
            <a:ext cx="1438537" cy="347443"/>
          </a:xfrm>
          <a:prstGeom prst="rect">
            <a:avLst/>
          </a:prstGeom>
        </p:spPr>
      </p:pic>
      <p:pic>
        <p:nvPicPr>
          <p:cNvPr id="2050" name="Picture 2" descr="C:\Users\a0159877\AppData\Local\Temp\SNAGHTML2bf363.PN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4858" y="1359716"/>
            <a:ext cx="6603082" cy="25264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TextBox 20"/>
          <p:cNvSpPr txBox="1"/>
          <p:nvPr/>
        </p:nvSpPr>
        <p:spPr>
          <a:xfrm>
            <a:off x="116775" y="2995550"/>
            <a:ext cx="1874325" cy="292925"/>
          </a:xfrm>
          <a:prstGeom prst="rect">
            <a:avLst/>
          </a:prstGeom>
          <a:solidFill>
            <a:srgbClr val="FFFF66"/>
          </a:solidFill>
          <a:ln>
            <a:solidFill>
              <a:schemeClr val="tx1"/>
            </a:solidFill>
          </a:ln>
        </p:spPr>
        <p:txBody>
          <a:bodyPr wrap="square" tIns="64008" rtlCol="0" anchor="ctr" anchorCtr="1">
            <a:noAutofit/>
          </a:bodyPr>
          <a:lstStyle/>
          <a:p>
            <a:pPr algn="ctr"/>
            <a:r>
              <a:rPr lang="en-US" sz="1600" b="0" dirty="0" smtClean="0">
                <a:solidFill>
                  <a:srgbClr val="000000"/>
                </a:solidFill>
                <a:latin typeface="Arial Narrow" pitchFamily="34" charset="0"/>
              </a:rPr>
              <a:t>Time </a:t>
            </a:r>
            <a:r>
              <a:rPr lang="en-US" sz="1600" b="0" smtClean="0">
                <a:solidFill>
                  <a:srgbClr val="000000"/>
                </a:solidFill>
                <a:latin typeface="Arial Narrow" pitchFamily="34" charset="0"/>
              </a:rPr>
              <a:t>basis (ns to ms</a:t>
            </a:r>
            <a:r>
              <a:rPr lang="en-US" sz="1600" b="0" dirty="0" smtClean="0">
                <a:solidFill>
                  <a:srgbClr val="000000"/>
                </a:solidFill>
                <a:latin typeface="Arial Narrow" pitchFamily="34" charset="0"/>
              </a:rPr>
              <a:t>)</a:t>
            </a:r>
          </a:p>
        </p:txBody>
      </p:sp>
      <p:cxnSp>
        <p:nvCxnSpPr>
          <p:cNvPr id="22" name="Straight Arrow Connector 21"/>
          <p:cNvCxnSpPr>
            <a:stCxn id="21" idx="3"/>
          </p:cNvCxnSpPr>
          <p:nvPr/>
        </p:nvCxnSpPr>
        <p:spPr bwMode="auto">
          <a:xfrm>
            <a:off x="1991100" y="3142013"/>
            <a:ext cx="979711" cy="54428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sm" len="sm"/>
            <a:tailEnd type="arrow"/>
          </a:ln>
          <a:effectLst/>
        </p:spPr>
      </p:cxnSp>
      <p:pic>
        <p:nvPicPr>
          <p:cNvPr id="2052" name="Picture 4" descr="C:\Users\a0159877\AppData\Local\Temp\SNAGHTML2e361d.PNG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99846" y="3593979"/>
            <a:ext cx="4115504" cy="28355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4" name="Straight Arrow Connector 3"/>
          <p:cNvCxnSpPr/>
          <p:nvPr/>
        </p:nvCxnSpPr>
        <p:spPr bwMode="auto">
          <a:xfrm>
            <a:off x="3966399" y="5410200"/>
            <a:ext cx="3548874" cy="194628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sm" len="sm"/>
            <a:tailEnd type="arrow"/>
          </a:ln>
          <a:effectLst/>
        </p:spPr>
      </p:cxnSp>
      <p:sp>
        <p:nvSpPr>
          <p:cNvPr id="3" name="Rounded Rectangle 2"/>
          <p:cNvSpPr/>
          <p:nvPr/>
        </p:nvSpPr>
        <p:spPr bwMode="auto">
          <a:xfrm>
            <a:off x="5867400" y="3810000"/>
            <a:ext cx="685800" cy="230613"/>
          </a:xfrm>
          <a:prstGeom prst="roundRect">
            <a:avLst/>
          </a:prstGeom>
          <a:noFill/>
          <a:ln w="28575" cap="flat" cmpd="sng" algn="ctr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800" b="1" i="0" u="none" strike="noStrike" cap="none" normalizeH="0" baseline="0" dirty="0" smtClean="0">
              <a:ln>
                <a:noFill/>
              </a:ln>
              <a:solidFill>
                <a:schemeClr val="dk1"/>
              </a:solidFill>
              <a:effectLst/>
              <a:latin typeface="Arial Narrow" pitchFamily="34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835675946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50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 autoUpdateAnimBg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3" descr="C:\Users\a0322690\Documents\Training\RTA_SystemAnalyzer\screenshots\ccsv6_tivalaunchpad\taskload_summary1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2347" y="2788524"/>
            <a:ext cx="5419853" cy="2509854"/>
          </a:xfrm>
          <a:prstGeom prst="rect">
            <a:avLst/>
          </a:prstGeom>
          <a:noFill/>
          <a:ln w="19050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Using CPU/Thread Loading</a:t>
            </a:r>
            <a:endParaRPr lang="en-US" dirty="0" smtClean="0"/>
          </a:p>
        </p:txBody>
      </p:sp>
      <p:sp>
        <p:nvSpPr>
          <p:cNvPr id="16" name="TextBox 15"/>
          <p:cNvSpPr txBox="1"/>
          <p:nvPr/>
        </p:nvSpPr>
        <p:spPr>
          <a:xfrm>
            <a:off x="304800" y="685800"/>
            <a:ext cx="6774547" cy="1188018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pPr marL="342900" indent="-342900">
              <a:spcBef>
                <a:spcPts val="1200"/>
              </a:spcBef>
              <a:buClr>
                <a:schemeClr val="tx2"/>
              </a:buClr>
              <a:buSzPct val="75000"/>
              <a:buFont typeface="Wingdings"/>
              <a:buChar char=""/>
            </a:pPr>
            <a:r>
              <a:rPr lang="en-US" b="0" smtClean="0">
                <a:solidFill>
                  <a:schemeClr val="dk1"/>
                </a:solidFill>
                <a:latin typeface="Calibri" pitchFamily="34" charset="0"/>
                <a:cs typeface="Calibri" pitchFamily="34" charset="0"/>
              </a:rPr>
              <a:t>Observing load can be done in two different ways:</a:t>
            </a:r>
          </a:p>
          <a:p>
            <a:pPr marL="627063" indent="-222250">
              <a:spcBef>
                <a:spcPts val="1200"/>
              </a:spcBef>
              <a:buSzPct val="100000"/>
              <a:buFont typeface="Arial" pitchFamily="34" charset="0"/>
              <a:buChar char="•"/>
            </a:pPr>
            <a:r>
              <a:rPr lang="en-US" sz="2000" b="0" i="1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000" b="0" i="1" smtClean="0">
                <a:solidFill>
                  <a:schemeClr val="tx2"/>
                </a:solidFill>
                <a:latin typeface="Calibri" pitchFamily="34" charset="0"/>
                <a:cs typeface="Calibri" pitchFamily="34" charset="0"/>
              </a:rPr>
              <a:t>CPU Load</a:t>
            </a:r>
            <a:r>
              <a:rPr lang="en-US" sz="2000" b="0" smtClean="0">
                <a:solidFill>
                  <a:schemeClr val="dk1"/>
                </a:solidFill>
                <a:latin typeface="Calibri" pitchFamily="34" charset="0"/>
                <a:cs typeface="Calibri" pitchFamily="34" charset="0"/>
              </a:rPr>
              <a:t> – calculates time NOT spent in the Idle thread</a:t>
            </a:r>
          </a:p>
          <a:p>
            <a:pPr marL="627063" indent="-222250">
              <a:spcBef>
                <a:spcPts val="1200"/>
              </a:spcBef>
              <a:buSzPct val="100000"/>
              <a:buFont typeface="Arial" pitchFamily="34" charset="0"/>
              <a:buChar char="•"/>
            </a:pPr>
            <a:r>
              <a:rPr lang="en-US" sz="2000" b="0" i="1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000" b="0" i="1" smtClean="0">
                <a:solidFill>
                  <a:schemeClr val="tx2"/>
                </a:solidFill>
                <a:latin typeface="Calibri" pitchFamily="34" charset="0"/>
                <a:cs typeface="Calibri" pitchFamily="34" charset="0"/>
              </a:rPr>
              <a:t>Thread Load</a:t>
            </a:r>
            <a:r>
              <a:rPr lang="en-US" sz="2000" b="0" smtClean="0">
                <a:solidFill>
                  <a:schemeClr val="dk1"/>
                </a:solidFill>
                <a:latin typeface="Calibri" pitchFamily="34" charset="0"/>
                <a:cs typeface="Calibri" pitchFamily="34" charset="0"/>
              </a:rPr>
              <a:t> – displays loading of individual threads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4800" y="1951372"/>
            <a:ext cx="8935651" cy="837152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pPr marL="342900" indent="-342900">
              <a:spcBef>
                <a:spcPts val="1200"/>
              </a:spcBef>
              <a:buClr>
                <a:schemeClr val="tx2"/>
              </a:buClr>
              <a:buSzPct val="75000"/>
              <a:buFont typeface="Wingdings"/>
              <a:buChar char=""/>
            </a:pPr>
            <a:r>
              <a:rPr lang="en-US" b="0" smtClean="0">
                <a:solidFill>
                  <a:schemeClr val="dk1"/>
                </a:solidFill>
                <a:latin typeface="Calibri" pitchFamily="34" charset="0"/>
                <a:cs typeface="Calibri" pitchFamily="34" charset="0"/>
              </a:rPr>
              <a:t>To use, first configure buffer size in </a:t>
            </a:r>
            <a:r>
              <a:rPr lang="en-US" b="0" i="1" smtClean="0">
                <a:solidFill>
                  <a:schemeClr val="dk1"/>
                </a:solidFill>
                <a:latin typeface="Calibri" pitchFamily="34" charset="0"/>
                <a:cs typeface="Calibri" pitchFamily="34" charset="0"/>
              </a:rPr>
              <a:t>LoggingSetup</a:t>
            </a:r>
          </a:p>
          <a:p>
            <a:pPr marL="342900" indent="-342900">
              <a:spcBef>
                <a:spcPts val="1200"/>
              </a:spcBef>
              <a:buClr>
                <a:schemeClr val="tx2"/>
              </a:buClr>
              <a:buSzPct val="75000"/>
              <a:buFont typeface="Wingdings"/>
              <a:buChar char=""/>
            </a:pPr>
            <a:r>
              <a:rPr lang="en-US" b="0" smtClean="0">
                <a:solidFill>
                  <a:schemeClr val="dk1"/>
                </a:solidFill>
                <a:latin typeface="Calibri" pitchFamily="34" charset="0"/>
                <a:cs typeface="Calibri" pitchFamily="34" charset="0"/>
              </a:rPr>
              <a:t>Halt, use </a:t>
            </a:r>
            <a:r>
              <a:rPr lang="en-US" b="0" i="1">
                <a:solidFill>
                  <a:schemeClr val="dk1"/>
                </a:solidFill>
                <a:latin typeface="Calibri" pitchFamily="34" charset="0"/>
                <a:cs typeface="Calibri" pitchFamily="34" charset="0"/>
              </a:rPr>
              <a:t>Tools → RTOS Analyzer → </a:t>
            </a:r>
            <a:r>
              <a:rPr lang="en-US" b="0" i="1" smtClean="0">
                <a:solidFill>
                  <a:schemeClr val="dk1"/>
                </a:solidFill>
                <a:latin typeface="Calibri" pitchFamily="34" charset="0"/>
                <a:cs typeface="Calibri" pitchFamily="34" charset="0"/>
              </a:rPr>
              <a:t>Load Analysis</a:t>
            </a:r>
            <a:r>
              <a:rPr lang="en-US" b="0" smtClean="0">
                <a:solidFill>
                  <a:schemeClr val="dk1"/>
                </a:solidFill>
                <a:latin typeface="Calibri" pitchFamily="34" charset="0"/>
                <a:cs typeface="Calibri" pitchFamily="34" charset="0"/>
              </a:rPr>
              <a:t> to see the results:</a:t>
            </a:r>
            <a:endParaRPr lang="en-US" sz="2000" b="0" smtClean="0">
              <a:solidFill>
                <a:schemeClr val="dk1"/>
              </a:solidFill>
              <a:latin typeface="Calibri" pitchFamily="34" charset="0"/>
              <a:cs typeface="Calibri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914400" y="5355266"/>
            <a:ext cx="3685496" cy="541046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r>
              <a:rPr lang="en-US" sz="1800" b="0" smtClean="0">
                <a:solidFill>
                  <a:schemeClr val="dk1"/>
                </a:solidFill>
                <a:effectLst/>
                <a:latin typeface="Calibri" pitchFamily="34" charset="0"/>
                <a:cs typeface="Calibri" pitchFamily="34" charset="0"/>
              </a:rPr>
              <a:t>Note: you can also calculate the load</a:t>
            </a:r>
            <a:br>
              <a:rPr lang="en-US" sz="1800" b="0" smtClean="0">
                <a:solidFill>
                  <a:schemeClr val="dk1"/>
                </a:solidFill>
                <a:effectLst/>
                <a:latin typeface="Calibri" pitchFamily="34" charset="0"/>
                <a:cs typeface="Calibri" pitchFamily="34" charset="0"/>
              </a:rPr>
            </a:br>
            <a:r>
              <a:rPr lang="en-US" sz="1800" b="0" smtClean="0">
                <a:solidFill>
                  <a:schemeClr val="dk1"/>
                </a:solidFill>
                <a:effectLst/>
                <a:latin typeface="Calibri" pitchFamily="34" charset="0"/>
                <a:cs typeface="Calibri" pitchFamily="34" charset="0"/>
              </a:rPr>
              <a:t>dynamically using:</a:t>
            </a:r>
            <a:endParaRPr lang="en-US" sz="1800" b="0" dirty="0" smtClean="0">
              <a:solidFill>
                <a:schemeClr val="dk1"/>
              </a:solidFill>
              <a:effectLst/>
              <a:latin typeface="Calibri" pitchFamily="34" charset="0"/>
              <a:cs typeface="Calibri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43000" y="5956680"/>
            <a:ext cx="2666114" cy="32778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none" rtlCol="0" anchor="ctr" anchorCtr="0">
            <a:spAutoFit/>
          </a:bodyPr>
          <a:lstStyle/>
          <a:p>
            <a:r>
              <a:rPr lang="en-US" sz="1800" b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Load_getCPULoad</a:t>
            </a:r>
            <a:r>
              <a:rPr lang="en-US" sz="1800" b="0" smtClean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();</a:t>
            </a:r>
            <a:endParaRPr lang="en-US" sz="1800" b="0">
              <a:solidFill>
                <a:srgbClr val="000000"/>
              </a:solidFill>
              <a:latin typeface="Courier New" pitchFamily="49" charset="0"/>
              <a:cs typeface="Courier New" pitchFamily="49" charset="0"/>
            </a:endParaRPr>
          </a:p>
        </p:txBody>
      </p:sp>
      <p:pic>
        <p:nvPicPr>
          <p:cNvPr id="12" name="Animated Logo" descr="tilogo_color_twoline.png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50800" y="6477000"/>
            <a:ext cx="1438537" cy="347443"/>
          </a:xfrm>
          <a:prstGeom prst="rect">
            <a:avLst/>
          </a:prstGeom>
        </p:spPr>
      </p:pic>
      <p:pic>
        <p:nvPicPr>
          <p:cNvPr id="3074" name="Picture 2" descr="C:\Users\a0159877\AppData\Local\Temp\SNAGHTML1f0bd3.PNG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95875" y="3733800"/>
            <a:ext cx="3971925" cy="28479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120745115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6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9704" name="Rectangle 8"/>
          <p:cNvSpPr>
            <a:spLocks noChangeArrowheads="1"/>
          </p:cNvSpPr>
          <p:nvPr/>
        </p:nvSpPr>
        <p:spPr bwMode="auto">
          <a:xfrm>
            <a:off x="547048" y="1524000"/>
            <a:ext cx="5105400" cy="3810000"/>
          </a:xfrm>
          <a:prstGeom prst="rect">
            <a:avLst/>
          </a:prstGeom>
          <a:solidFill>
            <a:srgbClr val="92D050"/>
          </a:solidFill>
          <a:ln w="19050">
            <a:solidFill>
              <a:schemeClr val="tx1"/>
            </a:solidFill>
            <a:miter lim="800000"/>
            <a:headEnd type="none" w="sm" len="sm"/>
            <a:tailEnd type="none" w="sm" len="sm"/>
          </a:ln>
          <a:effectLst>
            <a:outerShdw blurRad="50800" dist="88900" dir="2700000" algn="tl" rotWithShape="0">
              <a:prstClr val="black">
                <a:alpha val="40000"/>
              </a:prstClr>
            </a:outerShdw>
          </a:effectLst>
        </p:spPr>
        <p:txBody>
          <a:bodyPr wrap="none" anchor="ctr"/>
          <a:lstStyle/>
          <a:p>
            <a:pPr>
              <a:defRPr/>
            </a:pPr>
            <a:endParaRPr lang="en-US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72706" name="Picture 2" descr="C:\Documents and Settings\a0159877\Desktop\250px-Operating_system_placement.svg.png"/>
          <p:cNvPicPr>
            <a:picLocks noChangeAspect="1" noChangeArrowheads="1"/>
          </p:cNvPicPr>
          <p:nvPr/>
        </p:nvPicPr>
        <p:blipFill>
          <a:blip r:embed="rId9" cstate="print"/>
          <a:srcRect/>
          <a:stretch>
            <a:fillRect/>
          </a:stretch>
        </p:blipFill>
        <p:spPr bwMode="auto">
          <a:xfrm>
            <a:off x="6160824" y="1316817"/>
            <a:ext cx="2819400" cy="4172713"/>
          </a:xfrm>
          <a:prstGeom prst="rect">
            <a:avLst/>
          </a:prstGeom>
          <a:noFill/>
        </p:spPr>
      </p:pic>
      <p:sp>
        <p:nvSpPr>
          <p:cNvPr id="4198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>
                <a:solidFill>
                  <a:schemeClr val="tx1"/>
                </a:solidFill>
              </a:rPr>
              <a:t>Outline</a:t>
            </a:r>
          </a:p>
        </p:txBody>
      </p:sp>
      <p:sp>
        <p:nvSpPr>
          <p:cNvPr id="9" name="Text Box 4">
            <a:hlinkClick r:id="rId10" action="ppaction://hlinksldjump"/>
          </p:cNvPr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552450" y="1630538"/>
            <a:ext cx="5099998" cy="480131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square" tIns="45720" bIns="45720" anchor="ctr" anchorCtr="0">
            <a:spAutoFit/>
          </a:bodyPr>
          <a:lstStyle/>
          <a:p>
            <a:pPr marL="342900" indent="-342900">
              <a:lnSpc>
                <a:spcPct val="90000"/>
              </a:lnSpc>
              <a:spcBef>
                <a:spcPct val="0"/>
              </a:spcBef>
              <a:buClr>
                <a:srgbClr val="0066FF"/>
              </a:buClr>
              <a:buSzPct val="75000"/>
              <a:buFont typeface="Wingdings" pitchFamily="2" charset="2"/>
              <a:buChar char=""/>
            </a:pPr>
            <a:r>
              <a:rPr lang="en-US" sz="2800" smtClean="0">
                <a:solidFill>
                  <a:srgbClr val="000000"/>
                </a:solidFill>
              </a:rPr>
              <a:t>Creating A New Project</a:t>
            </a:r>
            <a:endParaRPr lang="en-US" sz="2800" dirty="0">
              <a:solidFill>
                <a:srgbClr val="000000"/>
              </a:solidFill>
            </a:endParaRPr>
          </a:p>
        </p:txBody>
      </p:sp>
      <p:sp>
        <p:nvSpPr>
          <p:cNvPr id="10" name="Text Box 4">
            <a:hlinkClick r:id="rId11" action="ppaction://hlinksldjump"/>
          </p:cNvPr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552450" y="2209221"/>
            <a:ext cx="5099998" cy="480131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square" tIns="45720" bIns="45720" anchor="ctr" anchorCtr="0">
            <a:spAutoFit/>
          </a:bodyPr>
          <a:lstStyle/>
          <a:p>
            <a:pPr marL="342900" indent="-342900">
              <a:lnSpc>
                <a:spcPct val="90000"/>
              </a:lnSpc>
              <a:spcBef>
                <a:spcPct val="0"/>
              </a:spcBef>
              <a:buClr>
                <a:srgbClr val="0066FF"/>
              </a:buClr>
              <a:buSzPct val="75000"/>
              <a:buFont typeface="Wingdings" pitchFamily="2" charset="2"/>
              <a:buChar char=""/>
            </a:pPr>
            <a:r>
              <a:rPr lang="en-US" sz="2800" smtClean="0">
                <a:solidFill>
                  <a:srgbClr val="000000"/>
                </a:solidFill>
              </a:rPr>
              <a:t>TI-RTOS Config (.CFG)</a:t>
            </a:r>
            <a:endParaRPr lang="en-US" sz="2800" dirty="0">
              <a:solidFill>
                <a:srgbClr val="000000"/>
              </a:solidFill>
            </a:endParaRPr>
          </a:p>
        </p:txBody>
      </p:sp>
      <p:sp>
        <p:nvSpPr>
          <p:cNvPr id="11" name="Text Box 4">
            <a:hlinkClick r:id="rId12" action="ppaction://hlinksldjump"/>
          </p:cNvPr>
          <p:cNvSpPr txBox="1"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552450" y="2787904"/>
            <a:ext cx="5099998" cy="480131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square" tIns="45720" bIns="45720" anchor="ctr" anchorCtr="0">
            <a:spAutoFit/>
          </a:bodyPr>
          <a:lstStyle/>
          <a:p>
            <a:pPr marL="342900" indent="-342900">
              <a:lnSpc>
                <a:spcPct val="90000"/>
              </a:lnSpc>
              <a:spcBef>
                <a:spcPct val="0"/>
              </a:spcBef>
              <a:buClr>
                <a:srgbClr val="0066FF"/>
              </a:buClr>
              <a:buSzPct val="75000"/>
              <a:buFont typeface="Wingdings" pitchFamily="2" charset="2"/>
              <a:buChar char=""/>
            </a:pPr>
            <a:r>
              <a:rPr lang="en-US" sz="2800" smtClean="0">
                <a:solidFill>
                  <a:srgbClr val="000000"/>
                </a:solidFill>
              </a:rPr>
              <a:t>System Timeline</a:t>
            </a:r>
            <a:endParaRPr lang="en-US" sz="2800" dirty="0">
              <a:solidFill>
                <a:srgbClr val="000000"/>
              </a:solidFill>
            </a:endParaRPr>
          </a:p>
        </p:txBody>
      </p:sp>
      <p:sp>
        <p:nvSpPr>
          <p:cNvPr id="12" name="Text Box 4">
            <a:hlinkClick r:id="rId13" action="ppaction://hlinksldjump"/>
          </p:cNvPr>
          <p:cNvSpPr txBox="1"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552450" y="3366587"/>
            <a:ext cx="5099998" cy="480131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square" tIns="45720" bIns="45720" anchor="ctr" anchorCtr="0">
            <a:spAutoFit/>
          </a:bodyPr>
          <a:lstStyle/>
          <a:p>
            <a:pPr marL="342900" indent="-342900">
              <a:lnSpc>
                <a:spcPct val="90000"/>
              </a:lnSpc>
              <a:spcBef>
                <a:spcPct val="0"/>
              </a:spcBef>
              <a:buClr>
                <a:srgbClr val="0066FF"/>
              </a:buClr>
              <a:buSzPct val="75000"/>
              <a:buFont typeface="Wingdings" pitchFamily="2" charset="2"/>
              <a:buChar char=""/>
            </a:pPr>
            <a:r>
              <a:rPr lang="en-US" sz="2800" smtClean="0">
                <a:solidFill>
                  <a:srgbClr val="000000"/>
                </a:solidFill>
              </a:rPr>
              <a:t>UIA &amp; RTOS Analyzer</a:t>
            </a:r>
            <a:endParaRPr lang="en-US" sz="2800" dirty="0">
              <a:solidFill>
                <a:srgbClr val="000000"/>
              </a:solidFill>
            </a:endParaRPr>
          </a:p>
        </p:txBody>
      </p:sp>
      <p:sp>
        <p:nvSpPr>
          <p:cNvPr id="13" name="Text Box 3">
            <a:hlinkClick r:id="rId14" action="ppaction://hlinksldjump"/>
          </p:cNvPr>
          <p:cNvSpPr txBox="1"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547048" y="3945270"/>
            <a:ext cx="5105400" cy="480131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square" tIns="45720" bIns="45720" anchor="ctr" anchorCtr="0">
            <a:spAutoFit/>
          </a:bodyPr>
          <a:lstStyle/>
          <a:p>
            <a:pPr marL="342900" indent="-342900">
              <a:lnSpc>
                <a:spcPct val="90000"/>
              </a:lnSpc>
              <a:spcBef>
                <a:spcPct val="0"/>
              </a:spcBef>
              <a:buClr>
                <a:srgbClr val="0066FF"/>
              </a:buClr>
              <a:buSzPct val="75000"/>
              <a:buFont typeface="Wingdings" pitchFamily="2" charset="2"/>
              <a:buChar char=""/>
            </a:pPr>
            <a:r>
              <a:rPr lang="en-US" sz="2800" smtClean="0">
                <a:solidFill>
                  <a:srgbClr val="000000"/>
                </a:solidFill>
              </a:rPr>
              <a:t>Version Control</a:t>
            </a:r>
            <a:endParaRPr lang="en-US" sz="2800" dirty="0">
              <a:solidFill>
                <a:srgbClr val="000000"/>
              </a:solidFill>
            </a:endParaRPr>
          </a:p>
        </p:txBody>
      </p:sp>
      <p:sp>
        <p:nvSpPr>
          <p:cNvPr id="14" name="Text Box 4">
            <a:hlinkClick r:id="rId15" action="ppaction://hlinksldjump"/>
          </p:cNvPr>
          <p:cNvSpPr txBox="1">
            <a:spLocks noChangeArrowheads="1"/>
          </p:cNvSpPr>
          <p:nvPr>
            <p:custDataLst>
              <p:tags r:id="rId7"/>
            </p:custDataLst>
          </p:nvPr>
        </p:nvSpPr>
        <p:spPr bwMode="auto">
          <a:xfrm>
            <a:off x="552450" y="4523953"/>
            <a:ext cx="5099998" cy="480131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square" tIns="45720" bIns="45720" anchor="ctr" anchorCtr="0">
            <a:spAutoFit/>
          </a:bodyPr>
          <a:lstStyle/>
          <a:p>
            <a:pPr marL="342900" indent="-342900">
              <a:lnSpc>
                <a:spcPct val="90000"/>
              </a:lnSpc>
              <a:spcBef>
                <a:spcPct val="0"/>
              </a:spcBef>
              <a:buClr>
                <a:srgbClr val="0066FF"/>
              </a:buClr>
              <a:buSzPct val="75000"/>
              <a:buFont typeface="Wingdings" pitchFamily="2" charset="2"/>
              <a:buChar char=""/>
            </a:pPr>
            <a:r>
              <a:rPr lang="en-US" sz="2800" smtClean="0">
                <a:solidFill>
                  <a:srgbClr val="000000"/>
                </a:solidFill>
              </a:rPr>
              <a:t>Lab</a:t>
            </a:r>
            <a:endParaRPr lang="en-US" sz="2800" dirty="0">
              <a:solidFill>
                <a:srgbClr val="000000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55619486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 smtClean="0"/>
              <a:t>Suggested Files for Version Control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" y="571448"/>
            <a:ext cx="5949770" cy="944233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pPr marL="342900" indent="-342900">
              <a:spcBef>
                <a:spcPts val="1200"/>
              </a:spcBef>
              <a:buClr>
                <a:schemeClr val="tx2"/>
              </a:buClr>
              <a:buSzPct val="75000"/>
              <a:buFont typeface="Wingdings"/>
              <a:buChar char=""/>
            </a:pPr>
            <a:r>
              <a:rPr lang="en-US" sz="2800" b="0" dirty="0" smtClean="0">
                <a:solidFill>
                  <a:srgbClr val="000000"/>
                </a:solidFill>
                <a:latin typeface="Calibri" pitchFamily="34" charset="0"/>
                <a:cs typeface="Calibri" pitchFamily="34" charset="0"/>
              </a:rPr>
              <a:t>What you “check in” is up to you.</a:t>
            </a:r>
          </a:p>
          <a:p>
            <a:pPr marL="342900" indent="-342900">
              <a:spcBef>
                <a:spcPts val="1200"/>
              </a:spcBef>
              <a:buClr>
                <a:schemeClr val="tx2"/>
              </a:buClr>
              <a:buSzPct val="75000"/>
              <a:buFont typeface="Wingdings"/>
              <a:buChar char=""/>
            </a:pPr>
            <a:r>
              <a:rPr lang="en-US" sz="2800" b="0" dirty="0" smtClean="0">
                <a:solidFill>
                  <a:srgbClr val="000000"/>
                </a:solidFill>
                <a:latin typeface="Calibri" pitchFamily="34" charset="0"/>
                <a:cs typeface="Calibri" pitchFamily="34" charset="0"/>
              </a:rPr>
              <a:t>However, here are some suggestions: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0696" y="1545608"/>
            <a:ext cx="1981633" cy="387798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r>
              <a:rPr lang="en-US" b="0" dirty="0" smtClean="0">
                <a:solidFill>
                  <a:srgbClr val="FF0000"/>
                </a:solidFill>
              </a:rPr>
              <a:t>Source Files: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0696" y="3675022"/>
            <a:ext cx="3265638" cy="387798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r>
              <a:rPr lang="en-US" b="0" dirty="0" smtClean="0">
                <a:solidFill>
                  <a:srgbClr val="FF0000"/>
                </a:solidFill>
              </a:rPr>
              <a:t>Eclipse </a:t>
            </a:r>
            <a:r>
              <a:rPr lang="en-US" b="0" smtClean="0">
                <a:solidFill>
                  <a:srgbClr val="FF0000"/>
                </a:solidFill>
              </a:rPr>
              <a:t>(CCSv6) </a:t>
            </a:r>
            <a:r>
              <a:rPr lang="en-US" b="0" dirty="0" smtClean="0">
                <a:solidFill>
                  <a:srgbClr val="FF0000"/>
                </a:solidFill>
              </a:rPr>
              <a:t>Files: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1865" y="1893624"/>
            <a:ext cx="2942087" cy="1538883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 anchor="ctr" anchorCtr="0">
            <a:spAutoFit/>
          </a:bodyPr>
          <a:lstStyle/>
          <a:p>
            <a:pPr marL="177800" indent="-177800">
              <a:buFont typeface="Arial" pitchFamily="34" charset="0"/>
              <a:buChar char="•"/>
            </a:pPr>
            <a:r>
              <a:rPr lang="en-US" sz="2000" b="0" dirty="0" smtClean="0">
                <a:solidFill>
                  <a:srgbClr val="000000"/>
                </a:solidFill>
              </a:rPr>
              <a:t>*.c, *.h</a:t>
            </a:r>
          </a:p>
          <a:p>
            <a:pPr marL="177800" indent="-177800">
              <a:buFont typeface="Arial" pitchFamily="34" charset="0"/>
              <a:buChar char="•"/>
            </a:pPr>
            <a:r>
              <a:rPr lang="en-US" sz="2000" b="0" dirty="0" smtClean="0">
                <a:solidFill>
                  <a:srgbClr val="000000"/>
                </a:solidFill>
              </a:rPr>
              <a:t>.</a:t>
            </a:r>
            <a:r>
              <a:rPr lang="en-US" sz="2000" b="0" dirty="0" err="1" smtClean="0">
                <a:solidFill>
                  <a:srgbClr val="000000"/>
                </a:solidFill>
              </a:rPr>
              <a:t>cfg</a:t>
            </a:r>
            <a:r>
              <a:rPr lang="en-US" sz="2000" b="0" dirty="0" smtClean="0">
                <a:solidFill>
                  <a:srgbClr val="000000"/>
                </a:solidFill>
              </a:rPr>
              <a:t> </a:t>
            </a:r>
            <a:r>
              <a:rPr lang="en-US" sz="1800" b="0" i="1" dirty="0" smtClean="0">
                <a:solidFill>
                  <a:srgbClr val="000000"/>
                </a:solidFill>
                <a:latin typeface="Arial Narrow" pitchFamily="34" charset="0"/>
              </a:rPr>
              <a:t>(SYS/BIOS </a:t>
            </a:r>
            <a:r>
              <a:rPr lang="en-US" sz="1800" b="0" i="1" dirty="0" err="1" smtClean="0">
                <a:solidFill>
                  <a:srgbClr val="000000"/>
                </a:solidFill>
                <a:latin typeface="Arial Narrow" pitchFamily="34" charset="0"/>
              </a:rPr>
              <a:t>Config</a:t>
            </a:r>
            <a:r>
              <a:rPr lang="en-US" sz="1800" b="0" i="1" dirty="0" smtClean="0">
                <a:solidFill>
                  <a:srgbClr val="000000"/>
                </a:solidFill>
                <a:latin typeface="Arial Narrow" pitchFamily="34" charset="0"/>
              </a:rPr>
              <a:t>)</a:t>
            </a:r>
            <a:endParaRPr lang="en-US" sz="2000" b="0" i="1" dirty="0" smtClean="0">
              <a:solidFill>
                <a:srgbClr val="000000"/>
              </a:solidFill>
              <a:latin typeface="Arial Narrow" pitchFamily="34" charset="0"/>
            </a:endParaRPr>
          </a:p>
          <a:p>
            <a:pPr marL="177800" indent="-177800">
              <a:buFont typeface="Arial" pitchFamily="34" charset="0"/>
              <a:buChar char="•"/>
            </a:pPr>
            <a:r>
              <a:rPr lang="en-US" sz="2000" b="0" dirty="0" smtClean="0">
                <a:solidFill>
                  <a:srgbClr val="000000"/>
                </a:solidFill>
              </a:rPr>
              <a:t>custom platforms</a:t>
            </a:r>
          </a:p>
          <a:p>
            <a:pPr marL="177800" indent="-177800">
              <a:buFont typeface="Arial" pitchFamily="34" charset="0"/>
              <a:buChar char="•"/>
            </a:pPr>
            <a:r>
              <a:rPr lang="en-US" sz="2000" b="0" dirty="0" smtClean="0">
                <a:solidFill>
                  <a:srgbClr val="000000"/>
                </a:solidFill>
              </a:rPr>
              <a:t>custom linker.cmd files</a:t>
            </a:r>
          </a:p>
        </p:txBody>
      </p:sp>
      <p:grpSp>
        <p:nvGrpSpPr>
          <p:cNvPr id="3" name="Group 2"/>
          <p:cNvGrpSpPr/>
          <p:nvPr/>
        </p:nvGrpSpPr>
        <p:grpSpPr>
          <a:xfrm>
            <a:off x="650834" y="4023930"/>
            <a:ext cx="5445166" cy="2585323"/>
            <a:chOff x="650834" y="3914746"/>
            <a:chExt cx="5445166" cy="2585323"/>
          </a:xfrm>
        </p:grpSpPr>
        <p:sp>
          <p:nvSpPr>
            <p:cNvPr id="9" name="TextBox 8"/>
            <p:cNvSpPr txBox="1"/>
            <p:nvPr/>
          </p:nvSpPr>
          <p:spPr>
            <a:xfrm>
              <a:off x="650834" y="3914746"/>
              <a:ext cx="5445165" cy="2585323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  <a:effectLst>
              <a:outerShdw blurRad="50800" dist="762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 rtlCol="0" anchor="ctr" anchorCtr="0">
              <a:spAutoFit/>
            </a:bodyPr>
            <a:lstStyle/>
            <a:p>
              <a:pPr marL="177800" indent="-177800">
                <a:buFont typeface="Arial" pitchFamily="34" charset="0"/>
                <a:buChar char="•"/>
              </a:pPr>
              <a:r>
                <a:rPr lang="en-US" sz="2000" b="0" dirty="0" smtClean="0">
                  <a:solidFill>
                    <a:srgbClr val="000000"/>
                  </a:solidFill>
                </a:rPr>
                <a:t>Project Files </a:t>
              </a:r>
              <a:r>
                <a:rPr lang="en-US" sz="2000" b="0" smtClean="0">
                  <a:solidFill>
                    <a:srgbClr val="000000"/>
                  </a:solidFill>
                </a:rPr>
                <a:t>- </a:t>
              </a:r>
              <a:r>
                <a:rPr lang="en-US" sz="2000" b="0" i="1" smtClean="0">
                  <a:solidFill>
                    <a:srgbClr val="000000"/>
                  </a:solidFill>
                </a:rPr>
                <a:t>.project, .cproject</a:t>
              </a:r>
              <a:endParaRPr lang="en-US" sz="2000" b="0" i="1" dirty="0" smtClean="0">
                <a:solidFill>
                  <a:srgbClr val="000000"/>
                </a:solidFill>
              </a:endParaRPr>
            </a:p>
            <a:p>
              <a:pPr marL="177800" indent="-177800">
                <a:buFont typeface="Arial" pitchFamily="34" charset="0"/>
                <a:buChar char="•"/>
              </a:pPr>
              <a:r>
                <a:rPr lang="en-US" sz="2000" b="0" dirty="0" smtClean="0">
                  <a:solidFill>
                    <a:srgbClr val="000000"/>
                  </a:solidFill>
                </a:rPr>
                <a:t>CCS Project File: </a:t>
              </a:r>
              <a:r>
                <a:rPr lang="en-US" sz="2000" b="0" i="1" dirty="0" smtClean="0">
                  <a:solidFill>
                    <a:srgbClr val="000000"/>
                  </a:solidFill>
                </a:rPr>
                <a:t>.</a:t>
              </a:r>
              <a:r>
                <a:rPr lang="en-US" sz="2000" b="0" i="1" dirty="0" err="1" smtClean="0">
                  <a:solidFill>
                    <a:srgbClr val="000000"/>
                  </a:solidFill>
                </a:rPr>
                <a:t>ccsproject</a:t>
              </a:r>
              <a:endParaRPr lang="en-US" sz="2000" b="0" i="1" dirty="0" smtClean="0">
                <a:solidFill>
                  <a:srgbClr val="000000"/>
                </a:solidFill>
              </a:endParaRPr>
            </a:p>
            <a:p>
              <a:pPr marL="177800" indent="-177800">
                <a:buFont typeface="Arial" pitchFamily="34" charset="0"/>
                <a:buChar char="•"/>
              </a:pPr>
              <a:r>
                <a:rPr lang="en-US" sz="2000" b="0" i="1">
                  <a:solidFill>
                    <a:srgbClr val="000000"/>
                  </a:solidFill>
                </a:rPr>
                <a:t>Target Config Files</a:t>
              </a:r>
            </a:p>
            <a:p>
              <a:pPr marL="177800" indent="-177800">
                <a:buFont typeface="Arial" pitchFamily="34" charset="0"/>
                <a:buChar char="•"/>
              </a:pPr>
              <a:r>
                <a:rPr lang="en-US" sz="2000" b="0" smtClean="0">
                  <a:solidFill>
                    <a:srgbClr val="000000"/>
                  </a:solidFill>
                </a:rPr>
                <a:t>Project </a:t>
              </a:r>
              <a:r>
                <a:rPr lang="en-US" sz="2000" b="0" dirty="0" smtClean="0">
                  <a:solidFill>
                    <a:srgbClr val="000000"/>
                  </a:solidFill>
                </a:rPr>
                <a:t>Settings: </a:t>
              </a:r>
              <a:r>
                <a:rPr lang="en-US" sz="2000" b="0" i="1" smtClean="0">
                  <a:solidFill>
                    <a:srgbClr val="000000"/>
                  </a:solidFill>
                </a:rPr>
                <a:t>.settings</a:t>
              </a:r>
            </a:p>
            <a:p>
              <a:pPr marL="177800" indent="-177800">
                <a:buFont typeface="Arial" pitchFamily="34" charset="0"/>
                <a:buChar char="•"/>
              </a:pPr>
              <a:r>
                <a:rPr lang="en-US" sz="2000" b="0" i="1" smtClean="0">
                  <a:solidFill>
                    <a:srgbClr val="000000"/>
                  </a:solidFill>
                </a:rPr>
                <a:t>.</a:t>
              </a:r>
              <a:r>
                <a:rPr lang="en-US" sz="2000" b="0" i="1" dirty="0" smtClean="0">
                  <a:solidFill>
                    <a:srgbClr val="000000"/>
                  </a:solidFill>
                </a:rPr>
                <a:t>launches </a:t>
              </a:r>
              <a:r>
                <a:rPr lang="en-US" sz="2000" b="0" dirty="0" smtClean="0">
                  <a:solidFill>
                    <a:srgbClr val="000000"/>
                  </a:solidFill>
                </a:rPr>
                <a:t>– NO (debug connection)</a:t>
              </a:r>
            </a:p>
            <a:p>
              <a:pPr marL="177800" indent="-177800">
                <a:buFont typeface="Arial" pitchFamily="34" charset="0"/>
                <a:buChar char="•"/>
              </a:pPr>
              <a:r>
                <a:rPr lang="en-US" sz="2000" b="0" dirty="0" smtClean="0">
                  <a:solidFill>
                    <a:srgbClr val="000000"/>
                  </a:solidFill>
                </a:rPr>
                <a:t>Build </a:t>
              </a:r>
              <a:r>
                <a:rPr lang="en-US" sz="2000" b="0" dirty="0" err="1" smtClean="0">
                  <a:solidFill>
                    <a:srgbClr val="000000"/>
                  </a:solidFill>
                </a:rPr>
                <a:t>Config</a:t>
              </a:r>
              <a:r>
                <a:rPr lang="en-US" sz="2000" b="0" dirty="0" smtClean="0">
                  <a:solidFill>
                    <a:srgbClr val="000000"/>
                  </a:solidFill>
                </a:rPr>
                <a:t> folders: </a:t>
              </a:r>
              <a:r>
                <a:rPr lang="en-US" sz="2000" b="0" i="1" dirty="0" smtClean="0">
                  <a:solidFill>
                    <a:srgbClr val="000000"/>
                  </a:solidFill>
                </a:rPr>
                <a:t>Debug/Opt/Release</a:t>
              </a:r>
              <a:r>
                <a:rPr lang="en-US" sz="2000" b="0" dirty="0" smtClean="0">
                  <a:solidFill>
                    <a:srgbClr val="000000"/>
                  </a:solidFill>
                </a:rPr>
                <a:t/>
              </a:r>
              <a:br>
                <a:rPr lang="en-US" sz="2000" b="0" dirty="0" smtClean="0">
                  <a:solidFill>
                    <a:srgbClr val="000000"/>
                  </a:solidFill>
                </a:rPr>
              </a:br>
              <a:r>
                <a:rPr lang="en-US" sz="2000" b="0" dirty="0" smtClean="0">
                  <a:solidFill>
                    <a:srgbClr val="000000"/>
                  </a:solidFill>
                </a:rPr>
                <a:t>NO – generated when </a:t>
              </a:r>
              <a:r>
                <a:rPr lang="en-US" sz="2000" b="0" smtClean="0">
                  <a:solidFill>
                    <a:srgbClr val="000000"/>
                  </a:solidFill>
                </a:rPr>
                <a:t>you build</a:t>
              </a:r>
              <a:endParaRPr lang="en-US" sz="2000" b="0" dirty="0" smtClean="0">
                <a:solidFill>
                  <a:srgbClr val="000000"/>
                </a:solidFill>
              </a:endParaRPr>
            </a:p>
          </p:txBody>
        </p:sp>
        <p:cxnSp>
          <p:nvCxnSpPr>
            <p:cNvPr id="12" name="Straight Connector 11"/>
            <p:cNvCxnSpPr/>
            <p:nvPr/>
          </p:nvCxnSpPr>
          <p:spPr bwMode="auto">
            <a:xfrm>
              <a:off x="685800" y="5058768"/>
              <a:ext cx="5410200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dash"/>
              <a:round/>
              <a:headEnd type="none" w="sm" len="sm"/>
              <a:tailEnd type="none" w="sm" len="sm"/>
            </a:ln>
            <a:effectLst/>
          </p:spPr>
        </p:cxnSp>
        <p:sp>
          <p:nvSpPr>
            <p:cNvPr id="10" name="TextBox 9"/>
            <p:cNvSpPr txBox="1"/>
            <p:nvPr/>
          </p:nvSpPr>
          <p:spPr>
            <a:xfrm>
              <a:off x="5029200" y="4312574"/>
              <a:ext cx="646331" cy="313932"/>
            </a:xfrm>
            <a:prstGeom prst="rect">
              <a:avLst/>
            </a:prstGeom>
            <a:solidFill>
              <a:schemeClr val="accent6"/>
            </a:solidFill>
            <a:ln w="6350">
              <a:solidFill>
                <a:schemeClr val="tx1"/>
              </a:solidFill>
            </a:ln>
          </p:spPr>
          <p:txBody>
            <a:bodyPr wrap="none" rtlCol="0" anchor="b" anchorCtr="1">
              <a:spAutoFit/>
            </a:bodyPr>
            <a:lstStyle/>
            <a:p>
              <a:r>
                <a:rPr lang="en-US" sz="1800" b="0" dirty="0" smtClean="0">
                  <a:solidFill>
                    <a:srgbClr val="000000"/>
                  </a:solidFill>
                </a:rPr>
                <a:t>YES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5270517" y="5506836"/>
              <a:ext cx="530915" cy="313932"/>
            </a:xfrm>
            <a:prstGeom prst="rect">
              <a:avLst/>
            </a:prstGeom>
            <a:solidFill>
              <a:schemeClr val="accent6"/>
            </a:solidFill>
            <a:ln w="6350">
              <a:solidFill>
                <a:schemeClr val="tx1"/>
              </a:solidFill>
            </a:ln>
          </p:spPr>
          <p:txBody>
            <a:bodyPr wrap="none" rtlCol="0" anchor="ctr" anchorCtr="0">
              <a:spAutoFit/>
            </a:bodyPr>
            <a:lstStyle/>
            <a:p>
              <a:r>
                <a:rPr lang="en-US" sz="1800" b="0" dirty="0" smtClean="0">
                  <a:solidFill>
                    <a:srgbClr val="000000"/>
                  </a:solidFill>
                </a:rPr>
                <a:t>NO</a:t>
              </a:r>
            </a:p>
          </p:txBody>
        </p:sp>
      </p:grpSp>
      <p:sp>
        <p:nvSpPr>
          <p:cNvPr id="17" name="Slide number"/>
          <p:cNvSpPr txBox="1"/>
          <p:nvPr/>
        </p:nvSpPr>
        <p:spPr>
          <a:xfrm>
            <a:off x="8636000" y="6661378"/>
            <a:ext cx="635000" cy="215444"/>
          </a:xfrm>
          <a:prstGeom prst="rect">
            <a:avLst/>
          </a:prstGeom>
          <a:noFill/>
        </p:spPr>
        <p:txBody>
          <a:bodyPr vert="horz" wrap="square" rtlCol="0" anchor="ctr" anchorCtr="0">
            <a:spAutoFit/>
          </a:bodyPr>
          <a:lstStyle/>
          <a:p>
            <a:pPr algn="ctr"/>
            <a:r>
              <a:rPr lang="en-US" sz="1000" b="0" smtClean="0">
                <a:solidFill>
                  <a:srgbClr val="0066FF"/>
                </a:solidFill>
                <a:latin typeface="Arial"/>
              </a:rPr>
              <a:t>42</a:t>
            </a:r>
            <a:endParaRPr lang="en-US" sz="1000" b="0" dirty="0" smtClean="0">
              <a:solidFill>
                <a:srgbClr val="0066FF"/>
              </a:solidFill>
              <a:latin typeface="Arial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6377050" y="1093192"/>
            <a:ext cx="1659429" cy="406265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r>
              <a:rPr lang="en-US" smtClean="0">
                <a:solidFill>
                  <a:srgbClr val="FF0000"/>
                </a:solidFill>
                <a:effectLst/>
                <a:latin typeface="Courier New" pitchFamily="49" charset="0"/>
                <a:cs typeface="Courier New" pitchFamily="49" charset="0"/>
              </a:rPr>
              <a:t>\Project</a:t>
            </a:r>
            <a:endParaRPr lang="en-US" dirty="0" smtClean="0">
              <a:solidFill>
                <a:srgbClr val="FF0000"/>
              </a:solidFill>
              <a:effectLst/>
              <a:latin typeface="Courier New" pitchFamily="49" charset="0"/>
              <a:cs typeface="Courier New" pitchFamily="49" charset="0"/>
            </a:endParaRPr>
          </a:p>
        </p:txBody>
      </p:sp>
      <p:pic>
        <p:nvPicPr>
          <p:cNvPr id="4098" name="Picture 2" descr="C:\Users\a0159877\AppData\Local\Temp\SNAGHTML277c12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77049" y="1513032"/>
            <a:ext cx="2879997" cy="36685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16959398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6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9704" name="Rectangle 8"/>
          <p:cNvSpPr>
            <a:spLocks noChangeArrowheads="1"/>
          </p:cNvSpPr>
          <p:nvPr/>
        </p:nvSpPr>
        <p:spPr bwMode="auto">
          <a:xfrm>
            <a:off x="547048" y="1524000"/>
            <a:ext cx="5105400" cy="3810000"/>
          </a:xfrm>
          <a:prstGeom prst="rect">
            <a:avLst/>
          </a:prstGeom>
          <a:solidFill>
            <a:srgbClr val="92D050"/>
          </a:solidFill>
          <a:ln w="19050">
            <a:solidFill>
              <a:schemeClr val="tx1"/>
            </a:solidFill>
            <a:miter lim="800000"/>
            <a:headEnd type="none" w="sm" len="sm"/>
            <a:tailEnd type="none" w="sm" len="sm"/>
          </a:ln>
          <a:effectLst>
            <a:outerShdw blurRad="50800" dist="88900" dir="2700000" algn="tl" rotWithShape="0">
              <a:prstClr val="black">
                <a:alpha val="40000"/>
              </a:prstClr>
            </a:outerShdw>
          </a:effectLst>
        </p:spPr>
        <p:txBody>
          <a:bodyPr wrap="none" anchor="ctr"/>
          <a:lstStyle/>
          <a:p>
            <a:pPr>
              <a:defRPr/>
            </a:pPr>
            <a:endParaRPr lang="en-US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72706" name="Picture 2" descr="C:\Documents and Settings\a0159877\Desktop\250px-Operating_system_placement.svg.png"/>
          <p:cNvPicPr>
            <a:picLocks noChangeAspect="1" noChangeArrowheads="1"/>
          </p:cNvPicPr>
          <p:nvPr/>
        </p:nvPicPr>
        <p:blipFill>
          <a:blip r:embed="rId9" cstate="print"/>
          <a:srcRect/>
          <a:stretch>
            <a:fillRect/>
          </a:stretch>
        </p:blipFill>
        <p:spPr bwMode="auto">
          <a:xfrm>
            <a:off x="6160824" y="1316817"/>
            <a:ext cx="2819400" cy="4172713"/>
          </a:xfrm>
          <a:prstGeom prst="rect">
            <a:avLst/>
          </a:prstGeom>
          <a:noFill/>
        </p:spPr>
      </p:pic>
      <p:sp>
        <p:nvSpPr>
          <p:cNvPr id="4198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>
                <a:solidFill>
                  <a:schemeClr val="tx1"/>
                </a:solidFill>
              </a:rPr>
              <a:t>Outline</a:t>
            </a:r>
          </a:p>
        </p:txBody>
      </p:sp>
      <p:sp>
        <p:nvSpPr>
          <p:cNvPr id="9" name="Text Box 4">
            <a:hlinkClick r:id="rId10" action="ppaction://hlinksldjump"/>
          </p:cNvPr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552450" y="1630538"/>
            <a:ext cx="5099998" cy="480131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square" tIns="45720" bIns="45720" anchor="ctr" anchorCtr="0">
            <a:spAutoFit/>
          </a:bodyPr>
          <a:lstStyle/>
          <a:p>
            <a:pPr marL="342900" indent="-342900">
              <a:lnSpc>
                <a:spcPct val="90000"/>
              </a:lnSpc>
              <a:spcBef>
                <a:spcPct val="0"/>
              </a:spcBef>
              <a:buClr>
                <a:srgbClr val="0066FF"/>
              </a:buClr>
              <a:buSzPct val="75000"/>
              <a:buFont typeface="Wingdings" pitchFamily="2" charset="2"/>
              <a:buChar char=""/>
            </a:pPr>
            <a:r>
              <a:rPr lang="en-US" sz="2800" smtClean="0">
                <a:solidFill>
                  <a:srgbClr val="000000"/>
                </a:solidFill>
              </a:rPr>
              <a:t>Creating A New Project</a:t>
            </a:r>
            <a:endParaRPr lang="en-US" sz="2800" dirty="0">
              <a:solidFill>
                <a:srgbClr val="000000"/>
              </a:solidFill>
            </a:endParaRPr>
          </a:p>
        </p:txBody>
      </p:sp>
      <p:sp>
        <p:nvSpPr>
          <p:cNvPr id="10" name="Text Box 4">
            <a:hlinkClick r:id="rId11" action="ppaction://hlinksldjump"/>
          </p:cNvPr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552450" y="2209221"/>
            <a:ext cx="5099998" cy="480131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square" tIns="45720" bIns="45720" anchor="ctr" anchorCtr="0">
            <a:spAutoFit/>
          </a:bodyPr>
          <a:lstStyle/>
          <a:p>
            <a:pPr marL="342900" indent="-342900">
              <a:lnSpc>
                <a:spcPct val="90000"/>
              </a:lnSpc>
              <a:spcBef>
                <a:spcPct val="0"/>
              </a:spcBef>
              <a:buClr>
                <a:srgbClr val="0066FF"/>
              </a:buClr>
              <a:buSzPct val="75000"/>
              <a:buFont typeface="Wingdings" pitchFamily="2" charset="2"/>
              <a:buChar char=""/>
            </a:pPr>
            <a:r>
              <a:rPr lang="en-US" sz="2800" smtClean="0">
                <a:solidFill>
                  <a:srgbClr val="000000"/>
                </a:solidFill>
              </a:rPr>
              <a:t>TI-RTOS Config (.CFG)</a:t>
            </a:r>
            <a:endParaRPr lang="en-US" sz="2800" dirty="0">
              <a:solidFill>
                <a:srgbClr val="000000"/>
              </a:solidFill>
            </a:endParaRPr>
          </a:p>
        </p:txBody>
      </p:sp>
      <p:sp>
        <p:nvSpPr>
          <p:cNvPr id="11" name="Text Box 4">
            <a:hlinkClick r:id="rId12" action="ppaction://hlinksldjump"/>
          </p:cNvPr>
          <p:cNvSpPr txBox="1"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552450" y="2787904"/>
            <a:ext cx="5099998" cy="480131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square" tIns="45720" bIns="45720" anchor="ctr" anchorCtr="0">
            <a:spAutoFit/>
          </a:bodyPr>
          <a:lstStyle/>
          <a:p>
            <a:pPr marL="342900" indent="-342900">
              <a:lnSpc>
                <a:spcPct val="90000"/>
              </a:lnSpc>
              <a:spcBef>
                <a:spcPct val="0"/>
              </a:spcBef>
              <a:buClr>
                <a:srgbClr val="0066FF"/>
              </a:buClr>
              <a:buSzPct val="75000"/>
              <a:buFont typeface="Wingdings" pitchFamily="2" charset="2"/>
              <a:buChar char=""/>
            </a:pPr>
            <a:r>
              <a:rPr lang="en-US" sz="2800" smtClean="0">
                <a:solidFill>
                  <a:srgbClr val="000000"/>
                </a:solidFill>
              </a:rPr>
              <a:t>System Timeline</a:t>
            </a:r>
            <a:endParaRPr lang="en-US" sz="2800" dirty="0">
              <a:solidFill>
                <a:srgbClr val="000000"/>
              </a:solidFill>
            </a:endParaRPr>
          </a:p>
        </p:txBody>
      </p:sp>
      <p:sp>
        <p:nvSpPr>
          <p:cNvPr id="12" name="Text Box 4">
            <a:hlinkClick r:id="rId13" action="ppaction://hlinksldjump"/>
          </p:cNvPr>
          <p:cNvSpPr txBox="1"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552450" y="3366587"/>
            <a:ext cx="5099998" cy="480131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square" tIns="45720" bIns="45720" anchor="ctr" anchorCtr="0">
            <a:spAutoFit/>
          </a:bodyPr>
          <a:lstStyle/>
          <a:p>
            <a:pPr marL="342900" indent="-342900">
              <a:lnSpc>
                <a:spcPct val="90000"/>
              </a:lnSpc>
              <a:spcBef>
                <a:spcPct val="0"/>
              </a:spcBef>
              <a:buClr>
                <a:srgbClr val="0066FF"/>
              </a:buClr>
              <a:buSzPct val="75000"/>
              <a:buFont typeface="Wingdings" pitchFamily="2" charset="2"/>
              <a:buChar char=""/>
            </a:pPr>
            <a:r>
              <a:rPr lang="en-US" sz="2800" smtClean="0">
                <a:solidFill>
                  <a:srgbClr val="000000"/>
                </a:solidFill>
              </a:rPr>
              <a:t>UIA &amp; RTOS Analyzer</a:t>
            </a:r>
            <a:endParaRPr lang="en-US" sz="2800" dirty="0">
              <a:solidFill>
                <a:srgbClr val="000000"/>
              </a:solidFill>
            </a:endParaRPr>
          </a:p>
        </p:txBody>
      </p:sp>
      <p:sp>
        <p:nvSpPr>
          <p:cNvPr id="13" name="Text Box 4">
            <a:hlinkClick r:id="rId14" action="ppaction://hlinksldjump"/>
          </p:cNvPr>
          <p:cNvSpPr txBox="1"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552450" y="3945270"/>
            <a:ext cx="5099998" cy="480131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square" tIns="45720" bIns="45720" anchor="ctr" anchorCtr="0">
            <a:spAutoFit/>
          </a:bodyPr>
          <a:lstStyle/>
          <a:p>
            <a:pPr marL="342900" indent="-342900">
              <a:lnSpc>
                <a:spcPct val="90000"/>
              </a:lnSpc>
              <a:spcBef>
                <a:spcPct val="0"/>
              </a:spcBef>
              <a:buClr>
                <a:srgbClr val="0066FF"/>
              </a:buClr>
              <a:buSzPct val="75000"/>
              <a:buFont typeface="Wingdings" pitchFamily="2" charset="2"/>
              <a:buChar char=""/>
            </a:pPr>
            <a:r>
              <a:rPr lang="en-US" sz="2800" smtClean="0">
                <a:solidFill>
                  <a:srgbClr val="000000"/>
                </a:solidFill>
              </a:rPr>
              <a:t>Version Control</a:t>
            </a:r>
            <a:endParaRPr lang="en-US" sz="2800" dirty="0">
              <a:solidFill>
                <a:srgbClr val="000000"/>
              </a:solidFill>
            </a:endParaRPr>
          </a:p>
        </p:txBody>
      </p:sp>
      <p:sp>
        <p:nvSpPr>
          <p:cNvPr id="14" name="Text Box 3">
            <a:hlinkClick r:id="rId15" action="ppaction://hlinksldjump"/>
          </p:cNvPr>
          <p:cNvSpPr txBox="1">
            <a:spLocks noChangeArrowheads="1"/>
          </p:cNvSpPr>
          <p:nvPr>
            <p:custDataLst>
              <p:tags r:id="rId7"/>
            </p:custDataLst>
          </p:nvPr>
        </p:nvSpPr>
        <p:spPr bwMode="auto">
          <a:xfrm>
            <a:off x="547048" y="4523953"/>
            <a:ext cx="5105400" cy="480131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square" tIns="45720" bIns="45720" anchor="ctr" anchorCtr="0">
            <a:spAutoFit/>
          </a:bodyPr>
          <a:lstStyle/>
          <a:p>
            <a:pPr marL="342900" indent="-342900">
              <a:lnSpc>
                <a:spcPct val="90000"/>
              </a:lnSpc>
              <a:spcBef>
                <a:spcPct val="0"/>
              </a:spcBef>
              <a:buClr>
                <a:srgbClr val="0066FF"/>
              </a:buClr>
              <a:buSzPct val="75000"/>
              <a:buFont typeface="Wingdings" pitchFamily="2" charset="2"/>
              <a:buChar char=""/>
            </a:pPr>
            <a:r>
              <a:rPr lang="en-US" sz="2800" smtClean="0">
                <a:solidFill>
                  <a:srgbClr val="000000"/>
                </a:solidFill>
              </a:rPr>
              <a:t>Lab</a:t>
            </a:r>
            <a:endParaRPr lang="en-US" sz="2800" dirty="0">
              <a:solidFill>
                <a:srgbClr val="000000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29305884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mtClean="0"/>
              <a:t>Lab </a:t>
            </a:r>
            <a:r>
              <a:rPr lang="en-US"/>
              <a:t>4</a:t>
            </a:r>
            <a:r>
              <a:rPr lang="en-US" smtClean="0"/>
              <a:t> – Blink an LED Using Idle</a:t>
            </a:r>
            <a:endParaRPr lang="en-US" dirty="0" smtClean="0"/>
          </a:p>
        </p:txBody>
      </p:sp>
      <p:sp>
        <p:nvSpPr>
          <p:cNvPr id="33795" name="Rectangle 6"/>
          <p:cNvSpPr>
            <a:spLocks noChangeArrowheads="1"/>
          </p:cNvSpPr>
          <p:nvPr/>
        </p:nvSpPr>
        <p:spPr bwMode="auto">
          <a:xfrm>
            <a:off x="1019175" y="6169150"/>
            <a:ext cx="184150" cy="625475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 anchor="ctr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</a:pPr>
            <a:r>
              <a:rPr lang="en-US" sz="1100" b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1100" b="0">
                <a:latin typeface="Times New Roman" pitchFamily="18" charset="0"/>
                <a:cs typeface="Times New Roman" pitchFamily="18" charset="0"/>
              </a:rPr>
            </a:br>
            <a:endParaRPr lang="en-US" b="0">
              <a:latin typeface="Times New Roman" pitchFamily="18" charset="0"/>
            </a:endParaRPr>
          </a:p>
        </p:txBody>
      </p:sp>
      <p:sp>
        <p:nvSpPr>
          <p:cNvPr id="33796" name="AutoShape 99"/>
          <p:cNvSpPr>
            <a:spLocks noChangeArrowheads="1"/>
          </p:cNvSpPr>
          <p:nvPr/>
        </p:nvSpPr>
        <p:spPr bwMode="auto">
          <a:xfrm>
            <a:off x="609600" y="2421680"/>
            <a:ext cx="2286000" cy="1645620"/>
          </a:xfrm>
          <a:prstGeom prst="roundRect">
            <a:avLst>
              <a:gd name="adj" fmla="val 16667"/>
            </a:avLst>
          </a:prstGeom>
          <a:solidFill>
            <a:schemeClr val="accent2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pPr>
              <a:spcBef>
                <a:spcPts val="600"/>
              </a:spcBef>
            </a:pPr>
            <a:r>
              <a:rPr lang="en-US" sz="1800" dirty="0">
                <a:latin typeface="Courier New" pitchFamily="49" charset="0"/>
              </a:rPr>
              <a:t>main() {</a:t>
            </a:r>
          </a:p>
          <a:p>
            <a:pPr>
              <a:spcBef>
                <a:spcPts val="600"/>
              </a:spcBef>
            </a:pPr>
            <a:r>
              <a:rPr lang="en-US" sz="1800">
                <a:latin typeface="Courier New" pitchFamily="49" charset="0"/>
              </a:rPr>
              <a:t>  </a:t>
            </a:r>
            <a:r>
              <a:rPr lang="en-US" sz="1800" smtClean="0">
                <a:latin typeface="Courier New" pitchFamily="49" charset="0"/>
              </a:rPr>
              <a:t>init_hw();</a:t>
            </a:r>
            <a:endParaRPr lang="en-US" sz="1800" dirty="0">
              <a:latin typeface="Courier New" pitchFamily="49" charset="0"/>
            </a:endParaRPr>
          </a:p>
          <a:p>
            <a:pPr>
              <a:spcBef>
                <a:spcPts val="600"/>
              </a:spcBef>
            </a:pPr>
            <a:r>
              <a:rPr lang="en-US" sz="1800" dirty="0">
                <a:latin typeface="Courier New" pitchFamily="49" charset="0"/>
              </a:rPr>
              <a:t>  …</a:t>
            </a:r>
          </a:p>
          <a:p>
            <a:pPr>
              <a:spcBef>
                <a:spcPts val="600"/>
              </a:spcBef>
            </a:pPr>
            <a:r>
              <a:rPr lang="en-US" sz="1800" dirty="0">
                <a:latin typeface="Courier New" pitchFamily="49" charset="0"/>
              </a:rPr>
              <a:t>  </a:t>
            </a:r>
            <a:r>
              <a:rPr lang="en-US" sz="1800" dirty="0" err="1" smtClean="0">
                <a:latin typeface="Courier New" pitchFamily="49" charset="0"/>
              </a:rPr>
              <a:t>BIOS_start</a:t>
            </a:r>
            <a:r>
              <a:rPr lang="en-US" sz="1800" dirty="0" smtClean="0">
                <a:latin typeface="Courier New" pitchFamily="49" charset="0"/>
              </a:rPr>
              <a:t>();</a:t>
            </a:r>
            <a:endParaRPr lang="en-US" sz="1800" dirty="0">
              <a:latin typeface="Courier New" pitchFamily="49" charset="0"/>
            </a:endParaRPr>
          </a:p>
          <a:p>
            <a:pPr>
              <a:spcBef>
                <a:spcPts val="600"/>
              </a:spcBef>
            </a:pPr>
            <a:r>
              <a:rPr lang="en-US" sz="1800" dirty="0">
                <a:latin typeface="Courier New" pitchFamily="49" charset="0"/>
              </a:rPr>
              <a:t>} </a:t>
            </a:r>
          </a:p>
        </p:txBody>
      </p:sp>
      <p:sp>
        <p:nvSpPr>
          <p:cNvPr id="33797" name="AutoShape 102"/>
          <p:cNvSpPr>
            <a:spLocks noChangeArrowheads="1"/>
          </p:cNvSpPr>
          <p:nvPr/>
        </p:nvSpPr>
        <p:spPr bwMode="auto">
          <a:xfrm>
            <a:off x="2971800" y="3810125"/>
            <a:ext cx="2286000" cy="1933575"/>
          </a:xfrm>
          <a:prstGeom prst="roundRect">
            <a:avLst>
              <a:gd name="adj" fmla="val 16667"/>
            </a:avLst>
          </a:prstGeom>
          <a:solidFill>
            <a:schemeClr val="accent4">
              <a:lumMod val="20000"/>
              <a:lumOff val="80000"/>
            </a:schemeClr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 sz="1800">
              <a:latin typeface="Courier New" pitchFamily="49" charset="0"/>
            </a:endParaRPr>
          </a:p>
        </p:txBody>
      </p:sp>
      <p:sp>
        <p:nvSpPr>
          <p:cNvPr id="33798" name="Text Box 103"/>
          <p:cNvSpPr txBox="1">
            <a:spLocks noChangeArrowheads="1"/>
          </p:cNvSpPr>
          <p:nvPr/>
        </p:nvSpPr>
        <p:spPr bwMode="auto">
          <a:xfrm>
            <a:off x="974725" y="2070224"/>
            <a:ext cx="1279525" cy="384175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r>
              <a:rPr lang="en-US" i="1">
                <a:latin typeface="Courier New" pitchFamily="49" charset="0"/>
              </a:rPr>
              <a:t>main.c</a:t>
            </a:r>
          </a:p>
        </p:txBody>
      </p:sp>
      <p:sp>
        <p:nvSpPr>
          <p:cNvPr id="33799" name="AutoShape 104"/>
          <p:cNvSpPr>
            <a:spLocks noChangeArrowheads="1"/>
          </p:cNvSpPr>
          <p:nvPr/>
        </p:nvSpPr>
        <p:spPr bwMode="auto">
          <a:xfrm>
            <a:off x="3105150" y="3991100"/>
            <a:ext cx="685800" cy="457200"/>
          </a:xfrm>
          <a:prstGeom prst="cube">
            <a:avLst>
              <a:gd name="adj" fmla="val 16319"/>
            </a:avLst>
          </a:prstGeom>
          <a:solidFill>
            <a:srgbClr val="C0C0C0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pPr algn="ctr"/>
            <a:r>
              <a:rPr lang="en-US" sz="1800" dirty="0" err="1" smtClean="0"/>
              <a:t>Hwi</a:t>
            </a:r>
            <a:endParaRPr lang="en-US" sz="1800" dirty="0"/>
          </a:p>
        </p:txBody>
      </p:sp>
      <p:sp>
        <p:nvSpPr>
          <p:cNvPr id="33800" name="Text Box 105"/>
          <p:cNvSpPr txBox="1">
            <a:spLocks noChangeArrowheads="1"/>
          </p:cNvSpPr>
          <p:nvPr/>
        </p:nvSpPr>
        <p:spPr bwMode="auto">
          <a:xfrm>
            <a:off x="3230563" y="3467225"/>
            <a:ext cx="1827212" cy="384175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r>
              <a:rPr lang="en-US" i="1">
                <a:latin typeface="Courier New" pitchFamily="49" charset="0"/>
              </a:rPr>
              <a:t>Scheduler</a:t>
            </a:r>
          </a:p>
        </p:txBody>
      </p:sp>
      <p:sp>
        <p:nvSpPr>
          <p:cNvPr id="33801" name="AutoShape 106"/>
          <p:cNvSpPr>
            <a:spLocks noChangeArrowheads="1"/>
          </p:cNvSpPr>
          <p:nvPr/>
        </p:nvSpPr>
        <p:spPr bwMode="auto">
          <a:xfrm>
            <a:off x="3105150" y="4548250"/>
            <a:ext cx="685800" cy="457200"/>
          </a:xfrm>
          <a:prstGeom prst="cube">
            <a:avLst>
              <a:gd name="adj" fmla="val 16319"/>
            </a:avLst>
          </a:prstGeom>
          <a:solidFill>
            <a:srgbClr val="C0C0C0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pPr algn="ctr"/>
            <a:r>
              <a:rPr lang="en-US" sz="1800" dirty="0" err="1" smtClean="0"/>
              <a:t>Swi</a:t>
            </a:r>
            <a:endParaRPr lang="en-US" sz="1800" dirty="0"/>
          </a:p>
        </p:txBody>
      </p:sp>
      <p:sp>
        <p:nvSpPr>
          <p:cNvPr id="33802" name="AutoShape 107"/>
          <p:cNvSpPr>
            <a:spLocks noChangeArrowheads="1"/>
          </p:cNvSpPr>
          <p:nvPr/>
        </p:nvSpPr>
        <p:spPr bwMode="auto">
          <a:xfrm>
            <a:off x="3105150" y="5098475"/>
            <a:ext cx="685800" cy="457200"/>
          </a:xfrm>
          <a:prstGeom prst="cube">
            <a:avLst>
              <a:gd name="adj" fmla="val 16319"/>
            </a:avLst>
          </a:prstGeom>
          <a:solidFill>
            <a:schemeClr val="accent3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pPr algn="ctr"/>
            <a:r>
              <a:rPr lang="en-US" sz="1800" dirty="0" smtClean="0"/>
              <a:t>Idle</a:t>
            </a:r>
            <a:endParaRPr lang="en-US" sz="1800" dirty="0"/>
          </a:p>
        </p:txBody>
      </p:sp>
      <p:sp>
        <p:nvSpPr>
          <p:cNvPr id="525421" name="Line 109"/>
          <p:cNvSpPr>
            <a:spLocks noChangeShapeType="1"/>
          </p:cNvSpPr>
          <p:nvPr/>
        </p:nvSpPr>
        <p:spPr bwMode="auto">
          <a:xfrm>
            <a:off x="3886200" y="4219700"/>
            <a:ext cx="1066800" cy="0"/>
          </a:xfrm>
          <a:prstGeom prst="line">
            <a:avLst/>
          </a:prstGeom>
          <a:noFill/>
          <a:ln w="28575">
            <a:solidFill>
              <a:schemeClr val="tx1"/>
            </a:solidFill>
            <a:prstDash val="dash"/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pPr>
              <a:defRPr/>
            </a:pPr>
            <a:endParaRPr 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25422" name="Line 110"/>
          <p:cNvSpPr>
            <a:spLocks noChangeShapeType="1"/>
          </p:cNvSpPr>
          <p:nvPr/>
        </p:nvSpPr>
        <p:spPr bwMode="auto">
          <a:xfrm>
            <a:off x="3886200" y="4776850"/>
            <a:ext cx="1066800" cy="0"/>
          </a:xfrm>
          <a:prstGeom prst="line">
            <a:avLst/>
          </a:prstGeom>
          <a:noFill/>
          <a:ln w="28575">
            <a:solidFill>
              <a:schemeClr val="tx1"/>
            </a:solidFill>
            <a:prstDash val="dash"/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pPr>
              <a:defRPr/>
            </a:pPr>
            <a:endParaRPr 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25424" name="Rectangle 112"/>
          <p:cNvSpPr>
            <a:spLocks noChangeArrowheads="1"/>
          </p:cNvSpPr>
          <p:nvPr/>
        </p:nvSpPr>
        <p:spPr bwMode="auto">
          <a:xfrm>
            <a:off x="3790950" y="5212775"/>
            <a:ext cx="1295400" cy="22860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25425" name="Oval 113"/>
          <p:cNvSpPr>
            <a:spLocks noChangeArrowheads="1"/>
          </p:cNvSpPr>
          <p:nvPr/>
        </p:nvSpPr>
        <p:spPr bwMode="auto">
          <a:xfrm>
            <a:off x="3962400" y="5293738"/>
            <a:ext cx="76200" cy="76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25426" name="Oval 114"/>
          <p:cNvSpPr>
            <a:spLocks noChangeArrowheads="1"/>
          </p:cNvSpPr>
          <p:nvPr/>
        </p:nvSpPr>
        <p:spPr bwMode="auto">
          <a:xfrm>
            <a:off x="4267200" y="5293738"/>
            <a:ext cx="76200" cy="76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25427" name="Oval 115"/>
          <p:cNvSpPr>
            <a:spLocks noChangeArrowheads="1"/>
          </p:cNvSpPr>
          <p:nvPr/>
        </p:nvSpPr>
        <p:spPr bwMode="auto">
          <a:xfrm>
            <a:off x="4572000" y="5293738"/>
            <a:ext cx="76200" cy="76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25428" name="Oval 116"/>
          <p:cNvSpPr>
            <a:spLocks noChangeArrowheads="1"/>
          </p:cNvSpPr>
          <p:nvPr/>
        </p:nvSpPr>
        <p:spPr bwMode="auto">
          <a:xfrm>
            <a:off x="4876800" y="5293738"/>
            <a:ext cx="76200" cy="76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3810" name="AutoShape 117"/>
          <p:cNvSpPr>
            <a:spLocks noChangeArrowheads="1"/>
          </p:cNvSpPr>
          <p:nvPr/>
        </p:nvSpPr>
        <p:spPr bwMode="auto">
          <a:xfrm>
            <a:off x="5943600" y="4524500"/>
            <a:ext cx="2514600" cy="2140398"/>
          </a:xfrm>
          <a:prstGeom prst="roundRect">
            <a:avLst>
              <a:gd name="adj" fmla="val 16667"/>
            </a:avLst>
          </a:prstGeom>
          <a:solidFill>
            <a:schemeClr val="accent5">
              <a:lumMod val="20000"/>
              <a:lumOff val="80000"/>
            </a:schemeClr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r>
              <a:rPr lang="en-US" sz="1800">
                <a:solidFill>
                  <a:schemeClr val="tx2"/>
                </a:solidFill>
                <a:latin typeface="Courier New" pitchFamily="49" charset="0"/>
              </a:rPr>
              <a:t>ledToggle()</a:t>
            </a:r>
            <a:r>
              <a:rPr lang="en-US" sz="1800">
                <a:latin typeface="Courier New" pitchFamily="49" charset="0"/>
              </a:rPr>
              <a:t> {</a:t>
            </a:r>
          </a:p>
          <a:p>
            <a:r>
              <a:rPr lang="en-US" sz="1800">
                <a:latin typeface="Courier New" pitchFamily="49" charset="0"/>
              </a:rPr>
              <a:t>  </a:t>
            </a:r>
            <a:r>
              <a:rPr lang="en-US" sz="1800" smtClean="0">
                <a:latin typeface="Courier New" pitchFamily="49" charset="0"/>
              </a:rPr>
              <a:t>toggle(LED);</a:t>
            </a:r>
            <a:endParaRPr lang="en-US" sz="1800">
              <a:latin typeface="Courier New" pitchFamily="49" charset="0"/>
            </a:endParaRPr>
          </a:p>
          <a:p>
            <a:r>
              <a:rPr lang="en-US" sz="1800">
                <a:latin typeface="Courier New" pitchFamily="49" charset="0"/>
              </a:rPr>
              <a:t>  delay(500ms</a:t>
            </a:r>
            <a:r>
              <a:rPr lang="en-US" sz="1800" smtClean="0">
                <a:latin typeface="Courier New" pitchFamily="49" charset="0"/>
              </a:rPr>
              <a:t>);</a:t>
            </a:r>
          </a:p>
          <a:p>
            <a:r>
              <a:rPr lang="en-US" sz="1800" smtClean="0">
                <a:latin typeface="Courier New" pitchFamily="49" charset="0"/>
              </a:rPr>
              <a:t>  Log_info();</a:t>
            </a:r>
            <a:endParaRPr lang="en-US" sz="1800">
              <a:latin typeface="Courier New" pitchFamily="49" charset="0"/>
            </a:endParaRPr>
          </a:p>
          <a:p>
            <a:r>
              <a:rPr lang="en-US" sz="1800">
                <a:latin typeface="Courier New" pitchFamily="49" charset="0"/>
              </a:rPr>
              <a:t>} </a:t>
            </a:r>
          </a:p>
        </p:txBody>
      </p:sp>
      <p:sp>
        <p:nvSpPr>
          <p:cNvPr id="525439" name="Line 127"/>
          <p:cNvSpPr>
            <a:spLocks noChangeShapeType="1"/>
          </p:cNvSpPr>
          <p:nvPr/>
        </p:nvSpPr>
        <p:spPr bwMode="auto">
          <a:xfrm>
            <a:off x="2916866" y="3557650"/>
            <a:ext cx="324136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sm" len="sm"/>
            <a:tailEnd type="triangle" w="med" len="med"/>
          </a:ln>
          <a:effectLst/>
        </p:spPr>
        <p:txBody>
          <a:bodyPr/>
          <a:lstStyle/>
          <a:p>
            <a:pPr>
              <a:defRPr/>
            </a:pPr>
            <a:endParaRPr 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cxnSp>
        <p:nvCxnSpPr>
          <p:cNvPr id="33814" name="AutoShape 129"/>
          <p:cNvCxnSpPr>
            <a:cxnSpLocks noChangeShapeType="1"/>
            <a:stCxn id="525424" idx="2"/>
            <a:endCxn id="33810" idx="1"/>
          </p:cNvCxnSpPr>
          <p:nvPr/>
        </p:nvCxnSpPr>
        <p:spPr bwMode="auto">
          <a:xfrm rot="16200000" flipH="1">
            <a:off x="5114463" y="4765562"/>
            <a:ext cx="153324" cy="1504950"/>
          </a:xfrm>
          <a:prstGeom prst="bentConnector2">
            <a:avLst/>
          </a:prstGeom>
          <a:noFill/>
          <a:ln w="28575">
            <a:solidFill>
              <a:schemeClr val="tx1"/>
            </a:solidFill>
            <a:miter lim="800000"/>
            <a:headEnd type="none" w="sm" len="sm"/>
            <a:tailEnd type="triangle" w="med" len="med"/>
          </a:ln>
        </p:spPr>
      </p:cxnSp>
      <p:sp>
        <p:nvSpPr>
          <p:cNvPr id="33816" name="Text Box 131"/>
          <p:cNvSpPr txBox="1">
            <a:spLocks noChangeArrowheads="1"/>
          </p:cNvSpPr>
          <p:nvPr/>
        </p:nvSpPr>
        <p:spPr bwMode="auto">
          <a:xfrm>
            <a:off x="4648200" y="650175"/>
            <a:ext cx="1962397" cy="437043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r>
              <a:rPr lang="en-US" sz="2800" u="sng" dirty="0">
                <a:solidFill>
                  <a:schemeClr val="tx2"/>
                </a:solidFill>
              </a:rPr>
              <a:t>Procedure</a:t>
            </a:r>
          </a:p>
        </p:txBody>
      </p:sp>
      <p:sp>
        <p:nvSpPr>
          <p:cNvPr id="33817" name="Text Box 132"/>
          <p:cNvSpPr txBox="1">
            <a:spLocks noChangeArrowheads="1"/>
          </p:cNvSpPr>
          <p:nvPr/>
        </p:nvSpPr>
        <p:spPr bwMode="auto">
          <a:xfrm>
            <a:off x="4665725" y="1102425"/>
            <a:ext cx="4492064" cy="2345257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>
              <a:buFontTx/>
              <a:buChar char="•"/>
            </a:pPr>
            <a:r>
              <a:rPr lang="en-US" sz="2000" dirty="0">
                <a:latin typeface="Calibri" pitchFamily="34" charset="0"/>
                <a:cs typeface="Calibri" pitchFamily="34" charset="0"/>
              </a:rPr>
              <a:t> Create a new </a:t>
            </a:r>
            <a:r>
              <a:rPr lang="en-US" sz="2000" i="1" u="sng" dirty="0">
                <a:solidFill>
                  <a:schemeClr val="tx2"/>
                </a:solidFill>
                <a:latin typeface="Calibri" pitchFamily="34" charset="0"/>
                <a:cs typeface="Calibri" pitchFamily="34" charset="0"/>
              </a:rPr>
              <a:t>BIOS </a:t>
            </a:r>
            <a:r>
              <a:rPr lang="en-US" sz="2000" i="1" u="sng">
                <a:solidFill>
                  <a:schemeClr val="tx2"/>
                </a:solidFill>
                <a:latin typeface="Calibri" pitchFamily="34" charset="0"/>
                <a:cs typeface="Calibri" pitchFamily="34" charset="0"/>
              </a:rPr>
              <a:t>project</a:t>
            </a:r>
            <a:r>
              <a:rPr lang="en-US" sz="2000" i="1">
                <a:solidFill>
                  <a:schemeClr val="tx2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en-US" sz="2000" i="1" smtClean="0">
                <a:latin typeface="Calibri" pitchFamily="34" charset="0"/>
                <a:cs typeface="Calibri" pitchFamily="34" charset="0"/>
              </a:rPr>
              <a:t>(Minimal)</a:t>
            </a:r>
            <a:endParaRPr lang="en-US" sz="2000" i="1" dirty="0">
              <a:latin typeface="Calibri" pitchFamily="34" charset="0"/>
              <a:cs typeface="Calibri" pitchFamily="34" charset="0"/>
            </a:endParaRPr>
          </a:p>
          <a:p>
            <a:pPr>
              <a:buFontTx/>
              <a:buChar char="•"/>
            </a:pPr>
            <a:r>
              <a:rPr lang="en-US" sz="2000">
                <a:latin typeface="Calibri" pitchFamily="34" charset="0"/>
                <a:cs typeface="Calibri" pitchFamily="34" charset="0"/>
              </a:rPr>
              <a:t> </a:t>
            </a:r>
            <a:r>
              <a:rPr lang="en-US" sz="2000" smtClean="0">
                <a:latin typeface="Calibri" pitchFamily="34" charset="0"/>
                <a:cs typeface="Calibri" pitchFamily="34" charset="0"/>
              </a:rPr>
              <a:t>Add/link </a:t>
            </a:r>
            <a:r>
              <a:rPr lang="en-US" sz="2000" dirty="0">
                <a:latin typeface="Calibri" pitchFamily="34" charset="0"/>
                <a:cs typeface="Calibri" pitchFamily="34" charset="0"/>
              </a:rPr>
              <a:t>files </a:t>
            </a:r>
            <a:r>
              <a:rPr lang="en-US" sz="2000">
                <a:latin typeface="Calibri" pitchFamily="34" charset="0"/>
                <a:cs typeface="Calibri" pitchFamily="34" charset="0"/>
              </a:rPr>
              <a:t>(</a:t>
            </a:r>
            <a:r>
              <a:rPr lang="en-US" sz="2000" smtClean="0">
                <a:latin typeface="Calibri" pitchFamily="34" charset="0"/>
                <a:cs typeface="Calibri" pitchFamily="34" charset="0"/>
              </a:rPr>
              <a:t>main.c, driverlib/folder)</a:t>
            </a:r>
            <a:endParaRPr lang="en-US" sz="2000" dirty="0">
              <a:latin typeface="Calibri" pitchFamily="34" charset="0"/>
              <a:cs typeface="Calibri" pitchFamily="34" charset="0"/>
            </a:endParaRPr>
          </a:p>
          <a:p>
            <a:pPr>
              <a:buFontTx/>
              <a:buChar char="•"/>
            </a:pPr>
            <a:r>
              <a:rPr lang="en-US" sz="2000" i="1" smtClean="0">
                <a:solidFill>
                  <a:schemeClr val="tx2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en-US" sz="2000" i="1" u="sng" smtClean="0">
                <a:solidFill>
                  <a:schemeClr val="tx2"/>
                </a:solidFill>
                <a:latin typeface="Calibri" pitchFamily="34" charset="0"/>
                <a:cs typeface="Calibri" pitchFamily="34" charset="0"/>
              </a:rPr>
              <a:t>Create </a:t>
            </a:r>
            <a:r>
              <a:rPr lang="en-US" sz="2000" i="1" u="sng" dirty="0" smtClean="0">
                <a:solidFill>
                  <a:schemeClr val="tx2"/>
                </a:solidFill>
                <a:latin typeface="Calibri" pitchFamily="34" charset="0"/>
                <a:cs typeface="Calibri" pitchFamily="34" charset="0"/>
              </a:rPr>
              <a:t>Idle object </a:t>
            </a:r>
            <a:r>
              <a:rPr lang="en-US" sz="2000" dirty="0" smtClean="0">
                <a:latin typeface="Calibri" pitchFamily="34" charset="0"/>
                <a:cs typeface="Calibri" pitchFamily="34" charset="0"/>
              </a:rPr>
              <a:t>(for </a:t>
            </a:r>
            <a:r>
              <a:rPr lang="en-US" sz="2000" dirty="0" err="1" smtClean="0">
                <a:latin typeface="Calibri" pitchFamily="34" charset="0"/>
                <a:cs typeface="Calibri" pitchFamily="34" charset="0"/>
              </a:rPr>
              <a:t>fxn</a:t>
            </a:r>
            <a:r>
              <a:rPr lang="en-US" sz="20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000" b="0" i="1" dirty="0" err="1" smtClean="0">
                <a:latin typeface="Calibri" pitchFamily="34" charset="0"/>
                <a:cs typeface="Calibri" pitchFamily="34" charset="0"/>
              </a:rPr>
              <a:t>ledToggle</a:t>
            </a:r>
            <a:r>
              <a:rPr lang="en-US" sz="2000" dirty="0" smtClean="0">
                <a:latin typeface="Calibri" pitchFamily="34" charset="0"/>
                <a:cs typeface="Calibri" pitchFamily="34" charset="0"/>
              </a:rPr>
              <a:t>)</a:t>
            </a:r>
            <a:endParaRPr lang="en-US" sz="2000" dirty="0">
              <a:latin typeface="Calibri" pitchFamily="34" charset="0"/>
              <a:cs typeface="Calibri" pitchFamily="34" charset="0"/>
            </a:endParaRPr>
          </a:p>
          <a:p>
            <a:pPr>
              <a:buFontTx/>
              <a:buChar char="•"/>
            </a:pPr>
            <a:r>
              <a:rPr lang="en-US" sz="2000" dirty="0">
                <a:latin typeface="Calibri" pitchFamily="34" charset="0"/>
                <a:cs typeface="Calibri" pitchFamily="34" charset="0"/>
              </a:rPr>
              <a:t> Build, “Play</a:t>
            </a:r>
            <a:r>
              <a:rPr lang="en-US" sz="2000">
                <a:latin typeface="Calibri" pitchFamily="34" charset="0"/>
                <a:cs typeface="Calibri" pitchFamily="34" charset="0"/>
              </a:rPr>
              <a:t>”, </a:t>
            </a:r>
            <a:r>
              <a:rPr lang="en-US" sz="2000" smtClean="0">
                <a:latin typeface="Calibri" pitchFamily="34" charset="0"/>
                <a:cs typeface="Calibri" pitchFamily="34" charset="0"/>
              </a:rPr>
              <a:t>Debug</a:t>
            </a:r>
          </a:p>
          <a:p>
            <a:pPr>
              <a:buFontTx/>
              <a:buChar char="•"/>
            </a:pPr>
            <a:r>
              <a:rPr lang="en-US" sz="2000">
                <a:latin typeface="Calibri" pitchFamily="34" charset="0"/>
                <a:cs typeface="Calibri" pitchFamily="34" charset="0"/>
              </a:rPr>
              <a:t> </a:t>
            </a:r>
            <a:r>
              <a:rPr lang="en-US" sz="2000" smtClean="0">
                <a:latin typeface="Calibri" pitchFamily="34" charset="0"/>
                <a:cs typeface="Calibri" pitchFamily="34" charset="0"/>
              </a:rPr>
              <a:t>Add UIA/SA to project and configure</a:t>
            </a:r>
          </a:p>
          <a:p>
            <a:pPr>
              <a:buFontTx/>
              <a:buChar char="•"/>
            </a:pPr>
            <a:r>
              <a:rPr lang="en-US" sz="2000">
                <a:latin typeface="Calibri" pitchFamily="34" charset="0"/>
                <a:cs typeface="Calibri" pitchFamily="34" charset="0"/>
              </a:rPr>
              <a:t> </a:t>
            </a:r>
            <a:r>
              <a:rPr lang="en-US" sz="2000" smtClean="0">
                <a:latin typeface="Calibri" pitchFamily="34" charset="0"/>
                <a:cs typeface="Calibri" pitchFamily="34" charset="0"/>
              </a:rPr>
              <a:t>Use Log_info() to print #toggles</a:t>
            </a:r>
            <a:endParaRPr lang="en-US" sz="2000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33818" name="Oval 137"/>
          <p:cNvSpPr>
            <a:spLocks noChangeArrowheads="1"/>
          </p:cNvSpPr>
          <p:nvPr/>
        </p:nvSpPr>
        <p:spPr bwMode="auto">
          <a:xfrm>
            <a:off x="638300" y="4336475"/>
            <a:ext cx="1905000" cy="685800"/>
          </a:xfrm>
          <a:prstGeom prst="ellipse">
            <a:avLst/>
          </a:prstGeom>
          <a:solidFill>
            <a:schemeClr val="bg2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pPr algn="ctr"/>
            <a:r>
              <a:rPr lang="en-US" sz="2000">
                <a:latin typeface="Courier New" pitchFamily="49" charset="0"/>
              </a:rPr>
              <a:t>while(1) {}</a:t>
            </a:r>
          </a:p>
        </p:txBody>
      </p:sp>
      <p:sp>
        <p:nvSpPr>
          <p:cNvPr id="525451" name="Line 139"/>
          <p:cNvSpPr>
            <a:spLocks noChangeShapeType="1"/>
          </p:cNvSpPr>
          <p:nvPr/>
        </p:nvSpPr>
        <p:spPr bwMode="auto">
          <a:xfrm flipH="1">
            <a:off x="1019300" y="4184075"/>
            <a:ext cx="1143000" cy="914400"/>
          </a:xfrm>
          <a:prstGeom prst="line">
            <a:avLst/>
          </a:prstGeom>
          <a:noFill/>
          <a:ln w="57150">
            <a:solidFill>
              <a:srgbClr val="FF3300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pPr>
              <a:defRPr/>
            </a:pPr>
            <a:endParaRPr 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3820" name="Text Box 140"/>
          <p:cNvSpPr txBox="1">
            <a:spLocks noChangeArrowheads="1"/>
          </p:cNvSpPr>
          <p:nvPr/>
        </p:nvSpPr>
        <p:spPr bwMode="auto">
          <a:xfrm>
            <a:off x="772946" y="5069900"/>
            <a:ext cx="1669047" cy="584775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 algn="ctr"/>
            <a:r>
              <a:rPr lang="en-US" sz="2000" b="0" dirty="0">
                <a:latin typeface="Arial Narrow" pitchFamily="34" charset="0"/>
              </a:rPr>
              <a:t>while() loop</a:t>
            </a:r>
            <a:br>
              <a:rPr lang="en-US" sz="2000" b="0" dirty="0">
                <a:latin typeface="Arial Narrow" pitchFamily="34" charset="0"/>
              </a:rPr>
            </a:br>
            <a:r>
              <a:rPr lang="en-US" sz="2000" b="0" dirty="0">
                <a:latin typeface="Arial Narrow" pitchFamily="34" charset="0"/>
              </a:rPr>
              <a:t>replaced by </a:t>
            </a:r>
            <a:r>
              <a:rPr lang="en-US" sz="2000" b="0" dirty="0" smtClean="0">
                <a:latin typeface="Arial Narrow" pitchFamily="34" charset="0"/>
              </a:rPr>
              <a:t>Idle</a:t>
            </a:r>
            <a:endParaRPr lang="en-US" sz="2000" b="0" dirty="0">
              <a:latin typeface="Arial Narrow" pitchFamily="34" charset="0"/>
            </a:endParaRPr>
          </a:p>
        </p:txBody>
      </p:sp>
      <p:sp>
        <p:nvSpPr>
          <p:cNvPr id="525453" name="Line 141"/>
          <p:cNvSpPr>
            <a:spLocks noChangeShapeType="1"/>
          </p:cNvSpPr>
          <p:nvPr/>
        </p:nvSpPr>
        <p:spPr bwMode="auto">
          <a:xfrm>
            <a:off x="2314700" y="5346125"/>
            <a:ext cx="790575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 type="none" w="sm" len="sm"/>
            <a:tailEnd type="triangle" w="med" len="med"/>
          </a:ln>
          <a:effectLst/>
        </p:spPr>
        <p:txBody>
          <a:bodyPr/>
          <a:lstStyle/>
          <a:p>
            <a:pPr>
              <a:defRPr/>
            </a:pPr>
            <a:endParaRPr 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0" name="Text Box 102"/>
          <p:cNvSpPr txBox="1">
            <a:spLocks noChangeArrowheads="1"/>
          </p:cNvSpPr>
          <p:nvPr/>
        </p:nvSpPr>
        <p:spPr bwMode="auto">
          <a:xfrm>
            <a:off x="2438400" y="6317802"/>
            <a:ext cx="2213876" cy="387798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 marL="342900" indent="-342900">
              <a:buClr>
                <a:schemeClr val="tx2"/>
              </a:buClr>
              <a:buSzPct val="75000"/>
              <a:buFont typeface="Wingdings" pitchFamily="2" charset="2"/>
              <a:buChar char=""/>
            </a:pPr>
            <a:r>
              <a:rPr lang="en-US" b="0" dirty="0">
                <a:solidFill>
                  <a:schemeClr val="tx2"/>
                </a:solidFill>
              </a:rPr>
              <a:t>Time: </a:t>
            </a:r>
            <a:r>
              <a:rPr lang="en-US" b="0" dirty="0" smtClean="0">
                <a:solidFill>
                  <a:schemeClr val="tx2"/>
                </a:solidFill>
              </a:rPr>
              <a:t>60min</a:t>
            </a:r>
            <a:endParaRPr lang="en-US" b="0" dirty="0">
              <a:solidFill>
                <a:schemeClr val="tx2"/>
              </a:solidFill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174844" y="739322"/>
            <a:ext cx="3512125" cy="124187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 anchorCtr="0">
            <a:spAutoFit/>
          </a:bodyPr>
          <a:lstStyle/>
          <a:p>
            <a:pPr>
              <a:spcBef>
                <a:spcPts val="900"/>
              </a:spcBef>
            </a:pPr>
            <a:r>
              <a:rPr lang="en-US" u="sng" smtClean="0">
                <a:solidFill>
                  <a:srgbClr val="FF0000"/>
                </a:solidFill>
                <a:latin typeface="Calibri" pitchFamily="34" charset="0"/>
                <a:cs typeface="Calibri" pitchFamily="34" charset="0"/>
              </a:rPr>
              <a:t>Lab Goal:</a:t>
            </a:r>
          </a:p>
          <a:p>
            <a:pPr>
              <a:spcBef>
                <a:spcPts val="900"/>
              </a:spcBef>
            </a:pPr>
            <a:r>
              <a:rPr lang="en-US" sz="2000" b="0" smtClean="0">
                <a:solidFill>
                  <a:schemeClr val="dk1"/>
                </a:solidFill>
                <a:latin typeface="Calibri" pitchFamily="34" charset="0"/>
                <a:cs typeface="Calibri" pitchFamily="34" charset="0"/>
              </a:rPr>
              <a:t>This is your first TI-RTOS Kernel project – and you just want to blink an LED in Idle </a:t>
            </a:r>
            <a:endParaRPr lang="en-US" sz="2000" b="0" dirty="0" smtClean="0">
              <a:solidFill>
                <a:schemeClr val="dk1"/>
              </a:solidFill>
              <a:effectLst/>
              <a:latin typeface="Calibri" pitchFamily="34" charset="0"/>
              <a:cs typeface="Calibri" pitchFamily="34" charset="0"/>
            </a:endParaRPr>
          </a:p>
        </p:txBody>
      </p:sp>
    </p:spTree>
    <p:custDataLst>
      <p:tags r:id="rId1"/>
    </p:custData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866" name="Rectangle 2"/>
          <p:cNvSpPr>
            <a:spLocks noChangeArrowheads="1"/>
          </p:cNvSpPr>
          <p:nvPr/>
        </p:nvSpPr>
        <p:spPr bwMode="auto">
          <a:xfrm>
            <a:off x="0" y="0"/>
            <a:ext cx="9144000" cy="6858000"/>
          </a:xfrm>
          <a:prstGeom prst="rect">
            <a:avLst/>
          </a:prstGeom>
          <a:solidFill>
            <a:srgbClr val="FFFFFF">
              <a:alpha val="50000"/>
            </a:srgb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eaLnBrk="1" hangingPunct="1">
              <a:lnSpc>
                <a:spcPct val="100000"/>
              </a:lnSpc>
              <a:spcBef>
                <a:spcPct val="0"/>
              </a:spcBef>
              <a:defRPr/>
            </a:pPr>
            <a:endParaRPr lang="en-US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itchFamily="34" charset="0"/>
            </a:endParaRPr>
          </a:p>
        </p:txBody>
      </p:sp>
      <p:pic>
        <p:nvPicPr>
          <p:cNvPr id="6" name="Picture 2" descr="ti_stk_2c_pos_rgb_jp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59325" y="1752600"/>
            <a:ext cx="8839200" cy="3101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" name="Animated Logo" descr="tilogo_color_twoline.png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50800" y="6477000"/>
            <a:ext cx="1438537" cy="347443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65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Boot Sequence</a:t>
            </a:r>
          </a:p>
        </p:txBody>
      </p:sp>
      <p:pic>
        <p:nvPicPr>
          <p:cNvPr id="1046532" name="Picture 4" descr="Boot_sequence_updated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04799" y="609600"/>
            <a:ext cx="6203419" cy="5963809"/>
          </a:xfrm>
          <a:prstGeom prst="rect">
            <a:avLst/>
          </a:prstGeom>
          <a:noFill/>
        </p:spPr>
      </p:pic>
      <p:sp>
        <p:nvSpPr>
          <p:cNvPr id="1046533" name="Rectangle 5"/>
          <p:cNvSpPr>
            <a:spLocks noChangeArrowheads="1"/>
          </p:cNvSpPr>
          <p:nvPr/>
        </p:nvSpPr>
        <p:spPr bwMode="auto">
          <a:xfrm>
            <a:off x="6172200" y="2209800"/>
            <a:ext cx="2495550" cy="1358900"/>
          </a:xfrm>
          <a:prstGeom prst="rect">
            <a:avLst/>
          </a:prstGeom>
          <a:solidFill>
            <a:schemeClr val="accent1"/>
          </a:solidFill>
          <a:ln w="12700" algn="ctr">
            <a:solidFill>
              <a:srgbClr val="666633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r>
              <a:rPr lang="en-US" sz="1800" dirty="0">
                <a:latin typeface="Arial Narrow" pitchFamily="34" charset="0"/>
              </a:rPr>
              <a:t>Described in detail in the </a:t>
            </a:r>
            <a:br>
              <a:rPr lang="en-US" sz="1800" dirty="0">
                <a:latin typeface="Arial Narrow" pitchFamily="34" charset="0"/>
              </a:rPr>
            </a:br>
            <a:r>
              <a:rPr lang="en-US" sz="1800" dirty="0">
                <a:latin typeface="Arial Narrow" pitchFamily="34" charset="0"/>
              </a:rPr>
              <a:t>User’s Guide and the</a:t>
            </a:r>
            <a:br>
              <a:rPr lang="en-US" sz="1800" dirty="0">
                <a:latin typeface="Arial Narrow" pitchFamily="34" charset="0"/>
              </a:rPr>
            </a:br>
            <a:r>
              <a:rPr lang="en-US" sz="1800" dirty="0" err="1">
                <a:latin typeface="Arial Narrow" pitchFamily="34" charset="0"/>
              </a:rPr>
              <a:t>Stellaris</a:t>
            </a:r>
            <a:r>
              <a:rPr lang="en-US" sz="1800" dirty="0">
                <a:latin typeface="Arial Narrow" pitchFamily="34" charset="0"/>
              </a:rPr>
              <a:t>/BIOS wiki page </a:t>
            </a:r>
          </a:p>
        </p:txBody>
      </p:sp>
      <p:pic>
        <p:nvPicPr>
          <p:cNvPr id="6" name="Animated Logo" descr="tilogo_color_twoline.pn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50800" y="6477000"/>
            <a:ext cx="1438537" cy="347443"/>
          </a:xfrm>
          <a:prstGeom prst="rect">
            <a:avLst/>
          </a:prstGeom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Platform (Memory </a:t>
            </a:r>
            <a:r>
              <a:rPr lang="en-US" dirty="0" err="1" smtClean="0"/>
              <a:t>Config</a:t>
            </a:r>
            <a:r>
              <a:rPr lang="en-US" dirty="0" smtClean="0"/>
              <a:t>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6048" y="2379064"/>
            <a:ext cx="2808782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Clr>
                <a:schemeClr val="tx2"/>
              </a:buClr>
              <a:buSzPct val="75000"/>
              <a:buFont typeface="Wingdings"/>
              <a:buChar char=""/>
            </a:pPr>
            <a:r>
              <a:rPr lang="en-US" sz="2000" b="0" dirty="0" smtClean="0">
                <a:latin typeface="Arial Narrow" pitchFamily="34" charset="0"/>
              </a:rPr>
              <a:t>Create Internal Memory </a:t>
            </a:r>
            <a:br>
              <a:rPr lang="en-US" sz="2000" b="0" dirty="0" smtClean="0">
                <a:latin typeface="Arial Narrow" pitchFamily="34" charset="0"/>
              </a:rPr>
            </a:br>
            <a:r>
              <a:rPr lang="en-US" sz="2000" b="0" dirty="0" smtClean="0">
                <a:latin typeface="Arial Narrow" pitchFamily="34" charset="0"/>
              </a:rPr>
              <a:t>Segments (e.g. IRAM)</a:t>
            </a:r>
          </a:p>
          <a:p>
            <a:pPr marL="342900" indent="-342900">
              <a:buClr>
                <a:schemeClr val="tx2"/>
              </a:buClr>
              <a:buSzPct val="75000"/>
              <a:buFont typeface="Wingdings"/>
              <a:buChar char=""/>
            </a:pPr>
            <a:r>
              <a:rPr lang="en-US" sz="2000" b="0" dirty="0" smtClean="0">
                <a:latin typeface="Arial Narrow" pitchFamily="34" charset="0"/>
              </a:rPr>
              <a:t>Configure cache </a:t>
            </a:r>
          </a:p>
          <a:p>
            <a:pPr marL="342900" indent="-342900">
              <a:buClr>
                <a:schemeClr val="tx2"/>
              </a:buClr>
              <a:buSzPct val="75000"/>
              <a:buFont typeface="Wingdings"/>
              <a:buChar char=""/>
            </a:pPr>
            <a:r>
              <a:rPr lang="en-US" sz="2000" b="0" smtClean="0">
                <a:latin typeface="Arial Narrow" pitchFamily="34" charset="0"/>
              </a:rPr>
              <a:t>Define Ext’l Memory</a:t>
            </a:r>
            <a:endParaRPr lang="en-US" sz="2000" b="0" dirty="0">
              <a:latin typeface="Arial Narrow" pitchFamily="34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52400" y="2021120"/>
            <a:ext cx="2424062" cy="3877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Memory </a:t>
            </a:r>
            <a:r>
              <a:rPr lang="en-US" dirty="0" err="1" smtClean="0"/>
              <a:t>Config</a:t>
            </a:r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152400" y="4323307"/>
            <a:ext cx="279595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Clr>
                <a:schemeClr val="tx2"/>
              </a:buClr>
              <a:buSzPct val="75000"/>
              <a:buFont typeface="Wingdings"/>
              <a:buChar char=""/>
            </a:pPr>
            <a:r>
              <a:rPr lang="en-US" sz="2000" b="0" smtClean="0">
                <a:latin typeface="Arial Narrow" pitchFamily="34" charset="0"/>
              </a:rPr>
              <a:t>Link code, data, stack to</a:t>
            </a:r>
            <a:br>
              <a:rPr lang="en-US" sz="2000" b="0" smtClean="0">
                <a:latin typeface="Arial Narrow" pitchFamily="34" charset="0"/>
              </a:rPr>
            </a:br>
            <a:r>
              <a:rPr lang="en-US" sz="2000" b="0" smtClean="0">
                <a:latin typeface="Arial Narrow" pitchFamily="34" charset="0"/>
              </a:rPr>
              <a:t>any memory segment</a:t>
            </a:r>
            <a:endParaRPr lang="en-US" sz="2000" b="0" dirty="0">
              <a:latin typeface="Arial Narrow" pitchFamily="34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52400" y="3992659"/>
            <a:ext cx="2920992" cy="3877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Section Placement</a:t>
            </a:r>
            <a:endParaRPr lang="en-US" dirty="0"/>
          </a:p>
        </p:txBody>
      </p:sp>
      <p:sp>
        <p:nvSpPr>
          <p:cNvPr id="16" name="TextBox 15"/>
          <p:cNvSpPr txBox="1"/>
          <p:nvPr/>
        </p:nvSpPr>
        <p:spPr>
          <a:xfrm>
            <a:off x="166048" y="5417403"/>
            <a:ext cx="275107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Clr>
                <a:schemeClr val="tx2"/>
              </a:buClr>
              <a:buSzPct val="75000"/>
              <a:buFont typeface="Wingdings"/>
              <a:buChar char=""/>
            </a:pPr>
            <a:r>
              <a:rPr lang="en-US" sz="2000" b="0" dirty="0" smtClean="0">
                <a:latin typeface="Arial Narrow" pitchFamily="34" charset="0"/>
              </a:rPr>
              <a:t>Use “Import” button</a:t>
            </a:r>
            <a:br>
              <a:rPr lang="en-US" sz="2000" b="0" dirty="0" smtClean="0">
                <a:latin typeface="Arial Narrow" pitchFamily="34" charset="0"/>
              </a:rPr>
            </a:br>
            <a:r>
              <a:rPr lang="en-US" sz="2000" b="0" dirty="0" smtClean="0">
                <a:latin typeface="Arial Narrow" pitchFamily="34" charset="0"/>
              </a:rPr>
              <a:t>to copy “seed” platform</a:t>
            </a:r>
            <a:br>
              <a:rPr lang="en-US" sz="2000" b="0" dirty="0" smtClean="0">
                <a:latin typeface="Arial Narrow" pitchFamily="34" charset="0"/>
              </a:rPr>
            </a:br>
            <a:r>
              <a:rPr lang="en-US" sz="2000" b="0" dirty="0" smtClean="0">
                <a:latin typeface="Arial Narrow" pitchFamily="34" charset="0"/>
              </a:rPr>
              <a:t>and then customize</a:t>
            </a:r>
            <a:endParaRPr lang="en-US" sz="2000" b="0" dirty="0">
              <a:latin typeface="Arial Narrow" pitchFamily="34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52400" y="5059459"/>
            <a:ext cx="2664512" cy="3877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Custom Platform</a:t>
            </a:r>
            <a:endParaRPr lang="en-US" dirty="0"/>
          </a:p>
        </p:txBody>
      </p:sp>
      <p:pic>
        <p:nvPicPr>
          <p:cNvPr id="6146" name="Picture 2" descr="C:\Documents and Settings\a0159877\Desktop\SYSBIOS Snaps\extra\mother_platform.pn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048000" y="1818115"/>
            <a:ext cx="5887096" cy="4191000"/>
          </a:xfrm>
          <a:prstGeom prst="rect">
            <a:avLst/>
          </a:prstGeom>
          <a:noFill/>
          <a:ln w="28575">
            <a:solidFill>
              <a:schemeClr val="tx1"/>
            </a:solidFill>
          </a:ln>
          <a:effectLst>
            <a:outerShdw blurRad="50800" dist="889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3074" name="Picture 2" descr="C:\Documents and Settings\a0159877\Desktop\SYSBIOS Snaps\extra\view_platform.png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5181599" y="827515"/>
            <a:ext cx="3366339" cy="1488744"/>
          </a:xfrm>
          <a:prstGeom prst="rect">
            <a:avLst/>
          </a:prstGeom>
          <a:noFill/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026" name="Picture 2" descr="C:\Users\a0159877\AppData\Local\Temp\SNAGHTML9d70476.PNG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1875" y="707883"/>
            <a:ext cx="3280309" cy="14798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Animated Logo" descr="tilogo_color_twoline.png"/>
          <p:cNvPicPr>
            <a:picLocks noChangeAspect="1"/>
          </p:cNvPicPr>
          <p:nvPr/>
        </p:nvPicPr>
        <p:blipFill>
          <a:blip r:embed="rId7" cstate="print"/>
          <a:stretch>
            <a:fillRect/>
          </a:stretch>
        </p:blipFill>
        <p:spPr>
          <a:xfrm>
            <a:off x="50800" y="6477000"/>
            <a:ext cx="1438537" cy="347443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367514660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FFF6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9704" name="Rectangle 8"/>
          <p:cNvSpPr>
            <a:spLocks noChangeArrowheads="1"/>
          </p:cNvSpPr>
          <p:nvPr/>
        </p:nvSpPr>
        <p:spPr bwMode="auto">
          <a:xfrm>
            <a:off x="547048" y="1524000"/>
            <a:ext cx="5105400" cy="3810000"/>
          </a:xfrm>
          <a:prstGeom prst="rect">
            <a:avLst/>
          </a:prstGeom>
          <a:solidFill>
            <a:srgbClr val="92D050"/>
          </a:solidFill>
          <a:ln w="19050">
            <a:solidFill>
              <a:schemeClr val="tx1"/>
            </a:solidFill>
            <a:miter lim="800000"/>
            <a:headEnd type="none" w="sm" len="sm"/>
            <a:tailEnd type="none" w="sm" len="sm"/>
          </a:ln>
          <a:effectLst>
            <a:outerShdw blurRad="50800" dist="88900" dir="2700000" algn="tl" rotWithShape="0">
              <a:prstClr val="black">
                <a:alpha val="40000"/>
              </a:prstClr>
            </a:outerShdw>
          </a:effectLst>
        </p:spPr>
        <p:txBody>
          <a:bodyPr wrap="none" anchor="ctr"/>
          <a:lstStyle/>
          <a:p>
            <a:pPr>
              <a:defRPr/>
            </a:pPr>
            <a:endParaRPr lang="en-US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198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>
                <a:solidFill>
                  <a:schemeClr val="tx1"/>
                </a:solidFill>
              </a:rPr>
              <a:t>Outline</a:t>
            </a:r>
          </a:p>
        </p:txBody>
      </p:sp>
      <p:sp>
        <p:nvSpPr>
          <p:cNvPr id="41988" name="Text Box 3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547048" y="1588449"/>
            <a:ext cx="5105400" cy="480131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square" tIns="45720" bIns="45720" anchor="ctr" anchorCtr="0">
            <a:spAutoFit/>
          </a:bodyPr>
          <a:lstStyle/>
          <a:p>
            <a:pPr marL="342900" indent="-342900">
              <a:lnSpc>
                <a:spcPct val="90000"/>
              </a:lnSpc>
              <a:spcBef>
                <a:spcPct val="0"/>
              </a:spcBef>
              <a:buClr>
                <a:srgbClr val="0066FF"/>
              </a:buClr>
              <a:buSzPct val="75000"/>
              <a:buFont typeface="Wingdings" pitchFamily="2" charset="2"/>
              <a:buChar char=""/>
            </a:pPr>
            <a:r>
              <a:rPr lang="en-US" sz="2800" dirty="0" err="1">
                <a:solidFill>
                  <a:srgbClr val="000000"/>
                </a:solidFill>
              </a:rPr>
              <a:t>MainHighlight</a:t>
            </a:r>
            <a:endParaRPr lang="en-US" sz="2800" dirty="0">
              <a:solidFill>
                <a:srgbClr val="000000"/>
              </a:solidFill>
            </a:endParaRPr>
          </a:p>
        </p:txBody>
      </p:sp>
      <p:sp>
        <p:nvSpPr>
          <p:cNvPr id="41989" name="Text Box 4"/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552450" y="2110669"/>
            <a:ext cx="5099998" cy="480131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square" tIns="45720" bIns="45720" anchor="ctr" anchorCtr="0">
            <a:spAutoFit/>
          </a:bodyPr>
          <a:lstStyle/>
          <a:p>
            <a:pPr marL="342900" indent="-342900">
              <a:lnSpc>
                <a:spcPct val="90000"/>
              </a:lnSpc>
              <a:spcBef>
                <a:spcPct val="0"/>
              </a:spcBef>
              <a:buClr>
                <a:srgbClr val="0066FF"/>
              </a:buClr>
              <a:buSzPct val="75000"/>
              <a:buFont typeface="Wingdings" pitchFamily="2" charset="2"/>
              <a:buChar char=""/>
            </a:pPr>
            <a:r>
              <a:rPr lang="en-US" sz="2800" dirty="0" err="1">
                <a:solidFill>
                  <a:srgbClr val="000000"/>
                </a:solidFill>
              </a:rPr>
              <a:t>MainNormal</a:t>
            </a:r>
            <a:endParaRPr lang="en-US" sz="2800" dirty="0">
              <a:solidFill>
                <a:srgbClr val="000000"/>
              </a:solidFill>
            </a:endParaRPr>
          </a:p>
        </p:txBody>
      </p:sp>
      <p:sp>
        <p:nvSpPr>
          <p:cNvPr id="41990" name="Text Box 5"/>
          <p:cNvSpPr txBox="1"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1029896" y="2623268"/>
            <a:ext cx="4053527" cy="424732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square" anchor="ctr" anchorCtr="0">
            <a:spAutoFit/>
          </a:bodyPr>
          <a:lstStyle/>
          <a:p>
            <a:pPr marL="342900" indent="-342900">
              <a:lnSpc>
                <a:spcPct val="90000"/>
              </a:lnSpc>
              <a:spcBef>
                <a:spcPct val="0"/>
              </a:spcBef>
              <a:buClr>
                <a:srgbClr val="0066FF"/>
              </a:buClr>
              <a:buSzPct val="75000"/>
              <a:buFont typeface="Wingdings" pitchFamily="2" charset="2"/>
              <a:buChar char=""/>
            </a:pPr>
            <a:r>
              <a:rPr lang="en-US" dirty="0" err="1">
                <a:solidFill>
                  <a:srgbClr val="000000"/>
                </a:solidFill>
              </a:rPr>
              <a:t>SubHighlight</a:t>
            </a: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41991" name="Text Box 6"/>
          <p:cNvSpPr txBox="1"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1061398" y="3083418"/>
            <a:ext cx="4667250" cy="369332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tIns="18288" bIns="18288" anchor="ctr" anchorCtr="0">
            <a:spAutoFit/>
          </a:bodyPr>
          <a:lstStyle/>
          <a:p>
            <a:pPr marL="342900" indent="-342900">
              <a:lnSpc>
                <a:spcPct val="90000"/>
              </a:lnSpc>
              <a:spcBef>
                <a:spcPct val="0"/>
              </a:spcBef>
              <a:buClr>
                <a:srgbClr val="0066FF"/>
              </a:buClr>
              <a:buSzPct val="75000"/>
              <a:buFont typeface="Wingdings" pitchFamily="2" charset="2"/>
              <a:buChar char=""/>
            </a:pPr>
            <a:r>
              <a:rPr lang="en-US" dirty="0" err="1">
                <a:solidFill>
                  <a:srgbClr val="000000"/>
                </a:solidFill>
              </a:rPr>
              <a:t>SubNormal</a:t>
            </a:r>
            <a:endParaRPr lang="en-US" dirty="0">
              <a:solidFill>
                <a:srgbClr val="000000"/>
              </a:solidFill>
            </a:endParaRPr>
          </a:p>
        </p:txBody>
      </p:sp>
      <p:pic>
        <p:nvPicPr>
          <p:cNvPr id="72706" name="Picture 2" descr="C:\Documents and Settings\a0159877\Desktop\250px-Operating_system_placement.svg.png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6160824" y="1316817"/>
            <a:ext cx="2819400" cy="4172713"/>
          </a:xfrm>
          <a:prstGeom prst="rect">
            <a:avLst/>
          </a:prstGeom>
          <a:noFill/>
        </p:spPr>
      </p:pic>
    </p:spTree>
    <p:custDataLst>
      <p:tags r:id="rId1"/>
    </p:custData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CHEMEINDEX" val="4"/>
  <p:tag name="NO LOGOS" val="tru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 LOGOS" val="true"/>
  <p:tag name="ADMINISTRATIVESLIDE" val="Tru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LESTONETEMPLATEMODE" val="Indented_Single"/>
  <p:tag name="MILESTONETEMPLATEVERSION" val="2.3"/>
  <p:tag name="NO LOGOS" val="true"/>
  <p:tag name="MILESTONESLIDE" val="True"/>
  <p:tag name="MILESTATUS" val="PresentationStyle"/>
  <p:tag name="MILESTONELEVEL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LELISTITEM" val="Level_1_Hili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LELISTITEM" val="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LELISTITEM" val="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LELISTITEM" val="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LELISTITEM" val="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LELISTITEM" val="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 LOGOS" val="tru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CHEMEINDEX" val="4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CHEMEINDEX" val="4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LESTONETEMPLATEMODE" val="Indented_Single"/>
  <p:tag name="MILESTONETEMPLATEVERSION" val="2.3"/>
  <p:tag name="NO LOGOS" val="true"/>
  <p:tag name="MILESTONESLIDE" val="True"/>
  <p:tag name="MILESTATUS" val="PresentationStyle"/>
  <p:tag name="MILESTONELEVEL" val="1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LELISTITEM" val="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LELISTITEM" val="Level_1_Hilite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LELISTITEM" val="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LELISTITEM" val="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LELISTITEM" val="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LELISTITEM" val="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CHEMEINDEX" val="4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CHEMEINDEX" val="4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CHEMEINDEX" val="4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CHEMEINDEX" val="4"/>
  <p:tag name="NO LOGOS" val="true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CHEMEINDEX" val="4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LESTONETEMPLATEMODE" val="Indented_Single"/>
  <p:tag name="MILESTONETEMPLATEVERSION" val="2.3"/>
  <p:tag name="NO LOGOS" val="true"/>
  <p:tag name="MILESTONESLIDE" val="True"/>
  <p:tag name="MILESTATUS" val="PresentationStyle"/>
  <p:tag name="MILESTONELEVEL" val="1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LELISTITEM" val="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LELISTITEM" val="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LELISTITEM" val="Level_1_Hilite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LELISTITEM" val="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LELISTITEM" val="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LELISTITEM" val="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CHEMEINDEX" val="4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LESTONETEMPLATEMODE" val="Indented_Single"/>
  <p:tag name="MILESTONETEMPLATEVERSION" val="2.3"/>
  <p:tag name="NO LOGOS" val="true"/>
  <p:tag name="MILESTONESLIDE" val="True"/>
  <p:tag name="MILESTATUS" val="PresentationStyle"/>
  <p:tag name="MILESTONELEVEL" val="1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LELISTITEM" val="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LELISTITEM" val="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LELISTITEM" val="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LELISTITEM" val="Level_1_Hilite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LELISTITEM" val="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LELISTITEM" val="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CHEMEINDEX" val="4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CHEMEINDEX" val="4"/>
  <p:tag name="NO LOGOS" val="true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CHEMEINDEX" val="4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CHEMEINDEX" val="4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LESTONETEMPLATEMODE" val="Indented_Single"/>
  <p:tag name="MILESTONETEMPLATEVERSION" val="2.3"/>
  <p:tag name="NO LOGOS" val="true"/>
  <p:tag name="MILESTONESLIDE" val="True"/>
  <p:tag name="MILESTATUS" val="PresentationStyle"/>
  <p:tag name="MILESTONELEVEL" val="1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LELISTITEM" val="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LELISTITEM" val="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LELISTITEM" val="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LELISTITEM" val="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LELISTITEM" val="Level_1_Hilite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LELISTITEM" val="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CHEMEINDEX" val="4"/>
  <p:tag name="NO LOGOS" val="true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LESTONETEMPLATEMODE" val="Indented_Single"/>
  <p:tag name="MILESTONETEMPLATEVERSION" val="2.3"/>
  <p:tag name="NO LOGOS" val="true"/>
  <p:tag name="MILESTONESLIDE" val="True"/>
  <p:tag name="MILESTATUS" val="PresentationStyle"/>
  <p:tag name="MILESTONELEVEL" val="1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LELISTITEM" val="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LELISTITEM" val="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LELISTITEM" val="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LELISTITEM" val="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LELISTITEM" val="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LELISTITEM" val="Level_1_Hilite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CHEMEINDEX" val="4"/>
  <p:tag name="ADMINISTRATIVESLIDE" val="True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DMINISTRATIVESLIDE" val="True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CHEMEINDEX" val="4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LESTONETEMPLATEMODE" val="Indented_Single"/>
  <p:tag name="MILESTONETEMPLATEVERSION" val="2.3"/>
  <p:tag name="NO LOGOS" val="true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LELISTITEM" val="Level_1_Hilite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LELISTITEM" val="Level_1_Normal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LELISTITEM" val="Level_2_Hilite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LELISTITEM" val="Level_2_Normal"/>
</p:tagLst>
</file>

<file path=ppt/theme/theme1.xml><?xml version="1.0" encoding="utf-8"?>
<a:theme xmlns:a="http://schemas.openxmlformats.org/drawingml/2006/main" name="ttoTheme">
  <a:themeElements>
    <a:clrScheme name="TTO standard">
      <a:dk1>
        <a:srgbClr val="000000"/>
      </a:dk1>
      <a:lt1>
        <a:srgbClr val="FFFFFF"/>
      </a:lt1>
      <a:dk2>
        <a:srgbClr val="FF0000"/>
      </a:dk2>
      <a:lt2>
        <a:srgbClr val="FFFFFF"/>
      </a:lt2>
      <a:accent1>
        <a:srgbClr val="F9F9F9"/>
      </a:accent1>
      <a:accent2>
        <a:srgbClr val="DEDEDE"/>
      </a:accent2>
      <a:accent3>
        <a:srgbClr val="C7C7C7"/>
      </a:accent3>
      <a:accent4>
        <a:srgbClr val="6699FF"/>
      </a:accent4>
      <a:accent5>
        <a:srgbClr val="FF0000"/>
      </a:accent5>
      <a:accent6>
        <a:srgbClr val="FFFFFF"/>
      </a:accent6>
      <a:hlink>
        <a:srgbClr val="C7C7C7"/>
      </a:hlink>
      <a:folHlink>
        <a:srgbClr val="6699FF"/>
      </a:folHlink>
    </a:clrScheme>
    <a:fontScheme name="tt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</a:spPr>
      <a:bodyPr vert="horz" wrap="square" lIns="91440" tIns="45720" rIns="91440" bIns="45720" numCol="1" rtlCol="0" anchor="ctr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8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sz="2800" b="1" i="0" u="none" strike="noStrike" cap="none" normalizeH="0" baseline="0" dirty="0" smtClean="0">
            <a:ln>
              <a:noFill/>
            </a:ln>
            <a:solidFill>
              <a:schemeClr val="dk1"/>
            </a:solidFill>
            <a:effectLst/>
            <a:latin typeface="Arial Narrow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8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lang="en-US" sz="2800" b="1" i="0" u="none" strike="noStrike" cap="none" normalizeH="0" baseline="0" smtClean="0">
            <a:ln>
              <a:noFill/>
            </a:ln>
            <a:solidFill>
              <a:schemeClr val="tx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Arial Narrow" pitchFamily="34" charset="0"/>
          </a:defRPr>
        </a:defPPr>
      </a:lstStyle>
    </a:lnDef>
    <a:txDef>
      <a:spPr>
        <a:noFill/>
      </a:spPr>
      <a:bodyPr wrap="square" rtlCol="0" anchor="ctr" anchorCtr="0">
        <a:spAutoFit/>
      </a:bodyPr>
      <a:lstStyle>
        <a:defPPr>
          <a:defRPr dirty="0" smtClean="0">
            <a:solidFill>
              <a:schemeClr val="dk1"/>
            </a:solidFill>
            <a:effectLst/>
          </a:defRPr>
        </a:defPPr>
      </a:lstStyle>
    </a:txDef>
  </a:objectDefaults>
  <a:extraClrSchemeLst>
    <a:extraClrScheme>
      <a:clrScheme name="TTO standard">
        <a:dk1>
          <a:srgbClr val="000000"/>
        </a:dk1>
        <a:lt1>
          <a:srgbClr val="FFFFFF"/>
        </a:lt1>
        <a:dk2>
          <a:srgbClr val="FF0000"/>
        </a:dk2>
        <a:lt2>
          <a:srgbClr val="FFFFFF"/>
        </a:lt2>
        <a:accent1>
          <a:srgbClr val="F9F9F9"/>
        </a:accent1>
        <a:accent2>
          <a:srgbClr val="DEDEDE"/>
        </a:accent2>
        <a:accent3>
          <a:srgbClr val="C7C7C7"/>
        </a:accent3>
        <a:accent4>
          <a:srgbClr val="6699FF"/>
        </a:accent4>
        <a:accent5>
          <a:srgbClr val="FF0000"/>
        </a:accent5>
        <a:accent6>
          <a:srgbClr val="FFFFFF"/>
        </a:accent6>
        <a:hlink>
          <a:srgbClr val="C7C7C7"/>
        </a:hlink>
        <a:folHlink>
          <a:srgbClr val="6699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I standard">
        <a:dk1>
          <a:srgbClr val="000000"/>
        </a:dk1>
        <a:lt1>
          <a:srgbClr val="FFFFFF"/>
        </a:lt1>
        <a:dk2>
          <a:srgbClr val="DE0000"/>
        </a:dk2>
        <a:lt2>
          <a:srgbClr val="808080"/>
        </a:lt2>
        <a:accent1>
          <a:srgbClr val="DE0000"/>
        </a:accent1>
        <a:accent2>
          <a:srgbClr val="AEAEAE"/>
        </a:accent2>
        <a:accent3>
          <a:srgbClr val="117788"/>
        </a:accent3>
        <a:accent4>
          <a:srgbClr val="404040"/>
        </a:accent4>
        <a:accent5>
          <a:srgbClr val="7F7F7F"/>
        </a:accent5>
        <a:accent6>
          <a:srgbClr val="32B4CE"/>
        </a:accent6>
        <a:hlink>
          <a:srgbClr val="DE0000"/>
        </a:hlink>
        <a:folHlink>
          <a:srgbClr val="AAAAA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to 1">
        <a:dk1>
          <a:srgbClr val="000000"/>
        </a:dk1>
        <a:lt1>
          <a:srgbClr val="FEFFFF"/>
        </a:lt1>
        <a:dk2>
          <a:srgbClr val="000000"/>
        </a:dk2>
        <a:lt2>
          <a:srgbClr val="FEFFFF"/>
        </a:lt2>
        <a:accent1>
          <a:srgbClr val="F6F6F6"/>
        </a:accent1>
        <a:accent2>
          <a:srgbClr val="AFAFAF"/>
        </a:accent2>
        <a:accent3>
          <a:srgbClr val="DEDEDE"/>
        </a:accent3>
        <a:accent4>
          <a:srgbClr val="C3C3C3"/>
        </a:accent4>
        <a:accent5>
          <a:srgbClr val="FAFAFA"/>
        </a:accent5>
        <a:accent6>
          <a:srgbClr val="9E9E9E"/>
        </a:accent6>
        <a:hlink>
          <a:srgbClr val="DEDEDE"/>
        </a:hlink>
        <a:folHlink>
          <a:srgbClr val="C3C3C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to 2">
        <a:dk1>
          <a:srgbClr val="2181B7"/>
        </a:dk1>
        <a:lt1>
          <a:srgbClr val="FFFFFF"/>
        </a:lt1>
        <a:dk2>
          <a:srgbClr val="2181B7"/>
        </a:dk2>
        <a:lt2>
          <a:srgbClr val="FFFF99"/>
        </a:lt2>
        <a:accent1>
          <a:srgbClr val="003399"/>
        </a:accent1>
        <a:accent2>
          <a:srgbClr val="01B0FF"/>
        </a:accent2>
        <a:accent3>
          <a:srgbClr val="6666FF"/>
        </a:accent3>
        <a:accent4>
          <a:srgbClr val="1C6D9A"/>
        </a:accent4>
        <a:accent5>
          <a:srgbClr val="474B72"/>
        </a:accent5>
        <a:accent6>
          <a:srgbClr val="7030A0"/>
        </a:accent6>
        <a:hlink>
          <a:srgbClr val="6666FF"/>
        </a:hlink>
        <a:folHlink>
          <a:srgbClr val="1C6D9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tto 3">
        <a:dk1>
          <a:srgbClr val="042AA4"/>
        </a:dk1>
        <a:lt1>
          <a:srgbClr val="FFFFFF"/>
        </a:lt1>
        <a:dk2>
          <a:srgbClr val="042AA4"/>
        </a:dk2>
        <a:lt2>
          <a:srgbClr val="FE9B03"/>
        </a:lt2>
        <a:accent1>
          <a:srgbClr val="000F40"/>
        </a:accent1>
        <a:accent2>
          <a:srgbClr val="603900"/>
        </a:accent2>
        <a:accent3>
          <a:srgbClr val="005C00"/>
        </a:accent3>
        <a:accent4>
          <a:srgbClr val="0249FC"/>
        </a:accent4>
        <a:accent5>
          <a:srgbClr val="7030A0"/>
        </a:accent5>
        <a:accent6>
          <a:srgbClr val="000000"/>
        </a:accent6>
        <a:hlink>
          <a:srgbClr val="005C00"/>
        </a:hlink>
        <a:folHlink>
          <a:srgbClr val="0249F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tto 4">
        <a:dk1>
          <a:srgbClr val="000000"/>
        </a:dk1>
        <a:lt1>
          <a:srgbClr val="FFFFFF"/>
        </a:lt1>
        <a:dk2>
          <a:srgbClr val="4282E0"/>
        </a:dk2>
        <a:lt2>
          <a:srgbClr val="FFFFFF"/>
        </a:lt2>
        <a:accent1>
          <a:srgbClr val="C0F6F5"/>
        </a:accent1>
        <a:accent2>
          <a:srgbClr val="FAFEDA"/>
        </a:accent2>
        <a:accent3>
          <a:srgbClr val="FFCCFF"/>
        </a:accent3>
        <a:accent4>
          <a:srgbClr val="B4FCB2"/>
        </a:accent4>
        <a:accent5>
          <a:srgbClr val="FFFF99"/>
        </a:accent5>
        <a:accent6>
          <a:srgbClr val="5DD3FF"/>
        </a:accent6>
        <a:hlink>
          <a:srgbClr val="FFCCFF"/>
        </a:hlink>
        <a:folHlink>
          <a:srgbClr val="B4FC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to 5">
        <a:dk1>
          <a:srgbClr val="000000"/>
        </a:dk1>
        <a:lt1>
          <a:srgbClr val="FFFFFF"/>
        </a:lt1>
        <a:dk2>
          <a:srgbClr val="0066FF"/>
        </a:dk2>
        <a:lt2>
          <a:srgbClr val="FFFFFF"/>
        </a:lt2>
        <a:accent1>
          <a:srgbClr val="FFFFCC"/>
        </a:accent1>
        <a:accent2>
          <a:srgbClr val="B5E0E3"/>
        </a:accent2>
        <a:accent3>
          <a:srgbClr val="E5D093"/>
        </a:accent3>
        <a:accent4>
          <a:srgbClr val="CCB374"/>
        </a:accent4>
        <a:accent5>
          <a:srgbClr val="C7A2E3"/>
        </a:accent5>
        <a:accent6>
          <a:srgbClr val="5DD3FF"/>
        </a:accent6>
        <a:hlink>
          <a:srgbClr val="E5D093"/>
        </a:hlink>
        <a:folHlink>
          <a:srgbClr val="CCB37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to 6">
        <a:dk1>
          <a:srgbClr val="000000"/>
        </a:dk1>
        <a:lt1>
          <a:srgbClr val="FFFFFF"/>
        </a:lt1>
        <a:dk2>
          <a:srgbClr val="FF0000"/>
        </a:dk2>
        <a:lt2>
          <a:srgbClr val="FFFFFF"/>
        </a:lt2>
        <a:accent1>
          <a:srgbClr val="FFFF66"/>
        </a:accent1>
        <a:accent2>
          <a:srgbClr val="99FF66"/>
        </a:accent2>
        <a:accent3>
          <a:srgbClr val="99FFCC"/>
        </a:accent3>
        <a:accent4>
          <a:srgbClr val="FF99FF"/>
        </a:accent4>
        <a:accent5>
          <a:srgbClr val="93E2FF"/>
        </a:accent5>
        <a:accent6>
          <a:srgbClr val="FFE599"/>
        </a:accent6>
        <a:hlink>
          <a:srgbClr val="99FFCC"/>
        </a:hlink>
        <a:folHlink>
          <a:srgbClr val="FF99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to 7">
        <a:dk1>
          <a:srgbClr val="FEFFFF"/>
        </a:dk1>
        <a:lt1>
          <a:srgbClr val="000000"/>
        </a:lt1>
        <a:dk2>
          <a:srgbClr val="FEFFFF"/>
        </a:dk2>
        <a:lt2>
          <a:srgbClr val="000000"/>
        </a:lt2>
        <a:accent1>
          <a:srgbClr val="F6F6F6"/>
        </a:accent1>
        <a:accent2>
          <a:srgbClr val="AFAFAF"/>
        </a:accent2>
        <a:accent3>
          <a:srgbClr val="DEDEDE"/>
        </a:accent3>
        <a:accent4>
          <a:srgbClr val="C3C3C3"/>
        </a:accent4>
        <a:accent5>
          <a:srgbClr val="FAFAFA"/>
        </a:accent5>
        <a:accent6>
          <a:srgbClr val="000000"/>
        </a:accent6>
        <a:hlink>
          <a:srgbClr val="DEDEDE"/>
        </a:hlink>
        <a:folHlink>
          <a:srgbClr val="C3C3C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tto 8">
        <a:dk1>
          <a:srgbClr val="FFFFFF"/>
        </a:dk1>
        <a:lt1>
          <a:srgbClr val="000000"/>
        </a:lt1>
        <a:dk2>
          <a:srgbClr val="FFFFFF"/>
        </a:dk2>
        <a:lt2>
          <a:srgbClr val="FF0000"/>
        </a:lt2>
        <a:accent1>
          <a:srgbClr val="00CCFF"/>
        </a:accent1>
        <a:accent2>
          <a:srgbClr val="CC9900"/>
        </a:accent2>
        <a:accent3>
          <a:srgbClr val="00CC66"/>
        </a:accent3>
        <a:accent4>
          <a:srgbClr val="FFFF99"/>
        </a:accent4>
        <a:accent5>
          <a:srgbClr val="FF99CC"/>
        </a:accent5>
        <a:accent6>
          <a:srgbClr val="000000"/>
        </a:accent6>
        <a:hlink>
          <a:srgbClr val="00CC66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ttoTheme</Template>
  <TotalTime>22211</TotalTime>
  <Pages>3</Pages>
  <Words>1163</Words>
  <Application>Microsoft Office PowerPoint</Application>
  <PresentationFormat>On-screen Show (4:3)</PresentationFormat>
  <Paragraphs>257</Paragraphs>
  <Slides>27</Slides>
  <Notes>17</Notes>
  <HiddenSlides>4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28" baseType="lpstr">
      <vt:lpstr>ttoTheme</vt:lpstr>
      <vt:lpstr>PowerPoint Presentation</vt:lpstr>
      <vt:lpstr>Objectives</vt:lpstr>
      <vt:lpstr>Outline</vt:lpstr>
      <vt:lpstr>Creating a New TI-RTOS Project</vt:lpstr>
      <vt:lpstr>SYS/BIOS Project Settings</vt:lpstr>
      <vt:lpstr>Memory Configuration (Platform Pkgs)</vt:lpstr>
      <vt:lpstr>Outline</vt:lpstr>
      <vt:lpstr>Static BIOS Configuration (.cfg)</vt:lpstr>
      <vt:lpstr>Static BIOS Configuration – Adding Idle Fxn</vt:lpstr>
      <vt:lpstr>Static BIOS Configuration – Adding Idle Fxn</vt:lpstr>
      <vt:lpstr>BIOS System Overview</vt:lpstr>
      <vt:lpstr>Configuration Build Flow (CFG)</vt:lpstr>
      <vt:lpstr>Outline</vt:lpstr>
      <vt:lpstr>System Timeline</vt:lpstr>
      <vt:lpstr>Outline</vt:lpstr>
      <vt:lpstr>Configuring UIA &amp; RTOS Analyzer</vt:lpstr>
      <vt:lpstr>Using Logs</vt:lpstr>
      <vt:lpstr>Using Execution Graph</vt:lpstr>
      <vt:lpstr>Using CPU/Thread Loading</vt:lpstr>
      <vt:lpstr>Outline</vt:lpstr>
      <vt:lpstr>Suggested Files for Version Control</vt:lpstr>
      <vt:lpstr>Outline</vt:lpstr>
      <vt:lpstr>Lab 4 – Blink an LED Using Idle</vt:lpstr>
      <vt:lpstr>PowerPoint Presentation</vt:lpstr>
      <vt:lpstr>Boot Sequence</vt:lpstr>
      <vt:lpstr>Platform (Memory Config)</vt:lpstr>
      <vt:lpstr>Outline</vt:lpstr>
    </vt:vector>
  </TitlesOfParts>
  <Company>SC Sales &amp; Marketing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TI-RTOS Kernel Workshop</dc:title>
  <dc:subject/>
  <dc:creator>ericw@ti.com</dc:creator>
  <cp:keywords/>
  <dc:description/>
  <cp:lastModifiedBy>Eric Wilbur</cp:lastModifiedBy>
  <cp:revision>534</cp:revision>
  <cp:lastPrinted>1601-01-01T00:00:00Z</cp:lastPrinted>
  <dcterms:created xsi:type="dcterms:W3CDTF">2001-09-20T20:19:44Z</dcterms:created>
  <dcterms:modified xsi:type="dcterms:W3CDTF">2015-02-18T21:43:25Z</dcterms:modified>
</cp:coreProperties>
</file>