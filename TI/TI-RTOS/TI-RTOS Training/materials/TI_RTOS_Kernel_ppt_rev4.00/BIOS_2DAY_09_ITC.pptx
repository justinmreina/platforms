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7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0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14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15.xml" ContentType="application/vnd.openxmlformats-officedocument.presentationml.notesSlide+xml"/>
  <Override PartName="/ppt/tags/tag134.xml" ContentType="application/vnd.openxmlformats-officedocument.presentationml.tags+xml"/>
  <Override PartName="/ppt/notesSlides/notesSlide16.xml" ContentType="application/vnd.openxmlformats-officedocument.presentationml.notesSlide+xml"/>
  <Override PartName="/ppt/tags/tag135.xml" ContentType="application/vnd.openxmlformats-officedocument.presentationml.tags+xml"/>
  <Override PartName="/ppt/notesSlides/notesSlide17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2" r:id="rId1"/>
    <p:sldMasterId id="2147483784" r:id="rId2"/>
  </p:sldMasterIdLst>
  <p:notesMasterIdLst>
    <p:notesMasterId r:id="rId43"/>
  </p:notesMasterIdLst>
  <p:handoutMasterIdLst>
    <p:handoutMasterId r:id="rId44"/>
  </p:handoutMasterIdLst>
  <p:sldIdLst>
    <p:sldId id="2350" r:id="rId3"/>
    <p:sldId id="734" r:id="rId4"/>
    <p:sldId id="2515" r:id="rId5"/>
    <p:sldId id="1239" r:id="rId6"/>
    <p:sldId id="2516" r:id="rId7"/>
    <p:sldId id="983" r:id="rId8"/>
    <p:sldId id="2517" r:id="rId9"/>
    <p:sldId id="1254" r:id="rId10"/>
    <p:sldId id="2518" r:id="rId11"/>
    <p:sldId id="987" r:id="rId12"/>
    <p:sldId id="988" r:id="rId13"/>
    <p:sldId id="990" r:id="rId14"/>
    <p:sldId id="2519" r:id="rId15"/>
    <p:sldId id="1151" r:id="rId16"/>
    <p:sldId id="1266" r:id="rId17"/>
    <p:sldId id="2520" r:id="rId18"/>
    <p:sldId id="1269" r:id="rId19"/>
    <p:sldId id="2521" r:id="rId20"/>
    <p:sldId id="1077" r:id="rId21"/>
    <p:sldId id="2413" r:id="rId22"/>
    <p:sldId id="2522" r:id="rId23"/>
    <p:sldId id="1272" r:id="rId24"/>
    <p:sldId id="2523" r:id="rId25"/>
    <p:sldId id="994" r:id="rId26"/>
    <p:sldId id="2474" r:id="rId27"/>
    <p:sldId id="2475" r:id="rId28"/>
    <p:sldId id="2085" r:id="rId29"/>
    <p:sldId id="2524" r:id="rId30"/>
    <p:sldId id="1238" r:id="rId31"/>
    <p:sldId id="2525" r:id="rId32"/>
    <p:sldId id="997" r:id="rId33"/>
    <p:sldId id="2526" r:id="rId34"/>
    <p:sldId id="991" r:id="rId35"/>
    <p:sldId id="2527" r:id="rId36"/>
    <p:sldId id="2444" r:id="rId37"/>
    <p:sldId id="2445" r:id="rId38"/>
    <p:sldId id="2414" r:id="rId39"/>
    <p:sldId id="2217" r:id="rId40"/>
    <p:sldId id="2349" r:id="rId41"/>
    <p:sldId id="1094" r:id="rId42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66"/>
    <a:srgbClr val="C0C0C0"/>
    <a:srgbClr val="FF99CC"/>
    <a:srgbClr val="FFFF66"/>
    <a:srgbClr val="808080"/>
    <a:srgbClr val="969696"/>
    <a:srgbClr val="B2B2B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6" autoAdjust="0"/>
    <p:restoredTop sz="89863" autoAdjust="0"/>
  </p:normalViewPr>
  <p:slideViewPr>
    <p:cSldViewPr>
      <p:cViewPr>
        <p:scale>
          <a:sx n="90" d="100"/>
          <a:sy n="90" d="100"/>
        </p:scale>
        <p:origin x="-1464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72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lnSpc>
                <a:spcPct val="80000"/>
              </a:lnSpc>
              <a:spcBef>
                <a:spcPct val="5000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lnSpc>
                <a:spcPct val="80000"/>
              </a:lnSpc>
              <a:spcBef>
                <a:spcPct val="5000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lnSpc>
                <a:spcPct val="80000"/>
              </a:lnSpc>
              <a:spcBef>
                <a:spcPct val="5000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lnSpc>
                <a:spcPct val="80000"/>
              </a:lnSpc>
              <a:spcBef>
                <a:spcPct val="5000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77A63E9D-5D81-4488-A847-69FE9FA5E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95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8" tIns="0" rIns="20138" bIns="0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lnSpc>
                <a:spcPct val="100000"/>
              </a:lnSpc>
              <a:spcBef>
                <a:spcPct val="0"/>
              </a:spcBef>
              <a:defRPr sz="1100" b="0" i="1">
                <a:effectLst/>
                <a:latin typeface="Times New Roman" pitchFamily="18" charset="0"/>
              </a:defRPr>
            </a:lvl1pPr>
          </a:lstStyle>
          <a:p>
            <a:pPr>
              <a:defRPr/>
            </a:pPr>
            <a:fld id="{7ECDD63F-2AFC-428B-BB59-1F672FC4E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2" tIns="48667" rIns="97332" bIns="486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813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90175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2A8627-8987-406D-A21E-ABBD08ABA479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2838" y="4643438"/>
            <a:ext cx="5964237" cy="45640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4854" tIns="47427" rIns="94854" bIns="47427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697F53-233E-4945-9440-56A4D37FD7EB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problem with </a:t>
            </a:r>
            <a:r>
              <a:rPr lang="en-US" dirty="0" err="1" smtClean="0"/>
              <a:t>globals</a:t>
            </a:r>
            <a:r>
              <a:rPr lang="en-US" dirty="0" smtClean="0"/>
              <a:t> is that a thread might get pre-empted and cause contention for the resource. This is explained later. The problem with </a:t>
            </a:r>
            <a:r>
              <a:rPr lang="en-US" dirty="0" err="1" smtClean="0"/>
              <a:t>mutex’s</a:t>
            </a:r>
            <a:r>
              <a:rPr lang="en-US" dirty="0" smtClean="0"/>
              <a:t> is that they can cause priority inversion. Again, this is covered later. The point here is to get the students thinking about the problems</a:t>
            </a:r>
            <a:r>
              <a:rPr lang="en-US" baseline="0" dirty="0" smtClean="0"/>
              <a:t> we’re trying to solve FIRST, then we’ll look at the solutions…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The QUE structure inherits QUE_Elem and adds a payload – this is how BIOS extends definitions throughout.</a:t>
            </a:r>
          </a:p>
          <a:p>
            <a:r>
              <a:rPr lang="en-US" smtClean="0"/>
              <a:t>When you do a QUE_put, this changes the next/prev ptrs and places Msg in QUE.</a:t>
            </a:r>
          </a:p>
          <a:p>
            <a:r>
              <a:rPr lang="en-US" smtClean="0"/>
              <a:t>Easy to extend to 3,4,5, etc buffers.</a:t>
            </a: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64EC49-C929-4363-BE7F-E4B84434DD41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dirty="0" smtClean="0"/>
              <a:t>If you </a:t>
            </a:r>
            <a:r>
              <a:rPr lang="en-US" sz="1200" b="0" dirty="0" err="1" smtClean="0">
                <a:latin typeface="Courier New" pitchFamily="49" charset="0"/>
                <a:cs typeface="Courier New" pitchFamily="49" charset="0"/>
              </a:rPr>
              <a:t>Queue_get</a:t>
            </a:r>
            <a:r>
              <a:rPr lang="en-US" sz="1200" b="0" dirty="0" smtClean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1200" b="0" dirty="0" smtClean="0"/>
              <a:t> an </a:t>
            </a:r>
            <a:r>
              <a:rPr lang="en-US" sz="1200" b="0" i="1" u="sng" dirty="0" smtClean="0"/>
              <a:t>EMPTY queue</a:t>
            </a:r>
            <a:r>
              <a:rPr lang="en-US" sz="1200" b="0" dirty="0" smtClean="0"/>
              <a:t>, you get back the handle to the </a:t>
            </a:r>
            <a:r>
              <a:rPr lang="en-US" sz="1200" b="0" dirty="0" err="1" smtClean="0"/>
              <a:t>Queue_Obj</a:t>
            </a:r>
            <a:r>
              <a:rPr lang="en-US" sz="1200" b="0" dirty="0" smtClean="0"/>
              <a:t> (something to test for…maybe)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Note – the Queue object</a:t>
            </a:r>
            <a:r>
              <a:rPr lang="en-US" baseline="0" smtClean="0"/>
              <a:t> doesn’t really contain anything. When puts and gets are performed, the Queue_Elem pointers (next/prev) get updated everywhere. This is why a queue is able to expand and contract to any size. The fxn that creates the message owns the memory – the receiver simply gets a pointer to that memory – so it is not copy-based.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01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E59A99-3A52-4676-85D3-B772B0223FD2}" type="slidenum">
              <a:rPr lang="en-US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Writing semaphore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init’d</a:t>
            </a:r>
            <a:r>
              <a:rPr lang="en-US" baseline="0" dirty="0" smtClean="0"/>
              <a:t> to mailbox length. Reading semaphore count </a:t>
            </a:r>
            <a:r>
              <a:rPr lang="en-US" baseline="0" dirty="0" err="1" smtClean="0"/>
              <a:t>init’d</a:t>
            </a:r>
            <a:r>
              <a:rPr lang="en-US" baseline="0" dirty="0" smtClean="0"/>
              <a:t> to zero. Post blocks on full mailbox. Pend blocks on empty.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MANY methods. The rest of the chapter talks about each one and their pluses/minuses</a:t>
            </a:r>
          </a:p>
          <a:p>
            <a:endParaRPr lang="en-US" dirty="0" smtClean="0"/>
          </a:p>
          <a:p>
            <a:r>
              <a:rPr lang="en-US" dirty="0" smtClean="0"/>
              <a:t>The</a:t>
            </a:r>
            <a:r>
              <a:rPr lang="en-US" baseline="0" dirty="0" smtClean="0"/>
              <a:t> two most COMMON are </a:t>
            </a:r>
            <a:r>
              <a:rPr lang="en-US" baseline="0" dirty="0" err="1" smtClean="0"/>
              <a:t>Mutex</a:t>
            </a:r>
            <a:r>
              <a:rPr lang="en-US" baseline="0" dirty="0" smtClean="0"/>
              <a:t> and disabling </a:t>
            </a:r>
            <a:r>
              <a:rPr lang="en-US" baseline="0" dirty="0" err="1" smtClean="0"/>
              <a:t>Hwi’s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MANY methods. The rest of the chapter talks about each one and their pluses/minuses</a:t>
            </a:r>
          </a:p>
          <a:p>
            <a:endParaRPr lang="en-US" dirty="0" smtClean="0"/>
          </a:p>
          <a:p>
            <a:r>
              <a:rPr lang="en-US" dirty="0" smtClean="0"/>
              <a:t>The</a:t>
            </a:r>
            <a:r>
              <a:rPr lang="en-US" baseline="0" dirty="0" smtClean="0"/>
              <a:t> two most COMMON are </a:t>
            </a:r>
            <a:r>
              <a:rPr lang="en-US" baseline="0" dirty="0" err="1" smtClean="0"/>
              <a:t>Mutex</a:t>
            </a:r>
            <a:r>
              <a:rPr lang="en-US" baseline="0" dirty="0" smtClean="0"/>
              <a:t> and disabling </a:t>
            </a:r>
            <a:r>
              <a:rPr lang="en-US" baseline="0" dirty="0" err="1" smtClean="0"/>
              <a:t>Hwi’s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Jitter in the system. I would suggest users use these methods</a:t>
            </a:r>
            <a:r>
              <a:rPr lang="en-US" baseline="0" dirty="0" smtClean="0"/>
              <a:t> as a LAST RESORT. Start by designing IN the use of queues and mailboxes … then, if absolutely necessary…then ok…maybe this is a necessary </a:t>
            </a:r>
            <a:r>
              <a:rPr lang="en-US" baseline="0" dirty="0" err="1" smtClean="0"/>
              <a:t>bandaide</a:t>
            </a:r>
            <a:r>
              <a:rPr lang="en-US" baseline="0" dirty="0" smtClean="0"/>
              <a:t>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gateMutex is a GATE OBJECT created in the app.cfg file. It is unique between threads</a:t>
            </a:r>
            <a:r>
              <a:rPr lang="en-US" baseline="0" smtClean="0"/>
              <a:t> that share a gate. The gateKey can be used by an app to know if it is the FIRST one to enter (non-zero).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When</a:t>
            </a:r>
            <a:r>
              <a:rPr lang="en-US" baseline="0" smtClean="0"/>
              <a:t> TSK Med’s enter into the picture – this is the definition of priority inversion. Otherwise, TSK Lo getting the “gate” or “Sem” is ok and the way you would want it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Can use </a:t>
            </a:r>
            <a:r>
              <a:rPr lang="en-US" dirty="0" err="1" smtClean="0"/>
              <a:t>Task_setPri</a:t>
            </a:r>
            <a:r>
              <a:rPr lang="en-US" dirty="0" smtClean="0"/>
              <a:t> to temporarily raise</a:t>
            </a:r>
            <a:r>
              <a:rPr lang="en-US" baseline="0" dirty="0" smtClean="0"/>
              <a:t> the priority of the lower thread to the higher just before data access (discussed next). User can also use </a:t>
            </a:r>
            <a:r>
              <a:rPr lang="en-US" baseline="0" dirty="0" err="1" smtClean="0"/>
              <a:t>GateMutexPri</a:t>
            </a:r>
            <a:r>
              <a:rPr lang="en-US" baseline="0" dirty="0" smtClean="0"/>
              <a:t> which does the same thing…but is easier to use. Alas, if the threads are at the same priority, NONE of this crap happens….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gateMutexPri is a GATE OBJECT created in the app.cfg file. It is unique between threads</a:t>
            </a:r>
            <a:r>
              <a:rPr lang="en-US" baseline="0" smtClean="0"/>
              <a:t> that share a gate. The gateKey can be used by an app to know if it is the FIRST one to enter (non-zero).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ECDD63F-2AFC-428B-BB59-1F672FC4E28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16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CF76D9-8C4F-404E-B421-838159FF4993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F973C7-70D6-4FF6-841C-D86482BF03A5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</p:spPr>
        <p:txBody>
          <a:bodyPr/>
          <a:lstStyle/>
          <a:p>
            <a:r>
              <a:rPr lang="en-US" dirty="0" smtClean="0"/>
              <a:t> 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F973C7-70D6-4FF6-841C-D86482BF03A5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 smtClean="0">
              <a:solidFill>
                <a:prstClr val="black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800600" cy="36004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19587"/>
          </a:xfrm>
          <a:noFill/>
          <a:ln/>
        </p:spPr>
        <p:txBody>
          <a:bodyPr/>
          <a:lstStyle/>
          <a:p>
            <a:r>
              <a:rPr lang="en-US" dirty="0" smtClean="0"/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726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42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5270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noFill/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772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8" name="Picture 7" descr="ti_pptbar_whi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6486" y="6324600"/>
            <a:ext cx="8491027" cy="481544"/>
          </a:xfrm>
          <a:prstGeom prst="rect">
            <a:avLst/>
          </a:prstGeom>
        </p:spPr>
      </p:pic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4" name="Picture 8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2995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665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804275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1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6038850"/>
            <a:ext cx="2133600" cy="206375"/>
          </a:xfrm>
        </p:spPr>
        <p:txBody>
          <a:bodyPr/>
          <a:lstStyle>
            <a:lvl1pPr>
              <a:defRPr/>
            </a:lvl1pPr>
          </a:lstStyle>
          <a:p>
            <a:fld id="{E427ED86-F7CD-4E74-A97C-6D3BAEB1029D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340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6324600"/>
            <a:ext cx="8782050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-7938" y="6323013"/>
            <a:ext cx="8815388" cy="466725"/>
            <a:chOff x="-7620" y="6323077"/>
            <a:chExt cx="8814816" cy="466344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Picture 25" descr="ti_logo_powerpoint_1_lin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438" y="6440488"/>
            <a:ext cx="1874837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943100"/>
            <a:ext cx="8458200" cy="14700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3698875"/>
            <a:ext cx="8458200" cy="1485900"/>
          </a:xfrm>
          <a:ln/>
        </p:spPr>
        <p:txBody>
          <a:bodyPr>
            <a:normAutofit/>
          </a:bodyPr>
          <a:lstStyle>
            <a:lvl1pPr marL="0" indent="0">
              <a:buFontTx/>
              <a:buNone/>
              <a:defRPr sz="2800" b="1"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5894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237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34562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25513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0601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93671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56369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8114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800"/>
            <a:ext cx="91440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10000" cy="21669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914400"/>
            <a:ext cx="3810000" cy="2166938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360304379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800"/>
            <a:ext cx="91440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772400" cy="2166938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87870396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89BD6-E300-4C67-B175-76E5828D27B4}" type="datetimeFigureOut">
              <a:rPr lang="en-US" smtClean="0"/>
              <a:pPr/>
              <a:t>1/14/2015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82210-5FCA-4178-AB04-4337EADA3D8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4295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82296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fld id="{AEF89BD6-E300-4C67-B175-76E5828D27B4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t>1/14/2015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fld id="{4E582210-5FCA-4178-AB04-4337EADA3D81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t>‹#›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" name="TI Logo Color One Line" descr="tilogo_color_oneline.png" hidden="1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47730" y="6101890"/>
            <a:ext cx="1840840" cy="237724"/>
          </a:xfrm>
          <a:prstGeom prst="rect">
            <a:avLst/>
          </a:prstGeom>
        </p:spPr>
      </p:pic>
      <p:pic>
        <p:nvPicPr>
          <p:cNvPr id="8" name="TI Logo White One Line" descr="tilogo_bw_oneline.png" hidden="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36939" y="5288938"/>
            <a:ext cx="1822553" cy="237724"/>
          </a:xfrm>
          <a:prstGeom prst="rect">
            <a:avLst/>
          </a:prstGeom>
        </p:spPr>
      </p:pic>
      <p:pic>
        <p:nvPicPr>
          <p:cNvPr id="9" name="TI Logo White Stack" descr="tilogo_bw_twoline.png" hidden="1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21847" y="5656160"/>
            <a:ext cx="1456824" cy="353539"/>
          </a:xfrm>
          <a:prstGeom prst="rect">
            <a:avLst/>
          </a:prstGeom>
        </p:spPr>
      </p:pic>
      <p:pic>
        <p:nvPicPr>
          <p:cNvPr id="10" name="TI Logo Color Stack" descr="tilogo_color_twoline.png" hidden="1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27241" y="6399926"/>
            <a:ext cx="1438537" cy="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1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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1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6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" Target="slide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5.xml"/><Relationship Id="rId5" Type="http://schemas.openxmlformats.org/officeDocument/2006/relationships/tags" Target="../tags/tag7.xml"/><Relationship Id="rId15" Type="http://schemas.openxmlformats.org/officeDocument/2006/relationships/slide" Target="slide34.xml"/><Relationship Id="rId10" Type="http://schemas.openxmlformats.org/officeDocument/2006/relationships/slide" Target="slide3.xml"/><Relationship Id="rId4" Type="http://schemas.openxmlformats.org/officeDocument/2006/relationships/tags" Target="../tags/tag6.xml"/><Relationship Id="rId9" Type="http://schemas.openxmlformats.org/officeDocument/2006/relationships/image" Target="../media/image12.png"/><Relationship Id="rId14" Type="http://schemas.openxmlformats.org/officeDocument/2006/relationships/slide" Target="slide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6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slide" Target="slide7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" Target="slide5.xml"/><Relationship Id="rId5" Type="http://schemas.openxmlformats.org/officeDocument/2006/relationships/tags" Target="../tags/tag14.xml"/><Relationship Id="rId15" Type="http://schemas.openxmlformats.org/officeDocument/2006/relationships/slide" Target="slide34.xml"/><Relationship Id="rId10" Type="http://schemas.openxmlformats.org/officeDocument/2006/relationships/slide" Target="slide3.xml"/><Relationship Id="rId4" Type="http://schemas.openxmlformats.org/officeDocument/2006/relationships/tags" Target="../tags/tag13.xml"/><Relationship Id="rId9" Type="http://schemas.openxmlformats.org/officeDocument/2006/relationships/image" Target="../media/image12.png"/><Relationship Id="rId14" Type="http://schemas.openxmlformats.org/officeDocument/2006/relationships/slide" Target="slide3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slide" Target="slide5.xml"/><Relationship Id="rId18" Type="http://schemas.openxmlformats.org/officeDocument/2006/relationships/slide" Target="slide32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slide" Target="slide3.xml"/><Relationship Id="rId17" Type="http://schemas.openxmlformats.org/officeDocument/2006/relationships/slide" Target="slide16.xml"/><Relationship Id="rId2" Type="http://schemas.openxmlformats.org/officeDocument/2006/relationships/tags" Target="../tags/tag18.xml"/><Relationship Id="rId16" Type="http://schemas.openxmlformats.org/officeDocument/2006/relationships/slide" Target="slide13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12.png"/><Relationship Id="rId5" Type="http://schemas.openxmlformats.org/officeDocument/2006/relationships/tags" Target="../tags/tag21.xml"/><Relationship Id="rId15" Type="http://schemas.openxmlformats.org/officeDocument/2006/relationships/slide" Target="slide9.xml"/><Relationship Id="rId10" Type="http://schemas.openxmlformats.org/officeDocument/2006/relationships/slideLayout" Target="../slideLayouts/slideLayout8.xml"/><Relationship Id="rId19" Type="http://schemas.openxmlformats.org/officeDocument/2006/relationships/slide" Target="slide34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slide" Target="slide5.xml"/><Relationship Id="rId18" Type="http://schemas.openxmlformats.org/officeDocument/2006/relationships/slide" Target="slide3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slide" Target="slide3.xml"/><Relationship Id="rId17" Type="http://schemas.openxmlformats.org/officeDocument/2006/relationships/slide" Target="slide16.xml"/><Relationship Id="rId2" Type="http://schemas.openxmlformats.org/officeDocument/2006/relationships/tags" Target="../tags/tag27.xml"/><Relationship Id="rId16" Type="http://schemas.openxmlformats.org/officeDocument/2006/relationships/slide" Target="slide13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12.png"/><Relationship Id="rId5" Type="http://schemas.openxmlformats.org/officeDocument/2006/relationships/tags" Target="../tags/tag30.xml"/><Relationship Id="rId15" Type="http://schemas.openxmlformats.org/officeDocument/2006/relationships/slide" Target="slide9.xml"/><Relationship Id="rId10" Type="http://schemas.openxmlformats.org/officeDocument/2006/relationships/slideLayout" Target="../slideLayouts/slideLayout8.xml"/><Relationship Id="rId19" Type="http://schemas.openxmlformats.org/officeDocument/2006/relationships/slide" Target="slide34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slide" Target="slide5.xml"/><Relationship Id="rId18" Type="http://schemas.openxmlformats.org/officeDocument/2006/relationships/slide" Target="slide3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slide" Target="slide3.xml"/><Relationship Id="rId17" Type="http://schemas.openxmlformats.org/officeDocument/2006/relationships/slide" Target="slide16.xml"/><Relationship Id="rId2" Type="http://schemas.openxmlformats.org/officeDocument/2006/relationships/tags" Target="../tags/tag36.xml"/><Relationship Id="rId16" Type="http://schemas.openxmlformats.org/officeDocument/2006/relationships/slide" Target="slide13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12.png"/><Relationship Id="rId5" Type="http://schemas.openxmlformats.org/officeDocument/2006/relationships/tags" Target="../tags/tag39.xml"/><Relationship Id="rId15" Type="http://schemas.openxmlformats.org/officeDocument/2006/relationships/slide" Target="slide9.xml"/><Relationship Id="rId10" Type="http://schemas.openxmlformats.org/officeDocument/2006/relationships/slideLayout" Target="../slideLayouts/slideLayout8.xml"/><Relationship Id="rId19" Type="http://schemas.openxmlformats.org/officeDocument/2006/relationships/slide" Target="slide3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slide" Target="sl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slideLayout" Target="../slideLayouts/slideLayout8.xml"/><Relationship Id="rId18" Type="http://schemas.openxmlformats.org/officeDocument/2006/relationships/slide" Target="slide16.xml"/><Relationship Id="rId3" Type="http://schemas.openxmlformats.org/officeDocument/2006/relationships/tags" Target="../tags/tag47.xml"/><Relationship Id="rId21" Type="http://schemas.openxmlformats.org/officeDocument/2006/relationships/slide" Target="slide23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slide" Target="slide7.xml"/><Relationship Id="rId25" Type="http://schemas.openxmlformats.org/officeDocument/2006/relationships/slide" Target="slide34.xml"/><Relationship Id="rId2" Type="http://schemas.openxmlformats.org/officeDocument/2006/relationships/tags" Target="../tags/tag46.xml"/><Relationship Id="rId16" Type="http://schemas.openxmlformats.org/officeDocument/2006/relationships/slide" Target="slide5.xml"/><Relationship Id="rId20" Type="http://schemas.openxmlformats.org/officeDocument/2006/relationships/slide" Target="slide21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slide" Target="slide32.xml"/><Relationship Id="rId5" Type="http://schemas.openxmlformats.org/officeDocument/2006/relationships/tags" Target="../tags/tag49.xml"/><Relationship Id="rId15" Type="http://schemas.openxmlformats.org/officeDocument/2006/relationships/slide" Target="slide3.xml"/><Relationship Id="rId23" Type="http://schemas.openxmlformats.org/officeDocument/2006/relationships/slide" Target="slide30.xml"/><Relationship Id="rId10" Type="http://schemas.openxmlformats.org/officeDocument/2006/relationships/tags" Target="../tags/tag54.xml"/><Relationship Id="rId19" Type="http://schemas.openxmlformats.org/officeDocument/2006/relationships/slide" Target="slide18.xml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image" Target="../media/image12.png"/><Relationship Id="rId22" Type="http://schemas.openxmlformats.org/officeDocument/2006/relationships/slide" Target="slide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slideLayout" Target="../slideLayouts/slideLayout8.xml"/><Relationship Id="rId18" Type="http://schemas.openxmlformats.org/officeDocument/2006/relationships/slide" Target="slide16.xml"/><Relationship Id="rId3" Type="http://schemas.openxmlformats.org/officeDocument/2006/relationships/tags" Target="../tags/tag59.xml"/><Relationship Id="rId21" Type="http://schemas.openxmlformats.org/officeDocument/2006/relationships/slide" Target="slide23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slide" Target="slide7.xml"/><Relationship Id="rId25" Type="http://schemas.openxmlformats.org/officeDocument/2006/relationships/slide" Target="slide34.xml"/><Relationship Id="rId2" Type="http://schemas.openxmlformats.org/officeDocument/2006/relationships/tags" Target="../tags/tag58.xml"/><Relationship Id="rId16" Type="http://schemas.openxmlformats.org/officeDocument/2006/relationships/slide" Target="slide5.xml"/><Relationship Id="rId20" Type="http://schemas.openxmlformats.org/officeDocument/2006/relationships/slide" Target="slide21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slide" Target="slide32.xml"/><Relationship Id="rId5" Type="http://schemas.openxmlformats.org/officeDocument/2006/relationships/tags" Target="../tags/tag61.xml"/><Relationship Id="rId15" Type="http://schemas.openxmlformats.org/officeDocument/2006/relationships/slide" Target="slide3.xml"/><Relationship Id="rId23" Type="http://schemas.openxmlformats.org/officeDocument/2006/relationships/slide" Target="slide30.xml"/><Relationship Id="rId10" Type="http://schemas.openxmlformats.org/officeDocument/2006/relationships/tags" Target="../tags/tag66.xml"/><Relationship Id="rId19" Type="http://schemas.openxmlformats.org/officeDocument/2006/relationships/slide" Target="slide18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image" Target="../media/image12.png"/><Relationship Id="rId22" Type="http://schemas.openxmlformats.org/officeDocument/2006/relationships/slide" Target="slide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slideLayout" Target="../slideLayouts/slideLayout8.xml"/><Relationship Id="rId18" Type="http://schemas.openxmlformats.org/officeDocument/2006/relationships/slide" Target="slide16.xml"/><Relationship Id="rId3" Type="http://schemas.openxmlformats.org/officeDocument/2006/relationships/tags" Target="../tags/tag71.xml"/><Relationship Id="rId21" Type="http://schemas.openxmlformats.org/officeDocument/2006/relationships/slide" Target="slide23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slide" Target="slide7.xml"/><Relationship Id="rId25" Type="http://schemas.openxmlformats.org/officeDocument/2006/relationships/slide" Target="slide34.xml"/><Relationship Id="rId2" Type="http://schemas.openxmlformats.org/officeDocument/2006/relationships/tags" Target="../tags/tag70.xml"/><Relationship Id="rId16" Type="http://schemas.openxmlformats.org/officeDocument/2006/relationships/slide" Target="slide5.xml"/><Relationship Id="rId20" Type="http://schemas.openxmlformats.org/officeDocument/2006/relationships/slide" Target="slide21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slide" Target="slide32.xml"/><Relationship Id="rId5" Type="http://schemas.openxmlformats.org/officeDocument/2006/relationships/tags" Target="../tags/tag73.xml"/><Relationship Id="rId15" Type="http://schemas.openxmlformats.org/officeDocument/2006/relationships/slide" Target="slide3.xml"/><Relationship Id="rId23" Type="http://schemas.openxmlformats.org/officeDocument/2006/relationships/slide" Target="slide30.xml"/><Relationship Id="rId10" Type="http://schemas.openxmlformats.org/officeDocument/2006/relationships/tags" Target="../tags/tag78.xml"/><Relationship Id="rId19" Type="http://schemas.openxmlformats.org/officeDocument/2006/relationships/slide" Target="slide18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image" Target="../media/image12.png"/><Relationship Id="rId22" Type="http://schemas.openxmlformats.org/officeDocument/2006/relationships/slide" Target="slide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slideLayout" Target="../slideLayouts/slideLayout8.xml"/><Relationship Id="rId18" Type="http://schemas.openxmlformats.org/officeDocument/2006/relationships/slide" Target="slide16.xml"/><Relationship Id="rId3" Type="http://schemas.openxmlformats.org/officeDocument/2006/relationships/tags" Target="../tags/tag83.xml"/><Relationship Id="rId21" Type="http://schemas.openxmlformats.org/officeDocument/2006/relationships/slide" Target="slide23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slide" Target="slide7.xml"/><Relationship Id="rId25" Type="http://schemas.openxmlformats.org/officeDocument/2006/relationships/slide" Target="slide34.xml"/><Relationship Id="rId2" Type="http://schemas.openxmlformats.org/officeDocument/2006/relationships/tags" Target="../tags/tag82.xml"/><Relationship Id="rId16" Type="http://schemas.openxmlformats.org/officeDocument/2006/relationships/slide" Target="slide5.xml"/><Relationship Id="rId20" Type="http://schemas.openxmlformats.org/officeDocument/2006/relationships/slide" Target="slide21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24" Type="http://schemas.openxmlformats.org/officeDocument/2006/relationships/slide" Target="slide32.xml"/><Relationship Id="rId5" Type="http://schemas.openxmlformats.org/officeDocument/2006/relationships/tags" Target="../tags/tag85.xml"/><Relationship Id="rId15" Type="http://schemas.openxmlformats.org/officeDocument/2006/relationships/slide" Target="slide3.xml"/><Relationship Id="rId23" Type="http://schemas.openxmlformats.org/officeDocument/2006/relationships/slide" Target="slide30.xml"/><Relationship Id="rId10" Type="http://schemas.openxmlformats.org/officeDocument/2006/relationships/tags" Target="../tags/tag90.xml"/><Relationship Id="rId19" Type="http://schemas.openxmlformats.org/officeDocument/2006/relationships/slide" Target="slide18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image" Target="../media/image12.png"/><Relationship Id="rId22" Type="http://schemas.openxmlformats.org/officeDocument/2006/relationships/slide" Target="slide2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slideLayout" Target="../slideLayouts/slideLayout8.xml"/><Relationship Id="rId18" Type="http://schemas.openxmlformats.org/officeDocument/2006/relationships/slide" Target="slide16.xml"/><Relationship Id="rId3" Type="http://schemas.openxmlformats.org/officeDocument/2006/relationships/tags" Target="../tags/tag95.xml"/><Relationship Id="rId21" Type="http://schemas.openxmlformats.org/officeDocument/2006/relationships/slide" Target="slide23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slide" Target="slide7.xml"/><Relationship Id="rId25" Type="http://schemas.openxmlformats.org/officeDocument/2006/relationships/slide" Target="slide34.xml"/><Relationship Id="rId2" Type="http://schemas.openxmlformats.org/officeDocument/2006/relationships/tags" Target="../tags/tag94.xml"/><Relationship Id="rId16" Type="http://schemas.openxmlformats.org/officeDocument/2006/relationships/slide" Target="slide5.xml"/><Relationship Id="rId20" Type="http://schemas.openxmlformats.org/officeDocument/2006/relationships/slide" Target="slide21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24" Type="http://schemas.openxmlformats.org/officeDocument/2006/relationships/slide" Target="slide32.xml"/><Relationship Id="rId5" Type="http://schemas.openxmlformats.org/officeDocument/2006/relationships/tags" Target="../tags/tag97.xml"/><Relationship Id="rId15" Type="http://schemas.openxmlformats.org/officeDocument/2006/relationships/slide" Target="slide3.xml"/><Relationship Id="rId23" Type="http://schemas.openxmlformats.org/officeDocument/2006/relationships/slide" Target="slide30.xml"/><Relationship Id="rId10" Type="http://schemas.openxmlformats.org/officeDocument/2006/relationships/tags" Target="../tags/tag102.xml"/><Relationship Id="rId19" Type="http://schemas.openxmlformats.org/officeDocument/2006/relationships/slide" Target="slide18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image" Target="../media/image12.png"/><Relationship Id="rId22" Type="http://schemas.openxmlformats.org/officeDocument/2006/relationships/slide" Target="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slideLayout" Target="../slideLayouts/slideLayout8.xml"/><Relationship Id="rId18" Type="http://schemas.openxmlformats.org/officeDocument/2006/relationships/slide" Target="slide16.xml"/><Relationship Id="rId3" Type="http://schemas.openxmlformats.org/officeDocument/2006/relationships/tags" Target="../tags/tag107.xml"/><Relationship Id="rId21" Type="http://schemas.openxmlformats.org/officeDocument/2006/relationships/slide" Target="slide23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slide" Target="slide7.xml"/><Relationship Id="rId25" Type="http://schemas.openxmlformats.org/officeDocument/2006/relationships/slide" Target="slide34.xml"/><Relationship Id="rId2" Type="http://schemas.openxmlformats.org/officeDocument/2006/relationships/tags" Target="../tags/tag106.xml"/><Relationship Id="rId16" Type="http://schemas.openxmlformats.org/officeDocument/2006/relationships/slide" Target="slide5.xml"/><Relationship Id="rId20" Type="http://schemas.openxmlformats.org/officeDocument/2006/relationships/slide" Target="slide21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24" Type="http://schemas.openxmlformats.org/officeDocument/2006/relationships/slide" Target="slide32.xml"/><Relationship Id="rId5" Type="http://schemas.openxmlformats.org/officeDocument/2006/relationships/tags" Target="../tags/tag109.xml"/><Relationship Id="rId15" Type="http://schemas.openxmlformats.org/officeDocument/2006/relationships/slide" Target="slide3.xml"/><Relationship Id="rId23" Type="http://schemas.openxmlformats.org/officeDocument/2006/relationships/slide" Target="slide30.xml"/><Relationship Id="rId10" Type="http://schemas.openxmlformats.org/officeDocument/2006/relationships/tags" Target="../tags/tag114.xml"/><Relationship Id="rId19" Type="http://schemas.openxmlformats.org/officeDocument/2006/relationships/slide" Target="slide18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image" Target="../media/image12.png"/><Relationship Id="rId22" Type="http://schemas.openxmlformats.org/officeDocument/2006/relationships/slide" Target="slide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6.xml"/><Relationship Id="rId3" Type="http://schemas.openxmlformats.org/officeDocument/2006/relationships/tags" Target="../tags/tag119.xml"/><Relationship Id="rId7" Type="http://schemas.openxmlformats.org/officeDocument/2006/relationships/tags" Target="../tags/tag123.xml"/><Relationship Id="rId12" Type="http://schemas.openxmlformats.org/officeDocument/2006/relationships/slide" Target="slide7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slide" Target="slide5.xml"/><Relationship Id="rId5" Type="http://schemas.openxmlformats.org/officeDocument/2006/relationships/tags" Target="../tags/tag121.xml"/><Relationship Id="rId15" Type="http://schemas.openxmlformats.org/officeDocument/2006/relationships/slide" Target="slide34.xml"/><Relationship Id="rId10" Type="http://schemas.openxmlformats.org/officeDocument/2006/relationships/slide" Target="slide3.xml"/><Relationship Id="rId4" Type="http://schemas.openxmlformats.org/officeDocument/2006/relationships/tags" Target="../tags/tag120.xml"/><Relationship Id="rId9" Type="http://schemas.openxmlformats.org/officeDocument/2006/relationships/image" Target="../media/image12.png"/><Relationship Id="rId14" Type="http://schemas.openxmlformats.org/officeDocument/2006/relationships/slide" Target="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slide16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slide" Target="slide7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slide" Target="slide5.xml"/><Relationship Id="rId5" Type="http://schemas.openxmlformats.org/officeDocument/2006/relationships/tags" Target="../tags/tag128.xml"/><Relationship Id="rId15" Type="http://schemas.openxmlformats.org/officeDocument/2006/relationships/slide" Target="slide34.xml"/><Relationship Id="rId10" Type="http://schemas.openxmlformats.org/officeDocument/2006/relationships/slide" Target="slide3.xml"/><Relationship Id="rId4" Type="http://schemas.openxmlformats.org/officeDocument/2006/relationships/tags" Target="../tags/tag127.xml"/><Relationship Id="rId9" Type="http://schemas.openxmlformats.org/officeDocument/2006/relationships/image" Target="../media/image12.png"/><Relationship Id="rId14" Type="http://schemas.openxmlformats.org/officeDocument/2006/relationships/slide" Target="slid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3.xml"/><Relationship Id="rId4" Type="http://schemas.openxmlformats.org/officeDocument/2006/relationships/image" Target="../media/image19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7" Type="http://schemas.openxmlformats.org/officeDocument/2006/relationships/image" Target="../media/image12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40.xml"/><Relationship Id="rId4" Type="http://schemas.openxmlformats.org/officeDocument/2006/relationships/tags" Target="../tags/tag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9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25585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FFFF66"/>
                </a:solidFill>
              </a:rPr>
              <a:t>Objectives</a:t>
            </a:r>
          </a:p>
        </p:txBody>
      </p:sp>
      <p:pic>
        <p:nvPicPr>
          <p:cNvPr id="3076" name="Picture 4" descr="dglxasset[3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655795"/>
            <a:ext cx="8610600" cy="6000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1458433" y="1467297"/>
            <a:ext cx="6489402" cy="40010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287338" indent="-287338" eaLnBrk="0" hangingPunct="0">
              <a:lnSpc>
                <a:spcPct val="80000"/>
              </a:lnSpc>
              <a:spcBef>
                <a:spcPts val="900"/>
              </a:spcBef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 smtClean="0">
                <a:latin typeface="Calibri" pitchFamily="34" charset="0"/>
                <a:cs typeface="Calibri" pitchFamily="34" charset="0"/>
              </a:rPr>
              <a:t>Describe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HOW to </a:t>
            </a:r>
            <a:r>
              <a:rPr lang="en-US" sz="2800" i="1" u="sng" dirty="0">
                <a:latin typeface="Calibri" pitchFamily="34" charset="0"/>
                <a:cs typeface="Calibri" pitchFamily="34" charset="0"/>
              </a:rPr>
              <a:t>share </a:t>
            </a:r>
            <a:r>
              <a:rPr lang="en-US" sz="2800" i="1" u="sng">
                <a:latin typeface="Calibri" pitchFamily="34" charset="0"/>
                <a:cs typeface="Calibri" pitchFamily="34" charset="0"/>
              </a:rPr>
              <a:t>resources</a:t>
            </a:r>
            <a:r>
              <a:rPr lang="en-US" sz="2800" i="1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between threads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287338" indent="-287338" eaLnBrk="0" hangingPunct="0">
              <a:lnSpc>
                <a:spcPct val="80000"/>
              </a:lnSpc>
              <a:spcBef>
                <a:spcPts val="900"/>
              </a:spcBef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 smtClean="0">
                <a:latin typeface="Calibri" pitchFamily="34" charset="0"/>
                <a:cs typeface="Calibri" pitchFamily="34" charset="0"/>
              </a:rPr>
              <a:t>Compare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different </a:t>
            </a:r>
            <a:r>
              <a:rPr lang="en-US" sz="2800" i="1" u="sng" dirty="0">
                <a:latin typeface="Calibri" pitchFamily="34" charset="0"/>
                <a:cs typeface="Calibri" pitchFamily="34" charset="0"/>
              </a:rPr>
              <a:t>use cases</a:t>
            </a:r>
            <a:r>
              <a:rPr lang="en-US" sz="2800" i="1" dirty="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(concurrent access 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vs. producer/consumer model)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  <a:p>
            <a:pPr marL="287338" indent="-287338" eaLnBrk="0" hangingPunct="0">
              <a:lnSpc>
                <a:spcPct val="80000"/>
              </a:lnSpc>
              <a:spcBef>
                <a:spcPts val="900"/>
              </a:spcBef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 smtClean="0">
                <a:latin typeface="Calibri" pitchFamily="34" charset="0"/>
                <a:cs typeface="Calibri" pitchFamily="34" charset="0"/>
              </a:rPr>
              <a:t>Analyze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several </a:t>
            </a:r>
            <a:r>
              <a:rPr lang="en-US" sz="2800" i="1" u="sng" dirty="0">
                <a:latin typeface="Calibri" pitchFamily="34" charset="0"/>
                <a:cs typeface="Calibri" pitchFamily="34" charset="0"/>
              </a:rPr>
              <a:t>BIOS building </a:t>
            </a:r>
            <a:r>
              <a:rPr lang="en-US" sz="2800" i="1" u="sng">
                <a:latin typeface="Calibri" pitchFamily="34" charset="0"/>
                <a:cs typeface="Calibri" pitchFamily="34" charset="0"/>
              </a:rPr>
              <a:t>blocks</a:t>
            </a:r>
            <a:r>
              <a:rPr lang="en-US" sz="2800" i="1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for</a:t>
            </a:r>
            <a:r>
              <a:rPr lang="en-US" sz="280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data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sharing and signaling</a:t>
            </a:r>
          </a:p>
          <a:p>
            <a:pPr marL="287338" indent="-287338" eaLnBrk="0" hangingPunct="0">
              <a:lnSpc>
                <a:spcPct val="80000"/>
              </a:lnSpc>
              <a:spcBef>
                <a:spcPts val="900"/>
              </a:spcBef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 smtClean="0">
                <a:latin typeface="Calibri" pitchFamily="34" charset="0"/>
                <a:cs typeface="Calibri" pitchFamily="34" charset="0"/>
              </a:rPr>
              <a:t>Identify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where </a:t>
            </a:r>
            <a:r>
              <a:rPr lang="en-US" sz="2800" i="1" u="sng" dirty="0">
                <a:latin typeface="Calibri" pitchFamily="34" charset="0"/>
                <a:cs typeface="Calibri" pitchFamily="34" charset="0"/>
              </a:rPr>
              <a:t>semaphores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 can be </a:t>
            </a:r>
            <a:r>
              <a:rPr lang="en-US" sz="2800">
                <a:latin typeface="Calibri" pitchFamily="34" charset="0"/>
                <a:cs typeface="Calibri" pitchFamily="34" charset="0"/>
              </a:rPr>
              <a:t>a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good</a:t>
            </a:r>
            <a:r>
              <a:rPr lang="en-US" sz="2800">
                <a:latin typeface="Calibri" pitchFamily="34" charset="0"/>
                <a:cs typeface="Calibri" pitchFamily="34" charset="0"/>
              </a:rPr>
              <a:t>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choice </a:t>
            </a:r>
            <a:r>
              <a:rPr lang="en-US" sz="2800" dirty="0">
                <a:latin typeface="Calibri" pitchFamily="34" charset="0"/>
                <a:cs typeface="Calibri" pitchFamily="34" charset="0"/>
              </a:rPr>
              <a:t>vs. where they </a:t>
            </a:r>
            <a:r>
              <a:rPr lang="en-US" sz="2800">
                <a:latin typeface="Calibri" pitchFamily="34" charset="0"/>
                <a:cs typeface="Calibri" pitchFamily="34" charset="0"/>
              </a:rPr>
              <a:t>produce 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problems</a:t>
            </a:r>
          </a:p>
          <a:p>
            <a:pPr marL="287338" indent="-287338" eaLnBrk="0" hangingPunct="0">
              <a:lnSpc>
                <a:spcPct val="80000"/>
              </a:lnSpc>
              <a:spcBef>
                <a:spcPts val="900"/>
              </a:spcBef>
              <a:buClr>
                <a:srgbClr val="D60093"/>
              </a:buClr>
              <a:buSzPct val="120000"/>
              <a:buFont typeface="Wingdings" pitchFamily="2" charset="2"/>
              <a:buChar char="§"/>
            </a:pPr>
            <a:r>
              <a:rPr lang="en-US" sz="2800" u="sng" smtClean="0">
                <a:latin typeface="Calibri" pitchFamily="34" charset="0"/>
                <a:cs typeface="Calibri" pitchFamily="34" charset="0"/>
              </a:rPr>
              <a:t>Lab</a:t>
            </a:r>
            <a:r>
              <a:rPr lang="en-US" sz="2800" smtClean="0">
                <a:latin typeface="Calibri" pitchFamily="34" charset="0"/>
                <a:cs typeface="Calibri" pitchFamily="34" charset="0"/>
              </a:rPr>
              <a:t> – Using Mailboxes and Queues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3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907379"/>
            <a:ext cx="5562600" cy="4431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29219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4256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8031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smtClean="0"/>
              <a:t>Sharing Data Between Threads - Problem</a:t>
            </a:r>
          </a:p>
        </p:txBody>
      </p:sp>
      <p:sp>
        <p:nvSpPr>
          <p:cNvPr id="52" name="Round Diagonal Corner Rectangle 51"/>
          <p:cNvSpPr/>
          <p:nvPr/>
        </p:nvSpPr>
        <p:spPr bwMode="auto">
          <a:xfrm>
            <a:off x="1295400" y="1473200"/>
            <a:ext cx="1447800" cy="812800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Thread  A</a:t>
            </a:r>
          </a:p>
        </p:txBody>
      </p:sp>
      <p:sp>
        <p:nvSpPr>
          <p:cNvPr id="53" name="Round Diagonal Corner Rectangle 52"/>
          <p:cNvSpPr/>
          <p:nvPr/>
        </p:nvSpPr>
        <p:spPr bwMode="auto">
          <a:xfrm>
            <a:off x="5867400" y="1473200"/>
            <a:ext cx="1447800" cy="81280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Thread  B</a:t>
            </a:r>
          </a:p>
        </p:txBody>
      </p:sp>
      <p:sp>
        <p:nvSpPr>
          <p:cNvPr id="6149" name="TextBox 67"/>
          <p:cNvSpPr txBox="1">
            <a:spLocks noChangeArrowheads="1"/>
          </p:cNvSpPr>
          <p:nvPr/>
        </p:nvSpPr>
        <p:spPr bwMode="auto">
          <a:xfrm>
            <a:off x="228600" y="811213"/>
            <a:ext cx="8627105" cy="445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What are common ways that threads share resources?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Can 24"/>
          <p:cNvSpPr/>
          <p:nvPr/>
        </p:nvSpPr>
        <p:spPr bwMode="auto">
          <a:xfrm>
            <a:off x="3886200" y="1473200"/>
            <a:ext cx="838200" cy="762000"/>
          </a:xfrm>
          <a:prstGeom prst="can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Data</a:t>
            </a:r>
          </a:p>
        </p:txBody>
      </p:sp>
      <p:sp>
        <p:nvSpPr>
          <p:cNvPr id="27" name="Left-Right Arrow 26"/>
          <p:cNvSpPr/>
          <p:nvPr/>
        </p:nvSpPr>
        <p:spPr bwMode="auto">
          <a:xfrm>
            <a:off x="2971800" y="1666175"/>
            <a:ext cx="685800" cy="381000"/>
          </a:xfrm>
          <a:prstGeom prst="leftRightArrow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28" name="Left-Right Arrow 27"/>
          <p:cNvSpPr/>
          <p:nvPr/>
        </p:nvSpPr>
        <p:spPr bwMode="auto">
          <a:xfrm>
            <a:off x="4876800" y="1666175"/>
            <a:ext cx="685800" cy="381000"/>
          </a:xfrm>
          <a:prstGeom prst="leftRightArrow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29" name="TextBox 67"/>
          <p:cNvSpPr txBox="1">
            <a:spLocks noChangeArrowheads="1"/>
          </p:cNvSpPr>
          <p:nvPr/>
        </p:nvSpPr>
        <p:spPr bwMode="auto">
          <a:xfrm>
            <a:off x="381000" y="2667000"/>
            <a:ext cx="5905719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 smtClean="0">
                <a:latin typeface="Calibri" pitchFamily="34" charset="0"/>
                <a:cs typeface="Calibri" pitchFamily="34" charset="0"/>
              </a:rPr>
              <a:t>Just use </a:t>
            </a:r>
            <a:r>
              <a:rPr lang="en-US" b="0" dirty="0" err="1" smtClean="0">
                <a:latin typeface="Calibri" pitchFamily="34" charset="0"/>
                <a:cs typeface="Calibri" pitchFamily="34" charset="0"/>
              </a:rPr>
              <a:t>Globals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 and don’t worry about it !!</a:t>
            </a:r>
          </a:p>
        </p:txBody>
      </p:sp>
      <p:sp>
        <p:nvSpPr>
          <p:cNvPr id="30" name="Leading Question"/>
          <p:cNvSpPr txBox="1"/>
          <p:nvPr/>
        </p:nvSpPr>
        <p:spPr>
          <a:xfrm>
            <a:off x="990600" y="5867400"/>
            <a:ext cx="7593361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Yes, BIOS can help...but let's first look at the </a:t>
            </a:r>
            <a:r>
              <a:rPr lang="en-US" sz="2000" b="0" u="sng" dirty="0" smtClean="0">
                <a:solidFill>
                  <a:schemeClr val="tx2"/>
                </a:solidFill>
                <a:latin typeface="Arial Narrow"/>
              </a:rPr>
              <a:t>types of "sharing"</a:t>
            </a: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 that are possible...</a:t>
            </a:r>
          </a:p>
        </p:txBody>
      </p:sp>
      <p:sp>
        <p:nvSpPr>
          <p:cNvPr id="33" name="TextBox 67"/>
          <p:cNvSpPr txBox="1">
            <a:spLocks noChangeArrowheads="1"/>
          </p:cNvSpPr>
          <p:nvPr/>
        </p:nvSpPr>
        <p:spPr bwMode="auto">
          <a:xfrm>
            <a:off x="381000" y="3200400"/>
            <a:ext cx="7386189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 smtClean="0">
                <a:latin typeface="Calibri" pitchFamily="34" charset="0"/>
                <a:cs typeface="Calibri" pitchFamily="34" charset="0"/>
              </a:rPr>
              <a:t>Come on, </a:t>
            </a:r>
            <a:r>
              <a:rPr lang="en-US" b="0" dirty="0" err="1" smtClean="0">
                <a:latin typeface="Calibri" pitchFamily="34" charset="0"/>
                <a:cs typeface="Calibri" pitchFamily="34" charset="0"/>
              </a:rPr>
              <a:t>mutex’s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 are better. They are easy and we use</a:t>
            </a:r>
            <a:br>
              <a:rPr lang="en-US" b="0" dirty="0" smtClean="0">
                <a:latin typeface="Calibri" pitchFamily="34" charset="0"/>
                <a:cs typeface="Calibri" pitchFamily="34" charset="0"/>
              </a:rPr>
            </a:br>
            <a:r>
              <a:rPr lang="en-US" b="0" dirty="0" smtClean="0">
                <a:latin typeface="Calibri" pitchFamily="34" charset="0"/>
                <a:cs typeface="Calibri" pitchFamily="34" charset="0"/>
              </a:rPr>
              <a:t>them all the time. They cause no problems.</a:t>
            </a:r>
            <a:endParaRPr lang="en-US" b="0" i="1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Box 67"/>
          <p:cNvSpPr txBox="1">
            <a:spLocks noChangeArrowheads="1"/>
          </p:cNvSpPr>
          <p:nvPr/>
        </p:nvSpPr>
        <p:spPr bwMode="auto">
          <a:xfrm>
            <a:off x="381000" y="4648200"/>
            <a:ext cx="7355796" cy="68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i="1" dirty="0" smtClean="0">
                <a:latin typeface="Calibri" pitchFamily="34" charset="0"/>
                <a:cs typeface="Calibri" pitchFamily="34" charset="0"/>
              </a:rPr>
              <a:t>Well, since we’re in the SYS/BIOS workshop, there must</a:t>
            </a:r>
            <a:br>
              <a:rPr lang="en-US" b="0" i="1" dirty="0" smtClean="0">
                <a:latin typeface="Calibri" pitchFamily="34" charset="0"/>
                <a:cs typeface="Calibri" pitchFamily="34" charset="0"/>
              </a:rPr>
            </a:br>
            <a:r>
              <a:rPr lang="en-US" b="0" i="1" dirty="0" smtClean="0">
                <a:latin typeface="Calibri" pitchFamily="34" charset="0"/>
                <a:cs typeface="Calibri" pitchFamily="34" charset="0"/>
              </a:rPr>
              <a:t>be some services this RTOS provides to help us…</a:t>
            </a:r>
          </a:p>
        </p:txBody>
      </p:sp>
      <p:sp>
        <p:nvSpPr>
          <p:cNvPr id="35" name="TextBox 67"/>
          <p:cNvSpPr txBox="1">
            <a:spLocks noChangeArrowheads="1"/>
          </p:cNvSpPr>
          <p:nvPr/>
        </p:nvSpPr>
        <p:spPr bwMode="auto">
          <a:xfrm>
            <a:off x="381000" y="4038600"/>
            <a:ext cx="7402347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 smtClean="0">
                <a:latin typeface="Calibri" pitchFamily="34" charset="0"/>
                <a:cs typeface="Calibri" pitchFamily="34" charset="0"/>
              </a:rPr>
              <a:t>What problems can occur when using </a:t>
            </a:r>
            <a:r>
              <a:rPr lang="en-US" b="0" dirty="0" err="1" smtClean="0">
                <a:latin typeface="Calibri" pitchFamily="34" charset="0"/>
                <a:cs typeface="Calibri" pitchFamily="34" charset="0"/>
              </a:rPr>
              <a:t>globals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/</a:t>
            </a:r>
            <a:r>
              <a:rPr lang="en-US" b="0" dirty="0" err="1" smtClean="0">
                <a:latin typeface="Calibri" pitchFamily="34" charset="0"/>
                <a:cs typeface="Calibri" pitchFamily="34" charset="0"/>
              </a:rPr>
              <a:t>mutex’s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?</a:t>
            </a:r>
            <a:endParaRPr lang="en-US" b="0" i="1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 bldLvl="2"/>
      <p:bldP spid="30" grpId="0" autoUpdateAnimBg="0"/>
      <p:bldP spid="33" grpId="0" build="p" bldLvl="2"/>
      <p:bldP spid="34" grpId="0" build="p" bldLvl="2"/>
      <p:bldP spid="35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3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4800" y="1411029"/>
            <a:ext cx="5562600" cy="4431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29219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4256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2456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Resource Sharing – Two Types</a:t>
            </a:r>
          </a:p>
        </p:txBody>
      </p:sp>
      <p:sp>
        <p:nvSpPr>
          <p:cNvPr id="30" name="TextBox 67"/>
          <p:cNvSpPr txBox="1">
            <a:spLocks noChangeArrowheads="1"/>
          </p:cNvSpPr>
          <p:nvPr/>
        </p:nvSpPr>
        <p:spPr bwMode="auto">
          <a:xfrm>
            <a:off x="152400" y="685800"/>
            <a:ext cx="4456156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“Producer – Consumer” Model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066800" y="1181862"/>
            <a:ext cx="6553200" cy="1318869"/>
            <a:chOff x="1295400" y="1217487"/>
            <a:chExt cx="6553200" cy="1318869"/>
          </a:xfrm>
        </p:grpSpPr>
        <p:sp>
          <p:nvSpPr>
            <p:cNvPr id="24" name="Round Diagonal Corner Rectangle 23"/>
            <p:cNvSpPr/>
            <p:nvPr/>
          </p:nvSpPr>
          <p:spPr bwMode="auto">
            <a:xfrm>
              <a:off x="1295400" y="1359662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26" name="Round Diagonal Corner Rectangle 25"/>
            <p:cNvSpPr/>
            <p:nvPr/>
          </p:nvSpPr>
          <p:spPr bwMode="auto">
            <a:xfrm>
              <a:off x="6400800" y="1359662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sp>
          <p:nvSpPr>
            <p:cNvPr id="27" name="Can 26"/>
            <p:cNvSpPr/>
            <p:nvPr/>
          </p:nvSpPr>
          <p:spPr bwMode="auto">
            <a:xfrm>
              <a:off x="3886200" y="1217487"/>
              <a:ext cx="1295400" cy="954975"/>
            </a:xfrm>
            <a:prstGeom prst="can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1" name="Right Arrow 40"/>
            <p:cNvSpPr/>
            <p:nvPr/>
          </p:nvSpPr>
          <p:spPr bwMode="auto">
            <a:xfrm>
              <a:off x="2895600" y="14154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2" name="Right Arrow 41"/>
            <p:cNvSpPr/>
            <p:nvPr/>
          </p:nvSpPr>
          <p:spPr bwMode="auto">
            <a:xfrm>
              <a:off x="5410200" y="14154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39091" y="2197802"/>
              <a:ext cx="2487734" cy="338554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000" b="0" dirty="0" smtClean="0">
                  <a:solidFill>
                    <a:schemeClr val="dk1"/>
                  </a:solidFill>
                  <a:latin typeface="Calibri" pitchFamily="34" charset="0"/>
                  <a:cs typeface="Calibri" pitchFamily="34" charset="0"/>
                </a:rPr>
                <a:t>BIOS “Container”</a:t>
              </a:r>
              <a:endPara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4274125" y="1598487"/>
              <a:ext cx="5334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err="1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Msg</a:t>
              </a:r>
              <a:endPara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47081" y="2531425"/>
            <a:ext cx="8876854" cy="110799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1775" indent="-231775">
              <a:lnSpc>
                <a:spcPct val="110000"/>
              </a:lnSpc>
              <a:buSzPct val="100000"/>
              <a:buFont typeface="Arial" pitchFamily="34" charset="0"/>
              <a:buChar char="•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Thread A </a:t>
            </a:r>
            <a:r>
              <a:rPr lang="en-US" sz="2000" i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produces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a buffer or </a:t>
            </a:r>
            <a:r>
              <a:rPr lang="en-US" sz="20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Msg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and places it in a container.</a:t>
            </a:r>
          </a:p>
          <a:p>
            <a:pPr marL="231775" indent="-231775">
              <a:lnSpc>
                <a:spcPct val="110000"/>
              </a:lnSpc>
              <a:buSzPct val="100000"/>
              <a:buFont typeface="Arial" pitchFamily="34" charset="0"/>
              <a:buChar char="•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Thread B </a:t>
            </a:r>
            <a:r>
              <a:rPr lang="en-US" sz="2000" b="0" u="sng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blocks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until available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, then </a:t>
            </a:r>
            <a:r>
              <a:rPr lang="en-US" sz="2000" i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consumes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it when signaled (no contention)</a:t>
            </a:r>
          </a:p>
          <a:p>
            <a:pPr marL="231775" indent="-231775">
              <a:lnSpc>
                <a:spcPct val="110000"/>
              </a:lnSpc>
              <a:buSzPct val="100000"/>
              <a:buFont typeface="Arial" pitchFamily="34" charset="0"/>
              <a:buChar char="•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Data communication is achieved using BIOS “containers” (objects)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9" name="TextBox 67"/>
          <p:cNvSpPr txBox="1">
            <a:spLocks noChangeArrowheads="1"/>
          </p:cNvSpPr>
          <p:nvPr/>
        </p:nvSpPr>
        <p:spPr bwMode="auto">
          <a:xfrm>
            <a:off x="152400" y="3865427"/>
            <a:ext cx="4039952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“Concurrent Access” Model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066800" y="4397114"/>
            <a:ext cx="6477001" cy="954975"/>
            <a:chOff x="1295400" y="4570287"/>
            <a:chExt cx="6477001" cy="954975"/>
          </a:xfrm>
        </p:grpSpPr>
        <p:sp>
          <p:nvSpPr>
            <p:cNvPr id="46" name="Round Diagonal Corner Rectangle 45"/>
            <p:cNvSpPr/>
            <p:nvPr/>
          </p:nvSpPr>
          <p:spPr bwMode="auto">
            <a:xfrm>
              <a:off x="1295400" y="4712462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47" name="Round Diagonal Corner Rectangle 46"/>
            <p:cNvSpPr/>
            <p:nvPr/>
          </p:nvSpPr>
          <p:spPr bwMode="auto">
            <a:xfrm>
              <a:off x="6324601" y="4712462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sp>
          <p:nvSpPr>
            <p:cNvPr id="48" name="Can 47"/>
            <p:cNvSpPr/>
            <p:nvPr/>
          </p:nvSpPr>
          <p:spPr bwMode="auto">
            <a:xfrm>
              <a:off x="3886200" y="4570287"/>
              <a:ext cx="1295400" cy="954975"/>
            </a:xfrm>
            <a:prstGeom prst="can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Resource</a:t>
              </a:r>
            </a:p>
          </p:txBody>
        </p:sp>
        <p:sp>
          <p:nvSpPr>
            <p:cNvPr id="50" name="Right Arrow 49"/>
            <p:cNvSpPr/>
            <p:nvPr/>
          </p:nvSpPr>
          <p:spPr bwMode="auto">
            <a:xfrm>
              <a:off x="2895600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51" name="Right Arrow 50"/>
            <p:cNvSpPr/>
            <p:nvPr/>
          </p:nvSpPr>
          <p:spPr bwMode="auto">
            <a:xfrm rot="10800000">
              <a:off x="5334001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111456" y="5482453"/>
            <a:ext cx="9309087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1775" indent="-231775">
              <a:buSzPct val="100000"/>
              <a:buFont typeface="Arial" pitchFamily="34" charset="0"/>
              <a:buChar char="•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Any thread could access “Resource” at any time (no 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structured protocol/container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)</a:t>
            </a:r>
          </a:p>
          <a:p>
            <a:pPr marL="231775" indent="-231775">
              <a:buSzPct val="100000"/>
              <a:buFont typeface="Arial" pitchFamily="34" charset="0"/>
              <a:buChar char="•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Pre-emption of one thread by another can cause contention or priority inversion</a:t>
            </a:r>
          </a:p>
        </p:txBody>
      </p:sp>
      <p:sp>
        <p:nvSpPr>
          <p:cNvPr id="55" name="Leading Question"/>
          <p:cNvSpPr txBox="1"/>
          <p:nvPr/>
        </p:nvSpPr>
        <p:spPr>
          <a:xfrm>
            <a:off x="3813779" y="6477000"/>
            <a:ext cx="4706417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Let's look at the </a:t>
            </a:r>
            <a:r>
              <a:rPr lang="en-US" sz="2000" dirty="0" smtClean="0">
                <a:solidFill>
                  <a:schemeClr val="tx2"/>
                </a:solidFill>
                <a:latin typeface="Arial Narrow"/>
              </a:rPr>
              <a:t>producer-consumer</a:t>
            </a: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 model first...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2950" y="3964375"/>
            <a:ext cx="2751074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b="0" i="1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Resource = Data or Peripheral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3">
            <a:hlinkClick r:id="rId14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4800" y="1914679"/>
            <a:ext cx="5562600" cy="4431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5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2410969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Queues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6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281941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Mailboxes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23522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373887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9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01576" y="424252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8111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Producer – Consumer Model – Intro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256" y="2645611"/>
            <a:ext cx="9091784" cy="9048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Data is UNIDIRECTIONAL – one thread waits for the other to </a:t>
            </a:r>
            <a:r>
              <a:rPr lang="en-US" i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produce</a:t>
            </a:r>
          </a:p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Thread B often BLOCKS until data is </a:t>
            </a:r>
            <a:r>
              <a:rPr lang="en-US" i="1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produced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256" y="3930127"/>
            <a:ext cx="8503931" cy="90486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Both threads use same protocol – contention is often avoided</a:t>
            </a:r>
          </a:p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Threads become more “modular” and therefore reuse improves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712" y="2258704"/>
            <a:ext cx="1987275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How it Works: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712" y="3554104"/>
            <a:ext cx="1754711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Advantages: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712" y="4828238"/>
            <a:ext cx="1478290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Examples: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256" y="5225871"/>
            <a:ext cx="8317020" cy="116339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BIOS:  </a:t>
            </a:r>
            <a:r>
              <a:rPr lang="en-US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Queue, Mailbox, Stream I/O</a:t>
            </a:r>
          </a:p>
          <a:p>
            <a:pPr marL="342900" indent="-342900">
              <a:lnSpc>
                <a:spcPct val="9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May have built-in synchronization or user can add </a:t>
            </a:r>
            <a:r>
              <a:rPr lang="en-US" b="0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signaling</a:t>
            </a: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via</a:t>
            </a:r>
            <a:b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</a:br>
            <a:r>
              <a:rPr lang="en-US" b="0" i="1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Semaphores</a:t>
            </a: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en-US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and </a:t>
            </a:r>
            <a:r>
              <a:rPr lang="en-US" b="0" i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Events</a:t>
            </a:r>
            <a:endParaRPr lang="en-US" b="0" i="1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524000" y="838200"/>
            <a:ext cx="6019800" cy="1560730"/>
            <a:chOff x="1524000" y="838200"/>
            <a:chExt cx="6019800" cy="1560730"/>
          </a:xfrm>
        </p:grpSpPr>
        <p:grpSp>
          <p:nvGrpSpPr>
            <p:cNvPr id="14" name="Group 13"/>
            <p:cNvGrpSpPr/>
            <p:nvPr/>
          </p:nvGrpSpPr>
          <p:grpSpPr>
            <a:xfrm>
              <a:off x="1524000" y="838200"/>
              <a:ext cx="6019800" cy="1560730"/>
              <a:chOff x="1524000" y="1066800"/>
              <a:chExt cx="6019800" cy="1560730"/>
            </a:xfrm>
          </p:grpSpPr>
          <p:sp>
            <p:nvSpPr>
              <p:cNvPr id="24" name="Round Diagonal Corner Rectangle 23"/>
              <p:cNvSpPr/>
              <p:nvPr/>
            </p:nvSpPr>
            <p:spPr bwMode="auto">
              <a:xfrm>
                <a:off x="1524000" y="1208975"/>
                <a:ext cx="1447800" cy="660400"/>
              </a:xfrm>
              <a:prstGeom prst="round2Diag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 eaLnBrk="0" hangingPunct="0">
                  <a:lnSpc>
                    <a:spcPct val="80000"/>
                  </a:lnSpc>
                  <a:spcBef>
                    <a:spcPct val="50000"/>
                  </a:spcBef>
                  <a:defRPr/>
                </a:pPr>
                <a:r>
                  <a:rPr lang="en-US" b="0" dirty="0">
                    <a:latin typeface="Arial Narrow" pitchFamily="34" charset="0"/>
                  </a:rPr>
                  <a:t>Thread  A</a:t>
                </a:r>
              </a:p>
            </p:txBody>
          </p:sp>
          <p:sp>
            <p:nvSpPr>
              <p:cNvPr id="26" name="Round Diagonal Corner Rectangle 25"/>
              <p:cNvSpPr/>
              <p:nvPr/>
            </p:nvSpPr>
            <p:spPr bwMode="auto">
              <a:xfrm>
                <a:off x="6096000" y="1208975"/>
                <a:ext cx="1447800" cy="660400"/>
              </a:xfrm>
              <a:prstGeom prst="round2Diag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 eaLnBrk="0" hangingPunct="0">
                  <a:lnSpc>
                    <a:spcPct val="80000"/>
                  </a:lnSpc>
                  <a:spcBef>
                    <a:spcPct val="50000"/>
                  </a:spcBef>
                  <a:defRPr/>
                </a:pPr>
                <a:r>
                  <a:rPr lang="en-US" b="0" dirty="0">
                    <a:latin typeface="Arial Narrow" pitchFamily="34" charset="0"/>
                  </a:rPr>
                  <a:t>Thread  B</a:t>
                </a:r>
              </a:p>
            </p:txBody>
          </p:sp>
          <p:sp>
            <p:nvSpPr>
              <p:cNvPr id="27" name="Can 26"/>
              <p:cNvSpPr/>
              <p:nvPr/>
            </p:nvSpPr>
            <p:spPr bwMode="auto">
              <a:xfrm>
                <a:off x="4114800" y="1066800"/>
                <a:ext cx="838200" cy="954975"/>
              </a:xfrm>
              <a:prstGeom prst="can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1" name="Right Arrow 40"/>
              <p:cNvSpPr/>
              <p:nvPr/>
            </p:nvSpPr>
            <p:spPr bwMode="auto">
              <a:xfrm>
                <a:off x="3124200" y="1264725"/>
                <a:ext cx="838200" cy="533400"/>
              </a:xfrm>
              <a:prstGeom prst="right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2" name="Right Arrow 41"/>
              <p:cNvSpPr/>
              <p:nvPr/>
            </p:nvSpPr>
            <p:spPr bwMode="auto">
              <a:xfrm>
                <a:off x="5105400" y="1264725"/>
                <a:ext cx="838200" cy="533400"/>
              </a:xfrm>
              <a:prstGeom prst="right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3836866" y="2042755"/>
                <a:ext cx="1467068" cy="584775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b="0" dirty="0" smtClean="0">
                    <a:solidFill>
                      <a:schemeClr val="dk1"/>
                    </a:solidFill>
                  </a:rPr>
                  <a:t>BIOS</a:t>
                </a:r>
                <a:br>
                  <a:rPr lang="en-US" sz="2000" b="0" dirty="0" smtClean="0">
                    <a:solidFill>
                      <a:schemeClr val="dk1"/>
                    </a:solidFill>
                  </a:rPr>
                </a:br>
                <a:r>
                  <a:rPr lang="en-US" sz="2000" b="0" dirty="0" smtClean="0">
                    <a:solidFill>
                      <a:schemeClr val="dk1"/>
                    </a:solidFill>
                  </a:rPr>
                  <a:t>“Container”</a:t>
                </a:r>
                <a:endParaRPr lang="en-US" sz="2000" b="0" dirty="0" smtClean="0">
                  <a:solidFill>
                    <a:schemeClr val="dk1"/>
                  </a:solidFill>
                  <a:effectLst/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 bwMode="auto">
              <a:xfrm>
                <a:off x="4267200" y="1388425"/>
                <a:ext cx="533400" cy="45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err="1" smtClean="0">
                    <a:ln>
                      <a:noFill/>
                    </a:ln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Msg</a:t>
                </a:r>
                <a:endPara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3029304" y="1465944"/>
              <a:ext cx="946093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  <a:latin typeface="Arial Narrow" pitchFamily="34" charset="0"/>
                </a:rPr>
                <a:t>produce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76094" y="1465944"/>
              <a:ext cx="1039067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  <a:latin typeface="Arial Narrow" pitchFamily="34" charset="0"/>
                </a:rPr>
                <a:t>consume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5">
            <a:hlinkClick r:id="rId15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74000" y="2410969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Queues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6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292561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Mailboxes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34142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384507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9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01576" y="434872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5241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Queue Concepts…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838200" y="806301"/>
            <a:ext cx="7412666" cy="1545266"/>
            <a:chOff x="838200" y="816934"/>
            <a:chExt cx="7412666" cy="1545266"/>
          </a:xfrm>
        </p:grpSpPr>
        <p:sp>
          <p:nvSpPr>
            <p:cNvPr id="38" name="Round Diagonal Corner Rectangle 37"/>
            <p:cNvSpPr/>
            <p:nvPr/>
          </p:nvSpPr>
          <p:spPr bwMode="auto">
            <a:xfrm>
              <a:off x="838200" y="1173538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39" name="Round Diagonal Corner Rectangle 38"/>
            <p:cNvSpPr/>
            <p:nvPr/>
          </p:nvSpPr>
          <p:spPr bwMode="auto">
            <a:xfrm>
              <a:off x="6803066" y="1173538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2425998" y="1229288"/>
              <a:ext cx="838200" cy="533400"/>
              <a:chOff x="3124200" y="1036125"/>
              <a:chExt cx="838200" cy="533400"/>
            </a:xfrm>
          </p:grpSpPr>
          <p:sp>
            <p:nvSpPr>
              <p:cNvPr id="44" name="Right Arrow 43"/>
              <p:cNvSpPr/>
              <p:nvPr/>
            </p:nvSpPr>
            <p:spPr bwMode="auto">
              <a:xfrm>
                <a:off x="3124200" y="1036125"/>
                <a:ext cx="838200" cy="533400"/>
              </a:xfrm>
              <a:prstGeom prst="right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3202454" y="1066800"/>
                <a:ext cx="476412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n-US" sz="2000" b="0" dirty="0" smtClean="0"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put</a:t>
                </a: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5810697" y="1229288"/>
              <a:ext cx="838200" cy="533400"/>
              <a:chOff x="5105400" y="1036125"/>
              <a:chExt cx="838200" cy="533400"/>
            </a:xfrm>
          </p:grpSpPr>
          <p:sp>
            <p:nvSpPr>
              <p:cNvPr id="46" name="Right Arrow 45"/>
              <p:cNvSpPr/>
              <p:nvPr/>
            </p:nvSpPr>
            <p:spPr bwMode="auto">
              <a:xfrm>
                <a:off x="5105400" y="1036125"/>
                <a:ext cx="838200" cy="533400"/>
              </a:xfrm>
              <a:prstGeom prst="right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5160334" y="1066800"/>
                <a:ext cx="476412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n-US" sz="2000" b="0" dirty="0" smtClean="0"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get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3352800" y="816934"/>
              <a:ext cx="2362200" cy="1545266"/>
              <a:chOff x="3429000" y="838200"/>
              <a:chExt cx="2362200" cy="1545266"/>
            </a:xfrm>
          </p:grpSpPr>
          <p:sp>
            <p:nvSpPr>
              <p:cNvPr id="43" name="Can 42"/>
              <p:cNvSpPr/>
              <p:nvPr/>
            </p:nvSpPr>
            <p:spPr bwMode="auto">
              <a:xfrm>
                <a:off x="3429000" y="838200"/>
                <a:ext cx="2362200" cy="1143000"/>
              </a:xfrm>
              <a:prstGeom prst="can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074002" y="1995668"/>
                <a:ext cx="1141659" cy="38779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 smtClean="0">
                    <a:solidFill>
                      <a:schemeClr val="tx2"/>
                    </a:solidFill>
                  </a:rPr>
                  <a:t>Queue</a:t>
                </a:r>
                <a:endParaRPr lang="en-US" dirty="0" smtClean="0">
                  <a:solidFill>
                    <a:schemeClr val="tx2"/>
                  </a:solidFill>
                  <a:effectLst/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 bwMode="auto">
              <a:xfrm>
                <a:off x="3570767" y="1287421"/>
                <a:ext cx="609600" cy="45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Msg1</a:t>
                </a:r>
              </a:p>
            </p:txBody>
          </p:sp>
          <p:sp>
            <p:nvSpPr>
              <p:cNvPr id="52" name="Rectangle 51"/>
              <p:cNvSpPr/>
              <p:nvPr/>
            </p:nvSpPr>
            <p:spPr bwMode="auto">
              <a:xfrm>
                <a:off x="4332767" y="1287421"/>
                <a:ext cx="609600" cy="45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Msg2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 bwMode="auto">
              <a:xfrm>
                <a:off x="5094767" y="1287421"/>
                <a:ext cx="609600" cy="45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Msg3</a:t>
                </a:r>
              </a:p>
            </p:txBody>
          </p:sp>
        </p:grpSp>
      </p:grpSp>
      <p:sp>
        <p:nvSpPr>
          <p:cNvPr id="56" name="TextBox 21"/>
          <p:cNvSpPr txBox="1">
            <a:spLocks noChangeArrowheads="1"/>
          </p:cNvSpPr>
          <p:nvPr/>
        </p:nvSpPr>
        <p:spPr bwMode="auto">
          <a:xfrm>
            <a:off x="304800" y="2473837"/>
            <a:ext cx="8915400" cy="374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>
                <a:latin typeface="Calibri" pitchFamily="34" charset="0"/>
                <a:cs typeface="Calibri" pitchFamily="34" charset="0"/>
              </a:rPr>
              <a:t>A </a:t>
            </a:r>
            <a:r>
              <a:rPr lang="en-US" u="sng" dirty="0" smtClean="0">
                <a:latin typeface="Calibri" pitchFamily="34" charset="0"/>
                <a:cs typeface="Calibri" pitchFamily="34" charset="0"/>
              </a:rPr>
              <a:t>Queue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b="0" dirty="0">
                <a:latin typeface="Calibri" pitchFamily="34" charset="0"/>
                <a:cs typeface="Calibri" pitchFamily="34" charset="0"/>
              </a:rPr>
              <a:t>is a BIOS object that 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can contain </a:t>
            </a:r>
            <a:r>
              <a:rPr lang="en-US" b="0" i="1" dirty="0">
                <a:latin typeface="Calibri" pitchFamily="34" charset="0"/>
                <a:cs typeface="Calibri" pitchFamily="34" charset="0"/>
              </a:rPr>
              <a:t>anything</a:t>
            </a:r>
            <a:r>
              <a:rPr lang="en-US" b="0" dirty="0">
                <a:latin typeface="Calibri" pitchFamily="34" charset="0"/>
                <a:cs typeface="Calibri" pitchFamily="34" charset="0"/>
              </a:rPr>
              <a:t> you like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>
                <a:latin typeface="Calibri" pitchFamily="34" charset="0"/>
                <a:cs typeface="Calibri" pitchFamily="34" charset="0"/>
              </a:rPr>
              <a:t>“Data” is called a “</a:t>
            </a:r>
            <a:r>
              <a:rPr lang="en-US" b="0" dirty="0" err="1">
                <a:latin typeface="Calibri" pitchFamily="34" charset="0"/>
                <a:cs typeface="Calibri" pitchFamily="34" charset="0"/>
              </a:rPr>
              <a:t>Msg</a:t>
            </a:r>
            <a:r>
              <a:rPr lang="en-US" b="0">
                <a:latin typeface="Calibri" pitchFamily="34" charset="0"/>
                <a:cs typeface="Calibri" pitchFamily="34" charset="0"/>
              </a:rPr>
              <a:t>” 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– simply 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a </a:t>
            </a:r>
            <a:r>
              <a:rPr lang="en-US" b="0" dirty="0">
                <a:latin typeface="Calibri" pitchFamily="34" charset="0"/>
                <a:cs typeface="Calibri" pitchFamily="34" charset="0"/>
              </a:rPr>
              <a:t>structure 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defined by the user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 err="1" smtClean="0">
                <a:latin typeface="Calibri" pitchFamily="34" charset="0"/>
                <a:cs typeface="Calibri" pitchFamily="34" charset="0"/>
              </a:rPr>
              <a:t>Msgs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 are “reclaimed” on a FIFO basis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dirty="0" smtClean="0">
                <a:latin typeface="Calibri" pitchFamily="34" charset="0"/>
                <a:cs typeface="Calibri" pitchFamily="34" charset="0"/>
              </a:rPr>
              <a:t>Key APIs: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endParaRPr lang="en-US" b="0" dirty="0" smtClean="0">
              <a:latin typeface="Calibri" pitchFamily="34" charset="0"/>
              <a:cs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endParaRPr lang="en-US" b="0" dirty="0" smtClean="0">
              <a:latin typeface="Calibri" pitchFamily="34" charset="0"/>
              <a:cs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i="1" dirty="0" smtClean="0">
                <a:latin typeface="Calibri" pitchFamily="34" charset="0"/>
                <a:cs typeface="Calibri" pitchFamily="34" charset="0"/>
              </a:rPr>
              <a:t>Advantages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:  simple, not copy based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 i="1" dirty="0" smtClean="0">
                <a:latin typeface="Calibri" pitchFamily="34" charset="0"/>
                <a:cs typeface="Calibri" pitchFamily="34" charset="0"/>
              </a:rPr>
              <a:t>Disadvantage</a:t>
            </a:r>
            <a:r>
              <a:rPr lang="en-US" b="0" dirty="0" smtClean="0">
                <a:latin typeface="Calibri" pitchFamily="34" charset="0"/>
                <a:cs typeface="Calibri" pitchFamily="34" charset="0"/>
              </a:rPr>
              <a:t>: no signaling built in</a:t>
            </a:r>
            <a:endParaRPr lang="en-US" b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243212" y="4365281"/>
            <a:ext cx="2109588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r>
              <a:rPr lang="en-US" sz="20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Queue_put</a:t>
            </a:r>
            <a:r>
              <a:rPr lang="en-US" sz="20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Queue_get</a:t>
            </a:r>
            <a:r>
              <a:rPr lang="en-US" sz="20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();</a:t>
            </a:r>
            <a:endParaRPr lang="en-US" sz="2000" dirty="0" smtClean="0">
              <a:solidFill>
                <a:schemeClr val="dk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9" name="Leading Question"/>
          <p:cNvSpPr txBox="1"/>
          <p:nvPr/>
        </p:nvSpPr>
        <p:spPr>
          <a:xfrm>
            <a:off x="3919868" y="6347635"/>
            <a:ext cx="4724049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How would you synchronize the writer and reader?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Synchronizing Queues…</a:t>
            </a: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52400" y="3048000"/>
            <a:ext cx="8774113" cy="1523998"/>
            <a:chOff x="152400" y="3317362"/>
            <a:chExt cx="8773565" cy="1524642"/>
          </a:xfrm>
        </p:grpSpPr>
        <p:pic>
          <p:nvPicPr>
            <p:cNvPr id="16396" name="Picture 2" descr="C:\Documents and Settings\a0159877\Local Settings\Temporary Internet Files\Content.IE5\6RSYL2BQ\MC900048770[1]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2400" y="3657598"/>
              <a:ext cx="1110539" cy="1173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" name="TextBox 25"/>
            <p:cNvSpPr txBox="1"/>
            <p:nvPr/>
          </p:nvSpPr>
          <p:spPr>
            <a:xfrm>
              <a:off x="1295329" y="3962156"/>
              <a:ext cx="3124005" cy="879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eaLnBrk="0" hangingPunct="0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sz="2000" dirty="0" err="1" smtClean="0">
                  <a:latin typeface="Arial Narrow" pitchFamily="34" charset="0"/>
                  <a:cs typeface="Courier New" pitchFamily="49" charset="0"/>
                </a:rPr>
                <a:t>Queue_put</a:t>
              </a:r>
              <a:r>
                <a:rPr lang="en-US" sz="2000" dirty="0" smtClean="0">
                  <a:latin typeface="Arial Narrow" pitchFamily="34" charset="0"/>
                  <a:cs typeface="Courier New" pitchFamily="49" charset="0"/>
                </a:rPr>
                <a:t>(&amp;</a:t>
              </a:r>
              <a:r>
                <a:rPr lang="en-US" sz="2000" dirty="0" err="1" smtClean="0">
                  <a:latin typeface="Arial Narrow" pitchFamily="34" charset="0"/>
                  <a:cs typeface="Courier New" pitchFamily="49" charset="0"/>
                </a:rPr>
                <a:t>myQ</a:t>
              </a:r>
              <a:r>
                <a:rPr lang="en-US" sz="2000" dirty="0" smtClean="0">
                  <a:latin typeface="Arial Narrow" pitchFamily="34" charset="0"/>
                  <a:cs typeface="Courier New" pitchFamily="49" charset="0"/>
                </a:rPr>
                <a:t>, </a:t>
              </a:r>
              <a:r>
                <a:rPr lang="en-US" sz="2000" dirty="0" err="1" smtClean="0">
                  <a:latin typeface="Arial Narrow" pitchFamily="34" charset="0"/>
                  <a:cs typeface="Courier New" pitchFamily="49" charset="0"/>
                </a:rPr>
                <a:t>msg</a:t>
              </a:r>
              <a:r>
                <a:rPr lang="en-US" sz="2000" dirty="0" smtClean="0">
                  <a:latin typeface="Arial Narrow" pitchFamily="34" charset="0"/>
                  <a:cs typeface="Courier New" pitchFamily="49" charset="0"/>
                </a:rPr>
                <a:t>);</a:t>
              </a:r>
            </a:p>
            <a:p>
              <a:pPr eaLnBrk="0" hangingPunct="0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sz="2000" dirty="0" smtClean="0">
                  <a:latin typeface="Arial Narrow" pitchFamily="34" charset="0"/>
                  <a:cs typeface="Courier New" pitchFamily="49" charset="0"/>
                </a:rPr>
                <a:t> </a:t>
              </a:r>
              <a:endParaRPr lang="en-US" sz="2000" dirty="0">
                <a:latin typeface="Arial Narrow" pitchFamily="34" charset="0"/>
                <a:cs typeface="Courier New" pitchFamily="49" charset="0"/>
              </a:endParaRPr>
            </a:p>
          </p:txBody>
        </p:sp>
        <p:sp>
          <p:nvSpPr>
            <p:cNvPr id="16398" name="TextBox 27"/>
            <p:cNvSpPr txBox="1">
              <a:spLocks noChangeArrowheads="1"/>
            </p:cNvSpPr>
            <p:nvPr/>
          </p:nvSpPr>
          <p:spPr bwMode="auto">
            <a:xfrm>
              <a:off x="2163730" y="3657598"/>
              <a:ext cx="1209176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0">
                  <a:solidFill>
                    <a:srgbClr val="0070C0"/>
                  </a:solidFill>
                </a:rPr>
                <a:t>TALKER</a:t>
              </a:r>
            </a:p>
          </p:txBody>
        </p:sp>
        <p:pic>
          <p:nvPicPr>
            <p:cNvPr id="16399" name="Picture 4" descr="C:\Documents and Settings\a0159877\Desktop\0511-1009-1817-3417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flipH="1">
              <a:off x="8148091" y="3317362"/>
              <a:ext cx="777874" cy="1441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" name="TextBox 30"/>
            <p:cNvSpPr txBox="1"/>
            <p:nvPr/>
          </p:nvSpPr>
          <p:spPr>
            <a:xfrm>
              <a:off x="4800310" y="3962157"/>
              <a:ext cx="3276395" cy="8798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eaLnBrk="0" hangingPunct="0">
                <a:lnSpc>
                  <a:spcPct val="50000"/>
                </a:lnSpc>
                <a:spcBef>
                  <a:spcPct val="50000"/>
                </a:spcBef>
                <a:defRPr/>
              </a:pPr>
              <a:endParaRPr lang="en-US" sz="2000" dirty="0">
                <a:latin typeface="Courier New" pitchFamily="49" charset="0"/>
                <a:cs typeface="Courier New" pitchFamily="49" charset="0"/>
              </a:endParaRPr>
            </a:p>
            <a:p>
              <a:pPr eaLnBrk="0" hangingPunct="0">
                <a:lnSpc>
                  <a:spcPct val="50000"/>
                </a:lnSpc>
                <a:spcBef>
                  <a:spcPct val="50000"/>
                </a:spcBef>
                <a:defRPr/>
              </a:pPr>
              <a:r>
                <a:rPr lang="en-US" sz="2000" dirty="0" smtClean="0">
                  <a:latin typeface="Arial Narrow" pitchFamily="34" charset="0"/>
                  <a:cs typeface="Courier New" pitchFamily="49" charset="0"/>
                </a:rPr>
                <a:t/>
              </a:r>
              <a:br>
                <a:rPr lang="en-US" sz="2000" dirty="0" smtClean="0">
                  <a:latin typeface="Arial Narrow" pitchFamily="34" charset="0"/>
                  <a:cs typeface="Courier New" pitchFamily="49" charset="0"/>
                </a:rPr>
              </a:br>
              <a:r>
                <a:rPr lang="en-US" sz="2000" dirty="0" err="1" smtClean="0">
                  <a:latin typeface="Arial Narrow" pitchFamily="34" charset="0"/>
                  <a:cs typeface="Courier New" pitchFamily="49" charset="0"/>
                </a:rPr>
                <a:t>msg</a:t>
              </a:r>
              <a:r>
                <a:rPr lang="en-US" sz="2000" dirty="0" smtClean="0">
                  <a:latin typeface="Arial Narrow" pitchFamily="34" charset="0"/>
                  <a:cs typeface="Courier New" pitchFamily="49" charset="0"/>
                </a:rPr>
                <a:t> </a:t>
              </a:r>
              <a:r>
                <a:rPr lang="en-US" sz="2000" dirty="0">
                  <a:latin typeface="Arial Narrow" pitchFamily="34" charset="0"/>
                  <a:cs typeface="Courier New" pitchFamily="49" charset="0"/>
                </a:rPr>
                <a:t>= </a:t>
              </a:r>
              <a:r>
                <a:rPr lang="en-US" sz="2000" dirty="0" err="1" smtClean="0">
                  <a:latin typeface="Arial Narrow" pitchFamily="34" charset="0"/>
                  <a:cs typeface="Courier New" pitchFamily="49" charset="0"/>
                </a:rPr>
                <a:t>Queue_get</a:t>
              </a:r>
              <a:r>
                <a:rPr lang="en-US" sz="2000" dirty="0">
                  <a:latin typeface="Arial Narrow" pitchFamily="34" charset="0"/>
                  <a:cs typeface="Courier New" pitchFamily="49" charset="0"/>
                </a:rPr>
                <a:t>(&amp;</a:t>
              </a:r>
              <a:r>
                <a:rPr lang="en-US" sz="2000" dirty="0" err="1">
                  <a:latin typeface="Arial Narrow" pitchFamily="34" charset="0"/>
                  <a:cs typeface="Courier New" pitchFamily="49" charset="0"/>
                </a:rPr>
                <a:t>myQ</a:t>
              </a:r>
              <a:r>
                <a:rPr lang="en-US" sz="2000" dirty="0">
                  <a:latin typeface="Arial Narrow" pitchFamily="34" charset="0"/>
                  <a:cs typeface="Courier New" pitchFamily="49" charset="0"/>
                </a:rPr>
                <a:t>); </a:t>
              </a:r>
            </a:p>
          </p:txBody>
        </p:sp>
        <p:sp>
          <p:nvSpPr>
            <p:cNvPr id="16401" name="TextBox 31"/>
            <p:cNvSpPr txBox="1">
              <a:spLocks noChangeArrowheads="1"/>
            </p:cNvSpPr>
            <p:nvPr/>
          </p:nvSpPr>
          <p:spPr bwMode="auto">
            <a:xfrm>
              <a:off x="5668930" y="3657600"/>
              <a:ext cx="144142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0">
                  <a:solidFill>
                    <a:srgbClr val="0070C0"/>
                  </a:solidFill>
                </a:rPr>
                <a:t>LISTENER</a:t>
              </a:r>
            </a:p>
          </p:txBody>
        </p:sp>
      </p:grp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4789488" y="3766955"/>
            <a:ext cx="312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000" dirty="0" err="1" smtClean="0">
                <a:latin typeface="Arial Narrow" pitchFamily="34" charset="0"/>
                <a:cs typeface="Courier New" pitchFamily="49" charset="0"/>
              </a:rPr>
              <a:t>Semaphore_pend</a:t>
            </a:r>
            <a:r>
              <a:rPr lang="en-US" sz="2000" dirty="0">
                <a:latin typeface="Arial Narrow" pitchFamily="34" charset="0"/>
                <a:cs typeface="Courier New" pitchFamily="49" charset="0"/>
              </a:rPr>
              <a:t>(&amp;</a:t>
            </a:r>
            <a:r>
              <a:rPr lang="en-US" sz="2000" dirty="0" err="1">
                <a:latin typeface="Arial Narrow" pitchFamily="34" charset="0"/>
                <a:cs typeface="Courier New" pitchFamily="49" charset="0"/>
              </a:rPr>
              <a:t>Sem</a:t>
            </a:r>
            <a:r>
              <a:rPr lang="en-US" sz="2000" dirty="0">
                <a:latin typeface="Arial Narrow" pitchFamily="34" charset="0"/>
                <a:cs typeface="Courier New" pitchFamily="49" charset="0"/>
              </a:rPr>
              <a:t>, -1);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295400" y="4136512"/>
            <a:ext cx="312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000" dirty="0" err="1" smtClean="0">
                <a:latin typeface="Arial Narrow" pitchFamily="34" charset="0"/>
                <a:cs typeface="Courier New" pitchFamily="49" charset="0"/>
              </a:rPr>
              <a:t>Semaphore_post</a:t>
            </a:r>
            <a:r>
              <a:rPr lang="en-US" sz="2000" dirty="0" smtClean="0">
                <a:latin typeface="Arial Narrow" pitchFamily="34" charset="0"/>
                <a:cs typeface="Courier New" pitchFamily="49" charset="0"/>
              </a:rPr>
              <a:t>(&amp;</a:t>
            </a:r>
            <a:r>
              <a:rPr lang="en-US" sz="2000" dirty="0" err="1" smtClean="0">
                <a:latin typeface="Arial Narrow" pitchFamily="34" charset="0"/>
                <a:cs typeface="Courier New" pitchFamily="49" charset="0"/>
              </a:rPr>
              <a:t>Sem</a:t>
            </a:r>
            <a:r>
              <a:rPr lang="en-US" sz="2000" dirty="0" smtClean="0">
                <a:latin typeface="Arial Narrow" pitchFamily="34" charset="0"/>
                <a:cs typeface="Courier New" pitchFamily="49" charset="0"/>
              </a:rPr>
              <a:t>);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838200" y="806301"/>
            <a:ext cx="7412666" cy="1545266"/>
            <a:chOff x="838200" y="816934"/>
            <a:chExt cx="7412666" cy="1545266"/>
          </a:xfrm>
        </p:grpSpPr>
        <p:sp>
          <p:nvSpPr>
            <p:cNvPr id="32" name="Round Diagonal Corner Rectangle 31"/>
            <p:cNvSpPr/>
            <p:nvPr/>
          </p:nvSpPr>
          <p:spPr bwMode="auto">
            <a:xfrm>
              <a:off x="838200" y="1173538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34" name="Round Diagonal Corner Rectangle 33"/>
            <p:cNvSpPr/>
            <p:nvPr/>
          </p:nvSpPr>
          <p:spPr bwMode="auto">
            <a:xfrm>
              <a:off x="6803066" y="1173538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grpSp>
          <p:nvGrpSpPr>
            <p:cNvPr id="36" name="Group 50"/>
            <p:cNvGrpSpPr/>
            <p:nvPr/>
          </p:nvGrpSpPr>
          <p:grpSpPr>
            <a:xfrm>
              <a:off x="2425998" y="1229288"/>
              <a:ext cx="838200" cy="533400"/>
              <a:chOff x="3124200" y="1036125"/>
              <a:chExt cx="838200" cy="533400"/>
            </a:xfrm>
          </p:grpSpPr>
          <p:sp>
            <p:nvSpPr>
              <p:cNvPr id="46" name="Right Arrow 45"/>
              <p:cNvSpPr/>
              <p:nvPr/>
            </p:nvSpPr>
            <p:spPr bwMode="auto">
              <a:xfrm>
                <a:off x="3124200" y="1036125"/>
                <a:ext cx="838200" cy="533400"/>
              </a:xfrm>
              <a:prstGeom prst="right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202454" y="1066800"/>
                <a:ext cx="476412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n-US" sz="2000" b="0" dirty="0" smtClean="0"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put</a:t>
                </a:r>
              </a:p>
            </p:txBody>
          </p:sp>
        </p:grpSp>
        <p:grpSp>
          <p:nvGrpSpPr>
            <p:cNvPr id="37" name="Group 49"/>
            <p:cNvGrpSpPr/>
            <p:nvPr/>
          </p:nvGrpSpPr>
          <p:grpSpPr>
            <a:xfrm>
              <a:off x="5810697" y="1229288"/>
              <a:ext cx="838200" cy="533400"/>
              <a:chOff x="5105400" y="1036125"/>
              <a:chExt cx="838200" cy="533400"/>
            </a:xfrm>
          </p:grpSpPr>
          <p:sp>
            <p:nvSpPr>
              <p:cNvPr id="44" name="Right Arrow 43"/>
              <p:cNvSpPr/>
              <p:nvPr/>
            </p:nvSpPr>
            <p:spPr bwMode="auto">
              <a:xfrm>
                <a:off x="5105400" y="1036125"/>
                <a:ext cx="838200" cy="533400"/>
              </a:xfrm>
              <a:prstGeom prst="rightArrow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1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5160334" y="1066800"/>
                <a:ext cx="476412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n-US" sz="2000" b="0" dirty="0" smtClean="0"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get</a:t>
                </a:r>
              </a:p>
            </p:txBody>
          </p:sp>
        </p:grpSp>
        <p:grpSp>
          <p:nvGrpSpPr>
            <p:cNvPr id="38" name="Group 53"/>
            <p:cNvGrpSpPr/>
            <p:nvPr/>
          </p:nvGrpSpPr>
          <p:grpSpPr>
            <a:xfrm>
              <a:off x="3352800" y="816934"/>
              <a:ext cx="2362200" cy="1545266"/>
              <a:chOff x="3429000" y="838200"/>
              <a:chExt cx="2362200" cy="1545266"/>
            </a:xfrm>
          </p:grpSpPr>
          <p:sp>
            <p:nvSpPr>
              <p:cNvPr id="39" name="Can 38"/>
              <p:cNvSpPr/>
              <p:nvPr/>
            </p:nvSpPr>
            <p:spPr bwMode="auto">
              <a:xfrm>
                <a:off x="3429000" y="838200"/>
                <a:ext cx="2362200" cy="1143000"/>
              </a:xfrm>
              <a:prstGeom prst="can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074002" y="1995668"/>
                <a:ext cx="1141659" cy="38779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 smtClean="0">
                    <a:solidFill>
                      <a:schemeClr val="tx2"/>
                    </a:solidFill>
                  </a:rPr>
                  <a:t>Queue</a:t>
                </a:r>
                <a:endParaRPr lang="en-US" dirty="0" smtClean="0">
                  <a:solidFill>
                    <a:schemeClr val="tx2"/>
                  </a:solidFill>
                  <a:effectLst/>
                </a:endParaRPr>
              </a:p>
            </p:txBody>
          </p:sp>
          <p:sp>
            <p:nvSpPr>
              <p:cNvPr id="41" name="Rectangle 40"/>
              <p:cNvSpPr/>
              <p:nvPr/>
            </p:nvSpPr>
            <p:spPr bwMode="auto">
              <a:xfrm>
                <a:off x="3570767" y="1287421"/>
                <a:ext cx="609600" cy="45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Msg1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 bwMode="auto">
              <a:xfrm>
                <a:off x="4332767" y="1287421"/>
                <a:ext cx="609600" cy="45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Msg2</a:t>
                </a:r>
              </a:p>
            </p:txBody>
          </p:sp>
          <p:sp>
            <p:nvSpPr>
              <p:cNvPr id="43" name="Rectangle 42"/>
              <p:cNvSpPr/>
              <p:nvPr/>
            </p:nvSpPr>
            <p:spPr bwMode="auto">
              <a:xfrm>
                <a:off x="5094767" y="1287421"/>
                <a:ext cx="609600" cy="4572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 smtClean="0">
                    <a:ln>
                      <a:noFill/>
                    </a:ln>
                    <a:solidFill>
                      <a:schemeClr val="dk1"/>
                    </a:solidFill>
                    <a:effectLst/>
                    <a:latin typeface="Arial Narrow" pitchFamily="34" charset="0"/>
                  </a:rPr>
                  <a:t>Msg3</a:t>
                </a: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381000" y="2510135"/>
            <a:ext cx="658481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Use a Semaphore to synchronize writer/reader: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215" y="4953000"/>
            <a:ext cx="8468985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b="0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Note: “</a:t>
            </a:r>
            <a:r>
              <a:rPr lang="en-US" sz="2000" b="0" dirty="0" err="1" smtClean="0">
                <a:solidFill>
                  <a:schemeClr val="dk1"/>
                </a:solidFill>
                <a:effectLst/>
                <a:latin typeface="Arial Narrow" pitchFamily="34" charset="0"/>
              </a:rPr>
              <a:t>Queue+Sem</a:t>
            </a:r>
            <a:r>
              <a:rPr lang="en-US" sz="2000" b="0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” is the basis for how “streams” are built to interface with I/O drivers – </a:t>
            </a:r>
            <a:br>
              <a:rPr lang="en-US" sz="2000" b="0" dirty="0" smtClean="0">
                <a:solidFill>
                  <a:schemeClr val="dk1"/>
                </a:solidFill>
                <a:effectLst/>
                <a:latin typeface="Arial Narrow" pitchFamily="34" charset="0"/>
              </a:rPr>
            </a:br>
            <a:r>
              <a:rPr lang="en-US" sz="2000" b="0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          e.g. Platform Support Package (PSP) drivers from </a:t>
            </a:r>
            <a:r>
              <a:rPr lang="en-US" sz="2000" b="0" smtClean="0">
                <a:solidFill>
                  <a:schemeClr val="dk1"/>
                </a:solidFill>
                <a:effectLst/>
                <a:latin typeface="Arial Narrow" pitchFamily="34" charset="0"/>
              </a:rPr>
              <a:t>TI.</a:t>
            </a:r>
            <a:endParaRPr lang="en-US" sz="2000" b="0" i="1" dirty="0" smtClean="0"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51" name="Leading Question"/>
          <p:cNvSpPr txBox="1"/>
          <p:nvPr/>
        </p:nvSpPr>
        <p:spPr>
          <a:xfrm>
            <a:off x="4575979" y="6248400"/>
            <a:ext cx="4244752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Let's see how Queues are used in a system...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27" grpId="0" autoUpdateAnimBg="0"/>
      <p:bldP spid="5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Using Queues in a System…</a:t>
            </a:r>
          </a:p>
        </p:txBody>
      </p:sp>
      <p:sp>
        <p:nvSpPr>
          <p:cNvPr id="17412" name="TextBox 12"/>
          <p:cNvSpPr txBox="1">
            <a:spLocks noChangeArrowheads="1"/>
          </p:cNvSpPr>
          <p:nvPr/>
        </p:nvSpPr>
        <p:spPr bwMode="auto">
          <a:xfrm>
            <a:off x="84160" y="685800"/>
            <a:ext cx="2259013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/>
              <a:t>User Setup:</a:t>
            </a:r>
          </a:p>
        </p:txBody>
      </p:sp>
      <p:pic>
        <p:nvPicPr>
          <p:cNvPr id="17413" name="Picture 2" descr="C:\Documents and Settings\a0159877\Desktop\QUE_Obj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609600"/>
            <a:ext cx="36576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4" name="TextBox 14"/>
          <p:cNvSpPr txBox="1">
            <a:spLocks noChangeArrowheads="1"/>
          </p:cNvSpPr>
          <p:nvPr/>
        </p:nvSpPr>
        <p:spPr bwMode="auto">
          <a:xfrm>
            <a:off x="476273" y="1112838"/>
            <a:ext cx="4609467" cy="153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0" hangingPunct="0">
              <a:lnSpc>
                <a:spcPct val="80000"/>
              </a:lnSpc>
              <a:spcBef>
                <a:spcPct val="50000"/>
              </a:spcBef>
              <a:buFont typeface="+mj-lt"/>
              <a:buAutoNum type="alphaUcPeriod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Declare </a:t>
            </a: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Queue </a:t>
            </a:r>
            <a:r>
              <a:rPr lang="en-US" sz="2000" b="0" dirty="0">
                <a:latin typeface="Calibri" pitchFamily="34" charset="0"/>
                <a:cs typeface="Calibri" pitchFamily="34" charset="0"/>
              </a:rPr>
              <a:t>in </a:t>
            </a: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CFG</a:t>
            </a:r>
            <a:endParaRPr lang="en-US" sz="2000" b="0" dirty="0">
              <a:latin typeface="Calibri" pitchFamily="34" charset="0"/>
              <a:cs typeface="Calibri" pitchFamily="34" charset="0"/>
            </a:endParaRPr>
          </a:p>
          <a:p>
            <a:pPr marL="457200" indent="-457200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AutoNum type="alphaUcPeriod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Define (</a:t>
            </a:r>
            <a:r>
              <a:rPr lang="en-US" sz="2000" b="0" dirty="0" err="1">
                <a:latin typeface="Calibri" pitchFamily="34" charset="0"/>
                <a:cs typeface="Calibri" pitchFamily="34" charset="0"/>
              </a:rPr>
              <a:t>typedef</a:t>
            </a:r>
            <a:r>
              <a:rPr lang="en-US" sz="2000" b="0" dirty="0">
                <a:latin typeface="Calibri" pitchFamily="34" charset="0"/>
                <a:cs typeface="Calibri" pitchFamily="34" charset="0"/>
              </a:rPr>
              <a:t>) structure of </a:t>
            </a:r>
            <a:r>
              <a:rPr lang="en-US" sz="2000" b="0" dirty="0" err="1">
                <a:latin typeface="Calibri" pitchFamily="34" charset="0"/>
                <a:cs typeface="Calibri" pitchFamily="34" charset="0"/>
              </a:rPr>
              <a:t>Msg</a:t>
            </a:r>
            <a:endParaRPr lang="en-US" sz="2000" b="0" dirty="0">
              <a:latin typeface="Calibri" pitchFamily="34" charset="0"/>
              <a:cs typeface="Calibri" pitchFamily="34" charset="0"/>
            </a:endParaRPr>
          </a:p>
          <a:p>
            <a:pPr marL="457200" indent="-457200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AutoNum type="alphaUcPeriod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Fill in the </a:t>
            </a:r>
            <a:r>
              <a:rPr lang="en-US" sz="2000" b="0" dirty="0" err="1">
                <a:latin typeface="Calibri" pitchFamily="34" charset="0"/>
                <a:cs typeface="Calibri" pitchFamily="34" charset="0"/>
              </a:rPr>
              <a:t>Msg</a:t>
            </a:r>
            <a:r>
              <a:rPr lang="en-US" sz="2000" b="0" dirty="0">
                <a:latin typeface="Calibri" pitchFamily="34" charset="0"/>
                <a:cs typeface="Calibri" pitchFamily="34" charset="0"/>
              </a:rPr>
              <a:t> – i.e. define “elements”</a:t>
            </a:r>
          </a:p>
          <a:p>
            <a:pPr marL="457200" indent="-457200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AutoNum type="alphaUcPeriod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Send/receive data from the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38800" y="1219200"/>
            <a:ext cx="2895600" cy="1447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/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myMsg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Queue_Elem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elem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short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pInBuf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short *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pOutBuf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84160" y="2820988"/>
            <a:ext cx="736917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dirty="0"/>
              <a:t>Example – RCV side of peripheral driver (</a:t>
            </a:r>
            <a:r>
              <a:rPr lang="en-US" dirty="0" err="1" smtClean="0"/>
              <a:t>Hwi</a:t>
            </a:r>
            <a:r>
              <a:rPr lang="en-US" dirty="0" smtClean="0"/>
              <a:t>):</a:t>
            </a:r>
            <a:endParaRPr lang="en-US" dirty="0"/>
          </a:p>
        </p:txBody>
      </p: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2971800" y="3690938"/>
            <a:ext cx="5791200" cy="3014662"/>
            <a:chOff x="2971800" y="3691268"/>
            <a:chExt cx="5791200" cy="3014332"/>
          </a:xfrm>
        </p:grpSpPr>
        <p:sp>
          <p:nvSpPr>
            <p:cNvPr id="22" name="Rounded Rectangle 21"/>
            <p:cNvSpPr/>
            <p:nvPr/>
          </p:nvSpPr>
          <p:spPr bwMode="auto">
            <a:xfrm>
              <a:off x="7315200" y="5291293"/>
              <a:ext cx="1447800" cy="1338116"/>
            </a:xfrm>
            <a:prstGeom prst="roundRect">
              <a:avLst/>
            </a:prstGeom>
            <a:solidFill>
              <a:srgbClr val="CCFF66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put</a:t>
              </a:r>
            </a:p>
            <a:p>
              <a:pPr algn="r"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800" b="0" dirty="0" smtClean="0"/>
                <a:t>Task</a:t>
              </a:r>
              <a:endParaRPr lang="en-US" sz="2800" b="0" dirty="0"/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get</a:t>
              </a:r>
            </a:p>
          </p:txBody>
        </p:sp>
        <p:sp>
          <p:nvSpPr>
            <p:cNvPr id="23" name="Flowchart: Magnetic Disk 22"/>
            <p:cNvSpPr/>
            <p:nvPr/>
          </p:nvSpPr>
          <p:spPr bwMode="auto">
            <a:xfrm>
              <a:off x="5343525" y="5215101"/>
              <a:ext cx="1066800" cy="685725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800" dirty="0" err="1" smtClean="0">
                  <a:latin typeface="Courier New" pitchFamily="49" charset="0"/>
                  <a:cs typeface="Courier New" pitchFamily="49" charset="0"/>
                </a:rPr>
                <a:t>toHwiQ</a:t>
              </a:r>
              <a:endParaRPr lang="en-US" sz="18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5" name="Flowchart: Magnetic Disk 24"/>
            <p:cNvSpPr/>
            <p:nvPr/>
          </p:nvSpPr>
          <p:spPr bwMode="auto">
            <a:xfrm>
              <a:off x="5335588" y="6019875"/>
              <a:ext cx="1066800" cy="685725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800" dirty="0" err="1" smtClean="0">
                  <a:latin typeface="Courier New" pitchFamily="49" charset="0"/>
                  <a:cs typeface="Courier New" pitchFamily="49" charset="0"/>
                </a:rPr>
                <a:t>toTSKQ</a:t>
              </a:r>
              <a:endParaRPr lang="en-US" sz="18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6" name="Left Arrow 25"/>
            <p:cNvSpPr/>
            <p:nvPr/>
          </p:nvSpPr>
          <p:spPr bwMode="auto">
            <a:xfrm>
              <a:off x="6521450" y="5291293"/>
              <a:ext cx="685800" cy="533342"/>
            </a:xfrm>
            <a:prstGeom prst="leftArrow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5</a:t>
              </a:r>
            </a:p>
          </p:txBody>
        </p:sp>
        <p:sp>
          <p:nvSpPr>
            <p:cNvPr id="29" name="Left Arrow 28"/>
            <p:cNvSpPr/>
            <p:nvPr/>
          </p:nvSpPr>
          <p:spPr bwMode="auto">
            <a:xfrm flipH="1">
              <a:off x="6553200" y="6053209"/>
              <a:ext cx="685800" cy="533342"/>
            </a:xfrm>
            <a:prstGeom prst="leftArrow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4</a:t>
              </a:r>
            </a:p>
          </p:txBody>
        </p:sp>
        <p:sp>
          <p:nvSpPr>
            <p:cNvPr id="30" name="Rounded Rectangle 29"/>
            <p:cNvSpPr/>
            <p:nvPr/>
          </p:nvSpPr>
          <p:spPr bwMode="auto">
            <a:xfrm>
              <a:off x="2971800" y="5291293"/>
              <a:ext cx="1447800" cy="13381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r"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get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800" b="0" dirty="0" err="1" smtClean="0"/>
                <a:t>Hwi</a:t>
              </a:r>
              <a:endParaRPr lang="en-US" sz="2800" b="0" dirty="0"/>
            </a:p>
            <a:p>
              <a:pPr algn="r"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put</a:t>
              </a:r>
            </a:p>
          </p:txBody>
        </p:sp>
        <p:sp>
          <p:nvSpPr>
            <p:cNvPr id="31" name="Left Arrow 30"/>
            <p:cNvSpPr/>
            <p:nvPr/>
          </p:nvSpPr>
          <p:spPr bwMode="auto">
            <a:xfrm>
              <a:off x="4540250" y="5291293"/>
              <a:ext cx="685800" cy="533342"/>
            </a:xfrm>
            <a:prstGeom prst="leftArrow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2</a:t>
              </a:r>
            </a:p>
          </p:txBody>
        </p:sp>
        <p:sp>
          <p:nvSpPr>
            <p:cNvPr id="32" name="Left Arrow 31"/>
            <p:cNvSpPr/>
            <p:nvPr/>
          </p:nvSpPr>
          <p:spPr bwMode="auto">
            <a:xfrm flipH="1">
              <a:off x="4572000" y="6053209"/>
              <a:ext cx="685800" cy="533342"/>
            </a:xfrm>
            <a:prstGeom prst="leftArrow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3</a:t>
              </a:r>
            </a:p>
          </p:txBody>
        </p:sp>
        <p:sp>
          <p:nvSpPr>
            <p:cNvPr id="33" name="Rounded Rectangle 32"/>
            <p:cNvSpPr/>
            <p:nvPr/>
          </p:nvSpPr>
          <p:spPr bwMode="auto">
            <a:xfrm>
              <a:off x="7315200" y="3691268"/>
              <a:ext cx="1447800" cy="1338116"/>
            </a:xfrm>
            <a:prstGeom prst="roundRect">
              <a:avLst/>
            </a:prstGeom>
            <a:solidFill>
              <a:schemeClr val="accent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r"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800" b="0" dirty="0"/>
                <a:t>main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put</a:t>
              </a: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2000" b="0" dirty="0"/>
                <a:t>put</a:t>
              </a:r>
            </a:p>
          </p:txBody>
        </p:sp>
        <p:sp>
          <p:nvSpPr>
            <p:cNvPr id="37" name="Bent Arrow 36"/>
            <p:cNvSpPr/>
            <p:nvPr/>
          </p:nvSpPr>
          <p:spPr bwMode="auto">
            <a:xfrm rot="16200000" flipH="1">
              <a:off x="6057942" y="3957851"/>
              <a:ext cx="761917" cy="1600200"/>
            </a:xfrm>
            <a:prstGeom prst="bentArrow">
              <a:avLst>
                <a:gd name="adj1" fmla="val 37432"/>
                <a:gd name="adj2" fmla="val 30756"/>
                <a:gd name="adj3" fmla="val 33372"/>
                <a:gd name="adj4" fmla="val 41213"/>
              </a:avLst>
            </a:prstGeom>
            <a:solidFill>
              <a:schemeClr val="accent3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algn="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434" name="TextBox 37"/>
            <p:cNvSpPr txBox="1">
              <a:spLocks noChangeArrowheads="1"/>
            </p:cNvSpPr>
            <p:nvPr/>
          </p:nvSpPr>
          <p:spPr bwMode="auto">
            <a:xfrm>
              <a:off x="6368901" y="4398334"/>
              <a:ext cx="32733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0"/>
                <a:t>1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52473" y="3213100"/>
            <a:ext cx="6907981" cy="1849854"/>
            <a:chOff x="552473" y="3213100"/>
            <a:chExt cx="6907981" cy="1849854"/>
          </a:xfrm>
        </p:grpSpPr>
        <p:sp>
          <p:nvSpPr>
            <p:cNvPr id="34" name="TextBox 33"/>
            <p:cNvSpPr txBox="1">
              <a:spLocks noChangeArrowheads="1"/>
            </p:cNvSpPr>
            <p:nvPr/>
          </p:nvSpPr>
          <p:spPr bwMode="auto">
            <a:xfrm>
              <a:off x="552473" y="3213100"/>
              <a:ext cx="66809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287338" indent="-287338" eaLnBrk="0" hangingPunct="0">
                <a:lnSpc>
                  <a:spcPct val="80000"/>
                </a:lnSpc>
                <a:spcBef>
                  <a:spcPct val="50000"/>
                </a:spcBef>
                <a:buFont typeface="Arial" charset="0"/>
                <a:buAutoNum type="arabicPeriod"/>
              </a:pPr>
              <a:r>
                <a:rPr lang="en-US" sz="2000" b="0" dirty="0">
                  <a:latin typeface="Calibri" pitchFamily="34" charset="0"/>
                  <a:cs typeface="Calibri" pitchFamily="34" charset="0"/>
                </a:rPr>
                <a:t>Double Buffer System – main </a:t>
              </a:r>
              <a:r>
                <a:rPr lang="en-US" sz="2000" b="0" dirty="0" err="1">
                  <a:latin typeface="Calibri" pitchFamily="34" charset="0"/>
                  <a:cs typeface="Calibri" pitchFamily="34" charset="0"/>
                </a:rPr>
                <a:t>init</a:t>
              </a:r>
              <a:r>
                <a:rPr lang="en-US" sz="2000" b="0" dirty="0">
                  <a:latin typeface="Calibri" pitchFamily="34" charset="0"/>
                  <a:cs typeface="Calibri" pitchFamily="34" charset="0"/>
                </a:rPr>
                <a:t> puts </a:t>
              </a:r>
              <a:r>
                <a:rPr lang="en-US" sz="2000" b="0" i="1" u="sng" dirty="0">
                  <a:latin typeface="Calibri" pitchFamily="34" charset="0"/>
                  <a:cs typeface="Calibri" pitchFamily="34" charset="0"/>
                </a:rPr>
                <a:t>TWO</a:t>
              </a:r>
              <a:r>
                <a:rPr lang="en-US" sz="2000" b="0" dirty="0"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2000" b="0" dirty="0" err="1">
                  <a:latin typeface="Calibri" pitchFamily="34" charset="0"/>
                  <a:cs typeface="Calibri" pitchFamily="34" charset="0"/>
                </a:rPr>
                <a:t>Msgs</a:t>
              </a:r>
              <a:r>
                <a:rPr lang="en-US" sz="2000" b="0" dirty="0">
                  <a:latin typeface="Calibri" pitchFamily="34" charset="0"/>
                  <a:cs typeface="Calibri" pitchFamily="34" charset="0"/>
                </a:rPr>
                <a:t> in </a:t>
              </a:r>
              <a:r>
                <a:rPr lang="en-US" sz="2000" b="0" dirty="0" err="1" smtClean="0">
                  <a:latin typeface="Calibri" pitchFamily="34" charset="0"/>
                  <a:cs typeface="Calibri" pitchFamily="34" charset="0"/>
                </a:rPr>
                <a:t>toHwiQ</a:t>
              </a:r>
              <a:endParaRPr lang="en-US" sz="2000" b="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1" name="TextBox 40"/>
            <p:cNvSpPr txBox="1">
              <a:spLocks noChangeArrowheads="1"/>
            </p:cNvSpPr>
            <p:nvPr/>
          </p:nvSpPr>
          <p:spPr bwMode="auto">
            <a:xfrm>
              <a:off x="552473" y="3570288"/>
              <a:ext cx="690798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287338" indent="-287338" eaLnBrk="0" hangingPunct="0">
                <a:lnSpc>
                  <a:spcPct val="80000"/>
                </a:lnSpc>
                <a:spcBef>
                  <a:spcPct val="50000"/>
                </a:spcBef>
                <a:buFont typeface="Arial" charset="0"/>
                <a:buAutoNum type="arabicPeriod" startAt="2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Hwi </a:t>
              </a:r>
              <a:r>
                <a:rPr lang="en-US" sz="2000" b="0" dirty="0">
                  <a:latin typeface="Calibri" pitchFamily="34" charset="0"/>
                  <a:cs typeface="Calibri" pitchFamily="34" charset="0"/>
                </a:rPr>
                <a:t>gets EMPTY Buffer from </a:t>
              </a:r>
              <a:r>
                <a:rPr lang="en-US" sz="2000" b="0" dirty="0" err="1" smtClean="0">
                  <a:latin typeface="Calibri" pitchFamily="34" charset="0"/>
                  <a:cs typeface="Calibri" pitchFamily="34" charset="0"/>
                </a:rPr>
                <a:t>toHwiQ</a:t>
              </a:r>
              <a:r>
                <a:rPr lang="en-US" sz="2000" b="0" dirty="0" smtClean="0"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2000" b="0" dirty="0">
                  <a:latin typeface="Calibri" pitchFamily="34" charset="0"/>
                  <a:cs typeface="Calibri" pitchFamily="34" charset="0"/>
                </a:rPr>
                <a:t>(and fills it up with data)</a:t>
              </a:r>
            </a:p>
          </p:txBody>
        </p:sp>
        <p:sp>
          <p:nvSpPr>
            <p:cNvPr id="42" name="TextBox 41"/>
            <p:cNvSpPr txBox="1">
              <a:spLocks noChangeArrowheads="1"/>
            </p:cNvSpPr>
            <p:nvPr/>
          </p:nvSpPr>
          <p:spPr bwMode="auto">
            <a:xfrm>
              <a:off x="552473" y="3941763"/>
              <a:ext cx="5924442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287338" indent="-287338" eaLnBrk="0" hangingPunct="0">
                <a:lnSpc>
                  <a:spcPct val="80000"/>
                </a:lnSpc>
                <a:spcBef>
                  <a:spcPct val="50000"/>
                </a:spcBef>
                <a:buFont typeface="Arial" charset="0"/>
                <a:buAutoNum type="arabicPeriod" startAt="3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Hwi </a:t>
              </a:r>
              <a:r>
                <a:rPr lang="en-US" sz="2000" b="0">
                  <a:latin typeface="Calibri" pitchFamily="34" charset="0"/>
                  <a:cs typeface="Calibri" pitchFamily="34" charset="0"/>
                </a:rPr>
                <a:t>puts FULL Buffer into toTSKQ (gets next EMPTY)</a:t>
              </a:r>
            </a:p>
          </p:txBody>
        </p:sp>
        <p:sp>
          <p:nvSpPr>
            <p:cNvPr id="43" name="TextBox 42"/>
            <p:cNvSpPr txBox="1">
              <a:spLocks noChangeArrowheads="1"/>
            </p:cNvSpPr>
            <p:nvPr/>
          </p:nvSpPr>
          <p:spPr bwMode="auto">
            <a:xfrm>
              <a:off x="552473" y="4322763"/>
              <a:ext cx="504484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287338" indent="-287338" eaLnBrk="0" hangingPunct="0">
                <a:lnSpc>
                  <a:spcPct val="80000"/>
                </a:lnSpc>
                <a:spcBef>
                  <a:spcPct val="50000"/>
                </a:spcBef>
                <a:buFont typeface="Arial" charset="0"/>
                <a:buAutoNum type="arabicPeriod" startAt="4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Task </a:t>
              </a:r>
              <a:r>
                <a:rPr lang="en-US" sz="2000" b="0">
                  <a:latin typeface="Calibri" pitchFamily="34" charset="0"/>
                  <a:cs typeface="Calibri" pitchFamily="34" charset="0"/>
                </a:rPr>
                <a:t>gets FULL buffer from toTSKQ (process)</a:t>
              </a:r>
            </a:p>
          </p:txBody>
        </p:sp>
        <p:sp>
          <p:nvSpPr>
            <p:cNvPr id="44" name="TextBox 43"/>
            <p:cNvSpPr txBox="1">
              <a:spLocks noChangeArrowheads="1"/>
            </p:cNvSpPr>
            <p:nvPr/>
          </p:nvSpPr>
          <p:spPr bwMode="auto">
            <a:xfrm>
              <a:off x="552473" y="4724400"/>
              <a:ext cx="4233531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287338" indent="-287338" eaLnBrk="0" hangingPunct="0">
                <a:lnSpc>
                  <a:spcPct val="80000"/>
                </a:lnSpc>
                <a:spcBef>
                  <a:spcPct val="50000"/>
                </a:spcBef>
                <a:buFont typeface="Arial" charset="0"/>
                <a:buAutoNum type="arabicPeriod" startAt="5"/>
              </a:pPr>
              <a:r>
                <a:rPr lang="en-US" sz="2000" b="0" smtClean="0">
                  <a:latin typeface="Calibri" pitchFamily="34" charset="0"/>
                  <a:cs typeface="Calibri" pitchFamily="34" charset="0"/>
                </a:rPr>
                <a:t>Task </a:t>
              </a:r>
              <a:r>
                <a:rPr lang="en-US" sz="2000" b="0" dirty="0">
                  <a:latin typeface="Calibri" pitchFamily="34" charset="0"/>
                  <a:cs typeface="Calibri" pitchFamily="34" charset="0"/>
                </a:rPr>
                <a:t>puts EMPTY buffer into </a:t>
              </a:r>
              <a:r>
                <a:rPr lang="en-US" sz="2000" b="0" dirty="0" err="1" smtClean="0">
                  <a:latin typeface="Calibri" pitchFamily="34" charset="0"/>
                  <a:cs typeface="Calibri" pitchFamily="34" charset="0"/>
                </a:rPr>
                <a:t>toHwiQ</a:t>
              </a:r>
              <a:endParaRPr lang="en-US" sz="2000" b="0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152400" y="5365750"/>
            <a:ext cx="2632003" cy="8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b="0" i="1" dirty="0">
                <a:latin typeface="Arial Narrow" pitchFamily="34" charset="0"/>
              </a:rPr>
              <a:t>Note: two </a:t>
            </a:r>
            <a:r>
              <a:rPr lang="en-US" sz="1600" b="0" i="1" dirty="0" smtClean="0">
                <a:latin typeface="Arial Narrow" pitchFamily="34" charset="0"/>
              </a:rPr>
              <a:t>Queues </a:t>
            </a:r>
            <a:r>
              <a:rPr lang="en-US" sz="1600" b="0" i="1" dirty="0">
                <a:latin typeface="Arial Narrow" pitchFamily="34" charset="0"/>
              </a:rPr>
              <a:t>allow </a:t>
            </a:r>
            <a:r>
              <a:rPr lang="en-US" sz="1600" b="0" i="1" dirty="0" err="1">
                <a:latin typeface="Arial Narrow" pitchFamily="34" charset="0"/>
              </a:rPr>
              <a:t>Msgs</a:t>
            </a:r>
            <a:r>
              <a:rPr lang="en-US" sz="1600" b="0" i="1" dirty="0">
                <a:latin typeface="Arial Narrow" pitchFamily="34" charset="0"/>
              </a:rPr>
              <a:t> to</a:t>
            </a:r>
            <a:br>
              <a:rPr lang="en-US" sz="1600" b="0" i="1" dirty="0">
                <a:latin typeface="Arial Narrow" pitchFamily="34" charset="0"/>
              </a:rPr>
            </a:br>
            <a:r>
              <a:rPr lang="en-US" sz="1600" b="0" i="1" dirty="0">
                <a:latin typeface="Arial Narrow" pitchFamily="34" charset="0"/>
              </a:rPr>
              <a:t>circulate between threads.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b="0" i="1" dirty="0" err="1" smtClean="0">
                <a:latin typeface="Arial Narrow" pitchFamily="34" charset="0"/>
              </a:rPr>
              <a:t>toHwi</a:t>
            </a:r>
            <a:r>
              <a:rPr lang="en-US" sz="1600" b="0" i="1" dirty="0" smtClean="0">
                <a:latin typeface="Arial Narrow" pitchFamily="34" charset="0"/>
              </a:rPr>
              <a:t> </a:t>
            </a:r>
            <a:r>
              <a:rPr lang="en-US" sz="1600" b="0" i="1" dirty="0">
                <a:latin typeface="Arial Narrow" pitchFamily="34" charset="0"/>
              </a:rPr>
              <a:t>= EMPTY, </a:t>
            </a:r>
            <a:r>
              <a:rPr lang="en-US" sz="1600" b="0" i="1" dirty="0" err="1" smtClean="0">
                <a:latin typeface="Arial Narrow" pitchFamily="34" charset="0"/>
              </a:rPr>
              <a:t>toTSK</a:t>
            </a:r>
            <a:r>
              <a:rPr lang="en-US" sz="1600" b="0" i="1" dirty="0" smtClean="0">
                <a:latin typeface="Arial Narrow" pitchFamily="34" charset="0"/>
              </a:rPr>
              <a:t> </a:t>
            </a:r>
            <a:r>
              <a:rPr lang="en-US" sz="1600" b="0" i="1" dirty="0">
                <a:latin typeface="Arial Narrow" pitchFamily="34" charset="0"/>
              </a:rPr>
              <a:t>=FULL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4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6">
            <a:hlinkClick r:id="rId15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2410969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Queues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Box 5">
            <a:hlinkClick r:id="rId16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74000" y="2819417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Mailboxes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34142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5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1576" y="384507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6" name="Text Box 4">
            <a:hlinkClick r:id="rId19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01576" y="4348725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8430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Mailboxes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800" y="2314700"/>
            <a:ext cx="8077200" cy="7848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Mailboxes – a </a:t>
            </a:r>
            <a:r>
              <a:rPr lang="en-US" sz="2000" b="0" i="1" u="sng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fixed-size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BIOS Object that can contain anything you like 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Fixed length defined by: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1425" y="2992489"/>
            <a:ext cx="3735703" cy="64633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166688" indent="-166688">
              <a:buFont typeface="Arial" pitchFamily="34" charset="0"/>
              <a:buChar char="•"/>
            </a:pPr>
            <a:r>
              <a: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Number of </a:t>
            </a:r>
            <a:r>
              <a:rPr lang="en-US" sz="1800" b="0" dirty="0" err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Msgs</a:t>
            </a:r>
            <a:r>
              <a: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(len</a:t>
            </a:r>
            <a:r>
              <a:rPr lang="en-US" sz="18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gth of mailbox)</a:t>
            </a:r>
          </a:p>
          <a:p>
            <a:pPr marL="166688" indent="-166688">
              <a:buFont typeface="Arial" pitchFamily="34" charset="0"/>
              <a:buChar char="•"/>
            </a:pPr>
            <a:r>
              <a:rPr lang="en-US" sz="18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Message Size (MAUs)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800" y="3688558"/>
            <a:ext cx="8077200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Key APIs (both can block):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800" y="5105400"/>
            <a:ext cx="8610600" cy="109260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Advantages: simple FIFO, easy to use, contains </a:t>
            </a:r>
            <a:r>
              <a:rPr lang="en-US" sz="2000" b="0" i="1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built-in semaphore</a:t>
            </a: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for signaling</a:t>
            </a:r>
          </a:p>
          <a:p>
            <a:pPr marL="342900" indent="-342900">
              <a:spcBef>
                <a:spcPts val="6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Disadvantage: copy-based (both reader/writer own a copy) – best if used to pass pointers or small </a:t>
            </a:r>
            <a:r>
              <a:rPr lang="en-US" sz="2000" b="0" dirty="0" err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Msgs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43000" y="4122760"/>
            <a:ext cx="6924011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lIns="182880" tIns="91440" rIns="182880" bIns="91440" rtlCol="0" anchor="ctr" anchorCtr="0">
            <a:spAutoFit/>
          </a:bodyPr>
          <a:lstStyle/>
          <a:p>
            <a:r>
              <a:rPr lang="en-US" sz="18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Mailbox_post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(&amp;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Mbx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Msg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, timeout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    </a:t>
            </a:r>
            <a:r>
              <a:rPr lang="en-US" sz="1800" b="0" dirty="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 </a:t>
            </a:r>
            <a:r>
              <a:rPr lang="en-US" sz="1800" b="0" i="1" dirty="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// blocks if full</a:t>
            </a:r>
          </a:p>
          <a:p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Mailbox_pend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(&amp;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Mbx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, &amp;Mail, timeout);</a:t>
            </a:r>
            <a:r>
              <a:rPr lang="en-US" sz="180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</a:t>
            </a:r>
            <a:r>
              <a:rPr lang="en-US" sz="1800" b="0" i="1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// blocks if empty</a:t>
            </a:r>
            <a:endParaRPr lang="en-US" sz="1800" b="0" i="1" dirty="0" smtClean="0">
              <a:solidFill>
                <a:schemeClr val="dk1"/>
              </a:solidFill>
              <a:effectLst/>
              <a:latin typeface="Arial Narrow" pitchFamily="34" charset="0"/>
              <a:cs typeface="Courier New" pitchFamily="49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838200" y="742503"/>
            <a:ext cx="7412666" cy="1545266"/>
            <a:chOff x="838200" y="806301"/>
            <a:chExt cx="7412666" cy="1545266"/>
          </a:xfrm>
        </p:grpSpPr>
        <p:sp>
          <p:nvSpPr>
            <p:cNvPr id="19" name="Round Diagonal Corner Rectangle 18"/>
            <p:cNvSpPr/>
            <p:nvPr/>
          </p:nvSpPr>
          <p:spPr bwMode="auto">
            <a:xfrm>
              <a:off x="838200" y="1162905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21" name="Round Diagonal Corner Rectangle 20"/>
            <p:cNvSpPr/>
            <p:nvPr/>
          </p:nvSpPr>
          <p:spPr bwMode="auto">
            <a:xfrm>
              <a:off x="6803066" y="1162905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sp>
          <p:nvSpPr>
            <p:cNvPr id="44" name="Right Arrow 43"/>
            <p:cNvSpPr/>
            <p:nvPr/>
          </p:nvSpPr>
          <p:spPr bwMode="auto">
            <a:xfrm>
              <a:off x="2425998" y="1218655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461720" y="1259963"/>
              <a:ext cx="582211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  <a:latin typeface="Arial Narrow" pitchFamily="34" charset="0"/>
                </a:rPr>
                <a:t>post</a:t>
              </a:r>
            </a:p>
          </p:txBody>
        </p:sp>
        <p:sp>
          <p:nvSpPr>
            <p:cNvPr id="42" name="Right Arrow 41"/>
            <p:cNvSpPr/>
            <p:nvPr/>
          </p:nvSpPr>
          <p:spPr bwMode="auto">
            <a:xfrm>
              <a:off x="5810697" y="1218655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801833" y="1259963"/>
              <a:ext cx="652743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err="1" smtClean="0">
                  <a:solidFill>
                    <a:schemeClr val="dk1"/>
                  </a:solidFill>
                  <a:effectLst/>
                  <a:latin typeface="Arial Narrow" pitchFamily="34" charset="0"/>
                </a:rPr>
                <a:t>pend</a:t>
              </a:r>
              <a:endParaRPr lang="en-US" sz="2000" b="0" dirty="0" smtClean="0"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25" name="Can 24"/>
            <p:cNvSpPr/>
            <p:nvPr/>
          </p:nvSpPr>
          <p:spPr bwMode="auto">
            <a:xfrm>
              <a:off x="3352800" y="806301"/>
              <a:ext cx="2362200" cy="1143000"/>
            </a:xfrm>
            <a:prstGeom prst="can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57600" y="1963769"/>
              <a:ext cx="1222065" cy="3877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Mailbox</a:t>
              </a:r>
              <a:endParaRPr lang="en-US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3494567" y="1255522"/>
              <a:ext cx="6096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Msg1</a:t>
              </a: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4256567" y="1255522"/>
              <a:ext cx="6096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Msg2</a:t>
              </a: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5018567" y="1255522"/>
              <a:ext cx="6096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Msg3</a:t>
              </a:r>
            </a:p>
          </p:txBody>
        </p:sp>
      </p:grp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>
            <a:normAutofit/>
          </a:bodyPr>
          <a:lstStyle/>
          <a:p>
            <a:r>
              <a:rPr lang="en-US" sz="3200" dirty="0" smtClean="0"/>
              <a:t>Advanced “Producer-Consumer”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" y="646533"/>
            <a:ext cx="8839200" cy="7571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More advanced versions of the “producer-consumer” model </a:t>
            </a:r>
            <a:r>
              <a:rPr lang="en-US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are built into </a:t>
            </a:r>
            <a:r>
              <a:rPr lang="en-US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SYS/BIOS and other drivers/frameworks: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4121"/>
            <a:ext cx="7427354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169863" indent="-169863">
              <a:buFont typeface="Arial" pitchFamily="34" charset="0"/>
              <a:buChar char="•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Issue/Reclaim buffers to/from a STREAM (input and output Queues)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298401"/>
            <a:ext cx="7295848" cy="158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404035" y="1447800"/>
            <a:ext cx="5198731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u="sng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Platform Support Package (PSP)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1" y="4662834"/>
            <a:ext cx="6858000" cy="9233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169863" indent="-169863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Lowest layer uses 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BIOS MessageQ</a:t>
            </a:r>
            <a:endParaRPr lang="en-US" sz="2000" b="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169863" indent="-169863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SysLink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is a layer above </a:t>
            </a:r>
            <a:r>
              <a:rPr lang="en-US" sz="2000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MessageQ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– a driver ported to Linux</a:t>
            </a:r>
            <a:b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and SYS/BIOS</a:t>
            </a:r>
            <a:endParaRPr lang="en-US" sz="2000" b="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4035" y="4189165"/>
            <a:ext cx="7015062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u="sng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Messaging between cores (DSP </a:t>
            </a:r>
            <a:r>
              <a:rPr lang="en-US" u="sng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  <a:sym typeface="Wingdings"/>
              </a:rPr>
              <a:t> </a:t>
            </a:r>
            <a:r>
              <a:rPr lang="en-US" u="sng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DSP,   ARM </a:t>
            </a:r>
            <a:r>
              <a:rPr lang="en-US" u="sng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  <a:sym typeface="Wingdings"/>
              </a:rPr>
              <a:t> </a:t>
            </a:r>
            <a:r>
              <a:rPr lang="en-US" u="sng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DSP)</a:t>
            </a:r>
          </a:p>
        </p:txBody>
      </p:sp>
      <p:sp>
        <p:nvSpPr>
          <p:cNvPr id="23" name="Rounded Rectangle 22"/>
          <p:cNvSpPr/>
          <p:nvPr/>
        </p:nvSpPr>
        <p:spPr bwMode="auto">
          <a:xfrm>
            <a:off x="7328336" y="4572000"/>
            <a:ext cx="1600200" cy="533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SysLink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/IPC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7328336" y="5105400"/>
            <a:ext cx="1600200" cy="5334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MessageQ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3">
            <a:hlinkClick r:id="rId18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4800" y="2418329"/>
            <a:ext cx="5562600" cy="4431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9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2914619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Globals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20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69877" y="332306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Modify Scheduler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21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69877" y="3731515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MUTEXs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6">
            <a:hlinkClick r:id="rId22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9877" y="4139963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Priority Mutex Gates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Box 6">
            <a:hlinkClick r:id="rId23" action="ppaction://hlinksldjump"/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69877" y="4548411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Deadlock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Box 4">
            <a:hlinkClick r:id="rId24" action="ppaction://hlinksldjump"/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1576" y="496421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9" name="Text Box 4">
            <a:hlinkClick r:id="rId25" action="ppaction://hlinksldjump"/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01576" y="546786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4833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“Concurrent Access” Model – Intro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522231" y="733639"/>
            <a:ext cx="6019800" cy="954975"/>
            <a:chOff x="1295400" y="4570287"/>
            <a:chExt cx="6019800" cy="954975"/>
          </a:xfrm>
        </p:grpSpPr>
        <p:sp>
          <p:nvSpPr>
            <p:cNvPr id="18" name="Round Diagonal Corner Rectangle 17"/>
            <p:cNvSpPr/>
            <p:nvPr/>
          </p:nvSpPr>
          <p:spPr bwMode="auto">
            <a:xfrm>
              <a:off x="1295400" y="4712462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19" name="Round Diagonal Corner Rectangle 18"/>
            <p:cNvSpPr/>
            <p:nvPr/>
          </p:nvSpPr>
          <p:spPr bwMode="auto">
            <a:xfrm>
              <a:off x="5867400" y="4712462"/>
              <a:ext cx="1447800" cy="660400"/>
            </a:xfrm>
            <a:prstGeom prst="round2Diag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sp>
          <p:nvSpPr>
            <p:cNvPr id="20" name="Can 19"/>
            <p:cNvSpPr/>
            <p:nvPr/>
          </p:nvSpPr>
          <p:spPr bwMode="auto">
            <a:xfrm>
              <a:off x="3886200" y="4570287"/>
              <a:ext cx="838200" cy="954975"/>
            </a:xfrm>
            <a:prstGeom prst="can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Data</a:t>
              </a:r>
            </a:p>
          </p:txBody>
        </p:sp>
        <p:sp>
          <p:nvSpPr>
            <p:cNvPr id="21" name="Right Arrow 20"/>
            <p:cNvSpPr/>
            <p:nvPr/>
          </p:nvSpPr>
          <p:spPr bwMode="auto">
            <a:xfrm>
              <a:off x="2895600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22" name="Right Arrow 21"/>
            <p:cNvSpPr/>
            <p:nvPr/>
          </p:nvSpPr>
          <p:spPr bwMode="auto">
            <a:xfrm rot="10800000">
              <a:off x="4876800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71400" y="2079316"/>
            <a:ext cx="8619219" cy="76944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Data is “up for grabs” – often first-come, first-serve</a:t>
            </a:r>
          </a:p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User must add “protection” to avoid contention between </a:t>
            </a:r>
            <a:r>
              <a:rPr lang="en-US" sz="2000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different PRI </a:t>
            </a: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threads</a:t>
            </a:r>
            <a:endParaRPr lang="en-US" sz="2000" b="0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1400" y="3195141"/>
            <a:ext cx="7663829" cy="43088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Common usage – many systems use MUTEXs for resource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856" y="1752600"/>
            <a:ext cx="1686872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How it Works: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856" y="2895600"/>
            <a:ext cx="1492524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Advantages: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856" y="4953000"/>
            <a:ext cx="1262653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Examples: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400" y="5270202"/>
            <a:ext cx="8571706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BIOS:  </a:t>
            </a:r>
            <a:r>
              <a:rPr lang="en-US" sz="2000" dirty="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Scheduler Mgmt</a:t>
            </a:r>
            <a:r>
              <a:rPr lang="en-US" sz="2000" smtClean="0">
                <a:solidFill>
                  <a:schemeClr val="tx2"/>
                </a:solidFill>
                <a:latin typeface="Calibri" pitchFamily="34" charset="0"/>
                <a:cs typeface="Calibri" pitchFamily="34" charset="0"/>
              </a:rPr>
              <a:t>, MUTEX (Gates), Task_setPri</a:t>
            </a:r>
            <a:endParaRPr lang="en-US" sz="2000" dirty="0" smtClean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ct val="9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Note: watch out for “</a:t>
            </a:r>
            <a:r>
              <a:rPr lang="en-US" sz="2000" b="0" dirty="0" err="1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globals</a:t>
            </a: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” accessed by multiple threads w/no protection…</a:t>
            </a:r>
            <a:endParaRPr lang="en-US" sz="2000" b="0" i="1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1400" y="4063058"/>
            <a:ext cx="8790227" cy="769441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MUTEXs can cause priority inversion or deadlock – both ugly scenarios</a:t>
            </a:r>
          </a:p>
          <a:p>
            <a:pPr marL="342900" indent="-342900">
              <a:lnSpc>
                <a:spcPct val="110000"/>
              </a:lnSpc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Modifying scheduler behavior (e.g. disabling INTs) can cause jitter in the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856" y="3733800"/>
            <a:ext cx="1790683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Disadvantages:</a:t>
            </a:r>
          </a:p>
        </p:txBody>
      </p:sp>
      <p:sp>
        <p:nvSpPr>
          <p:cNvPr id="31" name="Leading Question"/>
          <p:cNvSpPr txBox="1"/>
          <p:nvPr/>
        </p:nvSpPr>
        <p:spPr>
          <a:xfrm>
            <a:off x="4648200" y="6400800"/>
            <a:ext cx="3877664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Let's first look at a simple use of </a:t>
            </a:r>
            <a:r>
              <a:rPr lang="en-US" sz="2000" b="0" dirty="0" err="1" smtClean="0">
                <a:solidFill>
                  <a:schemeClr val="tx2"/>
                </a:solidFill>
                <a:latin typeface="Arial Narrow"/>
              </a:rPr>
              <a:t>globals</a:t>
            </a: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...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5">
            <a:hlinkClick r:id="rId19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74000" y="2914619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Globals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20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69877" y="342926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Modify Scheduler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21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69877" y="3837715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MUTEXs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6">
            <a:hlinkClick r:id="rId22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9877" y="4246163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Priority Mutex Gates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Box 6">
            <a:hlinkClick r:id="rId23" action="ppaction://hlinksldjump"/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69877" y="4654611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Deadlock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Box 4">
            <a:hlinkClick r:id="rId24" action="ppaction://hlinksldjump"/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1576" y="507041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9" name="Text Box 4">
            <a:hlinkClick r:id="rId25" action="ppaction://hlinksldjump"/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01576" y="557406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9920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smtClean="0"/>
              <a:t>What’s Wrong With Using Globals ??</a:t>
            </a:r>
          </a:p>
        </p:txBody>
      </p:sp>
      <p:sp>
        <p:nvSpPr>
          <p:cNvPr id="52" name="Round Diagonal Corner Rectangle 51"/>
          <p:cNvSpPr/>
          <p:nvPr/>
        </p:nvSpPr>
        <p:spPr bwMode="auto">
          <a:xfrm>
            <a:off x="1447800" y="1625600"/>
            <a:ext cx="2362200" cy="2794000"/>
          </a:xfrm>
          <a:prstGeom prst="round2DiagRect">
            <a:avLst/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void </a:t>
            </a:r>
            <a:r>
              <a:rPr lang="en-US" b="0" dirty="0">
                <a:solidFill>
                  <a:srgbClr val="0070C0"/>
                </a:solidFill>
                <a:latin typeface="Arial Narrow" pitchFamily="34" charset="0"/>
              </a:rPr>
              <a:t>A</a:t>
            </a:r>
            <a:r>
              <a:rPr lang="en-US" b="0" dirty="0">
                <a:latin typeface="Arial Narrow" pitchFamily="34" charset="0"/>
              </a:rPr>
              <a:t> (void)  {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…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 err="1">
                <a:latin typeface="Arial Narrow" pitchFamily="34" charset="0"/>
              </a:rPr>
              <a:t>cnt</a:t>
            </a:r>
            <a:r>
              <a:rPr lang="en-US" b="0" dirty="0">
                <a:latin typeface="Arial Narrow" pitchFamily="34" charset="0"/>
              </a:rPr>
              <a:t> += 1;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endParaRPr lang="en-US" b="0" dirty="0">
              <a:latin typeface="Arial Narrow" pitchFamily="34" charset="0"/>
            </a:endParaRP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endParaRPr lang="en-US" b="0" dirty="0">
              <a:latin typeface="Arial Narrow" pitchFamily="34" charset="0"/>
            </a:endParaRP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}</a:t>
            </a:r>
          </a:p>
        </p:txBody>
      </p:sp>
      <p:sp>
        <p:nvSpPr>
          <p:cNvPr id="5125" name="TextBox 67"/>
          <p:cNvSpPr txBox="1">
            <a:spLocks noChangeArrowheads="1"/>
          </p:cNvSpPr>
          <p:nvPr/>
        </p:nvSpPr>
        <p:spPr bwMode="auto">
          <a:xfrm>
            <a:off x="381000" y="709286"/>
            <a:ext cx="8022966" cy="445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sz="2800">
                <a:latin typeface="Calibri" pitchFamily="34" charset="0"/>
                <a:cs typeface="Calibri" pitchFamily="34" charset="0"/>
              </a:rPr>
              <a:t>If two threads share a global, what’s the problem?</a:t>
            </a:r>
          </a:p>
        </p:txBody>
      </p:sp>
      <p:sp>
        <p:nvSpPr>
          <p:cNvPr id="31" name="Round Diagonal Corner Rectangle 30"/>
          <p:cNvSpPr/>
          <p:nvPr/>
        </p:nvSpPr>
        <p:spPr bwMode="auto">
          <a:xfrm>
            <a:off x="5105400" y="1625600"/>
            <a:ext cx="2362200" cy="2794000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void </a:t>
            </a:r>
            <a:r>
              <a:rPr lang="en-US" b="0" dirty="0">
                <a:solidFill>
                  <a:srgbClr val="0070C0"/>
                </a:solidFill>
                <a:latin typeface="Arial Narrow" pitchFamily="34" charset="0"/>
              </a:rPr>
              <a:t>B</a:t>
            </a:r>
            <a:r>
              <a:rPr lang="en-US" b="0" dirty="0">
                <a:latin typeface="Arial Narrow" pitchFamily="34" charset="0"/>
              </a:rPr>
              <a:t> (void)  {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…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 err="1">
                <a:latin typeface="Arial Narrow" pitchFamily="34" charset="0"/>
              </a:rPr>
              <a:t>cnt</a:t>
            </a:r>
            <a:r>
              <a:rPr lang="en-US" b="0" dirty="0">
                <a:latin typeface="Arial Narrow" pitchFamily="34" charset="0"/>
              </a:rPr>
              <a:t> += 1;</a:t>
            </a: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endParaRPr lang="en-US" b="0" dirty="0">
              <a:latin typeface="Arial Narrow" pitchFamily="34" charset="0"/>
            </a:endParaRP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endParaRPr lang="en-US" b="0" dirty="0">
              <a:latin typeface="Arial Narrow" pitchFamily="34" charset="0"/>
            </a:endParaRPr>
          </a:p>
          <a:p>
            <a:pPr eaLnBrk="0" hangingPunct="0">
              <a:lnSpc>
                <a:spcPct val="70000"/>
              </a:lnSpc>
              <a:spcBef>
                <a:spcPct val="50000"/>
              </a:spcBef>
              <a:defRPr/>
            </a:pPr>
            <a:r>
              <a:rPr lang="en-US" b="0" dirty="0">
                <a:latin typeface="Arial Narrow" pitchFamily="34" charset="0"/>
              </a:rPr>
              <a:t>}</a:t>
            </a:r>
          </a:p>
        </p:txBody>
      </p:sp>
      <p:sp>
        <p:nvSpPr>
          <p:cNvPr id="5127" name="TextBox 31"/>
          <p:cNvSpPr txBox="1">
            <a:spLocks noChangeArrowheads="1"/>
          </p:cNvSpPr>
          <p:nvPr/>
        </p:nvSpPr>
        <p:spPr bwMode="auto">
          <a:xfrm>
            <a:off x="1693863" y="1177925"/>
            <a:ext cx="18371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Thread A (hi)</a:t>
            </a:r>
          </a:p>
        </p:txBody>
      </p:sp>
      <p:sp>
        <p:nvSpPr>
          <p:cNvPr id="5128" name="TextBox 32"/>
          <p:cNvSpPr txBox="1">
            <a:spLocks noChangeArrowheads="1"/>
          </p:cNvSpPr>
          <p:nvPr/>
        </p:nvSpPr>
        <p:spPr bwMode="auto">
          <a:xfrm>
            <a:off x="5351463" y="1179513"/>
            <a:ext cx="18242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Thread B (lo)</a:t>
            </a:r>
          </a:p>
        </p:txBody>
      </p:sp>
      <p:sp>
        <p:nvSpPr>
          <p:cNvPr id="34" name="TextBox 67"/>
          <p:cNvSpPr txBox="1">
            <a:spLocks noChangeArrowheads="1"/>
          </p:cNvSpPr>
          <p:nvPr/>
        </p:nvSpPr>
        <p:spPr bwMode="auto">
          <a:xfrm>
            <a:off x="381000" y="4629804"/>
            <a:ext cx="6661311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>
                <a:latin typeface="Calibri" pitchFamily="34" charset="0"/>
                <a:cs typeface="Calibri" pitchFamily="34" charset="0"/>
              </a:rPr>
              <a:t>What happens if Thread B gets pre-empted by A?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5486400" y="2971800"/>
            <a:ext cx="641350" cy="966788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>
                <a:latin typeface="Arial Narrow" pitchFamily="34" charset="0"/>
              </a:rPr>
              <a:t>LD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>
                <a:latin typeface="Arial Narrow" pitchFamily="34" charset="0"/>
              </a:rPr>
              <a:t>ADD</a:t>
            </a:r>
          </a:p>
          <a:p>
            <a:pPr eaLnBrk="0" hangingPunct="0">
              <a:lnSpc>
                <a:spcPct val="60000"/>
              </a:lnSpc>
              <a:spcBef>
                <a:spcPct val="50000"/>
              </a:spcBef>
            </a:pPr>
            <a:r>
              <a:rPr lang="en-US" sz="2000">
                <a:latin typeface="Arial Narrow" pitchFamily="34" charset="0"/>
              </a:rPr>
              <a:t>ST</a:t>
            </a:r>
            <a:endParaRPr lang="en-US" sz="2000"/>
          </a:p>
        </p:txBody>
      </p:sp>
      <p:cxnSp>
        <p:nvCxnSpPr>
          <p:cNvPr id="38" name="Elbow Connector 37"/>
          <p:cNvCxnSpPr>
            <a:cxnSpLocks noChangeShapeType="1"/>
          </p:cNvCxnSpPr>
          <p:nvPr/>
        </p:nvCxnSpPr>
        <p:spPr bwMode="auto">
          <a:xfrm rot="10800000">
            <a:off x="3810000" y="1905000"/>
            <a:ext cx="2057400" cy="1676400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arrow" w="med" len="med"/>
          </a:ln>
        </p:spPr>
      </p:cxnSp>
      <p:sp>
        <p:nvSpPr>
          <p:cNvPr id="39" name="TextBox 67"/>
          <p:cNvSpPr txBox="1">
            <a:spLocks noChangeArrowheads="1"/>
          </p:cNvSpPr>
          <p:nvPr/>
        </p:nvSpPr>
        <p:spPr bwMode="auto">
          <a:xfrm>
            <a:off x="381000" y="5690254"/>
            <a:ext cx="4451796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>
                <a:latin typeface="Calibri" pitchFamily="34" charset="0"/>
                <a:cs typeface="Calibri" pitchFamily="34" charset="0"/>
              </a:rPr>
              <a:t>B could store the wrong value…</a:t>
            </a:r>
          </a:p>
        </p:txBody>
      </p:sp>
      <p:sp>
        <p:nvSpPr>
          <p:cNvPr id="40" name="TextBox 67"/>
          <p:cNvSpPr txBox="1">
            <a:spLocks noChangeArrowheads="1"/>
          </p:cNvSpPr>
          <p:nvPr/>
        </p:nvSpPr>
        <p:spPr bwMode="auto">
          <a:xfrm>
            <a:off x="381000" y="5167967"/>
            <a:ext cx="6829049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Char char=""/>
            </a:pPr>
            <a:r>
              <a:rPr lang="en-US" b="0">
                <a:latin typeface="Calibri" pitchFamily="34" charset="0"/>
                <a:cs typeface="Calibri" pitchFamily="34" charset="0"/>
              </a:rPr>
              <a:t>The assembly code underneath does LD, ADD, ST…</a:t>
            </a:r>
          </a:p>
        </p:txBody>
      </p:sp>
      <p:sp>
        <p:nvSpPr>
          <p:cNvPr id="16" name="Leading Question"/>
          <p:cNvSpPr txBox="1"/>
          <p:nvPr/>
        </p:nvSpPr>
        <p:spPr>
          <a:xfrm>
            <a:off x="3994908" y="6388398"/>
            <a:ext cx="4627421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smtClean="0">
                <a:solidFill>
                  <a:schemeClr val="tx2"/>
                </a:solidFill>
                <a:latin typeface="Arial Narrow"/>
              </a:rPr>
              <a:t>Let’s look at a definition of “critical section” first…</a:t>
            </a:r>
            <a:endParaRPr lang="en-US" sz="2000" b="0" dirty="0" smtClean="0">
              <a:solidFill>
                <a:schemeClr val="tx2"/>
              </a:solidFill>
              <a:latin typeface="Arial Narrow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6" grpId="0" animBg="1" autoUpdateAnimBg="0"/>
      <p:bldP spid="39" grpId="0" autoUpdateAnimBg="0"/>
      <p:bldP spid="40" grpId="0" autoUpdateAnimBg="0"/>
      <p:bldP spid="1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Critical Resource Protection</a:t>
            </a:r>
          </a:p>
        </p:txBody>
      </p:sp>
      <p:sp>
        <p:nvSpPr>
          <p:cNvPr id="5125" name="TextBox 67"/>
          <p:cNvSpPr txBox="1">
            <a:spLocks noChangeArrowheads="1"/>
          </p:cNvSpPr>
          <p:nvPr/>
        </p:nvSpPr>
        <p:spPr bwMode="auto">
          <a:xfrm>
            <a:off x="274549" y="704865"/>
            <a:ext cx="7771358" cy="1606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Some sort of </a:t>
            </a:r>
            <a:r>
              <a:rPr lang="en-US" b="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PROTECTION 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mechanism has to be used to</a:t>
            </a:r>
            <a:b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protect threads from conflict when sharing a resource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In simple terms, let’s define </a:t>
            </a:r>
            <a:r>
              <a:rPr lang="en-US" b="0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CRITICAL SECTION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as the time</a:t>
            </a:r>
            <a:b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when the SHARED RESOURCE is being accessed:</a:t>
            </a:r>
            <a:endParaRPr lang="en-US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Leading Question"/>
          <p:cNvSpPr txBox="1"/>
          <p:nvPr/>
        </p:nvSpPr>
        <p:spPr>
          <a:xfrm>
            <a:off x="5586241" y="6535579"/>
            <a:ext cx="3036088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smtClean="0">
                <a:solidFill>
                  <a:srgbClr val="FF0000"/>
                </a:solidFill>
                <a:latin typeface="Arial Narrow"/>
              </a:rPr>
              <a:t>What forms </a:t>
            </a:r>
            <a:r>
              <a:rPr lang="en-US" sz="2000" b="0" dirty="0" smtClean="0">
                <a:solidFill>
                  <a:srgbClr val="FF0000"/>
                </a:solidFill>
                <a:latin typeface="Arial Narrow"/>
              </a:rPr>
              <a:t>of “protection” exist?</a:t>
            </a:r>
          </a:p>
        </p:txBody>
      </p:sp>
      <p:sp>
        <p:nvSpPr>
          <p:cNvPr id="42" name="TextBox 67"/>
          <p:cNvSpPr txBox="1">
            <a:spLocks noChangeArrowheads="1"/>
          </p:cNvSpPr>
          <p:nvPr/>
        </p:nvSpPr>
        <p:spPr bwMode="auto">
          <a:xfrm>
            <a:off x="274549" y="3763926"/>
            <a:ext cx="7677294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For example, if a Task and </a:t>
            </a:r>
            <a:r>
              <a:rPr lang="en-US" b="0" dirty="0" err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Hwi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are sharing a resource, the</a:t>
            </a:r>
            <a:b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</a:br>
            <a:r>
              <a:rPr lang="en-US" b="0" dirty="0" smtClean="0">
                <a:solidFill>
                  <a:srgbClr val="0066FF"/>
                </a:solidFill>
                <a:latin typeface="Calibri" pitchFamily="34" charset="0"/>
                <a:cs typeface="Calibri" pitchFamily="34" charset="0"/>
              </a:rPr>
              <a:t>GATE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, or Enter/Exit commands in the Task might be:</a:t>
            </a:r>
            <a:endParaRPr lang="en-US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2" name="TextBox 67"/>
          <p:cNvSpPr txBox="1">
            <a:spLocks noChangeArrowheads="1"/>
          </p:cNvSpPr>
          <p:nvPr/>
        </p:nvSpPr>
        <p:spPr bwMode="auto">
          <a:xfrm>
            <a:off x="274549" y="5880000"/>
            <a:ext cx="8183651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MUTEXs, between Tasks, could also be used during Enter/Exit</a:t>
            </a:r>
            <a:endParaRPr lang="en-US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066800" y="2344568"/>
            <a:ext cx="6746235" cy="1202294"/>
            <a:chOff x="1066800" y="2344568"/>
            <a:chExt cx="6746235" cy="1202294"/>
          </a:xfrm>
        </p:grpSpPr>
        <p:sp>
          <p:nvSpPr>
            <p:cNvPr id="26" name="Rectangle 25"/>
            <p:cNvSpPr/>
            <p:nvPr/>
          </p:nvSpPr>
          <p:spPr bwMode="auto">
            <a:xfrm>
              <a:off x="1066800" y="2344568"/>
              <a:ext cx="6746235" cy="120229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endParaRPr lang="en-US" sz="2800" dirty="0" smtClean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cxnSp>
          <p:nvCxnSpPr>
            <p:cNvPr id="3" name="Straight Connector 2"/>
            <p:cNvCxnSpPr/>
            <p:nvPr/>
          </p:nvCxnSpPr>
          <p:spPr bwMode="auto">
            <a:xfrm>
              <a:off x="2209800" y="3122168"/>
              <a:ext cx="76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8" name="Straight Connector 17"/>
            <p:cNvCxnSpPr/>
            <p:nvPr/>
          </p:nvCxnSpPr>
          <p:spPr bwMode="auto">
            <a:xfrm>
              <a:off x="3032594" y="3122168"/>
              <a:ext cx="3613636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698285" y="3122168"/>
              <a:ext cx="9583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8" name="TextBox 7"/>
            <p:cNvSpPr txBox="1"/>
            <p:nvPr/>
          </p:nvSpPr>
          <p:spPr>
            <a:xfrm>
              <a:off x="1183151" y="2888892"/>
              <a:ext cx="997389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rgbClr val="000000"/>
                  </a:solidFill>
                </a:rPr>
                <a:t>Thread</a:t>
              </a: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2971800" y="2664968"/>
              <a:ext cx="120164" cy="120164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endParaRPr lang="en-US" sz="2800" dirty="0" smtClean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 bwMode="auto">
            <a:xfrm>
              <a:off x="3043227" y="2682566"/>
              <a:ext cx="0" cy="43960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35" name="Oval 34"/>
            <p:cNvSpPr/>
            <p:nvPr/>
          </p:nvSpPr>
          <p:spPr bwMode="auto">
            <a:xfrm>
              <a:off x="6586148" y="2664968"/>
              <a:ext cx="120164" cy="120164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endParaRPr lang="en-US" sz="2800" dirty="0" smtClean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689370" y="2344568"/>
              <a:ext cx="69269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Enter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70275" y="2344568"/>
              <a:ext cx="538930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Exit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577135" y="3146752"/>
              <a:ext cx="2590966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i="1" dirty="0" smtClean="0">
                  <a:solidFill>
                    <a:schemeClr val="tx2"/>
                  </a:solidFill>
                </a:rPr>
                <a:t>CRITICAL SECTION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 bwMode="auto">
            <a:xfrm>
              <a:off x="6646942" y="2682566"/>
              <a:ext cx="0" cy="43960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grpSp>
        <p:nvGrpSpPr>
          <p:cNvPr id="30" name="Group 29"/>
          <p:cNvGrpSpPr/>
          <p:nvPr/>
        </p:nvGrpSpPr>
        <p:grpSpPr>
          <a:xfrm>
            <a:off x="1066800" y="4552383"/>
            <a:ext cx="6746235" cy="1237851"/>
            <a:chOff x="1066800" y="4552383"/>
            <a:chExt cx="6746235" cy="1237851"/>
          </a:xfrm>
        </p:grpSpPr>
        <p:sp>
          <p:nvSpPr>
            <p:cNvPr id="59" name="Rectangle 58"/>
            <p:cNvSpPr/>
            <p:nvPr/>
          </p:nvSpPr>
          <p:spPr bwMode="auto">
            <a:xfrm>
              <a:off x="1066800" y="4552383"/>
              <a:ext cx="6746235" cy="12022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endParaRPr lang="en-US" sz="2800" dirty="0" smtClean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>
              <a:off x="2209800" y="5365540"/>
              <a:ext cx="76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>
              <a:off x="3032594" y="5365540"/>
              <a:ext cx="3613636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>
              <a:off x="6698285" y="5365540"/>
              <a:ext cx="958364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1421097" y="5132264"/>
              <a:ext cx="712503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rgbClr val="000000"/>
                  </a:solidFill>
                </a:rPr>
                <a:t>Task</a:t>
              </a:r>
            </a:p>
          </p:txBody>
        </p:sp>
        <p:sp>
          <p:nvSpPr>
            <p:cNvPr id="56" name="Oval 55"/>
            <p:cNvSpPr/>
            <p:nvPr/>
          </p:nvSpPr>
          <p:spPr bwMode="auto">
            <a:xfrm>
              <a:off x="2971800" y="4908340"/>
              <a:ext cx="120164" cy="120164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endParaRPr lang="en-US" sz="2800" dirty="0" smtClean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sp>
          <p:nvSpPr>
            <p:cNvPr id="54" name="Oval 53"/>
            <p:cNvSpPr/>
            <p:nvPr/>
          </p:nvSpPr>
          <p:spPr bwMode="auto">
            <a:xfrm>
              <a:off x="6586148" y="4908340"/>
              <a:ext cx="120164" cy="120164"/>
            </a:xfrm>
            <a:prstGeom prst="ellipse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endParaRPr lang="en-US" sz="2800" dirty="0" smtClean="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796901" y="4587940"/>
              <a:ext cx="247843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Enter (Global INT = OFF)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577135" y="5390124"/>
              <a:ext cx="2590966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i="1" dirty="0" smtClean="0">
                  <a:solidFill>
                    <a:schemeClr val="tx2"/>
                  </a:solidFill>
                </a:rPr>
                <a:t>CRITICAL SECTION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488360" y="4587940"/>
              <a:ext cx="232467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dirty="0" smtClean="0">
                  <a:solidFill>
                    <a:srgbClr val="000000"/>
                  </a:solidFill>
                  <a:latin typeface="Calibri" pitchFamily="34" charset="0"/>
                  <a:cs typeface="Calibri" pitchFamily="34" charset="0"/>
                </a:rPr>
                <a:t>Exit (Global INT = ON)</a:t>
              </a:r>
            </a:p>
          </p:txBody>
        </p:sp>
        <p:cxnSp>
          <p:nvCxnSpPr>
            <p:cNvPr id="64" name="Straight Arrow Connector 63"/>
            <p:cNvCxnSpPr/>
            <p:nvPr/>
          </p:nvCxnSpPr>
          <p:spPr bwMode="auto">
            <a:xfrm>
              <a:off x="3043227" y="4950522"/>
              <a:ext cx="0" cy="43960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66" name="Straight Arrow Connector 65"/>
            <p:cNvCxnSpPr/>
            <p:nvPr/>
          </p:nvCxnSpPr>
          <p:spPr bwMode="auto">
            <a:xfrm>
              <a:off x="6640064" y="4950522"/>
              <a:ext cx="0" cy="43960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970609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9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2914619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Globals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5">
            <a:hlinkClick r:id="rId20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74000" y="3323067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Modify Scheduler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21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69877" y="3837715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MUTEXs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6">
            <a:hlinkClick r:id="rId22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9877" y="4246163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Priority Mutex Gates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Box 6">
            <a:hlinkClick r:id="rId23" action="ppaction://hlinksldjump"/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69877" y="4654611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Deadlock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Box 4">
            <a:hlinkClick r:id="rId24" action="ppaction://hlinksldjump"/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1576" y="507041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9" name="Text Box 4">
            <a:hlinkClick r:id="rId25" action="ppaction://hlinksldjump"/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01576" y="557406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094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dirty="0" smtClean="0"/>
              <a:t>Modifying BIOS Scheduler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36" y="696969"/>
            <a:ext cx="9097831" cy="157581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“When in doubt, </a:t>
            </a:r>
            <a:r>
              <a:rPr lang="en-US" b="0" u="sng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just turn off interrupts !</a:t>
            </a: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”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This might sound funny…but it is a common method to </a:t>
            </a:r>
            <a:r>
              <a:rPr lang="en-US" b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solve contention problems </a:t>
            </a: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in systems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Modifying the scheduler’s behavior is the ONLY solution </a:t>
            </a:r>
            <a:r>
              <a:rPr lang="en-US" b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for  Hwi/Swi</a:t>
            </a:r>
            <a:r>
              <a:rPr lang="en-US" b="0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: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81000" y="2468036"/>
            <a:ext cx="4343400" cy="2895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Hwi_disable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();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turn off global INTs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Hwi_restore</a:t>
            </a:r>
            <a:r>
              <a:rPr lang="en-US" sz="20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20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restore global INTs</a:t>
            </a:r>
            <a:endParaRPr lang="en-US" sz="2000" dirty="0" smtClean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Swi_disable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20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turn off all </a:t>
            </a:r>
            <a:r>
              <a:rPr lang="en-US" sz="2000" b="0" dirty="0" err="1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Swi’s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Swi_restore</a:t>
            </a:r>
            <a:r>
              <a:rPr lang="en-US" sz="20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20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restore </a:t>
            </a:r>
            <a:r>
              <a:rPr lang="en-US" sz="2000" b="0" dirty="0" err="1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Swi’s</a:t>
            </a:r>
            <a:endParaRPr lang="en-US" sz="2000" dirty="0" smtClean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Task_disable</a:t>
            </a:r>
            <a:r>
              <a:rPr lang="en-US" sz="20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200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</a:t>
            </a:r>
            <a:r>
              <a:rPr lang="en-US" sz="20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turn off all Tasks</a:t>
            </a:r>
            <a:endParaRPr lang="en-US" sz="2000" dirty="0" smtClean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Task_restore</a:t>
            </a:r>
            <a:r>
              <a:rPr lang="en-US" sz="20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20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restore Tasks</a:t>
            </a:r>
            <a:endParaRPr lang="en-US" sz="2000" dirty="0" smtClean="0">
              <a:solidFill>
                <a:schemeClr val="dk1"/>
              </a:solidFill>
              <a:latin typeface="Courier New" pitchFamily="49" charset="0"/>
              <a:cs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Task_setPri</a:t>
            </a:r>
            <a:r>
              <a:rPr lang="en-US" sz="20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sz="20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 Set Task </a:t>
            </a:r>
            <a:r>
              <a:rPr lang="en-US" sz="2000" b="0" dirty="0" err="1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Pri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5181600" y="2696636"/>
            <a:ext cx="3733800" cy="2667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void B (void)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{ 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. . .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pGIE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Hwi_disable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cnt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+= 1;  //critical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  </a:t>
            </a:r>
            <a:r>
              <a:rPr kumimoji="0" lang="en-US" sz="18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Hwi_restore</a:t>
            </a: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1800" i="0" u="none" strike="noStrike" cap="none" normalizeH="0" baseline="0" dirty="0" err="1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pGIE</a:t>
            </a:r>
            <a:r>
              <a:rPr kumimoji="0" lang="en-US" sz="180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 . . .</a:t>
            </a:r>
          </a:p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5750" y="5459199"/>
            <a:ext cx="3836948" cy="7232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Advantages: common</a:t>
            </a: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, simple</a:t>
            </a:r>
            <a:endParaRPr lang="en-US" sz="2000" b="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sz="2000" b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Disadv:  can cause jitter, latency</a:t>
            </a:r>
          </a:p>
        </p:txBody>
      </p:sp>
      <p:sp>
        <p:nvSpPr>
          <p:cNvPr id="10" name="Leading Question"/>
          <p:cNvSpPr txBox="1"/>
          <p:nvPr/>
        </p:nvSpPr>
        <p:spPr>
          <a:xfrm>
            <a:off x="5943600" y="6410475"/>
            <a:ext cx="2647713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Let’s move on to MUTEXs…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837" y="2251838"/>
            <a:ext cx="3937296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b="0" dirty="0" smtClean="0">
                <a:effectLst/>
              </a:rPr>
              <a:t>Usage </a:t>
            </a:r>
            <a:r>
              <a:rPr lang="en-US" sz="2000" b="0" i="1" dirty="0" smtClean="0">
                <a:solidFill>
                  <a:schemeClr val="tx2"/>
                </a:solidFill>
                <a:effectLst/>
              </a:rPr>
              <a:t>(Notice Enter/Exit gates)</a:t>
            </a:r>
            <a:endParaRPr lang="en-US" b="0" i="1" dirty="0" smtClean="0">
              <a:solidFill>
                <a:schemeClr val="tx2"/>
              </a:solidFill>
              <a:effectLst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9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2914619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Globals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20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69877" y="332306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Modify Scheduler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5">
            <a:hlinkClick r:id="rId21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74000" y="3731515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MUTEXs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6">
            <a:hlinkClick r:id="rId22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9877" y="4246163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Priority Mutex Gates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Box 6">
            <a:hlinkClick r:id="rId23" action="ppaction://hlinksldjump"/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69877" y="4654611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Deadlock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Box 4">
            <a:hlinkClick r:id="rId24" action="ppaction://hlinksldjump"/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1576" y="507041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9" name="Text Box 4">
            <a:hlinkClick r:id="rId25" action="ppaction://hlinksldjump"/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01576" y="557406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9161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smtClean="0"/>
              <a:t>Data Sharing Using Semaphores</a:t>
            </a:r>
            <a:endParaRPr lang="en-US" dirty="0" smtClean="0"/>
          </a:p>
        </p:txBody>
      </p:sp>
      <p:grpSp>
        <p:nvGrpSpPr>
          <p:cNvPr id="34" name="Group 33"/>
          <p:cNvGrpSpPr/>
          <p:nvPr/>
        </p:nvGrpSpPr>
        <p:grpSpPr>
          <a:xfrm>
            <a:off x="1522231" y="721425"/>
            <a:ext cx="6019800" cy="954975"/>
            <a:chOff x="1295400" y="4570287"/>
            <a:chExt cx="6019800" cy="954975"/>
          </a:xfrm>
        </p:grpSpPr>
        <p:sp>
          <p:nvSpPr>
            <p:cNvPr id="36" name="Round Diagonal Corner Rectangle 35"/>
            <p:cNvSpPr/>
            <p:nvPr/>
          </p:nvSpPr>
          <p:spPr bwMode="auto">
            <a:xfrm>
              <a:off x="1295400" y="4712462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38" name="Round Diagonal Corner Rectangle 37"/>
            <p:cNvSpPr/>
            <p:nvPr/>
          </p:nvSpPr>
          <p:spPr bwMode="auto">
            <a:xfrm>
              <a:off x="5867400" y="4712462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sp>
          <p:nvSpPr>
            <p:cNvPr id="40" name="Can 39"/>
            <p:cNvSpPr/>
            <p:nvPr/>
          </p:nvSpPr>
          <p:spPr bwMode="auto">
            <a:xfrm>
              <a:off x="3886200" y="4570287"/>
              <a:ext cx="838200" cy="954975"/>
            </a:xfrm>
            <a:prstGeom prst="can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Data</a:t>
              </a:r>
            </a:p>
          </p:txBody>
        </p:sp>
        <p:sp>
          <p:nvSpPr>
            <p:cNvPr id="41" name="Right Arrow 40"/>
            <p:cNvSpPr/>
            <p:nvPr/>
          </p:nvSpPr>
          <p:spPr bwMode="auto">
            <a:xfrm>
              <a:off x="2895600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42" name="Right Arrow 41"/>
            <p:cNvSpPr/>
            <p:nvPr/>
          </p:nvSpPr>
          <p:spPr bwMode="auto">
            <a:xfrm rot="10800000">
              <a:off x="4876800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1777668"/>
            <a:ext cx="9068893" cy="157581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MUTEX</a:t>
            </a: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= Mutually Exclusive (only one thread at a time)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Mutex</a:t>
            </a: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is commonly used in systems to protect a critical resource</a:t>
            </a:r>
            <a:b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being accessed by multiple threads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Users can create a </a:t>
            </a:r>
            <a:r>
              <a:rPr lang="en-US" b="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mutex</a:t>
            </a: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using </a:t>
            </a:r>
            <a:r>
              <a:rPr lang="en-US" b="0" i="1" u="sng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semaphores with an initial count of 1</a:t>
            </a:r>
            <a:endParaRPr lang="en-US" b="0" i="1" u="sng" dirty="0" smtClean="0"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3429000" y="3436960"/>
            <a:ext cx="2514600" cy="1684119"/>
            <a:chOff x="3429000" y="3626068"/>
            <a:chExt cx="2514600" cy="1684119"/>
          </a:xfrm>
        </p:grpSpPr>
        <p:sp>
          <p:nvSpPr>
            <p:cNvPr id="44" name="Rounded Rectangle 43"/>
            <p:cNvSpPr/>
            <p:nvPr/>
          </p:nvSpPr>
          <p:spPr bwMode="auto">
            <a:xfrm>
              <a:off x="3429000" y="3973512"/>
              <a:ext cx="2514600" cy="133667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1800" b="0" dirty="0" err="1" smtClean="0">
                  <a:latin typeface="Arial Narrow" pitchFamily="34" charset="0"/>
                </a:rPr>
                <a:t>Semaphore_pend</a:t>
              </a:r>
              <a:r>
                <a:rPr lang="en-US" sz="1800" b="0" dirty="0" smtClean="0">
                  <a:latin typeface="Arial Narrow" pitchFamily="34" charset="0"/>
                </a:rPr>
                <a:t>(</a:t>
              </a:r>
              <a:r>
                <a:rPr lang="en-US" sz="1800" b="0" dirty="0" err="1" smtClean="0">
                  <a:latin typeface="Arial Narrow" pitchFamily="34" charset="0"/>
                </a:rPr>
                <a:t>Sem</a:t>
              </a:r>
              <a:r>
                <a:rPr lang="en-US" sz="1800" b="0" dirty="0">
                  <a:latin typeface="Arial Narrow" pitchFamily="34" charset="0"/>
                </a:rPr>
                <a:t>);</a:t>
              </a:r>
            </a:p>
            <a:p>
              <a:pPr eaLnBrk="0" hangingPunct="0">
                <a:lnSpc>
                  <a:spcPct val="150000"/>
                </a:lnSpc>
                <a:spcBef>
                  <a:spcPct val="50000"/>
                </a:spcBef>
                <a:defRPr/>
              </a:pPr>
              <a:endParaRPr lang="en-US" sz="1800" b="0" dirty="0"/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1800" b="0" dirty="0" err="1" smtClean="0">
                  <a:latin typeface="Arial Narrow" pitchFamily="34" charset="0"/>
                </a:rPr>
                <a:t>Semaphore_post</a:t>
              </a:r>
              <a:r>
                <a:rPr lang="en-US" sz="1800" b="0" dirty="0" smtClean="0">
                  <a:latin typeface="Arial Narrow" pitchFamily="34" charset="0"/>
                </a:rPr>
                <a:t>(</a:t>
              </a:r>
              <a:r>
                <a:rPr lang="en-US" sz="1800" b="0" dirty="0" err="1" smtClean="0">
                  <a:latin typeface="Arial Narrow" pitchFamily="34" charset="0"/>
                </a:rPr>
                <a:t>Sem</a:t>
              </a:r>
              <a:r>
                <a:rPr lang="en-US" sz="1800" b="0" dirty="0">
                  <a:latin typeface="Arial Narrow" pitchFamily="34" charset="0"/>
                </a:rPr>
                <a:t>);</a:t>
              </a:r>
            </a:p>
          </p:txBody>
        </p:sp>
        <p:sp>
          <p:nvSpPr>
            <p:cNvPr id="45" name="TextBox 29"/>
            <p:cNvSpPr txBox="1">
              <a:spLocks noChangeArrowheads="1"/>
            </p:cNvSpPr>
            <p:nvPr/>
          </p:nvSpPr>
          <p:spPr bwMode="auto">
            <a:xfrm>
              <a:off x="4008470" y="3626068"/>
              <a:ext cx="1195327" cy="445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2800" b="0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Task Hi</a:t>
              </a:r>
              <a:endParaRPr lang="en-US" sz="2800" b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46" name="Group 34"/>
            <p:cNvGrpSpPr>
              <a:grpSpLocks/>
            </p:cNvGrpSpPr>
            <p:nvPr/>
          </p:nvGrpSpPr>
          <p:grpSpPr bwMode="auto">
            <a:xfrm>
              <a:off x="4134297" y="4428400"/>
              <a:ext cx="914400" cy="443260"/>
              <a:chOff x="4953000" y="5943600"/>
              <a:chExt cx="914400" cy="443297"/>
            </a:xfrm>
          </p:grpSpPr>
          <p:sp>
            <p:nvSpPr>
              <p:cNvPr id="47" name="Flowchart: Magnetic Disk 46"/>
              <p:cNvSpPr/>
              <p:nvPr/>
            </p:nvSpPr>
            <p:spPr bwMode="auto">
              <a:xfrm>
                <a:off x="4952553" y="5944325"/>
                <a:ext cx="914400" cy="381032"/>
              </a:xfrm>
              <a:prstGeom prst="flowChartMagneticDisk">
                <a:avLst/>
              </a:prstGeom>
              <a:solidFill>
                <a:schemeClr val="accent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anchor="ctr"/>
              <a:lstStyle/>
              <a:p>
                <a:pPr algn="ctr" eaLnBrk="0" hangingPunct="0">
                  <a:lnSpc>
                    <a:spcPct val="80000"/>
                  </a:lnSpc>
                  <a:spcBef>
                    <a:spcPct val="50000"/>
                  </a:spcBef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8" name="TextBox 33"/>
              <p:cNvSpPr txBox="1">
                <a:spLocks noChangeArrowheads="1"/>
              </p:cNvSpPr>
              <p:nvPr/>
            </p:nvSpPr>
            <p:spPr bwMode="auto">
              <a:xfrm>
                <a:off x="5257800" y="6072965"/>
                <a:ext cx="351378" cy="3139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sz="1800"/>
                  <a:t>D</a:t>
                </a:r>
              </a:p>
            </p:txBody>
          </p:sp>
        </p:grpSp>
      </p:grpSp>
      <p:grpSp>
        <p:nvGrpSpPr>
          <p:cNvPr id="56" name="Group 55"/>
          <p:cNvGrpSpPr/>
          <p:nvPr/>
        </p:nvGrpSpPr>
        <p:grpSpPr>
          <a:xfrm>
            <a:off x="6248400" y="3436960"/>
            <a:ext cx="2514600" cy="1684759"/>
            <a:chOff x="6248400" y="3626068"/>
            <a:chExt cx="2514600" cy="1684759"/>
          </a:xfrm>
        </p:grpSpPr>
        <p:sp>
          <p:nvSpPr>
            <p:cNvPr id="49" name="Rounded Rectangle 48"/>
            <p:cNvSpPr/>
            <p:nvPr/>
          </p:nvSpPr>
          <p:spPr bwMode="auto">
            <a:xfrm>
              <a:off x="6248400" y="3972564"/>
              <a:ext cx="2514600" cy="133826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1800" b="0" dirty="0" err="1" smtClean="0">
                  <a:latin typeface="Arial Narrow" pitchFamily="34" charset="0"/>
                </a:rPr>
                <a:t>Semaphore_pend</a:t>
              </a:r>
              <a:r>
                <a:rPr lang="en-US" sz="1800" b="0" dirty="0" smtClean="0">
                  <a:latin typeface="Arial Narrow" pitchFamily="34" charset="0"/>
                </a:rPr>
                <a:t>(</a:t>
              </a:r>
              <a:r>
                <a:rPr lang="en-US" sz="1800" b="0" dirty="0" err="1" smtClean="0">
                  <a:latin typeface="Arial Narrow" pitchFamily="34" charset="0"/>
                </a:rPr>
                <a:t>Sem</a:t>
              </a:r>
              <a:r>
                <a:rPr lang="en-US" sz="1800" b="0" dirty="0">
                  <a:latin typeface="Arial Narrow" pitchFamily="34" charset="0"/>
                </a:rPr>
                <a:t>);</a:t>
              </a:r>
            </a:p>
            <a:p>
              <a:pPr eaLnBrk="0" hangingPunct="0">
                <a:lnSpc>
                  <a:spcPct val="150000"/>
                </a:lnSpc>
                <a:spcBef>
                  <a:spcPct val="50000"/>
                </a:spcBef>
                <a:defRPr/>
              </a:pPr>
              <a:endParaRPr lang="en-US" sz="1800" b="0" dirty="0">
                <a:latin typeface="Arial Narrow" pitchFamily="34" charset="0"/>
              </a:endParaRPr>
            </a:p>
            <a:p>
              <a:pPr eaLnBrk="0" hangingPunct="0">
                <a:lnSpc>
                  <a:spcPct val="60000"/>
                </a:lnSpc>
                <a:spcBef>
                  <a:spcPct val="50000"/>
                </a:spcBef>
                <a:defRPr/>
              </a:pPr>
              <a:r>
                <a:rPr lang="en-US" sz="1800" b="0" dirty="0" err="1" smtClean="0">
                  <a:latin typeface="Arial Narrow" pitchFamily="34" charset="0"/>
                </a:rPr>
                <a:t>Semaphore_post</a:t>
              </a:r>
              <a:r>
                <a:rPr lang="en-US" sz="1800" b="0" dirty="0" smtClean="0">
                  <a:latin typeface="Arial Narrow" pitchFamily="34" charset="0"/>
                </a:rPr>
                <a:t>(</a:t>
              </a:r>
              <a:r>
                <a:rPr lang="en-US" sz="1800" b="0" dirty="0" err="1" smtClean="0">
                  <a:latin typeface="Arial Narrow" pitchFamily="34" charset="0"/>
                </a:rPr>
                <a:t>Sem</a:t>
              </a:r>
              <a:r>
                <a:rPr lang="en-US" sz="1800" b="0" dirty="0">
                  <a:latin typeface="Arial Narrow" pitchFamily="34" charset="0"/>
                </a:rPr>
                <a:t>);</a:t>
              </a:r>
            </a:p>
          </p:txBody>
        </p:sp>
        <p:sp>
          <p:nvSpPr>
            <p:cNvPr id="50" name="TextBox 31"/>
            <p:cNvSpPr txBox="1">
              <a:spLocks noChangeArrowheads="1"/>
            </p:cNvSpPr>
            <p:nvPr/>
          </p:nvSpPr>
          <p:spPr bwMode="auto">
            <a:xfrm>
              <a:off x="6700274" y="3626068"/>
              <a:ext cx="1484061" cy="4456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</a:pPr>
              <a:r>
                <a:rPr lang="en-US" sz="2800" b="0" dirty="0" smtClean="0">
                  <a:solidFill>
                    <a:schemeClr val="tx2"/>
                  </a:solidFill>
                  <a:latin typeface="Calibri" pitchFamily="34" charset="0"/>
                  <a:cs typeface="Calibri" pitchFamily="34" charset="0"/>
                </a:rPr>
                <a:t>Task Low</a:t>
              </a:r>
              <a:endParaRPr lang="en-US" sz="2800" b="0" dirty="0">
                <a:solidFill>
                  <a:schemeClr val="tx2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grpSp>
          <p:nvGrpSpPr>
            <p:cNvPr id="51" name="Group 35"/>
            <p:cNvGrpSpPr>
              <a:grpSpLocks/>
            </p:cNvGrpSpPr>
            <p:nvPr/>
          </p:nvGrpSpPr>
          <p:grpSpPr bwMode="auto">
            <a:xfrm>
              <a:off x="6953697" y="4419536"/>
              <a:ext cx="914400" cy="432628"/>
              <a:chOff x="4953000" y="5943600"/>
              <a:chExt cx="914400" cy="432664"/>
            </a:xfrm>
          </p:grpSpPr>
          <p:sp>
            <p:nvSpPr>
              <p:cNvPr id="52" name="Flowchart: Magnetic Disk 51"/>
              <p:cNvSpPr/>
              <p:nvPr/>
            </p:nvSpPr>
            <p:spPr bwMode="auto">
              <a:xfrm>
                <a:off x="4952553" y="5944303"/>
                <a:ext cx="914400" cy="381032"/>
              </a:xfrm>
              <a:prstGeom prst="flowChartMagneticDisk">
                <a:avLst/>
              </a:prstGeom>
              <a:solidFill>
                <a:schemeClr val="accent1">
                  <a:lumMod val="75000"/>
                </a:schemeClr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anchor="ctr"/>
              <a:lstStyle/>
              <a:p>
                <a:pPr algn="ctr" eaLnBrk="0" hangingPunct="0">
                  <a:lnSpc>
                    <a:spcPct val="80000"/>
                  </a:lnSpc>
                  <a:spcBef>
                    <a:spcPct val="50000"/>
                  </a:spcBef>
                  <a:defRPr/>
                </a:pPr>
                <a:endPara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3" name="TextBox 37"/>
              <p:cNvSpPr txBox="1">
                <a:spLocks noChangeArrowheads="1"/>
              </p:cNvSpPr>
              <p:nvPr/>
            </p:nvSpPr>
            <p:spPr bwMode="auto">
              <a:xfrm>
                <a:off x="5257800" y="6062332"/>
                <a:ext cx="351378" cy="3139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sz="1800"/>
                  <a:t>D</a:t>
                </a:r>
              </a:p>
            </p:txBody>
          </p:sp>
        </p:grpSp>
      </p:grpSp>
      <p:sp>
        <p:nvSpPr>
          <p:cNvPr id="54" name="TextBox 53"/>
          <p:cNvSpPr txBox="1"/>
          <p:nvPr/>
        </p:nvSpPr>
        <p:spPr>
          <a:xfrm>
            <a:off x="399633" y="4078092"/>
            <a:ext cx="2800767" cy="7078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 anchor="ctr" anchorCtr="0">
            <a:spAutoFit/>
          </a:bodyPr>
          <a:lstStyle/>
          <a:p>
            <a:r>
              <a:rPr lang="en-US" sz="20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Semaphore: </a:t>
            </a:r>
            <a:r>
              <a:rPr lang="en-US" sz="20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Sem</a:t>
            </a:r>
            <a:endParaRPr lang="en-US" sz="2000" dirty="0" smtClean="0">
              <a:solidFill>
                <a:schemeClr val="dk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Initial Count = 1</a:t>
            </a:r>
            <a:endParaRPr lang="en-US" sz="2000" dirty="0" smtClean="0">
              <a:solidFill>
                <a:schemeClr val="dk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52400" y="5218977"/>
            <a:ext cx="8363893" cy="1166473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u="sng" dirty="0" smtClean="0">
                <a:effectLst/>
                <a:latin typeface="Calibri" pitchFamily="34" charset="0"/>
                <a:cs typeface="Calibri" pitchFamily="34" charset="0"/>
              </a:rPr>
              <a:t>Advantages</a:t>
            </a:r>
            <a:r>
              <a:rPr lang="en-US" b="0" dirty="0" smtClean="0">
                <a:effectLst/>
                <a:latin typeface="Calibri" pitchFamily="34" charset="0"/>
                <a:cs typeface="Calibri" pitchFamily="34" charset="0"/>
              </a:rPr>
              <a:t>: common</a:t>
            </a:r>
            <a:r>
              <a:rPr lang="en-US" b="0" smtClean="0">
                <a:effectLst/>
                <a:latin typeface="Calibri" pitchFamily="34" charset="0"/>
                <a:cs typeface="Calibri" pitchFamily="34" charset="0"/>
              </a:rPr>
              <a:t>, </a:t>
            </a:r>
            <a:r>
              <a:rPr lang="en-US" b="0" smtClean="0">
                <a:effectLst/>
                <a:latin typeface="Calibri" pitchFamily="34" charset="0"/>
                <a:cs typeface="Calibri" pitchFamily="34" charset="0"/>
              </a:rPr>
              <a:t>simple, </a:t>
            </a:r>
            <a:r>
              <a:rPr lang="en-US" b="0" i="1" smtClean="0">
                <a:solidFill>
                  <a:schemeClr val="accent4">
                    <a:lumMod val="75000"/>
                  </a:schemeClr>
                </a:solidFill>
                <a:effectLst/>
                <a:latin typeface="Calibri" pitchFamily="34" charset="0"/>
                <a:cs typeface="Calibri" pitchFamily="34" charset="0"/>
              </a:rPr>
              <a:t>can use FIFO or Priority Sems</a:t>
            </a:r>
            <a:endParaRPr lang="en-US" b="0" i="1" dirty="0" smtClean="0">
              <a:solidFill>
                <a:schemeClr val="accent4">
                  <a:lumMod val="75000"/>
                </a:schemeClr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u="sng" dirty="0" smtClean="0">
                <a:latin typeface="Calibri" pitchFamily="34" charset="0"/>
                <a:cs typeface="Calibri" pitchFamily="34" charset="0"/>
              </a:rPr>
              <a:t>Disadvantage</a:t>
            </a:r>
            <a:r>
              <a:rPr lang="en-US" b="0" smtClean="0">
                <a:latin typeface="Calibri" pitchFamily="34" charset="0"/>
                <a:cs typeface="Calibri" pitchFamily="34" charset="0"/>
              </a:rPr>
              <a:t>: no “ownership”, possible “nested” calls, another</a:t>
            </a:r>
            <a:br>
              <a:rPr lang="en-US" b="0" smtClean="0">
                <a:latin typeface="Calibri" pitchFamily="34" charset="0"/>
                <a:cs typeface="Calibri" pitchFamily="34" charset="0"/>
              </a:rPr>
            </a:br>
            <a:r>
              <a:rPr lang="en-US" b="0" smtClean="0">
                <a:latin typeface="Calibri" pitchFamily="34" charset="0"/>
                <a:cs typeface="Calibri" pitchFamily="34" charset="0"/>
              </a:rPr>
              <a:t>thread could inadvertently post the Sem again</a:t>
            </a:r>
            <a:endParaRPr lang="en-US" b="0" dirty="0" smtClean="0">
              <a:effectLst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Leading Question"/>
          <p:cNvSpPr txBox="1"/>
          <p:nvPr/>
        </p:nvSpPr>
        <p:spPr>
          <a:xfrm>
            <a:off x="5277327" y="6513971"/>
            <a:ext cx="3561873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smtClean="0">
                <a:solidFill>
                  <a:schemeClr val="tx2"/>
                </a:solidFill>
                <a:latin typeface="Arial Narrow"/>
              </a:rPr>
              <a:t>Mutex Gates solve these problems…</a:t>
            </a:r>
            <a:endParaRPr lang="en-US" sz="2000" b="0" dirty="0" smtClean="0">
              <a:solidFill>
                <a:schemeClr val="tx2"/>
              </a:solidFill>
              <a:latin typeface="Arial Narrow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>
            <a:normAutofit/>
          </a:bodyPr>
          <a:lstStyle/>
          <a:p>
            <a:r>
              <a:rPr lang="en-US" dirty="0" err="1" smtClean="0"/>
              <a:t>GateMutex</a:t>
            </a:r>
            <a:r>
              <a:rPr lang="en-US" dirty="0" smtClean="0"/>
              <a:t> Usage</a:t>
            </a:r>
          </a:p>
        </p:txBody>
      </p:sp>
      <p:sp>
        <p:nvSpPr>
          <p:cNvPr id="48" name="Leading Question"/>
          <p:cNvSpPr txBox="1"/>
          <p:nvPr/>
        </p:nvSpPr>
        <p:spPr>
          <a:xfrm>
            <a:off x="5159472" y="6419850"/>
            <a:ext cx="3661259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smtClean="0">
                <a:solidFill>
                  <a:schemeClr val="tx2"/>
                </a:solidFill>
                <a:latin typeface="Arial Narrow"/>
              </a:rPr>
              <a:t>MUTEXs can cause priority inversion…</a:t>
            </a:r>
            <a:endParaRPr lang="en-US" sz="2000" b="0" dirty="0" smtClean="0">
              <a:solidFill>
                <a:schemeClr val="tx2"/>
              </a:solidFill>
              <a:latin typeface="Arial Narrow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277662" y="702624"/>
            <a:ext cx="8623553" cy="2733695"/>
            <a:chOff x="329946" y="1523999"/>
            <a:chExt cx="8623553" cy="2733695"/>
          </a:xfrm>
        </p:grpSpPr>
        <p:sp>
          <p:nvSpPr>
            <p:cNvPr id="52" name="Rounded Rectangle 51"/>
            <p:cNvSpPr/>
            <p:nvPr/>
          </p:nvSpPr>
          <p:spPr bwMode="auto">
            <a:xfrm>
              <a:off x="329946" y="1523999"/>
              <a:ext cx="8623553" cy="2733695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54" name="Straight Connector 53"/>
            <p:cNvCxnSpPr/>
            <p:nvPr/>
          </p:nvCxnSpPr>
          <p:spPr bwMode="auto">
            <a:xfrm>
              <a:off x="4466042" y="3728380"/>
              <a:ext cx="1210694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9" name="Straight Connector 58"/>
            <p:cNvCxnSpPr/>
            <p:nvPr/>
          </p:nvCxnSpPr>
          <p:spPr bwMode="auto">
            <a:xfrm>
              <a:off x="1806775" y="3730794"/>
              <a:ext cx="732972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0" name="Down Arrow 59"/>
            <p:cNvSpPr/>
            <p:nvPr/>
          </p:nvSpPr>
          <p:spPr bwMode="auto">
            <a:xfrm>
              <a:off x="2402753" y="3215422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165703" y="2848997"/>
              <a:ext cx="811441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smtClean="0">
                  <a:solidFill>
                    <a:schemeClr val="dk1"/>
                  </a:solidFill>
                </a:rPr>
                <a:t>enter</a:t>
              </a:r>
              <a:endParaRPr lang="en-US" sz="2000" b="0" dirty="0" smtClean="0">
                <a:solidFill>
                  <a:schemeClr val="dk1"/>
                </a:solidFill>
                <a:effectLst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590448" y="3385414"/>
              <a:ext cx="6623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dirty="0" smtClean="0">
                  <a:solidFill>
                    <a:schemeClr val="dk1"/>
                  </a:solidFill>
                  <a:effectLst/>
                </a:rPr>
                <a:t>block</a:t>
              </a:r>
            </a:p>
          </p:txBody>
        </p:sp>
        <p:cxnSp>
          <p:nvCxnSpPr>
            <p:cNvPr id="69" name="Straight Connector 68"/>
            <p:cNvCxnSpPr/>
            <p:nvPr/>
          </p:nvCxnSpPr>
          <p:spPr bwMode="auto">
            <a:xfrm>
              <a:off x="5682891" y="3608335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0" name="Rounded Rectangle 69"/>
            <p:cNvSpPr/>
            <p:nvPr/>
          </p:nvSpPr>
          <p:spPr bwMode="auto">
            <a:xfrm>
              <a:off x="634747" y="3462569"/>
              <a:ext cx="1143000" cy="53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9144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TSK Lo</a:t>
              </a:r>
            </a:p>
          </p:txBody>
        </p:sp>
        <p:cxnSp>
          <p:nvCxnSpPr>
            <p:cNvPr id="71" name="Straight Connector 70"/>
            <p:cNvCxnSpPr/>
            <p:nvPr/>
          </p:nvCxnSpPr>
          <p:spPr bwMode="auto">
            <a:xfrm>
              <a:off x="2557891" y="3611052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>
              <a:off x="2572405" y="3730794"/>
              <a:ext cx="854644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3" name="TextBox 72"/>
            <p:cNvSpPr txBox="1"/>
            <p:nvPr/>
          </p:nvSpPr>
          <p:spPr>
            <a:xfrm>
              <a:off x="4644772" y="3385721"/>
              <a:ext cx="8226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smtClean="0">
                  <a:solidFill>
                    <a:schemeClr val="dk1"/>
                  </a:solidFill>
                  <a:effectLst/>
                </a:rPr>
                <a:t>access</a:t>
              </a:r>
              <a:endParaRPr lang="en-US" sz="1600" b="0" i="1" dirty="0" smtClean="0">
                <a:solidFill>
                  <a:schemeClr val="dk1"/>
                </a:solidFill>
                <a:effectLst/>
              </a:endParaRPr>
            </a:p>
          </p:txBody>
        </p:sp>
        <p:cxnSp>
          <p:nvCxnSpPr>
            <p:cNvPr id="74" name="Straight Connector 73"/>
            <p:cNvCxnSpPr/>
            <p:nvPr/>
          </p:nvCxnSpPr>
          <p:spPr bwMode="auto">
            <a:xfrm>
              <a:off x="3421236" y="2495201"/>
              <a:ext cx="1014531" cy="889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75" name="Down Arrow 74"/>
            <p:cNvSpPr/>
            <p:nvPr/>
          </p:nvSpPr>
          <p:spPr bwMode="auto">
            <a:xfrm>
              <a:off x="4290386" y="2007282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4682754" y="2151864"/>
              <a:ext cx="6623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smtClean="0">
                  <a:solidFill>
                    <a:schemeClr val="dk1"/>
                  </a:solidFill>
                  <a:effectLst/>
                </a:rPr>
                <a:t>block</a:t>
              </a:r>
              <a:endParaRPr lang="en-US" sz="1600" b="0" i="1" dirty="0" smtClean="0">
                <a:solidFill>
                  <a:schemeClr val="dk1"/>
                </a:solidFill>
                <a:effectLst/>
              </a:endParaRPr>
            </a:p>
          </p:txBody>
        </p:sp>
        <p:sp>
          <p:nvSpPr>
            <p:cNvPr id="78" name="Rounded Rectangle 77"/>
            <p:cNvSpPr/>
            <p:nvPr/>
          </p:nvSpPr>
          <p:spPr bwMode="auto">
            <a:xfrm>
              <a:off x="634747" y="2234990"/>
              <a:ext cx="1143000" cy="53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9144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TSK Hi</a:t>
              </a:r>
            </a:p>
          </p:txBody>
        </p:sp>
        <p:cxnSp>
          <p:nvCxnSpPr>
            <p:cNvPr id="79" name="Straight Connector 78"/>
            <p:cNvCxnSpPr/>
            <p:nvPr/>
          </p:nvCxnSpPr>
          <p:spPr bwMode="auto">
            <a:xfrm>
              <a:off x="4444747" y="2376918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87" name="Straight Connector 86"/>
            <p:cNvCxnSpPr/>
            <p:nvPr/>
          </p:nvCxnSpPr>
          <p:spPr bwMode="auto">
            <a:xfrm flipV="1">
              <a:off x="3430216" y="3728890"/>
              <a:ext cx="1065493" cy="178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0" name="Straight Connector 89"/>
            <p:cNvCxnSpPr/>
            <p:nvPr/>
          </p:nvCxnSpPr>
          <p:spPr bwMode="auto">
            <a:xfrm>
              <a:off x="3421236" y="1974550"/>
              <a:ext cx="0" cy="211545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4" name="Down Arrow 93"/>
            <p:cNvSpPr/>
            <p:nvPr/>
          </p:nvSpPr>
          <p:spPr bwMode="auto">
            <a:xfrm>
              <a:off x="5530491" y="3249251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6" name="Straight Connector 95"/>
            <p:cNvCxnSpPr/>
            <p:nvPr/>
          </p:nvCxnSpPr>
          <p:spPr bwMode="auto">
            <a:xfrm>
              <a:off x="7574475" y="2357325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7" name="Straight Connector 96"/>
            <p:cNvCxnSpPr/>
            <p:nvPr/>
          </p:nvCxnSpPr>
          <p:spPr bwMode="auto">
            <a:xfrm flipV="1">
              <a:off x="5698035" y="2497775"/>
              <a:ext cx="2006895" cy="3144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98" name="Straight Connector 97"/>
            <p:cNvCxnSpPr/>
            <p:nvPr/>
          </p:nvCxnSpPr>
          <p:spPr bwMode="auto">
            <a:xfrm>
              <a:off x="5686760" y="2353636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99" name="TextBox 98"/>
            <p:cNvSpPr txBox="1"/>
            <p:nvPr/>
          </p:nvSpPr>
          <p:spPr>
            <a:xfrm>
              <a:off x="6220973" y="2136283"/>
              <a:ext cx="8226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smtClean="0">
                  <a:solidFill>
                    <a:schemeClr val="dk1"/>
                  </a:solidFill>
                  <a:effectLst/>
                </a:rPr>
                <a:t>access</a:t>
              </a:r>
              <a:endParaRPr lang="en-US" sz="1600" b="0" i="1" dirty="0" smtClean="0">
                <a:solidFill>
                  <a:schemeClr val="dk1"/>
                </a:solidFill>
                <a:effectLst/>
              </a:endParaRPr>
            </a:p>
          </p:txBody>
        </p:sp>
      </p:grpSp>
      <p:cxnSp>
        <p:nvCxnSpPr>
          <p:cNvPr id="56" name="Straight Connector 55"/>
          <p:cNvCxnSpPr/>
          <p:nvPr/>
        </p:nvCxnSpPr>
        <p:spPr bwMode="auto">
          <a:xfrm>
            <a:off x="3374765" y="2792031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5219811" y="2031522"/>
            <a:ext cx="825867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dk1"/>
                </a:solidFill>
              </a:rPr>
              <a:t>leave</a:t>
            </a:r>
            <a:endParaRPr lang="en-US" sz="2000" b="0" dirty="0" smtClean="0">
              <a:solidFill>
                <a:schemeClr val="dk1"/>
              </a:solidFill>
              <a:effectLst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524125" y="2579831"/>
            <a:ext cx="82266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i="1" smtClean="0">
                <a:solidFill>
                  <a:schemeClr val="dk1"/>
                </a:solidFill>
              </a:rPr>
              <a:t>access</a:t>
            </a:r>
            <a:endParaRPr lang="en-US" sz="1600" b="0" i="1" dirty="0" smtClean="0">
              <a:solidFill>
                <a:schemeClr val="dk1"/>
              </a:solidFill>
              <a:effectLst/>
            </a:endParaRPr>
          </a:p>
        </p:txBody>
      </p:sp>
      <p:cxnSp>
        <p:nvCxnSpPr>
          <p:cNvPr id="82" name="Straight Connector 81"/>
          <p:cNvCxnSpPr/>
          <p:nvPr/>
        </p:nvCxnSpPr>
        <p:spPr bwMode="auto">
          <a:xfrm>
            <a:off x="5667696" y="2912852"/>
            <a:ext cx="2768895" cy="643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3994847" y="799856"/>
            <a:ext cx="811441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dk1"/>
                </a:solidFill>
              </a:rPr>
              <a:t>enter</a:t>
            </a:r>
            <a:endParaRPr lang="en-US" sz="2000" b="0" dirty="0" smtClean="0">
              <a:solidFill>
                <a:schemeClr val="dk1"/>
              </a:solidFill>
              <a:effectLst/>
            </a:endParaRPr>
          </a:p>
        </p:txBody>
      </p:sp>
      <p:sp>
        <p:nvSpPr>
          <p:cNvPr id="122" name="Down Arrow 121"/>
          <p:cNvSpPr/>
          <p:nvPr/>
        </p:nvSpPr>
        <p:spPr bwMode="auto">
          <a:xfrm>
            <a:off x="7369791" y="1169420"/>
            <a:ext cx="304800" cy="3048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3" name="Straight Connector 122"/>
          <p:cNvCxnSpPr/>
          <p:nvPr/>
        </p:nvCxnSpPr>
        <p:spPr bwMode="auto">
          <a:xfrm>
            <a:off x="7541463" y="1676400"/>
            <a:ext cx="1014531" cy="88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24" name="Straight Connector 123"/>
          <p:cNvCxnSpPr/>
          <p:nvPr/>
        </p:nvCxnSpPr>
        <p:spPr bwMode="auto">
          <a:xfrm flipV="1">
            <a:off x="1883392" y="1685026"/>
            <a:ext cx="1464228" cy="750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152400" y="3495695"/>
            <a:ext cx="6561861" cy="49334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Arial Narrow" pitchFamily="34" charset="0"/>
              </a:rPr>
              <a:t>Use </a:t>
            </a: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the following code in BOTH (TSK Hi and TSK Lo)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765" y="3988672"/>
            <a:ext cx="7490635" cy="10895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gateKey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= GateMutex_enter(gateMutex);</a:t>
            </a:r>
            <a:r>
              <a:rPr lang="en-US" sz="1800" b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 	 </a:t>
            </a:r>
            <a:r>
              <a:rPr lang="en-US" sz="18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// enter Gate</a:t>
            </a:r>
          </a:p>
          <a:p>
            <a:pPr>
              <a:lnSpc>
                <a:spcPct val="120000"/>
              </a:lnSpc>
            </a:pPr>
            <a:r>
              <a:rPr lang="en-US" sz="18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cnt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                                                 	</a:t>
            </a:r>
            <a:r>
              <a:rPr lang="en-US" sz="180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         	 </a:t>
            </a:r>
            <a:r>
              <a:rPr lang="en-US" sz="1800" b="0" dirty="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// protected access</a:t>
            </a:r>
          </a:p>
          <a:p>
            <a:pPr>
              <a:lnSpc>
                <a:spcPct val="120000"/>
              </a:lnSpc>
            </a:pPr>
            <a:r>
              <a:rPr lang="en-US" sz="180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GateMutex_leave(gateMutex, 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gateKey</a:t>
            </a:r>
            <a:r>
              <a:rPr lang="en-US" sz="180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);</a:t>
            </a:r>
            <a:r>
              <a:rPr lang="en-US" sz="1800" b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   	 </a:t>
            </a:r>
            <a:r>
              <a:rPr lang="en-US" sz="18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// exit Gate</a:t>
            </a:r>
            <a:endParaRPr lang="en-US" sz="1800" b="0" dirty="0" smtClean="0">
              <a:solidFill>
                <a:schemeClr val="dk1"/>
              </a:solidFill>
              <a:effectLst/>
              <a:latin typeface="Arial Narrow" pitchFamily="34" charset="0"/>
              <a:cs typeface="Courier New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52400" y="5400526"/>
            <a:ext cx="8991600" cy="75713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TSK </a:t>
            </a:r>
            <a:r>
              <a:rPr lang="en-US" b="0" smtClean="0">
                <a:solidFill>
                  <a:schemeClr val="dk1"/>
                </a:solidFill>
                <a:latin typeface="Arial Narrow" pitchFamily="34" charset="0"/>
              </a:rPr>
              <a:t>Lo has “key</a:t>
            </a:r>
            <a:r>
              <a:rPr lang="en-US" b="0" smtClean="0">
                <a:solidFill>
                  <a:schemeClr val="dk1"/>
                </a:solidFill>
                <a:latin typeface="Arial Narrow" pitchFamily="34" charset="0"/>
              </a:rPr>
              <a:t>” (non-zero if first to enter gate). </a:t>
            </a:r>
            <a:r>
              <a:rPr lang="en-US" b="0" smtClean="0">
                <a:solidFill>
                  <a:schemeClr val="dk1"/>
                </a:solidFill>
                <a:latin typeface="Arial Narrow" pitchFamily="34" charset="0"/>
              </a:rPr>
              <a:t>TSK Hi blocks at “enter”. When TSK Lo finishes access, TSK Hi can access shared resource.</a:t>
            </a:r>
            <a:endParaRPr lang="en-US" b="0" dirty="0" smtClean="0">
              <a:solidFill>
                <a:schemeClr val="dk1"/>
              </a:solidFill>
              <a:latin typeface="Arial Narrow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116185" y="796504"/>
            <a:ext cx="825867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dk1"/>
                </a:solidFill>
              </a:rPr>
              <a:t>leave</a:t>
            </a:r>
            <a:endParaRPr lang="en-US" sz="2000" b="0" dirty="0" smtClean="0">
              <a:solidFill>
                <a:schemeClr val="dk1"/>
              </a:solidFill>
              <a:effectLst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 flipV="1">
            <a:off x="4145594" y="1676400"/>
            <a:ext cx="1464228" cy="750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30355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>
            <a:normAutofit/>
          </a:bodyPr>
          <a:lstStyle/>
          <a:p>
            <a:r>
              <a:rPr lang="en-US" dirty="0" smtClean="0"/>
              <a:t>Priority Inversion</a:t>
            </a:r>
          </a:p>
        </p:txBody>
      </p:sp>
      <p:sp>
        <p:nvSpPr>
          <p:cNvPr id="48" name="Leading Question"/>
          <p:cNvSpPr txBox="1"/>
          <p:nvPr/>
        </p:nvSpPr>
        <p:spPr>
          <a:xfrm>
            <a:off x="4704735" y="6248400"/>
            <a:ext cx="4134465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smtClean="0">
                <a:solidFill>
                  <a:schemeClr val="tx2"/>
                </a:solidFill>
                <a:latin typeface="Arial Narrow"/>
              </a:rPr>
              <a:t>How could we use Task_setPri() to help us ?</a:t>
            </a:r>
            <a:endParaRPr lang="en-US" sz="2000" b="0" dirty="0" smtClean="0">
              <a:solidFill>
                <a:schemeClr val="tx2"/>
              </a:solidFill>
              <a:latin typeface="Arial Narrow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52400" y="4648200"/>
            <a:ext cx="8296502" cy="120032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TSK Lo enters </a:t>
            </a:r>
            <a:r>
              <a:rPr lang="en-US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critical section (using Semaphores or Gates)</a:t>
            </a:r>
            <a:endParaRPr lang="en-US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TSK Hi pre-empts, but blocks to let TSK Lo leave critical section</a:t>
            </a:r>
          </a:p>
          <a:p>
            <a:pPr marL="342900" indent="-342900"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TSK Med pre-empts TSK Lo </a:t>
            </a:r>
            <a:r>
              <a:rPr lang="en-US" b="0" i="1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and holds off TSK Hi indefinitely</a:t>
            </a:r>
            <a:endParaRPr lang="en-US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9" name="Rounded Rectangle 98"/>
          <p:cNvSpPr/>
          <p:nvPr/>
        </p:nvSpPr>
        <p:spPr bwMode="auto">
          <a:xfrm>
            <a:off x="144977" y="738008"/>
            <a:ext cx="8846623" cy="3757792"/>
          </a:xfrm>
          <a:prstGeom prst="round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sp>
        <p:nvSpPr>
          <p:cNvPr id="102" name="Down Arrow 101"/>
          <p:cNvSpPr/>
          <p:nvPr/>
        </p:nvSpPr>
        <p:spPr bwMode="auto">
          <a:xfrm>
            <a:off x="2440042" y="3474732"/>
            <a:ext cx="304800" cy="3048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201303" y="3075477"/>
            <a:ext cx="811441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dk1"/>
                </a:solidFill>
              </a:rPr>
              <a:t>enter</a:t>
            </a:r>
            <a:endParaRPr lang="en-US" sz="2000" b="0" dirty="0" smtClean="0">
              <a:solidFill>
                <a:schemeClr val="dk1"/>
              </a:solidFill>
              <a:effectLst/>
            </a:endParaRPr>
          </a:p>
        </p:txBody>
      </p:sp>
      <p:cxnSp>
        <p:nvCxnSpPr>
          <p:cNvPr id="105" name="Straight Connector 104"/>
          <p:cNvCxnSpPr/>
          <p:nvPr/>
        </p:nvCxnSpPr>
        <p:spPr bwMode="auto">
          <a:xfrm>
            <a:off x="4959270" y="2778269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06" name="Rounded Rectangle 105"/>
          <p:cNvSpPr/>
          <p:nvPr/>
        </p:nvSpPr>
        <p:spPr bwMode="auto">
          <a:xfrm>
            <a:off x="449777" y="2573976"/>
            <a:ext cx="1366071" cy="533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TSK </a:t>
            </a: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Med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Arial Narrow" pitchFamily="34" charset="0"/>
            </a:endParaRPr>
          </a:p>
        </p:txBody>
      </p:sp>
      <p:cxnSp>
        <p:nvCxnSpPr>
          <p:cNvPr id="111" name="Straight Connector 110"/>
          <p:cNvCxnSpPr/>
          <p:nvPr/>
        </p:nvCxnSpPr>
        <p:spPr bwMode="auto">
          <a:xfrm>
            <a:off x="3459337" y="1778094"/>
            <a:ext cx="1014531" cy="88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14" name="Down Arrow 113"/>
          <p:cNvSpPr/>
          <p:nvPr/>
        </p:nvSpPr>
        <p:spPr bwMode="auto">
          <a:xfrm>
            <a:off x="4337113" y="1245734"/>
            <a:ext cx="304800" cy="3048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181600" y="1374626"/>
            <a:ext cx="2980303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b="0" i="1" smtClean="0">
                <a:solidFill>
                  <a:schemeClr val="dk1"/>
                </a:solidFill>
                <a:effectLst/>
              </a:rPr>
              <a:t>Blocked for a LONG time…</a:t>
            </a:r>
            <a:endParaRPr lang="en-US" sz="1800" b="0" i="1" dirty="0" smtClean="0">
              <a:solidFill>
                <a:schemeClr val="dk1"/>
              </a:solidFill>
              <a:effectLst/>
            </a:endParaRPr>
          </a:p>
        </p:txBody>
      </p:sp>
      <p:sp>
        <p:nvSpPr>
          <p:cNvPr id="116" name="Rounded Rectangle 115"/>
          <p:cNvSpPr/>
          <p:nvPr/>
        </p:nvSpPr>
        <p:spPr bwMode="auto">
          <a:xfrm>
            <a:off x="672848" y="1456190"/>
            <a:ext cx="1143000" cy="533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TSK Hi</a:t>
            </a:r>
          </a:p>
        </p:txBody>
      </p:sp>
      <p:cxnSp>
        <p:nvCxnSpPr>
          <p:cNvPr id="117" name="Straight Connector 116"/>
          <p:cNvCxnSpPr/>
          <p:nvPr/>
        </p:nvCxnSpPr>
        <p:spPr bwMode="auto">
          <a:xfrm>
            <a:off x="4482848" y="1641248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19" name="Straight Connector 118"/>
          <p:cNvCxnSpPr/>
          <p:nvPr/>
        </p:nvCxnSpPr>
        <p:spPr bwMode="auto">
          <a:xfrm>
            <a:off x="4559048" y="1779410"/>
            <a:ext cx="3967928" cy="1995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21" name="Straight Connector 120"/>
          <p:cNvCxnSpPr/>
          <p:nvPr/>
        </p:nvCxnSpPr>
        <p:spPr bwMode="auto">
          <a:xfrm>
            <a:off x="1844876" y="2891680"/>
            <a:ext cx="3100701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29" name="Straight Connector 128"/>
          <p:cNvCxnSpPr/>
          <p:nvPr/>
        </p:nvCxnSpPr>
        <p:spPr bwMode="auto">
          <a:xfrm>
            <a:off x="3465150" y="3851674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32" name="TextBox 131"/>
          <p:cNvSpPr txBox="1"/>
          <p:nvPr/>
        </p:nvSpPr>
        <p:spPr>
          <a:xfrm>
            <a:off x="2613739" y="3638017"/>
            <a:ext cx="82266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i="1" smtClean="0">
                <a:solidFill>
                  <a:schemeClr val="dk1"/>
                </a:solidFill>
                <a:effectLst/>
              </a:rPr>
              <a:t>access</a:t>
            </a:r>
            <a:endParaRPr lang="en-US" sz="1600" b="0" i="1" dirty="0" smtClean="0">
              <a:solidFill>
                <a:schemeClr val="dk1"/>
              </a:solidFill>
              <a:effectLst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4090383" y="845624"/>
            <a:ext cx="811441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smtClean="0">
                <a:solidFill>
                  <a:schemeClr val="dk1"/>
                </a:solidFill>
              </a:rPr>
              <a:t>enter</a:t>
            </a:r>
            <a:endParaRPr lang="en-US" sz="2000" b="0" dirty="0" smtClean="0">
              <a:solidFill>
                <a:schemeClr val="dk1"/>
              </a:solidFill>
              <a:effectLst/>
            </a:endParaRPr>
          </a:p>
        </p:txBody>
      </p:sp>
      <p:cxnSp>
        <p:nvCxnSpPr>
          <p:cNvPr id="138" name="Straight Connector 137"/>
          <p:cNvCxnSpPr/>
          <p:nvPr/>
        </p:nvCxnSpPr>
        <p:spPr bwMode="auto">
          <a:xfrm>
            <a:off x="1867447" y="1789616"/>
            <a:ext cx="1683823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39" name="Straight Connector 138"/>
          <p:cNvCxnSpPr/>
          <p:nvPr/>
        </p:nvCxnSpPr>
        <p:spPr bwMode="auto">
          <a:xfrm>
            <a:off x="4489513" y="3980254"/>
            <a:ext cx="456064" cy="688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0" name="Straight Connector 139"/>
          <p:cNvCxnSpPr/>
          <p:nvPr/>
        </p:nvCxnSpPr>
        <p:spPr bwMode="auto">
          <a:xfrm>
            <a:off x="1844876" y="3977245"/>
            <a:ext cx="732972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141" name="Rounded Rectangle 140"/>
          <p:cNvSpPr/>
          <p:nvPr/>
        </p:nvSpPr>
        <p:spPr bwMode="auto">
          <a:xfrm>
            <a:off x="672848" y="3666425"/>
            <a:ext cx="1143000" cy="533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9144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rPr>
              <a:t>TSK Lo</a:t>
            </a:r>
          </a:p>
        </p:txBody>
      </p:sp>
      <p:cxnSp>
        <p:nvCxnSpPr>
          <p:cNvPr id="142" name="Straight Connector 141"/>
          <p:cNvCxnSpPr/>
          <p:nvPr/>
        </p:nvCxnSpPr>
        <p:spPr bwMode="auto">
          <a:xfrm>
            <a:off x="2610506" y="3974235"/>
            <a:ext cx="854644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3" name="Straight Connector 142"/>
          <p:cNvCxnSpPr/>
          <p:nvPr/>
        </p:nvCxnSpPr>
        <p:spPr bwMode="auto">
          <a:xfrm flipV="1">
            <a:off x="3468317" y="3983951"/>
            <a:ext cx="1065493" cy="17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4" name="Straight Connector 143"/>
          <p:cNvCxnSpPr/>
          <p:nvPr/>
        </p:nvCxnSpPr>
        <p:spPr bwMode="auto">
          <a:xfrm>
            <a:off x="2592442" y="3851674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5" name="Straight Connector 144"/>
          <p:cNvCxnSpPr/>
          <p:nvPr/>
        </p:nvCxnSpPr>
        <p:spPr bwMode="auto">
          <a:xfrm>
            <a:off x="4959270" y="2891680"/>
            <a:ext cx="3491507" cy="889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6" name="Straight Connector 145"/>
          <p:cNvCxnSpPr/>
          <p:nvPr/>
        </p:nvCxnSpPr>
        <p:spPr bwMode="auto">
          <a:xfrm flipV="1">
            <a:off x="4945577" y="3965974"/>
            <a:ext cx="3505200" cy="525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cxnSp>
        <p:nvCxnSpPr>
          <p:cNvPr id="147" name="Straight Connector 146"/>
          <p:cNvCxnSpPr/>
          <p:nvPr/>
        </p:nvCxnSpPr>
        <p:spPr bwMode="auto">
          <a:xfrm>
            <a:off x="4945577" y="3851674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8" name="Straight Connector 147"/>
          <p:cNvCxnSpPr/>
          <p:nvPr/>
        </p:nvCxnSpPr>
        <p:spPr bwMode="auto">
          <a:xfrm>
            <a:off x="4533810" y="3851674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9" name="Straight Connector 148"/>
          <p:cNvCxnSpPr/>
          <p:nvPr/>
        </p:nvCxnSpPr>
        <p:spPr bwMode="auto">
          <a:xfrm>
            <a:off x="3459337" y="1657043"/>
            <a:ext cx="0" cy="2286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4322631" y="3563586"/>
            <a:ext cx="822661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600" b="0" i="1" smtClean="0">
                <a:solidFill>
                  <a:schemeClr val="dk1"/>
                </a:solidFill>
                <a:effectLst/>
              </a:rPr>
              <a:t>access</a:t>
            </a:r>
            <a:endParaRPr lang="en-US" sz="1600" b="0" i="1" dirty="0" smtClean="0">
              <a:solidFill>
                <a:schemeClr val="dk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969060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>
            <a:normAutofit/>
          </a:bodyPr>
          <a:lstStyle/>
          <a:p>
            <a:r>
              <a:rPr lang="en-US" sz="3200" dirty="0" smtClean="0"/>
              <a:t>Temporarily Elevate Priority – </a:t>
            </a:r>
            <a:r>
              <a:rPr lang="en-US" sz="3200" dirty="0" err="1" smtClean="0"/>
              <a:t>Task_setPri</a:t>
            </a:r>
            <a:r>
              <a:rPr lang="en-US" sz="3200" dirty="0" smtClean="0"/>
              <a:t>() 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76214" y="4360783"/>
            <a:ext cx="7629012" cy="135421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TSK Lo can elevate its priority just before data access and then</a:t>
            </a:r>
            <a:br>
              <a:rPr lang="en-US" b="0" dirty="0" smtClean="0">
                <a:solidFill>
                  <a:schemeClr val="dk1"/>
                </a:solidFill>
                <a:effectLst/>
                <a:latin typeface="Arial Narrow" pitchFamily="34" charset="0"/>
              </a:rPr>
            </a:br>
            <a:r>
              <a:rPr lang="en-US" b="0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lower its priority just after data access using:</a:t>
            </a:r>
          </a:p>
          <a:p>
            <a:pPr marL="342900" indent="-342900">
              <a:spcAft>
                <a:spcPts val="12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u="sng" dirty="0" smtClean="0">
                <a:solidFill>
                  <a:schemeClr val="dk1"/>
                </a:solidFill>
                <a:latin typeface="Arial Narrow" pitchFamily="34" charset="0"/>
              </a:rPr>
              <a:t>Advantage</a:t>
            </a: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: no semaphore/</a:t>
            </a:r>
            <a:r>
              <a:rPr lang="en-US" b="0" dirty="0" err="1" smtClean="0">
                <a:solidFill>
                  <a:schemeClr val="dk1"/>
                </a:solidFill>
                <a:latin typeface="Arial Narrow" pitchFamily="34" charset="0"/>
              </a:rPr>
              <a:t>mutex</a:t>
            </a: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 required !!</a:t>
            </a:r>
          </a:p>
        </p:txBody>
      </p:sp>
      <p:sp>
        <p:nvSpPr>
          <p:cNvPr id="48" name="Leading Question"/>
          <p:cNvSpPr txBox="1"/>
          <p:nvPr/>
        </p:nvSpPr>
        <p:spPr>
          <a:xfrm>
            <a:off x="2614334" y="6306979"/>
            <a:ext cx="5907066" cy="246221"/>
          </a:xfrm>
          <a:prstGeom prst="rect">
            <a:avLst/>
          </a:prstGeom>
          <a:noFill/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dirty="0" err="1" smtClean="0">
                <a:solidFill>
                  <a:schemeClr val="tx2"/>
                </a:solidFill>
                <a:latin typeface="Arial Narrow"/>
              </a:rPr>
              <a:t>Mutex</a:t>
            </a:r>
            <a:r>
              <a:rPr lang="en-US" sz="2000" b="0" dirty="0" smtClean="0">
                <a:solidFill>
                  <a:schemeClr val="tx2"/>
                </a:solidFill>
                <a:latin typeface="Arial Narrow"/>
              </a:rPr>
              <a:t> Priority Gates can come in handy for situations like this…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10234" y="4796299"/>
            <a:ext cx="233910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 anchorCtr="0">
            <a:spAutoFit/>
          </a:bodyPr>
          <a:lstStyle/>
          <a:p>
            <a:r>
              <a:rPr lang="en-US" sz="20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Task_setPri</a:t>
            </a:r>
            <a:r>
              <a:rPr lang="en-US" sz="20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();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662043" y="705478"/>
            <a:ext cx="7823453" cy="3505200"/>
            <a:chOff x="329947" y="664534"/>
            <a:chExt cx="7823453" cy="3505200"/>
          </a:xfrm>
        </p:grpSpPr>
        <p:sp>
          <p:nvSpPr>
            <p:cNvPr id="31" name="Rounded Rectangle 30"/>
            <p:cNvSpPr/>
            <p:nvPr/>
          </p:nvSpPr>
          <p:spPr bwMode="auto">
            <a:xfrm>
              <a:off x="329947" y="664534"/>
              <a:ext cx="7823453" cy="3505200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2" name="Rounded Rectangle 31"/>
            <p:cNvSpPr/>
            <p:nvPr/>
          </p:nvSpPr>
          <p:spPr bwMode="auto">
            <a:xfrm>
              <a:off x="634747" y="1065031"/>
              <a:ext cx="1143000" cy="5334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9144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err="1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Hwi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 bwMode="auto">
            <a:xfrm>
              <a:off x="2557891" y="3716164"/>
              <a:ext cx="2242709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6" name="Down Arrow 35"/>
            <p:cNvSpPr/>
            <p:nvPr/>
          </p:nvSpPr>
          <p:spPr bwMode="auto">
            <a:xfrm>
              <a:off x="2409372" y="3215422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13367" y="2841682"/>
              <a:ext cx="2135521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dirty="0" smtClean="0">
                  <a:solidFill>
                    <a:schemeClr val="dk1"/>
                  </a:solidFill>
                  <a:effectLst/>
                </a:rPr>
                <a:t>Enter</a:t>
              </a:r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 - </a:t>
              </a:r>
              <a:r>
                <a:rPr lang="en-US" sz="2000" b="0" dirty="0" err="1" smtClean="0">
                  <a:solidFill>
                    <a:schemeClr val="dk1"/>
                  </a:solidFill>
                  <a:effectLst/>
                </a:rPr>
                <a:t>setPri</a:t>
              </a:r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(Hi)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73330" y="3325566"/>
              <a:ext cx="1415772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b="0" i="1" dirty="0" smtClean="0">
                  <a:solidFill>
                    <a:schemeClr val="dk1"/>
                  </a:solidFill>
                  <a:effectLst/>
                </a:rPr>
                <a:t>data access</a:t>
              </a:r>
            </a:p>
          </p:txBody>
        </p:sp>
        <p:sp>
          <p:nvSpPr>
            <p:cNvPr id="40" name="Rounded Rectangle 39"/>
            <p:cNvSpPr/>
            <p:nvPr/>
          </p:nvSpPr>
          <p:spPr bwMode="auto">
            <a:xfrm>
              <a:off x="634747" y="3411364"/>
              <a:ext cx="1143000" cy="53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9144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TSK Lo</a:t>
              </a:r>
            </a:p>
          </p:txBody>
        </p:sp>
        <p:cxnSp>
          <p:nvCxnSpPr>
            <p:cNvPr id="41" name="Straight Connector 40"/>
            <p:cNvCxnSpPr/>
            <p:nvPr/>
          </p:nvCxnSpPr>
          <p:spPr bwMode="auto">
            <a:xfrm>
              <a:off x="2557891" y="3596422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 bwMode="auto">
            <a:xfrm>
              <a:off x="3276600" y="2470782"/>
              <a:ext cx="152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3" name="TextBox 42"/>
            <p:cNvSpPr txBox="1"/>
            <p:nvPr/>
          </p:nvSpPr>
          <p:spPr>
            <a:xfrm>
              <a:off x="5055150" y="2094698"/>
              <a:ext cx="2685351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b="0" i="1" dirty="0" smtClean="0">
                  <a:solidFill>
                    <a:schemeClr val="dk1"/>
                  </a:solidFill>
                  <a:effectLst/>
                </a:rPr>
                <a:t>Running (data access) !!</a:t>
              </a:r>
            </a:p>
          </p:txBody>
        </p:sp>
        <p:sp>
          <p:nvSpPr>
            <p:cNvPr id="46" name="Rounded Rectangle 45"/>
            <p:cNvSpPr/>
            <p:nvPr/>
          </p:nvSpPr>
          <p:spPr bwMode="auto">
            <a:xfrm>
              <a:off x="634747" y="2165982"/>
              <a:ext cx="1143000" cy="53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9144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TSK Hi</a:t>
              </a:r>
            </a:p>
          </p:txBody>
        </p:sp>
        <p:cxnSp>
          <p:nvCxnSpPr>
            <p:cNvPr id="47" name="Straight Connector 46"/>
            <p:cNvCxnSpPr/>
            <p:nvPr/>
          </p:nvCxnSpPr>
          <p:spPr bwMode="auto">
            <a:xfrm>
              <a:off x="4800600" y="235104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9" name="TextBox 48"/>
            <p:cNvSpPr txBox="1"/>
            <p:nvPr/>
          </p:nvSpPr>
          <p:spPr>
            <a:xfrm>
              <a:off x="2961167" y="1734964"/>
              <a:ext cx="668773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INT!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 bwMode="auto">
            <a:xfrm>
              <a:off x="3251453" y="2083306"/>
              <a:ext cx="0" cy="3048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4876800" y="3716164"/>
              <a:ext cx="29718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4800600" y="358140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3" name="Down Arrow 52"/>
            <p:cNvSpPr/>
            <p:nvPr/>
          </p:nvSpPr>
          <p:spPr bwMode="auto">
            <a:xfrm>
              <a:off x="4648200" y="3215422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864934" y="2841682"/>
              <a:ext cx="1991251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dirty="0" smtClean="0">
                  <a:solidFill>
                    <a:schemeClr val="dk1"/>
                  </a:solidFill>
                  <a:effectLst/>
                </a:rPr>
                <a:t>Exit</a:t>
              </a:r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 - </a:t>
              </a:r>
              <a:r>
                <a:rPr lang="en-US" sz="2000" b="0" dirty="0" err="1" smtClean="0">
                  <a:solidFill>
                    <a:schemeClr val="dk1"/>
                  </a:solidFill>
                  <a:effectLst/>
                </a:rPr>
                <a:t>setPri</a:t>
              </a:r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(Lo)</a:t>
              </a:r>
            </a:p>
          </p:txBody>
        </p:sp>
        <p:cxnSp>
          <p:nvCxnSpPr>
            <p:cNvPr id="55" name="Straight Connector 54"/>
            <p:cNvCxnSpPr/>
            <p:nvPr/>
          </p:nvCxnSpPr>
          <p:spPr bwMode="auto">
            <a:xfrm>
              <a:off x="4800600" y="2470299"/>
              <a:ext cx="29718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6" name="TextBox 55"/>
            <p:cNvSpPr txBox="1"/>
            <p:nvPr/>
          </p:nvSpPr>
          <p:spPr>
            <a:xfrm>
              <a:off x="5569724" y="3325566"/>
              <a:ext cx="1364476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b="0" i="1" dirty="0" smtClean="0">
                  <a:solidFill>
                    <a:schemeClr val="dk1"/>
                  </a:solidFill>
                  <a:effectLst/>
                </a:rPr>
                <a:t>pre-empted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644285" y="2094698"/>
              <a:ext cx="851515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800" b="0" i="1" dirty="0" smtClean="0">
                  <a:solidFill>
                    <a:schemeClr val="dk1"/>
                  </a:solidFill>
                  <a:effectLst/>
                </a:rPr>
                <a:t>Ready</a:t>
              </a:r>
            </a:p>
          </p:txBody>
        </p:sp>
        <p:cxnSp>
          <p:nvCxnSpPr>
            <p:cNvPr id="62" name="Straight Connector 61"/>
            <p:cNvCxnSpPr/>
            <p:nvPr/>
          </p:nvCxnSpPr>
          <p:spPr bwMode="auto">
            <a:xfrm>
              <a:off x="1873304" y="3716164"/>
              <a:ext cx="688468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9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2914619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Globals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20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69877" y="332306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Modify Scheduler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21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69877" y="3731515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MUTEXs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5">
            <a:hlinkClick r:id="rId22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74000" y="4139963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Priority Mutex Gates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Box 6">
            <a:hlinkClick r:id="rId23" action="ppaction://hlinksldjump"/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69877" y="4654611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Deadlock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Box 4">
            <a:hlinkClick r:id="rId24" action="ppaction://hlinksldjump"/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1576" y="507041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9" name="Text Box 4">
            <a:hlinkClick r:id="rId25" action="ppaction://hlinksldjump"/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01576" y="557406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485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>
          <a:xfrm>
            <a:off x="0" y="-31898"/>
            <a:ext cx="9144000" cy="742950"/>
          </a:xfrm>
        </p:spPr>
        <p:txBody>
          <a:bodyPr wrap="none" anchorCtr="1">
            <a:normAutofit/>
          </a:bodyPr>
          <a:lstStyle/>
          <a:p>
            <a:r>
              <a:rPr lang="en-US" sz="3200" smtClean="0"/>
              <a:t>Priority Mutex </a:t>
            </a:r>
            <a:r>
              <a:rPr lang="en-US" sz="3200" dirty="0" smtClean="0"/>
              <a:t>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3406359"/>
            <a:ext cx="6561861" cy="49334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smtClean="0">
                <a:solidFill>
                  <a:schemeClr val="dk1"/>
                </a:solidFill>
                <a:latin typeface="Arial Narrow" pitchFamily="34" charset="0"/>
              </a:rPr>
              <a:t>Use </a:t>
            </a: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the following code in BOTH (TSK Hi and TSK Lo)</a:t>
            </a:r>
          </a:p>
        </p:txBody>
      </p:sp>
      <p:grpSp>
        <p:nvGrpSpPr>
          <p:cNvPr id="69" name="Group 68"/>
          <p:cNvGrpSpPr/>
          <p:nvPr/>
        </p:nvGrpSpPr>
        <p:grpSpPr>
          <a:xfrm>
            <a:off x="304800" y="535169"/>
            <a:ext cx="8509253" cy="2721934"/>
            <a:chOff x="329947" y="1447800"/>
            <a:chExt cx="8509253" cy="2721934"/>
          </a:xfrm>
        </p:grpSpPr>
        <p:sp>
          <p:nvSpPr>
            <p:cNvPr id="8" name="Rounded Rectangle 7"/>
            <p:cNvSpPr/>
            <p:nvPr/>
          </p:nvSpPr>
          <p:spPr bwMode="auto">
            <a:xfrm>
              <a:off x="329947" y="1447800"/>
              <a:ext cx="8509253" cy="2721934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>
              <a:off x="1806775" y="3722988"/>
              <a:ext cx="1469825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1" name="Down Arrow 10"/>
            <p:cNvSpPr/>
            <p:nvPr/>
          </p:nvSpPr>
          <p:spPr bwMode="auto">
            <a:xfrm>
              <a:off x="2286166" y="3215422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046767" y="2841682"/>
              <a:ext cx="768159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enter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457335" y="3397135"/>
              <a:ext cx="8226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smtClean="0">
                  <a:solidFill>
                    <a:schemeClr val="dk1"/>
                  </a:solidFill>
                  <a:effectLst/>
                </a:rPr>
                <a:t>access</a:t>
              </a:r>
              <a:endParaRPr lang="en-US" sz="1600" b="0" i="1" dirty="0" smtClean="0">
                <a:solidFill>
                  <a:schemeClr val="dk1"/>
                </a:solidFill>
                <a:effectLst/>
              </a:endParaRPr>
            </a:p>
          </p:txBody>
        </p:sp>
        <p:sp>
          <p:nvSpPr>
            <p:cNvPr id="14" name="Rounded Rectangle 13"/>
            <p:cNvSpPr/>
            <p:nvPr/>
          </p:nvSpPr>
          <p:spPr bwMode="auto">
            <a:xfrm>
              <a:off x="634747" y="3411364"/>
              <a:ext cx="1143000" cy="53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9144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TSK Lo</a:t>
              </a:r>
            </a:p>
          </p:txBody>
        </p:sp>
        <p:cxnSp>
          <p:nvCxnSpPr>
            <p:cNvPr id="15" name="Straight Connector 14"/>
            <p:cNvCxnSpPr/>
            <p:nvPr/>
          </p:nvCxnSpPr>
          <p:spPr bwMode="auto">
            <a:xfrm>
              <a:off x="2434685" y="3596422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17" name="TextBox 16"/>
            <p:cNvSpPr txBox="1"/>
            <p:nvPr/>
          </p:nvSpPr>
          <p:spPr>
            <a:xfrm>
              <a:off x="5052639" y="2110087"/>
              <a:ext cx="6623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dirty="0" smtClean="0">
                  <a:solidFill>
                    <a:schemeClr val="dk1"/>
                  </a:solidFill>
                  <a:effectLst/>
                </a:rPr>
                <a:t>block</a:t>
              </a:r>
            </a:p>
          </p:txBody>
        </p:sp>
        <p:sp>
          <p:nvSpPr>
            <p:cNvPr id="18" name="Rounded Rectangle 17"/>
            <p:cNvSpPr/>
            <p:nvPr/>
          </p:nvSpPr>
          <p:spPr bwMode="auto">
            <a:xfrm>
              <a:off x="634747" y="2165982"/>
              <a:ext cx="1143000" cy="533400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9144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TSK Hi</a:t>
              </a:r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>
              <a:off x="4650312" y="235104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0" name="TextBox 19"/>
            <p:cNvSpPr txBox="1"/>
            <p:nvPr/>
          </p:nvSpPr>
          <p:spPr>
            <a:xfrm>
              <a:off x="2969330" y="1600200"/>
              <a:ext cx="668773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INT!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 bwMode="auto">
            <a:xfrm>
              <a:off x="3259616" y="1948542"/>
              <a:ext cx="0" cy="3048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6553200" y="3716164"/>
              <a:ext cx="166753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4648200" y="358140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4" name="Down Arrow 23"/>
            <p:cNvSpPr/>
            <p:nvPr/>
          </p:nvSpPr>
          <p:spPr bwMode="auto">
            <a:xfrm>
              <a:off x="6384174" y="3193140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46216" y="2819400"/>
              <a:ext cx="798617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leave</a:t>
              </a:r>
            </a:p>
          </p:txBody>
        </p:sp>
        <p:cxnSp>
          <p:nvCxnSpPr>
            <p:cNvPr id="26" name="Straight Connector 25"/>
            <p:cNvCxnSpPr/>
            <p:nvPr/>
          </p:nvCxnSpPr>
          <p:spPr bwMode="auto">
            <a:xfrm>
              <a:off x="3276600" y="2470299"/>
              <a:ext cx="13716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3358633" y="3374066"/>
              <a:ext cx="1234633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dirty="0" smtClean="0">
                  <a:solidFill>
                    <a:schemeClr val="dk1"/>
                  </a:solidFill>
                  <a:effectLst/>
                </a:rPr>
                <a:t>pre-empted</a:t>
              </a:r>
            </a:p>
          </p:txBody>
        </p:sp>
        <p:sp>
          <p:nvSpPr>
            <p:cNvPr id="33" name="Down Arrow 32"/>
            <p:cNvSpPr/>
            <p:nvPr/>
          </p:nvSpPr>
          <p:spPr bwMode="auto">
            <a:xfrm>
              <a:off x="4475964" y="1973940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38006" y="1600200"/>
              <a:ext cx="768159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enter</a:t>
              </a:r>
            </a:p>
          </p:txBody>
        </p:sp>
        <p:cxnSp>
          <p:nvCxnSpPr>
            <p:cNvPr id="37" name="Straight Connector 36"/>
            <p:cNvCxnSpPr/>
            <p:nvPr/>
          </p:nvCxnSpPr>
          <p:spPr bwMode="auto">
            <a:xfrm>
              <a:off x="3276600" y="235104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3276600" y="358140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1" name="Straight Connector 40"/>
            <p:cNvCxnSpPr/>
            <p:nvPr/>
          </p:nvCxnSpPr>
          <p:spPr bwMode="auto">
            <a:xfrm>
              <a:off x="3276600" y="3716164"/>
              <a:ext cx="13716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 flipV="1">
              <a:off x="6553200" y="2448641"/>
              <a:ext cx="1667536" cy="21658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6" name="Straight Connector 45"/>
            <p:cNvCxnSpPr/>
            <p:nvPr/>
          </p:nvCxnSpPr>
          <p:spPr bwMode="auto">
            <a:xfrm>
              <a:off x="4648200" y="3716164"/>
              <a:ext cx="1905000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8" name="TextBox 47"/>
            <p:cNvSpPr txBox="1"/>
            <p:nvPr/>
          </p:nvSpPr>
          <p:spPr>
            <a:xfrm>
              <a:off x="4965561" y="3014332"/>
              <a:ext cx="1130439" cy="58477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1600" b="0" i="1" dirty="0" smtClean="0">
                  <a:solidFill>
                    <a:schemeClr val="dk1"/>
                  </a:solidFill>
                </a:rPr>
                <a:t>Lo inherits</a:t>
              </a:r>
            </a:p>
            <a:p>
              <a:pPr algn="ctr"/>
              <a:r>
                <a:rPr lang="en-US" sz="1600" b="0" i="1" dirty="0" smtClean="0">
                  <a:solidFill>
                    <a:schemeClr val="dk1"/>
                  </a:solidFill>
                  <a:effectLst/>
                </a:rPr>
                <a:t>Hi’s </a:t>
              </a:r>
              <a:r>
                <a:rPr lang="en-US" sz="1600" b="0" i="1" dirty="0" err="1" smtClean="0">
                  <a:solidFill>
                    <a:schemeClr val="dk1"/>
                  </a:solidFill>
                  <a:effectLst/>
                </a:rPr>
                <a:t>Pri</a:t>
              </a:r>
              <a:endParaRPr lang="en-US" sz="1600" b="0" i="1" dirty="0" smtClean="0">
                <a:solidFill>
                  <a:schemeClr val="dk1"/>
                </a:solidFill>
                <a:effectLst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4648200" y="2470299"/>
              <a:ext cx="1905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1" name="TextBox 50"/>
            <p:cNvSpPr txBox="1"/>
            <p:nvPr/>
          </p:nvSpPr>
          <p:spPr>
            <a:xfrm>
              <a:off x="3733800" y="2137383"/>
              <a:ext cx="481222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dirty="0" smtClean="0">
                  <a:solidFill>
                    <a:schemeClr val="dk1"/>
                  </a:solidFill>
                  <a:effectLst/>
                </a:rPr>
                <a:t>run</a:t>
              </a:r>
            </a:p>
          </p:txBody>
        </p:sp>
        <p:cxnSp>
          <p:nvCxnSpPr>
            <p:cNvPr id="55" name="Straight Connector 54"/>
            <p:cNvCxnSpPr/>
            <p:nvPr/>
          </p:nvCxnSpPr>
          <p:spPr bwMode="auto">
            <a:xfrm>
              <a:off x="6553200" y="235104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6553200" y="358140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64" name="TextBox 63"/>
            <p:cNvSpPr txBox="1"/>
            <p:nvPr/>
          </p:nvSpPr>
          <p:spPr>
            <a:xfrm>
              <a:off x="6881035" y="3374066"/>
              <a:ext cx="1234633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dirty="0" smtClean="0">
                  <a:solidFill>
                    <a:schemeClr val="dk1"/>
                  </a:solidFill>
                  <a:effectLst/>
                </a:rPr>
                <a:t>pre-empted</a:t>
              </a:r>
            </a:p>
          </p:txBody>
        </p:sp>
        <p:sp>
          <p:nvSpPr>
            <p:cNvPr id="66" name="Down Arrow 65"/>
            <p:cNvSpPr/>
            <p:nvPr/>
          </p:nvSpPr>
          <p:spPr bwMode="auto">
            <a:xfrm>
              <a:off x="8056428" y="1973940"/>
              <a:ext cx="304800" cy="304800"/>
            </a:xfrm>
            <a:prstGeom prst="downArrow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818470" y="1600200"/>
              <a:ext cx="798617" cy="400110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000" b="0" dirty="0" smtClean="0">
                  <a:solidFill>
                    <a:schemeClr val="dk1"/>
                  </a:solidFill>
                  <a:effectLst/>
                </a:rPr>
                <a:t>leave</a:t>
              </a:r>
            </a:p>
          </p:txBody>
        </p:sp>
        <p:cxnSp>
          <p:nvCxnSpPr>
            <p:cNvPr id="68" name="Straight Connector 67"/>
            <p:cNvCxnSpPr/>
            <p:nvPr/>
          </p:nvCxnSpPr>
          <p:spPr bwMode="auto">
            <a:xfrm>
              <a:off x="8220736" y="2351040"/>
              <a:ext cx="0" cy="2286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5173763" y="3669208"/>
              <a:ext cx="8226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smtClean="0">
                  <a:solidFill>
                    <a:schemeClr val="dk1"/>
                  </a:solidFill>
                  <a:effectLst/>
                </a:rPr>
                <a:t>access</a:t>
              </a:r>
              <a:endParaRPr lang="en-US" sz="1600" b="0" i="1" dirty="0" smtClean="0">
                <a:solidFill>
                  <a:schemeClr val="dk1"/>
                </a:solidFill>
                <a:effectLst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29859" y="2131831"/>
              <a:ext cx="822661" cy="338554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1600" b="0" i="1" smtClean="0">
                  <a:solidFill>
                    <a:schemeClr val="dk1"/>
                  </a:solidFill>
                  <a:effectLst/>
                </a:rPr>
                <a:t>access</a:t>
              </a:r>
              <a:endParaRPr lang="en-US" sz="1600" b="0" i="1" dirty="0" smtClean="0">
                <a:solidFill>
                  <a:schemeClr val="dk1"/>
                </a:solidFill>
                <a:effectLst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 bwMode="auto">
            <a:xfrm>
              <a:off x="2438566" y="3716164"/>
              <a:ext cx="838034" cy="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2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72" name="TextBox 71"/>
          <p:cNvSpPr txBox="1"/>
          <p:nvPr/>
        </p:nvSpPr>
        <p:spPr>
          <a:xfrm>
            <a:off x="662765" y="3899336"/>
            <a:ext cx="8024035" cy="10895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gateKey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GateMutexPri_enter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gateMutexPri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);</a:t>
            </a:r>
            <a:r>
              <a:rPr lang="en-US" sz="18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  // enter Gate</a:t>
            </a:r>
          </a:p>
          <a:p>
            <a:pPr>
              <a:lnSpc>
                <a:spcPct val="120000"/>
              </a:lnSpc>
            </a:pPr>
            <a:r>
              <a:rPr lang="en-US" sz="18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cnt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 += 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1800" dirty="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                                                 	            	            </a:t>
            </a:r>
            <a:r>
              <a:rPr lang="en-US" sz="1800" b="0" dirty="0" smtClean="0">
                <a:solidFill>
                  <a:schemeClr val="dk1"/>
                </a:solidFill>
                <a:effectLst/>
                <a:latin typeface="Arial Narrow" pitchFamily="34" charset="0"/>
                <a:cs typeface="Courier New" pitchFamily="49" charset="0"/>
              </a:rPr>
              <a:t>// protected access</a:t>
            </a:r>
          </a:p>
          <a:p>
            <a:pPr>
              <a:lnSpc>
                <a:spcPct val="120000"/>
              </a:lnSpc>
            </a:pP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GateMutexPri_leave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gateMutexPri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800" dirty="0" err="1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gateKey</a:t>
            </a:r>
            <a:r>
              <a:rPr lang="en-US" sz="1800" dirty="0" smtClean="0">
                <a:solidFill>
                  <a:schemeClr val="dk1"/>
                </a:solidFill>
                <a:latin typeface="Courier New" pitchFamily="49" charset="0"/>
                <a:cs typeface="Courier New" pitchFamily="49" charset="0"/>
              </a:rPr>
              <a:t>);</a:t>
            </a:r>
            <a:r>
              <a:rPr lang="en-US" sz="1800" b="0" dirty="0" smtClean="0">
                <a:solidFill>
                  <a:schemeClr val="dk1"/>
                </a:solidFill>
                <a:latin typeface="Arial Narrow" pitchFamily="34" charset="0"/>
                <a:cs typeface="Courier New" pitchFamily="49" charset="0"/>
              </a:rPr>
              <a:t>       // exit Gate</a:t>
            </a:r>
            <a:endParaRPr lang="en-US" sz="1800" b="0" dirty="0" smtClean="0">
              <a:solidFill>
                <a:schemeClr val="dk1"/>
              </a:solidFill>
              <a:effectLst/>
              <a:latin typeface="Arial Narrow" pitchFamily="34" charset="0"/>
              <a:cs typeface="Courier New" pitchFamily="49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52400" y="5068047"/>
            <a:ext cx="8991600" cy="124341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TSK Lo inherits priority of TSK Hi if TSK Hi requests resource access (</a:t>
            </a:r>
            <a:r>
              <a:rPr lang="en-US" b="0" smtClean="0">
                <a:solidFill>
                  <a:schemeClr val="dk1"/>
                </a:solidFill>
                <a:latin typeface="Arial Narrow" pitchFamily="34" charset="0"/>
              </a:rPr>
              <a:t>enter) and then returns to original Pri after “leave”.</a:t>
            </a:r>
            <a:endParaRPr lang="en-US" b="0" dirty="0" smtClean="0">
              <a:solidFill>
                <a:schemeClr val="dk1"/>
              </a:solidFill>
              <a:latin typeface="Arial Narrow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u="sng" dirty="0" smtClean="0">
                <a:solidFill>
                  <a:schemeClr val="dk1"/>
                </a:solidFill>
                <a:latin typeface="Arial Narrow" pitchFamily="34" charset="0"/>
              </a:rPr>
              <a:t>Advantages</a:t>
            </a: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: simple to code, does automatic </a:t>
            </a:r>
            <a:r>
              <a:rPr lang="en-US" b="0" dirty="0" err="1" smtClean="0">
                <a:solidFill>
                  <a:schemeClr val="dk1"/>
                </a:solidFill>
                <a:latin typeface="Arial Narrow" pitchFamily="34" charset="0"/>
              </a:rPr>
              <a:t>Task_setPri</a:t>
            </a:r>
            <a:r>
              <a:rPr lang="en-US" b="0" dirty="0" smtClean="0">
                <a:solidFill>
                  <a:schemeClr val="dk1"/>
                </a:solidFill>
                <a:latin typeface="Arial Narrow" pitchFamily="34" charset="0"/>
              </a:rPr>
              <a:t>() of TSK Lo</a:t>
            </a:r>
          </a:p>
        </p:txBody>
      </p:sp>
      <p:sp>
        <p:nvSpPr>
          <p:cNvPr id="2" name="Leading Question"/>
          <p:cNvSpPr txBox="1"/>
          <p:nvPr/>
        </p:nvSpPr>
        <p:spPr>
          <a:xfrm>
            <a:off x="7769161" y="6459379"/>
            <a:ext cx="1051570" cy="24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000" b="0" smtClean="0">
                <a:solidFill>
                  <a:schemeClr val="tx2"/>
                </a:solidFill>
                <a:effectLst/>
                <a:latin typeface="Arial Narrow"/>
              </a:rPr>
              <a:t>Deadlock...</a:t>
            </a:r>
            <a:endParaRPr lang="en-US" sz="2000" b="0" dirty="0" smtClean="0">
              <a:solidFill>
                <a:schemeClr val="tx2"/>
              </a:solidFill>
              <a:effectLst/>
              <a:latin typeface="Arial Narrow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6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7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8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6">
            <a:hlinkClick r:id="rId19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69877" y="2914619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Globals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Text Box 6">
            <a:hlinkClick r:id="rId20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69877" y="332306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Modify Scheduler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Text Box 6">
            <a:hlinkClick r:id="rId21" action="ppaction://hlinksldjump"/>
          </p:cNvPr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69877" y="3731515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MUTEXs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6" name="Text Box 6">
            <a:hlinkClick r:id="rId22" action="ppaction://hlinksldjump"/>
          </p:cNvPr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69877" y="4139963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Using Priority Mutex Gates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7" name="Text Box 5">
            <a:hlinkClick r:id="rId23" action="ppaction://hlinksldjump"/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4000" y="4548411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mtClean="0">
                <a:solidFill>
                  <a:srgbClr val="000000"/>
                </a:solidFill>
              </a:rPr>
              <a:t>Deadlock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8" name="Text Box 4">
            <a:hlinkClick r:id="rId24" action="ppaction://hlinksldjump"/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1576" y="507041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9" name="Text Box 4">
            <a:hlinkClick r:id="rId25" action="ppaction://hlinksldjump"/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01576" y="557406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9006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>
            <a:normAutofit/>
          </a:bodyPr>
          <a:lstStyle/>
          <a:p>
            <a:r>
              <a:rPr lang="en-US" dirty="0" smtClean="0"/>
              <a:t>How DEADLOCK Can Occur…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455" y="4140200"/>
            <a:ext cx="2667000" cy="20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defTabSz="463550" eaLnBrk="0" hangingPunct="0">
              <a:defRPr/>
            </a:pPr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Sem_pend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(res_1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463550" eaLnBrk="0" hangingPunct="0">
              <a:defRPr/>
            </a:pPr>
            <a:r>
              <a:rPr lang="en-US" sz="1800" b="0" i="1" dirty="0">
                <a:solidFill>
                  <a:srgbClr val="000000"/>
                </a:solidFill>
                <a:latin typeface="Courier New" pitchFamily="49" charset="0"/>
              </a:rPr>
              <a:t>//  use resource1</a:t>
            </a:r>
          </a:p>
          <a:p>
            <a:pPr defTabSz="463550" eaLnBrk="0" hangingPunct="0">
              <a:defRPr/>
            </a:pPr>
            <a:r>
              <a:rPr lang="en-US" sz="1800" b="0" i="1" dirty="0">
                <a:solidFill>
                  <a:srgbClr val="000000"/>
                </a:solidFill>
                <a:latin typeface="Courier New" pitchFamily="49" charset="0"/>
              </a:rPr>
              <a:t>	 </a:t>
            </a:r>
            <a:r>
              <a:rPr lang="en-US" sz="1800" dirty="0">
                <a:solidFill>
                  <a:srgbClr val="FF0000"/>
                </a:solidFill>
                <a:latin typeface="Arial Narrow" pitchFamily="34" charset="0"/>
              </a:rPr>
              <a:t>STUCK ?</a:t>
            </a:r>
          </a:p>
          <a:p>
            <a:pPr defTabSz="463550" eaLnBrk="0" hangingPunct="0">
              <a:defRPr/>
            </a:pPr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Sem_pend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(res_2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463550" eaLnBrk="0" hangingPunct="0">
              <a:defRPr/>
            </a:pPr>
            <a:r>
              <a:rPr lang="en-US" sz="1800" b="0" i="1" dirty="0">
                <a:solidFill>
                  <a:srgbClr val="000000"/>
                </a:solidFill>
                <a:latin typeface="Courier New" pitchFamily="49" charset="0"/>
              </a:rPr>
              <a:t>//  use resource2</a:t>
            </a:r>
          </a:p>
          <a:p>
            <a:pPr defTabSz="463550" eaLnBrk="0" hangingPunct="0">
              <a:defRPr/>
            </a:pPr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Sem_post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(res_1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463550" eaLnBrk="0" hangingPunct="0">
              <a:defRPr/>
            </a:pPr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Sem_post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(res_2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28679" name="Rectangle 34"/>
          <p:cNvSpPr>
            <a:spLocks noChangeArrowheads="1"/>
          </p:cNvSpPr>
          <p:nvPr/>
        </p:nvSpPr>
        <p:spPr bwMode="auto">
          <a:xfrm>
            <a:off x="3332255" y="4140200"/>
            <a:ext cx="2667000" cy="203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463550" eaLnBrk="0" hangingPunct="0"/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Sem_pend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(res_2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463550" eaLnBrk="0" hangingPunct="0"/>
            <a:r>
              <a:rPr lang="en-US" sz="1800" b="0" i="1" dirty="0">
                <a:solidFill>
                  <a:srgbClr val="000000"/>
                </a:solidFill>
                <a:latin typeface="Courier New" pitchFamily="49" charset="0"/>
              </a:rPr>
              <a:t>//  </a:t>
            </a:r>
            <a:r>
              <a:rPr lang="en-US" sz="1800" b="0" i="1">
                <a:solidFill>
                  <a:srgbClr val="000000"/>
                </a:solidFill>
                <a:latin typeface="Courier New" pitchFamily="49" charset="0"/>
              </a:rPr>
              <a:t>use </a:t>
            </a:r>
            <a:r>
              <a:rPr lang="en-US" sz="1800" b="0" i="1" smtClean="0">
                <a:solidFill>
                  <a:srgbClr val="000000"/>
                </a:solidFill>
                <a:latin typeface="Courier New" pitchFamily="49" charset="0"/>
              </a:rPr>
              <a:t>resource2</a:t>
            </a:r>
            <a:endParaRPr lang="en-US" sz="1800" b="0" i="1" dirty="0">
              <a:solidFill>
                <a:srgbClr val="000000"/>
              </a:solidFill>
              <a:latin typeface="Courier New" pitchFamily="49" charset="0"/>
            </a:endParaRPr>
          </a:p>
          <a:p>
            <a:pPr defTabSz="463550" eaLnBrk="0" hangingPunct="0"/>
            <a:r>
              <a:rPr lang="en-US" sz="1800" b="0" i="1" dirty="0">
                <a:solidFill>
                  <a:srgbClr val="000000"/>
                </a:solidFill>
                <a:latin typeface="Courier New" pitchFamily="49" charset="0"/>
              </a:rPr>
              <a:t>	 </a:t>
            </a:r>
            <a:r>
              <a:rPr lang="en-US" sz="1800" dirty="0">
                <a:solidFill>
                  <a:srgbClr val="FF0000"/>
                </a:solidFill>
                <a:latin typeface="Arial Narrow" pitchFamily="34" charset="0"/>
              </a:rPr>
              <a:t>STUCK ?</a:t>
            </a:r>
          </a:p>
          <a:p>
            <a:pPr defTabSz="463550" eaLnBrk="0" hangingPunct="0"/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Sem_pend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(res_1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463550" eaLnBrk="0" hangingPunct="0"/>
            <a:r>
              <a:rPr lang="en-US" sz="1800" b="0" i="1" dirty="0">
                <a:solidFill>
                  <a:srgbClr val="000000"/>
                </a:solidFill>
                <a:latin typeface="Courier New" pitchFamily="49" charset="0"/>
              </a:rPr>
              <a:t>//  </a:t>
            </a:r>
            <a:r>
              <a:rPr lang="en-US" sz="1800" b="0" i="1">
                <a:solidFill>
                  <a:srgbClr val="000000"/>
                </a:solidFill>
                <a:latin typeface="Courier New" pitchFamily="49" charset="0"/>
              </a:rPr>
              <a:t>use </a:t>
            </a:r>
            <a:r>
              <a:rPr lang="en-US" sz="1800" b="0" i="1" smtClean="0">
                <a:solidFill>
                  <a:srgbClr val="000000"/>
                </a:solidFill>
                <a:latin typeface="Courier New" pitchFamily="49" charset="0"/>
              </a:rPr>
              <a:t>resource1</a:t>
            </a:r>
            <a:endParaRPr lang="en-US" sz="1800" b="0" i="1" dirty="0">
              <a:solidFill>
                <a:srgbClr val="000000"/>
              </a:solidFill>
              <a:latin typeface="Courier New" pitchFamily="49" charset="0"/>
            </a:endParaRPr>
          </a:p>
          <a:p>
            <a:pPr defTabSz="463550" eaLnBrk="0" hangingPunct="0"/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Sem_post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(res_2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  <a:p>
            <a:pPr defTabSz="463550" eaLnBrk="0" hangingPunct="0"/>
            <a:r>
              <a:rPr lang="en-US" sz="1800" dirty="0" err="1" smtClean="0">
                <a:solidFill>
                  <a:srgbClr val="000000"/>
                </a:solidFill>
                <a:latin typeface="Courier New" pitchFamily="49" charset="0"/>
              </a:rPr>
              <a:t>Sem_post</a:t>
            </a:r>
            <a:r>
              <a:rPr lang="en-US" sz="1800" dirty="0" smtClean="0">
                <a:solidFill>
                  <a:srgbClr val="000000"/>
                </a:solidFill>
                <a:latin typeface="Courier New" pitchFamily="49" charset="0"/>
              </a:rPr>
              <a:t>(res_1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28680" name="TextBox 35"/>
          <p:cNvSpPr txBox="1">
            <a:spLocks noChangeArrowheads="1"/>
          </p:cNvSpPr>
          <p:nvPr/>
        </p:nvSpPr>
        <p:spPr bwMode="auto">
          <a:xfrm>
            <a:off x="1103405" y="3829050"/>
            <a:ext cx="1090555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b="0" dirty="0" smtClean="0">
                <a:solidFill>
                  <a:srgbClr val="FF0000"/>
                </a:solidFill>
              </a:rPr>
              <a:t>Task </a:t>
            </a:r>
            <a:r>
              <a:rPr lang="en-US" b="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8681" name="TextBox 36"/>
          <p:cNvSpPr txBox="1">
            <a:spLocks noChangeArrowheads="1"/>
          </p:cNvSpPr>
          <p:nvPr/>
        </p:nvSpPr>
        <p:spPr bwMode="auto">
          <a:xfrm>
            <a:off x="4094255" y="3829050"/>
            <a:ext cx="1107547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b="0" dirty="0" smtClean="0">
                <a:solidFill>
                  <a:srgbClr val="FF0000"/>
                </a:solidFill>
              </a:rPr>
              <a:t>Task </a:t>
            </a:r>
            <a:r>
              <a:rPr lang="en-US" b="0" dirty="0">
                <a:solidFill>
                  <a:srgbClr val="FF0000"/>
                </a:solidFill>
              </a:rPr>
              <a:t>B</a:t>
            </a:r>
          </a:p>
        </p:txBody>
      </p:sp>
      <p:cxnSp>
        <p:nvCxnSpPr>
          <p:cNvPr id="28682" name="Straight Arrow Connector 38"/>
          <p:cNvCxnSpPr>
            <a:cxnSpLocks noChangeShapeType="1"/>
          </p:cNvCxnSpPr>
          <p:nvPr/>
        </p:nvCxnSpPr>
        <p:spPr bwMode="auto">
          <a:xfrm>
            <a:off x="2036855" y="4876800"/>
            <a:ext cx="1752600" cy="1588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 type="arrow" w="med" len="med"/>
            <a:tailEnd type="arrow" w="med" len="med"/>
          </a:ln>
        </p:spPr>
      </p:cxnSp>
      <p:sp>
        <p:nvSpPr>
          <p:cNvPr id="28685" name="TextBox 26"/>
          <p:cNvSpPr txBox="1">
            <a:spLocks noChangeArrowheads="1"/>
          </p:cNvSpPr>
          <p:nvPr/>
        </p:nvSpPr>
        <p:spPr bwMode="auto">
          <a:xfrm>
            <a:off x="6227855" y="3831266"/>
            <a:ext cx="153760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b="0" u="sng" dirty="0"/>
              <a:t>Solutions: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6238488" y="4224668"/>
            <a:ext cx="275311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2333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dirty="0">
                <a:latin typeface="Arial Narrow" pitchFamily="34" charset="0"/>
                <a:cs typeface="Arial" charset="0"/>
              </a:rPr>
              <a:t>Use timeouts on _</a:t>
            </a:r>
            <a:r>
              <a:rPr lang="en-US" sz="2000" b="0" dirty="0" err="1">
                <a:latin typeface="Arial Narrow" pitchFamily="34" charset="0"/>
                <a:cs typeface="Arial" charset="0"/>
              </a:rPr>
              <a:t>pend</a:t>
            </a:r>
            <a:endParaRPr lang="en-US" sz="2000" b="0" dirty="0">
              <a:latin typeface="Arial Narrow" pitchFamily="34" charset="0"/>
              <a:cs typeface="Arial" charset="0"/>
            </a:endParaRPr>
          </a:p>
          <a:p>
            <a:pPr indent="2333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smtClean="0">
                <a:latin typeface="Arial Narrow" pitchFamily="34" charset="0"/>
                <a:cs typeface="Arial" charset="0"/>
              </a:rPr>
              <a:t>Use same ordering in </a:t>
            </a:r>
            <a:br>
              <a:rPr lang="en-US" sz="2000" b="0" smtClean="0">
                <a:latin typeface="Arial Narrow" pitchFamily="34" charset="0"/>
                <a:cs typeface="Arial" charset="0"/>
              </a:rPr>
            </a:br>
            <a:r>
              <a:rPr lang="en-US" sz="2000" b="0" smtClean="0">
                <a:latin typeface="Arial Narrow" pitchFamily="34" charset="0"/>
                <a:cs typeface="Arial" charset="0"/>
              </a:rPr>
              <a:t>    both threads – 1, 2, 3</a:t>
            </a:r>
            <a:endParaRPr lang="en-US" sz="2000" b="0" dirty="0">
              <a:latin typeface="Arial Narrow" pitchFamily="34" charset="0"/>
              <a:cs typeface="Arial" charset="0"/>
            </a:endParaRPr>
          </a:p>
          <a:p>
            <a:pPr indent="2333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dirty="0">
                <a:latin typeface="Arial Narrow" pitchFamily="34" charset="0"/>
                <a:cs typeface="Arial" charset="0"/>
              </a:rPr>
              <a:t>Lock one resource at a</a:t>
            </a:r>
            <a:br>
              <a:rPr lang="en-US" sz="2000" b="0" dirty="0">
                <a:latin typeface="Arial Narrow" pitchFamily="34" charset="0"/>
                <a:cs typeface="Arial" charset="0"/>
              </a:rPr>
            </a:br>
            <a:r>
              <a:rPr lang="en-US" sz="2000" b="0">
                <a:latin typeface="Arial Narrow" pitchFamily="34" charset="0"/>
                <a:cs typeface="Arial" charset="0"/>
              </a:rPr>
              <a:t>   </a:t>
            </a:r>
            <a:r>
              <a:rPr lang="en-US" sz="2000" b="0" smtClean="0">
                <a:latin typeface="Arial Narrow" pitchFamily="34" charset="0"/>
                <a:cs typeface="Arial" charset="0"/>
              </a:rPr>
              <a:t> time</a:t>
            </a:r>
            <a:r>
              <a:rPr lang="en-US" sz="2000" b="0" dirty="0">
                <a:latin typeface="Arial Narrow" pitchFamily="34" charset="0"/>
                <a:cs typeface="Arial" charset="0"/>
              </a:rPr>
              <a:t>, or ALL of </a:t>
            </a:r>
            <a:r>
              <a:rPr lang="en-US" sz="2000" b="0" dirty="0" smtClean="0">
                <a:latin typeface="Arial Narrow" pitchFamily="34" charset="0"/>
                <a:cs typeface="Arial" charset="0"/>
              </a:rPr>
              <a:t>them</a:t>
            </a:r>
            <a:endParaRPr lang="en-US" sz="2000" b="0" dirty="0">
              <a:latin typeface="Arial Narrow" pitchFamily="34" charset="0"/>
              <a:cs typeface="Arial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524000" y="731870"/>
            <a:ext cx="6019800" cy="1249330"/>
            <a:chOff x="1447800" y="762000"/>
            <a:chExt cx="6019800" cy="1249330"/>
          </a:xfrm>
        </p:grpSpPr>
        <p:sp>
          <p:nvSpPr>
            <p:cNvPr id="28" name="Round Diagonal Corner Rectangle 27"/>
            <p:cNvSpPr/>
            <p:nvPr/>
          </p:nvSpPr>
          <p:spPr bwMode="auto">
            <a:xfrm>
              <a:off x="1447800" y="1042404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29" name="Round Diagonal Corner Rectangle 28"/>
            <p:cNvSpPr/>
            <p:nvPr/>
          </p:nvSpPr>
          <p:spPr bwMode="auto">
            <a:xfrm>
              <a:off x="6019800" y="1042404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sp>
          <p:nvSpPr>
            <p:cNvPr id="30" name="Can 29"/>
            <p:cNvSpPr/>
            <p:nvPr/>
          </p:nvSpPr>
          <p:spPr bwMode="auto">
            <a:xfrm>
              <a:off x="4038600" y="762000"/>
              <a:ext cx="838200" cy="586565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Data</a:t>
              </a:r>
            </a:p>
          </p:txBody>
        </p:sp>
        <p:sp>
          <p:nvSpPr>
            <p:cNvPr id="31" name="Right Arrow 30"/>
            <p:cNvSpPr/>
            <p:nvPr/>
          </p:nvSpPr>
          <p:spPr bwMode="auto">
            <a:xfrm>
              <a:off x="3048000" y="1098154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2" name="Right Arrow 31"/>
            <p:cNvSpPr/>
            <p:nvPr/>
          </p:nvSpPr>
          <p:spPr bwMode="auto">
            <a:xfrm rot="10800000">
              <a:off x="5029200" y="1098154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33" name="Can 32"/>
            <p:cNvSpPr/>
            <p:nvPr/>
          </p:nvSpPr>
          <p:spPr bwMode="auto">
            <a:xfrm>
              <a:off x="4038600" y="1424765"/>
              <a:ext cx="838200" cy="586565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Data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228600" y="2165052"/>
            <a:ext cx="8561959" cy="911019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12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dirty="0" smtClean="0">
                <a:solidFill>
                  <a:schemeClr val="tx2"/>
                </a:solidFill>
                <a:effectLst/>
                <a:latin typeface="Calibri" pitchFamily="34" charset="0"/>
                <a:cs typeface="Calibri" pitchFamily="34" charset="0"/>
              </a:rPr>
              <a:t>Deadlock</a:t>
            </a: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occurs when two threads block each other (stalemate)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Conditions for deadlock include:</a:t>
            </a:r>
            <a:r>
              <a:rPr lang="en-US" b="0" dirty="0" smtClean="0"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endParaRPr lang="en-US" b="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TextBox 40"/>
          <p:cNvSpPr txBox="1">
            <a:spLocks noChangeArrowheads="1"/>
          </p:cNvSpPr>
          <p:nvPr/>
        </p:nvSpPr>
        <p:spPr bwMode="auto">
          <a:xfrm>
            <a:off x="611369" y="2981986"/>
            <a:ext cx="67703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169863" eaLnBrk="0" hangingPunct="0">
              <a:spcBef>
                <a:spcPts val="0"/>
              </a:spcBef>
              <a:buFont typeface="Arial" charset="0"/>
              <a:buChar char="•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Use of MUTEX with multiple </a:t>
            </a: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resources (with circular pending)</a:t>
            </a:r>
          </a:p>
          <a:p>
            <a:pPr indent="169863" eaLnBrk="0" hangingPunct="0">
              <a:spcBef>
                <a:spcPts val="0"/>
              </a:spcBef>
              <a:buFont typeface="Arial" charset="0"/>
              <a:buChar char="•"/>
            </a:pP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Threads at different priorities</a:t>
            </a:r>
            <a:endParaRPr lang="en-US" sz="2000" b="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3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4800" y="2921979"/>
            <a:ext cx="5562600" cy="4431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4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1576" y="34256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2987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Grp="1" noChangeArrowheads="1"/>
          </p:cNvSpPr>
          <p:nvPr>
            <p:ph type="title"/>
          </p:nvPr>
        </p:nvSpPr>
        <p:spPr/>
        <p:txBody>
          <a:bodyPr wrap="none" anchorCtr="1"/>
          <a:lstStyle/>
          <a:p>
            <a:r>
              <a:rPr lang="en-US" smtClean="0"/>
              <a:t>Threads At </a:t>
            </a:r>
            <a:r>
              <a:rPr lang="en-US" u="sng" smtClean="0"/>
              <a:t>SAME</a:t>
            </a:r>
            <a:r>
              <a:rPr lang="en-US" smtClean="0"/>
              <a:t>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6808" y="6412804"/>
            <a:ext cx="5213287" cy="369332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1800" b="0" i="1" dirty="0" smtClean="0">
                <a:solidFill>
                  <a:schemeClr val="dk1"/>
                </a:solidFill>
                <a:effectLst/>
                <a:latin typeface="Arial Narrow" pitchFamily="34" charset="0"/>
              </a:rPr>
              <a:t>Note: watch out for “Murphy” if someone changes priorities !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1522231" y="838200"/>
            <a:ext cx="6019800" cy="954975"/>
            <a:chOff x="1295400" y="4570287"/>
            <a:chExt cx="6019800" cy="954975"/>
          </a:xfrm>
        </p:grpSpPr>
        <p:sp>
          <p:nvSpPr>
            <p:cNvPr id="21" name="Round Diagonal Corner Rectangle 20"/>
            <p:cNvSpPr/>
            <p:nvPr/>
          </p:nvSpPr>
          <p:spPr bwMode="auto">
            <a:xfrm>
              <a:off x="1295400" y="4712462"/>
              <a:ext cx="1447800" cy="660400"/>
            </a:xfrm>
            <a:prstGeom prst="round2Diag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A</a:t>
              </a:r>
            </a:p>
          </p:txBody>
        </p:sp>
        <p:sp>
          <p:nvSpPr>
            <p:cNvPr id="22" name="Round Diagonal Corner Rectangle 21"/>
            <p:cNvSpPr/>
            <p:nvPr/>
          </p:nvSpPr>
          <p:spPr bwMode="auto">
            <a:xfrm>
              <a:off x="5867400" y="4712462"/>
              <a:ext cx="1447800" cy="660400"/>
            </a:xfrm>
            <a:prstGeom prst="round2Diag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b="0" dirty="0">
                  <a:latin typeface="Arial Narrow" pitchFamily="34" charset="0"/>
                </a:rPr>
                <a:t>Thread  B</a:t>
              </a:r>
            </a:p>
          </p:txBody>
        </p:sp>
        <p:sp>
          <p:nvSpPr>
            <p:cNvPr id="23" name="Can 22"/>
            <p:cNvSpPr/>
            <p:nvPr/>
          </p:nvSpPr>
          <p:spPr bwMode="auto">
            <a:xfrm>
              <a:off x="3886200" y="4570287"/>
              <a:ext cx="838200" cy="954975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dk1"/>
                  </a:solidFill>
                  <a:effectLst/>
                  <a:latin typeface="Arial Narrow" pitchFamily="34" charset="0"/>
                </a:rPr>
                <a:t>Data</a:t>
              </a:r>
            </a:p>
          </p:txBody>
        </p:sp>
        <p:sp>
          <p:nvSpPr>
            <p:cNvPr id="24" name="Right Arrow 23"/>
            <p:cNvSpPr/>
            <p:nvPr/>
          </p:nvSpPr>
          <p:spPr bwMode="auto">
            <a:xfrm>
              <a:off x="2895600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  <p:sp>
          <p:nvSpPr>
            <p:cNvPr id="25" name="Right Arrow 24"/>
            <p:cNvSpPr/>
            <p:nvPr/>
          </p:nvSpPr>
          <p:spPr bwMode="auto">
            <a:xfrm rot="10800000">
              <a:off x="4876800" y="4768212"/>
              <a:ext cx="838200" cy="5334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dk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600200" y="1640775"/>
            <a:ext cx="1261884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Pri</a:t>
            </a:r>
            <a:r>
              <a:rPr lang="en-US" sz="20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 = 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640775"/>
            <a:ext cx="1261884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2000" dirty="0" err="1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Pri</a:t>
            </a:r>
            <a:r>
              <a:rPr lang="en-US" sz="2000" dirty="0" smtClean="0">
                <a:solidFill>
                  <a:schemeClr val="dk1"/>
                </a:solidFill>
                <a:effectLst/>
                <a:latin typeface="Courier New" pitchFamily="49" charset="0"/>
                <a:cs typeface="Courier New" pitchFamily="49" charset="0"/>
              </a:rPr>
              <a:t> = 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114" y="2232696"/>
            <a:ext cx="8610947" cy="172970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12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Can threads at the SAME priority pre-empt each other?  NO !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So, it is a good idea to place threads that share a critical resource</a:t>
            </a:r>
            <a:b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</a:b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AT THE SAME PRIORITY.  Life is good…</a:t>
            </a:r>
          </a:p>
          <a:p>
            <a:pPr marL="342900" indent="-342900">
              <a:lnSpc>
                <a:spcPct val="90000"/>
              </a:lnSpc>
              <a:spcAft>
                <a:spcPts val="1200"/>
              </a:spcAft>
              <a:buClr>
                <a:schemeClr val="tx2"/>
              </a:buClr>
              <a:buSzPct val="75000"/>
              <a:buFont typeface="Wingdings"/>
              <a:buChar char=""/>
            </a:pPr>
            <a:r>
              <a:rPr lang="en-US" b="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Advantages galore: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672432" y="3986986"/>
            <a:ext cx="7409272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1698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Built-in FIFO scheduling (no pre-emption or scheduler </a:t>
            </a:r>
            <a:r>
              <a:rPr lang="en-US" sz="2000" b="0" dirty="0" err="1">
                <a:latin typeface="Calibri" pitchFamily="34" charset="0"/>
                <a:cs typeface="Calibri" pitchFamily="34" charset="0"/>
              </a:rPr>
              <a:t>mods</a:t>
            </a:r>
            <a:r>
              <a:rPr lang="en-US" sz="2000" b="0" dirty="0">
                <a:latin typeface="Calibri" pitchFamily="34" charset="0"/>
                <a:cs typeface="Calibri" pitchFamily="34" charset="0"/>
              </a:rPr>
              <a:t>)</a:t>
            </a:r>
          </a:p>
          <a:p>
            <a:pPr indent="1698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No signaling required (no </a:t>
            </a: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Semaphore, </a:t>
            </a:r>
            <a:r>
              <a:rPr lang="en-US" sz="2000" b="0" dirty="0">
                <a:latin typeface="Calibri" pitchFamily="34" charset="0"/>
                <a:cs typeface="Calibri" pitchFamily="34" charset="0"/>
              </a:rPr>
              <a:t>no blocking)</a:t>
            </a:r>
          </a:p>
          <a:p>
            <a:pPr indent="1698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Less memory/time overhead for pre-emption (context switch)</a:t>
            </a:r>
          </a:p>
          <a:p>
            <a:pPr indent="1698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No corruption or contention – easy to maintain</a:t>
            </a:r>
          </a:p>
          <a:p>
            <a:pPr indent="169863" eaLnBrk="0" hangingPunct="0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sz="2000" b="0" dirty="0">
                <a:latin typeface="Calibri" pitchFamily="34" charset="0"/>
                <a:cs typeface="Calibri" pitchFamily="34" charset="0"/>
              </a:rPr>
              <a:t>VERY simple – solves ALL types of critical </a:t>
            </a: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resource </a:t>
            </a:r>
            <a:r>
              <a:rPr lang="en-US" sz="2000" b="0" dirty="0">
                <a:latin typeface="Calibri" pitchFamily="34" charset="0"/>
                <a:cs typeface="Calibri" pitchFamily="34" charset="0"/>
              </a:rPr>
              <a:t>sharing </a:t>
            </a: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problems</a:t>
            </a:r>
            <a:br>
              <a:rPr lang="en-US" sz="2000" b="0" dirty="0" smtClean="0">
                <a:latin typeface="Calibri" pitchFamily="34" charset="0"/>
                <a:cs typeface="Calibri" pitchFamily="34" charset="0"/>
              </a:rPr>
            </a:br>
            <a:r>
              <a:rPr lang="en-US" sz="2000" b="0" dirty="0" smtClean="0">
                <a:latin typeface="Calibri" pitchFamily="34" charset="0"/>
                <a:cs typeface="Calibri" pitchFamily="34" charset="0"/>
              </a:rPr>
              <a:t>   </a:t>
            </a:r>
            <a:r>
              <a:rPr lang="en-US" sz="2000" b="0" dirty="0">
                <a:latin typeface="Calibri" pitchFamily="34" charset="0"/>
                <a:cs typeface="Calibri" pitchFamily="34" charset="0"/>
              </a:rPr>
              <a:t>(e.g. priority inversion and deadlock)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3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9" name="Text Box 4">
            <a:hlinkClick r:id="rId10" action="ppaction://hlinksldjump"/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1576" y="9073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Overview of the Problem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0" name="Text Box 4">
            <a:hlinkClick r:id="rId11" action="ppaction://hlinksldjump"/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4110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Resource Sharing - Intro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1" name="Text Box 4">
            <a:hlinkClick r:id="rId12" action="ppaction://hlinksldjump"/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01576" y="19146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“Producer-Consumer”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2" name="Text Box 4">
            <a:hlinkClick r:id="rId13" action="ppaction://hlinksldjump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01576" y="241832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“Concurrent Access” Model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3" name="Text Box 4">
            <a:hlinkClick r:id="rId14" action="ppaction://hlinksldjump"/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1576" y="2921979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Same Priority Threads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14" name="Text Box 3">
            <a:hlinkClick r:id="rId15" action="ppaction://hlinksldjump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4800" y="3425629"/>
            <a:ext cx="5562600" cy="4431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smtClean="0">
                <a:solidFill>
                  <a:srgbClr val="000000"/>
                </a:solidFill>
              </a:rPr>
              <a:t>Lab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21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Labs 5-9 “Roadmap”</a:t>
            </a:r>
            <a:endParaRPr lang="en-US" u="sng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61975" y="5983907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660370"/>
              </p:ext>
            </p:extLst>
          </p:nvPr>
        </p:nvGraphicFramePr>
        <p:xfrm>
          <a:off x="514368" y="762000"/>
          <a:ext cx="8256700" cy="57067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889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37133"/>
                <a:gridCol w="2048602"/>
                <a:gridCol w="1528828"/>
                <a:gridCol w="1460937"/>
                <a:gridCol w="1981200"/>
              </a:tblGrid>
              <a:tr h="47611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Lab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Trigger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Other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Fxn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30639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03451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5B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timer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/>
                      </a:r>
                      <a:br>
                        <a:rPr lang="en-US" sz="20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</a:b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</a:t>
                      </a:r>
                      <a:r>
                        <a:rPr lang="en-US" sz="240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5823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6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Swi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45843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7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Clock</a:t>
                      </a:r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                                                 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400" smtClean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algn="l"/>
                      <a:r>
                        <a:rPr lang="en-US" sz="240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libri" pitchFamily="34" charset="0"/>
                          <a:cs typeface="Calibri" pitchFamily="34" charset="0"/>
                        </a:rPr>
                        <a:t>(Hwi, Swi)</a:t>
                      </a:r>
                      <a:endParaRPr lang="en-US" sz="2400">
                        <a:solidFill>
                          <a:schemeClr val="bg1">
                            <a:lumMod val="50000"/>
                          </a:schemeClr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6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8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smtClean="0">
                          <a:solidFill>
                            <a:schemeClr val="tx2"/>
                          </a:solidFill>
                          <a:latin typeface="Calibri" pitchFamily="34" charset="0"/>
                          <a:cs typeface="Calibri" pitchFamily="34" charset="0"/>
                        </a:rPr>
                        <a:t>BIOS Task</a:t>
                      </a:r>
                      <a:r>
                        <a:rPr lang="en-US" sz="2400" smtClean="0">
                          <a:latin typeface="Calibri" pitchFamily="34" charset="0"/>
                          <a:cs typeface="Calibri" pitchFamily="34" charset="0"/>
                        </a:rPr>
                        <a:t>        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ledToggle</a:t>
                      </a:r>
                      <a:endParaRPr lang="en-US" sz="20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986458"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9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h/w</a:t>
                      </a:r>
                      <a:r>
                        <a:rPr lang="en-US" sz="2400" baseline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timer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BIOS Hwi</a:t>
                      </a:r>
                      <a:endParaRPr lang="en-US" sz="240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800" smtClean="0">
                          <a:latin typeface="Calibri" pitchFamily="34" charset="0"/>
                          <a:cs typeface="Calibri" pitchFamily="34" charset="0"/>
                        </a:rPr>
                        <a:t>LED</a:t>
                      </a:r>
                      <a:r>
                        <a:rPr lang="en-US" sz="1800" baseline="0" smtClean="0">
                          <a:latin typeface="Calibri" pitchFamily="34" charset="0"/>
                          <a:cs typeface="Calibri" pitchFamily="34" charset="0"/>
                        </a:rPr>
                        <a:t> State → </a:t>
                      </a:r>
                      <a:r>
                        <a:rPr lang="en-US" sz="1800" b="1" baseline="0" smtClean="0">
                          <a:solidFill>
                            <a:srgbClr val="FF0000"/>
                          </a:solidFill>
                          <a:latin typeface="Calibri" pitchFamily="34" charset="0"/>
                          <a:cs typeface="Calibri" pitchFamily="34" charset="0"/>
                        </a:rPr>
                        <a:t>Mbx/Que</a:t>
                      </a:r>
                      <a:r>
                        <a:rPr lang="en-US" sz="1800" baseline="0" smtClean="0">
                          <a:latin typeface="Calibri" pitchFamily="34" charset="0"/>
                          <a:cs typeface="Calibri" pitchFamily="34" charset="0"/>
                        </a:rPr>
                        <a:t> →ledToggle</a:t>
                      </a:r>
                      <a:endParaRPr lang="en-US" sz="18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Straight Arrow Connector 3"/>
          <p:cNvCxnSpPr/>
          <p:nvPr/>
        </p:nvCxnSpPr>
        <p:spPr bwMode="auto">
          <a:xfrm>
            <a:off x="5230698" y="1634174"/>
            <a:ext cx="18288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3478098" y="2233549"/>
            <a:ext cx="3581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6666623" y="3188524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3273248" y="3809999"/>
            <a:ext cx="386245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6666623" y="5017324"/>
            <a:ext cx="4572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1" name="Right Arrow 10"/>
          <p:cNvSpPr/>
          <p:nvPr/>
        </p:nvSpPr>
        <p:spPr bwMode="auto">
          <a:xfrm>
            <a:off x="258730" y="5715000"/>
            <a:ext cx="617668" cy="533400"/>
          </a:xfrm>
          <a:prstGeom prst="rightArrow">
            <a:avLst/>
          </a:prstGeom>
          <a:solidFill>
            <a:schemeClr val="accent5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endParaRPr lang="en-US" sz="2800" dirty="0" smtClean="0">
              <a:solidFill>
                <a:srgbClr val="000000"/>
              </a:solidFill>
              <a:latin typeface="Arial Narrow" pitchFamily="34" charset="0"/>
            </a:endParaRPr>
          </a:p>
        </p:txBody>
      </p:sp>
      <p:pic>
        <p:nvPicPr>
          <p:cNvPr id="2051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325" y="133575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825" y="2108191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325" y="289807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325" y="3765052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" descr="C:\Users\a0159877\AppData\Local\Microsoft\Windows\Temporary Internet Files\Content.IE5\9ZCI4UZ6\MC900441310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325" y="4750624"/>
            <a:ext cx="533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79525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/>
          <p:cNvCxnSpPr>
            <a:stCxn id="24" idx="2"/>
            <a:endCxn id="34" idx="0"/>
          </p:cNvCxnSpPr>
          <p:nvPr/>
        </p:nvCxnSpPr>
        <p:spPr bwMode="auto">
          <a:xfrm>
            <a:off x="5471335" y="5011956"/>
            <a:ext cx="0" cy="64111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Lab 9 – “Blink LED” Using </a:t>
            </a:r>
            <a:r>
              <a:rPr lang="en-US" u="sng" smtClean="0"/>
              <a:t>Mailbox &amp; Queue</a:t>
            </a:r>
            <a:endParaRPr lang="en-US" u="sng" dirty="0" smtClean="0"/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61975" y="6216650"/>
            <a:ext cx="184150" cy="625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100" b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b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3796" name="AutoShape 99"/>
          <p:cNvSpPr>
            <a:spLocks noChangeArrowheads="1"/>
          </p:cNvSpPr>
          <p:nvPr/>
        </p:nvSpPr>
        <p:spPr bwMode="auto">
          <a:xfrm>
            <a:off x="152400" y="2039715"/>
            <a:ext cx="2057400" cy="131308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main() {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init_hw();</a:t>
            </a:r>
            <a:endParaRPr lang="en-US" sz="1400" dirty="0">
              <a:solidFill>
                <a:srgbClr val="000000"/>
              </a:solidFill>
              <a:latin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ts val="60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Timer (500ms)</a:t>
            </a:r>
            <a:endParaRPr lang="en-US" sz="1400" dirty="0">
              <a:solidFill>
                <a:srgbClr val="000000"/>
              </a:solidFill>
              <a:latin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dirty="0" err="1" smtClean="0">
                <a:solidFill>
                  <a:srgbClr val="000000"/>
                </a:solidFill>
                <a:latin typeface="Courier New" pitchFamily="49" charset="0"/>
              </a:rPr>
              <a:t>BIOS_start</a:t>
            </a:r>
            <a:r>
              <a:rPr lang="en-US" sz="1400" dirty="0" smtClean="0">
                <a:solidFill>
                  <a:srgbClr val="000000"/>
                </a:solidFill>
                <a:latin typeface="Courier New" pitchFamily="49" charset="0"/>
              </a:rPr>
              <a:t>();</a:t>
            </a:r>
            <a:endParaRPr lang="en-US" sz="1400" dirty="0">
              <a:solidFill>
                <a:srgbClr val="000000"/>
              </a:solidFill>
              <a:latin typeface="Courier New" pitchFamily="49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} </a:t>
            </a:r>
          </a:p>
        </p:txBody>
      </p:sp>
      <p:sp>
        <p:nvSpPr>
          <p:cNvPr id="33797" name="AutoShape 102"/>
          <p:cNvSpPr>
            <a:spLocks noChangeArrowheads="1"/>
          </p:cNvSpPr>
          <p:nvPr/>
        </p:nvSpPr>
        <p:spPr bwMode="auto">
          <a:xfrm>
            <a:off x="1578934" y="3660263"/>
            <a:ext cx="1524000" cy="3181862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33798" name="Text Box 103"/>
          <p:cNvSpPr txBox="1">
            <a:spLocks noChangeArrowheads="1"/>
          </p:cNvSpPr>
          <p:nvPr/>
        </p:nvSpPr>
        <p:spPr bwMode="auto">
          <a:xfrm>
            <a:off x="623855" y="1752057"/>
            <a:ext cx="1107996" cy="3539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i="1">
                <a:solidFill>
                  <a:srgbClr val="000000"/>
                </a:solidFill>
                <a:latin typeface="Courier New" pitchFamily="49" charset="0"/>
              </a:rPr>
              <a:t>main.c</a:t>
            </a:r>
          </a:p>
        </p:txBody>
      </p:sp>
      <p:sp>
        <p:nvSpPr>
          <p:cNvPr id="33799" name="AutoShape 104"/>
          <p:cNvSpPr>
            <a:spLocks noChangeArrowheads="1"/>
          </p:cNvSpPr>
          <p:nvPr/>
        </p:nvSpPr>
        <p:spPr bwMode="auto">
          <a:xfrm>
            <a:off x="1951070" y="3814432"/>
            <a:ext cx="635292" cy="423528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dirty="0" err="1" smtClean="0">
                <a:solidFill>
                  <a:srgbClr val="000000"/>
                </a:solidFill>
              </a:rPr>
              <a:t>Hwi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3800" name="Text Box 105"/>
          <p:cNvSpPr txBox="1">
            <a:spLocks noChangeArrowheads="1"/>
          </p:cNvSpPr>
          <p:nvPr/>
        </p:nvSpPr>
        <p:spPr bwMode="auto">
          <a:xfrm>
            <a:off x="1570070" y="3370528"/>
            <a:ext cx="1569660" cy="35394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i="1">
                <a:solidFill>
                  <a:srgbClr val="000000"/>
                </a:solidFill>
                <a:latin typeface="Courier New" pitchFamily="49" charset="0"/>
              </a:rPr>
              <a:t>Scheduler</a:t>
            </a:r>
          </a:p>
        </p:txBody>
      </p:sp>
      <p:sp>
        <p:nvSpPr>
          <p:cNvPr id="33802" name="AutoShape 107"/>
          <p:cNvSpPr>
            <a:spLocks noChangeArrowheads="1"/>
          </p:cNvSpPr>
          <p:nvPr/>
        </p:nvSpPr>
        <p:spPr bwMode="auto">
          <a:xfrm>
            <a:off x="1951070" y="6282072"/>
            <a:ext cx="635292" cy="423528"/>
          </a:xfrm>
          <a:prstGeom prst="cube">
            <a:avLst>
              <a:gd name="adj" fmla="val 16319"/>
            </a:avLst>
          </a:prstGeom>
          <a:solidFill>
            <a:schemeClr val="accent3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dirty="0" smtClean="0">
                <a:solidFill>
                  <a:srgbClr val="000000"/>
                </a:solidFill>
              </a:rPr>
              <a:t>Idle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33810" name="AutoShape 117"/>
          <p:cNvSpPr>
            <a:spLocks noChangeArrowheads="1"/>
          </p:cNvSpPr>
          <p:nvPr/>
        </p:nvSpPr>
        <p:spPr bwMode="auto">
          <a:xfrm>
            <a:off x="3624396" y="3853519"/>
            <a:ext cx="2700204" cy="371149"/>
          </a:xfrm>
          <a:prstGeom prst="roundRect">
            <a:avLst>
              <a:gd name="adj" fmla="val 16667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smtClean="0">
                <a:solidFill>
                  <a:srgbClr val="FF0000"/>
                </a:solidFill>
                <a:latin typeface="Courier New" pitchFamily="49" charset="0"/>
              </a:rPr>
              <a:t>Semaphore_post(Sem);</a:t>
            </a:r>
            <a:endParaRPr lang="en-US" sz="160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33816" name="Text Box 131"/>
          <p:cNvSpPr txBox="1">
            <a:spLocks noChangeArrowheads="1"/>
          </p:cNvSpPr>
          <p:nvPr/>
        </p:nvSpPr>
        <p:spPr bwMode="auto">
          <a:xfrm>
            <a:off x="3786741" y="795435"/>
            <a:ext cx="1707519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u="sng" dirty="0">
                <a:solidFill>
                  <a:srgbClr val="FF0000"/>
                </a:solidFill>
              </a:rPr>
              <a:t>Procedure</a:t>
            </a:r>
          </a:p>
        </p:txBody>
      </p:sp>
      <p:sp>
        <p:nvSpPr>
          <p:cNvPr id="33817" name="Text Box 132"/>
          <p:cNvSpPr txBox="1">
            <a:spLocks noChangeArrowheads="1"/>
          </p:cNvSpPr>
          <p:nvPr/>
        </p:nvSpPr>
        <p:spPr bwMode="auto">
          <a:xfrm>
            <a:off x="3862941" y="1294688"/>
            <a:ext cx="5499647" cy="193899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00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Import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archived (.zip) project (starter code)</a:t>
            </a:r>
            <a:endParaRPr lang="en-US" sz="2000" b="0" i="1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i="1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Add Mailbox object + post/pend </a:t>
            </a:r>
            <a:r>
              <a:rPr lang="en-US" sz="2000" b="0" dirty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for LED on/off)</a:t>
            </a:r>
            <a:endParaRPr lang="en-US" sz="2000" b="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000" b="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Build, “Play</a:t>
            </a: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”,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Debug</a:t>
            </a: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i="1" u="sng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Add </a:t>
            </a:r>
            <a:r>
              <a:rPr lang="en-US" sz="2000" b="0" i="1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Queue object + put/get </a:t>
            </a: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(for LED on/off)</a:t>
            </a:r>
            <a:endParaRPr lang="en-US" sz="2000" b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eaLnBrk="0" hangingPunct="0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sz="2000" b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Build, Run, Debug</a:t>
            </a:r>
          </a:p>
        </p:txBody>
      </p:sp>
      <p:sp>
        <p:nvSpPr>
          <p:cNvPr id="30" name="Text Box 102"/>
          <p:cNvSpPr txBox="1">
            <a:spLocks noChangeArrowheads="1"/>
          </p:cNvSpPr>
          <p:nvPr/>
        </p:nvSpPr>
        <p:spPr bwMode="auto">
          <a:xfrm>
            <a:off x="6595971" y="3187239"/>
            <a:ext cx="2405659" cy="3877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SzPct val="75000"/>
              <a:buFont typeface="Wingdings" pitchFamily="2" charset="2"/>
              <a:buChar char=""/>
            </a:pPr>
            <a:r>
              <a:rPr lang="en-US" dirty="0">
                <a:solidFill>
                  <a:schemeClr val="accent4"/>
                </a:solidFill>
              </a:rPr>
              <a:t>Time</a:t>
            </a:r>
            <a:r>
              <a:rPr lang="en-US">
                <a:solidFill>
                  <a:schemeClr val="accent4"/>
                </a:solidFill>
              </a:rPr>
              <a:t>: </a:t>
            </a:r>
            <a:r>
              <a:rPr lang="en-US" smtClean="0">
                <a:solidFill>
                  <a:schemeClr val="accent4"/>
                </a:solidFill>
              </a:rPr>
              <a:t>45 min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5" name="Straight Arrow Connector 4"/>
          <p:cNvCxnSpPr>
            <a:endCxn id="1026" idx="0"/>
          </p:cNvCxnSpPr>
          <p:nvPr/>
        </p:nvCxnSpPr>
        <p:spPr bwMode="auto">
          <a:xfrm>
            <a:off x="1023916" y="3352800"/>
            <a:ext cx="9800" cy="34598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" name="Straight Arrow Connector 2"/>
          <p:cNvCxnSpPr/>
          <p:nvPr/>
        </p:nvCxnSpPr>
        <p:spPr bwMode="auto">
          <a:xfrm>
            <a:off x="2752529" y="4034173"/>
            <a:ext cx="87186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434468" y="3868018"/>
            <a:ext cx="966931" cy="3447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Hwi ISR</a:t>
            </a:r>
            <a:endParaRPr lang="en-US" sz="2000" b="0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4" name="AutoShape 117"/>
          <p:cNvSpPr>
            <a:spLocks noChangeArrowheads="1"/>
          </p:cNvSpPr>
          <p:nvPr/>
        </p:nvSpPr>
        <p:spPr bwMode="auto">
          <a:xfrm>
            <a:off x="3627470" y="4416118"/>
            <a:ext cx="3687730" cy="595838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blurRad="50800" dist="63500" dir="2700000" algn="tl" rotWithShape="0">
              <a:prstClr val="black">
                <a:alpha val="42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ts val="600"/>
              </a:spcBef>
            </a:pP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mailbox_queue(){</a:t>
            </a:r>
          </a:p>
          <a:p>
            <a:pPr eaLnBrk="0" hangingPunct="0">
              <a:lnSpc>
                <a:spcPct val="80000"/>
              </a:lnSpc>
              <a:spcBef>
                <a:spcPts val="60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smtClean="0">
                <a:solidFill>
                  <a:srgbClr val="FF0000"/>
                </a:solidFill>
                <a:latin typeface="Courier New" pitchFamily="49" charset="0"/>
              </a:rPr>
              <a:t>Post LED State to Mbx/Queue;</a:t>
            </a: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 }</a:t>
            </a:r>
          </a:p>
        </p:txBody>
      </p:sp>
      <p:sp>
        <p:nvSpPr>
          <p:cNvPr id="27" name="AutoShape 104"/>
          <p:cNvSpPr>
            <a:spLocks noChangeArrowheads="1"/>
          </p:cNvSpPr>
          <p:nvPr/>
        </p:nvSpPr>
        <p:spPr bwMode="auto">
          <a:xfrm>
            <a:off x="1951070" y="4329283"/>
            <a:ext cx="635292" cy="423528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smtClean="0">
                <a:solidFill>
                  <a:srgbClr val="000000"/>
                </a:solidFill>
              </a:rPr>
              <a:t>Task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91400" y="4560892"/>
            <a:ext cx="1776768" cy="31944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b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mailbox_queue()</a:t>
            </a:r>
            <a:endParaRPr lang="en-US" sz="1800" b="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 bwMode="auto">
          <a:xfrm>
            <a:off x="2752529" y="4547689"/>
            <a:ext cx="87186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 flipH="1">
            <a:off x="2752529" y="6510672"/>
            <a:ext cx="1141743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31" y="3698786"/>
            <a:ext cx="675769" cy="678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TextBox 24"/>
          <p:cNvSpPr txBox="1"/>
          <p:nvPr/>
        </p:nvSpPr>
        <p:spPr>
          <a:xfrm>
            <a:off x="145475" y="548045"/>
            <a:ext cx="3512125" cy="11187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eaLnBrk="0" hangingPunct="0">
              <a:lnSpc>
                <a:spcPct val="80000"/>
              </a:lnSpc>
              <a:spcBef>
                <a:spcPts val="900"/>
              </a:spcBef>
            </a:pPr>
            <a:r>
              <a:rPr lang="en-US" sz="2000" u="sng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Lab Goal:</a:t>
            </a:r>
          </a:p>
          <a:p>
            <a:pPr eaLnBrk="0" hangingPunct="0">
              <a:lnSpc>
                <a:spcPct val="80000"/>
              </a:lnSpc>
              <a:spcBef>
                <a:spcPts val="900"/>
              </a:spcBef>
            </a:pPr>
            <a:r>
              <a:rPr lang="en-US" sz="18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The state of the LED (on or off) will now be passed by Message (via a </a:t>
            </a:r>
            <a:r>
              <a:rPr lang="en-US" sz="1800" b="0" i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Mailbox</a:t>
            </a:r>
            <a:r>
              <a:rPr lang="en-US" sz="1800" b="0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or </a:t>
            </a:r>
            <a:r>
              <a:rPr lang="en-US" sz="1800" b="0" i="1" smtClean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Queue).</a:t>
            </a:r>
            <a:endParaRPr lang="en-US" sz="1800" b="0" i="1" dirty="0" smtClean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1397006" y="4032674"/>
            <a:ext cx="477864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34" name="AutoShape 117"/>
          <p:cNvSpPr>
            <a:spLocks noChangeArrowheads="1"/>
          </p:cNvSpPr>
          <p:nvPr/>
        </p:nvSpPr>
        <p:spPr bwMode="auto">
          <a:xfrm>
            <a:off x="3627470" y="5653071"/>
            <a:ext cx="3687730" cy="981709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blurRad="50800" dist="63500" dir="2700000" algn="tl" rotWithShape="0">
              <a:prstClr val="black">
                <a:alpha val="42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70000"/>
              </a:lnSpc>
              <a:spcBef>
                <a:spcPts val="600"/>
              </a:spcBef>
            </a:pP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ledToggle(){</a:t>
            </a:r>
          </a:p>
          <a:p>
            <a:pPr eaLnBrk="0" hangingPunct="0">
              <a:lnSpc>
                <a:spcPct val="70000"/>
              </a:lnSpc>
              <a:spcBef>
                <a:spcPts val="60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400" smtClean="0">
                <a:solidFill>
                  <a:srgbClr val="FF0000"/>
                </a:solidFill>
                <a:latin typeface="Courier New" pitchFamily="49" charset="0"/>
              </a:rPr>
              <a:t>PEND on read from Mbx/Queue;</a:t>
            </a:r>
          </a:p>
          <a:p>
            <a:pPr eaLnBrk="0" hangingPunct="0">
              <a:lnSpc>
                <a:spcPct val="70000"/>
              </a:lnSpc>
              <a:spcBef>
                <a:spcPts val="600"/>
              </a:spcBef>
            </a:pPr>
            <a:r>
              <a:rPr lang="en-US" sz="140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400" smtClean="0">
                <a:solidFill>
                  <a:srgbClr val="FF0000"/>
                </a:solidFill>
                <a:latin typeface="Courier New" pitchFamily="49" charset="0"/>
              </a:rPr>
              <a:t>Toggle LED based on LED State;</a:t>
            </a:r>
          </a:p>
          <a:p>
            <a:pPr eaLnBrk="0" hangingPunct="0">
              <a:lnSpc>
                <a:spcPct val="70000"/>
              </a:lnSpc>
              <a:spcBef>
                <a:spcPts val="60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400" smtClean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68966" y="5992522"/>
            <a:ext cx="1331262" cy="3447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2000" b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ledToggle()</a:t>
            </a:r>
            <a:endParaRPr lang="en-US" sz="2000" b="0" dirty="0" smtClean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AutoShape 104"/>
          <p:cNvSpPr>
            <a:spLocks noChangeArrowheads="1"/>
          </p:cNvSpPr>
          <p:nvPr/>
        </p:nvSpPr>
        <p:spPr bwMode="auto">
          <a:xfrm>
            <a:off x="1951070" y="5539126"/>
            <a:ext cx="635292" cy="423528"/>
          </a:xfrm>
          <a:prstGeom prst="cube">
            <a:avLst>
              <a:gd name="adj" fmla="val 16319"/>
            </a:avLst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600" smtClean="0">
                <a:solidFill>
                  <a:srgbClr val="000000"/>
                </a:solidFill>
              </a:rPr>
              <a:t>Task</a:t>
            </a:r>
            <a:endParaRPr lang="en-US" sz="1600" dirty="0">
              <a:solidFill>
                <a:srgbClr val="000000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 bwMode="auto">
          <a:xfrm>
            <a:off x="2752529" y="5757532"/>
            <a:ext cx="871868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8" name="Cube 7"/>
          <p:cNvSpPr/>
          <p:nvPr/>
        </p:nvSpPr>
        <p:spPr bwMode="auto">
          <a:xfrm>
            <a:off x="4529468" y="5126666"/>
            <a:ext cx="1905000" cy="381000"/>
          </a:xfrm>
          <a:prstGeom prst="cube">
            <a:avLst>
              <a:gd name="adj" fmla="val 16628"/>
            </a:avLst>
          </a:prstGeom>
          <a:solidFill>
            <a:srgbClr val="CCFF6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dk1"/>
                </a:solidFill>
                <a:effectLst/>
                <a:latin typeface="Calibri" pitchFamily="34" charset="0"/>
                <a:cs typeface="Calibri" pitchFamily="34" charset="0"/>
              </a:rPr>
              <a:t>  Mailbox or Queue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dk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472384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5" name="Picture 2" descr="ti_stk_2c_pos_rgb_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9325" y="1752600"/>
            <a:ext cx="8839200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15023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Chapter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" y="865396"/>
            <a:ext cx="9156481" cy="488133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Name the two basic data sharing models and solutions for each:</a:t>
            </a:r>
            <a:b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</a:br>
            <a:endParaRPr lang="en-US" b="0" dirty="0" smtClean="0">
              <a:solidFill>
                <a:srgbClr val="000000"/>
              </a:solidFill>
              <a:latin typeface="Calibri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Compare and contrast mailboxes and queues:</a:t>
            </a:r>
            <a:b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</a:br>
            <a:endParaRPr lang="en-US" b="0" dirty="0" smtClean="0">
              <a:solidFill>
                <a:srgbClr val="000000"/>
              </a:solidFill>
              <a:latin typeface="Calibri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Which </a:t>
            </a:r>
            <a:r>
              <a:rPr lang="en-US" b="0" dirty="0" err="1" smtClean="0">
                <a:solidFill>
                  <a:srgbClr val="000000"/>
                </a:solidFill>
                <a:latin typeface="Calibri" pitchFamily="34" charset="0"/>
              </a:rPr>
              <a:t>fxn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 calls are commonly used to modify scheduler behavior?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What problems can occur when using MUTEX’s. What is the </a:t>
            </a:r>
            <a:r>
              <a:rPr lang="en-US" b="0" dirty="0" err="1" smtClean="0">
                <a:solidFill>
                  <a:srgbClr val="000000"/>
                </a:solidFill>
                <a:latin typeface="Calibri" pitchFamily="34" charset="0"/>
              </a:rPr>
              <a:t>sol’n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?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Which </a:t>
            </a:r>
            <a:r>
              <a:rPr lang="en-US" b="0" dirty="0" err="1" smtClean="0">
                <a:solidFill>
                  <a:srgbClr val="000000"/>
                </a:solidFill>
                <a:latin typeface="Calibri" pitchFamily="34" charset="0"/>
              </a:rPr>
              <a:t>sol’n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 guarantees no conflicts between threads sharing data?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 smtClean="0"/>
              <a:t>Chapter Quiz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200" y="865396"/>
            <a:ext cx="9156481" cy="488133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Name the two basic data sharing models and solutions for each:</a:t>
            </a:r>
            <a:b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</a:br>
            <a:endParaRPr lang="en-US" b="0" dirty="0" smtClean="0">
              <a:solidFill>
                <a:srgbClr val="000000"/>
              </a:solidFill>
              <a:latin typeface="Calibri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Compare and contrast mailboxes and queues:</a:t>
            </a:r>
            <a:b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</a:br>
            <a:endParaRPr lang="en-US" b="0" dirty="0" smtClean="0">
              <a:solidFill>
                <a:srgbClr val="000000"/>
              </a:solidFill>
              <a:latin typeface="Calibri" pitchFamily="34" charset="0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Which </a:t>
            </a:r>
            <a:r>
              <a:rPr lang="en-US" b="0" dirty="0" err="1" smtClean="0">
                <a:solidFill>
                  <a:srgbClr val="000000"/>
                </a:solidFill>
                <a:latin typeface="Calibri" pitchFamily="34" charset="0"/>
              </a:rPr>
              <a:t>fxn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 calls are commonly used to modify scheduler behavior?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What problems can occur when using MUTEX’s. What is the </a:t>
            </a:r>
            <a:r>
              <a:rPr lang="en-US" b="0" dirty="0" err="1" smtClean="0">
                <a:solidFill>
                  <a:srgbClr val="000000"/>
                </a:solidFill>
                <a:latin typeface="Calibri" pitchFamily="34" charset="0"/>
              </a:rPr>
              <a:t>sol’n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?</a:t>
            </a:r>
          </a:p>
          <a:p>
            <a:pPr marL="457200" indent="-457200" eaLnBrk="1" hangingPunct="1">
              <a:lnSpc>
                <a:spcPct val="90000"/>
              </a:lnSpc>
              <a:spcBef>
                <a:spcPts val="4800"/>
              </a:spcBef>
              <a:buFont typeface="+mj-lt"/>
              <a:buAutoNum type="arabicPeriod"/>
            </a:pP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Which </a:t>
            </a:r>
            <a:r>
              <a:rPr lang="en-US" b="0" dirty="0" err="1" smtClean="0">
                <a:solidFill>
                  <a:srgbClr val="000000"/>
                </a:solidFill>
                <a:latin typeface="Calibri" pitchFamily="34" charset="0"/>
              </a:rPr>
              <a:t>sol’n</a:t>
            </a:r>
            <a:r>
              <a:rPr lang="en-US" b="0" dirty="0" smtClean="0">
                <a:solidFill>
                  <a:srgbClr val="000000"/>
                </a:solidFill>
                <a:latin typeface="Calibri" pitchFamily="34" charset="0"/>
              </a:rPr>
              <a:t> guarantees no conflicts between threads sharing data?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99397" y="1213066"/>
            <a:ext cx="7325403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1775" indent="-231775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Producer-Consumer:   Queues, Mailboxes, Stream I/O, </a:t>
            </a:r>
            <a:r>
              <a:rPr lang="en-US" sz="2000" i="1" dirty="0" err="1" smtClean="0">
                <a:solidFill>
                  <a:srgbClr val="0066FF"/>
                </a:solidFill>
                <a:latin typeface="Calibri" pitchFamily="34" charset="0"/>
              </a:rPr>
              <a:t>Sem</a:t>
            </a: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/Event</a:t>
            </a:r>
          </a:p>
          <a:p>
            <a:pPr marL="231775" indent="-231775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Concurrent Access:  Scheduler Mgmt, Gates, </a:t>
            </a:r>
            <a:r>
              <a:rPr lang="en-US" sz="2000" i="1" dirty="0" err="1" smtClean="0">
                <a:solidFill>
                  <a:srgbClr val="0066FF"/>
                </a:solidFill>
                <a:latin typeface="Calibri" pitchFamily="34" charset="0"/>
              </a:rPr>
              <a:t>Mutexes</a:t>
            </a: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, SAME PRI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99397" y="2522560"/>
            <a:ext cx="7230056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1775" indent="-231775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Mailbox – fixed length, copy based, signaling built-in, simple use</a:t>
            </a:r>
          </a:p>
          <a:p>
            <a:pPr marL="231775" indent="-231775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Queues – anything you like, not copy based, no signal, flexible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99397" y="3818186"/>
            <a:ext cx="7651454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1775" indent="-231775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i="1" dirty="0" err="1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Hwi_disable</a:t>
            </a:r>
            <a:r>
              <a:rPr lang="en-US" sz="2000" i="1" dirty="0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/restore();  or </a:t>
            </a:r>
            <a:r>
              <a:rPr lang="en-US" sz="2000" i="1" dirty="0" err="1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MOD_disable</a:t>
            </a:r>
            <a:r>
              <a:rPr lang="en-US" sz="2000" i="1" dirty="0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/restore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9397" y="5692408"/>
            <a:ext cx="6066469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1775" indent="-231775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Place threads that share data AT THE SAME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397" y="4745742"/>
            <a:ext cx="8546955" cy="4001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231775" indent="-231775" eaLnBrk="1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Char char="•"/>
            </a:pPr>
            <a:r>
              <a:rPr lang="en-US" sz="2000" i="1" dirty="0" smtClean="0">
                <a:solidFill>
                  <a:srgbClr val="0066FF"/>
                </a:solidFill>
                <a:latin typeface="Calibri" pitchFamily="34" charset="0"/>
              </a:rPr>
              <a:t>Priority Inversion,   </a:t>
            </a:r>
            <a:r>
              <a:rPr lang="en-US" sz="2000" i="1" dirty="0" err="1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Task_setPri</a:t>
            </a:r>
            <a:r>
              <a:rPr lang="en-US" sz="2000" i="1" dirty="0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(); or </a:t>
            </a:r>
            <a:r>
              <a:rPr lang="en-US" sz="1800" i="1" dirty="0" err="1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GateMutexPri_enter</a:t>
            </a:r>
            <a:r>
              <a:rPr lang="en-US" sz="1800" i="1" dirty="0" smtClean="0">
                <a:solidFill>
                  <a:srgbClr val="0066FF"/>
                </a:solidFill>
                <a:latin typeface="Courier New" pitchFamily="49" charset="0"/>
                <a:cs typeface="Courier New" pitchFamily="49" charset="0"/>
              </a:rPr>
              <a:t>/leave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/>
      <p:bldP spid="127" grpId="0"/>
      <p:bldP spid="128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704" name="Rectangle 8"/>
          <p:cNvSpPr>
            <a:spLocks noChangeArrowheads="1"/>
          </p:cNvSpPr>
          <p:nvPr/>
        </p:nvSpPr>
        <p:spPr bwMode="auto">
          <a:xfrm>
            <a:off x="304800" y="805216"/>
            <a:ext cx="5562600" cy="529078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endParaRPr 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41988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04800" y="900019"/>
            <a:ext cx="5562600" cy="4431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MainHighlight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89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1576" y="1350577"/>
            <a:ext cx="5642024" cy="44319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27432" bIns="27432" anchor="ctr" anchorCtr="0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sz="2800" dirty="0" err="1">
                <a:solidFill>
                  <a:srgbClr val="000000"/>
                </a:solidFill>
              </a:rPr>
              <a:t>MainNormal</a:t>
            </a: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1990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74000" y="1812851"/>
            <a:ext cx="4560000" cy="4247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SubHighlight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991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69877" y="2253167"/>
            <a:ext cx="486892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 tIns="18288" bIns="18288">
            <a:spAutoFit/>
          </a:bodyPr>
          <a:lstStyle/>
          <a:p>
            <a:pPr marL="342900" indent="-342900" eaLnBrk="0" hangingPunct="0">
              <a:lnSpc>
                <a:spcPct val="90000"/>
              </a:lnSpc>
              <a:buClr>
                <a:srgbClr val="0066FF"/>
              </a:buClr>
              <a:buSzPct val="75000"/>
              <a:buFont typeface="Wingdings" pitchFamily="2" charset="2"/>
              <a:buChar char=""/>
            </a:pPr>
            <a:r>
              <a:rPr lang="en-US" dirty="0" err="1">
                <a:solidFill>
                  <a:srgbClr val="000000"/>
                </a:solidFill>
              </a:rPr>
              <a:t>SubNormal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72706" name="Picture 2" descr="C:\Documents and Settings\a0159877\Desktop\250px-Operating_system_placement.svg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60824" y="1153041"/>
            <a:ext cx="2819400" cy="4172713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 LOGOS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  <p:tag name="MILESTONESLIDE" val="True"/>
  <p:tag name="MILESTATUS" val="PresentationStyle"/>
  <p:tag name="MILESTONELEVEL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MINISTRATIVESLIDE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CHEMEINDEX" val="4"/>
  <p:tag name="ADMINISTRATIVESLIDE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STONETEMPLATEMODE" val="Indented_Single"/>
  <p:tag name="MILESTONETEMPLATEVERSION" val="2.3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Hili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1_Norma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Hili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LELISTITEM" val="Level_2_Normal"/>
</p:tagLst>
</file>

<file path=ppt/theme/theme1.xml><?xml version="1.0" encoding="utf-8"?>
<a:theme xmlns:a="http://schemas.openxmlformats.org/drawingml/2006/main" name="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ttoTheme">
  <a:themeElements>
    <a:clrScheme name="TTO standard">
      <a:dk1>
        <a:srgbClr val="000000"/>
      </a:dk1>
      <a:lt1>
        <a:srgbClr val="FFFFFF"/>
      </a:lt1>
      <a:dk2>
        <a:srgbClr val="FF0000"/>
      </a:dk2>
      <a:lt2>
        <a:srgbClr val="FFFFFF"/>
      </a:lt2>
      <a:accent1>
        <a:srgbClr val="F9F9F9"/>
      </a:accent1>
      <a:accent2>
        <a:srgbClr val="DEDEDE"/>
      </a:accent2>
      <a:accent3>
        <a:srgbClr val="C7C7C7"/>
      </a:accent3>
      <a:accent4>
        <a:srgbClr val="6699FF"/>
      </a:accent4>
      <a:accent5>
        <a:srgbClr val="FF0000"/>
      </a:accent5>
      <a:accent6>
        <a:srgbClr val="FFFFFF"/>
      </a:accent6>
      <a:hlink>
        <a:srgbClr val="C7C7C7"/>
      </a:hlink>
      <a:folHlink>
        <a:srgbClr val="6699FF"/>
      </a:folHlink>
    </a:clrScheme>
    <a:fontScheme name="tt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 dirty="0" smtClean="0">
            <a:ln>
              <a:noFill/>
            </a:ln>
            <a:solidFill>
              <a:schemeClr val="dk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 Narrow" pitchFamily="34" charset="0"/>
          </a:defRPr>
        </a:defPPr>
      </a:lstStyle>
    </a:lnDef>
    <a:txDef>
      <a:spPr>
        <a:noFill/>
      </a:spPr>
      <a:bodyPr wrap="square" rtlCol="0" anchor="ctr" anchorCtr="0">
        <a:spAutoFit/>
      </a:bodyPr>
      <a:lstStyle>
        <a:defPPr>
          <a:defRPr dirty="0" smtClean="0">
            <a:solidFill>
              <a:schemeClr val="dk1"/>
            </a:solidFill>
            <a:effectLst/>
          </a:defRPr>
        </a:defPPr>
      </a:lstStyle>
    </a:txDef>
  </a:objectDefaults>
  <a:extraClrSchemeLst>
    <a:extraClrScheme>
      <a:clrScheme name="TTO standard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9F9F9"/>
        </a:accent1>
        <a:accent2>
          <a:srgbClr val="DEDEDE"/>
        </a:accent2>
        <a:accent3>
          <a:srgbClr val="C7C7C7"/>
        </a:accent3>
        <a:accent4>
          <a:srgbClr val="6699FF"/>
        </a:accent4>
        <a:accent5>
          <a:srgbClr val="FF0000"/>
        </a:accent5>
        <a:accent6>
          <a:srgbClr val="FFFFFF"/>
        </a:accent6>
        <a:hlink>
          <a:srgbClr val="C7C7C7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 standard">
        <a:dk1>
          <a:srgbClr val="000000"/>
        </a:dk1>
        <a:lt1>
          <a:srgbClr val="FFFFFF"/>
        </a:lt1>
        <a:dk2>
          <a:srgbClr val="DE0000"/>
        </a:dk2>
        <a:lt2>
          <a:srgbClr val="808080"/>
        </a:lt2>
        <a:accent1>
          <a:srgbClr val="DE0000"/>
        </a:accent1>
        <a:accent2>
          <a:srgbClr val="AEAEAE"/>
        </a:accent2>
        <a:accent3>
          <a:srgbClr val="117788"/>
        </a:accent3>
        <a:accent4>
          <a:srgbClr val="404040"/>
        </a:accent4>
        <a:accent5>
          <a:srgbClr val="7F7F7F"/>
        </a:accent5>
        <a:accent6>
          <a:srgbClr val="32B4CE"/>
        </a:accent6>
        <a:hlink>
          <a:srgbClr val="DE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1">
        <a:dk1>
          <a:srgbClr val="000000"/>
        </a:dk1>
        <a:lt1>
          <a:srgbClr val="FEFFFF"/>
        </a:lt1>
        <a:dk2>
          <a:srgbClr val="000000"/>
        </a:dk2>
        <a:lt2>
          <a:srgbClr val="FEFFFF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9E9E9E"/>
        </a:accent6>
        <a:hlink>
          <a:srgbClr val="DEDEDE"/>
        </a:hlink>
        <a:folHlink>
          <a:srgbClr val="C3C3C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2">
        <a:dk1>
          <a:srgbClr val="2181B7"/>
        </a:dk1>
        <a:lt1>
          <a:srgbClr val="FFFFFF"/>
        </a:lt1>
        <a:dk2>
          <a:srgbClr val="2181B7"/>
        </a:dk2>
        <a:lt2>
          <a:srgbClr val="FFFF99"/>
        </a:lt2>
        <a:accent1>
          <a:srgbClr val="003399"/>
        </a:accent1>
        <a:accent2>
          <a:srgbClr val="01B0FF"/>
        </a:accent2>
        <a:accent3>
          <a:srgbClr val="6666FF"/>
        </a:accent3>
        <a:accent4>
          <a:srgbClr val="1C6D9A"/>
        </a:accent4>
        <a:accent5>
          <a:srgbClr val="474B72"/>
        </a:accent5>
        <a:accent6>
          <a:srgbClr val="7030A0"/>
        </a:accent6>
        <a:hlink>
          <a:srgbClr val="6666FF"/>
        </a:hlink>
        <a:folHlink>
          <a:srgbClr val="1C6D9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3">
        <a:dk1>
          <a:srgbClr val="042AA4"/>
        </a:dk1>
        <a:lt1>
          <a:srgbClr val="FFFFFF"/>
        </a:lt1>
        <a:dk2>
          <a:srgbClr val="042AA4"/>
        </a:dk2>
        <a:lt2>
          <a:srgbClr val="FE9B03"/>
        </a:lt2>
        <a:accent1>
          <a:srgbClr val="000F40"/>
        </a:accent1>
        <a:accent2>
          <a:srgbClr val="603900"/>
        </a:accent2>
        <a:accent3>
          <a:srgbClr val="005C00"/>
        </a:accent3>
        <a:accent4>
          <a:srgbClr val="0249FC"/>
        </a:accent4>
        <a:accent5>
          <a:srgbClr val="7030A0"/>
        </a:accent5>
        <a:accent6>
          <a:srgbClr val="000000"/>
        </a:accent6>
        <a:hlink>
          <a:srgbClr val="005C00"/>
        </a:hlink>
        <a:folHlink>
          <a:srgbClr val="0249F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4">
        <a:dk1>
          <a:srgbClr val="000000"/>
        </a:dk1>
        <a:lt1>
          <a:srgbClr val="FFFFFF"/>
        </a:lt1>
        <a:dk2>
          <a:srgbClr val="4282E0"/>
        </a:dk2>
        <a:lt2>
          <a:srgbClr val="FFFFFF"/>
        </a:lt2>
        <a:accent1>
          <a:srgbClr val="C0F6F5"/>
        </a:accent1>
        <a:accent2>
          <a:srgbClr val="FAFEDA"/>
        </a:accent2>
        <a:accent3>
          <a:srgbClr val="FFCCFF"/>
        </a:accent3>
        <a:accent4>
          <a:srgbClr val="B4FCB2"/>
        </a:accent4>
        <a:accent5>
          <a:srgbClr val="FFFF99"/>
        </a:accent5>
        <a:accent6>
          <a:srgbClr val="5DD3FF"/>
        </a:accent6>
        <a:hlink>
          <a:srgbClr val="FFCCFF"/>
        </a:hlink>
        <a:folHlink>
          <a:srgbClr val="B4FC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5">
        <a:dk1>
          <a:srgbClr val="000000"/>
        </a:dk1>
        <a:lt1>
          <a:srgbClr val="FFFFFF"/>
        </a:lt1>
        <a:dk2>
          <a:srgbClr val="0066FF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E5D093"/>
        </a:accent3>
        <a:accent4>
          <a:srgbClr val="CCB374"/>
        </a:accent4>
        <a:accent5>
          <a:srgbClr val="C7A2E3"/>
        </a:accent5>
        <a:accent6>
          <a:srgbClr val="5DD3FF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6">
        <a:dk1>
          <a:srgbClr val="000000"/>
        </a:dk1>
        <a:lt1>
          <a:srgbClr val="FFFFFF"/>
        </a:lt1>
        <a:dk2>
          <a:srgbClr val="FF0000"/>
        </a:dk2>
        <a:lt2>
          <a:srgbClr val="FFFFFF"/>
        </a:lt2>
        <a:accent1>
          <a:srgbClr val="FFFF66"/>
        </a:accent1>
        <a:accent2>
          <a:srgbClr val="99FF66"/>
        </a:accent2>
        <a:accent3>
          <a:srgbClr val="99FFCC"/>
        </a:accent3>
        <a:accent4>
          <a:srgbClr val="FF99FF"/>
        </a:accent4>
        <a:accent5>
          <a:srgbClr val="93E2FF"/>
        </a:accent5>
        <a:accent6>
          <a:srgbClr val="FFE599"/>
        </a:accent6>
        <a:hlink>
          <a:srgbClr val="99FFCC"/>
        </a:hlink>
        <a:folHlink>
          <a:srgbClr val="FF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to 7">
        <a:dk1>
          <a:srgbClr val="FEFFFF"/>
        </a:dk1>
        <a:lt1>
          <a:srgbClr val="000000"/>
        </a:lt1>
        <a:dk2>
          <a:srgbClr val="FEFFFF"/>
        </a:dk2>
        <a:lt2>
          <a:srgbClr val="000000"/>
        </a:lt2>
        <a:accent1>
          <a:srgbClr val="F6F6F6"/>
        </a:accent1>
        <a:accent2>
          <a:srgbClr val="AFAFAF"/>
        </a:accent2>
        <a:accent3>
          <a:srgbClr val="DEDEDE"/>
        </a:accent3>
        <a:accent4>
          <a:srgbClr val="C3C3C3"/>
        </a:accent4>
        <a:accent5>
          <a:srgbClr val="FAFAFA"/>
        </a:accent5>
        <a:accent6>
          <a:srgbClr val="000000"/>
        </a:accent6>
        <a:hlink>
          <a:srgbClr val="DEDEDE"/>
        </a:hlink>
        <a:folHlink>
          <a:srgbClr val="C3C3C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to 8">
        <a:dk1>
          <a:srgbClr val="FFFFFF"/>
        </a:dk1>
        <a:lt1>
          <a:srgbClr val="000000"/>
        </a:lt1>
        <a:dk2>
          <a:srgbClr val="FFFFFF"/>
        </a:dk2>
        <a:lt2>
          <a:srgbClr val="FF0000"/>
        </a:lt2>
        <a:accent1>
          <a:srgbClr val="00CCFF"/>
        </a:accent1>
        <a:accent2>
          <a:srgbClr val="CC9900"/>
        </a:accent2>
        <a:accent3>
          <a:srgbClr val="00CC66"/>
        </a:accent3>
        <a:accent4>
          <a:srgbClr val="FFFF99"/>
        </a:accent4>
        <a:accent5>
          <a:srgbClr val="FF99CC"/>
        </a:accent5>
        <a:accent6>
          <a:srgbClr val="000000"/>
        </a:accent6>
        <a:hlink>
          <a:srgbClr val="00CC66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ttoTheme</Template>
  <TotalTime>20874</TotalTime>
  <Pages>3</Pages>
  <Words>2931</Words>
  <Application>Microsoft Office PowerPoint</Application>
  <PresentationFormat>On-screen Show (4:3)</PresentationFormat>
  <Paragraphs>614</Paragraphs>
  <Slides>40</Slides>
  <Notes>17</Notes>
  <HiddenSlides>4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2" baseType="lpstr">
      <vt:lpstr>ttoTheme</vt:lpstr>
      <vt:lpstr>1_ttoTheme</vt:lpstr>
      <vt:lpstr>PowerPoint Presentation</vt:lpstr>
      <vt:lpstr>Objectives</vt:lpstr>
      <vt:lpstr>Outline</vt:lpstr>
      <vt:lpstr>Sharing Data Between Threads - Problem</vt:lpstr>
      <vt:lpstr>Outline</vt:lpstr>
      <vt:lpstr>Resource Sharing – Two Types</vt:lpstr>
      <vt:lpstr>Outline</vt:lpstr>
      <vt:lpstr>Producer – Consumer Model – Intro</vt:lpstr>
      <vt:lpstr>Outline</vt:lpstr>
      <vt:lpstr>Queue Concepts…</vt:lpstr>
      <vt:lpstr>Synchronizing Queues…</vt:lpstr>
      <vt:lpstr>Using Queues in a System…</vt:lpstr>
      <vt:lpstr>Outline</vt:lpstr>
      <vt:lpstr>Using Mailboxes</vt:lpstr>
      <vt:lpstr>Advanced “Producer-Consumer” Services</vt:lpstr>
      <vt:lpstr>Outline</vt:lpstr>
      <vt:lpstr>“Concurrent Access” Model – Intro</vt:lpstr>
      <vt:lpstr>Outline</vt:lpstr>
      <vt:lpstr>What’s Wrong With Using Globals ??</vt:lpstr>
      <vt:lpstr>Critical Resource Protection</vt:lpstr>
      <vt:lpstr>Outline</vt:lpstr>
      <vt:lpstr>Modifying BIOS Scheduler Behavior</vt:lpstr>
      <vt:lpstr>Outline</vt:lpstr>
      <vt:lpstr>Data Sharing Using Semaphores</vt:lpstr>
      <vt:lpstr>GateMutex Usage</vt:lpstr>
      <vt:lpstr>Priority Inversion</vt:lpstr>
      <vt:lpstr>Temporarily Elevate Priority – Task_setPri() </vt:lpstr>
      <vt:lpstr>Outline</vt:lpstr>
      <vt:lpstr>Priority Mutex Gates</vt:lpstr>
      <vt:lpstr>Outline</vt:lpstr>
      <vt:lpstr>How DEADLOCK Can Occur…</vt:lpstr>
      <vt:lpstr>Outline</vt:lpstr>
      <vt:lpstr>Threads At SAME Priority</vt:lpstr>
      <vt:lpstr>Outline</vt:lpstr>
      <vt:lpstr>Labs 5-9 “Roadmap”</vt:lpstr>
      <vt:lpstr>Lab 9 – “Blink LED” Using Mailbox &amp; Queue</vt:lpstr>
      <vt:lpstr>PowerPoint Presentation</vt:lpstr>
      <vt:lpstr>Chapter Quiz</vt:lpstr>
      <vt:lpstr>Chapter Quiz</vt:lpstr>
      <vt:lpstr>Outline</vt:lpstr>
    </vt:vector>
  </TitlesOfParts>
  <Company>SC Sales &amp; Marketing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TI-RTOS Kernel Workshop</dc:title>
  <dc:subject/>
  <dc:creator>ericw@ti.com</dc:creator>
  <cp:keywords/>
  <dc:description/>
  <cp:lastModifiedBy>Eric Wilbur</cp:lastModifiedBy>
  <cp:revision>614</cp:revision>
  <cp:lastPrinted>1601-01-01T00:00:00Z</cp:lastPrinted>
  <dcterms:created xsi:type="dcterms:W3CDTF">2001-09-20T20:19:44Z</dcterms:created>
  <dcterms:modified xsi:type="dcterms:W3CDTF">2015-01-14T17:38:16Z</dcterms:modified>
</cp:coreProperties>
</file>