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5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6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7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81" r:id="rId1"/>
    <p:sldMasterId id="2147483793" r:id="rId2"/>
    <p:sldMasterId id="2147483805" r:id="rId3"/>
    <p:sldMasterId id="2147483817" r:id="rId4"/>
  </p:sldMasterIdLst>
  <p:notesMasterIdLst>
    <p:notesMasterId r:id="rId25"/>
  </p:notesMasterIdLst>
  <p:handoutMasterIdLst>
    <p:handoutMasterId r:id="rId26"/>
  </p:handoutMasterIdLst>
  <p:sldIdLst>
    <p:sldId id="1516" r:id="rId5"/>
    <p:sldId id="1074" r:id="rId6"/>
    <p:sldId id="1696" r:id="rId7"/>
    <p:sldId id="1697" r:id="rId8"/>
    <p:sldId id="1052" r:id="rId9"/>
    <p:sldId id="1355" r:id="rId10"/>
    <p:sldId id="1390" r:id="rId11"/>
    <p:sldId id="1698" r:id="rId12"/>
    <p:sldId id="1063" r:id="rId13"/>
    <p:sldId id="1389" r:id="rId14"/>
    <p:sldId id="1699" r:id="rId15"/>
    <p:sldId id="1065" r:id="rId16"/>
    <p:sldId id="1700" r:id="rId17"/>
    <p:sldId id="1630" r:id="rId18"/>
    <p:sldId id="1701" r:id="rId19"/>
    <p:sldId id="1702" r:id="rId20"/>
    <p:sldId id="1599" r:id="rId21"/>
    <p:sldId id="1703" r:id="rId22"/>
    <p:sldId id="1582" r:id="rId23"/>
    <p:sldId id="1072" r:id="rId2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0000"/>
      </a:lnSpc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FFFFFF"/>
    <a:srgbClr val="FFFF66"/>
    <a:srgbClr val="FF99CC"/>
    <a:srgbClr val="808080"/>
    <a:srgbClr val="969696"/>
    <a:srgbClr val="B2B2B2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1" autoAdjust="0"/>
    <p:restoredTop sz="89894" autoAdjust="0"/>
  </p:normalViewPr>
  <p:slideViewPr>
    <p:cSldViewPr>
      <p:cViewPr>
        <p:scale>
          <a:sx n="80" d="100"/>
          <a:sy n="80" d="100"/>
        </p:scale>
        <p:origin x="-112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82914C71-9458-4718-AB1E-8A72430481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33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868B5124-6BE8-452D-8A70-47EE811BE3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2" tIns="48667" rIns="97332" bIns="486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82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3952526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2A8627-8987-406D-A21E-ABBD08ABA479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2838" y="4643438"/>
            <a:ext cx="5964237" cy="45640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4854" tIns="47427" rIns="94854" bIns="47427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38D2CF-2E20-4C47-B5BF-A491D81D3EFB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BFC4C4-ED02-4228-A90A-0D05A1D4C032}" type="slidenum">
              <a:rPr lang="en-US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3137" cy="35877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6013450" cy="4402138"/>
          </a:xfrm>
          <a:noFill/>
          <a:ln/>
        </p:spPr>
        <p:txBody>
          <a:bodyPr lIns="96649" tIns="48324" rIns="96649" bIns="48324"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Rollover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8B5124-6BE8-452D-8A70-47EE811BE39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Rollover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8B5124-6BE8-452D-8A70-47EE811BE39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CF76D9-8C4F-404E-B421-838159FF4993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26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4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5270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77966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235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344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3863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6576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180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1038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674204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709885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57749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5661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2776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23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362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207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1681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223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68463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59538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94800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29087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149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87672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056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85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08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9881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002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30777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056067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508304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28910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3173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/>
              <a:pPr/>
              <a:t>12/10/2014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3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7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12/10/2014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1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" Target="slide8.xml"/><Relationship Id="rId2" Type="http://schemas.openxmlformats.org/officeDocument/2006/relationships/tags" Target="../tags/tag4.xml"/><Relationship Id="rId16" Type="http://schemas.openxmlformats.org/officeDocument/2006/relationships/image" Target="../media/image4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4.xml"/><Relationship Id="rId5" Type="http://schemas.openxmlformats.org/officeDocument/2006/relationships/tags" Target="../tags/tag7.xml"/><Relationship Id="rId15" Type="http://schemas.openxmlformats.org/officeDocument/2006/relationships/slide" Target="slide15.xml"/><Relationship Id="rId10" Type="http://schemas.openxmlformats.org/officeDocument/2006/relationships/slide" Target="slide3.xml"/><Relationship Id="rId4" Type="http://schemas.openxmlformats.org/officeDocument/2006/relationships/tags" Target="../tags/tag6.xml"/><Relationship Id="rId9" Type="http://schemas.openxmlformats.org/officeDocument/2006/relationships/image" Target="../media/image12.png"/><Relationship Id="rId14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1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slide" Target="slide8.xml"/><Relationship Id="rId2" Type="http://schemas.openxmlformats.org/officeDocument/2006/relationships/tags" Target="../tags/tag11.xml"/><Relationship Id="rId16" Type="http://schemas.openxmlformats.org/officeDocument/2006/relationships/image" Target="../media/image4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" Target="slide4.xml"/><Relationship Id="rId5" Type="http://schemas.openxmlformats.org/officeDocument/2006/relationships/tags" Target="../tags/tag14.xml"/><Relationship Id="rId15" Type="http://schemas.openxmlformats.org/officeDocument/2006/relationships/slide" Target="slide15.xml"/><Relationship Id="rId10" Type="http://schemas.openxmlformats.org/officeDocument/2006/relationships/slide" Target="slide3.xml"/><Relationship Id="rId4" Type="http://schemas.openxmlformats.org/officeDocument/2006/relationships/tags" Target="../tags/tag13.xml"/><Relationship Id="rId9" Type="http://schemas.openxmlformats.org/officeDocument/2006/relationships/image" Target="../media/image12.png"/><Relationship Id="rId1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1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slide" Target="slide8.xml"/><Relationship Id="rId2" Type="http://schemas.openxmlformats.org/officeDocument/2006/relationships/tags" Target="../tags/tag19.xml"/><Relationship Id="rId16" Type="http://schemas.openxmlformats.org/officeDocument/2006/relationships/image" Target="../media/image4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slide" Target="slide4.xml"/><Relationship Id="rId5" Type="http://schemas.openxmlformats.org/officeDocument/2006/relationships/tags" Target="../tags/tag22.xml"/><Relationship Id="rId15" Type="http://schemas.openxmlformats.org/officeDocument/2006/relationships/slide" Target="slide15.xml"/><Relationship Id="rId10" Type="http://schemas.openxmlformats.org/officeDocument/2006/relationships/slide" Target="slide3.xml"/><Relationship Id="rId4" Type="http://schemas.openxmlformats.org/officeDocument/2006/relationships/tags" Target="../tags/tag21.xml"/><Relationship Id="rId9" Type="http://schemas.openxmlformats.org/officeDocument/2006/relationships/image" Target="../media/image12.png"/><Relationship Id="rId14" Type="http://schemas.openxmlformats.org/officeDocument/2006/relationships/slide" Target="slide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1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slide" Target="slide8.xml"/><Relationship Id="rId2" Type="http://schemas.openxmlformats.org/officeDocument/2006/relationships/tags" Target="../tags/tag27.xml"/><Relationship Id="rId16" Type="http://schemas.openxmlformats.org/officeDocument/2006/relationships/image" Target="../media/image4.png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slide" Target="slide4.xml"/><Relationship Id="rId5" Type="http://schemas.openxmlformats.org/officeDocument/2006/relationships/tags" Target="../tags/tag30.xml"/><Relationship Id="rId15" Type="http://schemas.openxmlformats.org/officeDocument/2006/relationships/slide" Target="slide15.xml"/><Relationship Id="rId10" Type="http://schemas.openxmlformats.org/officeDocument/2006/relationships/slide" Target="slide3.xml"/><Relationship Id="rId4" Type="http://schemas.openxmlformats.org/officeDocument/2006/relationships/tags" Target="../tags/tag29.xml"/><Relationship Id="rId9" Type="http://schemas.openxmlformats.org/officeDocument/2006/relationships/image" Target="../media/image12.png"/><Relationship Id="rId14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slide" Target="slide8.xml"/><Relationship Id="rId2" Type="http://schemas.openxmlformats.org/officeDocument/2006/relationships/tags" Target="../tags/tag35.xml"/><Relationship Id="rId16" Type="http://schemas.openxmlformats.org/officeDocument/2006/relationships/image" Target="../media/image4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slide" Target="slide4.xml"/><Relationship Id="rId5" Type="http://schemas.openxmlformats.org/officeDocument/2006/relationships/tags" Target="../tags/tag38.xml"/><Relationship Id="rId15" Type="http://schemas.openxmlformats.org/officeDocument/2006/relationships/slide" Target="slide15.xml"/><Relationship Id="rId10" Type="http://schemas.openxmlformats.org/officeDocument/2006/relationships/slide" Target="slide3.xml"/><Relationship Id="rId4" Type="http://schemas.openxmlformats.org/officeDocument/2006/relationships/tags" Target="../tags/tag37.xml"/><Relationship Id="rId9" Type="http://schemas.openxmlformats.org/officeDocument/2006/relationships/image" Target="../media/image12.png"/><Relationship Id="rId14" Type="http://schemas.openxmlformats.org/officeDocument/2006/relationships/slide" Target="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1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slide" Target="slide8.xml"/><Relationship Id="rId2" Type="http://schemas.openxmlformats.org/officeDocument/2006/relationships/tags" Target="../tags/tag42.xml"/><Relationship Id="rId16" Type="http://schemas.openxmlformats.org/officeDocument/2006/relationships/image" Target="../media/image4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" Target="slide4.xml"/><Relationship Id="rId5" Type="http://schemas.openxmlformats.org/officeDocument/2006/relationships/tags" Target="../tags/tag45.xml"/><Relationship Id="rId15" Type="http://schemas.openxmlformats.org/officeDocument/2006/relationships/slide" Target="slide15.xml"/><Relationship Id="rId10" Type="http://schemas.openxmlformats.org/officeDocument/2006/relationships/slide" Target="slide3.xml"/><Relationship Id="rId4" Type="http://schemas.openxmlformats.org/officeDocument/2006/relationships/tags" Target="../tags/tag44.xml"/><Relationship Id="rId9" Type="http://schemas.openxmlformats.org/officeDocument/2006/relationships/image" Target="../media/image12.png"/><Relationship Id="rId14" Type="http://schemas.openxmlformats.org/officeDocument/2006/relationships/slide" Target="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41.xml"/><Relationship Id="rId1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49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5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1.xml"/><Relationship Id="rId5" Type="http://schemas.openxmlformats.org/officeDocument/2006/relationships/image" Target="../media/image4.png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4.xml"/><Relationship Id="rId7" Type="http://schemas.openxmlformats.org/officeDocument/2006/relationships/image" Target="../media/image12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25663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FFFF66"/>
                </a:solidFill>
              </a:rPr>
              <a:t>Objectives</a:t>
            </a:r>
          </a:p>
        </p:txBody>
      </p:sp>
      <p:pic>
        <p:nvPicPr>
          <p:cNvPr id="4100" name="Picture 4" descr="dglxasset[3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762000"/>
            <a:ext cx="8458200" cy="589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524001" y="1828800"/>
            <a:ext cx="6096000" cy="276998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dirty="0" smtClean="0">
                <a:latin typeface="Arial Narrow" pitchFamily="34" charset="0"/>
              </a:rPr>
              <a:t>Describe how to configure </a:t>
            </a:r>
            <a:r>
              <a:rPr lang="en-US" i="1" u="sng" dirty="0" smtClean="0">
                <a:latin typeface="Arial Narrow" pitchFamily="34" charset="0"/>
              </a:rPr>
              <a:t>Clock Functions</a:t>
            </a:r>
            <a:r>
              <a:rPr lang="en-US" dirty="0" smtClean="0">
                <a:latin typeface="Arial Narrow" pitchFamily="34" charset="0"/>
              </a:rPr>
              <a:t/>
            </a:r>
            <a:br>
              <a:rPr lang="en-US" dirty="0" smtClean="0">
                <a:latin typeface="Arial Narrow" pitchFamily="34" charset="0"/>
              </a:rPr>
            </a:br>
            <a:r>
              <a:rPr lang="en-US" dirty="0" smtClean="0">
                <a:latin typeface="Arial Narrow" pitchFamily="34" charset="0"/>
              </a:rPr>
              <a:t>to execute periodically</a:t>
            </a:r>
            <a:endParaRPr lang="en-US" dirty="0"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dirty="0" smtClean="0">
                <a:latin typeface="Arial Narrow" pitchFamily="34" charset="0"/>
              </a:rPr>
              <a:t>Use Timestamp to </a:t>
            </a:r>
            <a:r>
              <a:rPr lang="en-US" i="1" u="sng" dirty="0" smtClean="0">
                <a:latin typeface="Arial Narrow" pitchFamily="34" charset="0"/>
              </a:rPr>
              <a:t>benchmark code</a:t>
            </a:r>
            <a:endParaRPr lang="en-US" i="1" u="sng" dirty="0"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u="sng" smtClean="0">
                <a:latin typeface="Arial Narrow" pitchFamily="34" charset="0"/>
              </a:rPr>
              <a:t>Review</a:t>
            </a:r>
            <a:r>
              <a:rPr lang="en-US" smtClean="0">
                <a:latin typeface="Arial Narrow" pitchFamily="34" charset="0"/>
              </a:rPr>
              <a:t> basic debug tools and UIA</a:t>
            </a:r>
            <a:endParaRPr lang="en-US" dirty="0" smtClean="0">
              <a:latin typeface="Arial Narrow" pitchFamily="34" charset="0"/>
            </a:endParaRPr>
          </a:p>
          <a:p>
            <a:pPr marL="287338" indent="-287338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i="1" u="sng" smtClean="0">
                <a:latin typeface="Arial Narrow" pitchFamily="34" charset="0"/>
              </a:rPr>
              <a:t>Lab 7</a:t>
            </a:r>
            <a:r>
              <a:rPr lang="en-US" smtClean="0">
                <a:latin typeface="Arial Narrow" pitchFamily="34" charset="0"/>
              </a:rPr>
              <a:t> </a:t>
            </a:r>
            <a:r>
              <a:rPr lang="en-US" dirty="0">
                <a:latin typeface="Arial Narrow" pitchFamily="34" charset="0"/>
              </a:rPr>
              <a:t>– </a:t>
            </a:r>
            <a:r>
              <a:rPr lang="en-US" dirty="0" smtClean="0">
                <a:latin typeface="Arial Narrow" pitchFamily="34" charset="0"/>
              </a:rPr>
              <a:t>Add Clock </a:t>
            </a:r>
            <a:r>
              <a:rPr lang="en-US" dirty="0" err="1" smtClean="0">
                <a:latin typeface="Arial Narrow" pitchFamily="34" charset="0"/>
              </a:rPr>
              <a:t>Fxn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smtClean="0">
                <a:latin typeface="Arial Narrow" pitchFamily="34" charset="0"/>
              </a:rPr>
              <a:t>and use Timestamp to provide benchmarking</a:t>
            </a:r>
            <a:endParaRPr lang="en-US" i="1" u="sng" dirty="0">
              <a:latin typeface="Arial Narrow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600200"/>
            <a:ext cx="5562600" cy="3048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3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713288"/>
            <a:ext cx="5562600" cy="4953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Clock Functions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877" y="229285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Module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877" y="2698680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Functions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3104508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Timestamp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3510336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BIOS – Timer/Clock Usage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943152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6546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600200"/>
            <a:ext cx="5562600" cy="3048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71328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Clock Functions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5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74000" y="2261102"/>
            <a:ext cx="4864800" cy="439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Module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877" y="2816156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Functions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3221984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Timestamp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362781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BIOS – Timer/Clock Usage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06062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098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wrap="none" anchorCtr="1">
            <a:normAutofit/>
          </a:bodyPr>
          <a:lstStyle/>
          <a:p>
            <a:r>
              <a:rPr lang="en-US" dirty="0" smtClean="0"/>
              <a:t>Time Can be an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85800"/>
            <a:ext cx="7449475" cy="38779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What kinds of events cause these threads to run?</a:t>
            </a:r>
          </a:p>
        </p:txBody>
      </p:sp>
      <p:pic>
        <p:nvPicPr>
          <p:cNvPr id="1026" name="Picture 2" descr="C:\Documents and Settings\a0159877\Desktop\schedul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4032" y="1143000"/>
            <a:ext cx="5237768" cy="3326111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97775" y="4781589"/>
            <a:ext cx="8610600" cy="134806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Can “time” be an event?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Which hardware peripheral would you use?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How do you configure a function to run at a periodic rate?</a:t>
            </a:r>
          </a:p>
        </p:txBody>
      </p:sp>
      <p:sp>
        <p:nvSpPr>
          <p:cNvPr id="8" name="Leading Question"/>
          <p:cNvSpPr txBox="1"/>
          <p:nvPr/>
        </p:nvSpPr>
        <p:spPr>
          <a:xfrm>
            <a:off x="2295987" y="6430269"/>
            <a:ext cx="6227539" cy="252377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SYS/BIOS offers </a:t>
            </a:r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Clock</a:t>
            </a:r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services to set up periodic functions...</a:t>
            </a:r>
          </a:p>
        </p:txBody>
      </p:sp>
      <p:pic>
        <p:nvPicPr>
          <p:cNvPr id="9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wrap="none" anchorCtr="1">
            <a:normAutofit/>
          </a:bodyPr>
          <a:lstStyle/>
          <a:p>
            <a:r>
              <a:rPr lang="en-US" dirty="0" smtClean="0"/>
              <a:t>Clock Module</a:t>
            </a:r>
          </a:p>
        </p:txBody>
      </p:sp>
      <p:sp>
        <p:nvSpPr>
          <p:cNvPr id="35" name="Leading Question"/>
          <p:cNvSpPr txBox="1"/>
          <p:nvPr/>
        </p:nvSpPr>
        <p:spPr>
          <a:xfrm>
            <a:off x="4205437" y="6436425"/>
            <a:ext cx="4291431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How do you configure the Clock Module?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2533" y="379043"/>
            <a:ext cx="941796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app.cfg</a:t>
            </a:r>
          </a:p>
        </p:txBody>
      </p:sp>
      <p:sp>
        <p:nvSpPr>
          <p:cNvPr id="64" name="Rounded Rectangle 63"/>
          <p:cNvSpPr/>
          <p:nvPr/>
        </p:nvSpPr>
        <p:spPr bwMode="auto">
          <a:xfrm>
            <a:off x="2562100" y="1031175"/>
            <a:ext cx="5257800" cy="2133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Flowchart: Document 64"/>
          <p:cNvSpPr/>
          <p:nvPr/>
        </p:nvSpPr>
        <p:spPr bwMode="auto">
          <a:xfrm>
            <a:off x="5784740" y="1297339"/>
            <a:ext cx="1654160" cy="1638836"/>
          </a:xfrm>
          <a:prstGeom prst="flowChartDocumen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Clock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Swi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838668" y="1740476"/>
            <a:ext cx="1680781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buClr>
                <a:schemeClr val="tx2"/>
              </a:buClr>
              <a:buSzPct val="75000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Launch any</a:t>
            </a:r>
            <a:b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“ready to run”</a:t>
            </a:r>
            <a:b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Clock </a:t>
            </a:r>
            <a:r>
              <a:rPr lang="en-US" sz="2000" b="0" dirty="0" err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Fxns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57101" y="687739"/>
            <a:ext cx="1524000" cy="1200329"/>
          </a:xfrm>
          <a:prstGeom prst="rect">
            <a:avLst/>
          </a:prstGeom>
          <a:solidFill>
            <a:srgbClr val="CCFF66"/>
          </a:solidFill>
          <a:ln w="19050">
            <a:solidFill>
              <a:schemeClr val="tx1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wrap="square" rIns="0" rtlCol="0" anchor="ctr" anchorCtr="0">
            <a:spAutoFit/>
          </a:bodyPr>
          <a:lstStyle/>
          <a:p>
            <a:pPr marL="166688" indent="-166688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Priority</a:t>
            </a:r>
          </a:p>
          <a:p>
            <a:pPr marL="166688" indent="-166688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Time Base</a:t>
            </a:r>
          </a:p>
          <a:p>
            <a:pPr marL="166688" indent="-166688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Timer #</a:t>
            </a:r>
          </a:p>
          <a:p>
            <a:pPr marL="166688" indent="-166688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Tick rate (uS)</a:t>
            </a:r>
            <a:endParaRPr lang="en-US" sz="18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5" name="Rounded Rectangle 74"/>
          <p:cNvSpPr/>
          <p:nvPr/>
        </p:nvSpPr>
        <p:spPr bwMode="auto">
          <a:xfrm>
            <a:off x="733300" y="2195440"/>
            <a:ext cx="1447800" cy="381000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Clock_tick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()</a:t>
            </a:r>
          </a:p>
        </p:txBody>
      </p:sp>
      <p:sp>
        <p:nvSpPr>
          <p:cNvPr id="76" name="Flowchart: Manual Operation 75"/>
          <p:cNvSpPr/>
          <p:nvPr/>
        </p:nvSpPr>
        <p:spPr bwMode="auto">
          <a:xfrm rot="16200000">
            <a:off x="4336940" y="1966841"/>
            <a:ext cx="1066800" cy="304800"/>
          </a:xfrm>
          <a:prstGeom prst="flowChartManualOperation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3" name="Rounded Rectangle 82"/>
          <p:cNvSpPr/>
          <p:nvPr/>
        </p:nvSpPr>
        <p:spPr bwMode="auto">
          <a:xfrm>
            <a:off x="2714500" y="1662040"/>
            <a:ext cx="1698640" cy="381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HW Timer, ISR</a:t>
            </a:r>
          </a:p>
        </p:txBody>
      </p:sp>
      <p:cxnSp>
        <p:nvCxnSpPr>
          <p:cNvPr id="84" name="Straight Arrow Connector 83"/>
          <p:cNvCxnSpPr/>
          <p:nvPr/>
        </p:nvCxnSpPr>
        <p:spPr bwMode="auto">
          <a:xfrm>
            <a:off x="4413140" y="1856972"/>
            <a:ext cx="3048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86" name="Straight Arrow Connector 85"/>
          <p:cNvCxnSpPr>
            <a:stCxn id="75" idx="3"/>
          </p:cNvCxnSpPr>
          <p:nvPr/>
        </p:nvCxnSpPr>
        <p:spPr bwMode="auto">
          <a:xfrm>
            <a:off x="2181100" y="2385940"/>
            <a:ext cx="2536840" cy="778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92" name="Straight Arrow Connector 91"/>
          <p:cNvCxnSpPr>
            <a:stCxn id="76" idx="2"/>
            <a:endCxn id="65" idx="1"/>
          </p:cNvCxnSpPr>
          <p:nvPr/>
        </p:nvCxnSpPr>
        <p:spPr bwMode="auto">
          <a:xfrm flipV="1">
            <a:off x="5022740" y="2116757"/>
            <a:ext cx="762000" cy="248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96" name="Shape 95"/>
          <p:cNvCxnSpPr>
            <a:endCxn id="65" idx="0"/>
          </p:cNvCxnSpPr>
          <p:nvPr/>
        </p:nvCxnSpPr>
        <p:spPr bwMode="auto">
          <a:xfrm>
            <a:off x="1723900" y="878775"/>
            <a:ext cx="4887920" cy="418564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2"/>
            </a:solidFill>
            <a:prstDash val="dash"/>
            <a:round/>
            <a:headEnd type="none" w="sm" len="sm"/>
            <a:tailEnd type="arrow"/>
          </a:ln>
          <a:effectLst/>
        </p:spPr>
      </p:cxnSp>
      <p:cxnSp>
        <p:nvCxnSpPr>
          <p:cNvPr id="102" name="Shape 101"/>
          <p:cNvCxnSpPr>
            <a:endCxn id="76" idx="3"/>
          </p:cNvCxnSpPr>
          <p:nvPr/>
        </p:nvCxnSpPr>
        <p:spPr bwMode="auto">
          <a:xfrm>
            <a:off x="2028700" y="1183575"/>
            <a:ext cx="2841640" cy="508946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2"/>
            </a:solidFill>
            <a:prstDash val="dash"/>
            <a:round/>
            <a:headEnd type="none" w="sm" len="sm"/>
            <a:tailEnd type="arrow"/>
          </a:ln>
          <a:effectLst/>
        </p:spPr>
      </p:cxnSp>
      <p:cxnSp>
        <p:nvCxnSpPr>
          <p:cNvPr id="106" name="Shape 105"/>
          <p:cNvCxnSpPr>
            <a:endCxn id="83" idx="0"/>
          </p:cNvCxnSpPr>
          <p:nvPr/>
        </p:nvCxnSpPr>
        <p:spPr bwMode="auto">
          <a:xfrm>
            <a:off x="1800100" y="1412175"/>
            <a:ext cx="1763720" cy="249865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2"/>
            </a:solidFill>
            <a:prstDash val="dash"/>
            <a:round/>
            <a:headEnd type="none" w="sm" len="sm"/>
            <a:tailEnd type="arrow"/>
          </a:ln>
          <a:effectLst/>
        </p:spPr>
      </p:cxnSp>
      <p:sp>
        <p:nvSpPr>
          <p:cNvPr id="107" name="TextBox 106"/>
          <p:cNvSpPr txBox="1"/>
          <p:nvPr/>
        </p:nvSpPr>
        <p:spPr>
          <a:xfrm>
            <a:off x="5066067" y="1816210"/>
            <a:ext cx="595035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Tick</a:t>
            </a:r>
          </a:p>
        </p:txBody>
      </p:sp>
      <p:cxnSp>
        <p:nvCxnSpPr>
          <p:cNvPr id="109" name="Straight Arrow Connector 108"/>
          <p:cNvCxnSpPr/>
          <p:nvPr/>
        </p:nvCxnSpPr>
        <p:spPr bwMode="auto">
          <a:xfrm>
            <a:off x="7438900" y="1640775"/>
            <a:ext cx="609600" cy="15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10" name="Straight Arrow Connector 109"/>
          <p:cNvCxnSpPr/>
          <p:nvPr/>
        </p:nvCxnSpPr>
        <p:spPr bwMode="auto">
          <a:xfrm>
            <a:off x="7438900" y="1793175"/>
            <a:ext cx="609600" cy="15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11" name="Straight Arrow Connector 110"/>
          <p:cNvCxnSpPr/>
          <p:nvPr/>
        </p:nvCxnSpPr>
        <p:spPr bwMode="auto">
          <a:xfrm>
            <a:off x="7438900" y="1945575"/>
            <a:ext cx="609600" cy="15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12" name="Straight Arrow Connector 111"/>
          <p:cNvCxnSpPr/>
          <p:nvPr/>
        </p:nvCxnSpPr>
        <p:spPr bwMode="auto">
          <a:xfrm>
            <a:off x="7438900" y="2097975"/>
            <a:ext cx="609600" cy="15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22" name="TextBox 121"/>
          <p:cNvSpPr txBox="1"/>
          <p:nvPr/>
        </p:nvSpPr>
        <p:spPr>
          <a:xfrm>
            <a:off x="657100" y="5955911"/>
            <a:ext cx="6780446" cy="3139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lvl="0" indent="-342900">
              <a:buClr>
                <a:srgbClr val="0066FF"/>
              </a:buClr>
              <a:buSzPct val="75000"/>
            </a:pPr>
            <a:r>
              <a:rPr lang="en-US" sz="1800" b="0" i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*Hint:  choose a tick rate that minimize # INTs (least common multiple)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" y="3646561"/>
            <a:ext cx="7737439" cy="218521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Makes setting up a 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hardware timer very simple – user specifies</a:t>
            </a:r>
            <a:b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tick rate* (</a:t>
            </a:r>
            <a:r>
              <a:rPr lang="en-US" sz="20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) – </a:t>
            </a:r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Clock module </a:t>
            </a:r>
            <a:r>
              <a:rPr lang="en-US" sz="20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programs Timer, Hwi, ISR and Swi</a:t>
            </a:r>
            <a:endParaRPr lang="en-US" sz="2000" b="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Allows 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user to create different event rates from a single timer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User can choose time base – timer or app calls </a:t>
            </a:r>
            <a:r>
              <a:rPr lang="en-US" sz="20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Clock_tick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Explicit call of </a:t>
            </a:r>
            <a:r>
              <a:rPr lang="en-US" sz="20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Clock_tick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() could occur from your own ISR (GPIO, etc.)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Clock </a:t>
            </a:r>
            <a:r>
              <a:rPr lang="en-US" sz="20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Swi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launches periodic functions after N ticks </a:t>
            </a:r>
            <a:r>
              <a:rPr lang="en-US" sz="1800" b="0" i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(details coming up…)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4175" y="3276600"/>
            <a:ext cx="1781513" cy="313932"/>
          </a:xfrm>
          <a:prstGeom prst="rect">
            <a:avLst/>
          </a:prstGeom>
          <a:solidFill>
            <a:schemeClr val="accent1">
              <a:lumMod val="9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r>
              <a: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Timeout tick rate</a:t>
            </a:r>
          </a:p>
        </p:txBody>
      </p:sp>
      <p:cxnSp>
        <p:nvCxnSpPr>
          <p:cNvPr id="129" name="Shape 128"/>
          <p:cNvCxnSpPr>
            <a:endCxn id="127" idx="1"/>
          </p:cNvCxnSpPr>
          <p:nvPr/>
        </p:nvCxnSpPr>
        <p:spPr bwMode="auto">
          <a:xfrm rot="16200000" flipH="1">
            <a:off x="5142335" y="2401726"/>
            <a:ext cx="1278802" cy="784878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pic>
        <p:nvPicPr>
          <p:cNvPr id="28" name="Animated Logo" descr="tilogo_color_twol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a0159877\AppData\Local\Temp\SNAGHTML1639fc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399" y="3429000"/>
            <a:ext cx="6555965" cy="281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Configuring the </a:t>
            </a:r>
            <a:r>
              <a:rPr lang="en-US" i="1" u="sng" dirty="0" smtClean="0"/>
              <a:t>Clock Module</a:t>
            </a:r>
            <a:r>
              <a:rPr lang="en-US" i="1" dirty="0" smtClean="0"/>
              <a:t> </a:t>
            </a:r>
            <a:r>
              <a:rPr lang="en-US" dirty="0" smtClean="0"/>
              <a:t>(GUI)</a:t>
            </a:r>
          </a:p>
        </p:txBody>
      </p:sp>
      <p:sp>
        <p:nvSpPr>
          <p:cNvPr id="368651" name="Oval 11"/>
          <p:cNvSpPr>
            <a:spLocks noChangeArrowheads="1"/>
          </p:cNvSpPr>
          <p:nvPr/>
        </p:nvSpPr>
        <p:spPr bwMode="auto">
          <a:xfrm>
            <a:off x="228600" y="762000"/>
            <a:ext cx="381000" cy="3810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89" name="Text Box 12"/>
          <p:cNvSpPr txBox="1">
            <a:spLocks noChangeArrowheads="1"/>
          </p:cNvSpPr>
          <p:nvPr/>
        </p:nvSpPr>
        <p:spPr bwMode="auto">
          <a:xfrm>
            <a:off x="247650" y="768350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390" name="Text Box 13"/>
          <p:cNvSpPr txBox="1">
            <a:spLocks noChangeArrowheads="1"/>
          </p:cNvSpPr>
          <p:nvPr/>
        </p:nvSpPr>
        <p:spPr bwMode="auto">
          <a:xfrm>
            <a:off x="641350" y="806450"/>
            <a:ext cx="325185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Use Clock </a:t>
            </a:r>
            <a:r>
              <a:rPr lang="en-US" sz="1800" b="0" i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(Available Products)</a:t>
            </a:r>
            <a:endParaRPr lang="en-US" sz="1800" b="0" i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228600" y="2857375"/>
            <a:ext cx="381000" cy="3810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247650" y="2863725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641350" y="2901825"/>
            <a:ext cx="6721968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Configure 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Clock – Clock Input, Tick period, Timer, </a:t>
            </a:r>
            <a:r>
              <a:rPr lang="en-US" sz="200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Swi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priority:</a:t>
            </a: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6432" y="3453772"/>
            <a:ext cx="949299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app.cfg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3828871"/>
            <a:ext cx="1714500" cy="1200329"/>
          </a:xfrm>
          <a:prstGeom prst="rect">
            <a:avLst/>
          </a:prstGeom>
          <a:solidFill>
            <a:srgbClr val="CCFF66"/>
          </a:solidFill>
          <a:ln w="19050">
            <a:solidFill>
              <a:srgbClr val="00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wrap="square" rIns="0" rtlCol="0" anchor="ctr" anchorCtr="0">
            <a:spAutoFit/>
          </a:bodyPr>
          <a:lstStyle/>
          <a:p>
            <a:pPr marL="166688" marR="0" lvl="0" indent="-1666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Priority</a:t>
            </a:r>
          </a:p>
          <a:p>
            <a:pPr marL="166688" marR="0" lvl="0" indent="-1666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Time Base</a:t>
            </a:r>
          </a:p>
          <a:p>
            <a:pPr marL="166688" marR="0" lvl="0" indent="-1666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Timer #</a:t>
            </a:r>
          </a:p>
          <a:p>
            <a:pPr marL="166688" marR="0" lvl="0" indent="-16668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Tick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rate (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uS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)</a:t>
            </a:r>
          </a:p>
        </p:txBody>
      </p:sp>
      <p:cxnSp>
        <p:nvCxnSpPr>
          <p:cNvPr id="25" name="Straight Arrow Connector 24"/>
          <p:cNvCxnSpPr/>
          <p:nvPr/>
        </p:nvCxnSpPr>
        <p:spPr bwMode="auto">
          <a:xfrm>
            <a:off x="1524000" y="4038600"/>
            <a:ext cx="5791200" cy="28797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1600200" y="4326575"/>
            <a:ext cx="990600" cy="3048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1905000" y="4861517"/>
            <a:ext cx="685800" cy="62488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3" name="Right Arrow 22"/>
          <p:cNvSpPr/>
          <p:nvPr/>
        </p:nvSpPr>
        <p:spPr bwMode="auto">
          <a:xfrm>
            <a:off x="5769425" y="1364675"/>
            <a:ext cx="533400" cy="4572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2052" name="Picture 4" descr="C:\Users\a0159877\AppData\Local\Temp\SNAGHTML169f176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757775"/>
            <a:ext cx="1905000" cy="204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a0159877\AppData\Local\Temp\SNAGHTML16ab283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993" y="989116"/>
            <a:ext cx="1800414" cy="147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Animated Logo" descr="tilogo_color_twolin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66800" y="6224650"/>
            <a:ext cx="8020016" cy="2893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i="1" smtClean="0">
                <a:solidFill>
                  <a:schemeClr val="dk1"/>
                </a:solidFill>
                <a:effectLst/>
                <a:latin typeface="Arial Narrow" panose="020B0506020202030204" pitchFamily="34" charset="0"/>
              </a:rPr>
              <a:t>Note:  </a:t>
            </a:r>
            <a:r>
              <a:rPr lang="en-US" sz="1600" b="0" i="1" smtClean="0">
                <a:solidFill>
                  <a:schemeClr val="dk1"/>
                </a:solidFill>
                <a:effectLst/>
                <a:latin typeface="Arial Narrow" panose="020B0506020202030204" pitchFamily="34" charset="0"/>
              </a:rPr>
              <a:t>Tiva/MSP430 </a:t>
            </a:r>
            <a:r>
              <a:rPr lang="en-US" sz="1600" b="0" i="1" smtClean="0">
                <a:solidFill>
                  <a:schemeClr val="dk1"/>
                </a:solidFill>
                <a:effectLst/>
                <a:latin typeface="Arial Narrow" panose="020B0506020202030204" pitchFamily="34" charset="0"/>
              </a:rPr>
              <a:t>users can also suppress clock tick interrupts to save power and/or stay in sleep mode</a:t>
            </a:r>
            <a:endParaRPr lang="en-US" sz="1600" b="0" i="1" dirty="0" smtClean="0">
              <a:solidFill>
                <a:schemeClr val="dk1"/>
              </a:solidFill>
              <a:effectLst/>
              <a:latin typeface="Arial Narrow" panose="020B0506020202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600200"/>
            <a:ext cx="5562600" cy="3048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71328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Clock Functions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877" y="226110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Module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5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74000" y="2666930"/>
            <a:ext cx="4864800" cy="439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Functions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3221984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Timestamp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362781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BIOS – Timer/Clock Usage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06062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1002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 bwMode="auto">
          <a:xfrm>
            <a:off x="975889" y="2209800"/>
            <a:ext cx="3462650" cy="289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</a:bodyPr>
          <a:lstStyle/>
          <a:p>
            <a:pPr marL="0" marR="0" indent="0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wrap="none" anchorCtr="1">
            <a:normAutofit/>
          </a:bodyPr>
          <a:lstStyle/>
          <a:p>
            <a:r>
              <a:rPr lang="en-US" dirty="0" smtClean="0"/>
              <a:t>Clock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321" y="623264"/>
            <a:ext cx="8626079" cy="145886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For each Clock Function, user specifies </a:t>
            </a:r>
            <a:r>
              <a:rPr lang="en-US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function</a:t>
            </a: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to run and </a:t>
            </a:r>
            <a:r>
              <a:rPr lang="en-US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# ticks</a:t>
            </a: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between runs (period)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“Tick” launches Clock </a:t>
            </a:r>
            <a:r>
              <a:rPr lang="en-US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Swi</a:t>
            </a: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which compares running</a:t>
            </a:r>
            <a:b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“tick count” with “period” to determine if each </a:t>
            </a:r>
            <a:r>
              <a:rPr lang="en-US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fxn</a:t>
            </a: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should run:</a:t>
            </a:r>
            <a:endParaRPr lang="en-US" b="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195089" y="2390900"/>
            <a:ext cx="1828800" cy="2514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Clock </a:t>
            </a:r>
            <a:r>
              <a:rPr lang="en-US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Swi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2388064" y="2905500"/>
            <a:ext cx="1447800" cy="381000"/>
          </a:xfrm>
          <a:prstGeom prst="roundRect">
            <a:avLst/>
          </a:prstGeom>
          <a:solidFill>
            <a:srgbClr val="CC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Clk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Fxn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1</a:t>
            </a:r>
          </a:p>
        </p:txBody>
      </p:sp>
      <p:sp>
        <p:nvSpPr>
          <p:cNvPr id="23" name="Rounded Rectangle 22"/>
          <p:cNvSpPr/>
          <p:nvPr/>
        </p:nvSpPr>
        <p:spPr bwMode="auto">
          <a:xfrm>
            <a:off x="2388064" y="3362700"/>
            <a:ext cx="1447800" cy="381000"/>
          </a:xfrm>
          <a:prstGeom prst="roundRect">
            <a:avLst/>
          </a:prstGeom>
          <a:solidFill>
            <a:srgbClr val="CC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Clk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Fxn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2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2388064" y="4295900"/>
            <a:ext cx="1447800" cy="381000"/>
          </a:xfrm>
          <a:prstGeom prst="roundRect">
            <a:avLst/>
          </a:prstGeom>
          <a:solidFill>
            <a:srgbClr val="CC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Clk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Fxn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n</a:t>
            </a:r>
          </a:p>
        </p:txBody>
      </p:sp>
      <p:sp>
        <p:nvSpPr>
          <p:cNvPr id="26" name="Oval 25"/>
          <p:cNvSpPr/>
          <p:nvPr/>
        </p:nvSpPr>
        <p:spPr bwMode="auto">
          <a:xfrm>
            <a:off x="3033289" y="3874328"/>
            <a:ext cx="76200" cy="762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3033289" y="4067300"/>
            <a:ext cx="76200" cy="762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5011736" y="2390900"/>
            <a:ext cx="1828800" cy="1981200"/>
          </a:xfrm>
          <a:prstGeom prst="rect">
            <a:avLst/>
          </a:prstGeom>
          <a:solidFill>
            <a:srgbClr val="CCFF66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Clock </a:t>
            </a:r>
            <a:r>
              <a:rPr lang="en-US" sz="2000" b="0" dirty="0" err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Fxn</a:t>
            </a:r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2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06786" y="2879122"/>
            <a:ext cx="1443024" cy="136511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ct val="50000"/>
              </a:lnSpc>
            </a:pP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v</a:t>
            </a:r>
            <a:r>
              <a: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oid </a:t>
            </a:r>
            <a:r>
              <a:rPr lang="en-US" sz="1800" b="0" dirty="0" err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doThis</a:t>
            </a:r>
            <a:r>
              <a: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()</a:t>
            </a:r>
          </a:p>
          <a:p>
            <a:pPr>
              <a:lnSpc>
                <a:spcPct val="50000"/>
              </a:lnSpc>
            </a:pP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  </a:t>
            </a:r>
            <a:r>
              <a:rPr lang="en-US" sz="18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CheckUsr</a:t>
            </a: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();</a:t>
            </a:r>
          </a:p>
          <a:p>
            <a:pPr>
              <a:lnSpc>
                <a:spcPct val="50000"/>
              </a:lnSpc>
            </a:pP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  </a:t>
            </a:r>
            <a:r>
              <a:rPr lang="en-US" sz="18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doAlgo</a:t>
            </a: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();</a:t>
            </a:r>
          </a:p>
          <a:p>
            <a:pPr>
              <a:lnSpc>
                <a:spcPct val="50000"/>
              </a:lnSpc>
            </a:pPr>
            <a:r>
              <a: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}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3795289" y="3533900"/>
            <a:ext cx="1219200" cy="158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sm" len="sm"/>
            <a:tailEnd type="arrow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289321" y="5300583"/>
            <a:ext cx="7333611" cy="87530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Clock Functions must complete within one System Tick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Break long functions into 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multiple threads (if needed)</a:t>
            </a:r>
            <a:endParaRPr lang="en-US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Leading Question"/>
          <p:cNvSpPr txBox="1"/>
          <p:nvPr/>
        </p:nvSpPr>
        <p:spPr>
          <a:xfrm>
            <a:off x="4392449" y="6389694"/>
            <a:ext cx="4166397" cy="252377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How do you configure a Clock Function?</a:t>
            </a:r>
          </a:p>
        </p:txBody>
      </p:sp>
      <p:cxnSp>
        <p:nvCxnSpPr>
          <p:cNvPr id="28" name="Straight Arrow Connector 27"/>
          <p:cNvCxnSpPr/>
          <p:nvPr/>
        </p:nvCxnSpPr>
        <p:spPr bwMode="auto">
          <a:xfrm>
            <a:off x="1128289" y="3538443"/>
            <a:ext cx="1090550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1256939" y="3185837"/>
            <a:ext cx="675185" cy="3951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Tick</a:t>
            </a:r>
          </a:p>
        </p:txBody>
      </p:sp>
      <p:pic>
        <p:nvPicPr>
          <p:cNvPr id="19" name="Animated Logo" descr="tilogo_color_twol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Configuring a </a:t>
            </a:r>
            <a:r>
              <a:rPr lang="en-US" sz="3200" i="1" u="sng" dirty="0" smtClean="0"/>
              <a:t>Clock </a:t>
            </a:r>
            <a:r>
              <a:rPr lang="en-US" sz="3200" i="1" u="sng" dirty="0" err="1" smtClean="0"/>
              <a:t>Fxn</a:t>
            </a:r>
            <a:r>
              <a:rPr lang="en-US" sz="3200" i="1" dirty="0" smtClean="0"/>
              <a:t> – Statically via </a:t>
            </a:r>
            <a:r>
              <a:rPr lang="en-US" sz="3200" dirty="0" smtClean="0"/>
              <a:t>GUI</a:t>
            </a:r>
          </a:p>
        </p:txBody>
      </p:sp>
      <p:sp>
        <p:nvSpPr>
          <p:cNvPr id="368651" name="Oval 11"/>
          <p:cNvSpPr>
            <a:spLocks noChangeArrowheads="1"/>
          </p:cNvSpPr>
          <p:nvPr/>
        </p:nvSpPr>
        <p:spPr bwMode="auto">
          <a:xfrm>
            <a:off x="228600" y="1147950"/>
            <a:ext cx="381000" cy="3810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89" name="Text Box 12"/>
          <p:cNvSpPr txBox="1">
            <a:spLocks noChangeArrowheads="1"/>
          </p:cNvSpPr>
          <p:nvPr/>
        </p:nvSpPr>
        <p:spPr bwMode="auto">
          <a:xfrm>
            <a:off x="247650" y="1154300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6390" name="Text Box 13"/>
          <p:cNvSpPr txBox="1">
            <a:spLocks noChangeArrowheads="1"/>
          </p:cNvSpPr>
          <p:nvPr/>
        </p:nvSpPr>
        <p:spPr bwMode="auto">
          <a:xfrm>
            <a:off x="641350" y="1192400"/>
            <a:ext cx="3766352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Insert new Clock </a:t>
            </a:r>
            <a:r>
              <a:rPr lang="en-US" sz="200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Fxn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b="0" i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(Outline View)</a:t>
            </a:r>
            <a:endParaRPr lang="en-US" sz="1800" b="0" i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1447800" y="619125"/>
            <a:ext cx="5562600" cy="412750"/>
            <a:chOff x="480" y="390"/>
            <a:chExt cx="3504" cy="260"/>
          </a:xfrm>
        </p:grpSpPr>
        <p:sp>
          <p:nvSpPr>
            <p:cNvPr id="368655" name="Rectangle 15"/>
            <p:cNvSpPr>
              <a:spLocks noChangeArrowheads="1"/>
            </p:cNvSpPr>
            <p:nvPr/>
          </p:nvSpPr>
          <p:spPr bwMode="auto">
            <a:xfrm>
              <a:off x="480" y="406"/>
              <a:ext cx="3504" cy="244"/>
            </a:xfrm>
            <a:prstGeom prst="rect">
              <a:avLst/>
            </a:prstGeom>
            <a:solidFill>
              <a:srgbClr val="CCFF66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410" name="Text Box 16"/>
            <p:cNvSpPr txBox="1">
              <a:spLocks noChangeArrowheads="1"/>
            </p:cNvSpPr>
            <p:nvPr/>
          </p:nvSpPr>
          <p:spPr bwMode="auto">
            <a:xfrm>
              <a:off x="528" y="390"/>
              <a:ext cx="864" cy="26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 anchorCtr="1"/>
            <a:lstStyle/>
            <a:p>
              <a:r>
                <a:rPr lang="en-US" sz="2000" b="0" u="sng" dirty="0">
                  <a:solidFill>
                    <a:srgbClr val="000000"/>
                  </a:solidFill>
                </a:rPr>
                <a:t>Example</a:t>
              </a:r>
              <a:r>
                <a:rPr lang="en-US" sz="2000" b="0" dirty="0">
                  <a:solidFill>
                    <a:srgbClr val="000000"/>
                  </a:solidFill>
                </a:rPr>
                <a:t>:</a:t>
              </a:r>
            </a:p>
          </p:txBody>
        </p:sp>
        <p:sp>
          <p:nvSpPr>
            <p:cNvPr id="16411" name="Text Box 17"/>
            <p:cNvSpPr txBox="1">
              <a:spLocks noChangeArrowheads="1"/>
            </p:cNvSpPr>
            <p:nvPr/>
          </p:nvSpPr>
          <p:spPr bwMode="auto">
            <a:xfrm>
              <a:off x="1344" y="439"/>
              <a:ext cx="2400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70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Arial Narrow" pitchFamily="34" charset="0"/>
                </a:rPr>
                <a:t> </a:t>
              </a:r>
              <a:r>
                <a:rPr lang="en-US" sz="2000" b="0" dirty="0" smtClean="0">
                  <a:solidFill>
                    <a:srgbClr val="000000"/>
                  </a:solidFill>
                  <a:latin typeface="Arial Narrow" pitchFamily="34" charset="0"/>
                </a:rPr>
                <a:t>Trigger </a:t>
              </a:r>
              <a:r>
                <a:rPr lang="en-US" sz="2000" b="0" dirty="0" err="1" smtClean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ledToggle</a:t>
              </a:r>
              <a:r>
                <a:rPr lang="en-US" sz="2000" b="0" dirty="0" smtClean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() </a:t>
              </a:r>
              <a:r>
                <a:rPr lang="en-US" sz="2000" b="0" smtClean="0">
                  <a:solidFill>
                    <a:srgbClr val="000000"/>
                  </a:solidFill>
                  <a:latin typeface="Arial Narrow" pitchFamily="34" charset="0"/>
                </a:rPr>
                <a:t>every 500 </a:t>
              </a:r>
              <a:r>
                <a:rPr lang="en-US" sz="2000" b="0" dirty="0" smtClean="0">
                  <a:solidFill>
                    <a:srgbClr val="000000"/>
                  </a:solidFill>
                  <a:latin typeface="Arial Narrow" pitchFamily="34" charset="0"/>
                </a:rPr>
                <a:t>ticks</a:t>
              </a:r>
              <a:endParaRPr lang="en-US" sz="2000" b="0" dirty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</p:grpSp>
      <p:sp>
        <p:nvSpPr>
          <p:cNvPr id="39" name="Oval 11"/>
          <p:cNvSpPr>
            <a:spLocks noChangeArrowheads="1"/>
          </p:cNvSpPr>
          <p:nvPr/>
        </p:nvSpPr>
        <p:spPr bwMode="auto">
          <a:xfrm>
            <a:off x="228600" y="3190875"/>
            <a:ext cx="381000" cy="381000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Box 12"/>
          <p:cNvSpPr txBox="1">
            <a:spLocks noChangeArrowheads="1"/>
          </p:cNvSpPr>
          <p:nvPr/>
        </p:nvSpPr>
        <p:spPr bwMode="auto">
          <a:xfrm>
            <a:off x="247650" y="3197225"/>
            <a:ext cx="354013" cy="384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2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641350" y="3235325"/>
            <a:ext cx="717113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Configure 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Clock </a:t>
            </a:r>
            <a:r>
              <a:rPr lang="en-US" sz="200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Fxn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– Object name, function, init timeout, period:</a:t>
            </a:r>
            <a:endParaRPr lang="en-US" sz="20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350" y="5503616"/>
            <a:ext cx="3060134" cy="5923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tIns="0" bIns="0" rtlCol="0" anchor="ctr" anchorCtr="0">
            <a:noAutofit/>
          </a:bodyPr>
          <a:lstStyle/>
          <a:p>
            <a:pPr marL="342900" lvl="0" indent="-342900" algn="ctr">
              <a:spcBef>
                <a:spcPts val="0"/>
              </a:spcBef>
              <a:buClr>
                <a:srgbClr val="0066FF"/>
              </a:buClr>
              <a:buSzPct val="75000"/>
            </a:pP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To START the Clock </a:t>
            </a:r>
            <a:r>
              <a:rPr lang="en-US" sz="2000" b="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Fxn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at runtime, check this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119563"/>
            <a:ext cx="2622809" cy="990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1">
            <a:noAutofit/>
          </a:bodyPr>
          <a:lstStyle/>
          <a:p>
            <a:pPr marL="342900" lvl="0" indent="-342900" algn="ctr">
              <a:spcBef>
                <a:spcPts val="0"/>
              </a:spcBef>
              <a:buClr>
                <a:srgbClr val="0066FF"/>
              </a:buClr>
              <a:buSzPct val="75000"/>
            </a:pP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For “one-shot”, set initial</a:t>
            </a:r>
          </a:p>
          <a:p>
            <a:pPr marL="342900" lvl="0" indent="-342900" algn="ctr">
              <a:spcBef>
                <a:spcPts val="0"/>
              </a:spcBef>
              <a:buClr>
                <a:srgbClr val="0066FF"/>
              </a:buClr>
              <a:buSzPct val="75000"/>
            </a:pP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timeout </a:t>
            </a:r>
            <a:r>
              <a:rPr lang="en-US" sz="2000" b="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to”</a:t>
            </a:r>
            <a:r>
              <a:rPr lang="en-US" sz="2000" b="0" i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value</a:t>
            </a:r>
            <a:r>
              <a:rPr lang="en-US" sz="2000" b="0" i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”, then </a:t>
            </a:r>
          </a:p>
          <a:p>
            <a:pPr marL="342900" lvl="0" indent="-342900" algn="ctr">
              <a:spcBef>
                <a:spcPts val="0"/>
              </a:spcBef>
              <a:buClr>
                <a:srgbClr val="0066FF"/>
              </a:buClr>
              <a:buSzPct val="75000"/>
            </a:pP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set period = 0</a:t>
            </a:r>
          </a:p>
        </p:txBody>
      </p:sp>
      <p:pic>
        <p:nvPicPr>
          <p:cNvPr id="4" name="Picture 2" descr="C:\Users\a0159877\AppData\Local\Temp\SNAGHTML16f456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95" y="1540454"/>
            <a:ext cx="2645595" cy="162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a0159877\AppData\Local\Temp\SNAGHTML170ca38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265" y="3733800"/>
            <a:ext cx="4526277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/>
          <p:cNvCxnSpPr/>
          <p:nvPr/>
        </p:nvCxnSpPr>
        <p:spPr bwMode="auto">
          <a:xfrm>
            <a:off x="3581400" y="5767841"/>
            <a:ext cx="914400" cy="17575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3505200" y="4881563"/>
            <a:ext cx="1066800" cy="26193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pic>
        <p:nvPicPr>
          <p:cNvPr id="21" name="Animated Logo" descr="tilogo_color_twolin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600200"/>
            <a:ext cx="5562600" cy="3048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71328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Clock Functions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877" y="226110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Module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877" y="2666930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Functions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5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74000" y="3072758"/>
            <a:ext cx="4864800" cy="439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Timestamp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362781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BIOS – Timer/Clock Usage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06062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6230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wrap="none" anchorCtr="1">
            <a:normAutofit/>
          </a:bodyPr>
          <a:lstStyle/>
          <a:p>
            <a:r>
              <a:rPr lang="en-US" dirty="0" smtClean="0"/>
              <a:t>Timestamp – Benchmarking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90750"/>
            <a:ext cx="5806205" cy="8679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How do you benchmark code in real time?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Use the </a:t>
            </a:r>
            <a:r>
              <a:rPr lang="en-US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Timestamp Module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1828800" y="1676400"/>
            <a:ext cx="1447800" cy="457200"/>
          </a:xfrm>
          <a:prstGeom prst="rect">
            <a:avLst/>
          </a:prstGeom>
          <a:solidFill>
            <a:srgbClr val="CC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TSCH/L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1828800" y="2284025"/>
            <a:ext cx="1447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Timer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4343400" y="1707075"/>
            <a:ext cx="1905000" cy="990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Timestamp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3276600" y="1905000"/>
            <a:ext cx="10668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3276600" y="2512625"/>
            <a:ext cx="10668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57200" y="2978828"/>
            <a:ext cx="6462667" cy="107721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C6000 devices use Timestamp Counter Hi/Lo (64 bit)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Other devices typically use a system timer as input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Use the following APIs to take a snapshot of time or freq:</a:t>
            </a:r>
            <a:endParaRPr lang="en-US" sz="2000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364175" y="4517679"/>
            <a:ext cx="4590800" cy="1502121"/>
          </a:xfrm>
          <a:prstGeom prst="roundRect">
            <a:avLst/>
          </a:prstGeom>
          <a:solidFill>
            <a:srgbClr val="CC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u</a:t>
            </a: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int32_t  start, stop,</a:t>
            </a:r>
            <a:r>
              <a:rPr kumimoji="0" lang="en-US" sz="1800" i="0" u="none" strike="noStrike" cap="none" normalizeH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 result;</a:t>
            </a:r>
          </a:p>
          <a:p>
            <a:pPr marL="0" marR="0" indent="0" algn="l" defTabSz="91440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800" baseline="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tart = </a:t>
            </a:r>
            <a:r>
              <a:rPr lang="en-US" sz="1800" baseline="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Timestamp_get32()</a:t>
            </a:r>
            <a:r>
              <a:rPr lang="en-US" sz="1800" baseline="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marR="0" indent="0" algn="l" defTabSz="91440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myA</a:t>
            </a:r>
            <a:r>
              <a:rPr kumimoji="0" lang="en-US" sz="1800" i="0" u="none" strike="noStrike" cap="none" normalizeH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lgo</a:t>
            </a:r>
            <a:r>
              <a:rPr kumimoji="0" lang="en-US" sz="1800" i="0" u="none" strike="noStrike" cap="none" normalizeH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1800" i="0" u="none" strike="noStrike" cap="none" normalizeH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x,y,z</a:t>
            </a:r>
            <a:r>
              <a:rPr kumimoji="0" lang="en-US" sz="1800" i="0" u="none" strike="noStrike" cap="none" normalizeH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indent="0" algn="l" defTabSz="91440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800" baseline="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top = </a:t>
            </a:r>
            <a:r>
              <a:rPr lang="en-US" sz="1800" baseline="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Timestamp_get32()</a:t>
            </a:r>
            <a:r>
              <a:rPr lang="en-US" sz="1800" baseline="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marR="0" indent="0" algn="l" defTabSz="91440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r</a:t>
            </a:r>
            <a:r>
              <a:rPr kumimoji="0" lang="en-US" sz="1800" i="0" u="none" strike="noStrike" cap="none" normalizeH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esult = stop – start;</a:t>
            </a: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62800" y="4524675"/>
            <a:ext cx="366311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 anchor="ctr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 smtClean="0">
                <a:latin typeface="Arial Narrow" pitchFamily="34" charset="0"/>
                <a:ea typeface="Calibri"/>
                <a:cs typeface="Courier New" pitchFamily="49" charset="0"/>
              </a:rPr>
              <a:t>Types_FreqHz</a:t>
            </a:r>
            <a:r>
              <a:rPr lang="en-US" sz="1800" dirty="0" smtClean="0">
                <a:latin typeface="Arial Narrow" pitchFamily="34" charset="0"/>
                <a:ea typeface="Calibri"/>
                <a:cs typeface="Courier New" pitchFamily="49" charset="0"/>
              </a:rPr>
              <a:t>  </a:t>
            </a:r>
            <a:r>
              <a:rPr lang="en-US" sz="1800" dirty="0" err="1" smtClean="0">
                <a:latin typeface="Arial Narrow" pitchFamily="34" charset="0"/>
                <a:ea typeface="Calibri"/>
                <a:cs typeface="Courier New" pitchFamily="49" charset="0"/>
              </a:rPr>
              <a:t>timestampFreq</a:t>
            </a:r>
            <a:r>
              <a:rPr lang="en-US" sz="1800" dirty="0" smtClean="0">
                <a:latin typeface="Arial Narrow" pitchFamily="34" charset="0"/>
                <a:ea typeface="Calibri"/>
                <a:cs typeface="Courier New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Arial Narrow" pitchFamily="34" charset="0"/>
                <a:ea typeface="Calibri"/>
                <a:cs typeface="Courier New" pitchFamily="49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 smtClean="0">
                <a:solidFill>
                  <a:schemeClr val="tx2"/>
                </a:solidFill>
                <a:latin typeface="Arial Narrow" pitchFamily="34" charset="0"/>
                <a:ea typeface="Calibri"/>
                <a:cs typeface="Courier New" pitchFamily="49" charset="0"/>
              </a:rPr>
              <a:t>Timestamp_getFreq</a:t>
            </a:r>
            <a:r>
              <a:rPr lang="en-US" sz="1800" dirty="0" smtClean="0">
                <a:latin typeface="Arial Narrow" pitchFamily="34" charset="0"/>
                <a:ea typeface="Calibri"/>
                <a:cs typeface="Courier New" pitchFamily="49" charset="0"/>
              </a:rPr>
              <a:t>(&amp;</a:t>
            </a:r>
            <a:r>
              <a:rPr lang="en-US" sz="1800" dirty="0" err="1" smtClean="0">
                <a:latin typeface="Arial Narrow" pitchFamily="34" charset="0"/>
                <a:ea typeface="Calibri"/>
                <a:cs typeface="Courier New" pitchFamily="49" charset="0"/>
              </a:rPr>
              <a:t>timestampFreq</a:t>
            </a:r>
            <a:r>
              <a:rPr lang="en-US" sz="1800" dirty="0" smtClean="0">
                <a:latin typeface="Arial Narrow" pitchFamily="34" charset="0"/>
                <a:ea typeface="Calibri"/>
                <a:cs typeface="Courier New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 smtClean="0">
              <a:latin typeface="Arial Narrow" pitchFamily="34" charset="0"/>
              <a:ea typeface="Calibri"/>
              <a:cs typeface="Courier New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Arial Narrow" pitchFamily="34" charset="0"/>
                <a:ea typeface="Calibri"/>
                <a:cs typeface="Courier New" pitchFamily="49" charset="0"/>
              </a:rPr>
              <a:t>// </a:t>
            </a:r>
            <a:r>
              <a:rPr lang="en-US" sz="1800" i="1" dirty="0" smtClean="0">
                <a:latin typeface="Arial Narrow" pitchFamily="34" charset="0"/>
                <a:ea typeface="Calibri"/>
                <a:cs typeface="Courier New" pitchFamily="49" charset="0"/>
              </a:rPr>
              <a:t>returns </a:t>
            </a:r>
            <a:r>
              <a:rPr lang="en-US" sz="1800" i="1" dirty="0" err="1" smtClean="0">
                <a:latin typeface="Arial Narrow" pitchFamily="34" charset="0"/>
                <a:ea typeface="Calibri"/>
                <a:cs typeface="Courier New" pitchFamily="49" charset="0"/>
              </a:rPr>
              <a:t>timestampFreq.lo</a:t>
            </a:r>
            <a:r>
              <a:rPr lang="en-US" sz="1800" i="1" dirty="0" smtClean="0">
                <a:latin typeface="Arial Narrow" pitchFamily="34" charset="0"/>
                <a:ea typeface="Calibri"/>
                <a:cs typeface="Courier New" pitchFamily="49" charset="0"/>
              </a:rPr>
              <a:t> in 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0218" y="4191000"/>
            <a:ext cx="2028056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Time (CPU cycles)</a:t>
            </a:r>
            <a:endParaRPr lang="en-US" sz="2000" b="0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96200" y="4202875"/>
            <a:ext cx="2242730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CPU Frequency (Hz)</a:t>
            </a:r>
            <a:endParaRPr lang="en-US" sz="2000" b="0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Leading Question"/>
          <p:cNvSpPr txBox="1"/>
          <p:nvPr/>
        </p:nvSpPr>
        <p:spPr>
          <a:xfrm>
            <a:off x="5064025" y="6221186"/>
            <a:ext cx="3851375" cy="448713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Which h/w Timers are used for Clock and</a:t>
            </a:r>
            <a:br>
              <a:rPr lang="en-US" sz="18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1800" b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Timestamp for each architecture?</a:t>
            </a:r>
            <a:endParaRPr lang="en-US" sz="1800" b="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5325" y="6112106"/>
            <a:ext cx="4245265" cy="6093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119063" indent="-119063">
              <a:buFont typeface="Arial" pitchFamily="34" charset="0"/>
              <a:buChar char="•"/>
            </a:pPr>
            <a:r>
              <a:rPr lang="en-US" sz="1600" b="0" i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What if </a:t>
            </a:r>
            <a:r>
              <a:rPr lang="en-US" sz="1600" b="0" i="1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myAlgo</a:t>
            </a:r>
            <a:r>
              <a:rPr lang="en-US" sz="1600" b="0" i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gets pre-empted?</a:t>
            </a:r>
          </a:p>
          <a:p>
            <a:pPr marL="119063" indent="-119063">
              <a:buFont typeface="Arial" pitchFamily="34" charset="0"/>
              <a:buChar char="•"/>
            </a:pPr>
            <a:r>
              <a:rPr lang="en-US" sz="1600" b="0" i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Note: rollover handled by 2’s complement math</a:t>
            </a:r>
            <a:endParaRPr lang="en-US" sz="1600" b="0" i="1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97625" y="1740725"/>
            <a:ext cx="997389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(C6000)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4188" y="2341858"/>
            <a:ext cx="862737" cy="3447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(MCU)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600200"/>
            <a:ext cx="5562600" cy="3048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71328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Clock Functions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877" y="226110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Module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877" y="2666930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Functions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3072758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Timestamp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5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74000" y="3478586"/>
            <a:ext cx="4864800" cy="439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BIOS – Timer/Clock Usage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406062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6915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wrap="none" anchorCtr="1">
            <a:normAutofit/>
          </a:bodyPr>
          <a:lstStyle/>
          <a:p>
            <a:r>
              <a:rPr lang="en-US" smtClean="0"/>
              <a:t>SYS/BIOS – Timer Usage</a:t>
            </a:r>
            <a:endParaRPr lang="en-US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457200" y="618677"/>
            <a:ext cx="8212313" cy="151240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BIOS adds implicit Clock/Timestamp services to every .cfg file.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System Ticks are used for TIMEOUTs on blocking calls – e.g.</a:t>
            </a:r>
          </a:p>
          <a:p>
            <a:pPr lvl="1">
              <a:spcBef>
                <a:spcPts val="600"/>
              </a:spcBef>
              <a:buClr>
                <a:schemeClr val="tx2"/>
              </a:buClr>
              <a:buSzPct val="75000"/>
            </a:pPr>
            <a:r>
              <a:rPr lang="en-US" b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Semaphore_pend (Sem, timeout);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Let’s take a look at the timers/clocks used by BIOS: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55975"/>
              </p:ext>
            </p:extLst>
          </p:nvPr>
        </p:nvGraphicFramePr>
        <p:xfrm>
          <a:off x="1066799" y="2250375"/>
          <a:ext cx="7086601" cy="3896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1"/>
                <a:gridCol w="1219200"/>
                <a:gridCol w="1295400"/>
                <a:gridCol w="1295400"/>
                <a:gridCol w="1371600"/>
              </a:tblGrid>
              <a:tr h="445519">
                <a:tc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Service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C28x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C6000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MSP430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TM4C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79932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Clock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b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</a:br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(default Clk)</a:t>
                      </a:r>
                      <a:endParaRPr lang="en-US" sz="20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Timer 1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Timer 0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Timer A0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Timer 0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</a:tr>
              <a:tr h="679932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TimeStamp</a:t>
                      </a:r>
                    </a:p>
                    <a:p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(default Clk)</a:t>
                      </a:r>
                      <a:endParaRPr lang="en-US" sz="20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Timer 2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TSCL/H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Timer A0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Timer 1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0995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Combined by Default ?</a:t>
                      </a:r>
                      <a:endParaRPr lang="en-US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N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N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N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45519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User</a:t>
                      </a:r>
                      <a:r>
                        <a:rPr lang="en-US" sz="2000" b="1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Combine?</a:t>
                      </a:r>
                      <a:endParaRPr lang="en-US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N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45519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Modify Clk Src ?</a:t>
                      </a:r>
                      <a:endParaRPr lang="en-US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45519">
                <a:tc>
                  <a:txBody>
                    <a:bodyPr/>
                    <a:lstStyle/>
                    <a:p>
                      <a:r>
                        <a:rPr lang="en-US" sz="2000" b="1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Default Clk Rate</a:t>
                      </a:r>
                      <a:endParaRPr lang="en-US" sz="2000" b="1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CPU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CPU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32kHz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CPU</a:t>
                      </a:r>
                      <a:endParaRPr lang="en-US" sz="18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80808" y="6200900"/>
            <a:ext cx="6115392" cy="26898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400" b="0" i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Note:  MSP430 Timer-A0 defaults to ACLK (32KHz), can be changed to MCLK (CPU)</a:t>
            </a:r>
            <a:endParaRPr lang="en-US" sz="1400" b="0" i="1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91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600200"/>
            <a:ext cx="5562600" cy="3048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0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171328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Clock Functions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69877" y="2261102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Module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69877" y="2666930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Clock Functions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3072758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Timestamp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3478586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BIOS – Timer/Clock Usage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3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4800" y="3911402"/>
            <a:ext cx="5562600" cy="4953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17" name="Animated Logo" descr="tilogo_color_twoline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7906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Labs 5-9 “Roadmap”</a:t>
            </a:r>
            <a:endParaRPr lang="en-US" u="sng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61975" y="6216650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0">
              <a:solidFill>
                <a:srgbClr val="000000"/>
              </a:solidFill>
              <a:latin typeface="Times New Roman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5029198" y="1866917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>
            <a:off x="3276598" y="2466292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6465123" y="34212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3071748" y="4042742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6465123" y="52500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>
            <a:off x="5029198" y="1866917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276598" y="2466292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6465123" y="34212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3071748" y="4042742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>
            <a:off x="6465123" y="5250067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45226"/>
              </p:ext>
            </p:extLst>
          </p:nvPr>
        </p:nvGraphicFramePr>
        <p:xfrm>
          <a:off x="457200" y="762000"/>
          <a:ext cx="8256700" cy="57067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889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37133"/>
                <a:gridCol w="2048602"/>
                <a:gridCol w="1528828"/>
                <a:gridCol w="1460937"/>
                <a:gridCol w="1981200"/>
              </a:tblGrid>
              <a:tr h="47611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Lab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Trigger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Other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Fxn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3063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03451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timer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/>
                      </a:r>
                      <a:b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</a:b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</a:t>
                      </a:r>
                      <a:r>
                        <a:rPr lang="en-US" sz="240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5823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Swi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45843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Clock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 smtClean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algn="l"/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(Hwi, Swi)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Task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800" smtClean="0">
                          <a:latin typeface="Calibri" pitchFamily="34" charset="0"/>
                          <a:cs typeface="Calibri" pitchFamily="34" charset="0"/>
                        </a:rPr>
                        <a:t>LED</a:t>
                      </a:r>
                      <a:r>
                        <a:rPr lang="en-US" sz="1800" baseline="0" smtClean="0">
                          <a:latin typeface="Calibri" pitchFamily="34" charset="0"/>
                          <a:cs typeface="Calibri" pitchFamily="34" charset="0"/>
                        </a:rPr>
                        <a:t> State → Mbx/Que →ledToggle</a:t>
                      </a:r>
                      <a:endParaRPr lang="en-US" sz="18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3" name="Straight Arrow Connector 32"/>
          <p:cNvCxnSpPr/>
          <p:nvPr/>
        </p:nvCxnSpPr>
        <p:spPr bwMode="auto">
          <a:xfrm>
            <a:off x="5149701" y="1634174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>
            <a:off x="3416598" y="2233549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>
            <a:off x="6618767" y="3188524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6" name="Straight Arrow Connector 35"/>
          <p:cNvCxnSpPr/>
          <p:nvPr/>
        </p:nvCxnSpPr>
        <p:spPr bwMode="auto">
          <a:xfrm>
            <a:off x="3224150" y="3809999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7" name="Straight Arrow Connector 36"/>
          <p:cNvCxnSpPr/>
          <p:nvPr/>
        </p:nvCxnSpPr>
        <p:spPr bwMode="auto">
          <a:xfrm>
            <a:off x="6640033" y="5017324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8" name="Right Arrow 37"/>
          <p:cNvSpPr/>
          <p:nvPr/>
        </p:nvSpPr>
        <p:spPr bwMode="auto">
          <a:xfrm>
            <a:off x="271436" y="3757550"/>
            <a:ext cx="617668" cy="533400"/>
          </a:xfrm>
          <a:prstGeom prst="rightArrow">
            <a:avLst/>
          </a:prstGeom>
          <a:solidFill>
            <a:schemeClr val="accent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pic>
        <p:nvPicPr>
          <p:cNvPr id="39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793" y="133575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027" y="2108191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652" y="2909949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23174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 bwMode="auto">
          <a:xfrm>
            <a:off x="609600" y="4311336"/>
            <a:ext cx="5257800" cy="1708464"/>
          </a:xfrm>
          <a:prstGeom prst="roundRect">
            <a:avLst/>
          </a:prstGeom>
          <a:solidFill>
            <a:srgbClr val="CC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 7 – “Blink LED” Using </a:t>
            </a:r>
            <a:r>
              <a:rPr lang="en-US" u="sng" smtClean="0"/>
              <a:t>Clock</a:t>
            </a:r>
            <a:endParaRPr lang="en-US" u="sng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61975" y="6216650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796" name="AutoShape 99"/>
          <p:cNvSpPr>
            <a:spLocks noChangeArrowheads="1"/>
          </p:cNvSpPr>
          <p:nvPr/>
        </p:nvSpPr>
        <p:spPr bwMode="auto">
          <a:xfrm>
            <a:off x="152400" y="2253280"/>
            <a:ext cx="2362200" cy="17091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1600" dirty="0">
                <a:solidFill>
                  <a:srgbClr val="000000"/>
                </a:solidFill>
                <a:latin typeface="Courier New" pitchFamily="49" charset="0"/>
              </a:rPr>
              <a:t>main() {</a:t>
            </a:r>
          </a:p>
          <a:p>
            <a:r>
              <a:rPr lang="en-US" sz="160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smtClean="0">
                <a:solidFill>
                  <a:srgbClr val="000000"/>
                </a:solidFill>
                <a:latin typeface="Courier New" pitchFamily="49" charset="0"/>
              </a:rPr>
              <a:t>init_hw();</a:t>
            </a:r>
            <a:endParaRPr lang="en-US" sz="1600" dirty="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160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smtClean="0">
                <a:solidFill>
                  <a:schemeClr val="tx2"/>
                </a:solidFill>
                <a:latin typeface="Courier New" pitchFamily="49" charset="0"/>
              </a:rPr>
              <a:t>//Timer (500ms)</a:t>
            </a:r>
          </a:p>
          <a:p>
            <a:r>
              <a:rPr lang="en-US" sz="1600" smtClean="0">
                <a:solidFill>
                  <a:srgbClr val="000000"/>
                </a:solidFill>
                <a:latin typeface="Courier New" pitchFamily="49" charset="0"/>
              </a:rPr>
              <a:t>  BIOS_start();</a:t>
            </a:r>
          </a:p>
          <a:p>
            <a:r>
              <a:rPr lang="en-US" sz="1600" smtClean="0">
                <a:solidFill>
                  <a:srgbClr val="000000"/>
                </a:solidFill>
                <a:latin typeface="Courier New" pitchFamily="49" charset="0"/>
              </a:rPr>
              <a:t>} </a:t>
            </a:r>
            <a:endParaRPr lang="en-US" sz="16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33798" name="Text Box 103"/>
          <p:cNvSpPr txBox="1">
            <a:spLocks noChangeArrowheads="1"/>
          </p:cNvSpPr>
          <p:nvPr/>
        </p:nvSpPr>
        <p:spPr bwMode="auto">
          <a:xfrm>
            <a:off x="785129" y="1965622"/>
            <a:ext cx="1107996" cy="3539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000" i="1">
                <a:solidFill>
                  <a:srgbClr val="000000"/>
                </a:solidFill>
                <a:latin typeface="Courier New" pitchFamily="49" charset="0"/>
              </a:rPr>
              <a:t>main.c</a:t>
            </a:r>
          </a:p>
        </p:txBody>
      </p:sp>
      <p:sp>
        <p:nvSpPr>
          <p:cNvPr id="33799" name="AutoShape 104"/>
          <p:cNvSpPr>
            <a:spLocks noChangeArrowheads="1"/>
          </p:cNvSpPr>
          <p:nvPr/>
        </p:nvSpPr>
        <p:spPr bwMode="auto">
          <a:xfrm>
            <a:off x="3429000" y="4718132"/>
            <a:ext cx="820665" cy="759598"/>
          </a:xfrm>
          <a:prstGeom prst="cube">
            <a:avLst>
              <a:gd name="adj" fmla="val 16319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spcBef>
                <a:spcPts val="600"/>
              </a:spcBef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Clock</a:t>
            </a:r>
          </a:p>
          <a:p>
            <a:pPr algn="ctr">
              <a:spcBef>
                <a:spcPts val="600"/>
              </a:spcBef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Hwi</a:t>
            </a:r>
            <a:endParaRPr lang="en-US" sz="18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816" name="Text Box 131"/>
          <p:cNvSpPr txBox="1">
            <a:spLocks noChangeArrowheads="1"/>
          </p:cNvSpPr>
          <p:nvPr/>
        </p:nvSpPr>
        <p:spPr bwMode="auto">
          <a:xfrm>
            <a:off x="3886200" y="702470"/>
            <a:ext cx="1962397" cy="4370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</a:rPr>
              <a:t>Procedure</a:t>
            </a:r>
          </a:p>
        </p:txBody>
      </p:sp>
      <p:sp>
        <p:nvSpPr>
          <p:cNvPr id="33817" name="Text Box 132"/>
          <p:cNvSpPr txBox="1">
            <a:spLocks noChangeArrowheads="1"/>
          </p:cNvSpPr>
          <p:nvPr/>
        </p:nvSpPr>
        <p:spPr bwMode="auto">
          <a:xfrm>
            <a:off x="3962400" y="1166098"/>
            <a:ext cx="5257800" cy="27392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25425" indent="-225425">
              <a:buFontTx/>
              <a:buChar char="•"/>
            </a:pPr>
            <a:r>
              <a:rPr lang="en-US" sz="2000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Import</a:t>
            </a:r>
            <a:r>
              <a:rPr lang="en-US" sz="20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archived (.zip) project</a:t>
            </a:r>
            <a:endParaRPr lang="en-US" sz="2000" i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225425" indent="-225425">
              <a:buFontTx/>
              <a:buChar char="•"/>
            </a:pPr>
            <a:r>
              <a:rPr lang="en-US" sz="2000" i="1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Add Clock </a:t>
            </a:r>
            <a:r>
              <a:rPr lang="en-US" sz="2000" i="1" u="sng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object </a:t>
            </a:r>
            <a:r>
              <a:rPr lang="en-US" sz="200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0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for ledToggle)</a:t>
            </a:r>
          </a:p>
          <a:p>
            <a:pPr marL="225425" indent="-225425">
              <a:buFontTx/>
              <a:buChar char="•"/>
            </a:pPr>
            <a:r>
              <a:rPr lang="en-US" sz="200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Remove Timer, Hwi, Swi !!</a:t>
            </a:r>
            <a:endParaRPr lang="en-US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marL="225425" indent="-225425">
              <a:buFontTx/>
              <a:buChar char="•"/>
            </a:pPr>
            <a:r>
              <a:rPr lang="en-US" sz="20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Build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, “Play</a:t>
            </a:r>
            <a:r>
              <a:rPr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”, </a:t>
            </a:r>
            <a:r>
              <a:rPr lang="en-US" sz="20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Debug</a:t>
            </a:r>
          </a:p>
          <a:p>
            <a:pPr marL="225425" indent="-225425">
              <a:buFontTx/>
              <a:buChar char="•"/>
            </a:pPr>
            <a:r>
              <a:rPr lang="en-US" sz="20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Use TimeStamp/UIA to benchmark your code</a:t>
            </a:r>
          </a:p>
          <a:p>
            <a:pPr marL="225425" indent="-225425">
              <a:buFontTx/>
              <a:buChar char="•"/>
            </a:pPr>
            <a:r>
              <a:rPr lang="en-US" sz="20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Lots of TIME calculations regarding LED toggle</a:t>
            </a:r>
          </a:p>
          <a:p>
            <a:pPr marL="225425" indent="-225425">
              <a:buFontTx/>
              <a:buChar char="•"/>
            </a:pPr>
            <a:r>
              <a:rPr lang="en-US" sz="2000" b="0" i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Everything is done “inside” the BIOS Scheduler</a:t>
            </a:r>
          </a:p>
        </p:txBody>
      </p:sp>
      <p:sp>
        <p:nvSpPr>
          <p:cNvPr id="30" name="Text Box 102"/>
          <p:cNvSpPr txBox="1">
            <a:spLocks noChangeArrowheads="1"/>
          </p:cNvSpPr>
          <p:nvPr/>
        </p:nvSpPr>
        <p:spPr bwMode="auto">
          <a:xfrm>
            <a:off x="3461741" y="6470202"/>
            <a:ext cx="2405659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>
              <a:buClr>
                <a:srgbClr val="FF0000"/>
              </a:buClr>
              <a:buSzPct val="75000"/>
              <a:buFont typeface="Wingdings" pitchFamily="2" charset="2"/>
              <a:buChar char=""/>
            </a:pPr>
            <a:r>
              <a:rPr lang="en-US" dirty="0">
                <a:solidFill>
                  <a:srgbClr val="FF0000"/>
                </a:solidFill>
              </a:rPr>
              <a:t>Time</a:t>
            </a:r>
            <a:r>
              <a:rPr lang="en-US">
                <a:solidFill>
                  <a:srgbClr val="FF0000"/>
                </a:solidFill>
              </a:rPr>
              <a:t>: </a:t>
            </a:r>
            <a:r>
              <a:rPr lang="en-US" smtClean="0">
                <a:solidFill>
                  <a:srgbClr val="FF0000"/>
                </a:solidFill>
              </a:rPr>
              <a:t>45 min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>
            <a:stCxn id="33796" idx="2"/>
            <a:endCxn id="35" idx="0"/>
          </p:cNvCxnSpPr>
          <p:nvPr/>
        </p:nvCxnSpPr>
        <p:spPr bwMode="auto">
          <a:xfrm flipH="1">
            <a:off x="1328047" y="3962400"/>
            <a:ext cx="5453" cy="762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4" name="Group 3"/>
          <p:cNvGrpSpPr/>
          <p:nvPr/>
        </p:nvGrpSpPr>
        <p:grpSpPr>
          <a:xfrm>
            <a:off x="2067271" y="4515208"/>
            <a:ext cx="752129" cy="971192"/>
            <a:chOff x="248515" y="3296009"/>
            <a:chExt cx="752129" cy="971192"/>
          </a:xfrm>
        </p:grpSpPr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348" y="3548063"/>
              <a:ext cx="716474" cy="7191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248515" y="3296009"/>
              <a:ext cx="752129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smtClean="0">
                  <a:solidFill>
                    <a:schemeClr val="dk1"/>
                  </a:solidFill>
                  <a:effectLst/>
                  <a:latin typeface="Calibri" pitchFamily="34" charset="0"/>
                  <a:cs typeface="Calibri" pitchFamily="34" charset="0"/>
                </a:rPr>
                <a:t>Clock</a:t>
              </a:r>
              <a:endParaRPr lang="en-US" sz="200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8" name="AutoShape 104"/>
          <p:cNvSpPr>
            <a:spLocks noChangeArrowheads="1"/>
          </p:cNvSpPr>
          <p:nvPr/>
        </p:nvSpPr>
        <p:spPr bwMode="auto">
          <a:xfrm>
            <a:off x="4630665" y="4718132"/>
            <a:ext cx="820665" cy="759598"/>
          </a:xfrm>
          <a:prstGeom prst="cube">
            <a:avLst>
              <a:gd name="adj" fmla="val 16319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spcBef>
                <a:spcPts val="600"/>
              </a:spcBef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Clock</a:t>
            </a:r>
          </a:p>
          <a:p>
            <a:pPr algn="ctr">
              <a:spcBef>
                <a:spcPts val="600"/>
              </a:spcBef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Swi</a:t>
            </a:r>
            <a:endParaRPr lang="en-US" sz="18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AutoShape 117"/>
          <p:cNvSpPr>
            <a:spLocks noChangeArrowheads="1"/>
          </p:cNvSpPr>
          <p:nvPr/>
        </p:nvSpPr>
        <p:spPr bwMode="auto">
          <a:xfrm>
            <a:off x="6175273" y="4390020"/>
            <a:ext cx="2511527" cy="1545266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blurRad="50800" dist="63500" dir="2700000" algn="tl" rotWithShape="0">
              <a:prstClr val="black">
                <a:alpha val="42000"/>
              </a:prstClr>
            </a:outerShdw>
          </a:effectLst>
        </p:spPr>
        <p:txBody>
          <a:bodyPr wrap="none" anchor="ctr"/>
          <a:lstStyle/>
          <a:p>
            <a:r>
              <a:rPr lang="en-US" sz="1800" smtClean="0">
                <a:solidFill>
                  <a:srgbClr val="FF0000"/>
                </a:solidFill>
                <a:latin typeface="Courier New" pitchFamily="49" charset="0"/>
              </a:rPr>
              <a:t> ledToggle()</a:t>
            </a:r>
            <a:r>
              <a:rPr lang="en-US" sz="1800" smtClean="0">
                <a:solidFill>
                  <a:srgbClr val="000000"/>
                </a:solidFill>
                <a:latin typeface="Courier New" pitchFamily="49" charset="0"/>
              </a:rPr>
              <a:t> {</a:t>
            </a: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800" smtClean="0">
                <a:solidFill>
                  <a:srgbClr val="000000"/>
                </a:solidFill>
                <a:latin typeface="Courier New" pitchFamily="49" charset="0"/>
              </a:rPr>
              <a:t> toggle(LED);</a:t>
            </a: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800" smtClean="0">
                <a:solidFill>
                  <a:srgbClr val="000000"/>
                </a:solidFill>
                <a:latin typeface="Courier New" pitchFamily="49" charset="0"/>
              </a:rPr>
              <a:t> Log_info();</a:t>
            </a: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1800" smtClean="0">
                <a:solidFill>
                  <a:srgbClr val="000000"/>
                </a:solidFill>
                <a:latin typeface="Courier New" pitchFamily="49" charset="0"/>
              </a:rPr>
              <a:t> } </a:t>
            </a: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35" name="AutoShape 104"/>
          <p:cNvSpPr>
            <a:spLocks noChangeArrowheads="1"/>
          </p:cNvSpPr>
          <p:nvPr/>
        </p:nvSpPr>
        <p:spPr bwMode="auto">
          <a:xfrm>
            <a:off x="855735" y="4724400"/>
            <a:ext cx="820665" cy="759598"/>
          </a:xfrm>
          <a:prstGeom prst="cube">
            <a:avLst>
              <a:gd name="adj" fmla="val 16319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spcBef>
                <a:spcPts val="600"/>
              </a:spcBef>
            </a:pPr>
            <a:r>
              <a:rPr lang="en-US" sz="180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Idle</a:t>
            </a:r>
            <a:endParaRPr lang="en-US" sz="18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23854" y="5591300"/>
            <a:ext cx="2127505" cy="3951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BIOS Scheduler</a:t>
            </a:r>
            <a:endParaRPr lang="en-US" b="0" dirty="0" smtClean="0">
              <a:solidFill>
                <a:schemeClr val="tx2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1" name="Straight Arrow Connector 10"/>
          <p:cNvCxnSpPr>
            <a:stCxn id="35" idx="4"/>
          </p:cNvCxnSpPr>
          <p:nvPr/>
        </p:nvCxnSpPr>
        <p:spPr bwMode="auto">
          <a:xfrm flipV="1">
            <a:off x="1552441" y="5165568"/>
            <a:ext cx="547663" cy="6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2" name="Straight Arrow Connector 41"/>
          <p:cNvCxnSpPr>
            <a:endCxn id="33799" idx="2"/>
          </p:cNvCxnSpPr>
          <p:nvPr/>
        </p:nvCxnSpPr>
        <p:spPr bwMode="auto">
          <a:xfrm flipV="1">
            <a:off x="2814050" y="5159910"/>
            <a:ext cx="614950" cy="62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4" name="Straight Arrow Connector 43"/>
          <p:cNvCxnSpPr>
            <a:endCxn id="28" idx="2"/>
          </p:cNvCxnSpPr>
          <p:nvPr/>
        </p:nvCxnSpPr>
        <p:spPr bwMode="auto">
          <a:xfrm flipV="1">
            <a:off x="4124454" y="5159910"/>
            <a:ext cx="506211" cy="62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2830650" y="4886999"/>
            <a:ext cx="595035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Tick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7" name="Straight Arrow Connector 46"/>
          <p:cNvCxnSpPr/>
          <p:nvPr/>
        </p:nvCxnSpPr>
        <p:spPr bwMode="auto">
          <a:xfrm>
            <a:off x="5361189" y="5166178"/>
            <a:ext cx="81408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3" name="Elbow Connector 22"/>
          <p:cNvCxnSpPr>
            <a:stCxn id="34" idx="2"/>
            <a:endCxn id="35" idx="3"/>
          </p:cNvCxnSpPr>
          <p:nvPr/>
        </p:nvCxnSpPr>
        <p:spPr bwMode="auto">
          <a:xfrm rot="5400000" flipH="1">
            <a:off x="4091919" y="2596168"/>
            <a:ext cx="451288" cy="6226949"/>
          </a:xfrm>
          <a:prstGeom prst="bentConnector3">
            <a:avLst>
              <a:gd name="adj1" fmla="val -87496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221675" y="677440"/>
            <a:ext cx="3512125" cy="1241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>
              <a:spcBef>
                <a:spcPts val="900"/>
              </a:spcBef>
            </a:pPr>
            <a:r>
              <a:rPr lang="en-US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Lab Goal:</a:t>
            </a:r>
          </a:p>
          <a:p>
            <a:pPr>
              <a:spcBef>
                <a:spcPts val="900"/>
              </a:spcBef>
            </a:pP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Instead of toggling the LED in a Swi, the Clock module contains the trigger (timer), Hwi and Swi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7" name="Animated Logo" descr="tilogo_color_twolin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03228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 7 – Benchmarks </a:t>
            </a:r>
            <a:endParaRPr lang="en-US" u="sng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61975" y="6216650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27" name="Animated Logo" descr="tilogo_color_twolin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504662"/>
              </p:ext>
            </p:extLst>
          </p:nvPr>
        </p:nvGraphicFramePr>
        <p:xfrm>
          <a:off x="609600" y="762000"/>
          <a:ext cx="7956550" cy="339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681"/>
                <a:gridCol w="1392396"/>
                <a:gridCol w="1491853"/>
                <a:gridCol w="1591310"/>
                <a:gridCol w="1591310"/>
              </a:tblGrid>
              <a:tr h="428098">
                <a:tc>
                  <a:txBody>
                    <a:bodyPr/>
                    <a:lstStyle/>
                    <a:p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C28x</a:t>
                      </a:r>
                      <a:endParaRPr lang="en-US" sz="24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C6000</a:t>
                      </a:r>
                      <a:endParaRPr lang="en-US" sz="24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MSP430</a:t>
                      </a:r>
                      <a:endParaRPr lang="en-US" sz="24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TM4C</a:t>
                      </a:r>
                      <a:endParaRPr lang="en-US" sz="240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806903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CPU</a:t>
                      </a:r>
                      <a:r>
                        <a:rPr lang="en-US" baseline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Frequency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 MHz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300 MHz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8.192 MHz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 MHz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806903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LED/GPIO</a:t>
                      </a:r>
                    </a:p>
                    <a:p>
                      <a:pPr algn="ctr"/>
                      <a:r>
                        <a:rPr lang="en-US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(hardware toggle)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71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660401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+Swi and</a:t>
                      </a:r>
                      <a:r>
                        <a:rPr lang="en-US" baseline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Fxn overhead (lab 6)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990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433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1800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520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660401"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Clock overhead (lab 7)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1892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758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3516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720</a:t>
                      </a:r>
                      <a:endParaRPr lang="en-US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270986"/>
            <a:ext cx="8155857" cy="212981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 benchmarks shown in CPU cycles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used Debug build configuration – no optimization turned on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 measurements taken in Exec Graph (or Log results) and then converted to CPU cycles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 includes ledToggle() code + Swi context save/restore + toggling LED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Clock overhead includes ledToggle() code, Hwi/Swi context save/restore + toggling LED</a:t>
            </a:r>
            <a:endParaRPr lang="en-US" sz="2000" b="0" dirty="0" smtClean="0">
              <a:solidFill>
                <a:schemeClr val="dk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41809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5" name="Picture 2" descr="ti_stk_2c_pos_rgb_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9325" y="1752600"/>
            <a:ext cx="8839200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Animated Logo" descr="tilogo_color_twolin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34519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1600200"/>
            <a:ext cx="5562600" cy="3048000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1988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686300"/>
            <a:ext cx="5562600" cy="4953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>
                <a:solidFill>
                  <a:srgbClr val="000000"/>
                </a:solidFill>
              </a:rPr>
              <a:t>MainHighlight</a:t>
            </a:r>
          </a:p>
        </p:txBody>
      </p:sp>
      <p:sp>
        <p:nvSpPr>
          <p:cNvPr id="41989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2208588"/>
            <a:ext cx="5543550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MainNormal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90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74000" y="2654675"/>
            <a:ext cx="4864800" cy="439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SubHighlight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991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3088063"/>
            <a:ext cx="4868924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SubNormal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pic>
        <p:nvPicPr>
          <p:cNvPr id="10" name="Animated Logo" descr="tilogo_color_twoline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0800" y="6477000"/>
            <a:ext cx="1438537" cy="347443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  <p:tag name="NO LOGOS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MINISTRATIVESLIDE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Norma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Normal"/>
</p:tagLst>
</file>

<file path=ppt/theme/theme1.xml><?xml version="1.0" encoding="utf-8"?>
<a:theme xmlns:a="http://schemas.openxmlformats.org/drawingml/2006/main" name="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ttoTheme</Template>
  <TotalTime>14079</TotalTime>
  <Pages>3</Pages>
  <Words>950</Words>
  <Application>Microsoft Office PowerPoint</Application>
  <PresentationFormat>On-screen Show (4:3)</PresentationFormat>
  <Paragraphs>283</Paragraphs>
  <Slides>20</Slides>
  <Notes>7</Notes>
  <HiddenSlides>2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ttoTheme</vt:lpstr>
      <vt:lpstr>1_ttoTheme</vt:lpstr>
      <vt:lpstr>2_ttoTheme</vt:lpstr>
      <vt:lpstr>3_ttoTheme</vt:lpstr>
      <vt:lpstr>PowerPoint Presentation</vt:lpstr>
      <vt:lpstr>Objectives</vt:lpstr>
      <vt:lpstr>Outline</vt:lpstr>
      <vt:lpstr>Outline</vt:lpstr>
      <vt:lpstr>Time Can be an Event</vt:lpstr>
      <vt:lpstr>Clock Module</vt:lpstr>
      <vt:lpstr>Configuring the Clock Module (GUI)</vt:lpstr>
      <vt:lpstr>Outline</vt:lpstr>
      <vt:lpstr>Clock Functions</vt:lpstr>
      <vt:lpstr>Configuring a Clock Fxn – Statically via GUI</vt:lpstr>
      <vt:lpstr>Outline</vt:lpstr>
      <vt:lpstr>Timestamp – Benchmarking Code</vt:lpstr>
      <vt:lpstr>Outline</vt:lpstr>
      <vt:lpstr>SYS/BIOS – Timer Usage</vt:lpstr>
      <vt:lpstr>Outline</vt:lpstr>
      <vt:lpstr>Labs 5-9 “Roadmap”</vt:lpstr>
      <vt:lpstr>Lab 7 – “Blink LED” Using Clock</vt:lpstr>
      <vt:lpstr>Lab 7 – Benchmarks </vt:lpstr>
      <vt:lpstr>PowerPoint Presentation</vt:lpstr>
      <vt:lpstr>Outline</vt:lpstr>
    </vt:vector>
  </TitlesOfParts>
  <Company>SC Sales &amp; Marketing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TI-RTOS Kernel Workshop</dc:title>
  <dc:subject/>
  <dc:creator>ericw@ti.com</dc:creator>
  <cp:keywords/>
  <dc:description/>
  <cp:lastModifiedBy>Eric Wilbur</cp:lastModifiedBy>
  <cp:revision>450</cp:revision>
  <cp:lastPrinted>1601-01-01T00:00:00Z</cp:lastPrinted>
  <dcterms:created xsi:type="dcterms:W3CDTF">2001-09-20T20:19:44Z</dcterms:created>
  <dcterms:modified xsi:type="dcterms:W3CDTF">2014-12-10T21:40:29Z</dcterms:modified>
</cp:coreProperties>
</file>