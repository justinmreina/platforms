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2.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3.xml" ContentType="application/vnd.openxmlformats-officedocument.presentationml.notesSlide+xml"/>
  <Override PartName="/ppt/tags/tag43.xml" ContentType="application/vnd.openxmlformats-officedocument.presentationml.tags+xml"/>
  <Override PartName="/ppt/notesSlides/notesSlide4.xml" ContentType="application/vnd.openxmlformats-officedocument.presentationml.notesSlide+xml"/>
  <Override PartName="/ppt/tags/tag44.xml" ContentType="application/vnd.openxmlformats-officedocument.presentationml.tags+xml"/>
  <Override PartName="/ppt/notesSlides/notesSlide5.xml" ContentType="application/vnd.openxmlformats-officedocument.presentationml.notesSlide+xml"/>
  <Override PartName="/ppt/tags/tag45.xml" ContentType="application/vnd.openxmlformats-officedocument.presentationml.tags+xml"/>
  <Override PartName="/ppt/notesSlides/notesSlide6.xml" ContentType="application/vnd.openxmlformats-officedocument.presentationml.notesSlide+xml"/>
  <Override PartName="/ppt/tags/tag46.xml" ContentType="application/vnd.openxmlformats-officedocument.presentationml.tags+xml"/>
  <Override PartName="/ppt/notesSlides/notesSlide7.xml" ContentType="application/vnd.openxmlformats-officedocument.presentationml.notesSlide+xml"/>
  <Override PartName="/ppt/tags/tag47.xml" ContentType="application/vnd.openxmlformats-officedocument.presentationml.tags+xml"/>
  <Override PartName="/ppt/notesSlides/notesSlide8.xml" ContentType="application/vnd.openxmlformats-officedocument.presentationml.notesSlide+xml"/>
  <Override PartName="/ppt/tags/tag48.xml" ContentType="application/vnd.openxmlformats-officedocument.presentationml.tags+xml"/>
  <Override PartName="/ppt/notesSlides/notesSlide9.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10.xml" ContentType="application/vnd.openxmlformats-officedocument.presentationml.notesSlide+xml"/>
  <Override PartName="/ppt/tags/tag58.xml" ContentType="application/vnd.openxmlformats-officedocument.presentationml.tags+xml"/>
  <Override PartName="/ppt/notesSlides/notesSlide11.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12.xml" ContentType="application/vnd.openxmlformats-officedocument.presentationml.notesSlide+xml"/>
  <Override PartName="/ppt/tags/tag68.xml" ContentType="application/vnd.openxmlformats-officedocument.presentationml.tags+xml"/>
  <Override PartName="/ppt/notesSlides/notesSlide13.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14.xml" ContentType="application/vnd.openxmlformats-officedocument.presentationml.notesSlide+xml"/>
  <Override PartName="/ppt/tags/tag89.xml" ContentType="application/vnd.openxmlformats-officedocument.presentationml.tags+xml"/>
  <Override PartName="/ppt/notesSlides/notesSlide15.xml" ContentType="application/vnd.openxmlformats-officedocument.presentationml.notesSlide+xml"/>
  <Override PartName="/ppt/tags/tag90.xml" ContentType="application/vnd.openxmlformats-officedocument.presentationml.tags+xml"/>
  <Override PartName="/ppt/notesSlides/notesSlide16.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17.xml" ContentType="application/vnd.openxmlformats-officedocument.presentationml.notesSlide+xml"/>
  <Override PartName="/ppt/tags/tag100.xml" ContentType="application/vnd.openxmlformats-officedocument.presentationml.tags+xml"/>
  <Override PartName="/ppt/notesSlides/notesSlide18.xml" ContentType="application/vnd.openxmlformats-officedocument.presentationml.notesSlide+xml"/>
  <Override PartName="/ppt/tags/tag101.xml" ContentType="application/vnd.openxmlformats-officedocument.presentationml.tags+xml"/>
  <Override PartName="/ppt/notesSlides/notesSlide19.xml" ContentType="application/vnd.openxmlformats-officedocument.presentationml.notesSlide+xml"/>
  <Override PartName="/ppt/tags/tag102.xml" ContentType="application/vnd.openxmlformats-officedocument.presentationml.tags+xml"/>
  <Override PartName="/ppt/notesSlides/notesSlide20.xml" ContentType="application/vnd.openxmlformats-officedocument.presentationml.notesSlide+xml"/>
  <Override PartName="/ppt/tags/tag103.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04.xml" ContentType="application/vnd.openxmlformats-officedocument.presentationml.tags+xml"/>
  <Override PartName="/ppt/notesSlides/notesSlide23.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96" r:id="rId1"/>
  </p:sldMasterIdLst>
  <p:notesMasterIdLst>
    <p:notesMasterId r:id="rId42"/>
  </p:notesMasterIdLst>
  <p:handoutMasterIdLst>
    <p:handoutMasterId r:id="rId43"/>
  </p:handoutMasterIdLst>
  <p:sldIdLst>
    <p:sldId id="2931" r:id="rId2"/>
    <p:sldId id="1157" r:id="rId3"/>
    <p:sldId id="2969" r:id="rId4"/>
    <p:sldId id="1840" r:id="rId5"/>
    <p:sldId id="2949" r:id="rId6"/>
    <p:sldId id="2970" r:id="rId7"/>
    <p:sldId id="2971" r:id="rId8"/>
    <p:sldId id="2667" r:id="rId9"/>
    <p:sldId id="2972" r:id="rId10"/>
    <p:sldId id="2653" r:id="rId11"/>
    <p:sldId id="2887" r:id="rId12"/>
    <p:sldId id="2654" r:id="rId13"/>
    <p:sldId id="2888" r:id="rId14"/>
    <p:sldId id="2889" r:id="rId15"/>
    <p:sldId id="2932" r:id="rId16"/>
    <p:sldId id="2714" r:id="rId17"/>
    <p:sldId id="2973" r:id="rId18"/>
    <p:sldId id="2899" r:id="rId19"/>
    <p:sldId id="2900" r:id="rId20"/>
    <p:sldId id="2902" r:id="rId21"/>
    <p:sldId id="2974" r:id="rId22"/>
    <p:sldId id="2765" r:id="rId23"/>
    <p:sldId id="2838" r:id="rId24"/>
    <p:sldId id="2975" r:id="rId25"/>
    <p:sldId id="2720" r:id="rId26"/>
    <p:sldId id="2840" r:id="rId27"/>
    <p:sldId id="2721" r:id="rId28"/>
    <p:sldId id="2976" r:id="rId29"/>
    <p:sldId id="1631" r:id="rId30"/>
    <p:sldId id="1880" r:id="rId31"/>
    <p:sldId id="1881" r:id="rId32"/>
    <p:sldId id="2977" r:id="rId33"/>
    <p:sldId id="2934" r:id="rId34"/>
    <p:sldId id="2935" r:id="rId35"/>
    <p:sldId id="2939" r:id="rId36"/>
    <p:sldId id="2619" r:id="rId37"/>
    <p:sldId id="2959" r:id="rId38"/>
    <p:sldId id="2901" r:id="rId39"/>
    <p:sldId id="2933" r:id="rId40"/>
    <p:sldId id="1587" r:id="rId41"/>
  </p:sldIdLst>
  <p:sldSz cx="9144000" cy="6858000" type="screen4x3"/>
  <p:notesSz cx="7315200" cy="9601200"/>
  <p:defaultTextStyle>
    <a:defPPr>
      <a:defRPr lang="en-US"/>
    </a:defPPr>
    <a:lvl1pPr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1pPr>
    <a:lvl2pPr marL="4572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2pPr>
    <a:lvl3pPr marL="9144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3pPr>
    <a:lvl4pPr marL="13716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4pPr>
    <a:lvl5pPr marL="18288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66"/>
    <a:srgbClr val="FFFFFF"/>
    <a:srgbClr val="99FF33"/>
    <a:srgbClr val="808080"/>
    <a:srgbClr val="CCFF33"/>
    <a:srgbClr val="66FF33"/>
    <a:srgbClr val="00FF00"/>
    <a:srgbClr val="FF66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87" autoAdjust="0"/>
    <p:restoredTop sz="89894" autoAdjust="0"/>
  </p:normalViewPr>
  <p:slideViewPr>
    <p:cSldViewPr>
      <p:cViewPr>
        <p:scale>
          <a:sx n="90" d="100"/>
          <a:sy n="90" d="100"/>
        </p:scale>
        <p:origin x="-7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20138" tIns="0" rIns="20138" bIns="0" numCol="1" anchor="t" anchorCtr="0" compatLnSpc="1">
            <a:prstTxWarp prst="textNoShape">
              <a:avLst/>
            </a:prstTxWarp>
          </a:bodyPr>
          <a:lstStyle>
            <a:lvl1pPr defTabSz="966788">
              <a:defRPr sz="1100" b="0" i="1">
                <a:effectLst/>
                <a:latin typeface="Times New Roman" pitchFamily="18" charset="0"/>
              </a:defRPr>
            </a:lvl1pPr>
          </a:lstStyle>
          <a:p>
            <a:pPr>
              <a:defRPr/>
            </a:pPr>
            <a:endParaRPr lang="en-US"/>
          </a:p>
        </p:txBody>
      </p:sp>
      <p:sp>
        <p:nvSpPr>
          <p:cNvPr id="3075"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20138" tIns="0" rIns="20138" bIns="0" numCol="1" anchor="t" anchorCtr="0" compatLnSpc="1">
            <a:prstTxWarp prst="textNoShape">
              <a:avLst/>
            </a:prstTxWarp>
          </a:bodyPr>
          <a:lstStyle>
            <a:lvl1pPr algn="r" defTabSz="966788">
              <a:defRPr sz="1100" b="0" i="1">
                <a:effectLst/>
                <a:latin typeface="Times New Roman" pitchFamily="18" charset="0"/>
              </a:defRPr>
            </a:lvl1pPr>
          </a:lstStyle>
          <a:p>
            <a:pPr>
              <a:defRPr/>
            </a:pPr>
            <a:endParaRPr lang="en-US"/>
          </a:p>
        </p:txBody>
      </p:sp>
      <p:sp>
        <p:nvSpPr>
          <p:cNvPr id="3076"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20138" tIns="0" rIns="20138" bIns="0" numCol="1" anchor="b" anchorCtr="0" compatLnSpc="1">
            <a:prstTxWarp prst="textNoShape">
              <a:avLst/>
            </a:prstTxWarp>
          </a:bodyPr>
          <a:lstStyle>
            <a:lvl1pPr defTabSz="966788">
              <a:defRPr sz="1100" b="0" i="1">
                <a:effectLst/>
                <a:latin typeface="Times New Roman" pitchFamily="18" charset="0"/>
              </a:defRPr>
            </a:lvl1pPr>
          </a:lstStyle>
          <a:p>
            <a:pPr>
              <a:defRPr/>
            </a:pPr>
            <a:endParaRPr lang="en-US"/>
          </a:p>
        </p:txBody>
      </p:sp>
      <p:sp>
        <p:nvSpPr>
          <p:cNvPr id="3077"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20138" tIns="0" rIns="20138" bIns="0" numCol="1" anchor="b" anchorCtr="0" compatLnSpc="1">
            <a:prstTxWarp prst="textNoShape">
              <a:avLst/>
            </a:prstTxWarp>
          </a:bodyPr>
          <a:lstStyle>
            <a:lvl1pPr algn="r" defTabSz="966788">
              <a:defRPr sz="1100" b="0" i="1">
                <a:effectLst/>
                <a:latin typeface="Times New Roman" pitchFamily="18" charset="0"/>
              </a:defRPr>
            </a:lvl1pPr>
          </a:lstStyle>
          <a:p>
            <a:pPr>
              <a:defRPr/>
            </a:pPr>
            <a:fld id="{F9125EF3-9C84-446D-814E-D843392E7CF9}" type="slidenum">
              <a:rPr lang="en-US"/>
              <a:pPr>
                <a:defRPr/>
              </a:pPr>
              <a:t>‹#›</a:t>
            </a:fld>
            <a:endParaRPr lang="en-US"/>
          </a:p>
        </p:txBody>
      </p:sp>
    </p:spTree>
    <p:extLst>
      <p:ext uri="{BB962C8B-B14F-4D97-AF65-F5344CB8AC3E}">
        <p14:creationId xmlns:p14="http://schemas.microsoft.com/office/powerpoint/2010/main" val="20601185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20138" tIns="0" rIns="20138" bIns="0" numCol="1" anchor="t" anchorCtr="0" compatLnSpc="1">
            <a:prstTxWarp prst="textNoShape">
              <a:avLst/>
            </a:prstTxWarp>
          </a:bodyPr>
          <a:lstStyle>
            <a:lvl1pPr defTabSz="966788">
              <a:lnSpc>
                <a:spcPct val="100000"/>
              </a:lnSpc>
              <a:spcBef>
                <a:spcPct val="0"/>
              </a:spcBef>
              <a:defRPr sz="1100" b="0" i="1">
                <a:effectLst/>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20138" tIns="0" rIns="20138" bIns="0" numCol="1" anchor="t" anchorCtr="0" compatLnSpc="1">
            <a:prstTxWarp prst="textNoShape">
              <a:avLst/>
            </a:prstTxWarp>
          </a:bodyPr>
          <a:lstStyle>
            <a:lvl1pPr algn="r" defTabSz="966788">
              <a:lnSpc>
                <a:spcPct val="100000"/>
              </a:lnSpc>
              <a:spcBef>
                <a:spcPct val="0"/>
              </a:spcBef>
              <a:defRPr sz="1100" b="0" i="1">
                <a:effectLst/>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20138" tIns="0" rIns="20138" bIns="0" numCol="1" anchor="b" anchorCtr="0" compatLnSpc="1">
            <a:prstTxWarp prst="textNoShape">
              <a:avLst/>
            </a:prstTxWarp>
          </a:bodyPr>
          <a:lstStyle>
            <a:lvl1pPr defTabSz="966788">
              <a:lnSpc>
                <a:spcPct val="100000"/>
              </a:lnSpc>
              <a:spcBef>
                <a:spcPct val="0"/>
              </a:spcBef>
              <a:defRPr sz="1100" b="0" i="1">
                <a:effectLst/>
                <a:latin typeface="Times New Roman" pitchFamily="18" charset="0"/>
              </a:defRPr>
            </a:lvl1pPr>
          </a:lstStyle>
          <a:p>
            <a:pPr>
              <a:defRPr/>
            </a:pPr>
            <a:endParaRPr lang="en-US"/>
          </a:p>
        </p:txBody>
      </p:sp>
      <p:sp>
        <p:nvSpPr>
          <p:cNvPr id="2053" name="Rectangle 5"/>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20138" tIns="0" rIns="20138" bIns="0" numCol="1" anchor="b" anchorCtr="0" compatLnSpc="1">
            <a:prstTxWarp prst="textNoShape">
              <a:avLst/>
            </a:prstTxWarp>
          </a:bodyPr>
          <a:lstStyle>
            <a:lvl1pPr algn="r" defTabSz="966788">
              <a:lnSpc>
                <a:spcPct val="100000"/>
              </a:lnSpc>
              <a:spcBef>
                <a:spcPct val="0"/>
              </a:spcBef>
              <a:defRPr sz="1100" b="0" i="1">
                <a:effectLst/>
                <a:latin typeface="Times New Roman" pitchFamily="18" charset="0"/>
              </a:defRPr>
            </a:lvl1pPr>
          </a:lstStyle>
          <a:p>
            <a:pPr>
              <a:defRPr/>
            </a:pPr>
            <a:fld id="{2E1AA8B8-BF0A-4758-8A28-14443BF27167}" type="slidenum">
              <a:rPr lang="en-US"/>
              <a:pPr>
                <a:defRPr/>
              </a:pPr>
              <a:t>‹#›</a:t>
            </a:fld>
            <a:endParaRPr lang="en-US"/>
          </a:p>
        </p:txBody>
      </p:sp>
      <p:sp>
        <p:nvSpPr>
          <p:cNvPr id="2054" name="Rectangle 6"/>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7332" tIns="48667" rIns="97332" bIns="4866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991" name="Rectangle 7"/>
          <p:cNvSpPr>
            <a:spLocks noGrp="1" noRot="1" noChangeAspect="1" noChangeArrowheads="1" noTextEdit="1"/>
          </p:cNvSpPr>
          <p:nvPr>
            <p:ph type="sldImg" idx="2"/>
          </p:nvPr>
        </p:nvSpPr>
        <p:spPr bwMode="auto">
          <a:xfrm>
            <a:off x="1266825" y="727075"/>
            <a:ext cx="4781550" cy="3586163"/>
          </a:xfrm>
          <a:prstGeom prst="rect">
            <a:avLst/>
          </a:prstGeom>
          <a:noFill/>
          <a:ln w="12700">
            <a:solidFill>
              <a:schemeClr val="tx1"/>
            </a:solidFill>
            <a:miter lim="800000"/>
            <a:headEnd/>
            <a:tailEnd/>
          </a:ln>
        </p:spPr>
      </p:sp>
    </p:spTree>
    <p:extLst>
      <p:ext uri="{BB962C8B-B14F-4D97-AF65-F5344CB8AC3E}">
        <p14:creationId xmlns:p14="http://schemas.microsoft.com/office/powerpoint/2010/main" val="175355597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a:spLocks noGrp="1" noChangeArrowheads="1"/>
          </p:cNvSpPr>
          <p:nvPr>
            <p:ph type="sldNum" sz="quarter" idx="5"/>
          </p:nvPr>
        </p:nvSpPr>
        <p:spPr>
          <a:noFill/>
        </p:spPr>
        <p:txBody>
          <a:bodyPr/>
          <a:lstStyle/>
          <a:p>
            <a:fld id="{DC453DA8-F35D-407D-9EA1-F8DD4262E605}" type="slidenum">
              <a:rPr lang="en-US" smtClean="0"/>
              <a:pPr/>
              <a:t>2</a:t>
            </a:fld>
            <a:endParaRPr lang="en-US"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a:spLocks noGrp="1" noChangeArrowheads="1"/>
          </p:cNvSpPr>
          <p:nvPr>
            <p:ph type="sldNum" sz="quarter" idx="5"/>
          </p:nvPr>
        </p:nvSpPr>
        <p:spPr>
          <a:noFill/>
        </p:spPr>
        <p:txBody>
          <a:bodyPr/>
          <a:lstStyle/>
          <a:p>
            <a:fld id="{76E87022-CC27-49F5-9652-B09F97AB3398}" type="slidenum">
              <a:rPr lang="en-US" smtClean="0"/>
              <a:pPr/>
              <a:t>8</a:t>
            </a:fld>
            <a:endParaRPr lang="en-US"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a:spLocks noGrp="1" noChangeArrowheads="1"/>
          </p:cNvSpPr>
          <p:nvPr>
            <p:ph type="sldNum" sz="quarter" idx="5"/>
          </p:nvPr>
        </p:nvSpPr>
        <p:spPr>
          <a:noFill/>
        </p:spPr>
        <p:txBody>
          <a:bodyPr/>
          <a:lstStyle/>
          <a:p>
            <a:fld id="{76E87022-CC27-49F5-9652-B09F97AB3398}" type="slidenum">
              <a:rPr lang="en-US" smtClean="0"/>
              <a:pPr/>
              <a:t>10</a:t>
            </a:fld>
            <a:endParaRPr lang="en-US"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a:spLocks noGrp="1" noChangeArrowheads="1"/>
          </p:cNvSpPr>
          <p:nvPr>
            <p:ph type="sldNum" sz="quarter" idx="5"/>
          </p:nvPr>
        </p:nvSpPr>
        <p:spPr>
          <a:noFill/>
        </p:spPr>
        <p:txBody>
          <a:bodyPr/>
          <a:lstStyle/>
          <a:p>
            <a:fld id="{76E87022-CC27-49F5-9652-B09F97AB3398}" type="slidenum">
              <a:rPr lang="en-US" smtClean="0"/>
              <a:pPr/>
              <a:t>11</a:t>
            </a:fld>
            <a:endParaRPr lang="en-US"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a:spLocks noGrp="1" noChangeArrowheads="1"/>
          </p:cNvSpPr>
          <p:nvPr>
            <p:ph type="sldNum" sz="quarter" idx="5"/>
          </p:nvPr>
        </p:nvSpPr>
        <p:spPr>
          <a:noFill/>
        </p:spPr>
        <p:txBody>
          <a:bodyPr/>
          <a:lstStyle/>
          <a:p>
            <a:fld id="{76E87022-CC27-49F5-9652-B09F97AB3398}" type="slidenum">
              <a:rPr lang="en-US" smtClean="0"/>
              <a:pPr/>
              <a:t>12</a:t>
            </a:fld>
            <a:endParaRPr lang="en-US"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a:spLocks noGrp="1" noChangeArrowheads="1"/>
          </p:cNvSpPr>
          <p:nvPr>
            <p:ph type="sldNum" sz="quarter" idx="5"/>
          </p:nvPr>
        </p:nvSpPr>
        <p:spPr>
          <a:noFill/>
        </p:spPr>
        <p:txBody>
          <a:bodyPr/>
          <a:lstStyle/>
          <a:p>
            <a:fld id="{76E87022-CC27-49F5-9652-B09F97AB3398}" type="slidenum">
              <a:rPr lang="en-US" smtClean="0"/>
              <a:pPr/>
              <a:t>13</a:t>
            </a:fld>
            <a:endParaRPr lang="en-US"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a:spLocks noGrp="1" noChangeArrowheads="1"/>
          </p:cNvSpPr>
          <p:nvPr>
            <p:ph type="sldNum" sz="quarter" idx="5"/>
          </p:nvPr>
        </p:nvSpPr>
        <p:spPr>
          <a:noFill/>
        </p:spPr>
        <p:txBody>
          <a:bodyPr/>
          <a:lstStyle/>
          <a:p>
            <a:fld id="{76E87022-CC27-49F5-9652-B09F97AB3398}" type="slidenum">
              <a:rPr lang="en-US" smtClean="0"/>
              <a:pPr/>
              <a:t>14</a:t>
            </a:fld>
            <a:endParaRPr lang="en-US"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5"/>
          <p:cNvSpPr>
            <a:spLocks noGrp="1" noChangeArrowheads="1"/>
          </p:cNvSpPr>
          <p:nvPr>
            <p:ph type="sldNum" sz="quarter" idx="5"/>
          </p:nvPr>
        </p:nvSpPr>
        <p:spPr>
          <a:noFill/>
        </p:spPr>
        <p:txBody>
          <a:bodyPr/>
          <a:lstStyle/>
          <a:p>
            <a:fld id="{A854650B-4964-4C4A-8AE5-1E626D7513A2}" type="slidenum">
              <a:rPr lang="en-US" smtClean="0">
                <a:solidFill>
                  <a:prstClr val="black"/>
                </a:solidFill>
              </a:rPr>
              <a:pPr/>
              <a:t>15</a:t>
            </a:fld>
            <a:endParaRPr lang="en-US" smtClean="0">
              <a:solidFill>
                <a:prstClr val="black"/>
              </a:solidFill>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p:cNvSpPr>
            <a:spLocks noGrp="1" noChangeArrowheads="1"/>
          </p:cNvSpPr>
          <p:nvPr>
            <p:ph type="sldNum" sz="quarter" idx="5"/>
          </p:nvPr>
        </p:nvSpPr>
        <p:spPr>
          <a:noFill/>
        </p:spPr>
        <p:txBody>
          <a:bodyPr/>
          <a:lstStyle/>
          <a:p>
            <a:fld id="{E246BA2F-7066-4E43-9E58-D7A0CE9E57FE}" type="slidenum">
              <a:rPr lang="en-US" smtClean="0">
                <a:solidFill>
                  <a:prstClr val="black"/>
                </a:solidFill>
              </a:rPr>
              <a:pPr/>
              <a:t>16</a:t>
            </a:fld>
            <a:endParaRPr lang="en-US" smtClean="0">
              <a:solidFill>
                <a:prstClr val="black"/>
              </a:solidFill>
            </a:endParaRPr>
          </a:p>
        </p:txBody>
      </p:sp>
      <p:sp>
        <p:nvSpPr>
          <p:cNvPr id="50179" name="Rectangle 2"/>
          <p:cNvSpPr>
            <a:spLocks noGrp="1" noRot="1" noChangeAspect="1" noChangeArrowheads="1" noTextEdit="1"/>
          </p:cNvSpPr>
          <p:nvPr>
            <p:ph type="sldImg"/>
          </p:nvPr>
        </p:nvSpPr>
        <p:spPr>
          <a:xfrm>
            <a:off x="1271588" y="715963"/>
            <a:ext cx="4776787" cy="3582987"/>
          </a:xfrm>
          <a:ln/>
        </p:spPr>
      </p:sp>
      <p:sp>
        <p:nvSpPr>
          <p:cNvPr id="50180" name="Rectangle 3"/>
          <p:cNvSpPr>
            <a:spLocks noGrp="1" noChangeArrowheads="1"/>
          </p:cNvSpPr>
          <p:nvPr>
            <p:ph type="body" idx="1"/>
          </p:nvPr>
        </p:nvSpPr>
        <p:spPr>
          <a:xfrm>
            <a:off x="974725" y="4537075"/>
            <a:ext cx="1352550" cy="476250"/>
          </a:xfrm>
          <a:noFill/>
          <a:ln/>
        </p:spPr>
        <p:txBody>
          <a:bodyPr/>
          <a:lstStyle/>
          <a:p>
            <a:r>
              <a:rPr lang="en-US" dirty="0" smtClean="0"/>
              <a:t>Using Clock </a:t>
            </a:r>
            <a:r>
              <a:rPr lang="en-US" dirty="0" err="1" smtClean="0"/>
              <a:t>Fxns</a:t>
            </a:r>
            <a:r>
              <a:rPr lang="en-US" dirty="0" smtClean="0"/>
              <a:t> in a Task-based video system is not really recommended because Clock Functions will ALWAYS have a higher priority than TSKs because periodic functions</a:t>
            </a:r>
            <a:r>
              <a:rPr lang="en-US" baseline="0" dirty="0" smtClean="0"/>
              <a:t> </a:t>
            </a:r>
            <a:r>
              <a:rPr lang="en-US" dirty="0" smtClean="0"/>
              <a:t>s are prioritized as </a:t>
            </a:r>
            <a:r>
              <a:rPr lang="en-US" dirty="0" err="1" smtClean="0"/>
              <a:t>Swis</a:t>
            </a:r>
            <a:r>
              <a:rPr lang="en-US" dirty="0" smtClean="0"/>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p:cNvSpPr>
            <a:spLocks noGrp="1" noChangeArrowheads="1"/>
          </p:cNvSpPr>
          <p:nvPr>
            <p:ph type="sldNum" sz="quarter" idx="5"/>
          </p:nvPr>
        </p:nvSpPr>
        <p:spPr>
          <a:noFill/>
        </p:spPr>
        <p:txBody>
          <a:bodyPr/>
          <a:lstStyle/>
          <a:p>
            <a:fld id="{E246BA2F-7066-4E43-9E58-D7A0CE9E57FE}" type="slidenum">
              <a:rPr lang="en-US" smtClean="0">
                <a:solidFill>
                  <a:prstClr val="black"/>
                </a:solidFill>
              </a:rPr>
              <a:pPr/>
              <a:t>18</a:t>
            </a:fld>
            <a:endParaRPr lang="en-US" smtClean="0">
              <a:solidFill>
                <a:prstClr val="black"/>
              </a:solidFill>
            </a:endParaRPr>
          </a:p>
        </p:txBody>
      </p:sp>
      <p:sp>
        <p:nvSpPr>
          <p:cNvPr id="50179" name="Rectangle 2"/>
          <p:cNvSpPr>
            <a:spLocks noGrp="1" noRot="1" noChangeAspect="1" noChangeArrowheads="1" noTextEdit="1"/>
          </p:cNvSpPr>
          <p:nvPr>
            <p:ph type="sldImg"/>
          </p:nvPr>
        </p:nvSpPr>
        <p:spPr>
          <a:xfrm>
            <a:off x="1271588" y="715963"/>
            <a:ext cx="4776787" cy="3582987"/>
          </a:xfrm>
          <a:ln/>
        </p:spPr>
      </p:sp>
      <p:sp>
        <p:nvSpPr>
          <p:cNvPr id="50180" name="Rectangle 3"/>
          <p:cNvSpPr>
            <a:spLocks noGrp="1" noChangeArrowheads="1"/>
          </p:cNvSpPr>
          <p:nvPr>
            <p:ph type="body" idx="1"/>
          </p:nvPr>
        </p:nvSpPr>
        <p:spPr>
          <a:xfrm>
            <a:off x="974725" y="4537075"/>
            <a:ext cx="1352550" cy="476250"/>
          </a:xfrm>
          <a:noFill/>
          <a:ln/>
        </p:spPr>
        <p:txBody>
          <a:bodyPr/>
          <a:lstStyle/>
          <a:p>
            <a:r>
              <a:rPr lang="en-US" dirty="0" smtClean="0"/>
              <a:t>Using Clock </a:t>
            </a:r>
            <a:r>
              <a:rPr lang="en-US" dirty="0" err="1" smtClean="0"/>
              <a:t>Fxns</a:t>
            </a:r>
            <a:r>
              <a:rPr lang="en-US" dirty="0" smtClean="0"/>
              <a:t> in a Task-based video system is not really recommended because Clock Functions will ALWAYS have a higher priority than TSKs because periodic functions</a:t>
            </a:r>
            <a:r>
              <a:rPr lang="en-US" baseline="0" dirty="0" smtClean="0"/>
              <a:t> </a:t>
            </a:r>
            <a:r>
              <a:rPr lang="en-US" dirty="0" smtClean="0"/>
              <a:t>s are prioritized as </a:t>
            </a:r>
            <a:r>
              <a:rPr lang="en-US" dirty="0" err="1" smtClean="0"/>
              <a:t>Swis</a:t>
            </a:r>
            <a:r>
              <a:rPr lang="en-US" dirty="0" smtClean="0"/>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5"/>
          <p:cNvSpPr>
            <a:spLocks noGrp="1" noChangeArrowheads="1"/>
          </p:cNvSpPr>
          <p:nvPr>
            <p:ph type="sldNum" sz="quarter" idx="5"/>
          </p:nvPr>
        </p:nvSpPr>
        <p:spPr>
          <a:noFill/>
        </p:spPr>
        <p:txBody>
          <a:bodyPr/>
          <a:lstStyle/>
          <a:p>
            <a:fld id="{75507374-DF37-4C2A-86E7-E20097238C0A}" type="slidenum">
              <a:rPr lang="en-US" smtClean="0">
                <a:solidFill>
                  <a:prstClr val="black"/>
                </a:solidFill>
              </a:rPr>
              <a:pPr/>
              <a:t>19</a:t>
            </a:fld>
            <a:endParaRPr lang="en-US" smtClean="0">
              <a:solidFill>
                <a:prstClr val="black"/>
              </a:solidFill>
            </a:endParaRPr>
          </a:p>
        </p:txBody>
      </p:sp>
      <p:sp>
        <p:nvSpPr>
          <p:cNvPr id="52227" name="Rectangle 2"/>
          <p:cNvSpPr>
            <a:spLocks noGrp="1" noRot="1" noChangeAspect="1" noChangeArrowheads="1" noTextEdit="1"/>
          </p:cNvSpPr>
          <p:nvPr>
            <p:ph type="sldImg"/>
          </p:nvPr>
        </p:nvSpPr>
        <p:spPr>
          <a:xfrm>
            <a:off x="1271588" y="715963"/>
            <a:ext cx="4776787" cy="3582987"/>
          </a:xfrm>
          <a:ln/>
        </p:spPr>
      </p:sp>
      <p:sp>
        <p:nvSpPr>
          <p:cNvPr id="52228" name="Rectangle 3"/>
          <p:cNvSpPr>
            <a:spLocks noGrp="1" noChangeArrowheads="1"/>
          </p:cNvSpPr>
          <p:nvPr>
            <p:ph type="body" idx="1"/>
          </p:nvPr>
        </p:nvSpPr>
        <p:spPr>
          <a:xfrm>
            <a:off x="974725" y="4537075"/>
            <a:ext cx="1352550" cy="476250"/>
          </a:xfrm>
          <a:noFill/>
          <a:ln/>
        </p:spPr>
        <p:txBody>
          <a:bodyPr/>
          <a:lstStyle/>
          <a:p>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p:cNvSpPr>
            <a:spLocks noGrp="1" noChangeArrowheads="1"/>
          </p:cNvSpPr>
          <p:nvPr>
            <p:ph type="sldNum" sz="quarter" idx="5"/>
          </p:nvPr>
        </p:nvSpPr>
        <p:spPr>
          <a:noFill/>
        </p:spPr>
        <p:txBody>
          <a:bodyPr/>
          <a:lstStyle/>
          <a:p>
            <a:fld id="{CE37E69C-4636-43AE-BEE1-84BDBC7D8A01}" type="slidenum">
              <a:rPr lang="en-US" smtClean="0"/>
              <a:pPr/>
              <a:t>22</a:t>
            </a:fld>
            <a:endParaRPr lang="en-US" smtClean="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5"/>
          <p:cNvSpPr>
            <a:spLocks noGrp="1" noChangeArrowheads="1"/>
          </p:cNvSpPr>
          <p:nvPr>
            <p:ph type="sldNum" sz="quarter" idx="5"/>
          </p:nvPr>
        </p:nvSpPr>
        <p:spPr>
          <a:noFill/>
        </p:spPr>
        <p:txBody>
          <a:bodyPr/>
          <a:lstStyle/>
          <a:p>
            <a:fld id="{75507374-DF37-4C2A-86E7-E20097238C0A}" type="slidenum">
              <a:rPr lang="en-US" smtClean="0">
                <a:solidFill>
                  <a:prstClr val="black"/>
                </a:solidFill>
              </a:rPr>
              <a:pPr/>
              <a:t>23</a:t>
            </a:fld>
            <a:endParaRPr lang="en-US" smtClean="0">
              <a:solidFill>
                <a:prstClr val="black"/>
              </a:solidFill>
            </a:endParaRPr>
          </a:p>
        </p:txBody>
      </p:sp>
      <p:sp>
        <p:nvSpPr>
          <p:cNvPr id="52227" name="Rectangle 2"/>
          <p:cNvSpPr>
            <a:spLocks noGrp="1" noRot="1" noChangeAspect="1" noChangeArrowheads="1" noTextEdit="1"/>
          </p:cNvSpPr>
          <p:nvPr>
            <p:ph type="sldImg"/>
          </p:nvPr>
        </p:nvSpPr>
        <p:spPr>
          <a:xfrm>
            <a:off x="1271588" y="715963"/>
            <a:ext cx="4776787" cy="3582987"/>
          </a:xfrm>
          <a:ln/>
        </p:spPr>
      </p:sp>
      <p:sp>
        <p:nvSpPr>
          <p:cNvPr id="52228" name="Rectangle 3"/>
          <p:cNvSpPr>
            <a:spLocks noGrp="1" noChangeArrowheads="1"/>
          </p:cNvSpPr>
          <p:nvPr>
            <p:ph type="body" idx="1"/>
          </p:nvPr>
        </p:nvSpPr>
        <p:spPr>
          <a:xfrm>
            <a:off x="974725" y="4537075"/>
            <a:ext cx="1352550" cy="476250"/>
          </a:xfrm>
          <a:noFill/>
          <a:ln/>
        </p:spPr>
        <p:txBody>
          <a:bodyPr/>
          <a:lstStyle/>
          <a:p>
            <a:endParaRPr lang="en-U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5"/>
          <p:cNvSpPr>
            <a:spLocks noGrp="1" noChangeArrowheads="1"/>
          </p:cNvSpPr>
          <p:nvPr>
            <p:ph type="sldNum" sz="quarter" idx="5"/>
          </p:nvPr>
        </p:nvSpPr>
        <p:spPr>
          <a:noFill/>
        </p:spPr>
        <p:txBody>
          <a:bodyPr/>
          <a:lstStyle/>
          <a:p>
            <a:fld id="{D9FCBE37-D0CC-4FBE-B0E8-BE0F27CBB080}" type="slidenum">
              <a:rPr lang="en-US">
                <a:solidFill>
                  <a:prstClr val="black"/>
                </a:solidFill>
              </a:rPr>
              <a:pPr/>
              <a:t>29</a:t>
            </a:fld>
            <a:endParaRPr lang="en-US">
              <a:solidFill>
                <a:prstClr val="black"/>
              </a:solidFill>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xfrm>
            <a:off x="1381125" y="5110163"/>
            <a:ext cx="5688013" cy="3370262"/>
          </a:xfrm>
          <a:noFill/>
          <a:ln/>
        </p:spPr>
        <p:txBody>
          <a:bodyPr/>
          <a:lstStyle/>
          <a:p>
            <a:endParaRPr lang="en-US" dirty="0" smtClean="0">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5"/>
          <p:cNvSpPr>
            <a:spLocks noGrp="1" noChangeArrowheads="1"/>
          </p:cNvSpPr>
          <p:nvPr>
            <p:ph type="sldNum" sz="quarter" idx="5"/>
          </p:nvPr>
        </p:nvSpPr>
        <p:spPr>
          <a:noFill/>
        </p:spPr>
        <p:txBody>
          <a:bodyPr/>
          <a:lstStyle/>
          <a:p>
            <a:fld id="{D9FCBE37-D0CC-4FBE-B0E8-BE0F27CBB080}" type="slidenum">
              <a:rPr lang="en-US">
                <a:solidFill>
                  <a:prstClr val="black"/>
                </a:solidFill>
              </a:rPr>
              <a:pPr/>
              <a:t>30</a:t>
            </a:fld>
            <a:endParaRPr lang="en-US">
              <a:solidFill>
                <a:prstClr val="black"/>
              </a:solidFill>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xfrm>
            <a:off x="1381125" y="5110163"/>
            <a:ext cx="5688013" cy="3370262"/>
          </a:xfrm>
          <a:noFill/>
          <a:ln/>
        </p:spPr>
        <p:txBody>
          <a:bodyPr/>
          <a:lstStyle/>
          <a:p>
            <a:endParaRPr lang="en-US" dirty="0" smtClean="0">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5"/>
          <p:cNvSpPr>
            <a:spLocks noGrp="1" noChangeArrowheads="1"/>
          </p:cNvSpPr>
          <p:nvPr>
            <p:ph type="sldNum" sz="quarter" idx="5"/>
          </p:nvPr>
        </p:nvSpPr>
        <p:spPr>
          <a:noFill/>
        </p:spPr>
        <p:txBody>
          <a:bodyPr/>
          <a:lstStyle/>
          <a:p>
            <a:fld id="{D9FCBE37-D0CC-4FBE-B0E8-BE0F27CBB080}" type="slidenum">
              <a:rPr lang="en-US">
                <a:solidFill>
                  <a:prstClr val="black"/>
                </a:solidFill>
              </a:rPr>
              <a:pPr/>
              <a:t>31</a:t>
            </a:fld>
            <a:endParaRPr lang="en-US">
              <a:solidFill>
                <a:prstClr val="black"/>
              </a:solidFill>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xfrm>
            <a:off x="1381125" y="5110163"/>
            <a:ext cx="5688013" cy="3370262"/>
          </a:xfrm>
          <a:noFill/>
          <a:ln/>
        </p:spPr>
        <p:txBody>
          <a:bodyPr/>
          <a:lstStyle/>
          <a:p>
            <a:endParaRPr lang="en-US" dirty="0" smtClean="0">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p:cNvSpPr>
            <a:spLocks noGrp="1" noChangeArrowheads="1"/>
          </p:cNvSpPr>
          <p:nvPr>
            <p:ph type="sldNum" sz="quarter" idx="5"/>
          </p:nvPr>
        </p:nvSpPr>
        <p:spPr>
          <a:noFill/>
        </p:spPr>
        <p:txBody>
          <a:bodyPr/>
          <a:lstStyle/>
          <a:p>
            <a:fld id="{CE37E69C-4636-43AE-BEE1-84BDBC7D8A01}" type="slidenum">
              <a:rPr lang="en-US" smtClean="0"/>
              <a:pPr/>
              <a:t>33</a:t>
            </a:fld>
            <a:endParaRPr lang="en-US" smtClean="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p:cNvSpPr>
            <a:spLocks noGrp="1" noChangeArrowheads="1"/>
          </p:cNvSpPr>
          <p:nvPr>
            <p:ph type="sldNum" sz="quarter" idx="5"/>
          </p:nvPr>
        </p:nvSpPr>
        <p:spPr>
          <a:noFill/>
        </p:spPr>
        <p:txBody>
          <a:bodyPr/>
          <a:lstStyle/>
          <a:p>
            <a:fld id="{CE37E69C-4636-43AE-BEE1-84BDBC7D8A01}" type="slidenum">
              <a:rPr lang="en-US" smtClean="0"/>
              <a:pPr/>
              <a:t>34</a:t>
            </a:fld>
            <a:endParaRPr lang="en-US" smtClean="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p:cNvSpPr>
            <a:spLocks noGrp="1" noChangeArrowheads="1"/>
          </p:cNvSpPr>
          <p:nvPr>
            <p:ph type="sldNum" sz="quarter" idx="5"/>
          </p:nvPr>
        </p:nvSpPr>
        <p:spPr>
          <a:noFill/>
        </p:spPr>
        <p:txBody>
          <a:bodyPr/>
          <a:lstStyle/>
          <a:p>
            <a:fld id="{CE37E69C-4636-43AE-BEE1-84BDBC7D8A01}" type="slidenum">
              <a:rPr lang="en-US" smtClean="0"/>
              <a:pPr/>
              <a:t>35</a:t>
            </a:fld>
            <a:endParaRPr lang="en-US" smtClean="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p:cNvSpPr>
            <a:spLocks noGrp="1" noChangeArrowheads="1"/>
          </p:cNvSpPr>
          <p:nvPr>
            <p:ph type="sldNum" sz="quarter" idx="5"/>
          </p:nvPr>
        </p:nvSpPr>
        <p:spPr>
          <a:noFill/>
        </p:spPr>
        <p:txBody>
          <a:bodyPr/>
          <a:lstStyle/>
          <a:p>
            <a:fld id="{A6CF76D9-8C4F-404E-B421-838159FF4993}" type="slidenum">
              <a:rPr lang="en-US" smtClean="0">
                <a:solidFill>
                  <a:prstClr val="black"/>
                </a:solidFill>
              </a:rPr>
              <a:pPr/>
              <a:t>36</a:t>
            </a:fld>
            <a:endParaRPr lang="en-US" smtClean="0">
              <a:solidFill>
                <a:prstClr val="black"/>
              </a:solidFill>
            </a:endParaRPr>
          </a:p>
        </p:txBody>
      </p:sp>
      <p:sp>
        <p:nvSpPr>
          <p:cNvPr id="40963" name="Rectangle 2"/>
          <p:cNvSpPr>
            <a:spLocks noGrp="1" noRot="1" noChangeAspect="1" noChangeArrowheads="1" noTextEdit="1"/>
          </p:cNvSpPr>
          <p:nvPr>
            <p:ph type="sldImg"/>
          </p:nvPr>
        </p:nvSpPr>
        <p:spPr>
          <a:ln cap="flat"/>
        </p:spPr>
      </p:sp>
      <p:sp>
        <p:nvSpPr>
          <p:cNvPr id="4096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5"/>
          <p:cNvSpPr>
            <a:spLocks noGrp="1" noChangeArrowheads="1"/>
          </p:cNvSpPr>
          <p:nvPr>
            <p:ph type="sldNum" sz="quarter" idx="5"/>
          </p:nvPr>
        </p:nvSpPr>
        <p:spPr>
          <a:noFill/>
        </p:spPr>
        <p:txBody>
          <a:bodyPr/>
          <a:lstStyle/>
          <a:p>
            <a:fld id="{75507374-DF37-4C2A-86E7-E20097238C0A}" type="slidenum">
              <a:rPr lang="en-US" smtClean="0">
                <a:solidFill>
                  <a:prstClr val="black"/>
                </a:solidFill>
              </a:rPr>
              <a:pPr/>
              <a:t>37</a:t>
            </a:fld>
            <a:endParaRPr lang="en-US" smtClean="0">
              <a:solidFill>
                <a:prstClr val="black"/>
              </a:solidFill>
            </a:endParaRPr>
          </a:p>
        </p:txBody>
      </p:sp>
      <p:sp>
        <p:nvSpPr>
          <p:cNvPr id="52227" name="Rectangle 2"/>
          <p:cNvSpPr>
            <a:spLocks noGrp="1" noRot="1" noChangeAspect="1" noChangeArrowheads="1" noTextEdit="1"/>
          </p:cNvSpPr>
          <p:nvPr>
            <p:ph type="sldImg"/>
          </p:nvPr>
        </p:nvSpPr>
        <p:spPr>
          <a:xfrm>
            <a:off x="1271588" y="715963"/>
            <a:ext cx="4776787" cy="3582987"/>
          </a:xfrm>
          <a:ln/>
        </p:spPr>
      </p:sp>
      <p:sp>
        <p:nvSpPr>
          <p:cNvPr id="52228" name="Rectangle 3"/>
          <p:cNvSpPr>
            <a:spLocks noGrp="1" noChangeArrowheads="1"/>
          </p:cNvSpPr>
          <p:nvPr>
            <p:ph type="body" idx="1"/>
          </p:nvPr>
        </p:nvSpPr>
        <p:spPr>
          <a:xfrm>
            <a:off x="974725" y="4537075"/>
            <a:ext cx="1352550" cy="476250"/>
          </a:xfrm>
          <a:noFill/>
          <a:ln/>
        </p:spPr>
        <p:txBody>
          <a:bodyPr/>
          <a:lstStyle/>
          <a:p>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p:cNvSpPr>
            <a:spLocks noGrp="1" noChangeArrowheads="1"/>
          </p:cNvSpPr>
          <p:nvPr>
            <p:ph type="sldNum" sz="quarter" idx="5"/>
          </p:nvPr>
        </p:nvSpPr>
        <p:spPr>
          <a:noFill/>
        </p:spPr>
        <p:txBody>
          <a:bodyPr/>
          <a:lstStyle/>
          <a:p>
            <a:fld id="{46AD0552-6C7C-46F3-A9A0-A581CF7C0266}" type="slidenum">
              <a:rPr lang="en-US" smtClean="0">
                <a:solidFill>
                  <a:prstClr val="black"/>
                </a:solidFill>
              </a:rPr>
              <a:pPr/>
              <a:t>38</a:t>
            </a:fld>
            <a:endParaRPr lang="en-US" smtClean="0">
              <a:solidFill>
                <a:prstClr val="black"/>
              </a:solidFill>
            </a:endParaRPr>
          </a:p>
        </p:txBody>
      </p:sp>
      <p:sp>
        <p:nvSpPr>
          <p:cNvPr id="36867" name="Rectangle 2"/>
          <p:cNvSpPr>
            <a:spLocks noGrp="1" noRot="1" noChangeAspect="1" noChangeArrowheads="1" noTextEdit="1"/>
          </p:cNvSpPr>
          <p:nvPr>
            <p:ph type="sldImg"/>
          </p:nvPr>
        </p:nvSpPr>
        <p:spPr>
          <a:xfrm>
            <a:off x="1266825" y="727075"/>
            <a:ext cx="4783138" cy="3587750"/>
          </a:xfrm>
          <a:ln/>
        </p:spPr>
      </p:sp>
      <p:sp>
        <p:nvSpPr>
          <p:cNvPr id="36868" name="Rectangle 3"/>
          <p:cNvSpPr>
            <a:spLocks noGrp="1" noChangeArrowheads="1"/>
          </p:cNvSpPr>
          <p:nvPr>
            <p:ph type="body" idx="1"/>
          </p:nvPr>
        </p:nvSpPr>
        <p:spPr>
          <a:xfrm>
            <a:off x="976313" y="4559300"/>
            <a:ext cx="5362575" cy="4321175"/>
          </a:xfrm>
          <a:noFill/>
          <a:ln/>
        </p:spPr>
        <p:txBody>
          <a:bodyPr/>
          <a:lstStyle/>
          <a:p>
            <a:r>
              <a:rPr lang="en-US" smtClean="0"/>
              <a:t>The main point of this slide is that BIOS (scheduler) manages priorities for you. Each thread (SWI, TSK) runs unaware of the others around it. As INTs post SEMs and SWIs, higher priority threads become ready, and BIOS will run each in order of priority, dropping down to lower levels as higher ones are satisfied or block waiting for additional resources. All this is </a:t>
            </a:r>
            <a:r>
              <a:rPr lang="en-US" b="1" smtClean="0"/>
              <a:t>automatic</a:t>
            </a:r>
            <a:r>
              <a:rPr lang="en-US" smtClean="0"/>
              <a:t> to the user - just write each thread, assign it a priority, and BIOS does the rest. </a:t>
            </a:r>
          </a:p>
          <a:p>
            <a:endParaRPr lang="en-US" smtClean="0"/>
          </a:p>
          <a:p>
            <a:r>
              <a:rPr lang="en-US" smtClean="0"/>
              <a:t>A few points to note: SWIs run to completion - like a function call - a one shot, if you like. TSKs, instead, usually linger much longer - their execute phase is a while loop. They </a:t>
            </a:r>
            <a:r>
              <a:rPr lang="en-US" i="1" smtClean="0"/>
              <a:t>block</a:t>
            </a:r>
            <a:r>
              <a:rPr lang="en-US" smtClean="0"/>
              <a:t> when they run out of resources, and lower threads (or idle) can run until the requested resource arrives. In Bridge, TSKs are dynamically created and can be deleted, but normally are ready, running, or blocked. </a:t>
            </a:r>
          </a:p>
          <a:p>
            <a:endParaRPr lang="en-US" smtClean="0"/>
          </a:p>
          <a:p>
            <a:r>
              <a:rPr lang="en-US" smtClean="0"/>
              <a:t>An interesting point: if RMS is a TSK of low priority (1), how come it’s running when TSK1 and TSK2 are ready? Recall that RMS implements the </a:t>
            </a:r>
            <a:r>
              <a:rPr lang="en-US" i="1" smtClean="0"/>
              <a:t>create</a:t>
            </a:r>
            <a:r>
              <a:rPr lang="en-US" smtClean="0"/>
              <a:t> phase of each TSK, and until the gateway puts the TSK in </a:t>
            </a:r>
            <a:r>
              <a:rPr lang="en-US" i="1" smtClean="0"/>
              <a:t>run </a:t>
            </a:r>
            <a:r>
              <a:rPr lang="en-US" smtClean="0"/>
              <a:t>mode, its priority is (minus) -1, thus TSK1 and TSK2 have no priority until elevated with </a:t>
            </a:r>
            <a:r>
              <a:rPr lang="en-US" i="1" smtClean="0"/>
              <a:t>DSPNode_run().</a:t>
            </a:r>
            <a:endParaRPr lang="en-US" smtClean="0"/>
          </a:p>
          <a:p>
            <a:endParaRPr lang="en-US" smtClean="0"/>
          </a:p>
          <a:p>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5"/>
          <p:cNvSpPr>
            <a:spLocks noGrp="1" noChangeArrowheads="1"/>
          </p:cNvSpPr>
          <p:nvPr>
            <p:ph type="sldNum" sz="quarter" idx="5"/>
          </p:nvPr>
        </p:nvSpPr>
        <p:spPr>
          <a:noFill/>
        </p:spPr>
        <p:txBody>
          <a:bodyPr/>
          <a:lstStyle/>
          <a:p>
            <a:fld id="{A854650B-4964-4C4A-8AE5-1E626D7513A2}" type="slidenum">
              <a:rPr lang="en-US" smtClean="0">
                <a:solidFill>
                  <a:prstClr val="black"/>
                </a:solidFill>
              </a:rPr>
              <a:pPr/>
              <a:t>39</a:t>
            </a:fld>
            <a:endParaRPr lang="en-US" smtClean="0">
              <a:solidFill>
                <a:prstClr val="black"/>
              </a:solidFill>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noFill/>
        </p:spPr>
        <p:txBody>
          <a:bodyPr/>
          <a:lstStyle>
            <a:lvl1pPr algn="l">
              <a:defRPr>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3810000"/>
            <a:ext cx="7772400" cy="1752600"/>
          </a:xfrm>
        </p:spPr>
        <p:txBody>
          <a:bodyPr>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EF89BD6-E300-4C67-B175-76E5828D27B4}" type="datetimeFigureOut">
              <a:rPr lang="en-US" smtClean="0"/>
              <a:pPr/>
              <a:t>6/24/2014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582210-5FCA-4178-AB04-4337EADA3D81}" type="slidenum">
              <a:rPr lang="en-US" smtClean="0"/>
              <a:pPr/>
              <a:t>‹#›</a:t>
            </a:fld>
            <a:endParaRPr lang="en-US"/>
          </a:p>
        </p:txBody>
      </p:sp>
      <p:pic>
        <p:nvPicPr>
          <p:cNvPr id="8" name="Picture 7" descr="ti_pptbar_white.png"/>
          <p:cNvPicPr>
            <a:picLocks noChangeAspect="1"/>
          </p:cNvPicPr>
          <p:nvPr/>
        </p:nvPicPr>
        <p:blipFill>
          <a:blip r:embed="rId2" cstate="print"/>
          <a:stretch>
            <a:fillRect/>
          </a:stretch>
        </p:blipFill>
        <p:spPr>
          <a:xfrm>
            <a:off x="326486" y="6324600"/>
            <a:ext cx="8491027" cy="481544"/>
          </a:xfrm>
          <a:prstGeom prst="rect">
            <a:avLst/>
          </a:prstGeom>
        </p:spPr>
      </p:pic>
      <p:grpSp>
        <p:nvGrpSpPr>
          <p:cNvPr id="10" name="Group 16"/>
          <p:cNvGrpSpPr>
            <a:grpSpLocks/>
          </p:cNvGrpSpPr>
          <p:nvPr/>
        </p:nvGrpSpPr>
        <p:grpSpPr bwMode="auto">
          <a:xfrm>
            <a:off x="-7938" y="6323013"/>
            <a:ext cx="8815388" cy="466725"/>
            <a:chOff x="-7620" y="6323077"/>
            <a:chExt cx="8814816" cy="466344"/>
          </a:xfrm>
        </p:grpSpPr>
        <p:cxnSp>
          <p:nvCxnSpPr>
            <p:cNvPr id="11" name="Straight Connector 10"/>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Straight Connector 11"/>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4" name="Picture 8"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4" name="Picture 6" descr="selected_powerpoint_bg_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6" name="Group 18"/>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Tree>
    <p:extLst>
      <p:ext uri="{BB962C8B-B14F-4D97-AF65-F5344CB8AC3E}">
        <p14:creationId xmlns:p14="http://schemas.microsoft.com/office/powerpoint/2010/main" val="187672641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6" descr="selected_powerpoint_bg_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6" name="Group 13"/>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
        <p:nvSpPr>
          <p:cNvPr id="11" name="Rectangle 24"/>
          <p:cNvSpPr>
            <a:spLocks noGrp="1" noChangeArrowheads="1"/>
          </p:cNvSpPr>
          <p:nvPr>
            <p:ph type="sldNum" sz="quarter" idx="10"/>
          </p:nvPr>
        </p:nvSpPr>
        <p:spPr>
          <a:xfrm>
            <a:off x="6642100" y="6038850"/>
            <a:ext cx="2133600" cy="206375"/>
          </a:xfrm>
        </p:spPr>
        <p:txBody>
          <a:bodyPr/>
          <a:lstStyle>
            <a:lvl1pPr>
              <a:defRPr/>
            </a:lvl1pPr>
          </a:lstStyle>
          <a:p>
            <a:fld id="{E427ED86-F7CD-4E74-A97C-6D3BAEB1029D}" type="slidenum">
              <a:rPr lang="en-US" smtClean="0"/>
              <a:t>‹#›</a:t>
            </a:fld>
            <a:endParaRPr lang="en-US"/>
          </a:p>
        </p:txBody>
      </p:sp>
    </p:spTree>
    <p:extLst>
      <p:ext uri="{BB962C8B-B14F-4D97-AF65-F5344CB8AC3E}">
        <p14:creationId xmlns:p14="http://schemas.microsoft.com/office/powerpoint/2010/main" val="939942559"/>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pic>
        <p:nvPicPr>
          <p:cNvPr id="4" name="Picture 6" descr="selected_powerpoint_bg_1_grey.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78205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6" name="Group 13"/>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Tree>
    <p:extLst>
      <p:ext uri="{BB962C8B-B14F-4D97-AF65-F5344CB8AC3E}">
        <p14:creationId xmlns:p14="http://schemas.microsoft.com/office/powerpoint/2010/main" val="1969527067"/>
      </p:ext>
    </p:extLst>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F89BD6-E300-4C67-B175-76E5828D27B4}" type="datetimeFigureOut">
              <a:rPr lang="en-US" smtClean="0"/>
              <a:pPr/>
              <a:t>6/24/2014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EF89BD6-E300-4C67-B175-76E5828D27B4}" type="datetimeFigureOut">
              <a:rPr lang="en-US" smtClean="0"/>
              <a:pPr/>
              <a:t>6/24/2014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EF89BD6-E300-4C67-B175-76E5828D27B4}" type="datetimeFigureOut">
              <a:rPr lang="en-US" smtClean="0"/>
              <a:pPr/>
              <a:t>6/24/2014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EF89BD6-E300-4C67-B175-76E5828D27B4}" type="datetimeFigureOut">
              <a:rPr lang="en-US" smtClean="0"/>
              <a:pPr/>
              <a:t>6/24/2014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F89BD6-E300-4C67-B175-76E5828D27B4}" type="datetimeFigureOut">
              <a:rPr lang="en-US" smtClean="0"/>
              <a:pPr/>
              <a:t>6/24/2014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F89BD6-E300-4C67-B175-76E5828D27B4}" type="datetimeFigureOut">
              <a:rPr lang="en-US" smtClean="0"/>
              <a:pPr/>
              <a:t>6/24/2014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F89BD6-E300-4C67-B175-76E5828D27B4}" type="datetimeFigureOut">
              <a:rPr lang="en-US" smtClean="0"/>
              <a:pPr/>
              <a:t>6/24/2014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9144000" cy="742950"/>
          </a:xfrm>
          <a:prstGeom prst="rect">
            <a:avLst/>
          </a:prstGeom>
        </p:spPr>
        <p:txBody>
          <a:bodyPr vert="horz" lIns="91440" tIns="45720" rIns="91440" bIns="45720" rtlCol="0" anchor="t"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762000"/>
            <a:ext cx="8229600" cy="5562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F89BD6-E300-4C67-B175-76E5828D27B4}" type="datetimeFigureOut">
              <a:rPr lang="en-US" smtClean="0"/>
              <a:pPr/>
              <a:t>6/24/2014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582210-5FCA-4178-AB04-4337EADA3D81}" type="slidenum">
              <a:rPr lang="en-US" smtClean="0"/>
              <a:pPr/>
              <a:t>‹#›</a:t>
            </a:fld>
            <a:endParaRPr lang="en-US"/>
          </a:p>
        </p:txBody>
      </p:sp>
      <p:pic>
        <p:nvPicPr>
          <p:cNvPr id="7" name="TI Logo Color One Line" descr="tilogo_color_oneline.png" hidden="1"/>
          <p:cNvPicPr>
            <a:picLocks noChangeAspect="1"/>
          </p:cNvPicPr>
          <p:nvPr/>
        </p:nvPicPr>
        <p:blipFill>
          <a:blip r:embed="rId13" cstate="print"/>
          <a:stretch>
            <a:fillRect/>
          </a:stretch>
        </p:blipFill>
        <p:spPr>
          <a:xfrm>
            <a:off x="147730" y="6101890"/>
            <a:ext cx="1840840" cy="237724"/>
          </a:xfrm>
          <a:prstGeom prst="rect">
            <a:avLst/>
          </a:prstGeom>
        </p:spPr>
      </p:pic>
      <p:pic>
        <p:nvPicPr>
          <p:cNvPr id="8" name="TI Logo White One Line" descr="tilogo_bw_oneline.png" hidden="1"/>
          <p:cNvPicPr>
            <a:picLocks noChangeAspect="1"/>
          </p:cNvPicPr>
          <p:nvPr/>
        </p:nvPicPr>
        <p:blipFill>
          <a:blip r:embed="rId14" cstate="print"/>
          <a:stretch>
            <a:fillRect/>
          </a:stretch>
        </p:blipFill>
        <p:spPr>
          <a:xfrm>
            <a:off x="136939" y="5288938"/>
            <a:ext cx="1822553" cy="237724"/>
          </a:xfrm>
          <a:prstGeom prst="rect">
            <a:avLst/>
          </a:prstGeom>
        </p:spPr>
      </p:pic>
      <p:pic>
        <p:nvPicPr>
          <p:cNvPr id="9" name="TI Logo White Stack" descr="tilogo_bw_twoline.png" hidden="1"/>
          <p:cNvPicPr>
            <a:picLocks noChangeAspect="1"/>
          </p:cNvPicPr>
          <p:nvPr/>
        </p:nvPicPr>
        <p:blipFill>
          <a:blip r:embed="rId15" cstate="print"/>
          <a:stretch>
            <a:fillRect/>
          </a:stretch>
        </p:blipFill>
        <p:spPr>
          <a:xfrm>
            <a:off x="121847" y="5656160"/>
            <a:ext cx="1456824" cy="353539"/>
          </a:xfrm>
          <a:prstGeom prst="rect">
            <a:avLst/>
          </a:prstGeom>
        </p:spPr>
      </p:pic>
      <p:pic>
        <p:nvPicPr>
          <p:cNvPr id="10" name="TI Logo Color Stack" descr="tilogo_color_twoline.png" hidden="1"/>
          <p:cNvPicPr>
            <a:picLocks noChangeAspect="1"/>
          </p:cNvPicPr>
          <p:nvPr/>
        </p:nvPicPr>
        <p:blipFill>
          <a:blip r:embed="rId16" cstate="print"/>
          <a:stretch>
            <a:fillRect/>
          </a:stretch>
        </p:blipFill>
        <p:spPr>
          <a:xfrm>
            <a:off x="127241" y="6399926"/>
            <a:ext cx="1438537" cy="347443"/>
          </a:xfrm>
          <a:prstGeom prst="rect">
            <a:avLst/>
          </a:prstGeom>
        </p:spPr>
      </p:pic>
    </p:spTree>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Lst>
  <p:transition>
    <p:fade/>
  </p:transition>
  <p:timing>
    <p:tnLst>
      <p:par>
        <p:cTn id="1" dur="indefinite" restart="never" nodeType="tmRoot"/>
      </p:par>
    </p:tnLst>
  </p:timing>
  <p:txStyles>
    <p:titleStyle>
      <a:lvl1pPr algn="ctr" defTabSz="914400" rtl="0" eaLnBrk="1" latinLnBrk="0" hangingPunct="1">
        <a:spcBef>
          <a:spcPct val="0"/>
        </a:spcBef>
        <a:buNone/>
        <a:defRPr sz="3600" b="1" kern="1200" baseline="0">
          <a:solidFill>
            <a:schemeClr val="tx2"/>
          </a:solidFill>
          <a:latin typeface="+mj-lt"/>
          <a:ea typeface="+mj-ea"/>
          <a:cs typeface="+mj-cs"/>
        </a:defRPr>
      </a:lvl1pPr>
    </p:titleStyle>
    <p:bodyStyle>
      <a:lvl1pPr marL="342900" indent="-342900" algn="l" defTabSz="914400" rtl="0" eaLnBrk="1" latinLnBrk="0" hangingPunct="1">
        <a:spcBef>
          <a:spcPct val="20000"/>
        </a:spcBef>
        <a:buClr>
          <a:schemeClr val="tx2"/>
        </a:buClr>
        <a:buSzPct val="75000"/>
        <a:buFont typeface="Wingdings" pitchFamily="2" charset="2"/>
        <a:buChar char=""/>
        <a:defRPr sz="3200" b="1" kern="1200">
          <a:solidFill>
            <a:schemeClr val="tx1"/>
          </a:solidFill>
          <a:latin typeface="+mn-lt"/>
          <a:ea typeface="+mn-ea"/>
          <a:cs typeface="+mn-cs"/>
        </a:defRPr>
      </a:lvl1pPr>
      <a:lvl2pPr marL="742950" indent="-285750" algn="l" defTabSz="914400" rtl="0" eaLnBrk="1" latinLnBrk="0" hangingPunct="1">
        <a:spcBef>
          <a:spcPct val="20000"/>
        </a:spcBef>
        <a:buClr>
          <a:schemeClr val="tx2"/>
        </a:buClr>
        <a:buSzPct val="75000"/>
        <a:buFont typeface="Wingdings" pitchFamily="2" charset="2"/>
        <a:buChar char=""/>
        <a:defRPr sz="2800" b="1"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SzPct val="75000"/>
        <a:buFont typeface="Wingdings" pitchFamily="2" charset="2"/>
        <a:buChar char=""/>
        <a:defRPr sz="2400" b="1"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8.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11.wmf"/></Relationships>
</file>

<file path=ppt/slides/_rels/slide3.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slide" Target="slide17.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slide" Target="slide6.xml"/><Relationship Id="rId17" Type="http://schemas.openxmlformats.org/officeDocument/2006/relationships/slide" Target="slide32.xml"/><Relationship Id="rId2" Type="http://schemas.openxmlformats.org/officeDocument/2006/relationships/tags" Target="../tags/tag4.xml"/><Relationship Id="rId16" Type="http://schemas.openxmlformats.org/officeDocument/2006/relationships/slide" Target="slide28.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slide" Target="slide3.xml"/><Relationship Id="rId5" Type="http://schemas.openxmlformats.org/officeDocument/2006/relationships/tags" Target="../tags/tag7.xml"/><Relationship Id="rId15" Type="http://schemas.openxmlformats.org/officeDocument/2006/relationships/slide" Target="slide24.xml"/><Relationship Id="rId10" Type="http://schemas.openxmlformats.org/officeDocument/2006/relationships/image" Target="../media/image12.png"/><Relationship Id="rId4" Type="http://schemas.openxmlformats.org/officeDocument/2006/relationships/tags" Target="../tags/tag6.xml"/><Relationship Id="rId9" Type="http://schemas.openxmlformats.org/officeDocument/2006/relationships/slideLayout" Target="../slideLayouts/slideLayout8.xml"/><Relationship Id="rId14" Type="http://schemas.openxmlformats.org/officeDocument/2006/relationships/slide" Target="slide2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slide" Target="slide3.xml"/><Relationship Id="rId18" Type="http://schemas.openxmlformats.org/officeDocument/2006/relationships/slide" Target="slide21.xml"/><Relationship Id="rId3" Type="http://schemas.openxmlformats.org/officeDocument/2006/relationships/tags" Target="../tags/tag13.xml"/><Relationship Id="rId21" Type="http://schemas.openxmlformats.org/officeDocument/2006/relationships/slide" Target="slide32.xml"/><Relationship Id="rId7" Type="http://schemas.openxmlformats.org/officeDocument/2006/relationships/tags" Target="../tags/tag17.xml"/><Relationship Id="rId12" Type="http://schemas.openxmlformats.org/officeDocument/2006/relationships/image" Target="../media/image12.png"/><Relationship Id="rId17" Type="http://schemas.openxmlformats.org/officeDocument/2006/relationships/slide" Target="slide17.xml"/><Relationship Id="rId2" Type="http://schemas.openxmlformats.org/officeDocument/2006/relationships/tags" Target="../tags/tag12.xml"/><Relationship Id="rId16" Type="http://schemas.openxmlformats.org/officeDocument/2006/relationships/slide" Target="slide9.xml"/><Relationship Id="rId20" Type="http://schemas.openxmlformats.org/officeDocument/2006/relationships/slide" Target="slide28.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slideLayout" Target="../slideLayouts/slideLayout8.xml"/><Relationship Id="rId5" Type="http://schemas.openxmlformats.org/officeDocument/2006/relationships/tags" Target="../tags/tag15.xml"/><Relationship Id="rId15" Type="http://schemas.openxmlformats.org/officeDocument/2006/relationships/slide" Target="slide7.xml"/><Relationship Id="rId10" Type="http://schemas.openxmlformats.org/officeDocument/2006/relationships/tags" Target="../tags/tag20.xml"/><Relationship Id="rId19" Type="http://schemas.openxmlformats.org/officeDocument/2006/relationships/slide" Target="slide24.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slide" Target="slide6.xml"/></Relationships>
</file>

<file path=ppt/slides/_rels/slide7.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slide" Target="slide3.xml"/><Relationship Id="rId18" Type="http://schemas.openxmlformats.org/officeDocument/2006/relationships/slide" Target="slide21.xml"/><Relationship Id="rId3" Type="http://schemas.openxmlformats.org/officeDocument/2006/relationships/tags" Target="../tags/tag23.xml"/><Relationship Id="rId21" Type="http://schemas.openxmlformats.org/officeDocument/2006/relationships/slide" Target="slide32.xml"/><Relationship Id="rId7" Type="http://schemas.openxmlformats.org/officeDocument/2006/relationships/tags" Target="../tags/tag27.xml"/><Relationship Id="rId12" Type="http://schemas.openxmlformats.org/officeDocument/2006/relationships/image" Target="../media/image12.png"/><Relationship Id="rId17" Type="http://schemas.openxmlformats.org/officeDocument/2006/relationships/slide" Target="slide17.xml"/><Relationship Id="rId2" Type="http://schemas.openxmlformats.org/officeDocument/2006/relationships/tags" Target="../tags/tag22.xml"/><Relationship Id="rId16" Type="http://schemas.openxmlformats.org/officeDocument/2006/relationships/slide" Target="slide9.xml"/><Relationship Id="rId20" Type="http://schemas.openxmlformats.org/officeDocument/2006/relationships/slide" Target="slide28.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slideLayout" Target="../slideLayouts/slideLayout8.xml"/><Relationship Id="rId5" Type="http://schemas.openxmlformats.org/officeDocument/2006/relationships/tags" Target="../tags/tag25.xml"/><Relationship Id="rId15" Type="http://schemas.openxmlformats.org/officeDocument/2006/relationships/slide" Target="slide7.xml"/><Relationship Id="rId10" Type="http://schemas.openxmlformats.org/officeDocument/2006/relationships/tags" Target="../tags/tag30.xml"/><Relationship Id="rId19" Type="http://schemas.openxmlformats.org/officeDocument/2006/relationships/slide" Target="slide24.xml"/><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slide" Target="slide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3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slide" Target="slide3.xml"/><Relationship Id="rId18" Type="http://schemas.openxmlformats.org/officeDocument/2006/relationships/slide" Target="slide21.xml"/><Relationship Id="rId3" Type="http://schemas.openxmlformats.org/officeDocument/2006/relationships/tags" Target="../tags/tag34.xml"/><Relationship Id="rId21" Type="http://schemas.openxmlformats.org/officeDocument/2006/relationships/slide" Target="slide32.xml"/><Relationship Id="rId7" Type="http://schemas.openxmlformats.org/officeDocument/2006/relationships/tags" Target="../tags/tag38.xml"/><Relationship Id="rId12" Type="http://schemas.openxmlformats.org/officeDocument/2006/relationships/image" Target="../media/image12.png"/><Relationship Id="rId17" Type="http://schemas.openxmlformats.org/officeDocument/2006/relationships/slide" Target="slide17.xml"/><Relationship Id="rId2" Type="http://schemas.openxmlformats.org/officeDocument/2006/relationships/tags" Target="../tags/tag33.xml"/><Relationship Id="rId16" Type="http://schemas.openxmlformats.org/officeDocument/2006/relationships/slide" Target="slide9.xml"/><Relationship Id="rId20" Type="http://schemas.openxmlformats.org/officeDocument/2006/relationships/slide" Target="slide28.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slideLayout" Target="../slideLayouts/slideLayout8.xml"/><Relationship Id="rId5" Type="http://schemas.openxmlformats.org/officeDocument/2006/relationships/tags" Target="../tags/tag36.xml"/><Relationship Id="rId15" Type="http://schemas.openxmlformats.org/officeDocument/2006/relationships/slide" Target="slide7.xml"/><Relationship Id="rId10" Type="http://schemas.openxmlformats.org/officeDocument/2006/relationships/tags" Target="../tags/tag41.xml"/><Relationship Id="rId19" Type="http://schemas.openxmlformats.org/officeDocument/2006/relationships/slide" Target="slide24.xml"/><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slide" Target="slide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4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43.xml"/><Relationship Id="rId5" Type="http://schemas.openxmlformats.org/officeDocument/2006/relationships/image" Target="../media/image4.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44.xml"/><Relationship Id="rId5" Type="http://schemas.openxmlformats.org/officeDocument/2006/relationships/image" Target="../media/image4.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tags" Target="../tags/tag45.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46.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47.xml"/><Relationship Id="rId5" Type="http://schemas.openxmlformats.org/officeDocument/2006/relationships/image" Target="../media/image4.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48.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slide" Target="slide17.xml"/><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slide" Target="slide6.xml"/><Relationship Id="rId17" Type="http://schemas.openxmlformats.org/officeDocument/2006/relationships/slide" Target="slide32.xml"/><Relationship Id="rId2" Type="http://schemas.openxmlformats.org/officeDocument/2006/relationships/tags" Target="../tags/tag50.xml"/><Relationship Id="rId16" Type="http://schemas.openxmlformats.org/officeDocument/2006/relationships/slide" Target="slide28.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slide" Target="slide3.xml"/><Relationship Id="rId5" Type="http://schemas.openxmlformats.org/officeDocument/2006/relationships/tags" Target="../tags/tag53.xml"/><Relationship Id="rId15" Type="http://schemas.openxmlformats.org/officeDocument/2006/relationships/slide" Target="slide24.xml"/><Relationship Id="rId10" Type="http://schemas.openxmlformats.org/officeDocument/2006/relationships/image" Target="../media/image12.png"/><Relationship Id="rId4" Type="http://schemas.openxmlformats.org/officeDocument/2006/relationships/tags" Target="../tags/tag52.xml"/><Relationship Id="rId9" Type="http://schemas.openxmlformats.org/officeDocument/2006/relationships/slideLayout" Target="../slideLayouts/slideLayout8.xml"/><Relationship Id="rId14" Type="http://schemas.openxmlformats.org/officeDocument/2006/relationships/slide" Target="slide2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57.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58.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slide" Target="slide17.xml"/><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slide" Target="slide6.xml"/><Relationship Id="rId17" Type="http://schemas.openxmlformats.org/officeDocument/2006/relationships/slide" Target="slide32.xml"/><Relationship Id="rId2" Type="http://schemas.openxmlformats.org/officeDocument/2006/relationships/tags" Target="../tags/tag60.xml"/><Relationship Id="rId16" Type="http://schemas.openxmlformats.org/officeDocument/2006/relationships/slide" Target="slide28.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slide" Target="slide3.xml"/><Relationship Id="rId5" Type="http://schemas.openxmlformats.org/officeDocument/2006/relationships/tags" Target="../tags/tag63.xml"/><Relationship Id="rId15" Type="http://schemas.openxmlformats.org/officeDocument/2006/relationships/slide" Target="slide24.xml"/><Relationship Id="rId10" Type="http://schemas.openxmlformats.org/officeDocument/2006/relationships/image" Target="../media/image12.png"/><Relationship Id="rId4" Type="http://schemas.openxmlformats.org/officeDocument/2006/relationships/tags" Target="../tags/tag62.xml"/><Relationship Id="rId9" Type="http://schemas.openxmlformats.org/officeDocument/2006/relationships/slideLayout" Target="../slideLayouts/slideLayout8.xml"/><Relationship Id="rId14" Type="http://schemas.openxmlformats.org/officeDocument/2006/relationships/slide" Target="slide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tags" Target="../tags/tag67.xml"/><Relationship Id="rId5" Type="http://schemas.openxmlformats.org/officeDocument/2006/relationships/image" Target="../media/image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8.xml"/><Relationship Id="rId1" Type="http://schemas.openxmlformats.org/officeDocument/2006/relationships/tags" Target="../tags/tag68.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slide" Target="slide17.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slide" Target="slide6.xml"/><Relationship Id="rId17" Type="http://schemas.openxmlformats.org/officeDocument/2006/relationships/slide" Target="slide32.xml"/><Relationship Id="rId2" Type="http://schemas.openxmlformats.org/officeDocument/2006/relationships/tags" Target="../tags/tag70.xml"/><Relationship Id="rId16" Type="http://schemas.openxmlformats.org/officeDocument/2006/relationships/slide" Target="slide28.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slide" Target="slide3.xml"/><Relationship Id="rId5" Type="http://schemas.openxmlformats.org/officeDocument/2006/relationships/tags" Target="../tags/tag73.xml"/><Relationship Id="rId15" Type="http://schemas.openxmlformats.org/officeDocument/2006/relationships/slide" Target="slide24.xml"/><Relationship Id="rId10" Type="http://schemas.openxmlformats.org/officeDocument/2006/relationships/image" Target="../media/image12.png"/><Relationship Id="rId4" Type="http://schemas.openxmlformats.org/officeDocument/2006/relationships/tags" Target="../tags/tag72.xml"/><Relationship Id="rId9" Type="http://schemas.openxmlformats.org/officeDocument/2006/relationships/slideLayout" Target="../slideLayouts/slideLayout8.xml"/><Relationship Id="rId14" Type="http://schemas.openxmlformats.org/officeDocument/2006/relationships/slide" Target="slide2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8.xml"/><Relationship Id="rId1" Type="http://schemas.openxmlformats.org/officeDocument/2006/relationships/tags" Target="../tags/tag77.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8.xml"/><Relationship Id="rId1" Type="http://schemas.openxmlformats.org/officeDocument/2006/relationships/tags" Target="../tags/tag78.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8.xml"/><Relationship Id="rId1" Type="http://schemas.openxmlformats.org/officeDocument/2006/relationships/tags" Target="../tags/tag79.xml"/><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8" Type="http://schemas.openxmlformats.org/officeDocument/2006/relationships/tags" Target="../tags/tag87.xml"/><Relationship Id="rId13" Type="http://schemas.openxmlformats.org/officeDocument/2006/relationships/slide" Target="slide17.xml"/><Relationship Id="rId3" Type="http://schemas.openxmlformats.org/officeDocument/2006/relationships/tags" Target="../tags/tag82.xml"/><Relationship Id="rId7" Type="http://schemas.openxmlformats.org/officeDocument/2006/relationships/tags" Target="../tags/tag86.xml"/><Relationship Id="rId12" Type="http://schemas.openxmlformats.org/officeDocument/2006/relationships/slide" Target="slide6.xml"/><Relationship Id="rId17" Type="http://schemas.openxmlformats.org/officeDocument/2006/relationships/slide" Target="slide32.xml"/><Relationship Id="rId2" Type="http://schemas.openxmlformats.org/officeDocument/2006/relationships/tags" Target="../tags/tag81.xml"/><Relationship Id="rId16" Type="http://schemas.openxmlformats.org/officeDocument/2006/relationships/slide" Target="slide28.xml"/><Relationship Id="rId1" Type="http://schemas.openxmlformats.org/officeDocument/2006/relationships/tags" Target="../tags/tag80.xml"/><Relationship Id="rId6" Type="http://schemas.openxmlformats.org/officeDocument/2006/relationships/tags" Target="../tags/tag85.xml"/><Relationship Id="rId11" Type="http://schemas.openxmlformats.org/officeDocument/2006/relationships/slide" Target="slide3.xml"/><Relationship Id="rId5" Type="http://schemas.openxmlformats.org/officeDocument/2006/relationships/tags" Target="../tags/tag84.xml"/><Relationship Id="rId15" Type="http://schemas.openxmlformats.org/officeDocument/2006/relationships/slide" Target="slide24.xml"/><Relationship Id="rId10" Type="http://schemas.openxmlformats.org/officeDocument/2006/relationships/image" Target="../media/image12.png"/><Relationship Id="rId4" Type="http://schemas.openxmlformats.org/officeDocument/2006/relationships/tags" Target="../tags/tag83.xml"/><Relationship Id="rId9" Type="http://schemas.openxmlformats.org/officeDocument/2006/relationships/slideLayout" Target="../slideLayouts/slideLayout8.xml"/><Relationship Id="rId14" Type="http://schemas.openxmlformats.org/officeDocument/2006/relationships/slide" Target="slide2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tags" Target="../tags/tag88.xml"/><Relationship Id="rId5" Type="http://schemas.openxmlformats.org/officeDocument/2006/relationships/image" Target="../media/image23.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xml"/><Relationship Id="rId1" Type="http://schemas.openxmlformats.org/officeDocument/2006/relationships/tags" Target="../tags/tag89.xml"/><Relationship Id="rId6" Type="http://schemas.openxmlformats.org/officeDocument/2006/relationships/image" Target="../media/image4.png"/><Relationship Id="rId5" Type="http://schemas.openxmlformats.org/officeDocument/2006/relationships/image" Target="../media/image25.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8.xml"/><Relationship Id="rId1" Type="http://schemas.openxmlformats.org/officeDocument/2006/relationships/tags" Target="../tags/tag90.xml"/><Relationship Id="rId5" Type="http://schemas.openxmlformats.org/officeDocument/2006/relationships/image" Target="../media/image4.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8" Type="http://schemas.openxmlformats.org/officeDocument/2006/relationships/tags" Target="../tags/tag98.xml"/><Relationship Id="rId13" Type="http://schemas.openxmlformats.org/officeDocument/2006/relationships/slide" Target="slide17.xml"/><Relationship Id="rId3" Type="http://schemas.openxmlformats.org/officeDocument/2006/relationships/tags" Target="../tags/tag93.xml"/><Relationship Id="rId7" Type="http://schemas.openxmlformats.org/officeDocument/2006/relationships/tags" Target="../tags/tag97.xml"/><Relationship Id="rId12" Type="http://schemas.openxmlformats.org/officeDocument/2006/relationships/slide" Target="slide6.xml"/><Relationship Id="rId17" Type="http://schemas.openxmlformats.org/officeDocument/2006/relationships/slide" Target="slide32.xml"/><Relationship Id="rId2" Type="http://schemas.openxmlformats.org/officeDocument/2006/relationships/tags" Target="../tags/tag92.xml"/><Relationship Id="rId16" Type="http://schemas.openxmlformats.org/officeDocument/2006/relationships/slide" Target="slide28.xml"/><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slide" Target="slide3.xml"/><Relationship Id="rId5" Type="http://schemas.openxmlformats.org/officeDocument/2006/relationships/tags" Target="../tags/tag95.xml"/><Relationship Id="rId15" Type="http://schemas.openxmlformats.org/officeDocument/2006/relationships/slide" Target="slide24.xml"/><Relationship Id="rId10" Type="http://schemas.openxmlformats.org/officeDocument/2006/relationships/image" Target="../media/image12.png"/><Relationship Id="rId4" Type="http://schemas.openxmlformats.org/officeDocument/2006/relationships/tags" Target="../tags/tag94.xml"/><Relationship Id="rId9" Type="http://schemas.openxmlformats.org/officeDocument/2006/relationships/slideLayout" Target="../slideLayouts/slideLayout8.xml"/><Relationship Id="rId14" Type="http://schemas.openxmlformats.org/officeDocument/2006/relationships/slide" Target="slide2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tags" Target="../tags/tag99.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8.xml"/><Relationship Id="rId1" Type="http://schemas.openxmlformats.org/officeDocument/2006/relationships/tags" Target="../tags/tag100.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8.xml"/><Relationship Id="rId1" Type="http://schemas.openxmlformats.org/officeDocument/2006/relationships/tags" Target="../tags/tag10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9.xml"/><Relationship Id="rId1" Type="http://schemas.openxmlformats.org/officeDocument/2006/relationships/tags" Target="../tags/tag102.xml"/><Relationship Id="rId5" Type="http://schemas.openxmlformats.org/officeDocument/2006/relationships/image" Target="../media/image4.png"/><Relationship Id="rId4" Type="http://schemas.openxmlformats.org/officeDocument/2006/relationships/image" Target="../media/image27.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8.xml"/><Relationship Id="rId1" Type="http://schemas.openxmlformats.org/officeDocument/2006/relationships/tags" Target="../tags/tag103.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8.xml"/><Relationship Id="rId1" Type="http://schemas.openxmlformats.org/officeDocument/2006/relationships/tags" Target="../tags/tag104.xml"/><Relationship Id="rId5" Type="http://schemas.openxmlformats.org/officeDocument/2006/relationships/image" Target="../media/image4.png"/><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3" Type="http://schemas.openxmlformats.org/officeDocument/2006/relationships/tags" Target="../tags/tag107.xml"/><Relationship Id="rId7" Type="http://schemas.openxmlformats.org/officeDocument/2006/relationships/image" Target="../media/image12.png"/><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slideLayout" Target="../slideLayouts/slideLayout8.xml"/><Relationship Id="rId5" Type="http://schemas.openxmlformats.org/officeDocument/2006/relationships/tags" Target="../tags/tag109.xml"/><Relationship Id="rId4" Type="http://schemas.openxmlformats.org/officeDocument/2006/relationships/tags" Target="../tags/tag10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2228"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01054714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3266" name="Rectangle 2"/>
          <p:cNvSpPr>
            <a:spLocks noChangeArrowheads="1"/>
          </p:cNvSpPr>
          <p:nvPr/>
        </p:nvSpPr>
        <p:spPr bwMode="auto">
          <a:xfrm>
            <a:off x="0" y="0"/>
            <a:ext cx="9144000" cy="6858000"/>
          </a:xfrm>
          <a:prstGeom prst="rect">
            <a:avLst/>
          </a:prstGeom>
          <a:solidFill>
            <a:schemeClr val="tx1"/>
          </a:solidFill>
          <a:ln w="12700">
            <a:solidFill>
              <a:schemeClr val="tx1"/>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4099" name="Rectangle 3"/>
          <p:cNvSpPr>
            <a:spLocks noGrp="1" noChangeArrowheads="1"/>
          </p:cNvSpPr>
          <p:nvPr>
            <p:ph type="title"/>
          </p:nvPr>
        </p:nvSpPr>
        <p:spPr/>
        <p:txBody>
          <a:bodyPr/>
          <a:lstStyle/>
          <a:p>
            <a:r>
              <a:rPr lang="en-US" smtClean="0">
                <a:solidFill>
                  <a:srgbClr val="FFFF66"/>
                </a:solidFill>
              </a:rPr>
              <a:t>Objectives</a:t>
            </a:r>
          </a:p>
        </p:txBody>
      </p:sp>
      <p:pic>
        <p:nvPicPr>
          <p:cNvPr id="4100" name="Picture 4" descr="dglxasset[3]"/>
          <p:cNvPicPr>
            <a:picLocks noChangeAspect="1" noChangeArrowheads="1"/>
          </p:cNvPicPr>
          <p:nvPr/>
        </p:nvPicPr>
        <p:blipFill>
          <a:blip r:embed="rId4" cstate="print"/>
          <a:srcRect/>
          <a:stretch>
            <a:fillRect/>
          </a:stretch>
        </p:blipFill>
        <p:spPr bwMode="auto">
          <a:xfrm>
            <a:off x="304800" y="762000"/>
            <a:ext cx="8458200" cy="5894388"/>
          </a:xfrm>
          <a:prstGeom prst="rect">
            <a:avLst/>
          </a:prstGeom>
          <a:noFill/>
          <a:ln w="9525">
            <a:noFill/>
            <a:miter lim="800000"/>
            <a:headEnd/>
            <a:tailEnd/>
          </a:ln>
        </p:spPr>
      </p:pic>
      <p:sp>
        <p:nvSpPr>
          <p:cNvPr id="4101" name="Text Box 5"/>
          <p:cNvSpPr txBox="1">
            <a:spLocks noChangeArrowheads="1"/>
          </p:cNvSpPr>
          <p:nvPr/>
        </p:nvSpPr>
        <p:spPr bwMode="auto">
          <a:xfrm>
            <a:off x="1561731" y="1708147"/>
            <a:ext cx="6098844" cy="3802066"/>
          </a:xfrm>
          <a:prstGeom prst="rect">
            <a:avLst/>
          </a:prstGeom>
          <a:noFill/>
          <a:ln w="12700">
            <a:noFill/>
            <a:miter lim="800000"/>
            <a:headEnd type="none" w="sm" len="sm"/>
            <a:tailEnd type="none" w="sm" len="sm"/>
          </a:ln>
        </p:spPr>
        <p:txBody>
          <a:bodyPr wrap="square">
            <a:spAutoFit/>
          </a:bodyPr>
          <a:lstStyle/>
          <a:p>
            <a:pPr marL="463550" indent="-344488">
              <a:lnSpc>
                <a:spcPct val="90000"/>
              </a:lnSpc>
              <a:spcBef>
                <a:spcPts val="1400"/>
              </a:spcBef>
              <a:spcAft>
                <a:spcPts val="0"/>
              </a:spcAft>
              <a:buClr>
                <a:srgbClr val="D60093"/>
              </a:buClr>
              <a:buSzPct val="120000"/>
              <a:buFont typeface="Wingdings" pitchFamily="2" charset="2"/>
              <a:buChar char="§"/>
            </a:pPr>
            <a:r>
              <a:rPr lang="en-US" smtClean="0">
                <a:latin typeface="Arial Narrow" pitchFamily="34" charset="0"/>
              </a:rPr>
              <a:t>Answer the question – “</a:t>
            </a:r>
            <a:r>
              <a:rPr lang="en-US" i="1" u="sng" smtClean="0">
                <a:latin typeface="Arial Narrow" pitchFamily="34" charset="0"/>
              </a:rPr>
              <a:t>why use an RTOS</a:t>
            </a:r>
            <a:r>
              <a:rPr lang="en-US" smtClean="0">
                <a:latin typeface="Arial Narrow" pitchFamily="34" charset="0"/>
              </a:rPr>
              <a:t>?”</a:t>
            </a:r>
          </a:p>
          <a:p>
            <a:pPr marL="463550" indent="-344488">
              <a:lnSpc>
                <a:spcPct val="90000"/>
              </a:lnSpc>
              <a:spcBef>
                <a:spcPts val="1400"/>
              </a:spcBef>
              <a:spcAft>
                <a:spcPts val="0"/>
              </a:spcAft>
              <a:buClr>
                <a:srgbClr val="D60093"/>
              </a:buClr>
              <a:buSzPct val="120000"/>
              <a:buFont typeface="Wingdings" pitchFamily="2" charset="2"/>
              <a:buChar char="§"/>
            </a:pPr>
            <a:r>
              <a:rPr lang="en-US" smtClean="0">
                <a:latin typeface="Arial Narrow" pitchFamily="34" charset="0"/>
              </a:rPr>
              <a:t>Explore </a:t>
            </a:r>
            <a:r>
              <a:rPr lang="en-US" dirty="0" smtClean="0">
                <a:latin typeface="Arial Narrow" pitchFamily="34" charset="0"/>
              </a:rPr>
              <a:t>the </a:t>
            </a:r>
            <a:r>
              <a:rPr lang="en-US" smtClean="0">
                <a:latin typeface="Arial Narrow" pitchFamily="34" charset="0"/>
              </a:rPr>
              <a:t>basics concepts </a:t>
            </a:r>
            <a:r>
              <a:rPr lang="en-US" dirty="0" smtClean="0">
                <a:latin typeface="Arial Narrow" pitchFamily="34" charset="0"/>
              </a:rPr>
              <a:t>of </a:t>
            </a:r>
            <a:r>
              <a:rPr lang="en-US" smtClean="0">
                <a:latin typeface="Arial Narrow" pitchFamily="34" charset="0"/>
              </a:rPr>
              <a:t>the </a:t>
            </a:r>
            <a:r>
              <a:rPr lang="en-US" i="1" u="sng" smtClean="0">
                <a:latin typeface="Arial Narrow" pitchFamily="34" charset="0"/>
              </a:rPr>
              <a:t>TI-RTOS real-time kernel (SYS/BIOS)</a:t>
            </a:r>
            <a:endParaRPr lang="en-US" dirty="0" smtClean="0">
              <a:latin typeface="Arial Narrow" pitchFamily="34" charset="0"/>
            </a:endParaRPr>
          </a:p>
          <a:p>
            <a:pPr marL="463550" indent="-344488">
              <a:lnSpc>
                <a:spcPct val="90000"/>
              </a:lnSpc>
              <a:spcBef>
                <a:spcPts val="1400"/>
              </a:spcBef>
              <a:spcAft>
                <a:spcPts val="0"/>
              </a:spcAft>
              <a:buClr>
                <a:srgbClr val="D60093"/>
              </a:buClr>
              <a:buSzPct val="120000"/>
              <a:buFont typeface="Wingdings" pitchFamily="2" charset="2"/>
              <a:buChar char="§"/>
            </a:pPr>
            <a:r>
              <a:rPr lang="en-US" smtClean="0">
                <a:latin typeface="Arial Narrow" pitchFamily="34" charset="0"/>
              </a:rPr>
              <a:t>Define kernel </a:t>
            </a:r>
            <a:r>
              <a:rPr lang="en-US" i="1" u="sng" dirty="0" smtClean="0">
                <a:latin typeface="Arial Narrow" pitchFamily="34" charset="0"/>
              </a:rPr>
              <a:t>thread types </a:t>
            </a:r>
            <a:r>
              <a:rPr lang="en-US" dirty="0" smtClean="0">
                <a:latin typeface="Arial Narrow" pitchFamily="34" charset="0"/>
              </a:rPr>
              <a:t>and </a:t>
            </a:r>
            <a:r>
              <a:rPr lang="en-US" smtClean="0">
                <a:latin typeface="Arial Narrow" pitchFamily="34" charset="0"/>
              </a:rPr>
              <a:t>how the</a:t>
            </a:r>
            <a:r>
              <a:rPr lang="en-US">
                <a:latin typeface="Arial Narrow" pitchFamily="34" charset="0"/>
              </a:rPr>
              <a:t> </a:t>
            </a:r>
            <a:r>
              <a:rPr lang="en-US" smtClean="0">
                <a:latin typeface="Arial Narrow" pitchFamily="34" charset="0"/>
              </a:rPr>
              <a:t>scheduler </a:t>
            </a:r>
            <a:r>
              <a:rPr lang="en-US" dirty="0" smtClean="0">
                <a:latin typeface="Arial Narrow" pitchFamily="34" charset="0"/>
              </a:rPr>
              <a:t>prioritizes threads in </a:t>
            </a:r>
            <a:r>
              <a:rPr lang="en-US" smtClean="0">
                <a:latin typeface="Arial Narrow" pitchFamily="34" charset="0"/>
              </a:rPr>
              <a:t>a system</a:t>
            </a:r>
          </a:p>
          <a:p>
            <a:pPr marL="463550" indent="-344488">
              <a:lnSpc>
                <a:spcPct val="90000"/>
              </a:lnSpc>
              <a:spcBef>
                <a:spcPts val="1400"/>
              </a:spcBef>
              <a:spcAft>
                <a:spcPts val="0"/>
              </a:spcAft>
              <a:buClr>
                <a:srgbClr val="D60093"/>
              </a:buClr>
              <a:buSzPct val="120000"/>
              <a:buFont typeface="Wingdings" pitchFamily="2" charset="2"/>
              <a:buChar char="§"/>
            </a:pPr>
            <a:r>
              <a:rPr lang="en-US" smtClean="0">
                <a:latin typeface="Arial Narrow" pitchFamily="34" charset="0"/>
              </a:rPr>
              <a:t>Explain the types of </a:t>
            </a:r>
            <a:r>
              <a:rPr lang="en-US" i="1" u="sng" smtClean="0">
                <a:latin typeface="Arial Narrow" pitchFamily="34" charset="0"/>
              </a:rPr>
              <a:t>debugging tools</a:t>
            </a:r>
            <a:r>
              <a:rPr lang="en-US" smtClean="0">
                <a:latin typeface="Arial Narrow" pitchFamily="34" charset="0"/>
              </a:rPr>
              <a:t> built into the TI-RTOS kernel</a:t>
            </a:r>
            <a:endParaRPr lang="en-US" dirty="0" smtClean="0">
              <a:latin typeface="Arial Narrow" pitchFamily="34" charset="0"/>
            </a:endParaRPr>
          </a:p>
          <a:p>
            <a:pPr marL="463550" indent="-344488">
              <a:lnSpc>
                <a:spcPct val="90000"/>
              </a:lnSpc>
              <a:spcBef>
                <a:spcPts val="1400"/>
              </a:spcBef>
              <a:spcAft>
                <a:spcPts val="0"/>
              </a:spcAft>
              <a:buClr>
                <a:srgbClr val="D60093"/>
              </a:buClr>
              <a:buSzPct val="120000"/>
              <a:buFont typeface="Wingdings" pitchFamily="2" charset="2"/>
              <a:buChar char="§"/>
            </a:pPr>
            <a:r>
              <a:rPr lang="en-US" i="1" u="sng" smtClean="0">
                <a:latin typeface="Arial Narrow" pitchFamily="34" charset="0"/>
              </a:rPr>
              <a:t>Quiz</a:t>
            </a:r>
            <a:r>
              <a:rPr lang="en-US" smtClean="0">
                <a:latin typeface="Arial Narrow" pitchFamily="34" charset="0"/>
              </a:rPr>
              <a:t> </a:t>
            </a:r>
            <a:r>
              <a:rPr lang="en-US">
                <a:latin typeface="Arial Narrow" pitchFamily="34" charset="0"/>
              </a:rPr>
              <a:t>– </a:t>
            </a:r>
            <a:r>
              <a:rPr lang="en-US" smtClean="0">
                <a:latin typeface="Arial Narrow" pitchFamily="34" charset="0"/>
              </a:rPr>
              <a:t>Schedule the threads in a motor-control application</a:t>
            </a:r>
            <a:endParaRPr lang="en-US" i="1" u="sng" dirty="0">
              <a:latin typeface="Arial Narrow" pitchFamily="34" charset="0"/>
            </a:endParaRPr>
          </a:p>
        </p:txBody>
      </p:sp>
    </p:spTree>
    <p:custDataLst>
      <p:tags r:id="rId1"/>
    </p:custData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533400" y="1219200"/>
            <a:ext cx="5105400" cy="4324922"/>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0"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3">
            <a:hlinkClick r:id="rId11" action="ppaction://hlinksldjump"/>
          </p:cNvPr>
          <p:cNvSpPr txBox="1">
            <a:spLocks noChangeArrowheads="1"/>
          </p:cNvSpPr>
          <p:nvPr>
            <p:custDataLst>
              <p:tags r:id="rId2"/>
            </p:custDataLst>
          </p:nvPr>
        </p:nvSpPr>
        <p:spPr bwMode="auto">
          <a:xfrm>
            <a:off x="533400" y="1372892"/>
            <a:ext cx="5105400" cy="387798"/>
          </a:xfrm>
          <a:prstGeom prst="rect">
            <a:avLst/>
          </a:prstGeom>
          <a:solidFill>
            <a:schemeClr val="bg1"/>
          </a:solidFill>
          <a:ln w="19050">
            <a:solidFill>
              <a:schemeClr val="tx1"/>
            </a:solid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What is the TI-RTOS Kernel?</a:t>
            </a:r>
            <a:endParaRPr lang="en-US" dirty="0">
              <a:solidFill>
                <a:srgbClr val="000000"/>
              </a:solidFill>
            </a:endParaRPr>
          </a:p>
        </p:txBody>
      </p:sp>
      <p:sp>
        <p:nvSpPr>
          <p:cNvPr id="10" name="Text Box 4">
            <a:hlinkClick r:id="rId12" action="ppaction://hlinksldjump"/>
          </p:cNvPr>
          <p:cNvSpPr txBox="1">
            <a:spLocks noChangeArrowheads="1"/>
          </p:cNvSpPr>
          <p:nvPr>
            <p:custDataLst>
              <p:tags r:id="rId3"/>
            </p:custDataLst>
          </p:nvPr>
        </p:nvSpPr>
        <p:spPr bwMode="auto">
          <a:xfrm>
            <a:off x="538802" y="182520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Scheduler</a:t>
            </a:r>
            <a:endParaRPr lang="en-US" dirty="0">
              <a:solidFill>
                <a:srgbClr val="000000"/>
              </a:solidFill>
            </a:endParaRPr>
          </a:p>
        </p:txBody>
      </p:sp>
      <p:sp>
        <p:nvSpPr>
          <p:cNvPr id="11" name="Text Box 4">
            <a:hlinkClick r:id="rId13" action="ppaction://hlinksldjump"/>
          </p:cNvPr>
          <p:cNvSpPr txBox="1">
            <a:spLocks noChangeArrowheads="1"/>
          </p:cNvSpPr>
          <p:nvPr>
            <p:custDataLst>
              <p:tags r:id="rId4"/>
            </p:custDataLst>
          </p:nvPr>
        </p:nvSpPr>
        <p:spPr bwMode="auto">
          <a:xfrm>
            <a:off x="538802" y="2277520"/>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Adding Tasks…</a:t>
            </a:r>
            <a:endParaRPr lang="en-US" dirty="0">
              <a:solidFill>
                <a:srgbClr val="000000"/>
              </a:solidFill>
            </a:endParaRPr>
          </a:p>
        </p:txBody>
      </p:sp>
      <p:sp>
        <p:nvSpPr>
          <p:cNvPr id="12" name="Text Box 4">
            <a:hlinkClick r:id="rId14" action="ppaction://hlinksldjump"/>
          </p:cNvPr>
          <p:cNvSpPr txBox="1">
            <a:spLocks noChangeArrowheads="1"/>
          </p:cNvSpPr>
          <p:nvPr>
            <p:custDataLst>
              <p:tags r:id="rId5"/>
            </p:custDataLst>
          </p:nvPr>
        </p:nvSpPr>
        <p:spPr bwMode="auto">
          <a:xfrm>
            <a:off x="538802" y="2729834"/>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Environment</a:t>
            </a:r>
            <a:endParaRPr lang="en-US" dirty="0">
              <a:solidFill>
                <a:srgbClr val="000000"/>
              </a:solidFill>
            </a:endParaRPr>
          </a:p>
        </p:txBody>
      </p:sp>
      <p:sp>
        <p:nvSpPr>
          <p:cNvPr id="13" name="Text Box 4">
            <a:hlinkClick r:id="rId15" action="ppaction://hlinksldjump"/>
          </p:cNvPr>
          <p:cNvSpPr txBox="1">
            <a:spLocks noChangeArrowheads="1"/>
          </p:cNvSpPr>
          <p:nvPr>
            <p:custDataLst>
              <p:tags r:id="rId6"/>
            </p:custDataLst>
          </p:nvPr>
        </p:nvSpPr>
        <p:spPr bwMode="auto">
          <a:xfrm>
            <a:off x="538802" y="3182148"/>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Debugging Tools</a:t>
            </a:r>
            <a:endParaRPr lang="en-US" dirty="0">
              <a:solidFill>
                <a:srgbClr val="000000"/>
              </a:solidFill>
            </a:endParaRPr>
          </a:p>
        </p:txBody>
      </p:sp>
      <p:sp>
        <p:nvSpPr>
          <p:cNvPr id="14" name="Text Box 4">
            <a:hlinkClick r:id="rId16" action="ppaction://hlinksldjump"/>
          </p:cNvPr>
          <p:cNvSpPr txBox="1">
            <a:spLocks noChangeArrowheads="1"/>
          </p:cNvSpPr>
          <p:nvPr>
            <p:custDataLst>
              <p:tags r:id="rId7"/>
            </p:custDataLst>
          </p:nvPr>
        </p:nvSpPr>
        <p:spPr bwMode="auto">
          <a:xfrm>
            <a:off x="538802" y="363446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For More Info…</a:t>
            </a:r>
            <a:endParaRPr lang="en-US" dirty="0">
              <a:solidFill>
                <a:srgbClr val="000000"/>
              </a:solidFill>
            </a:endParaRPr>
          </a:p>
        </p:txBody>
      </p:sp>
      <p:sp>
        <p:nvSpPr>
          <p:cNvPr id="15" name="Text Box 4">
            <a:hlinkClick r:id="rId17" action="ppaction://hlinksldjump"/>
          </p:cNvPr>
          <p:cNvSpPr txBox="1">
            <a:spLocks noChangeArrowheads="1"/>
          </p:cNvSpPr>
          <p:nvPr>
            <p:custDataLst>
              <p:tags r:id="rId8"/>
            </p:custDataLst>
          </p:nvPr>
        </p:nvSpPr>
        <p:spPr bwMode="auto">
          <a:xfrm>
            <a:off x="538802" y="408677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Chapter Quiz</a:t>
            </a:r>
            <a:endParaRPr lang="en-US" dirty="0">
              <a:solidFill>
                <a:srgbClr val="000000"/>
              </a:solidFill>
            </a:endParaRPr>
          </a:p>
        </p:txBody>
      </p:sp>
    </p:spTree>
    <p:custDataLst>
      <p:tags r:id="rId1"/>
    </p:custDataLst>
    <p:extLst>
      <p:ext uri="{BB962C8B-B14F-4D97-AF65-F5344CB8AC3E}">
        <p14:creationId xmlns:p14="http://schemas.microsoft.com/office/powerpoint/2010/main" val="78688983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bwMode="auto">
          <a:xfrm>
            <a:off x="3723166" y="838200"/>
            <a:ext cx="5277331" cy="1429221"/>
          </a:xfrm>
          <a:prstGeom prst="rect">
            <a:avLst/>
          </a:prstGeom>
          <a:solidFill>
            <a:schemeClr val="accent4">
              <a:lumMod val="40000"/>
              <a:lumOff val="60000"/>
            </a:schemeClr>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lvl="0"/>
            <a:r>
              <a:rPr lang="en-US" sz="2800" b="0" smtClean="0">
                <a:solidFill>
                  <a:srgbClr val="000000"/>
                </a:solidFill>
                <a:latin typeface="Calibri" pitchFamily="34" charset="0"/>
                <a:cs typeface="Calibri" pitchFamily="34" charset="0"/>
              </a:rPr>
              <a:t>TI-RTOS Kernel (or SYS/BIOS) </a:t>
            </a:r>
            <a:r>
              <a:rPr lang="en-US" sz="2800" b="0" dirty="0">
                <a:solidFill>
                  <a:srgbClr val="000000"/>
                </a:solidFill>
                <a:latin typeface="Calibri" pitchFamily="34" charset="0"/>
                <a:cs typeface="Calibri" pitchFamily="34" charset="0"/>
              </a:rPr>
              <a:t>is a </a:t>
            </a:r>
            <a:r>
              <a:rPr lang="en-US" sz="2800" i="1">
                <a:solidFill>
                  <a:schemeClr val="tx2"/>
                </a:solidFill>
                <a:latin typeface="Calibri" pitchFamily="34" charset="0"/>
                <a:cs typeface="Calibri" pitchFamily="34" charset="0"/>
              </a:rPr>
              <a:t>library </a:t>
            </a:r>
            <a:r>
              <a:rPr lang="en-US" sz="2800" i="1" smtClean="0">
                <a:solidFill>
                  <a:schemeClr val="tx2"/>
                </a:solidFill>
                <a:latin typeface="Calibri" pitchFamily="34" charset="0"/>
                <a:cs typeface="Calibri" pitchFamily="34" charset="0"/>
              </a:rPr>
              <a:t>of services</a:t>
            </a:r>
            <a:r>
              <a:rPr lang="en-US" sz="2800" b="0" smtClean="0">
                <a:solidFill>
                  <a:srgbClr val="000000"/>
                </a:solidFill>
                <a:latin typeface="Calibri" pitchFamily="34" charset="0"/>
                <a:cs typeface="Calibri" pitchFamily="34" charset="0"/>
              </a:rPr>
              <a:t> </a:t>
            </a:r>
            <a:r>
              <a:rPr lang="en-US" sz="2800" b="0" dirty="0">
                <a:solidFill>
                  <a:srgbClr val="000000"/>
                </a:solidFill>
                <a:latin typeface="Calibri" pitchFamily="34" charset="0"/>
                <a:cs typeface="Calibri" pitchFamily="34" charset="0"/>
              </a:rPr>
              <a:t>that users can add </a:t>
            </a:r>
            <a:r>
              <a:rPr lang="en-US" sz="2800" b="0">
                <a:solidFill>
                  <a:srgbClr val="000000"/>
                </a:solidFill>
                <a:latin typeface="Calibri" pitchFamily="34" charset="0"/>
                <a:cs typeface="Calibri" pitchFamily="34" charset="0"/>
              </a:rPr>
              <a:t>to </a:t>
            </a:r>
            <a:r>
              <a:rPr lang="en-US" sz="2800" b="0" smtClean="0">
                <a:solidFill>
                  <a:srgbClr val="000000"/>
                </a:solidFill>
                <a:latin typeface="Calibri" pitchFamily="34" charset="0"/>
                <a:cs typeface="Calibri" pitchFamily="34" charset="0"/>
              </a:rPr>
              <a:t>their system </a:t>
            </a:r>
            <a:r>
              <a:rPr lang="en-US" sz="2800" b="0" dirty="0">
                <a:solidFill>
                  <a:srgbClr val="000000"/>
                </a:solidFill>
                <a:latin typeface="Calibri" pitchFamily="34" charset="0"/>
                <a:cs typeface="Calibri" pitchFamily="34" charset="0"/>
              </a:rPr>
              <a:t>to perform various tasks:</a:t>
            </a:r>
          </a:p>
        </p:txBody>
      </p:sp>
      <p:sp>
        <p:nvSpPr>
          <p:cNvPr id="22532" name="Rectangle 2"/>
          <p:cNvSpPr>
            <a:spLocks noGrp="1" noChangeArrowheads="1"/>
          </p:cNvSpPr>
          <p:nvPr>
            <p:ph type="title"/>
          </p:nvPr>
        </p:nvSpPr>
        <p:spPr/>
        <p:txBody>
          <a:bodyPr/>
          <a:lstStyle/>
          <a:p>
            <a:r>
              <a:rPr lang="en-US" smtClean="0"/>
              <a:t>TI-RTOS Kernel Services</a:t>
            </a:r>
            <a:endParaRPr lang="en-US" dirty="0" smtClean="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838200"/>
            <a:ext cx="3296976" cy="5076296"/>
          </a:xfrm>
          <a:prstGeom prst="rect">
            <a:avLst/>
          </a:prstGeom>
          <a:noFill/>
          <a:ln w="19050">
            <a:solidFill>
              <a:schemeClr val="tx1"/>
            </a:solidFill>
            <a:miter lim="800000"/>
            <a:headEnd/>
            <a:tailEnd/>
          </a:ln>
          <a:effectLst>
            <a:outerShdw blurRad="50800" dist="76200" dir="2700000" algn="tl" rotWithShape="0">
              <a:schemeClr val="tx1">
                <a:alpha val="40000"/>
              </a:schemeClr>
            </a:outerShdw>
          </a:effectLst>
          <a:extLst>
            <a:ext uri="{909E8E84-426E-40DD-AFC4-6F175D3DCCD1}">
              <a14:hiddenFill xmlns:a14="http://schemas.microsoft.com/office/drawing/2010/main">
                <a:solidFill>
                  <a:schemeClr val="accent1"/>
                </a:solidFill>
              </a14:hiddenFill>
            </a:ext>
          </a:extLst>
        </p:spPr>
      </p:pic>
      <p:sp>
        <p:nvSpPr>
          <p:cNvPr id="2" name="Rounded Rectangle 1"/>
          <p:cNvSpPr/>
          <p:nvPr/>
        </p:nvSpPr>
        <p:spPr bwMode="auto">
          <a:xfrm>
            <a:off x="782376" y="2732568"/>
            <a:ext cx="1676400" cy="2209800"/>
          </a:xfrm>
          <a:prstGeom prst="round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28" name="TextBox 27"/>
          <p:cNvSpPr txBox="1"/>
          <p:nvPr/>
        </p:nvSpPr>
        <p:spPr>
          <a:xfrm>
            <a:off x="3733800" y="2397864"/>
            <a:ext cx="5266698" cy="2123658"/>
          </a:xfrm>
          <a:prstGeom prst="rect">
            <a:avLst/>
          </a:prstGeom>
          <a:noFill/>
        </p:spPr>
        <p:txBody>
          <a:bodyPr wrap="none" rtlCol="0" anchor="ctr" anchorCtr="0">
            <a:spAutoFit/>
          </a:bodyPr>
          <a:lstStyle/>
          <a:p>
            <a:pPr marL="342900" indent="-342900">
              <a:lnSpc>
                <a:spcPct val="100000"/>
              </a:lnSpc>
              <a:buClr>
                <a:schemeClr val="tx2"/>
              </a:buClr>
              <a:buSzPct val="75000"/>
              <a:buFont typeface="Wingdings"/>
              <a:buChar char=""/>
            </a:pPr>
            <a:r>
              <a:rPr lang="en-US" b="0" dirty="0" smtClean="0">
                <a:solidFill>
                  <a:schemeClr val="dk1"/>
                </a:solidFill>
                <a:effectLst/>
                <a:latin typeface="Calibri" pitchFamily="34" charset="0"/>
                <a:cs typeface="Calibri" pitchFamily="34" charset="0"/>
              </a:rPr>
              <a:t>Memory </a:t>
            </a:r>
            <a:r>
              <a:rPr lang="en-US" b="0" dirty="0" err="1" smtClean="0">
                <a:solidFill>
                  <a:schemeClr val="dk1"/>
                </a:solidFill>
                <a:effectLst/>
                <a:latin typeface="Calibri" pitchFamily="34" charset="0"/>
                <a:cs typeface="Calibri" pitchFamily="34" charset="0"/>
              </a:rPr>
              <a:t>Mgmt</a:t>
            </a:r>
            <a:r>
              <a:rPr lang="en-US" b="0" dirty="0" smtClean="0">
                <a:solidFill>
                  <a:schemeClr val="dk1"/>
                </a:solidFill>
                <a:effectLst/>
                <a:latin typeface="Calibri" pitchFamily="34" charset="0"/>
                <a:cs typeface="Calibri" pitchFamily="34" charset="0"/>
              </a:rPr>
              <a:t> </a:t>
            </a:r>
            <a:r>
              <a:rPr lang="en-US" sz="2000" b="0" dirty="0" smtClean="0">
                <a:solidFill>
                  <a:schemeClr val="dk1"/>
                </a:solidFill>
                <a:effectLst/>
                <a:latin typeface="Calibri" pitchFamily="34" charset="0"/>
                <a:cs typeface="Calibri" pitchFamily="34" charset="0"/>
              </a:rPr>
              <a:t>(stack, heap, cache)</a:t>
            </a:r>
            <a:endParaRPr lang="en-US" b="0" dirty="0" smtClean="0">
              <a:solidFill>
                <a:schemeClr val="dk1"/>
              </a:solidFill>
              <a:effectLst/>
              <a:latin typeface="Calibri" pitchFamily="34" charset="0"/>
              <a:cs typeface="Calibri" pitchFamily="34" charset="0"/>
            </a:endParaRPr>
          </a:p>
          <a:p>
            <a:pPr marL="342900" indent="-342900">
              <a:lnSpc>
                <a:spcPct val="100000"/>
              </a:lnSpc>
              <a:buClr>
                <a:schemeClr val="tx2"/>
              </a:buClr>
              <a:buSzPct val="75000"/>
              <a:buFont typeface="Wingdings"/>
              <a:buChar char=""/>
            </a:pPr>
            <a:r>
              <a:rPr lang="en-US" b="0" dirty="0" smtClean="0">
                <a:solidFill>
                  <a:schemeClr val="dk1"/>
                </a:solidFill>
                <a:latin typeface="Calibri" pitchFamily="34" charset="0"/>
                <a:cs typeface="Calibri" pitchFamily="34" charset="0"/>
              </a:rPr>
              <a:t>Real-time Analysis </a:t>
            </a:r>
            <a:r>
              <a:rPr lang="en-US" sz="2000" b="0" dirty="0" smtClean="0">
                <a:solidFill>
                  <a:schemeClr val="dk1"/>
                </a:solidFill>
                <a:latin typeface="Calibri" pitchFamily="34" charset="0"/>
                <a:cs typeface="Calibri" pitchFamily="34" charset="0"/>
              </a:rPr>
              <a:t>(logs, graphs, loads)</a:t>
            </a:r>
            <a:endParaRPr lang="en-US" b="0" dirty="0" smtClean="0">
              <a:solidFill>
                <a:schemeClr val="dk1"/>
              </a:solidFill>
              <a:latin typeface="Calibri" pitchFamily="34" charset="0"/>
              <a:cs typeface="Calibri" pitchFamily="34" charset="0"/>
            </a:endParaRPr>
          </a:p>
          <a:p>
            <a:pPr marL="342900" indent="-342900">
              <a:lnSpc>
                <a:spcPct val="100000"/>
              </a:lnSpc>
              <a:buClr>
                <a:schemeClr val="tx2"/>
              </a:buClr>
              <a:buSzPct val="75000"/>
              <a:buFont typeface="Wingdings"/>
              <a:buChar char=""/>
            </a:pPr>
            <a:r>
              <a:rPr lang="en-US" b="0" dirty="0" smtClean="0">
                <a:solidFill>
                  <a:schemeClr val="dk1"/>
                </a:solidFill>
                <a:effectLst/>
                <a:latin typeface="Calibri" pitchFamily="34" charset="0"/>
                <a:cs typeface="Calibri" pitchFamily="34" charset="0"/>
              </a:rPr>
              <a:t>Scheduling </a:t>
            </a:r>
            <a:r>
              <a:rPr lang="en-US" sz="2000" b="0" dirty="0" smtClean="0">
                <a:solidFill>
                  <a:schemeClr val="dk1"/>
                </a:solidFill>
                <a:effectLst/>
                <a:latin typeface="Calibri" pitchFamily="34" charset="0"/>
                <a:cs typeface="Calibri" pitchFamily="34" charset="0"/>
              </a:rPr>
              <a:t>(various thread types)</a:t>
            </a:r>
            <a:endParaRPr lang="en-US" b="0" dirty="0" smtClean="0">
              <a:solidFill>
                <a:schemeClr val="dk1"/>
              </a:solidFill>
              <a:effectLst/>
              <a:latin typeface="Calibri" pitchFamily="34" charset="0"/>
              <a:cs typeface="Calibri" pitchFamily="34" charset="0"/>
            </a:endParaRPr>
          </a:p>
          <a:p>
            <a:pPr marL="342900" indent="-342900">
              <a:lnSpc>
                <a:spcPct val="100000"/>
              </a:lnSpc>
              <a:buClr>
                <a:schemeClr val="tx2"/>
              </a:buClr>
              <a:buSzPct val="75000"/>
              <a:buFont typeface="Wingdings"/>
              <a:buChar char=""/>
            </a:pPr>
            <a:r>
              <a:rPr lang="en-US" b="0" dirty="0" smtClean="0">
                <a:solidFill>
                  <a:schemeClr val="dk1"/>
                </a:solidFill>
                <a:latin typeface="Calibri" pitchFamily="34" charset="0"/>
                <a:cs typeface="Calibri" pitchFamily="34" charset="0"/>
              </a:rPr>
              <a:t>Synchronization </a:t>
            </a:r>
            <a:r>
              <a:rPr lang="en-US" sz="2000" b="0" dirty="0" smtClean="0">
                <a:solidFill>
                  <a:schemeClr val="dk1"/>
                </a:solidFill>
                <a:latin typeface="Calibri" pitchFamily="34" charset="0"/>
                <a:cs typeface="Calibri" pitchFamily="34" charset="0"/>
              </a:rPr>
              <a:t>(e.g. semaphores, events)</a:t>
            </a:r>
            <a:endParaRPr lang="en-US" sz="2000" b="0" dirty="0" smtClean="0">
              <a:solidFill>
                <a:schemeClr val="dk1"/>
              </a:solidFill>
              <a:effectLst/>
              <a:latin typeface="Calibri" pitchFamily="34" charset="0"/>
              <a:cs typeface="Calibri" pitchFamily="34" charset="0"/>
            </a:endParaRPr>
          </a:p>
        </p:txBody>
      </p:sp>
      <p:sp>
        <p:nvSpPr>
          <p:cNvPr id="8" name="Leading Question"/>
          <p:cNvSpPr txBox="1"/>
          <p:nvPr/>
        </p:nvSpPr>
        <p:spPr>
          <a:xfrm>
            <a:off x="4701529" y="5798403"/>
            <a:ext cx="4137671" cy="830997"/>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lnSpc>
                <a:spcPct val="90000"/>
              </a:lnSpc>
              <a:spcBef>
                <a:spcPct val="0"/>
              </a:spcBef>
            </a:pPr>
            <a:r>
              <a:rPr lang="en-US" sz="2000" b="0" smtClean="0">
                <a:solidFill>
                  <a:schemeClr val="tx2"/>
                </a:solidFill>
                <a:effectLst/>
                <a:latin typeface="Arial Narrow"/>
              </a:rPr>
              <a:t>What does the DNA of this kernel look like?</a:t>
            </a:r>
          </a:p>
          <a:p>
            <a:pPr algn="r">
              <a:lnSpc>
                <a:spcPct val="90000"/>
              </a:lnSpc>
              <a:spcBef>
                <a:spcPct val="0"/>
              </a:spcBef>
            </a:pPr>
            <a:endParaRPr lang="en-US" sz="2000" b="0">
              <a:solidFill>
                <a:schemeClr val="tx2"/>
              </a:solidFill>
              <a:latin typeface="Arial Narrow"/>
            </a:endParaRPr>
          </a:p>
          <a:p>
            <a:pPr algn="r">
              <a:lnSpc>
                <a:spcPct val="90000"/>
              </a:lnSpc>
              <a:spcBef>
                <a:spcPct val="0"/>
              </a:spcBef>
            </a:pPr>
            <a:r>
              <a:rPr lang="en-US" sz="2000" b="0" smtClean="0">
                <a:solidFill>
                  <a:schemeClr val="tx2"/>
                </a:solidFill>
                <a:effectLst/>
                <a:latin typeface="Arial Narrow"/>
              </a:rPr>
              <a:t>TI-RTOS Kernel – Characteristics...</a:t>
            </a:r>
            <a:endParaRPr lang="en-US" sz="2000" b="0" dirty="0" smtClean="0">
              <a:solidFill>
                <a:schemeClr val="tx2"/>
              </a:solidFill>
              <a:effectLst/>
              <a:latin typeface="Arial Narrow"/>
            </a:endParaRPr>
          </a:p>
        </p:txBody>
      </p:sp>
      <p:pic>
        <p:nvPicPr>
          <p:cNvPr id="13"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p:txBody>
          <a:bodyPr/>
          <a:lstStyle/>
          <a:p>
            <a:r>
              <a:rPr lang="en-US" smtClean="0"/>
              <a:t>TI-RTOS Kernel – Characteristics </a:t>
            </a:r>
            <a:endParaRPr lang="en-US" dirty="0" smtClean="0"/>
          </a:p>
        </p:txBody>
      </p:sp>
      <p:pic>
        <p:nvPicPr>
          <p:cNvPr id="13" name="Animated Logo" descr="tilogo_color_twoline.png"/>
          <p:cNvPicPr>
            <a:picLocks noChangeAspect="1"/>
          </p:cNvPicPr>
          <p:nvPr/>
        </p:nvPicPr>
        <p:blipFill>
          <a:blip r:embed="rId2" cstate="print"/>
          <a:stretch>
            <a:fillRect/>
          </a:stretch>
        </p:blipFill>
        <p:spPr>
          <a:xfrm>
            <a:off x="50800" y="6477000"/>
            <a:ext cx="1438537" cy="347443"/>
          </a:xfrm>
          <a:prstGeom prst="rect">
            <a:avLst/>
          </a:prstGeom>
        </p:spPr>
      </p:pic>
      <p:sp>
        <p:nvSpPr>
          <p:cNvPr id="10" name="Leading Question"/>
          <p:cNvSpPr txBox="1"/>
          <p:nvPr/>
        </p:nvSpPr>
        <p:spPr>
          <a:xfrm>
            <a:off x="4572000" y="6172868"/>
            <a:ext cx="4310474" cy="55399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ctr">
              <a:lnSpc>
                <a:spcPct val="90000"/>
              </a:lnSpc>
              <a:spcBef>
                <a:spcPct val="0"/>
              </a:spcBef>
            </a:pPr>
            <a:r>
              <a:rPr lang="en-US" sz="2000" b="0" dirty="0" smtClean="0">
                <a:solidFill>
                  <a:schemeClr val="tx2"/>
                </a:solidFill>
                <a:effectLst/>
                <a:latin typeface="Arial Narrow"/>
              </a:rPr>
              <a:t>Let's take a closer look at one of the most</a:t>
            </a:r>
            <a:br>
              <a:rPr lang="en-US" sz="2000" b="0" dirty="0" smtClean="0">
                <a:solidFill>
                  <a:schemeClr val="tx2"/>
                </a:solidFill>
                <a:effectLst/>
                <a:latin typeface="Arial Narrow"/>
              </a:rPr>
            </a:br>
            <a:r>
              <a:rPr lang="en-US" sz="2000" b="0" u="sng" dirty="0" smtClean="0">
                <a:solidFill>
                  <a:schemeClr val="tx2"/>
                </a:solidFill>
                <a:effectLst/>
                <a:latin typeface="Arial Narrow"/>
              </a:rPr>
              <a:t>useful</a:t>
            </a:r>
            <a:r>
              <a:rPr lang="en-US" sz="2000" b="0" dirty="0" smtClean="0">
                <a:solidFill>
                  <a:schemeClr val="tx2"/>
                </a:solidFill>
                <a:effectLst/>
                <a:latin typeface="Arial Narrow"/>
              </a:rPr>
              <a:t> parts </a:t>
            </a:r>
            <a:r>
              <a:rPr lang="en-US" sz="2000" b="0" smtClean="0">
                <a:solidFill>
                  <a:schemeClr val="tx2"/>
                </a:solidFill>
                <a:effectLst/>
                <a:latin typeface="Arial Narrow"/>
              </a:rPr>
              <a:t>of the kernel </a:t>
            </a:r>
            <a:r>
              <a:rPr lang="en-US" sz="2000" b="0" dirty="0" smtClean="0">
                <a:solidFill>
                  <a:schemeClr val="tx2"/>
                </a:solidFill>
                <a:effectLst/>
                <a:latin typeface="Arial Narrow"/>
              </a:rPr>
              <a:t>- the SCHEDULER...</a:t>
            </a:r>
          </a:p>
        </p:txBody>
      </p:sp>
      <p:sp>
        <p:nvSpPr>
          <p:cNvPr id="11" name="TextBox 10"/>
          <p:cNvSpPr txBox="1"/>
          <p:nvPr/>
        </p:nvSpPr>
        <p:spPr>
          <a:xfrm>
            <a:off x="152400" y="620938"/>
            <a:ext cx="8839200" cy="5421997"/>
          </a:xfrm>
          <a:prstGeom prst="rect">
            <a:avLst/>
          </a:prstGeom>
          <a:solidFill>
            <a:schemeClr val="accent4">
              <a:lumMod val="20000"/>
              <a:lumOff val="80000"/>
            </a:schemeClr>
          </a:solidFill>
        </p:spPr>
        <p:txBody>
          <a:bodyPr wrap="square" rtlCol="0" anchor="ctr" anchorCtr="0">
            <a:spAutoFit/>
          </a:bodyPr>
          <a:lstStyle/>
          <a:p>
            <a:pPr marL="342900" indent="-342900">
              <a:lnSpc>
                <a:spcPct val="90000"/>
              </a:lnSpc>
              <a:spcBef>
                <a:spcPts val="1400"/>
              </a:spcBef>
              <a:buClr>
                <a:schemeClr val="tx2"/>
              </a:buClr>
              <a:buSzPct val="75000"/>
              <a:buFont typeface="Wingdings"/>
              <a:buChar char=""/>
            </a:pPr>
            <a:r>
              <a:rPr lang="en-US" sz="2000" b="0" smtClean="0">
                <a:solidFill>
                  <a:schemeClr val="dk1"/>
                </a:solidFill>
                <a:effectLst/>
                <a:latin typeface="Calibri" pitchFamily="34" charset="0"/>
                <a:cs typeface="Calibri" pitchFamily="34" charset="0"/>
              </a:rPr>
              <a:t>RTOS means “Real-time O/S” – so the </a:t>
            </a:r>
            <a:r>
              <a:rPr lang="en-US" sz="2000" b="0" u="sng" smtClean="0">
                <a:solidFill>
                  <a:schemeClr val="dk1"/>
                </a:solidFill>
                <a:effectLst/>
                <a:latin typeface="Calibri" pitchFamily="34" charset="0"/>
                <a:cs typeface="Calibri" pitchFamily="34" charset="0"/>
              </a:rPr>
              <a:t>intent</a:t>
            </a:r>
            <a:r>
              <a:rPr lang="en-US" sz="2000" b="0" smtClean="0">
                <a:solidFill>
                  <a:schemeClr val="dk1"/>
                </a:solidFill>
                <a:effectLst/>
                <a:latin typeface="Calibri" pitchFamily="34" charset="0"/>
                <a:cs typeface="Calibri" pitchFamily="34" charset="0"/>
              </a:rPr>
              <a:t> of this O/S is to provide common services to the user </a:t>
            </a:r>
            <a:r>
              <a:rPr lang="en-US" sz="2000" b="0" u="sng" smtClean="0">
                <a:solidFill>
                  <a:srgbClr val="FF0000"/>
                </a:solidFill>
                <a:effectLst/>
                <a:latin typeface="Calibri" pitchFamily="34" charset="0"/>
                <a:cs typeface="Calibri" pitchFamily="34" charset="0"/>
              </a:rPr>
              <a:t>WITHOUT</a:t>
            </a:r>
            <a:r>
              <a:rPr lang="en-US" sz="2000" b="0" smtClean="0">
                <a:solidFill>
                  <a:srgbClr val="FF0000"/>
                </a:solidFill>
                <a:effectLst/>
                <a:latin typeface="Calibri" pitchFamily="34" charset="0"/>
                <a:cs typeface="Calibri" pitchFamily="34" charset="0"/>
              </a:rPr>
              <a:t> disturbing the real-time nature of the system </a:t>
            </a:r>
            <a:endParaRPr lang="en-US" sz="2000" b="0" dirty="0" smtClean="0">
              <a:solidFill>
                <a:srgbClr val="FF0000"/>
              </a:solidFill>
              <a:effectLst/>
              <a:latin typeface="Calibri" pitchFamily="34" charset="0"/>
              <a:cs typeface="Calibri" pitchFamily="34" charset="0"/>
            </a:endParaRPr>
          </a:p>
          <a:p>
            <a:pPr marL="342900" indent="-342900">
              <a:lnSpc>
                <a:spcPct val="90000"/>
              </a:lnSpc>
              <a:spcBef>
                <a:spcPts val="1400"/>
              </a:spcBef>
              <a:buClr>
                <a:schemeClr val="tx2"/>
              </a:buClr>
              <a:buSzPct val="75000"/>
              <a:buFont typeface="Wingdings"/>
              <a:buChar char=""/>
            </a:pPr>
            <a:r>
              <a:rPr lang="en-US" sz="2000" b="0">
                <a:solidFill>
                  <a:schemeClr val="dk1"/>
                </a:solidFill>
                <a:latin typeface="Calibri" pitchFamily="34" charset="0"/>
                <a:cs typeface="Calibri" pitchFamily="34" charset="0"/>
              </a:rPr>
              <a:t>The TI-RTOS Kernel (SYS/BIOS) is a </a:t>
            </a:r>
            <a:r>
              <a:rPr lang="en-US" sz="2000" b="0" u="sng">
                <a:solidFill>
                  <a:srgbClr val="FF0000"/>
                </a:solidFill>
                <a:latin typeface="Calibri" pitchFamily="34" charset="0"/>
                <a:cs typeface="Calibri" pitchFamily="34" charset="0"/>
              </a:rPr>
              <a:t>PRE-EMPTIVE</a:t>
            </a:r>
            <a:r>
              <a:rPr lang="en-US" sz="2000" b="0">
                <a:solidFill>
                  <a:srgbClr val="FF0000"/>
                </a:solidFill>
                <a:latin typeface="Calibri" pitchFamily="34" charset="0"/>
                <a:cs typeface="Calibri" pitchFamily="34" charset="0"/>
              </a:rPr>
              <a:t> scheduler</a:t>
            </a:r>
            <a:r>
              <a:rPr lang="en-US" sz="2000" b="0">
                <a:solidFill>
                  <a:schemeClr val="dk1"/>
                </a:solidFill>
                <a:latin typeface="Calibri" pitchFamily="34" charset="0"/>
                <a:cs typeface="Calibri" pitchFamily="34" charset="0"/>
              </a:rPr>
              <a:t>. This means the highest priority thread ALWAYS RUNS FIRST. Time-slicing is </a:t>
            </a:r>
            <a:r>
              <a:rPr lang="en-US" sz="2000" b="0" u="sng">
                <a:solidFill>
                  <a:schemeClr val="dk1"/>
                </a:solidFill>
                <a:latin typeface="Calibri" pitchFamily="34" charset="0"/>
                <a:cs typeface="Calibri" pitchFamily="34" charset="0"/>
              </a:rPr>
              <a:t>not</a:t>
            </a:r>
            <a:r>
              <a:rPr lang="en-US" sz="2000" b="0">
                <a:solidFill>
                  <a:schemeClr val="dk1"/>
                </a:solidFill>
                <a:latin typeface="Calibri" pitchFamily="34" charset="0"/>
                <a:cs typeface="Calibri" pitchFamily="34" charset="0"/>
              </a:rPr>
              <a:t> inherently </a:t>
            </a:r>
            <a:r>
              <a:rPr lang="en-US" sz="2000" b="0" smtClean="0">
                <a:solidFill>
                  <a:schemeClr val="dk1"/>
                </a:solidFill>
                <a:latin typeface="Calibri" pitchFamily="34" charset="0"/>
                <a:cs typeface="Calibri" pitchFamily="34" charset="0"/>
              </a:rPr>
              <a:t>supported </a:t>
            </a:r>
            <a:r>
              <a:rPr lang="en-US" sz="1800" b="0" i="1" smtClean="0">
                <a:solidFill>
                  <a:schemeClr val="dk1"/>
                </a:solidFill>
                <a:latin typeface="Calibri" pitchFamily="34" charset="0"/>
                <a:cs typeface="Calibri" pitchFamily="34" charset="0"/>
              </a:rPr>
              <a:t>(can change PRI dynamically if desired)</a:t>
            </a:r>
            <a:r>
              <a:rPr lang="en-US" sz="2000" b="0" smtClean="0">
                <a:solidFill>
                  <a:schemeClr val="dk1"/>
                </a:solidFill>
                <a:latin typeface="Calibri" pitchFamily="34" charset="0"/>
                <a:cs typeface="Calibri" pitchFamily="34" charset="0"/>
              </a:rPr>
              <a:t>.</a:t>
            </a:r>
            <a:endParaRPr lang="en-US" sz="2000" b="0">
              <a:solidFill>
                <a:schemeClr val="dk1"/>
              </a:solidFill>
              <a:latin typeface="Calibri" pitchFamily="34" charset="0"/>
              <a:cs typeface="Calibri" pitchFamily="34" charset="0"/>
            </a:endParaRPr>
          </a:p>
          <a:p>
            <a:pPr marL="342900" indent="-342900">
              <a:lnSpc>
                <a:spcPct val="90000"/>
              </a:lnSpc>
              <a:spcBef>
                <a:spcPts val="1400"/>
              </a:spcBef>
              <a:buClr>
                <a:schemeClr val="tx2"/>
              </a:buClr>
              <a:buSzPct val="75000"/>
              <a:buFont typeface="Wingdings"/>
              <a:buChar char=""/>
            </a:pPr>
            <a:r>
              <a:rPr lang="en-US" sz="2000" b="0">
                <a:solidFill>
                  <a:schemeClr val="dk1"/>
                </a:solidFill>
                <a:latin typeface="Calibri" pitchFamily="34" charset="0"/>
                <a:cs typeface="Calibri" pitchFamily="34" charset="0"/>
              </a:rPr>
              <a:t>The kernel is </a:t>
            </a:r>
            <a:r>
              <a:rPr lang="en-US" sz="2000" b="0" u="sng">
                <a:solidFill>
                  <a:srgbClr val="FF0000"/>
                </a:solidFill>
                <a:latin typeface="Calibri" pitchFamily="34" charset="0"/>
                <a:cs typeface="Calibri" pitchFamily="34" charset="0"/>
              </a:rPr>
              <a:t>EVENT-DRIVEN</a:t>
            </a:r>
            <a:r>
              <a:rPr lang="en-US" sz="2000" b="0">
                <a:solidFill>
                  <a:schemeClr val="dk1"/>
                </a:solidFill>
                <a:latin typeface="Calibri" pitchFamily="34" charset="0"/>
                <a:cs typeface="Calibri" pitchFamily="34" charset="0"/>
              </a:rPr>
              <a:t>. </a:t>
            </a:r>
            <a:r>
              <a:rPr lang="en-US" sz="2000" b="0" smtClean="0">
                <a:solidFill>
                  <a:schemeClr val="dk1"/>
                </a:solidFill>
                <a:latin typeface="Calibri" pitchFamily="34" charset="0"/>
                <a:cs typeface="Calibri" pitchFamily="34" charset="0"/>
              </a:rPr>
              <a:t>Any kernel-configured interrupts or user calls to APIs such as </a:t>
            </a:r>
            <a:r>
              <a:rPr lang="en-US" sz="2000" b="0" smtClean="0">
                <a:solidFill>
                  <a:schemeClr val="dk1"/>
                </a:solidFill>
                <a:latin typeface="Courier New" pitchFamily="49" charset="0"/>
                <a:cs typeface="Courier New" pitchFamily="49" charset="0"/>
              </a:rPr>
              <a:t>Swi_post()</a:t>
            </a:r>
            <a:r>
              <a:rPr lang="en-US" sz="2000" b="0" smtClean="0">
                <a:solidFill>
                  <a:schemeClr val="dk1"/>
                </a:solidFill>
                <a:latin typeface="Calibri" pitchFamily="34" charset="0"/>
                <a:cs typeface="Calibri" pitchFamily="34" charset="0"/>
              </a:rPr>
              <a:t> will invoke the scheduler. The kernel is NOT time-sliced although threads can be triggered on a time bases if so desired.</a:t>
            </a:r>
            <a:endParaRPr lang="en-US" sz="2000" b="0">
              <a:solidFill>
                <a:schemeClr val="dk1"/>
              </a:solidFill>
              <a:latin typeface="Calibri" pitchFamily="34" charset="0"/>
              <a:cs typeface="Calibri" pitchFamily="34" charset="0"/>
            </a:endParaRPr>
          </a:p>
          <a:p>
            <a:pPr marL="342900" indent="-342900">
              <a:lnSpc>
                <a:spcPct val="90000"/>
              </a:lnSpc>
              <a:spcBef>
                <a:spcPts val="1400"/>
              </a:spcBef>
              <a:buClr>
                <a:schemeClr val="tx2"/>
              </a:buClr>
              <a:buSzPct val="75000"/>
              <a:buFont typeface="Wingdings"/>
              <a:buChar char=""/>
            </a:pPr>
            <a:r>
              <a:rPr lang="en-US" sz="2000" b="0" smtClean="0">
                <a:solidFill>
                  <a:schemeClr val="dk1"/>
                </a:solidFill>
                <a:latin typeface="Calibri" pitchFamily="34" charset="0"/>
                <a:cs typeface="Calibri" pitchFamily="34" charset="0"/>
              </a:rPr>
              <a:t>The </a:t>
            </a:r>
            <a:r>
              <a:rPr lang="en-US" sz="2000" b="0">
                <a:solidFill>
                  <a:schemeClr val="dk1"/>
                </a:solidFill>
                <a:latin typeface="Calibri" pitchFamily="34" charset="0"/>
                <a:cs typeface="Calibri" pitchFamily="34" charset="0"/>
              </a:rPr>
              <a:t>kernel is </a:t>
            </a:r>
            <a:r>
              <a:rPr lang="en-US" sz="2000" b="0" u="sng">
                <a:solidFill>
                  <a:srgbClr val="FF0000"/>
                </a:solidFill>
                <a:latin typeface="Calibri" pitchFamily="34" charset="0"/>
                <a:cs typeface="Calibri" pitchFamily="34" charset="0"/>
              </a:rPr>
              <a:t>OBJECT BASED</a:t>
            </a:r>
            <a:r>
              <a:rPr lang="en-US" sz="2000" b="0">
                <a:solidFill>
                  <a:schemeClr val="dk1"/>
                </a:solidFill>
                <a:latin typeface="Calibri" pitchFamily="34" charset="0"/>
                <a:cs typeface="Calibri" pitchFamily="34" charset="0"/>
              </a:rPr>
              <a:t>. All APIs (methods) operate on self-contained objects. Therefore when you change ONE object, all other objects are </a:t>
            </a:r>
            <a:r>
              <a:rPr lang="en-US" sz="2000" b="0" u="sng">
                <a:solidFill>
                  <a:schemeClr val="dk1"/>
                </a:solidFill>
                <a:latin typeface="Calibri" pitchFamily="34" charset="0"/>
                <a:cs typeface="Calibri" pitchFamily="34" charset="0"/>
              </a:rPr>
              <a:t>unaffected</a:t>
            </a:r>
            <a:r>
              <a:rPr lang="en-US" sz="2000" b="0" smtClean="0">
                <a:solidFill>
                  <a:schemeClr val="dk1"/>
                </a:solidFill>
                <a:latin typeface="Calibri" pitchFamily="34" charset="0"/>
                <a:cs typeface="Calibri" pitchFamily="34" charset="0"/>
              </a:rPr>
              <a:t>.</a:t>
            </a:r>
          </a:p>
          <a:p>
            <a:pPr marL="342900" indent="-342900">
              <a:lnSpc>
                <a:spcPct val="90000"/>
              </a:lnSpc>
              <a:spcBef>
                <a:spcPts val="1400"/>
              </a:spcBef>
              <a:buClr>
                <a:schemeClr val="tx2"/>
              </a:buClr>
              <a:buSzPct val="75000"/>
              <a:buFont typeface="Wingdings"/>
              <a:buChar char=""/>
            </a:pPr>
            <a:r>
              <a:rPr lang="en-US" sz="2000" b="0" smtClean="0">
                <a:solidFill>
                  <a:schemeClr val="dk1"/>
                </a:solidFill>
                <a:latin typeface="Calibri" pitchFamily="34" charset="0"/>
                <a:cs typeface="Calibri" pitchFamily="34" charset="0"/>
              </a:rPr>
              <a:t>Being object-based allows most RTOS kernel calls to be </a:t>
            </a:r>
            <a:r>
              <a:rPr lang="en-US" sz="2000" b="0" u="sng" smtClean="0">
                <a:solidFill>
                  <a:srgbClr val="FF0000"/>
                </a:solidFill>
                <a:latin typeface="Calibri" pitchFamily="34" charset="0"/>
                <a:cs typeface="Calibri" pitchFamily="34" charset="0"/>
              </a:rPr>
              <a:t>DETERMINISTIC</a:t>
            </a:r>
            <a:r>
              <a:rPr lang="en-US" sz="2000" b="0" smtClean="0">
                <a:solidFill>
                  <a:schemeClr val="dk1"/>
                </a:solidFill>
                <a:latin typeface="Calibri" pitchFamily="34" charset="0"/>
                <a:cs typeface="Calibri" pitchFamily="34" charset="0"/>
              </a:rPr>
              <a:t>. The scheduler works by updating event queues such that all context switches take the same number of cycles. </a:t>
            </a:r>
            <a:endParaRPr lang="en-US" sz="2000" b="0">
              <a:solidFill>
                <a:schemeClr val="dk1"/>
              </a:solidFill>
              <a:latin typeface="Calibri" pitchFamily="34" charset="0"/>
              <a:cs typeface="Calibri" pitchFamily="34" charset="0"/>
            </a:endParaRPr>
          </a:p>
          <a:p>
            <a:pPr marL="342900" indent="-342900">
              <a:lnSpc>
                <a:spcPct val="90000"/>
              </a:lnSpc>
              <a:spcBef>
                <a:spcPts val="1400"/>
              </a:spcBef>
              <a:buClr>
                <a:schemeClr val="tx2"/>
              </a:buClr>
              <a:buSzPct val="75000"/>
              <a:buFont typeface="Wingdings"/>
              <a:buChar char=""/>
            </a:pPr>
            <a:r>
              <a:rPr lang="en-US" sz="2000" b="0" smtClean="0">
                <a:solidFill>
                  <a:schemeClr val="dk1"/>
                </a:solidFill>
                <a:latin typeface="Calibri" pitchFamily="34" charset="0"/>
                <a:cs typeface="Calibri" pitchFamily="34" charset="0"/>
              </a:rPr>
              <a:t>Real-time Analysis APIs (such as Logs) are small and fast – the </a:t>
            </a:r>
            <a:r>
              <a:rPr lang="en-US" sz="2000" b="0" u="sng" smtClean="0">
                <a:solidFill>
                  <a:srgbClr val="FF0000"/>
                </a:solidFill>
                <a:latin typeface="Calibri" pitchFamily="34" charset="0"/>
                <a:cs typeface="Calibri" pitchFamily="34" charset="0"/>
              </a:rPr>
              <a:t>intent is to LEAVE them in the program</a:t>
            </a:r>
            <a:r>
              <a:rPr lang="en-US" sz="2000" b="0" smtClean="0">
                <a:solidFill>
                  <a:schemeClr val="dk1"/>
                </a:solidFill>
                <a:latin typeface="Calibri" pitchFamily="34" charset="0"/>
                <a:cs typeface="Calibri" pitchFamily="34" charset="0"/>
              </a:rPr>
              <a:t> – even for production code – aides field testing</a:t>
            </a:r>
          </a:p>
        </p:txBody>
      </p:sp>
    </p:spTree>
    <p:extLst>
      <p:ext uri="{BB962C8B-B14F-4D97-AF65-F5344CB8AC3E}">
        <p14:creationId xmlns:p14="http://schemas.microsoft.com/office/powerpoint/2010/main" val="367259863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bg/>
                                          </p:spTgt>
                                        </p:tgtEl>
                                        <p:attrNameLst>
                                          <p:attrName>style.visibility</p:attrName>
                                        </p:attrNameLst>
                                      </p:cBhvr>
                                      <p:to>
                                        <p:strVal val="visible"/>
                                      </p:to>
                                    </p:set>
                                    <p:animEffect transition="in" filter="wipe(up)">
                                      <p:cBhvr>
                                        <p:cTn id="7" dur="500"/>
                                        <p:tgtEl>
                                          <p:spTgt spid="11">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wipe(up)">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animEffect transition="in" filter="wipe(up)">
                                      <p:cBhvr>
                                        <p:cTn id="17" dur="500"/>
                                        <p:tgtEl>
                                          <p:spTgt spid="1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1">
                                            <p:txEl>
                                              <p:pRg st="2" end="2"/>
                                            </p:txEl>
                                          </p:spTgt>
                                        </p:tgtEl>
                                        <p:attrNameLst>
                                          <p:attrName>style.visibility</p:attrName>
                                        </p:attrNameLst>
                                      </p:cBhvr>
                                      <p:to>
                                        <p:strVal val="visible"/>
                                      </p:to>
                                    </p:set>
                                    <p:animEffect transition="in" filter="wipe(up)">
                                      <p:cBhvr>
                                        <p:cTn id="22" dur="500"/>
                                        <p:tgtEl>
                                          <p:spTgt spid="1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1">
                                            <p:txEl>
                                              <p:pRg st="3" end="3"/>
                                            </p:txEl>
                                          </p:spTgt>
                                        </p:tgtEl>
                                        <p:attrNameLst>
                                          <p:attrName>style.visibility</p:attrName>
                                        </p:attrNameLst>
                                      </p:cBhvr>
                                      <p:to>
                                        <p:strVal val="visible"/>
                                      </p:to>
                                    </p:set>
                                    <p:animEffect transition="in" filter="wipe(up)">
                                      <p:cBhvr>
                                        <p:cTn id="27" dur="500"/>
                                        <p:tgtEl>
                                          <p:spTgt spid="1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1">
                                            <p:txEl>
                                              <p:pRg st="4" end="4"/>
                                            </p:txEl>
                                          </p:spTgt>
                                        </p:tgtEl>
                                        <p:attrNameLst>
                                          <p:attrName>style.visibility</p:attrName>
                                        </p:attrNameLst>
                                      </p:cBhvr>
                                      <p:to>
                                        <p:strVal val="visible"/>
                                      </p:to>
                                    </p:set>
                                    <p:animEffect transition="in" filter="wipe(up)">
                                      <p:cBhvr>
                                        <p:cTn id="32" dur="500"/>
                                        <p:tgtEl>
                                          <p:spTgt spid="1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1">
                                            <p:txEl>
                                              <p:pRg st="5" end="5"/>
                                            </p:txEl>
                                          </p:spTgt>
                                        </p:tgtEl>
                                        <p:attrNameLst>
                                          <p:attrName>style.visibility</p:attrName>
                                        </p:attrNameLst>
                                      </p:cBhvr>
                                      <p:to>
                                        <p:strVal val="visible"/>
                                      </p:to>
                                    </p:set>
                                    <p:animEffect transition="in" filter="wipe(up)">
                                      <p:cBhvr>
                                        <p:cTn id="37" dur="500"/>
                                        <p:tgtEl>
                                          <p:spTgt spid="11">
                                            <p:txEl>
                                              <p:pRg st="5" end="5"/>
                                            </p:txEl>
                                          </p:spTgt>
                                        </p:tgtEl>
                                      </p:cBhvr>
                                    </p:animEffect>
                                  </p:childTnLst>
                                </p:cTn>
                              </p:par>
                            </p:childTnLst>
                          </p:cTn>
                        </p:par>
                        <p:par>
                          <p:cTn id="38" fill="hold">
                            <p:stCondLst>
                              <p:cond delay="500"/>
                            </p:stCondLst>
                            <p:childTnLst>
                              <p:par>
                                <p:cTn id="39" presetID="1" presetClass="entr" presetSubtype="0" fill="hold" nodeType="afterEffect">
                                  <p:stCondLst>
                                    <p:cond delay="0"/>
                                  </p:stCondLst>
                                  <p:childTnLst>
                                    <p:set>
                                      <p:cBhvr>
                                        <p:cTn id="40" dur="1" fill="hold">
                                          <p:stCondLst>
                                            <p:cond delay="499"/>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1"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533400" y="1219200"/>
            <a:ext cx="5105400" cy="4324922"/>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2"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13" action="ppaction://hlinksldjump"/>
          </p:cNvPr>
          <p:cNvSpPr txBox="1">
            <a:spLocks noChangeArrowheads="1"/>
          </p:cNvSpPr>
          <p:nvPr>
            <p:custDataLst>
              <p:tags r:id="rId2"/>
            </p:custDataLst>
          </p:nvPr>
        </p:nvSpPr>
        <p:spPr bwMode="auto">
          <a:xfrm>
            <a:off x="538802" y="137289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What is the TI-RTOS Kernel?</a:t>
            </a:r>
            <a:endParaRPr lang="en-US" dirty="0">
              <a:solidFill>
                <a:srgbClr val="000000"/>
              </a:solidFill>
            </a:endParaRPr>
          </a:p>
        </p:txBody>
      </p:sp>
      <p:sp>
        <p:nvSpPr>
          <p:cNvPr id="10" name="Text Box 3">
            <a:hlinkClick r:id="rId14" action="ppaction://hlinksldjump"/>
          </p:cNvPr>
          <p:cNvSpPr txBox="1">
            <a:spLocks noChangeArrowheads="1"/>
          </p:cNvSpPr>
          <p:nvPr>
            <p:custDataLst>
              <p:tags r:id="rId3"/>
            </p:custDataLst>
          </p:nvPr>
        </p:nvSpPr>
        <p:spPr bwMode="auto">
          <a:xfrm>
            <a:off x="533400" y="1825206"/>
            <a:ext cx="5105400" cy="387798"/>
          </a:xfrm>
          <a:prstGeom prst="rect">
            <a:avLst/>
          </a:prstGeom>
          <a:solidFill>
            <a:schemeClr val="bg1"/>
          </a:solidFill>
          <a:ln w="19050">
            <a:solidFill>
              <a:schemeClr val="tx1"/>
            </a:solid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Scheduler</a:t>
            </a:r>
            <a:endParaRPr lang="en-US" dirty="0">
              <a:solidFill>
                <a:srgbClr val="000000"/>
              </a:solidFill>
            </a:endParaRPr>
          </a:p>
        </p:txBody>
      </p:sp>
      <p:sp>
        <p:nvSpPr>
          <p:cNvPr id="11" name="Text Box 6">
            <a:hlinkClick r:id="rId15" action="ppaction://hlinksldjump"/>
          </p:cNvPr>
          <p:cNvSpPr txBox="1">
            <a:spLocks noChangeArrowheads="1"/>
          </p:cNvSpPr>
          <p:nvPr>
            <p:custDataLst>
              <p:tags r:id="rId4"/>
            </p:custDataLst>
          </p:nvPr>
        </p:nvSpPr>
        <p:spPr bwMode="auto">
          <a:xfrm>
            <a:off x="1047750" y="2234443"/>
            <a:ext cx="4667250" cy="313932"/>
          </a:xfrm>
          <a:prstGeom prst="rect">
            <a:avLst/>
          </a:prstGeom>
          <a:noFill/>
          <a:ln w="12700">
            <a:noFill/>
            <a:miter lim="800000"/>
            <a:headEnd type="none" w="sm" len="sm"/>
            <a:tailEnd type="none" w="sm" len="sm"/>
          </a:ln>
        </p:spPr>
        <p:txBody>
          <a:bodyPr tIns="18288" bIns="18288"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000" smtClean="0">
                <a:solidFill>
                  <a:srgbClr val="000000"/>
                </a:solidFill>
              </a:rPr>
              <a:t>Problem</a:t>
            </a:r>
            <a:endParaRPr lang="en-US" sz="2000" dirty="0">
              <a:solidFill>
                <a:srgbClr val="000000"/>
              </a:solidFill>
            </a:endParaRPr>
          </a:p>
        </p:txBody>
      </p:sp>
      <p:sp>
        <p:nvSpPr>
          <p:cNvPr id="12" name="Text Box 6">
            <a:hlinkClick r:id="rId16" action="ppaction://hlinksldjump"/>
          </p:cNvPr>
          <p:cNvSpPr txBox="1">
            <a:spLocks noChangeArrowheads="1"/>
          </p:cNvSpPr>
          <p:nvPr>
            <p:custDataLst>
              <p:tags r:id="rId5"/>
            </p:custDataLst>
          </p:nvPr>
        </p:nvSpPr>
        <p:spPr bwMode="auto">
          <a:xfrm>
            <a:off x="1047750" y="2591555"/>
            <a:ext cx="4667250" cy="313932"/>
          </a:xfrm>
          <a:prstGeom prst="rect">
            <a:avLst/>
          </a:prstGeom>
          <a:noFill/>
          <a:ln w="12700">
            <a:noFill/>
            <a:miter lim="800000"/>
            <a:headEnd type="none" w="sm" len="sm"/>
            <a:tailEnd type="none" w="sm" len="sm"/>
          </a:ln>
        </p:spPr>
        <p:txBody>
          <a:bodyPr tIns="18288" bIns="18288"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000" smtClean="0">
                <a:solidFill>
                  <a:srgbClr val="000000"/>
                </a:solidFill>
              </a:rPr>
              <a:t>Solutions</a:t>
            </a:r>
            <a:endParaRPr lang="en-US" sz="2000" dirty="0">
              <a:solidFill>
                <a:srgbClr val="000000"/>
              </a:solidFill>
            </a:endParaRPr>
          </a:p>
        </p:txBody>
      </p:sp>
      <p:sp>
        <p:nvSpPr>
          <p:cNvPr id="13" name="Text Box 4">
            <a:hlinkClick r:id="rId17" action="ppaction://hlinksldjump"/>
          </p:cNvPr>
          <p:cNvSpPr txBox="1">
            <a:spLocks noChangeArrowheads="1"/>
          </p:cNvSpPr>
          <p:nvPr>
            <p:custDataLst>
              <p:tags r:id="rId6"/>
            </p:custDataLst>
          </p:nvPr>
        </p:nvSpPr>
        <p:spPr bwMode="auto">
          <a:xfrm>
            <a:off x="538802" y="2991744"/>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Adding Tasks…</a:t>
            </a:r>
            <a:endParaRPr lang="en-US" dirty="0">
              <a:solidFill>
                <a:srgbClr val="000000"/>
              </a:solidFill>
            </a:endParaRPr>
          </a:p>
        </p:txBody>
      </p:sp>
      <p:sp>
        <p:nvSpPr>
          <p:cNvPr id="14" name="Text Box 4">
            <a:hlinkClick r:id="rId18" action="ppaction://hlinksldjump"/>
          </p:cNvPr>
          <p:cNvSpPr txBox="1">
            <a:spLocks noChangeArrowheads="1"/>
          </p:cNvSpPr>
          <p:nvPr>
            <p:custDataLst>
              <p:tags r:id="rId7"/>
            </p:custDataLst>
          </p:nvPr>
        </p:nvSpPr>
        <p:spPr bwMode="auto">
          <a:xfrm>
            <a:off x="538802" y="3444058"/>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Environment</a:t>
            </a:r>
            <a:endParaRPr lang="en-US" dirty="0">
              <a:solidFill>
                <a:srgbClr val="000000"/>
              </a:solidFill>
            </a:endParaRPr>
          </a:p>
        </p:txBody>
      </p:sp>
      <p:sp>
        <p:nvSpPr>
          <p:cNvPr id="15" name="Text Box 4">
            <a:hlinkClick r:id="rId19" action="ppaction://hlinksldjump"/>
          </p:cNvPr>
          <p:cNvSpPr txBox="1">
            <a:spLocks noChangeArrowheads="1"/>
          </p:cNvSpPr>
          <p:nvPr>
            <p:custDataLst>
              <p:tags r:id="rId8"/>
            </p:custDataLst>
          </p:nvPr>
        </p:nvSpPr>
        <p:spPr bwMode="auto">
          <a:xfrm>
            <a:off x="538802" y="389637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Debugging Tools</a:t>
            </a:r>
            <a:endParaRPr lang="en-US" dirty="0">
              <a:solidFill>
                <a:srgbClr val="000000"/>
              </a:solidFill>
            </a:endParaRPr>
          </a:p>
        </p:txBody>
      </p:sp>
      <p:sp>
        <p:nvSpPr>
          <p:cNvPr id="16" name="Text Box 4">
            <a:hlinkClick r:id="rId20" action="ppaction://hlinksldjump"/>
          </p:cNvPr>
          <p:cNvSpPr txBox="1">
            <a:spLocks noChangeArrowheads="1"/>
          </p:cNvSpPr>
          <p:nvPr>
            <p:custDataLst>
              <p:tags r:id="rId9"/>
            </p:custDataLst>
          </p:nvPr>
        </p:nvSpPr>
        <p:spPr bwMode="auto">
          <a:xfrm>
            <a:off x="538802" y="434868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For More Info…</a:t>
            </a:r>
            <a:endParaRPr lang="en-US" dirty="0">
              <a:solidFill>
                <a:srgbClr val="000000"/>
              </a:solidFill>
            </a:endParaRPr>
          </a:p>
        </p:txBody>
      </p:sp>
      <p:sp>
        <p:nvSpPr>
          <p:cNvPr id="17" name="Text Box 4">
            <a:hlinkClick r:id="rId21" action="ppaction://hlinksldjump"/>
          </p:cNvPr>
          <p:cNvSpPr txBox="1">
            <a:spLocks noChangeArrowheads="1"/>
          </p:cNvSpPr>
          <p:nvPr>
            <p:custDataLst>
              <p:tags r:id="rId10"/>
            </p:custDataLst>
          </p:nvPr>
        </p:nvSpPr>
        <p:spPr bwMode="auto">
          <a:xfrm>
            <a:off x="538802" y="4801000"/>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Chapter Quiz</a:t>
            </a:r>
            <a:endParaRPr lang="en-US" dirty="0">
              <a:solidFill>
                <a:srgbClr val="000000"/>
              </a:solidFill>
            </a:endParaRPr>
          </a:p>
        </p:txBody>
      </p:sp>
    </p:spTree>
    <p:custDataLst>
      <p:tags r:id="rId1"/>
    </p:custDataLst>
    <p:extLst>
      <p:ext uri="{BB962C8B-B14F-4D97-AF65-F5344CB8AC3E}">
        <p14:creationId xmlns:p14="http://schemas.microsoft.com/office/powerpoint/2010/main" val="2560600489"/>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533400" y="1219200"/>
            <a:ext cx="5105400" cy="4324922"/>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2"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13" action="ppaction://hlinksldjump"/>
          </p:cNvPr>
          <p:cNvSpPr txBox="1">
            <a:spLocks noChangeArrowheads="1"/>
          </p:cNvSpPr>
          <p:nvPr>
            <p:custDataLst>
              <p:tags r:id="rId2"/>
            </p:custDataLst>
          </p:nvPr>
        </p:nvSpPr>
        <p:spPr bwMode="auto">
          <a:xfrm>
            <a:off x="538802" y="137289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What is the TI-RTOS Kernel?</a:t>
            </a:r>
            <a:endParaRPr lang="en-US" dirty="0">
              <a:solidFill>
                <a:srgbClr val="000000"/>
              </a:solidFill>
            </a:endParaRPr>
          </a:p>
        </p:txBody>
      </p:sp>
      <p:sp>
        <p:nvSpPr>
          <p:cNvPr id="10" name="Text Box 4">
            <a:hlinkClick r:id="rId14" action="ppaction://hlinksldjump"/>
          </p:cNvPr>
          <p:cNvSpPr txBox="1">
            <a:spLocks noChangeArrowheads="1"/>
          </p:cNvSpPr>
          <p:nvPr>
            <p:custDataLst>
              <p:tags r:id="rId3"/>
            </p:custDataLst>
          </p:nvPr>
        </p:nvSpPr>
        <p:spPr bwMode="auto">
          <a:xfrm>
            <a:off x="538802" y="182520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Scheduler</a:t>
            </a:r>
            <a:endParaRPr lang="en-US" dirty="0">
              <a:solidFill>
                <a:srgbClr val="000000"/>
              </a:solidFill>
            </a:endParaRPr>
          </a:p>
        </p:txBody>
      </p:sp>
      <p:sp>
        <p:nvSpPr>
          <p:cNvPr id="11" name="Text Box 5">
            <a:hlinkClick r:id="rId15" action="ppaction://hlinksldjump"/>
          </p:cNvPr>
          <p:cNvSpPr txBox="1">
            <a:spLocks noChangeArrowheads="1"/>
          </p:cNvSpPr>
          <p:nvPr>
            <p:custDataLst>
              <p:tags r:id="rId4"/>
            </p:custDataLst>
          </p:nvPr>
        </p:nvSpPr>
        <p:spPr bwMode="auto">
          <a:xfrm>
            <a:off x="1051873" y="2234443"/>
            <a:ext cx="4053527" cy="369332"/>
          </a:xfrm>
          <a:prstGeom prst="rect">
            <a:avLst/>
          </a:prstGeom>
          <a:solidFill>
            <a:schemeClr val="bg1"/>
          </a:solidFill>
          <a:ln w="19050">
            <a:solidFill>
              <a:schemeClr val="tx1"/>
            </a:solidFill>
            <a:miter lim="800000"/>
            <a:headEnd type="none" w="sm" len="sm"/>
            <a:tailEnd type="none" w="sm" len="sm"/>
          </a:ln>
        </p:spPr>
        <p:txBody>
          <a:bodyPr wrap="square"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000" smtClean="0">
                <a:solidFill>
                  <a:srgbClr val="000000"/>
                </a:solidFill>
              </a:rPr>
              <a:t>Problem</a:t>
            </a:r>
            <a:endParaRPr lang="en-US" sz="2000" dirty="0">
              <a:solidFill>
                <a:srgbClr val="000000"/>
              </a:solidFill>
            </a:endParaRPr>
          </a:p>
        </p:txBody>
      </p:sp>
      <p:sp>
        <p:nvSpPr>
          <p:cNvPr id="12" name="Text Box 6">
            <a:hlinkClick r:id="rId16" action="ppaction://hlinksldjump"/>
          </p:cNvPr>
          <p:cNvSpPr txBox="1">
            <a:spLocks noChangeArrowheads="1"/>
          </p:cNvSpPr>
          <p:nvPr>
            <p:custDataLst>
              <p:tags r:id="rId5"/>
            </p:custDataLst>
          </p:nvPr>
        </p:nvSpPr>
        <p:spPr bwMode="auto">
          <a:xfrm>
            <a:off x="1047750" y="2697755"/>
            <a:ext cx="4667250" cy="313932"/>
          </a:xfrm>
          <a:prstGeom prst="rect">
            <a:avLst/>
          </a:prstGeom>
          <a:noFill/>
          <a:ln w="12700">
            <a:noFill/>
            <a:miter lim="800000"/>
            <a:headEnd type="none" w="sm" len="sm"/>
            <a:tailEnd type="none" w="sm" len="sm"/>
          </a:ln>
        </p:spPr>
        <p:txBody>
          <a:bodyPr tIns="18288" bIns="18288"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000" smtClean="0">
                <a:solidFill>
                  <a:srgbClr val="000000"/>
                </a:solidFill>
              </a:rPr>
              <a:t>Solutions</a:t>
            </a:r>
            <a:endParaRPr lang="en-US" sz="2000" dirty="0">
              <a:solidFill>
                <a:srgbClr val="000000"/>
              </a:solidFill>
            </a:endParaRPr>
          </a:p>
        </p:txBody>
      </p:sp>
      <p:sp>
        <p:nvSpPr>
          <p:cNvPr id="13" name="Text Box 4">
            <a:hlinkClick r:id="rId17" action="ppaction://hlinksldjump"/>
          </p:cNvPr>
          <p:cNvSpPr txBox="1">
            <a:spLocks noChangeArrowheads="1"/>
          </p:cNvSpPr>
          <p:nvPr>
            <p:custDataLst>
              <p:tags r:id="rId6"/>
            </p:custDataLst>
          </p:nvPr>
        </p:nvSpPr>
        <p:spPr bwMode="auto">
          <a:xfrm>
            <a:off x="538802" y="3097944"/>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Adding Tasks…</a:t>
            </a:r>
            <a:endParaRPr lang="en-US" dirty="0">
              <a:solidFill>
                <a:srgbClr val="000000"/>
              </a:solidFill>
            </a:endParaRPr>
          </a:p>
        </p:txBody>
      </p:sp>
      <p:sp>
        <p:nvSpPr>
          <p:cNvPr id="14" name="Text Box 4">
            <a:hlinkClick r:id="rId18" action="ppaction://hlinksldjump"/>
          </p:cNvPr>
          <p:cNvSpPr txBox="1">
            <a:spLocks noChangeArrowheads="1"/>
          </p:cNvSpPr>
          <p:nvPr>
            <p:custDataLst>
              <p:tags r:id="rId7"/>
            </p:custDataLst>
          </p:nvPr>
        </p:nvSpPr>
        <p:spPr bwMode="auto">
          <a:xfrm>
            <a:off x="538802" y="3550258"/>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Environment</a:t>
            </a:r>
            <a:endParaRPr lang="en-US" dirty="0">
              <a:solidFill>
                <a:srgbClr val="000000"/>
              </a:solidFill>
            </a:endParaRPr>
          </a:p>
        </p:txBody>
      </p:sp>
      <p:sp>
        <p:nvSpPr>
          <p:cNvPr id="15" name="Text Box 4">
            <a:hlinkClick r:id="rId19" action="ppaction://hlinksldjump"/>
          </p:cNvPr>
          <p:cNvSpPr txBox="1">
            <a:spLocks noChangeArrowheads="1"/>
          </p:cNvSpPr>
          <p:nvPr>
            <p:custDataLst>
              <p:tags r:id="rId8"/>
            </p:custDataLst>
          </p:nvPr>
        </p:nvSpPr>
        <p:spPr bwMode="auto">
          <a:xfrm>
            <a:off x="538802" y="400257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Debugging Tools</a:t>
            </a:r>
            <a:endParaRPr lang="en-US" dirty="0">
              <a:solidFill>
                <a:srgbClr val="000000"/>
              </a:solidFill>
            </a:endParaRPr>
          </a:p>
        </p:txBody>
      </p:sp>
      <p:sp>
        <p:nvSpPr>
          <p:cNvPr id="16" name="Text Box 4">
            <a:hlinkClick r:id="rId20" action="ppaction://hlinksldjump"/>
          </p:cNvPr>
          <p:cNvSpPr txBox="1">
            <a:spLocks noChangeArrowheads="1"/>
          </p:cNvSpPr>
          <p:nvPr>
            <p:custDataLst>
              <p:tags r:id="rId9"/>
            </p:custDataLst>
          </p:nvPr>
        </p:nvSpPr>
        <p:spPr bwMode="auto">
          <a:xfrm>
            <a:off x="538802" y="445488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For More Info…</a:t>
            </a:r>
            <a:endParaRPr lang="en-US" dirty="0">
              <a:solidFill>
                <a:srgbClr val="000000"/>
              </a:solidFill>
            </a:endParaRPr>
          </a:p>
        </p:txBody>
      </p:sp>
      <p:sp>
        <p:nvSpPr>
          <p:cNvPr id="17" name="Text Box 4">
            <a:hlinkClick r:id="rId21" action="ppaction://hlinksldjump"/>
          </p:cNvPr>
          <p:cNvSpPr txBox="1">
            <a:spLocks noChangeArrowheads="1"/>
          </p:cNvSpPr>
          <p:nvPr>
            <p:custDataLst>
              <p:tags r:id="rId10"/>
            </p:custDataLst>
          </p:nvPr>
        </p:nvSpPr>
        <p:spPr bwMode="auto">
          <a:xfrm>
            <a:off x="538802" y="4907200"/>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Chapter Quiz</a:t>
            </a:r>
            <a:endParaRPr lang="en-US" dirty="0">
              <a:solidFill>
                <a:srgbClr val="000000"/>
              </a:solidFill>
            </a:endParaRPr>
          </a:p>
        </p:txBody>
      </p:sp>
    </p:spTree>
    <p:custDataLst>
      <p:tags r:id="rId1"/>
    </p:custDataLst>
    <p:extLst>
      <p:ext uri="{BB962C8B-B14F-4D97-AF65-F5344CB8AC3E}">
        <p14:creationId xmlns:p14="http://schemas.microsoft.com/office/powerpoint/2010/main" val="2635112870"/>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bwMode="auto">
          <a:xfrm>
            <a:off x="457200" y="1143000"/>
            <a:ext cx="2057400" cy="2819400"/>
          </a:xfrm>
          <a:prstGeom prst="roundRect">
            <a:avLst/>
          </a:prstGeom>
          <a:solidFill>
            <a:schemeClr val="bg1">
              <a:lumMod val="95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b"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dirty="0" smtClean="0">
                <a:ln>
                  <a:noFill/>
                </a:ln>
                <a:solidFill>
                  <a:schemeClr val="dk1"/>
                </a:solidFill>
                <a:effectLst/>
                <a:latin typeface="Arial Narrow" pitchFamily="34" charset="0"/>
              </a:rPr>
              <a:t>TI MCU</a:t>
            </a:r>
          </a:p>
        </p:txBody>
      </p:sp>
      <p:sp>
        <p:nvSpPr>
          <p:cNvPr id="5124" name="Rectangle 4"/>
          <p:cNvSpPr>
            <a:spLocks noGrp="1" noChangeArrowheads="1"/>
          </p:cNvSpPr>
          <p:nvPr>
            <p:ph type="title"/>
          </p:nvPr>
        </p:nvSpPr>
        <p:spPr/>
        <p:txBody>
          <a:bodyPr/>
          <a:lstStyle/>
          <a:p>
            <a:r>
              <a:rPr lang="en-US" dirty="0" smtClean="0"/>
              <a:t>Scheduling Problem – Two Threads</a:t>
            </a:r>
          </a:p>
        </p:txBody>
      </p:sp>
      <p:sp>
        <p:nvSpPr>
          <p:cNvPr id="3" name="Rectangle 2"/>
          <p:cNvSpPr/>
          <p:nvPr/>
        </p:nvSpPr>
        <p:spPr bwMode="auto">
          <a:xfrm>
            <a:off x="762000" y="1524000"/>
            <a:ext cx="1447800" cy="685800"/>
          </a:xfrm>
          <a:prstGeom prst="rect">
            <a:avLst/>
          </a:prstGeom>
          <a:solidFill>
            <a:schemeClr val="accent5">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sz="2800" b="0" i="0" u="none" strike="noStrike" cap="none" normalizeH="0" baseline="0" smtClean="0">
                <a:ln>
                  <a:noFill/>
                </a:ln>
                <a:solidFill>
                  <a:schemeClr val="dk1"/>
                </a:solidFill>
                <a:effectLst/>
                <a:latin typeface="Calibri" pitchFamily="34" charset="0"/>
                <a:cs typeface="Calibri" pitchFamily="34" charset="0"/>
              </a:rPr>
              <a:t>Audio</a:t>
            </a:r>
            <a:br>
              <a:rPr kumimoji="0" lang="en-US" sz="2800" b="0" i="0" u="none" strike="noStrike" cap="none" normalizeH="0" baseline="0" smtClean="0">
                <a:ln>
                  <a:noFill/>
                </a:ln>
                <a:solidFill>
                  <a:schemeClr val="dk1"/>
                </a:solidFill>
                <a:effectLst/>
                <a:latin typeface="Calibri" pitchFamily="34" charset="0"/>
                <a:cs typeface="Calibri" pitchFamily="34" charset="0"/>
              </a:rPr>
            </a:br>
            <a:r>
              <a:rPr lang="en-US" sz="2000" b="0" smtClean="0">
                <a:solidFill>
                  <a:schemeClr val="dk1"/>
                </a:solidFill>
                <a:latin typeface="Calibri" pitchFamily="34" charset="0"/>
                <a:cs typeface="Calibri" pitchFamily="34" charset="0"/>
              </a:rPr>
              <a:t>(100KHz)</a:t>
            </a:r>
            <a:endParaRPr kumimoji="0" lang="en-US" sz="2000" b="0" i="0" u="none" strike="noStrike" cap="none" normalizeH="0" baseline="0" dirty="0" smtClean="0">
              <a:ln>
                <a:noFill/>
              </a:ln>
              <a:solidFill>
                <a:schemeClr val="dk1"/>
              </a:solidFill>
              <a:effectLst/>
              <a:latin typeface="Calibri" pitchFamily="34" charset="0"/>
              <a:cs typeface="Calibri" pitchFamily="34" charset="0"/>
            </a:endParaRPr>
          </a:p>
        </p:txBody>
      </p:sp>
      <p:sp>
        <p:nvSpPr>
          <p:cNvPr id="7" name="Rectangle 6"/>
          <p:cNvSpPr/>
          <p:nvPr/>
        </p:nvSpPr>
        <p:spPr bwMode="auto">
          <a:xfrm>
            <a:off x="762000" y="2438400"/>
            <a:ext cx="1447800" cy="762000"/>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sz="2800" b="0" i="0" u="none" strike="noStrike" cap="none" normalizeH="0" baseline="0" smtClean="0">
                <a:ln>
                  <a:noFill/>
                </a:ln>
                <a:solidFill>
                  <a:schemeClr val="dk1"/>
                </a:solidFill>
                <a:effectLst/>
                <a:latin typeface="Calibri" pitchFamily="34" charset="0"/>
                <a:cs typeface="Calibri" pitchFamily="34" charset="0"/>
              </a:rPr>
              <a:t>KeyPad</a:t>
            </a:r>
            <a:br>
              <a:rPr kumimoji="0" lang="en-US" sz="2800" b="0" i="0" u="none" strike="noStrike" cap="none" normalizeH="0" baseline="0" smtClean="0">
                <a:ln>
                  <a:noFill/>
                </a:ln>
                <a:solidFill>
                  <a:schemeClr val="dk1"/>
                </a:solidFill>
                <a:effectLst/>
                <a:latin typeface="Calibri" pitchFamily="34" charset="0"/>
                <a:cs typeface="Calibri" pitchFamily="34" charset="0"/>
              </a:rPr>
            </a:br>
            <a:r>
              <a:rPr kumimoji="0" lang="en-US" sz="2000" b="0" i="0" u="none" strike="noStrike" cap="none" normalizeH="0" baseline="0" smtClean="0">
                <a:ln>
                  <a:noFill/>
                </a:ln>
                <a:solidFill>
                  <a:schemeClr val="dk1"/>
                </a:solidFill>
                <a:effectLst/>
                <a:latin typeface="Calibri" pitchFamily="34" charset="0"/>
                <a:cs typeface="Calibri" pitchFamily="34" charset="0"/>
              </a:rPr>
              <a:t>(10 Hz)</a:t>
            </a:r>
            <a:endParaRPr kumimoji="0" lang="en-US" sz="2000" b="0" i="0" u="none" strike="noStrike" cap="none" normalizeH="0" baseline="0" dirty="0" smtClean="0">
              <a:ln>
                <a:noFill/>
              </a:ln>
              <a:solidFill>
                <a:schemeClr val="dk1"/>
              </a:solidFill>
              <a:effectLst/>
              <a:latin typeface="Calibri" pitchFamily="34" charset="0"/>
              <a:cs typeface="Calibri" pitchFamily="34" charset="0"/>
            </a:endParaRPr>
          </a:p>
        </p:txBody>
      </p:sp>
      <p:cxnSp>
        <p:nvCxnSpPr>
          <p:cNvPr id="6" name="Straight Arrow Connector 5"/>
          <p:cNvCxnSpPr>
            <a:endCxn id="3" idx="1"/>
          </p:cNvCxnSpPr>
          <p:nvPr/>
        </p:nvCxnSpPr>
        <p:spPr bwMode="auto">
          <a:xfrm>
            <a:off x="228600" y="1866900"/>
            <a:ext cx="533400" cy="0"/>
          </a:xfrm>
          <a:prstGeom prst="straightConnector1">
            <a:avLst/>
          </a:prstGeom>
          <a:solidFill>
            <a:schemeClr val="accent1"/>
          </a:solidFill>
          <a:ln w="28575" cap="flat" cmpd="sng" algn="ctr">
            <a:solidFill>
              <a:schemeClr val="accent4">
                <a:lumMod val="75000"/>
              </a:schemeClr>
            </a:solidFill>
            <a:prstDash val="solid"/>
            <a:round/>
            <a:headEnd type="none" w="med" len="med"/>
            <a:tailEnd type="triangle" w="med" len="med"/>
          </a:ln>
          <a:effectLst/>
        </p:spPr>
      </p:cxnSp>
      <p:cxnSp>
        <p:nvCxnSpPr>
          <p:cNvPr id="11" name="Straight Arrow Connector 10"/>
          <p:cNvCxnSpPr/>
          <p:nvPr/>
        </p:nvCxnSpPr>
        <p:spPr bwMode="auto">
          <a:xfrm>
            <a:off x="2209800" y="1873101"/>
            <a:ext cx="533400" cy="0"/>
          </a:xfrm>
          <a:prstGeom prst="straightConnector1">
            <a:avLst/>
          </a:prstGeom>
          <a:solidFill>
            <a:schemeClr val="accent1"/>
          </a:solidFill>
          <a:ln w="28575" cap="flat" cmpd="sng" algn="ctr">
            <a:solidFill>
              <a:schemeClr val="accent4">
                <a:lumMod val="75000"/>
              </a:schemeClr>
            </a:solidFill>
            <a:prstDash val="solid"/>
            <a:round/>
            <a:headEnd type="none" w="med" len="med"/>
            <a:tailEnd type="triangle" w="med" len="med"/>
          </a:ln>
          <a:effectLst/>
        </p:spPr>
      </p:cxnSp>
      <p:cxnSp>
        <p:nvCxnSpPr>
          <p:cNvPr id="12" name="Straight Arrow Connector 11"/>
          <p:cNvCxnSpPr/>
          <p:nvPr/>
        </p:nvCxnSpPr>
        <p:spPr bwMode="auto">
          <a:xfrm>
            <a:off x="228600" y="2819400"/>
            <a:ext cx="533400" cy="0"/>
          </a:xfrm>
          <a:prstGeom prst="straightConnector1">
            <a:avLst/>
          </a:prstGeom>
          <a:solidFill>
            <a:schemeClr val="accent1"/>
          </a:solidFill>
          <a:ln w="28575" cap="flat" cmpd="sng" algn="ctr">
            <a:solidFill>
              <a:schemeClr val="accent4">
                <a:lumMod val="75000"/>
              </a:schemeClr>
            </a:solidFill>
            <a:prstDash val="solid"/>
            <a:round/>
            <a:headEnd type="none" w="med" len="med"/>
            <a:tailEnd type="triangle" w="med" len="med"/>
          </a:ln>
          <a:effectLst/>
        </p:spPr>
      </p:cxnSp>
      <p:cxnSp>
        <p:nvCxnSpPr>
          <p:cNvPr id="13" name="Straight Arrow Connector 12"/>
          <p:cNvCxnSpPr/>
          <p:nvPr/>
        </p:nvCxnSpPr>
        <p:spPr bwMode="auto">
          <a:xfrm>
            <a:off x="2209800" y="2819400"/>
            <a:ext cx="533400" cy="0"/>
          </a:xfrm>
          <a:prstGeom prst="straightConnector1">
            <a:avLst/>
          </a:prstGeom>
          <a:solidFill>
            <a:schemeClr val="accent1"/>
          </a:solidFill>
          <a:ln w="28575" cap="flat" cmpd="sng" algn="ctr">
            <a:solidFill>
              <a:schemeClr val="accent4">
                <a:lumMod val="75000"/>
              </a:schemeClr>
            </a:solidFill>
            <a:prstDash val="solid"/>
            <a:round/>
            <a:headEnd type="none" w="med" len="med"/>
            <a:tailEnd type="triangle" w="med" len="med"/>
          </a:ln>
          <a:effectLst/>
        </p:spPr>
      </p:cxnSp>
      <p:sp>
        <p:nvSpPr>
          <p:cNvPr id="18" name="Rectangle 17"/>
          <p:cNvSpPr/>
          <p:nvPr/>
        </p:nvSpPr>
        <p:spPr bwMode="auto">
          <a:xfrm>
            <a:off x="3048000" y="990600"/>
            <a:ext cx="5562600" cy="1319120"/>
          </a:xfrm>
          <a:prstGeom prst="rect">
            <a:avLst/>
          </a:prstGeom>
          <a:solidFill>
            <a:schemeClr val="accent4">
              <a:lumMod val="20000"/>
              <a:lumOff val="80000"/>
            </a:schemeClr>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lvl="0"/>
            <a:r>
              <a:rPr lang="en-US" sz="3200" dirty="0" smtClean="0">
                <a:solidFill>
                  <a:schemeClr val="tx2"/>
                </a:solidFill>
                <a:latin typeface="Calibri" pitchFamily="34" charset="0"/>
                <a:cs typeface="Calibri" pitchFamily="34" charset="0"/>
              </a:rPr>
              <a:t>Problem Definition</a:t>
            </a:r>
            <a:r>
              <a:rPr lang="en-US" sz="3200" b="0" dirty="0" smtClean="0">
                <a:solidFill>
                  <a:srgbClr val="000000"/>
                </a:solidFill>
                <a:latin typeface="Calibri" pitchFamily="34" charset="0"/>
                <a:cs typeface="Calibri" pitchFamily="34" charset="0"/>
              </a:rPr>
              <a:t>: you have two different threads that need to be serviced independently</a:t>
            </a:r>
            <a:endParaRPr lang="en-US" sz="3200" b="0" dirty="0">
              <a:solidFill>
                <a:srgbClr val="000000"/>
              </a:solidFill>
              <a:latin typeface="Calibri" pitchFamily="34" charset="0"/>
              <a:cs typeface="Calibri" pitchFamily="34" charset="0"/>
            </a:endParaRPr>
          </a:p>
        </p:txBody>
      </p:sp>
      <p:sp>
        <p:nvSpPr>
          <p:cNvPr id="19" name="TextBox 18"/>
          <p:cNvSpPr txBox="1"/>
          <p:nvPr/>
        </p:nvSpPr>
        <p:spPr>
          <a:xfrm>
            <a:off x="3050486" y="2524542"/>
            <a:ext cx="5941114" cy="2123658"/>
          </a:xfrm>
          <a:prstGeom prst="rect">
            <a:avLst/>
          </a:prstGeom>
          <a:noFill/>
        </p:spPr>
        <p:txBody>
          <a:bodyPr wrap="none" rtlCol="0" anchor="ctr" anchorCtr="0">
            <a:spAutoFit/>
          </a:bodyPr>
          <a:lstStyle/>
          <a:p>
            <a:pPr marL="342900" indent="-342900">
              <a:spcBef>
                <a:spcPts val="1200"/>
              </a:spcBef>
              <a:buClr>
                <a:schemeClr val="tx2"/>
              </a:buClr>
              <a:buSzPct val="75000"/>
              <a:buFont typeface="Wingdings"/>
              <a:buChar char=""/>
            </a:pPr>
            <a:r>
              <a:rPr lang="en-US" sz="2800" b="0" dirty="0" smtClean="0">
                <a:solidFill>
                  <a:schemeClr val="dk1"/>
                </a:solidFill>
                <a:latin typeface="Calibri" pitchFamily="34" charset="0"/>
                <a:cs typeface="Calibri" pitchFamily="34" charset="0"/>
              </a:rPr>
              <a:t>Will one routine conflict</a:t>
            </a:r>
            <a:br>
              <a:rPr lang="en-US" sz="2800" b="0" dirty="0" smtClean="0">
                <a:solidFill>
                  <a:schemeClr val="dk1"/>
                </a:solidFill>
                <a:latin typeface="Calibri" pitchFamily="34" charset="0"/>
                <a:cs typeface="Calibri" pitchFamily="34" charset="0"/>
              </a:rPr>
            </a:br>
            <a:r>
              <a:rPr lang="en-US" sz="2800" b="0" dirty="0" smtClean="0">
                <a:solidFill>
                  <a:schemeClr val="dk1"/>
                </a:solidFill>
                <a:latin typeface="Calibri" pitchFamily="34" charset="0"/>
                <a:cs typeface="Calibri" pitchFamily="34" charset="0"/>
              </a:rPr>
              <a:t>with the other?</a:t>
            </a:r>
          </a:p>
          <a:p>
            <a:pPr marL="342900" indent="-342900">
              <a:spcBef>
                <a:spcPts val="1200"/>
              </a:spcBef>
              <a:buClr>
                <a:schemeClr val="tx2"/>
              </a:buClr>
              <a:buSzPct val="75000"/>
              <a:buFont typeface="Wingdings"/>
              <a:buChar char=""/>
            </a:pPr>
            <a:r>
              <a:rPr lang="en-US" sz="2800" b="0" dirty="0" smtClean="0">
                <a:solidFill>
                  <a:schemeClr val="dk1"/>
                </a:solidFill>
                <a:latin typeface="Calibri" pitchFamily="34" charset="0"/>
                <a:cs typeface="Calibri" pitchFamily="34" charset="0"/>
              </a:rPr>
              <a:t>How </a:t>
            </a:r>
            <a:r>
              <a:rPr lang="en-US" sz="2800" b="0" dirty="0">
                <a:solidFill>
                  <a:schemeClr val="dk1"/>
                </a:solidFill>
                <a:latin typeface="Calibri" pitchFamily="34" charset="0"/>
                <a:cs typeface="Calibri" pitchFamily="34" charset="0"/>
              </a:rPr>
              <a:t>do you SCHEDULE each thread?</a:t>
            </a:r>
          </a:p>
          <a:p>
            <a:pPr marL="342900" indent="-342900">
              <a:spcBef>
                <a:spcPts val="1200"/>
              </a:spcBef>
              <a:buClr>
                <a:schemeClr val="tx2"/>
              </a:buClr>
              <a:buSzPct val="75000"/>
              <a:buFont typeface="Wingdings"/>
              <a:buChar char=""/>
            </a:pPr>
            <a:r>
              <a:rPr lang="en-US" sz="2800" b="0" dirty="0" smtClean="0">
                <a:solidFill>
                  <a:schemeClr val="dk1"/>
                </a:solidFill>
                <a:effectLst/>
                <a:latin typeface="Calibri" pitchFamily="34" charset="0"/>
                <a:cs typeface="Calibri" pitchFamily="34" charset="0"/>
              </a:rPr>
              <a:t>Is one “thread” higher PRIORITY than</a:t>
            </a:r>
            <a:br>
              <a:rPr lang="en-US" sz="2800" b="0" dirty="0" smtClean="0">
                <a:solidFill>
                  <a:schemeClr val="dk1"/>
                </a:solidFill>
                <a:effectLst/>
                <a:latin typeface="Calibri" pitchFamily="34" charset="0"/>
                <a:cs typeface="Calibri" pitchFamily="34" charset="0"/>
              </a:rPr>
            </a:br>
            <a:r>
              <a:rPr lang="en-US" sz="2800" b="0" dirty="0" smtClean="0">
                <a:solidFill>
                  <a:schemeClr val="dk1"/>
                </a:solidFill>
                <a:effectLst/>
                <a:latin typeface="Calibri" pitchFamily="34" charset="0"/>
                <a:cs typeface="Calibri" pitchFamily="34" charset="0"/>
              </a:rPr>
              <a:t>the other?</a:t>
            </a:r>
          </a:p>
        </p:txBody>
      </p:sp>
      <p:sp>
        <p:nvSpPr>
          <p:cNvPr id="20" name="Leading Question"/>
          <p:cNvSpPr txBox="1"/>
          <p:nvPr/>
        </p:nvSpPr>
        <p:spPr>
          <a:xfrm>
            <a:off x="378023" y="5382601"/>
            <a:ext cx="8472320" cy="332399"/>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ctr">
              <a:lnSpc>
                <a:spcPct val="90000"/>
              </a:lnSpc>
              <a:spcBef>
                <a:spcPct val="0"/>
              </a:spcBef>
            </a:pPr>
            <a:r>
              <a:rPr lang="en-US" b="0" dirty="0" smtClean="0">
                <a:solidFill>
                  <a:schemeClr val="tx2"/>
                </a:solidFill>
                <a:effectLst/>
                <a:latin typeface="Arial Narrow"/>
              </a:rPr>
              <a:t>Let’s explore a few options we can use to SCHEDULE these two threads… </a:t>
            </a:r>
          </a:p>
        </p:txBody>
      </p:sp>
      <p:pic>
        <p:nvPicPr>
          <p:cNvPr id="21"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Tree>
    <p:custDataLst>
      <p:tags r:id="rId1"/>
    </p:custDataLst>
    <p:extLst>
      <p:ext uri="{BB962C8B-B14F-4D97-AF65-F5344CB8AC3E}">
        <p14:creationId xmlns:p14="http://schemas.microsoft.com/office/powerpoint/2010/main" val="23057522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533400" y="1219200"/>
            <a:ext cx="5105400" cy="4324922"/>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2"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13" action="ppaction://hlinksldjump"/>
          </p:cNvPr>
          <p:cNvSpPr txBox="1">
            <a:spLocks noChangeArrowheads="1"/>
          </p:cNvSpPr>
          <p:nvPr>
            <p:custDataLst>
              <p:tags r:id="rId2"/>
            </p:custDataLst>
          </p:nvPr>
        </p:nvSpPr>
        <p:spPr bwMode="auto">
          <a:xfrm>
            <a:off x="538802" y="137289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What is the TI-RTOS Kernel?</a:t>
            </a:r>
            <a:endParaRPr lang="en-US" dirty="0">
              <a:solidFill>
                <a:srgbClr val="000000"/>
              </a:solidFill>
            </a:endParaRPr>
          </a:p>
        </p:txBody>
      </p:sp>
      <p:sp>
        <p:nvSpPr>
          <p:cNvPr id="10" name="Text Box 4">
            <a:hlinkClick r:id="rId14" action="ppaction://hlinksldjump"/>
          </p:cNvPr>
          <p:cNvSpPr txBox="1">
            <a:spLocks noChangeArrowheads="1"/>
          </p:cNvSpPr>
          <p:nvPr>
            <p:custDataLst>
              <p:tags r:id="rId3"/>
            </p:custDataLst>
          </p:nvPr>
        </p:nvSpPr>
        <p:spPr bwMode="auto">
          <a:xfrm>
            <a:off x="538802" y="182520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Scheduler</a:t>
            </a:r>
            <a:endParaRPr lang="en-US" dirty="0">
              <a:solidFill>
                <a:srgbClr val="000000"/>
              </a:solidFill>
            </a:endParaRPr>
          </a:p>
        </p:txBody>
      </p:sp>
      <p:sp>
        <p:nvSpPr>
          <p:cNvPr id="11" name="Text Box 6">
            <a:hlinkClick r:id="rId15" action="ppaction://hlinksldjump"/>
          </p:cNvPr>
          <p:cNvSpPr txBox="1">
            <a:spLocks noChangeArrowheads="1"/>
          </p:cNvSpPr>
          <p:nvPr>
            <p:custDataLst>
              <p:tags r:id="rId4"/>
            </p:custDataLst>
          </p:nvPr>
        </p:nvSpPr>
        <p:spPr bwMode="auto">
          <a:xfrm>
            <a:off x="1047750" y="2234443"/>
            <a:ext cx="4667250" cy="313932"/>
          </a:xfrm>
          <a:prstGeom prst="rect">
            <a:avLst/>
          </a:prstGeom>
          <a:noFill/>
          <a:ln w="12700">
            <a:noFill/>
            <a:miter lim="800000"/>
            <a:headEnd type="none" w="sm" len="sm"/>
            <a:tailEnd type="none" w="sm" len="sm"/>
          </a:ln>
        </p:spPr>
        <p:txBody>
          <a:bodyPr tIns="18288" bIns="18288"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000" smtClean="0">
                <a:solidFill>
                  <a:srgbClr val="000000"/>
                </a:solidFill>
              </a:rPr>
              <a:t>Problem</a:t>
            </a:r>
            <a:endParaRPr lang="en-US" sz="2000" dirty="0">
              <a:solidFill>
                <a:srgbClr val="000000"/>
              </a:solidFill>
            </a:endParaRPr>
          </a:p>
        </p:txBody>
      </p:sp>
      <p:sp>
        <p:nvSpPr>
          <p:cNvPr id="12" name="Text Box 5">
            <a:hlinkClick r:id="rId16" action="ppaction://hlinksldjump"/>
          </p:cNvPr>
          <p:cNvSpPr txBox="1">
            <a:spLocks noChangeArrowheads="1"/>
          </p:cNvSpPr>
          <p:nvPr>
            <p:custDataLst>
              <p:tags r:id="rId5"/>
            </p:custDataLst>
          </p:nvPr>
        </p:nvSpPr>
        <p:spPr bwMode="auto">
          <a:xfrm>
            <a:off x="1051873" y="2591555"/>
            <a:ext cx="4053527" cy="369332"/>
          </a:xfrm>
          <a:prstGeom prst="rect">
            <a:avLst/>
          </a:prstGeom>
          <a:solidFill>
            <a:schemeClr val="bg1"/>
          </a:solidFill>
          <a:ln w="19050">
            <a:solidFill>
              <a:schemeClr val="tx1"/>
            </a:solidFill>
            <a:miter lim="800000"/>
            <a:headEnd type="none" w="sm" len="sm"/>
            <a:tailEnd type="none" w="sm" len="sm"/>
          </a:ln>
        </p:spPr>
        <p:txBody>
          <a:bodyPr wrap="square"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000" smtClean="0">
                <a:solidFill>
                  <a:srgbClr val="000000"/>
                </a:solidFill>
              </a:rPr>
              <a:t>Solutions</a:t>
            </a:r>
            <a:endParaRPr lang="en-US" sz="2000" dirty="0">
              <a:solidFill>
                <a:srgbClr val="000000"/>
              </a:solidFill>
            </a:endParaRPr>
          </a:p>
        </p:txBody>
      </p:sp>
      <p:sp>
        <p:nvSpPr>
          <p:cNvPr id="13" name="Text Box 4">
            <a:hlinkClick r:id="rId17" action="ppaction://hlinksldjump"/>
          </p:cNvPr>
          <p:cNvSpPr txBox="1">
            <a:spLocks noChangeArrowheads="1"/>
          </p:cNvSpPr>
          <p:nvPr>
            <p:custDataLst>
              <p:tags r:id="rId6"/>
            </p:custDataLst>
          </p:nvPr>
        </p:nvSpPr>
        <p:spPr bwMode="auto">
          <a:xfrm>
            <a:off x="538802" y="3097944"/>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Adding Tasks…</a:t>
            </a:r>
            <a:endParaRPr lang="en-US" dirty="0">
              <a:solidFill>
                <a:srgbClr val="000000"/>
              </a:solidFill>
            </a:endParaRPr>
          </a:p>
        </p:txBody>
      </p:sp>
      <p:sp>
        <p:nvSpPr>
          <p:cNvPr id="14" name="Text Box 4">
            <a:hlinkClick r:id="rId18" action="ppaction://hlinksldjump"/>
          </p:cNvPr>
          <p:cNvSpPr txBox="1">
            <a:spLocks noChangeArrowheads="1"/>
          </p:cNvSpPr>
          <p:nvPr>
            <p:custDataLst>
              <p:tags r:id="rId7"/>
            </p:custDataLst>
          </p:nvPr>
        </p:nvSpPr>
        <p:spPr bwMode="auto">
          <a:xfrm>
            <a:off x="538802" y="3550258"/>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Environment</a:t>
            </a:r>
            <a:endParaRPr lang="en-US" dirty="0">
              <a:solidFill>
                <a:srgbClr val="000000"/>
              </a:solidFill>
            </a:endParaRPr>
          </a:p>
        </p:txBody>
      </p:sp>
      <p:sp>
        <p:nvSpPr>
          <p:cNvPr id="15" name="Text Box 4">
            <a:hlinkClick r:id="rId19" action="ppaction://hlinksldjump"/>
          </p:cNvPr>
          <p:cNvSpPr txBox="1">
            <a:spLocks noChangeArrowheads="1"/>
          </p:cNvSpPr>
          <p:nvPr>
            <p:custDataLst>
              <p:tags r:id="rId8"/>
            </p:custDataLst>
          </p:nvPr>
        </p:nvSpPr>
        <p:spPr bwMode="auto">
          <a:xfrm>
            <a:off x="538802" y="400257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Debugging Tools</a:t>
            </a:r>
            <a:endParaRPr lang="en-US" dirty="0">
              <a:solidFill>
                <a:srgbClr val="000000"/>
              </a:solidFill>
            </a:endParaRPr>
          </a:p>
        </p:txBody>
      </p:sp>
      <p:sp>
        <p:nvSpPr>
          <p:cNvPr id="16" name="Text Box 4">
            <a:hlinkClick r:id="rId20" action="ppaction://hlinksldjump"/>
          </p:cNvPr>
          <p:cNvSpPr txBox="1">
            <a:spLocks noChangeArrowheads="1"/>
          </p:cNvSpPr>
          <p:nvPr>
            <p:custDataLst>
              <p:tags r:id="rId9"/>
            </p:custDataLst>
          </p:nvPr>
        </p:nvSpPr>
        <p:spPr bwMode="auto">
          <a:xfrm>
            <a:off x="538802" y="445488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For More Info…</a:t>
            </a:r>
            <a:endParaRPr lang="en-US" dirty="0">
              <a:solidFill>
                <a:srgbClr val="000000"/>
              </a:solidFill>
            </a:endParaRPr>
          </a:p>
        </p:txBody>
      </p:sp>
      <p:sp>
        <p:nvSpPr>
          <p:cNvPr id="17" name="Text Box 4">
            <a:hlinkClick r:id="rId21" action="ppaction://hlinksldjump"/>
          </p:cNvPr>
          <p:cNvSpPr txBox="1">
            <a:spLocks noChangeArrowheads="1"/>
          </p:cNvSpPr>
          <p:nvPr>
            <p:custDataLst>
              <p:tags r:id="rId10"/>
            </p:custDataLst>
          </p:nvPr>
        </p:nvSpPr>
        <p:spPr bwMode="auto">
          <a:xfrm>
            <a:off x="538802" y="4907200"/>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Chapter Quiz</a:t>
            </a:r>
            <a:endParaRPr lang="en-US" dirty="0">
              <a:solidFill>
                <a:srgbClr val="000000"/>
              </a:solidFill>
            </a:endParaRPr>
          </a:p>
        </p:txBody>
      </p:sp>
    </p:spTree>
    <p:custDataLst>
      <p:tags r:id="rId1"/>
    </p:custDataLst>
    <p:extLst>
      <p:ext uri="{BB962C8B-B14F-4D97-AF65-F5344CB8AC3E}">
        <p14:creationId xmlns:p14="http://schemas.microsoft.com/office/powerpoint/2010/main" val="2769496784"/>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4"/>
          <p:cNvSpPr>
            <a:spLocks noGrp="1" noChangeArrowheads="1"/>
          </p:cNvSpPr>
          <p:nvPr>
            <p:ph type="title"/>
          </p:nvPr>
        </p:nvSpPr>
        <p:spPr/>
        <p:txBody>
          <a:bodyPr/>
          <a:lstStyle/>
          <a:p>
            <a:r>
              <a:rPr lang="en-US" dirty="0" smtClean="0"/>
              <a:t>Solution #1 – Super Loop</a:t>
            </a:r>
          </a:p>
        </p:txBody>
      </p:sp>
      <p:sp>
        <p:nvSpPr>
          <p:cNvPr id="6" name="Rounded Rectangle 5"/>
          <p:cNvSpPr/>
          <p:nvPr/>
        </p:nvSpPr>
        <p:spPr bwMode="auto">
          <a:xfrm>
            <a:off x="228600" y="990600"/>
            <a:ext cx="2362200" cy="3886200"/>
          </a:xfrm>
          <a:prstGeom prst="roundRect">
            <a:avLst/>
          </a:prstGeom>
          <a:solidFill>
            <a:schemeClr val="bg1">
              <a:lumMod val="95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ts val="600"/>
              </a:spcBef>
              <a:spcAft>
                <a:spcPct val="0"/>
              </a:spcAft>
              <a:buClrTx/>
              <a:buSzTx/>
              <a:buFontTx/>
              <a:buNone/>
              <a:tabLst/>
            </a:pPr>
            <a:r>
              <a:rPr lang="en-US" b="0" dirty="0">
                <a:solidFill>
                  <a:schemeClr val="dk1"/>
                </a:solidFill>
                <a:latin typeface="Courier New" pitchFamily="49" charset="0"/>
                <a:cs typeface="Courier New" pitchFamily="49" charset="0"/>
              </a:rPr>
              <a:t>m</a:t>
            </a:r>
            <a:r>
              <a:rPr kumimoji="0" lang="en-US" b="0" i="0" u="none" strike="noStrike" cap="none" normalizeH="0" baseline="0" dirty="0" smtClean="0">
                <a:ln>
                  <a:noFill/>
                </a:ln>
                <a:solidFill>
                  <a:schemeClr val="dk1"/>
                </a:solidFill>
                <a:effectLst/>
                <a:latin typeface="Courier New" pitchFamily="49" charset="0"/>
                <a:cs typeface="Courier New" pitchFamily="49" charset="0"/>
              </a:rPr>
              <a:t>ain()</a:t>
            </a:r>
          </a:p>
          <a:p>
            <a:pPr marL="0" marR="0" indent="0" algn="l" defTabSz="914400" rtl="0" eaLnBrk="0" fontAlgn="base" latinLnBrk="0" hangingPunct="0">
              <a:lnSpc>
                <a:spcPct val="80000"/>
              </a:lnSpc>
              <a:spcBef>
                <a:spcPts val="600"/>
              </a:spcBef>
              <a:spcAft>
                <a:spcPct val="0"/>
              </a:spcAft>
              <a:buClrTx/>
              <a:buSzTx/>
              <a:buFontTx/>
              <a:buNone/>
              <a:tabLst/>
            </a:pPr>
            <a:r>
              <a:rPr lang="en-US" b="0" dirty="0" smtClean="0">
                <a:solidFill>
                  <a:schemeClr val="dk1"/>
                </a:solidFill>
                <a:latin typeface="Courier New" pitchFamily="49" charset="0"/>
                <a:cs typeface="Courier New" pitchFamily="49" charset="0"/>
              </a:rPr>
              <a:t>{</a:t>
            </a:r>
          </a:p>
          <a:p>
            <a:pPr marL="0" marR="0" indent="0" algn="l" defTabSz="914400" rtl="0" eaLnBrk="0" fontAlgn="base" latinLnBrk="0" hangingPunct="0">
              <a:lnSpc>
                <a:spcPct val="80000"/>
              </a:lnSpc>
              <a:spcBef>
                <a:spcPts val="600"/>
              </a:spcBef>
              <a:spcAft>
                <a:spcPct val="0"/>
              </a:spcAft>
              <a:buClrTx/>
              <a:buSzTx/>
              <a:buFontTx/>
              <a:buNone/>
              <a:tabLst/>
            </a:pPr>
            <a:r>
              <a:rPr lang="en-US" b="0" dirty="0" smtClean="0">
                <a:solidFill>
                  <a:schemeClr val="dk1"/>
                </a:solidFill>
                <a:latin typeface="Courier New" pitchFamily="49" charset="0"/>
                <a:cs typeface="Courier New" pitchFamily="49" charset="0"/>
              </a:rPr>
              <a:t>  while(1)</a:t>
            </a:r>
          </a:p>
          <a:p>
            <a:pPr marL="0" marR="0" indent="0" algn="l" defTabSz="914400" rtl="0" eaLnBrk="0" fontAlgn="base" latinLnBrk="0" hangingPunct="0">
              <a:lnSpc>
                <a:spcPct val="80000"/>
              </a:lnSpc>
              <a:spcBef>
                <a:spcPts val="600"/>
              </a:spcBef>
              <a:spcAft>
                <a:spcPct val="0"/>
              </a:spcAft>
              <a:buClrTx/>
              <a:buSzTx/>
              <a:buFontTx/>
              <a:buNone/>
              <a:tabLst/>
            </a:pPr>
            <a:r>
              <a:rPr lang="en-US" b="0" dirty="0">
                <a:solidFill>
                  <a:schemeClr val="dk1"/>
                </a:solidFill>
                <a:latin typeface="Courier New" pitchFamily="49" charset="0"/>
                <a:cs typeface="Courier New" pitchFamily="49" charset="0"/>
              </a:rPr>
              <a:t> </a:t>
            </a:r>
            <a:r>
              <a:rPr lang="en-US" b="0" dirty="0" smtClean="0">
                <a:solidFill>
                  <a:schemeClr val="dk1"/>
                </a:solidFill>
                <a:latin typeface="Courier New" pitchFamily="49" charset="0"/>
                <a:cs typeface="Courier New" pitchFamily="49" charset="0"/>
              </a:rPr>
              <a:t> {</a:t>
            </a:r>
          </a:p>
          <a:p>
            <a:pPr marL="0" marR="0" indent="0" algn="l" defTabSz="914400" rtl="0" eaLnBrk="0" fontAlgn="base" latinLnBrk="0" hangingPunct="0">
              <a:lnSpc>
                <a:spcPct val="80000"/>
              </a:lnSpc>
              <a:spcBef>
                <a:spcPts val="600"/>
              </a:spcBef>
              <a:spcAft>
                <a:spcPct val="0"/>
              </a:spcAft>
              <a:buClrTx/>
              <a:buSzTx/>
              <a:buFontTx/>
              <a:buNone/>
              <a:tabLst/>
            </a:pPr>
            <a:endParaRPr lang="en-US" b="0" dirty="0">
              <a:solidFill>
                <a:schemeClr val="dk1"/>
              </a:solidFill>
              <a:latin typeface="Courier New" pitchFamily="49" charset="0"/>
              <a:cs typeface="Courier New" pitchFamily="49" charset="0"/>
            </a:endParaRPr>
          </a:p>
          <a:p>
            <a:pPr marL="0" marR="0" indent="0" algn="l" defTabSz="914400" rtl="0" eaLnBrk="0" fontAlgn="base" latinLnBrk="0" hangingPunct="0">
              <a:lnSpc>
                <a:spcPct val="80000"/>
              </a:lnSpc>
              <a:spcBef>
                <a:spcPts val="600"/>
              </a:spcBef>
              <a:spcAft>
                <a:spcPct val="0"/>
              </a:spcAft>
              <a:buClrTx/>
              <a:buSzTx/>
              <a:buFontTx/>
              <a:buNone/>
              <a:tabLst/>
            </a:pPr>
            <a:endParaRPr lang="en-US" b="0" dirty="0" smtClean="0">
              <a:solidFill>
                <a:schemeClr val="dk1"/>
              </a:solidFill>
              <a:latin typeface="Courier New" pitchFamily="49" charset="0"/>
              <a:cs typeface="Courier New" pitchFamily="49" charset="0"/>
            </a:endParaRPr>
          </a:p>
          <a:p>
            <a:pPr marL="0" marR="0" indent="0" algn="l" defTabSz="914400" rtl="0" eaLnBrk="0" fontAlgn="base" latinLnBrk="0" hangingPunct="0">
              <a:lnSpc>
                <a:spcPct val="80000"/>
              </a:lnSpc>
              <a:spcBef>
                <a:spcPts val="600"/>
              </a:spcBef>
              <a:spcAft>
                <a:spcPct val="0"/>
              </a:spcAft>
              <a:buClrTx/>
              <a:buSzTx/>
              <a:buFontTx/>
              <a:buNone/>
              <a:tabLst/>
            </a:pPr>
            <a:endParaRPr lang="en-US" b="0" dirty="0">
              <a:solidFill>
                <a:schemeClr val="dk1"/>
              </a:solidFill>
              <a:latin typeface="Courier New" pitchFamily="49" charset="0"/>
              <a:cs typeface="Courier New" pitchFamily="49" charset="0"/>
            </a:endParaRPr>
          </a:p>
          <a:p>
            <a:pPr marL="0" marR="0" indent="0" algn="l" defTabSz="914400" rtl="0" eaLnBrk="0" fontAlgn="base" latinLnBrk="0" hangingPunct="0">
              <a:lnSpc>
                <a:spcPct val="80000"/>
              </a:lnSpc>
              <a:spcBef>
                <a:spcPts val="600"/>
              </a:spcBef>
              <a:spcAft>
                <a:spcPct val="0"/>
              </a:spcAft>
              <a:buClrTx/>
              <a:buSzTx/>
              <a:buFontTx/>
              <a:buNone/>
              <a:tabLst/>
            </a:pPr>
            <a:r>
              <a:rPr lang="en-US" b="0" dirty="0" smtClean="0">
                <a:solidFill>
                  <a:schemeClr val="dk1"/>
                </a:solidFill>
                <a:latin typeface="Courier New" pitchFamily="49" charset="0"/>
                <a:cs typeface="Courier New" pitchFamily="49" charset="0"/>
              </a:rPr>
              <a:t>  </a:t>
            </a:r>
          </a:p>
          <a:p>
            <a:pPr marL="0" marR="0" indent="0" algn="l" defTabSz="914400" rtl="0" eaLnBrk="0" fontAlgn="base" latinLnBrk="0" hangingPunct="0">
              <a:lnSpc>
                <a:spcPct val="80000"/>
              </a:lnSpc>
              <a:spcBef>
                <a:spcPts val="600"/>
              </a:spcBef>
              <a:spcAft>
                <a:spcPct val="0"/>
              </a:spcAft>
              <a:buClrTx/>
              <a:buSzTx/>
              <a:buFontTx/>
              <a:buNone/>
              <a:tabLst/>
            </a:pPr>
            <a:r>
              <a:rPr lang="en-US" b="0" dirty="0">
                <a:solidFill>
                  <a:schemeClr val="dk1"/>
                </a:solidFill>
                <a:latin typeface="Courier New" pitchFamily="49" charset="0"/>
                <a:cs typeface="Courier New" pitchFamily="49" charset="0"/>
              </a:rPr>
              <a:t> </a:t>
            </a:r>
            <a:r>
              <a:rPr lang="en-US" b="0" dirty="0" smtClean="0">
                <a:solidFill>
                  <a:schemeClr val="dk1"/>
                </a:solidFill>
                <a:latin typeface="Courier New" pitchFamily="49" charset="0"/>
                <a:cs typeface="Courier New" pitchFamily="49" charset="0"/>
              </a:rPr>
              <a:t> }</a:t>
            </a:r>
          </a:p>
          <a:p>
            <a:pPr marL="0" marR="0" indent="0" algn="l" defTabSz="914400" rtl="0" eaLnBrk="0" fontAlgn="base" latinLnBrk="0" hangingPunct="0">
              <a:lnSpc>
                <a:spcPct val="80000"/>
              </a:lnSpc>
              <a:spcBef>
                <a:spcPts val="600"/>
              </a:spcBef>
              <a:spcAft>
                <a:spcPct val="0"/>
              </a:spcAft>
              <a:buClrTx/>
              <a:buSzTx/>
              <a:buFontTx/>
              <a:buNone/>
              <a:tabLst/>
            </a:pPr>
            <a:r>
              <a:rPr lang="en-US" b="0" dirty="0">
                <a:solidFill>
                  <a:schemeClr val="dk1"/>
                </a:solidFill>
                <a:latin typeface="Courier New" pitchFamily="49" charset="0"/>
                <a:cs typeface="Courier New" pitchFamily="49" charset="0"/>
              </a:rPr>
              <a:t>}</a:t>
            </a:r>
            <a:endParaRPr lang="en-US" b="0" dirty="0" smtClean="0">
              <a:solidFill>
                <a:schemeClr val="dk1"/>
              </a:solidFill>
              <a:latin typeface="Courier New" pitchFamily="49" charset="0"/>
              <a:cs typeface="Courier New" pitchFamily="49" charset="0"/>
            </a:endParaRPr>
          </a:p>
          <a:p>
            <a:pPr marL="0" marR="0" indent="0" algn="l" defTabSz="914400" rtl="0" eaLnBrk="0" fontAlgn="base" latinLnBrk="0" hangingPunct="0">
              <a:lnSpc>
                <a:spcPct val="80000"/>
              </a:lnSpc>
              <a:spcBef>
                <a:spcPts val="600"/>
              </a:spcBef>
              <a:spcAft>
                <a:spcPct val="0"/>
              </a:spcAft>
              <a:buClrTx/>
              <a:buSzTx/>
              <a:buFontTx/>
              <a:buNone/>
              <a:tabLst/>
            </a:pPr>
            <a:endParaRPr lang="en-US" b="0" dirty="0">
              <a:solidFill>
                <a:schemeClr val="dk1"/>
              </a:solidFill>
              <a:latin typeface="Courier New" pitchFamily="49" charset="0"/>
              <a:cs typeface="Courier New" pitchFamily="49" charset="0"/>
            </a:endParaRPr>
          </a:p>
          <a:p>
            <a:pPr marL="0" marR="0" indent="0" algn="l" defTabSz="914400" rtl="0" eaLnBrk="0" fontAlgn="base" latinLnBrk="0" hangingPunct="0">
              <a:lnSpc>
                <a:spcPct val="80000"/>
              </a:lnSpc>
              <a:spcBef>
                <a:spcPts val="600"/>
              </a:spcBef>
              <a:spcAft>
                <a:spcPct val="0"/>
              </a:spcAft>
              <a:buClrTx/>
              <a:buSzTx/>
              <a:buFontTx/>
              <a:buNone/>
              <a:tabLst/>
            </a:pPr>
            <a:endParaRPr lang="en-US" b="0" dirty="0" smtClean="0">
              <a:solidFill>
                <a:schemeClr val="dk1"/>
              </a:solidFill>
              <a:latin typeface="Courier New" pitchFamily="49" charset="0"/>
              <a:cs typeface="Courier New" pitchFamily="49" charset="0"/>
            </a:endParaRPr>
          </a:p>
          <a:p>
            <a:pPr marL="0" marR="0" indent="0" algn="l" defTabSz="914400" rtl="0" eaLnBrk="0" fontAlgn="base" latinLnBrk="0" hangingPunct="0">
              <a:lnSpc>
                <a:spcPct val="80000"/>
              </a:lnSpc>
              <a:spcBef>
                <a:spcPts val="600"/>
              </a:spcBef>
              <a:spcAft>
                <a:spcPct val="0"/>
              </a:spcAft>
              <a:buClrTx/>
              <a:buSzTx/>
              <a:buFontTx/>
              <a:buNone/>
              <a:tabLst/>
            </a:pPr>
            <a:endParaRPr lang="en-US" b="0" dirty="0" smtClean="0">
              <a:solidFill>
                <a:schemeClr val="dk1"/>
              </a:solidFill>
              <a:latin typeface="Courier New" pitchFamily="49" charset="0"/>
              <a:cs typeface="Courier New" pitchFamily="49" charset="0"/>
            </a:endParaRPr>
          </a:p>
          <a:p>
            <a:pPr marL="0" marR="0" indent="0" algn="l" defTabSz="914400" rtl="0" eaLnBrk="0" fontAlgn="base" latinLnBrk="0" hangingPunct="0">
              <a:lnSpc>
                <a:spcPct val="80000"/>
              </a:lnSpc>
              <a:spcBef>
                <a:spcPts val="600"/>
              </a:spcBef>
              <a:spcAft>
                <a:spcPct val="0"/>
              </a:spcAft>
              <a:buClrTx/>
              <a:buSzTx/>
              <a:buFontTx/>
              <a:buNone/>
              <a:tabLst/>
            </a:pPr>
            <a:endParaRPr kumimoji="0" lang="en-US" b="0" i="0" u="none" strike="noStrike" cap="none" normalizeH="0" baseline="0" dirty="0" smtClean="0">
              <a:ln>
                <a:noFill/>
              </a:ln>
              <a:solidFill>
                <a:schemeClr val="dk1"/>
              </a:solidFill>
              <a:effectLst/>
              <a:latin typeface="Courier New" pitchFamily="49" charset="0"/>
              <a:cs typeface="Courier New" pitchFamily="49" charset="0"/>
            </a:endParaRPr>
          </a:p>
        </p:txBody>
      </p:sp>
      <p:sp>
        <p:nvSpPr>
          <p:cNvPr id="7" name="Rectangle 6"/>
          <p:cNvSpPr/>
          <p:nvPr/>
        </p:nvSpPr>
        <p:spPr bwMode="auto">
          <a:xfrm>
            <a:off x="1049975" y="2638300"/>
            <a:ext cx="1295400" cy="533400"/>
          </a:xfrm>
          <a:prstGeom prst="rect">
            <a:avLst/>
          </a:prstGeom>
          <a:solidFill>
            <a:schemeClr val="accent5">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dirty="0" smtClean="0">
                <a:ln>
                  <a:noFill/>
                </a:ln>
                <a:solidFill>
                  <a:schemeClr val="dk1"/>
                </a:solidFill>
                <a:effectLst/>
                <a:latin typeface="Calibri" pitchFamily="34" charset="0"/>
                <a:cs typeface="Calibri" pitchFamily="34" charset="0"/>
              </a:rPr>
              <a:t>Audio</a:t>
            </a:r>
          </a:p>
        </p:txBody>
      </p:sp>
      <p:sp>
        <p:nvSpPr>
          <p:cNvPr id="8" name="Rectangle 7"/>
          <p:cNvSpPr/>
          <p:nvPr/>
        </p:nvSpPr>
        <p:spPr bwMode="auto">
          <a:xfrm>
            <a:off x="1049975" y="3362007"/>
            <a:ext cx="1295400" cy="524193"/>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smtClean="0">
                <a:ln>
                  <a:noFill/>
                </a:ln>
                <a:solidFill>
                  <a:schemeClr val="dk1"/>
                </a:solidFill>
                <a:effectLst/>
                <a:latin typeface="Calibri" pitchFamily="34" charset="0"/>
                <a:cs typeface="Calibri" pitchFamily="34" charset="0"/>
              </a:rPr>
              <a:t>KeyPad</a:t>
            </a:r>
            <a:endParaRPr kumimoji="0" lang="en-US" b="0" i="0" u="none" strike="noStrike" cap="none" normalizeH="0" baseline="0" dirty="0" smtClean="0">
              <a:ln>
                <a:noFill/>
              </a:ln>
              <a:solidFill>
                <a:schemeClr val="dk1"/>
              </a:solidFill>
              <a:effectLst/>
              <a:latin typeface="Calibri" pitchFamily="34" charset="0"/>
              <a:cs typeface="Calibri" pitchFamily="34" charset="0"/>
            </a:endParaRPr>
          </a:p>
        </p:txBody>
      </p:sp>
      <p:sp>
        <p:nvSpPr>
          <p:cNvPr id="13" name="Rectangle 12"/>
          <p:cNvSpPr/>
          <p:nvPr/>
        </p:nvSpPr>
        <p:spPr bwMode="auto">
          <a:xfrm>
            <a:off x="3048000" y="1295400"/>
            <a:ext cx="5359400" cy="914400"/>
          </a:xfrm>
          <a:prstGeom prst="rect">
            <a:avLst/>
          </a:prstGeom>
          <a:solidFill>
            <a:schemeClr val="accent4">
              <a:lumMod val="20000"/>
              <a:lumOff val="80000"/>
            </a:schemeClr>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lvl="0"/>
            <a:r>
              <a:rPr lang="en-US" sz="3200" dirty="0" smtClean="0">
                <a:solidFill>
                  <a:schemeClr val="tx2"/>
                </a:solidFill>
                <a:latin typeface="Calibri" pitchFamily="34" charset="0"/>
                <a:cs typeface="Calibri" pitchFamily="34" charset="0"/>
              </a:rPr>
              <a:t>Solution #1</a:t>
            </a:r>
            <a:r>
              <a:rPr lang="en-US" sz="3200" b="0" dirty="0" smtClean="0">
                <a:solidFill>
                  <a:srgbClr val="000000"/>
                </a:solidFill>
                <a:latin typeface="Calibri" pitchFamily="34" charset="0"/>
                <a:cs typeface="Calibri" pitchFamily="34" charset="0"/>
              </a:rPr>
              <a:t> – put each </a:t>
            </a:r>
            <a:r>
              <a:rPr lang="en-US" sz="3200" b="0" dirty="0" err="1" smtClean="0">
                <a:solidFill>
                  <a:srgbClr val="000000"/>
                </a:solidFill>
                <a:latin typeface="Calibri" pitchFamily="34" charset="0"/>
                <a:cs typeface="Calibri" pitchFamily="34" charset="0"/>
              </a:rPr>
              <a:t>algo</a:t>
            </a:r>
            <a:r>
              <a:rPr lang="en-US" sz="3200" b="0" dirty="0" smtClean="0">
                <a:solidFill>
                  <a:srgbClr val="000000"/>
                </a:solidFill>
                <a:latin typeface="Calibri" pitchFamily="34" charset="0"/>
                <a:cs typeface="Calibri" pitchFamily="34" charset="0"/>
              </a:rPr>
              <a:t> into an endless loop in main()</a:t>
            </a:r>
            <a:endParaRPr lang="en-US" sz="3200" b="0" dirty="0">
              <a:solidFill>
                <a:srgbClr val="000000"/>
              </a:solidFill>
              <a:latin typeface="Calibri" pitchFamily="34" charset="0"/>
              <a:cs typeface="Calibri" pitchFamily="34" charset="0"/>
            </a:endParaRPr>
          </a:p>
        </p:txBody>
      </p:sp>
      <p:sp>
        <p:nvSpPr>
          <p:cNvPr id="14" name="TextBox 13"/>
          <p:cNvSpPr txBox="1"/>
          <p:nvPr/>
        </p:nvSpPr>
        <p:spPr>
          <a:xfrm>
            <a:off x="2971800" y="2394047"/>
            <a:ext cx="5696496" cy="445635"/>
          </a:xfrm>
          <a:prstGeom prst="rect">
            <a:avLst/>
          </a:prstGeom>
          <a:noFill/>
        </p:spPr>
        <p:txBody>
          <a:bodyPr wrap="none" rtlCol="0" anchor="ctr" anchorCtr="0">
            <a:spAutoFit/>
          </a:bodyPr>
          <a:lstStyle/>
          <a:p>
            <a:pPr marL="342900" indent="-342900">
              <a:spcBef>
                <a:spcPts val="1200"/>
              </a:spcBef>
              <a:buClr>
                <a:schemeClr val="tx2"/>
              </a:buClr>
              <a:buSzPct val="75000"/>
              <a:buFont typeface="Wingdings"/>
              <a:buChar char=""/>
            </a:pPr>
            <a:r>
              <a:rPr lang="en-US" sz="2800" b="0" dirty="0" smtClean="0">
                <a:solidFill>
                  <a:schemeClr val="dk1"/>
                </a:solidFill>
                <a:latin typeface="Calibri" pitchFamily="34" charset="0"/>
                <a:cs typeface="Calibri" pitchFamily="34" charset="0"/>
              </a:rPr>
              <a:t>What if </a:t>
            </a:r>
            <a:r>
              <a:rPr lang="en-US" sz="2800" b="0" dirty="0" err="1" smtClean="0">
                <a:solidFill>
                  <a:schemeClr val="dk1"/>
                </a:solidFill>
                <a:latin typeface="Calibri" pitchFamily="34" charset="0"/>
                <a:cs typeface="Calibri" pitchFamily="34" charset="0"/>
              </a:rPr>
              <a:t>algos</a:t>
            </a:r>
            <a:r>
              <a:rPr lang="en-US" sz="2800" b="0" dirty="0" smtClean="0">
                <a:solidFill>
                  <a:schemeClr val="dk1"/>
                </a:solidFill>
                <a:latin typeface="Calibri" pitchFamily="34" charset="0"/>
                <a:cs typeface="Calibri" pitchFamily="34" charset="0"/>
              </a:rPr>
              <a:t> run at different rates?</a:t>
            </a:r>
          </a:p>
        </p:txBody>
      </p:sp>
      <p:sp>
        <p:nvSpPr>
          <p:cNvPr id="15" name="Leading Question"/>
          <p:cNvSpPr txBox="1"/>
          <p:nvPr/>
        </p:nvSpPr>
        <p:spPr>
          <a:xfrm>
            <a:off x="332361" y="5382601"/>
            <a:ext cx="8634223" cy="332399"/>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ctr">
              <a:lnSpc>
                <a:spcPct val="90000"/>
              </a:lnSpc>
              <a:spcBef>
                <a:spcPct val="0"/>
              </a:spcBef>
            </a:pPr>
            <a:r>
              <a:rPr lang="en-US" b="0" dirty="0" smtClean="0">
                <a:solidFill>
                  <a:schemeClr val="tx2"/>
                </a:solidFill>
                <a:effectLst/>
                <a:latin typeface="Arial Narrow"/>
              </a:rPr>
              <a:t>Could you use a TIMER to trigger each “thread” (</a:t>
            </a:r>
            <a:r>
              <a:rPr lang="en-US" b="0" smtClean="0">
                <a:solidFill>
                  <a:schemeClr val="tx2"/>
                </a:solidFill>
                <a:effectLst/>
                <a:latin typeface="Arial Narrow"/>
              </a:rPr>
              <a:t>or process) </a:t>
            </a:r>
            <a:r>
              <a:rPr lang="en-US" b="0" dirty="0" smtClean="0">
                <a:solidFill>
                  <a:schemeClr val="tx2"/>
                </a:solidFill>
                <a:effectLst/>
                <a:latin typeface="Arial Narrow"/>
              </a:rPr>
              <a:t>via an interrupt?</a:t>
            </a:r>
          </a:p>
        </p:txBody>
      </p:sp>
      <p:sp>
        <p:nvSpPr>
          <p:cNvPr id="16" name="TextBox 15"/>
          <p:cNvSpPr txBox="1"/>
          <p:nvPr/>
        </p:nvSpPr>
        <p:spPr>
          <a:xfrm>
            <a:off x="2971800" y="3870555"/>
            <a:ext cx="6193234" cy="790345"/>
          </a:xfrm>
          <a:prstGeom prst="rect">
            <a:avLst/>
          </a:prstGeom>
          <a:noFill/>
        </p:spPr>
        <p:txBody>
          <a:bodyPr wrap="none" rtlCol="0" anchor="ctr" anchorCtr="0">
            <a:spAutoFit/>
          </a:bodyPr>
          <a:lstStyle/>
          <a:p>
            <a:pPr marL="342900" indent="-342900">
              <a:spcBef>
                <a:spcPts val="1200"/>
              </a:spcBef>
              <a:buClr>
                <a:schemeClr val="tx2"/>
              </a:buClr>
              <a:buSzPct val="75000"/>
              <a:buFont typeface="Wingdings"/>
              <a:buChar char=""/>
            </a:pPr>
            <a:r>
              <a:rPr lang="en-US" sz="2800" b="0" dirty="0" smtClean="0">
                <a:solidFill>
                  <a:schemeClr val="dk1"/>
                </a:solidFill>
                <a:latin typeface="Calibri" pitchFamily="34" charset="0"/>
                <a:cs typeface="Calibri" pitchFamily="34" charset="0"/>
              </a:rPr>
              <a:t>What if one starves the other or delays</a:t>
            </a:r>
            <a:br>
              <a:rPr lang="en-US" sz="2800" b="0" dirty="0" smtClean="0">
                <a:solidFill>
                  <a:schemeClr val="dk1"/>
                </a:solidFill>
                <a:latin typeface="Calibri" pitchFamily="34" charset="0"/>
                <a:cs typeface="Calibri" pitchFamily="34" charset="0"/>
              </a:rPr>
            </a:br>
            <a:r>
              <a:rPr lang="en-US" sz="2800" b="0" dirty="0" smtClean="0">
                <a:solidFill>
                  <a:schemeClr val="dk1"/>
                </a:solidFill>
                <a:latin typeface="Calibri" pitchFamily="34" charset="0"/>
                <a:cs typeface="Calibri" pitchFamily="34" charset="0"/>
              </a:rPr>
              <a:t>the response causing jitter/noise?</a:t>
            </a:r>
          </a:p>
        </p:txBody>
      </p:sp>
      <p:sp>
        <p:nvSpPr>
          <p:cNvPr id="17" name="TextBox 16"/>
          <p:cNvSpPr txBox="1"/>
          <p:nvPr/>
        </p:nvSpPr>
        <p:spPr>
          <a:xfrm>
            <a:off x="3412554" y="2862445"/>
            <a:ext cx="3392595" cy="837152"/>
          </a:xfrm>
          <a:prstGeom prst="rect">
            <a:avLst/>
          </a:prstGeom>
          <a:noFill/>
        </p:spPr>
        <p:txBody>
          <a:bodyPr wrap="none" rtlCol="0" anchor="ctr" anchorCtr="0">
            <a:spAutoFit/>
          </a:bodyPr>
          <a:lstStyle/>
          <a:p>
            <a:pPr marL="225425" indent="-225425">
              <a:spcBef>
                <a:spcPts val="1200"/>
              </a:spcBef>
              <a:buSzPct val="90000"/>
              <a:buFont typeface="Arial" pitchFamily="34" charset="0"/>
              <a:buChar char="•"/>
            </a:pPr>
            <a:r>
              <a:rPr lang="en-US" b="0" dirty="0" smtClean="0">
                <a:solidFill>
                  <a:schemeClr val="dk1"/>
                </a:solidFill>
                <a:latin typeface="Calibri" pitchFamily="34" charset="0"/>
                <a:cs typeface="Calibri" pitchFamily="34" charset="0"/>
              </a:rPr>
              <a:t>Audio </a:t>
            </a:r>
            <a:r>
              <a:rPr lang="en-US" b="0" smtClean="0">
                <a:solidFill>
                  <a:schemeClr val="dk1"/>
                </a:solidFill>
                <a:latin typeface="Calibri" pitchFamily="34" charset="0"/>
                <a:cs typeface="Calibri" pitchFamily="34" charset="0"/>
              </a:rPr>
              <a:t>– 100kHz </a:t>
            </a:r>
            <a:r>
              <a:rPr lang="en-US" b="0" dirty="0" smtClean="0">
                <a:solidFill>
                  <a:schemeClr val="dk1"/>
                </a:solidFill>
                <a:latin typeface="Calibri" pitchFamily="34" charset="0"/>
                <a:cs typeface="Calibri" pitchFamily="34" charset="0"/>
              </a:rPr>
              <a:t>(10</a:t>
            </a:r>
            <a:r>
              <a:rPr lang="el-GR" b="0" dirty="0" smtClean="0">
                <a:solidFill>
                  <a:schemeClr val="dk1"/>
                </a:solidFill>
                <a:latin typeface="Calibri" pitchFamily="34" charset="0"/>
                <a:cs typeface="Calibri" pitchFamily="34" charset="0"/>
              </a:rPr>
              <a:t>μ</a:t>
            </a:r>
            <a:r>
              <a:rPr lang="en-US" b="0" dirty="0" smtClean="0">
                <a:solidFill>
                  <a:schemeClr val="dk1"/>
                </a:solidFill>
                <a:latin typeface="Calibri" pitchFamily="34" charset="0"/>
                <a:cs typeface="Calibri" pitchFamily="34" charset="0"/>
              </a:rPr>
              <a:t>s)</a:t>
            </a:r>
          </a:p>
          <a:p>
            <a:pPr marL="225425" indent="-225425">
              <a:spcBef>
                <a:spcPts val="1200"/>
              </a:spcBef>
              <a:buSzPct val="90000"/>
              <a:buFont typeface="Arial" pitchFamily="34" charset="0"/>
              <a:buChar char="•"/>
            </a:pPr>
            <a:r>
              <a:rPr lang="en-US" b="0" smtClean="0">
                <a:solidFill>
                  <a:schemeClr val="dk1"/>
                </a:solidFill>
                <a:latin typeface="Calibri" pitchFamily="34" charset="0"/>
                <a:cs typeface="Calibri" pitchFamily="34" charset="0"/>
              </a:rPr>
              <a:t>KeyPad – 10Hz </a:t>
            </a:r>
            <a:r>
              <a:rPr lang="en-US" b="0" dirty="0" smtClean="0">
                <a:solidFill>
                  <a:schemeClr val="dk1"/>
                </a:solidFill>
                <a:latin typeface="Calibri" pitchFamily="34" charset="0"/>
                <a:cs typeface="Calibri" pitchFamily="34" charset="0"/>
              </a:rPr>
              <a:t>(100ms)</a:t>
            </a:r>
          </a:p>
        </p:txBody>
      </p:sp>
      <p:pic>
        <p:nvPicPr>
          <p:cNvPr id="20"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Tree>
    <p:custDataLst>
      <p:tags r:id="rId1"/>
    </p:custDataLst>
    <p:extLst>
      <p:ext uri="{BB962C8B-B14F-4D97-AF65-F5344CB8AC3E}">
        <p14:creationId xmlns:p14="http://schemas.microsoft.com/office/powerpoint/2010/main" val="16493152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4"/>
          <p:cNvSpPr>
            <a:spLocks noGrp="1" noChangeArrowheads="1"/>
          </p:cNvSpPr>
          <p:nvPr>
            <p:ph type="title"/>
          </p:nvPr>
        </p:nvSpPr>
        <p:spPr/>
        <p:txBody>
          <a:bodyPr/>
          <a:lstStyle/>
          <a:p>
            <a:r>
              <a:rPr lang="en-US" dirty="0" smtClean="0"/>
              <a:t>Solution #2 – Timer-based INTs</a:t>
            </a:r>
          </a:p>
        </p:txBody>
      </p:sp>
      <p:sp>
        <p:nvSpPr>
          <p:cNvPr id="9" name="Rectangle 8"/>
          <p:cNvSpPr/>
          <p:nvPr/>
        </p:nvSpPr>
        <p:spPr bwMode="auto">
          <a:xfrm>
            <a:off x="3200400" y="762000"/>
            <a:ext cx="5257800" cy="762000"/>
          </a:xfrm>
          <a:prstGeom prst="rect">
            <a:avLst/>
          </a:prstGeom>
          <a:solidFill>
            <a:schemeClr val="accent1"/>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lvl="0"/>
            <a:r>
              <a:rPr lang="en-US" dirty="0" smtClean="0">
                <a:solidFill>
                  <a:schemeClr val="tx2"/>
                </a:solidFill>
                <a:latin typeface="Calibri" pitchFamily="34" charset="0"/>
                <a:cs typeface="Calibri" pitchFamily="34" charset="0"/>
              </a:rPr>
              <a:t>Solution #2</a:t>
            </a:r>
            <a:r>
              <a:rPr lang="en-US" b="0" dirty="0" smtClean="0">
                <a:solidFill>
                  <a:srgbClr val="000000"/>
                </a:solidFill>
                <a:latin typeface="Calibri" pitchFamily="34" charset="0"/>
                <a:cs typeface="Calibri" pitchFamily="34" charset="0"/>
              </a:rPr>
              <a:t> </a:t>
            </a:r>
            <a:r>
              <a:rPr lang="en-US" b="0" smtClean="0">
                <a:solidFill>
                  <a:srgbClr val="000000"/>
                </a:solidFill>
                <a:latin typeface="Calibri" pitchFamily="34" charset="0"/>
                <a:cs typeface="Calibri" pitchFamily="34" charset="0"/>
              </a:rPr>
              <a:t>– an </a:t>
            </a:r>
            <a:r>
              <a:rPr lang="en-US" b="0" i="1" smtClean="0">
                <a:solidFill>
                  <a:schemeClr val="tx2"/>
                </a:solidFill>
                <a:latin typeface="Calibri" pitchFamily="34" charset="0"/>
                <a:cs typeface="Calibri" pitchFamily="34" charset="0"/>
              </a:rPr>
              <a:t>interrupt driven system</a:t>
            </a:r>
            <a:r>
              <a:rPr lang="en-US" b="0" smtClean="0">
                <a:solidFill>
                  <a:srgbClr val="000000"/>
                </a:solidFill>
                <a:latin typeface="Calibri" pitchFamily="34" charset="0"/>
                <a:cs typeface="Calibri" pitchFamily="34" charset="0"/>
              </a:rPr>
              <a:t> places each function in its own ISR</a:t>
            </a:r>
            <a:endParaRPr lang="en-US" b="0" i="1" dirty="0">
              <a:solidFill>
                <a:srgbClr val="000000"/>
              </a:solidFill>
              <a:latin typeface="Calibri" pitchFamily="34" charset="0"/>
              <a:cs typeface="Calibri" pitchFamily="34" charset="0"/>
            </a:endParaRPr>
          </a:p>
        </p:txBody>
      </p:sp>
      <p:sp>
        <p:nvSpPr>
          <p:cNvPr id="63" name="Leading Question"/>
          <p:cNvSpPr txBox="1"/>
          <p:nvPr/>
        </p:nvSpPr>
        <p:spPr>
          <a:xfrm>
            <a:off x="5810783" y="6411776"/>
            <a:ext cx="2571217" cy="276999"/>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ctr">
              <a:lnSpc>
                <a:spcPct val="90000"/>
              </a:lnSpc>
              <a:spcBef>
                <a:spcPct val="0"/>
              </a:spcBef>
            </a:pPr>
            <a:r>
              <a:rPr lang="en-US" sz="2000" b="0" smtClean="0">
                <a:solidFill>
                  <a:schemeClr val="tx2"/>
                </a:solidFill>
                <a:effectLst/>
                <a:latin typeface="Arial Narrow"/>
              </a:rPr>
              <a:t>How could we prevent this?</a:t>
            </a:r>
            <a:endParaRPr lang="en-US" sz="2000" b="0" dirty="0" smtClean="0">
              <a:solidFill>
                <a:schemeClr val="tx2"/>
              </a:solidFill>
              <a:effectLst/>
              <a:latin typeface="Arial Narrow"/>
            </a:endParaRPr>
          </a:p>
        </p:txBody>
      </p:sp>
      <p:graphicFrame>
        <p:nvGraphicFramePr>
          <p:cNvPr id="4" name="Table 3"/>
          <p:cNvGraphicFramePr>
            <a:graphicFrameLocks noGrp="1"/>
          </p:cNvGraphicFramePr>
          <p:nvPr>
            <p:extLst>
              <p:ext uri="{D42A27DB-BD31-4B8C-83A1-F6EECF244321}">
                <p14:modId xmlns:p14="http://schemas.microsoft.com/office/powerpoint/2010/main" val="570247139"/>
              </p:ext>
            </p:extLst>
          </p:nvPr>
        </p:nvGraphicFramePr>
        <p:xfrm>
          <a:off x="3166750" y="1649188"/>
          <a:ext cx="5393375" cy="1483588"/>
        </p:xfrm>
        <a:graphic>
          <a:graphicData uri="http://schemas.openxmlformats.org/drawingml/2006/table">
            <a:tbl>
              <a:tblPr firstRow="1" bandRow="1">
                <a:tableStyleId>{5C22544A-7EE6-4342-B048-85BDC9FD1C3A}</a:tableStyleId>
              </a:tblPr>
              <a:tblGrid>
                <a:gridCol w="1118626"/>
                <a:gridCol w="1438233"/>
                <a:gridCol w="1518135"/>
                <a:gridCol w="1318381"/>
              </a:tblGrid>
              <a:tr h="370897">
                <a:tc>
                  <a:txBody>
                    <a:bodyPr/>
                    <a:lstStyle/>
                    <a:p>
                      <a:endParaRPr lang="en-US" sz="1800">
                        <a:solidFill>
                          <a:schemeClr val="tx1"/>
                        </a:solidFill>
                        <a:latin typeface="Calibri" pitchFamily="34" charset="0"/>
                        <a:cs typeface="Calibri" pitchFamily="34" charset="0"/>
                      </a:endParaRPr>
                    </a:p>
                  </a:txBody>
                  <a:tcPr marT="27432" marB="27432">
                    <a:solidFill>
                      <a:schemeClr val="accent4">
                        <a:lumMod val="40000"/>
                        <a:lumOff val="60000"/>
                      </a:schemeClr>
                    </a:solidFill>
                  </a:tcPr>
                </a:tc>
                <a:tc>
                  <a:txBody>
                    <a:bodyPr/>
                    <a:lstStyle/>
                    <a:p>
                      <a:r>
                        <a:rPr lang="en-US" sz="2000" smtClean="0">
                          <a:solidFill>
                            <a:schemeClr val="tx1"/>
                          </a:solidFill>
                          <a:latin typeface="Calibri" pitchFamily="34" charset="0"/>
                          <a:cs typeface="Calibri" pitchFamily="34" charset="0"/>
                        </a:rPr>
                        <a:t>Period</a:t>
                      </a:r>
                      <a:endParaRPr lang="en-US" sz="2000">
                        <a:solidFill>
                          <a:schemeClr val="tx1"/>
                        </a:solidFill>
                        <a:latin typeface="Calibri" pitchFamily="34" charset="0"/>
                        <a:cs typeface="Calibri" pitchFamily="34" charset="0"/>
                      </a:endParaRPr>
                    </a:p>
                  </a:txBody>
                  <a:tcPr marT="27432" marB="27432">
                    <a:solidFill>
                      <a:schemeClr val="accent4">
                        <a:lumMod val="40000"/>
                        <a:lumOff val="60000"/>
                      </a:schemeClr>
                    </a:solidFill>
                  </a:tcPr>
                </a:tc>
                <a:tc>
                  <a:txBody>
                    <a:bodyPr/>
                    <a:lstStyle/>
                    <a:p>
                      <a:r>
                        <a:rPr lang="en-US" sz="2000" smtClean="0">
                          <a:solidFill>
                            <a:schemeClr val="tx1"/>
                          </a:solidFill>
                          <a:latin typeface="Calibri" pitchFamily="34" charset="0"/>
                          <a:cs typeface="Calibri" pitchFamily="34" charset="0"/>
                        </a:rPr>
                        <a:t>Compute</a:t>
                      </a:r>
                      <a:endParaRPr lang="en-US" sz="2000">
                        <a:solidFill>
                          <a:schemeClr val="tx1"/>
                        </a:solidFill>
                        <a:latin typeface="Calibri" pitchFamily="34" charset="0"/>
                        <a:cs typeface="Calibri" pitchFamily="34" charset="0"/>
                      </a:endParaRPr>
                    </a:p>
                  </a:txBody>
                  <a:tcPr marT="27432" marB="27432">
                    <a:solidFill>
                      <a:schemeClr val="accent4">
                        <a:lumMod val="40000"/>
                        <a:lumOff val="60000"/>
                      </a:schemeClr>
                    </a:solidFill>
                  </a:tcPr>
                </a:tc>
                <a:tc>
                  <a:txBody>
                    <a:bodyPr/>
                    <a:lstStyle/>
                    <a:p>
                      <a:r>
                        <a:rPr lang="en-US" sz="2000" smtClean="0">
                          <a:solidFill>
                            <a:schemeClr val="tx1"/>
                          </a:solidFill>
                          <a:latin typeface="Calibri" pitchFamily="34" charset="0"/>
                          <a:cs typeface="Calibri" pitchFamily="34" charset="0"/>
                        </a:rPr>
                        <a:t>Usage</a:t>
                      </a:r>
                      <a:endParaRPr lang="en-US" sz="2000">
                        <a:solidFill>
                          <a:schemeClr val="tx1"/>
                        </a:solidFill>
                        <a:latin typeface="Calibri" pitchFamily="34" charset="0"/>
                        <a:cs typeface="Calibri" pitchFamily="34" charset="0"/>
                      </a:endParaRPr>
                    </a:p>
                  </a:txBody>
                  <a:tcPr marT="27432" marB="27432">
                    <a:solidFill>
                      <a:schemeClr val="accent4">
                        <a:lumMod val="40000"/>
                        <a:lumOff val="60000"/>
                      </a:schemeClr>
                    </a:solidFill>
                  </a:tcPr>
                </a:tc>
              </a:tr>
              <a:tr h="370897">
                <a:tc>
                  <a:txBody>
                    <a:bodyPr/>
                    <a:lstStyle/>
                    <a:p>
                      <a:r>
                        <a:rPr lang="en-US" sz="2000" b="1" smtClean="0">
                          <a:solidFill>
                            <a:schemeClr val="tx2"/>
                          </a:solidFill>
                          <a:latin typeface="Calibri" pitchFamily="34" charset="0"/>
                          <a:cs typeface="Calibri" pitchFamily="34" charset="0"/>
                        </a:rPr>
                        <a:t>Audio</a:t>
                      </a:r>
                      <a:endParaRPr lang="en-US" sz="2000" b="1">
                        <a:solidFill>
                          <a:schemeClr val="tx2"/>
                        </a:solidFill>
                        <a:latin typeface="Calibri" pitchFamily="34" charset="0"/>
                        <a:cs typeface="Calibri" pitchFamily="34" charset="0"/>
                      </a:endParaRPr>
                    </a:p>
                  </a:txBody>
                  <a:tcPr marT="27432" marB="27432">
                    <a:solidFill>
                      <a:schemeClr val="accent1"/>
                    </a:solidFill>
                  </a:tcPr>
                </a:tc>
                <a:tc>
                  <a:txBody>
                    <a:bodyPr/>
                    <a:lstStyle/>
                    <a:p>
                      <a:r>
                        <a:rPr lang="en-US" sz="2000" b="0" smtClean="0">
                          <a:solidFill>
                            <a:schemeClr val="dk1"/>
                          </a:solidFill>
                          <a:latin typeface="Calibri" pitchFamily="34" charset="0"/>
                          <a:cs typeface="Calibri" pitchFamily="34" charset="0"/>
                        </a:rPr>
                        <a:t>10</a:t>
                      </a:r>
                      <a:r>
                        <a:rPr lang="el-GR" sz="2000" b="0" smtClean="0">
                          <a:solidFill>
                            <a:schemeClr val="dk1"/>
                          </a:solidFill>
                          <a:latin typeface="Calibri" pitchFamily="34" charset="0"/>
                          <a:cs typeface="Calibri" pitchFamily="34" charset="0"/>
                        </a:rPr>
                        <a:t>μ</a:t>
                      </a:r>
                      <a:r>
                        <a:rPr lang="en-US" sz="2000" b="0" smtClean="0">
                          <a:solidFill>
                            <a:schemeClr val="dk1"/>
                          </a:solidFill>
                          <a:latin typeface="Calibri" pitchFamily="34" charset="0"/>
                          <a:cs typeface="Calibri" pitchFamily="34" charset="0"/>
                        </a:rPr>
                        <a:t>S</a:t>
                      </a:r>
                      <a:endParaRPr lang="en-US" sz="2000">
                        <a:solidFill>
                          <a:schemeClr val="tx1"/>
                        </a:solidFill>
                        <a:latin typeface="Calibri" pitchFamily="34" charset="0"/>
                        <a:cs typeface="Calibri" pitchFamily="34" charset="0"/>
                      </a:endParaRPr>
                    </a:p>
                  </a:txBody>
                  <a:tcPr marT="27432" marB="27432">
                    <a:solidFill>
                      <a:schemeClr val="accent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smtClean="0">
                          <a:solidFill>
                            <a:schemeClr val="dk1"/>
                          </a:solidFill>
                          <a:latin typeface="Calibri" pitchFamily="34" charset="0"/>
                          <a:cs typeface="Calibri" pitchFamily="34" charset="0"/>
                        </a:rPr>
                        <a:t>5</a:t>
                      </a:r>
                      <a:r>
                        <a:rPr lang="el-GR" sz="2000" b="0" smtClean="0">
                          <a:solidFill>
                            <a:schemeClr val="dk1"/>
                          </a:solidFill>
                          <a:latin typeface="Calibri" pitchFamily="34" charset="0"/>
                          <a:cs typeface="Calibri" pitchFamily="34" charset="0"/>
                        </a:rPr>
                        <a:t>μ</a:t>
                      </a:r>
                      <a:r>
                        <a:rPr lang="en-US" sz="2000" b="0" smtClean="0">
                          <a:solidFill>
                            <a:schemeClr val="dk1"/>
                          </a:solidFill>
                          <a:latin typeface="Calibri" pitchFamily="34" charset="0"/>
                          <a:cs typeface="Calibri" pitchFamily="34" charset="0"/>
                        </a:rPr>
                        <a:t>S</a:t>
                      </a:r>
                      <a:endParaRPr lang="en-US" sz="2000" smtClean="0">
                        <a:solidFill>
                          <a:schemeClr val="tx1"/>
                        </a:solidFill>
                        <a:latin typeface="Calibri" pitchFamily="34" charset="0"/>
                        <a:cs typeface="Calibri" pitchFamily="34" charset="0"/>
                      </a:endParaRPr>
                    </a:p>
                  </a:txBody>
                  <a:tcPr marT="27432" marB="27432">
                    <a:solidFill>
                      <a:schemeClr val="accent1"/>
                    </a:solidFill>
                  </a:tcPr>
                </a:tc>
                <a:tc>
                  <a:txBody>
                    <a:bodyPr/>
                    <a:lstStyle/>
                    <a:p>
                      <a:r>
                        <a:rPr lang="en-US" sz="2000" smtClean="0">
                          <a:solidFill>
                            <a:schemeClr val="tx1"/>
                          </a:solidFill>
                          <a:latin typeface="Calibri" pitchFamily="34" charset="0"/>
                          <a:cs typeface="Calibri" pitchFamily="34" charset="0"/>
                        </a:rPr>
                        <a:t>50%</a:t>
                      </a:r>
                    </a:p>
                  </a:txBody>
                  <a:tcPr marT="27432" marB="27432">
                    <a:solidFill>
                      <a:schemeClr val="accent1"/>
                    </a:solidFill>
                  </a:tcPr>
                </a:tc>
              </a:tr>
              <a:tr h="370897">
                <a:tc>
                  <a:txBody>
                    <a:bodyPr/>
                    <a:lstStyle/>
                    <a:p>
                      <a:r>
                        <a:rPr lang="en-US" sz="2000" b="1" smtClean="0">
                          <a:solidFill>
                            <a:schemeClr val="tx2"/>
                          </a:solidFill>
                          <a:latin typeface="Calibri" pitchFamily="34" charset="0"/>
                          <a:cs typeface="Calibri" pitchFamily="34" charset="0"/>
                        </a:rPr>
                        <a:t>Keypad</a:t>
                      </a:r>
                      <a:endParaRPr lang="en-US" sz="2000" b="1">
                        <a:solidFill>
                          <a:schemeClr val="tx2"/>
                        </a:solidFill>
                        <a:latin typeface="Calibri" pitchFamily="34" charset="0"/>
                        <a:cs typeface="Calibri" pitchFamily="34" charset="0"/>
                      </a:endParaRPr>
                    </a:p>
                  </a:txBody>
                  <a:tcPr marT="27432" marB="27432">
                    <a:solidFill>
                      <a:schemeClr val="accent1"/>
                    </a:solidFill>
                  </a:tcPr>
                </a:tc>
                <a:tc>
                  <a:txBody>
                    <a:bodyPr/>
                    <a:lstStyle/>
                    <a:p>
                      <a:r>
                        <a:rPr lang="en-US" sz="2000" smtClean="0">
                          <a:solidFill>
                            <a:schemeClr val="tx1"/>
                          </a:solidFill>
                          <a:latin typeface="Calibri" pitchFamily="34" charset="0"/>
                          <a:cs typeface="Calibri" pitchFamily="34" charset="0"/>
                        </a:rPr>
                        <a:t>100ms</a:t>
                      </a:r>
                      <a:endParaRPr lang="en-US" sz="2000">
                        <a:solidFill>
                          <a:schemeClr val="tx1"/>
                        </a:solidFill>
                        <a:latin typeface="Calibri" pitchFamily="34" charset="0"/>
                        <a:cs typeface="Calibri" pitchFamily="34" charset="0"/>
                      </a:endParaRPr>
                    </a:p>
                  </a:txBody>
                  <a:tcPr marT="27432" marB="27432">
                    <a:solidFill>
                      <a:schemeClr val="accent1"/>
                    </a:solidFill>
                  </a:tcPr>
                </a:tc>
                <a:tc>
                  <a:txBody>
                    <a:bodyPr/>
                    <a:lstStyle/>
                    <a:p>
                      <a:r>
                        <a:rPr lang="en-US" sz="2000" smtClean="0">
                          <a:solidFill>
                            <a:schemeClr val="tx1"/>
                          </a:solidFill>
                          <a:latin typeface="Calibri" pitchFamily="34" charset="0"/>
                          <a:cs typeface="Calibri" pitchFamily="34" charset="0"/>
                        </a:rPr>
                        <a:t>1ms</a:t>
                      </a:r>
                      <a:endParaRPr lang="en-US" sz="2000">
                        <a:solidFill>
                          <a:schemeClr val="tx1"/>
                        </a:solidFill>
                        <a:latin typeface="Calibri" pitchFamily="34" charset="0"/>
                        <a:cs typeface="Calibri" pitchFamily="34" charset="0"/>
                      </a:endParaRPr>
                    </a:p>
                  </a:txBody>
                  <a:tcPr marT="27432" marB="27432">
                    <a:solidFill>
                      <a:schemeClr val="accent1"/>
                    </a:solidFill>
                  </a:tcPr>
                </a:tc>
                <a:tc>
                  <a:txBody>
                    <a:bodyPr/>
                    <a:lstStyle/>
                    <a:p>
                      <a:r>
                        <a:rPr lang="en-US" sz="2000" baseline="0" smtClean="0">
                          <a:solidFill>
                            <a:schemeClr val="tx1"/>
                          </a:solidFill>
                          <a:latin typeface="Calibri" pitchFamily="34" charset="0"/>
                          <a:cs typeface="Calibri" pitchFamily="34" charset="0"/>
                        </a:rPr>
                        <a:t>  1%</a:t>
                      </a:r>
                      <a:endParaRPr lang="en-US" sz="2000">
                        <a:solidFill>
                          <a:schemeClr val="tx1"/>
                        </a:solidFill>
                        <a:latin typeface="Calibri" pitchFamily="34" charset="0"/>
                        <a:cs typeface="Calibri" pitchFamily="34" charset="0"/>
                      </a:endParaRPr>
                    </a:p>
                  </a:txBody>
                  <a:tcPr marT="27432" marB="27432">
                    <a:solidFill>
                      <a:schemeClr val="accent1"/>
                    </a:solidFill>
                  </a:tcPr>
                </a:tc>
              </a:tr>
              <a:tr h="370897">
                <a:tc>
                  <a:txBody>
                    <a:bodyPr/>
                    <a:lstStyle/>
                    <a:p>
                      <a:endParaRPr lang="en-US" sz="1800">
                        <a:solidFill>
                          <a:schemeClr val="tx1"/>
                        </a:solidFill>
                        <a:latin typeface="Calibri" pitchFamily="34" charset="0"/>
                        <a:cs typeface="Calibri" pitchFamily="34" charset="0"/>
                      </a:endParaRPr>
                    </a:p>
                  </a:txBody>
                  <a:tcPr marT="27432" marB="27432">
                    <a:solidFill>
                      <a:schemeClr val="accent1"/>
                    </a:solidFill>
                  </a:tcPr>
                </a:tc>
                <a:tc>
                  <a:txBody>
                    <a:bodyPr/>
                    <a:lstStyle/>
                    <a:p>
                      <a:endParaRPr lang="en-US" sz="2000">
                        <a:solidFill>
                          <a:schemeClr val="tx1"/>
                        </a:solidFill>
                        <a:latin typeface="Calibri" pitchFamily="34" charset="0"/>
                        <a:cs typeface="Calibri" pitchFamily="34" charset="0"/>
                      </a:endParaRPr>
                    </a:p>
                  </a:txBody>
                  <a:tcPr marT="27432" marB="27432">
                    <a:solidFill>
                      <a:schemeClr val="accent1"/>
                    </a:solidFill>
                  </a:tcPr>
                </a:tc>
                <a:tc>
                  <a:txBody>
                    <a:bodyPr/>
                    <a:lstStyle/>
                    <a:p>
                      <a:endParaRPr lang="en-US" sz="2000">
                        <a:solidFill>
                          <a:schemeClr val="tx1"/>
                        </a:solidFill>
                        <a:latin typeface="Calibri" pitchFamily="34" charset="0"/>
                        <a:cs typeface="Calibri" pitchFamily="34" charset="0"/>
                      </a:endParaRPr>
                    </a:p>
                  </a:txBody>
                  <a:tcPr marT="27432" marB="27432">
                    <a:solidFill>
                      <a:schemeClr val="accent1"/>
                    </a:solidFill>
                  </a:tcPr>
                </a:tc>
                <a:tc>
                  <a:txBody>
                    <a:bodyPr/>
                    <a:lstStyle/>
                    <a:p>
                      <a:r>
                        <a:rPr lang="en-US" sz="2000" smtClean="0">
                          <a:solidFill>
                            <a:schemeClr val="tx1"/>
                          </a:solidFill>
                          <a:latin typeface="Calibri" pitchFamily="34" charset="0"/>
                          <a:cs typeface="Calibri" pitchFamily="34" charset="0"/>
                        </a:rPr>
                        <a:t>51%</a:t>
                      </a:r>
                      <a:endParaRPr lang="en-US" sz="2000">
                        <a:solidFill>
                          <a:schemeClr val="tx1"/>
                        </a:solidFill>
                        <a:latin typeface="Calibri" pitchFamily="34" charset="0"/>
                        <a:cs typeface="Calibri" pitchFamily="34" charset="0"/>
                      </a:endParaRPr>
                    </a:p>
                  </a:txBody>
                  <a:tcPr marT="27432" marB="27432">
                    <a:solidFill>
                      <a:schemeClr val="accent1"/>
                    </a:solidFill>
                  </a:tcPr>
                </a:tc>
              </a:tr>
            </a:tbl>
          </a:graphicData>
        </a:graphic>
      </p:graphicFrame>
      <p:cxnSp>
        <p:nvCxnSpPr>
          <p:cNvPr id="12" name="Straight Connector 11"/>
          <p:cNvCxnSpPr/>
          <p:nvPr/>
        </p:nvCxnSpPr>
        <p:spPr bwMode="auto">
          <a:xfrm>
            <a:off x="7318175" y="2750125"/>
            <a:ext cx="493253" cy="0"/>
          </a:xfrm>
          <a:prstGeom prst="line">
            <a:avLst/>
          </a:prstGeom>
          <a:solidFill>
            <a:schemeClr val="accent1"/>
          </a:solidFill>
          <a:ln w="19050" cap="flat" cmpd="sng" algn="ctr">
            <a:solidFill>
              <a:schemeClr val="tx1"/>
            </a:solidFill>
            <a:prstDash val="solid"/>
            <a:round/>
            <a:headEnd type="none" w="sm" len="sm"/>
            <a:tailEnd type="none" w="sm" len="sm"/>
          </a:ln>
          <a:effectLst/>
        </p:spPr>
      </p:cxnSp>
      <p:grpSp>
        <p:nvGrpSpPr>
          <p:cNvPr id="14" name="Group 13"/>
          <p:cNvGrpSpPr/>
          <p:nvPr/>
        </p:nvGrpSpPr>
        <p:grpSpPr>
          <a:xfrm>
            <a:off x="2895599" y="3288475"/>
            <a:ext cx="5855526" cy="3055512"/>
            <a:chOff x="2895599" y="3288475"/>
            <a:chExt cx="5855526" cy="3055512"/>
          </a:xfrm>
        </p:grpSpPr>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3962400"/>
              <a:ext cx="5122225" cy="2381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7465936" y="4884800"/>
              <a:ext cx="1170064" cy="584775"/>
            </a:xfrm>
            <a:prstGeom prst="rect">
              <a:avLst/>
            </a:prstGeom>
            <a:solidFill>
              <a:schemeClr val="accent1"/>
            </a:solidFill>
            <a:ln>
              <a:solidFill>
                <a:schemeClr val="tx1"/>
              </a:solidFill>
            </a:ln>
          </p:spPr>
          <p:txBody>
            <a:bodyPr wrap="square" rtlCol="0" anchor="ctr" anchorCtr="0">
              <a:spAutoFit/>
            </a:bodyPr>
            <a:lstStyle/>
            <a:p>
              <a:r>
                <a:rPr lang="en-US" sz="2000" b="0" smtClean="0">
                  <a:solidFill>
                    <a:schemeClr val="dk1"/>
                  </a:solidFill>
                  <a:effectLst/>
                  <a:latin typeface="Calibri" pitchFamily="34" charset="0"/>
                  <a:cs typeface="Calibri" pitchFamily="34" charset="0"/>
                </a:rPr>
                <a:t>Interrupt is missed </a:t>
              </a:r>
              <a:endParaRPr lang="en-US" sz="2000" b="0" dirty="0" smtClean="0">
                <a:solidFill>
                  <a:schemeClr val="dk1"/>
                </a:solidFill>
                <a:effectLst/>
                <a:latin typeface="Calibri" pitchFamily="34" charset="0"/>
                <a:cs typeface="Calibri" pitchFamily="34" charset="0"/>
              </a:endParaRPr>
            </a:p>
          </p:txBody>
        </p:sp>
        <p:cxnSp>
          <p:nvCxnSpPr>
            <p:cNvPr id="5" name="Straight Arrow Connector 4"/>
            <p:cNvCxnSpPr>
              <a:stCxn id="3" idx="1"/>
            </p:cNvCxnSpPr>
            <p:nvPr/>
          </p:nvCxnSpPr>
          <p:spPr bwMode="auto">
            <a:xfrm flipH="1" flipV="1">
              <a:off x="6477000" y="4567104"/>
              <a:ext cx="988936" cy="610084"/>
            </a:xfrm>
            <a:prstGeom prst="straightConnector1">
              <a:avLst/>
            </a:prstGeom>
            <a:solidFill>
              <a:schemeClr val="accent1"/>
            </a:solidFill>
            <a:ln w="12700" cap="flat" cmpd="sng" algn="ctr">
              <a:solidFill>
                <a:schemeClr val="tx1"/>
              </a:solidFill>
              <a:prstDash val="solid"/>
              <a:round/>
              <a:headEnd type="none" w="med" len="med"/>
              <a:tailEnd type="triangle" w="med" len="med"/>
            </a:ln>
            <a:effectLst/>
          </p:spPr>
        </p:cxnSp>
        <p:sp>
          <p:nvSpPr>
            <p:cNvPr id="15" name="TextBox 14"/>
            <p:cNvSpPr txBox="1"/>
            <p:nvPr/>
          </p:nvSpPr>
          <p:spPr>
            <a:xfrm>
              <a:off x="2895599" y="3288475"/>
              <a:ext cx="5855526" cy="683264"/>
            </a:xfrm>
            <a:prstGeom prst="rect">
              <a:avLst/>
            </a:prstGeom>
            <a:noFill/>
          </p:spPr>
          <p:txBody>
            <a:bodyPr wrap="square" rtlCol="0" anchor="t" anchorCtr="0">
              <a:spAutoFit/>
            </a:bodyPr>
            <a:lstStyle/>
            <a:p>
              <a:pPr marL="342900" indent="-342900">
                <a:buClr>
                  <a:schemeClr val="tx2"/>
                </a:buClr>
                <a:buSzPct val="75000"/>
                <a:buFont typeface="Wingdings"/>
                <a:buChar char=""/>
              </a:pPr>
              <a:r>
                <a:rPr lang="en-US" b="0" smtClean="0">
                  <a:solidFill>
                    <a:schemeClr val="dk1"/>
                  </a:solidFill>
                  <a:effectLst/>
                  <a:latin typeface="Calibri" pitchFamily="34" charset="0"/>
                  <a:cs typeface="Calibri" pitchFamily="34" charset="0"/>
                </a:rPr>
                <a:t>While CPU usage is fine, one interrupt may block the other (instantaneous):    </a:t>
              </a:r>
              <a:endParaRPr lang="en-US" b="0" dirty="0" smtClean="0">
                <a:solidFill>
                  <a:schemeClr val="dk1"/>
                </a:solidFill>
                <a:effectLst/>
                <a:latin typeface="Calibri" pitchFamily="34" charset="0"/>
                <a:cs typeface="Calibri" pitchFamily="34" charset="0"/>
              </a:endParaRPr>
            </a:p>
          </p:txBody>
        </p:sp>
      </p:grpSp>
      <p:sp>
        <p:nvSpPr>
          <p:cNvPr id="21" name="Rounded Rectangle 20"/>
          <p:cNvSpPr/>
          <p:nvPr/>
        </p:nvSpPr>
        <p:spPr bwMode="auto">
          <a:xfrm>
            <a:off x="228600" y="5105400"/>
            <a:ext cx="2438400" cy="1295400"/>
          </a:xfrm>
          <a:prstGeom prst="roundRect">
            <a:avLst/>
          </a:prstGeom>
          <a:solidFill>
            <a:schemeClr val="bg1">
              <a:lumMod val="95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nSpc>
                <a:spcPct val="70000"/>
              </a:lnSpc>
              <a:spcBef>
                <a:spcPts val="600"/>
              </a:spcBef>
            </a:pPr>
            <a:r>
              <a:rPr lang="en-US" sz="2000" b="0" smtClean="0">
                <a:solidFill>
                  <a:schemeClr val="dk1"/>
                </a:solidFill>
                <a:latin typeface="Courier New" pitchFamily="49" charset="0"/>
                <a:cs typeface="Courier New" pitchFamily="49" charset="0"/>
              </a:rPr>
              <a:t>main()</a:t>
            </a:r>
          </a:p>
          <a:p>
            <a:pPr>
              <a:lnSpc>
                <a:spcPct val="70000"/>
              </a:lnSpc>
              <a:spcBef>
                <a:spcPts val="600"/>
              </a:spcBef>
            </a:pPr>
            <a:r>
              <a:rPr lang="en-US" sz="2000" b="0" smtClean="0">
                <a:solidFill>
                  <a:schemeClr val="dk1"/>
                </a:solidFill>
                <a:latin typeface="Courier New" pitchFamily="49" charset="0"/>
                <a:cs typeface="Courier New" pitchFamily="49" charset="0"/>
              </a:rPr>
              <a:t>{</a:t>
            </a:r>
          </a:p>
          <a:p>
            <a:pPr>
              <a:lnSpc>
                <a:spcPct val="70000"/>
              </a:lnSpc>
              <a:spcBef>
                <a:spcPts val="600"/>
              </a:spcBef>
            </a:pPr>
            <a:r>
              <a:rPr lang="en-US" sz="2000" b="0" smtClean="0">
                <a:solidFill>
                  <a:schemeClr val="dk1"/>
                </a:solidFill>
                <a:latin typeface="Courier New" pitchFamily="49" charset="0"/>
                <a:cs typeface="Courier New" pitchFamily="49" charset="0"/>
              </a:rPr>
              <a:t>  while(1);</a:t>
            </a:r>
          </a:p>
          <a:p>
            <a:pPr>
              <a:lnSpc>
                <a:spcPct val="70000"/>
              </a:lnSpc>
              <a:spcBef>
                <a:spcPts val="600"/>
              </a:spcBef>
            </a:pPr>
            <a:r>
              <a:rPr lang="en-US" sz="2000" b="0" smtClean="0">
                <a:solidFill>
                  <a:schemeClr val="dk1"/>
                </a:solidFill>
                <a:latin typeface="Courier New" pitchFamily="49" charset="0"/>
                <a:cs typeface="Courier New" pitchFamily="49" charset="0"/>
              </a:rPr>
              <a:t>}</a:t>
            </a:r>
            <a:endParaRPr kumimoji="0" lang="en-US" sz="2000" b="0" i="0" u="none" strike="noStrike" cap="none" normalizeH="0" baseline="0" dirty="0" smtClean="0">
              <a:ln>
                <a:noFill/>
              </a:ln>
              <a:solidFill>
                <a:schemeClr val="dk1"/>
              </a:solidFill>
              <a:effectLst/>
              <a:latin typeface="Courier New" pitchFamily="49" charset="0"/>
              <a:cs typeface="Courier New" pitchFamily="49" charset="0"/>
            </a:endParaRPr>
          </a:p>
        </p:txBody>
      </p:sp>
      <p:grpSp>
        <p:nvGrpSpPr>
          <p:cNvPr id="11" name="Group 10"/>
          <p:cNvGrpSpPr/>
          <p:nvPr/>
        </p:nvGrpSpPr>
        <p:grpSpPr>
          <a:xfrm>
            <a:off x="228600" y="762000"/>
            <a:ext cx="2438400" cy="1953707"/>
            <a:chOff x="228600" y="1018093"/>
            <a:chExt cx="2438400" cy="1953707"/>
          </a:xfrm>
        </p:grpSpPr>
        <p:sp>
          <p:nvSpPr>
            <p:cNvPr id="22" name="Rounded Rectangle 21"/>
            <p:cNvSpPr/>
            <p:nvPr/>
          </p:nvSpPr>
          <p:spPr bwMode="auto">
            <a:xfrm>
              <a:off x="228600" y="1018093"/>
              <a:ext cx="2438400" cy="1953707"/>
            </a:xfrm>
            <a:prstGeom prst="roundRect">
              <a:avLst/>
            </a:prstGeom>
            <a:solidFill>
              <a:schemeClr val="bg1">
                <a:lumMod val="95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nSpc>
                  <a:spcPct val="70000"/>
                </a:lnSpc>
                <a:spcBef>
                  <a:spcPts val="600"/>
                </a:spcBef>
              </a:pPr>
              <a:r>
                <a:rPr lang="en-US" sz="2000" b="0" smtClean="0">
                  <a:solidFill>
                    <a:schemeClr val="dk1"/>
                  </a:solidFill>
                  <a:latin typeface="Courier New" pitchFamily="49" charset="0"/>
                  <a:cs typeface="Courier New" pitchFamily="49" charset="0"/>
                </a:rPr>
                <a:t>TimerA_ISR()</a:t>
              </a:r>
            </a:p>
            <a:p>
              <a:pPr>
                <a:lnSpc>
                  <a:spcPct val="70000"/>
                </a:lnSpc>
                <a:spcBef>
                  <a:spcPts val="600"/>
                </a:spcBef>
              </a:pPr>
              <a:r>
                <a:rPr lang="en-US" sz="2000" b="0" smtClean="0">
                  <a:solidFill>
                    <a:schemeClr val="dk1"/>
                  </a:solidFill>
                  <a:latin typeface="Courier New" pitchFamily="49" charset="0"/>
                  <a:cs typeface="Courier New" pitchFamily="49" charset="0"/>
                </a:rPr>
                <a:t>{</a:t>
              </a:r>
            </a:p>
            <a:p>
              <a:pPr>
                <a:lnSpc>
                  <a:spcPct val="70000"/>
                </a:lnSpc>
                <a:spcBef>
                  <a:spcPts val="600"/>
                </a:spcBef>
              </a:pPr>
              <a:r>
                <a:rPr lang="en-US" sz="2000" b="0">
                  <a:solidFill>
                    <a:schemeClr val="dk1"/>
                  </a:solidFill>
                  <a:latin typeface="Courier New" pitchFamily="49" charset="0"/>
                  <a:cs typeface="Courier New" pitchFamily="49" charset="0"/>
                </a:rPr>
                <a:t> </a:t>
              </a:r>
              <a:r>
                <a:rPr lang="en-US" sz="2000" b="0" smtClean="0">
                  <a:solidFill>
                    <a:schemeClr val="dk1"/>
                  </a:solidFill>
                  <a:latin typeface="Courier New" pitchFamily="49" charset="0"/>
                  <a:cs typeface="Courier New" pitchFamily="49" charset="0"/>
                </a:rPr>
                <a:t>read sample;</a:t>
              </a:r>
            </a:p>
            <a:p>
              <a:pPr>
                <a:lnSpc>
                  <a:spcPct val="70000"/>
                </a:lnSpc>
                <a:spcBef>
                  <a:spcPts val="600"/>
                </a:spcBef>
              </a:pPr>
              <a:endParaRPr lang="en-US" sz="2000" b="0" smtClean="0">
                <a:solidFill>
                  <a:schemeClr val="dk1"/>
                </a:solidFill>
                <a:latin typeface="Courier New" pitchFamily="49" charset="0"/>
                <a:cs typeface="Courier New" pitchFamily="49" charset="0"/>
              </a:endParaRPr>
            </a:p>
            <a:p>
              <a:pPr>
                <a:lnSpc>
                  <a:spcPct val="70000"/>
                </a:lnSpc>
                <a:spcBef>
                  <a:spcPts val="600"/>
                </a:spcBef>
              </a:pPr>
              <a:r>
                <a:rPr lang="en-US" sz="2000" b="0" smtClean="0">
                  <a:solidFill>
                    <a:schemeClr val="dk1"/>
                  </a:solidFill>
                  <a:latin typeface="Courier New" pitchFamily="49" charset="0"/>
                  <a:cs typeface="Courier New" pitchFamily="49" charset="0"/>
                </a:rPr>
                <a:t>   </a:t>
              </a:r>
            </a:p>
            <a:p>
              <a:pPr>
                <a:lnSpc>
                  <a:spcPct val="70000"/>
                </a:lnSpc>
                <a:spcBef>
                  <a:spcPts val="600"/>
                </a:spcBef>
              </a:pPr>
              <a:r>
                <a:rPr lang="en-US" sz="2000" b="0" smtClean="0">
                  <a:solidFill>
                    <a:schemeClr val="dk1"/>
                  </a:solidFill>
                  <a:latin typeface="Courier New" pitchFamily="49" charset="0"/>
                  <a:cs typeface="Courier New" pitchFamily="49" charset="0"/>
                </a:rPr>
                <a:t>}</a:t>
              </a:r>
              <a:endParaRPr kumimoji="0" lang="en-US" sz="2000" b="0" i="0" u="none" strike="noStrike" cap="none" normalizeH="0" baseline="0" dirty="0" smtClean="0">
                <a:ln>
                  <a:noFill/>
                </a:ln>
                <a:solidFill>
                  <a:schemeClr val="dk1"/>
                </a:solidFill>
                <a:effectLst/>
                <a:latin typeface="Courier New" pitchFamily="49" charset="0"/>
                <a:cs typeface="Courier New" pitchFamily="49" charset="0"/>
              </a:endParaRPr>
            </a:p>
          </p:txBody>
        </p:sp>
        <p:sp>
          <p:nvSpPr>
            <p:cNvPr id="7" name="Rectangle 6"/>
            <p:cNvSpPr/>
            <p:nvPr/>
          </p:nvSpPr>
          <p:spPr bwMode="auto">
            <a:xfrm>
              <a:off x="678875" y="2125351"/>
              <a:ext cx="1295400" cy="385949"/>
            </a:xfrm>
            <a:prstGeom prst="rect">
              <a:avLst/>
            </a:prstGeom>
            <a:solidFill>
              <a:schemeClr val="accent5">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dirty="0" smtClean="0">
                  <a:ln>
                    <a:noFill/>
                  </a:ln>
                  <a:solidFill>
                    <a:schemeClr val="dk1"/>
                  </a:solidFill>
                  <a:effectLst/>
                  <a:latin typeface="Calibri" pitchFamily="34" charset="0"/>
                  <a:cs typeface="Calibri" pitchFamily="34" charset="0"/>
                </a:rPr>
                <a:t>Audio</a:t>
              </a:r>
            </a:p>
          </p:txBody>
        </p:sp>
      </p:grpSp>
      <p:grpSp>
        <p:nvGrpSpPr>
          <p:cNvPr id="13" name="Group 12"/>
          <p:cNvGrpSpPr/>
          <p:nvPr/>
        </p:nvGrpSpPr>
        <p:grpSpPr>
          <a:xfrm>
            <a:off x="228600" y="2933700"/>
            <a:ext cx="2438400" cy="1953707"/>
            <a:chOff x="228600" y="3151693"/>
            <a:chExt cx="2438400" cy="1953707"/>
          </a:xfrm>
        </p:grpSpPr>
        <p:sp>
          <p:nvSpPr>
            <p:cNvPr id="27" name="Rounded Rectangle 26"/>
            <p:cNvSpPr/>
            <p:nvPr/>
          </p:nvSpPr>
          <p:spPr bwMode="auto">
            <a:xfrm>
              <a:off x="228600" y="3151693"/>
              <a:ext cx="2438400" cy="1953707"/>
            </a:xfrm>
            <a:prstGeom prst="roundRect">
              <a:avLst/>
            </a:prstGeom>
            <a:solidFill>
              <a:schemeClr val="bg1">
                <a:lumMod val="95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nSpc>
                  <a:spcPct val="70000"/>
                </a:lnSpc>
                <a:spcBef>
                  <a:spcPts val="600"/>
                </a:spcBef>
              </a:pPr>
              <a:r>
                <a:rPr lang="en-US" sz="2000" b="0" smtClean="0">
                  <a:solidFill>
                    <a:schemeClr val="dk1"/>
                  </a:solidFill>
                  <a:latin typeface="Courier New" pitchFamily="49" charset="0"/>
                  <a:cs typeface="Courier New" pitchFamily="49" charset="0"/>
                </a:rPr>
                <a:t>TimerB_ISR()</a:t>
              </a:r>
            </a:p>
            <a:p>
              <a:pPr>
                <a:lnSpc>
                  <a:spcPct val="70000"/>
                </a:lnSpc>
                <a:spcBef>
                  <a:spcPts val="600"/>
                </a:spcBef>
              </a:pPr>
              <a:r>
                <a:rPr lang="en-US" sz="2000" b="0" smtClean="0">
                  <a:solidFill>
                    <a:schemeClr val="dk1"/>
                  </a:solidFill>
                  <a:latin typeface="Courier New" pitchFamily="49" charset="0"/>
                  <a:cs typeface="Courier New" pitchFamily="49" charset="0"/>
                </a:rPr>
                <a:t>{</a:t>
              </a:r>
            </a:p>
            <a:p>
              <a:pPr>
                <a:lnSpc>
                  <a:spcPct val="70000"/>
                </a:lnSpc>
                <a:spcBef>
                  <a:spcPts val="600"/>
                </a:spcBef>
              </a:pPr>
              <a:r>
                <a:rPr lang="en-US" sz="2000" b="0">
                  <a:solidFill>
                    <a:schemeClr val="dk1"/>
                  </a:solidFill>
                  <a:latin typeface="Courier New" pitchFamily="49" charset="0"/>
                  <a:cs typeface="Courier New" pitchFamily="49" charset="0"/>
                </a:rPr>
                <a:t> </a:t>
              </a:r>
              <a:r>
                <a:rPr lang="en-US" sz="2000" b="0" smtClean="0">
                  <a:solidFill>
                    <a:schemeClr val="dk1"/>
                  </a:solidFill>
                  <a:latin typeface="Courier New" pitchFamily="49" charset="0"/>
                  <a:cs typeface="Courier New" pitchFamily="49" charset="0"/>
                </a:rPr>
                <a:t>read keypad;</a:t>
              </a:r>
            </a:p>
            <a:p>
              <a:pPr>
                <a:lnSpc>
                  <a:spcPct val="70000"/>
                </a:lnSpc>
                <a:spcBef>
                  <a:spcPts val="600"/>
                </a:spcBef>
              </a:pPr>
              <a:endParaRPr lang="en-US" sz="2000" b="0" smtClean="0">
                <a:solidFill>
                  <a:schemeClr val="dk1"/>
                </a:solidFill>
                <a:latin typeface="Courier New" pitchFamily="49" charset="0"/>
                <a:cs typeface="Courier New" pitchFamily="49" charset="0"/>
              </a:endParaRPr>
            </a:p>
            <a:p>
              <a:pPr>
                <a:lnSpc>
                  <a:spcPct val="70000"/>
                </a:lnSpc>
                <a:spcBef>
                  <a:spcPts val="600"/>
                </a:spcBef>
              </a:pPr>
              <a:r>
                <a:rPr lang="en-US" sz="2000" b="0" smtClean="0">
                  <a:solidFill>
                    <a:schemeClr val="dk1"/>
                  </a:solidFill>
                  <a:latin typeface="Courier New" pitchFamily="49" charset="0"/>
                  <a:cs typeface="Courier New" pitchFamily="49" charset="0"/>
                </a:rPr>
                <a:t>   </a:t>
              </a:r>
            </a:p>
            <a:p>
              <a:pPr>
                <a:lnSpc>
                  <a:spcPct val="70000"/>
                </a:lnSpc>
                <a:spcBef>
                  <a:spcPts val="600"/>
                </a:spcBef>
              </a:pPr>
              <a:r>
                <a:rPr lang="en-US" sz="2000" b="0" smtClean="0">
                  <a:solidFill>
                    <a:schemeClr val="dk1"/>
                  </a:solidFill>
                  <a:latin typeface="Courier New" pitchFamily="49" charset="0"/>
                  <a:cs typeface="Courier New" pitchFamily="49" charset="0"/>
                </a:rPr>
                <a:t>}</a:t>
              </a:r>
              <a:endParaRPr kumimoji="0" lang="en-US" sz="2000" b="0" i="0" u="none" strike="noStrike" cap="none" normalizeH="0" baseline="0" dirty="0" smtClean="0">
                <a:ln>
                  <a:noFill/>
                </a:ln>
                <a:solidFill>
                  <a:schemeClr val="dk1"/>
                </a:solidFill>
                <a:effectLst/>
                <a:latin typeface="Courier New" pitchFamily="49" charset="0"/>
                <a:cs typeface="Courier New" pitchFamily="49" charset="0"/>
              </a:endParaRPr>
            </a:p>
          </p:txBody>
        </p:sp>
        <p:sp>
          <p:nvSpPr>
            <p:cNvPr id="28" name="Rectangle 27"/>
            <p:cNvSpPr/>
            <p:nvPr/>
          </p:nvSpPr>
          <p:spPr bwMode="auto">
            <a:xfrm>
              <a:off x="678875" y="4258951"/>
              <a:ext cx="1295400" cy="385949"/>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smtClean="0">
                  <a:ln>
                    <a:noFill/>
                  </a:ln>
                  <a:solidFill>
                    <a:schemeClr val="dk1"/>
                  </a:solidFill>
                  <a:effectLst/>
                  <a:latin typeface="Calibri" pitchFamily="34" charset="0"/>
                  <a:cs typeface="Calibri" pitchFamily="34" charset="0"/>
                </a:rPr>
                <a:t>KeyPad</a:t>
              </a:r>
              <a:endParaRPr kumimoji="0" lang="en-US" b="0" i="0" u="none" strike="noStrike" cap="none" normalizeH="0" baseline="0" dirty="0" smtClean="0">
                <a:ln>
                  <a:noFill/>
                </a:ln>
                <a:solidFill>
                  <a:schemeClr val="dk1"/>
                </a:solidFill>
                <a:effectLst/>
                <a:latin typeface="Calibri" pitchFamily="34" charset="0"/>
                <a:cs typeface="Calibri" pitchFamily="34" charset="0"/>
              </a:endParaRPr>
            </a:p>
          </p:txBody>
        </p:sp>
      </p:grpSp>
      <p:pic>
        <p:nvPicPr>
          <p:cNvPr id="25" name="Animated Logo" descr="tilogo_color_twoline.png"/>
          <p:cNvPicPr>
            <a:picLocks noChangeAspect="1"/>
          </p:cNvPicPr>
          <p:nvPr/>
        </p:nvPicPr>
        <p:blipFill>
          <a:blip r:embed="rId5" cstate="print"/>
          <a:stretch>
            <a:fillRect/>
          </a:stretch>
        </p:blipFill>
        <p:spPr>
          <a:xfrm>
            <a:off x="50800" y="6477000"/>
            <a:ext cx="1438537" cy="347443"/>
          </a:xfrm>
          <a:prstGeom prst="rect">
            <a:avLst/>
          </a:prstGeom>
        </p:spPr>
      </p:pic>
    </p:spTree>
    <p:custDataLst>
      <p:tags r:id="rId1"/>
    </p:custDataLst>
    <p:extLst>
      <p:ext uri="{BB962C8B-B14F-4D97-AF65-F5344CB8AC3E}">
        <p14:creationId xmlns:p14="http://schemas.microsoft.com/office/powerpoint/2010/main" val="25603436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63"/>
                                        </p:tgtEl>
                                        <p:attrNameLst>
                                          <p:attrName>style.visibility</p:attrName>
                                        </p:attrNameLst>
                                      </p:cBhvr>
                                      <p:to>
                                        <p:strVal val="visible"/>
                                      </p:to>
                                    </p:se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499"/>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4"/>
          <p:cNvSpPr>
            <a:spLocks noGrp="1" noChangeArrowheads="1"/>
          </p:cNvSpPr>
          <p:nvPr>
            <p:ph type="title"/>
          </p:nvPr>
        </p:nvSpPr>
        <p:spPr/>
        <p:txBody>
          <a:bodyPr/>
          <a:lstStyle/>
          <a:p>
            <a:r>
              <a:rPr lang="en-US" smtClean="0"/>
              <a:t>Solution #3 – Nested INTs</a:t>
            </a:r>
            <a:endParaRPr lang="en-US" dirty="0" smtClean="0"/>
          </a:p>
        </p:txBody>
      </p:sp>
      <p:sp>
        <p:nvSpPr>
          <p:cNvPr id="9" name="Rectangle 8"/>
          <p:cNvSpPr/>
          <p:nvPr/>
        </p:nvSpPr>
        <p:spPr bwMode="auto">
          <a:xfrm>
            <a:off x="3019206" y="685800"/>
            <a:ext cx="5591394" cy="838200"/>
          </a:xfrm>
          <a:prstGeom prst="rect">
            <a:avLst/>
          </a:prstGeom>
          <a:solidFill>
            <a:schemeClr val="accent1"/>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lvl="0"/>
            <a:r>
              <a:rPr lang="en-US" smtClean="0">
                <a:solidFill>
                  <a:schemeClr val="tx2"/>
                </a:solidFill>
                <a:latin typeface="Calibri" pitchFamily="34" charset="0"/>
                <a:cs typeface="Calibri" pitchFamily="34" charset="0"/>
              </a:rPr>
              <a:t>Solution #3</a:t>
            </a:r>
            <a:r>
              <a:rPr lang="en-US" b="0" smtClean="0">
                <a:solidFill>
                  <a:srgbClr val="000000"/>
                </a:solidFill>
                <a:latin typeface="Calibri" pitchFamily="34" charset="0"/>
                <a:cs typeface="Calibri" pitchFamily="34" charset="0"/>
              </a:rPr>
              <a:t> – </a:t>
            </a:r>
            <a:r>
              <a:rPr lang="en-US" b="0" i="1" smtClean="0">
                <a:solidFill>
                  <a:schemeClr val="tx2"/>
                </a:solidFill>
                <a:latin typeface="Calibri" pitchFamily="34" charset="0"/>
                <a:cs typeface="Calibri" pitchFamily="34" charset="0"/>
              </a:rPr>
              <a:t>nested interrupts </a:t>
            </a:r>
            <a:r>
              <a:rPr lang="en-US" b="0" smtClean="0">
                <a:solidFill>
                  <a:srgbClr val="000000"/>
                </a:solidFill>
                <a:latin typeface="Calibri" pitchFamily="34" charset="0"/>
                <a:cs typeface="Calibri" pitchFamily="34" charset="0"/>
              </a:rPr>
              <a:t>allow hardware interrupts to preempt each other</a:t>
            </a:r>
            <a:endParaRPr lang="en-US" b="0" i="1" dirty="0">
              <a:solidFill>
                <a:srgbClr val="000000"/>
              </a:solidFill>
              <a:latin typeface="Calibri" pitchFamily="34" charset="0"/>
              <a:cs typeface="Calibri" pitchFamily="34" charset="0"/>
            </a:endParaRPr>
          </a:p>
        </p:txBody>
      </p:sp>
      <p:sp>
        <p:nvSpPr>
          <p:cNvPr id="10" name="TextBox 9"/>
          <p:cNvSpPr txBox="1"/>
          <p:nvPr/>
        </p:nvSpPr>
        <p:spPr>
          <a:xfrm>
            <a:off x="2667000" y="4267944"/>
            <a:ext cx="6477000" cy="1723549"/>
          </a:xfrm>
          <a:prstGeom prst="rect">
            <a:avLst/>
          </a:prstGeom>
          <a:noFill/>
        </p:spPr>
        <p:txBody>
          <a:bodyPr wrap="square" rtlCol="0" anchor="ctr" anchorCtr="0">
            <a:spAutoFit/>
          </a:bodyPr>
          <a:lstStyle/>
          <a:p>
            <a:pPr marL="342900" indent="-342900">
              <a:spcBef>
                <a:spcPts val="1200"/>
              </a:spcBef>
              <a:buClr>
                <a:schemeClr val="tx2"/>
              </a:buClr>
              <a:buSzPct val="75000"/>
              <a:buFont typeface="Wingdings"/>
              <a:buChar char=""/>
            </a:pPr>
            <a:r>
              <a:rPr lang="en-US" b="0" smtClean="0">
                <a:solidFill>
                  <a:schemeClr val="dk1"/>
                </a:solidFill>
                <a:latin typeface="Calibri" pitchFamily="34" charset="0"/>
                <a:cs typeface="Calibri" pitchFamily="34" charset="0"/>
              </a:rPr>
              <a:t>Number of priorities are tied to the number of interrupts (one fxn/ISR), h/w priorities inflexible</a:t>
            </a:r>
          </a:p>
          <a:p>
            <a:pPr marL="342900" indent="-342900">
              <a:spcBef>
                <a:spcPts val="1200"/>
              </a:spcBef>
              <a:buClr>
                <a:schemeClr val="tx2"/>
              </a:buClr>
              <a:buSzPct val="75000"/>
              <a:buFont typeface="Wingdings"/>
              <a:buChar char=""/>
            </a:pPr>
            <a:r>
              <a:rPr lang="en-US" b="0" smtClean="0">
                <a:solidFill>
                  <a:schemeClr val="dk1"/>
                </a:solidFill>
                <a:latin typeface="Calibri" pitchFamily="34" charset="0"/>
                <a:cs typeface="Calibri" pitchFamily="34" charset="0"/>
              </a:rPr>
              <a:t>Lower priority ISRs must enable higher priorities via manual code (touch one, touch all) – very messy and hard to validate</a:t>
            </a:r>
            <a:endParaRPr lang="en-US" b="0" dirty="0" smtClean="0">
              <a:solidFill>
                <a:schemeClr val="dk1"/>
              </a:solidFill>
              <a:latin typeface="Calibri" pitchFamily="34" charset="0"/>
              <a:cs typeface="Calibri" pitchFamily="34" charset="0"/>
            </a:endParaRPr>
          </a:p>
        </p:txBody>
      </p:sp>
      <p:sp>
        <p:nvSpPr>
          <p:cNvPr id="63" name="Leading Question"/>
          <p:cNvSpPr txBox="1"/>
          <p:nvPr/>
        </p:nvSpPr>
        <p:spPr>
          <a:xfrm>
            <a:off x="3684971" y="6284025"/>
            <a:ext cx="4392229" cy="332399"/>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ctr">
              <a:lnSpc>
                <a:spcPct val="90000"/>
              </a:lnSpc>
              <a:spcBef>
                <a:spcPct val="0"/>
              </a:spcBef>
            </a:pPr>
            <a:r>
              <a:rPr lang="en-US" b="0" smtClean="0">
                <a:solidFill>
                  <a:schemeClr val="tx2"/>
                </a:solidFill>
                <a:effectLst/>
                <a:latin typeface="Arial Narrow"/>
              </a:rPr>
              <a:t>Why is nesting required in this system?</a:t>
            </a:r>
            <a:endParaRPr lang="en-US" b="0" dirty="0" smtClean="0">
              <a:solidFill>
                <a:schemeClr val="tx2"/>
              </a:solidFill>
              <a:effectLst/>
              <a:latin typeface="Arial Narrow"/>
            </a:endParaRPr>
          </a:p>
        </p:txBody>
      </p:sp>
      <p:grpSp>
        <p:nvGrpSpPr>
          <p:cNvPr id="18" name="Group 17"/>
          <p:cNvGrpSpPr/>
          <p:nvPr/>
        </p:nvGrpSpPr>
        <p:grpSpPr>
          <a:xfrm>
            <a:off x="3190875" y="1692622"/>
            <a:ext cx="5191125" cy="2269778"/>
            <a:chOff x="3190875" y="1752600"/>
            <a:chExt cx="5267325" cy="2382322"/>
          </a:xfrm>
        </p:grpSpPr>
        <p:pic>
          <p:nvPicPr>
            <p:cNvPr id="1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0875" y="1752600"/>
              <a:ext cx="5267325" cy="238232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3229100" y="2006094"/>
              <a:ext cx="402674" cy="445635"/>
            </a:xfrm>
            <a:prstGeom prst="rect">
              <a:avLst/>
            </a:prstGeom>
            <a:noFill/>
          </p:spPr>
          <p:txBody>
            <a:bodyPr wrap="none" rtlCol="0" anchor="t" anchorCtr="0">
              <a:spAutoFit/>
            </a:bodyPr>
            <a:lstStyle/>
            <a:p>
              <a:r>
                <a:rPr lang="en-US" sz="2800" smtClean="0">
                  <a:solidFill>
                    <a:schemeClr val="dk1"/>
                  </a:solidFill>
                  <a:effectLst/>
                  <a:latin typeface="Calibri" pitchFamily="34" charset="0"/>
                  <a:cs typeface="Calibri" pitchFamily="34" charset="0"/>
                </a:rPr>
                <a:t>A</a:t>
              </a:r>
            </a:p>
          </p:txBody>
        </p:sp>
        <p:sp>
          <p:nvSpPr>
            <p:cNvPr id="36" name="TextBox 35"/>
            <p:cNvSpPr txBox="1"/>
            <p:nvPr/>
          </p:nvSpPr>
          <p:spPr>
            <a:xfrm>
              <a:off x="3229100" y="2818076"/>
              <a:ext cx="386644" cy="445635"/>
            </a:xfrm>
            <a:prstGeom prst="rect">
              <a:avLst/>
            </a:prstGeom>
            <a:noFill/>
          </p:spPr>
          <p:txBody>
            <a:bodyPr wrap="none" rtlCol="0" anchor="t" anchorCtr="0">
              <a:spAutoFit/>
            </a:bodyPr>
            <a:lstStyle/>
            <a:p>
              <a:r>
                <a:rPr lang="en-US" sz="2800" smtClean="0">
                  <a:solidFill>
                    <a:schemeClr val="dk1"/>
                  </a:solidFill>
                  <a:effectLst/>
                  <a:latin typeface="Calibri" pitchFamily="34" charset="0"/>
                  <a:cs typeface="Calibri" pitchFamily="34" charset="0"/>
                </a:rPr>
                <a:t>B</a:t>
              </a:r>
            </a:p>
          </p:txBody>
        </p:sp>
      </p:grpSp>
      <p:sp>
        <p:nvSpPr>
          <p:cNvPr id="38" name="Rounded Rectangle 37"/>
          <p:cNvSpPr/>
          <p:nvPr/>
        </p:nvSpPr>
        <p:spPr bwMode="auto">
          <a:xfrm>
            <a:off x="228600" y="5105400"/>
            <a:ext cx="2438400" cy="1295400"/>
          </a:xfrm>
          <a:prstGeom prst="roundRect">
            <a:avLst/>
          </a:prstGeom>
          <a:solidFill>
            <a:schemeClr val="bg1">
              <a:lumMod val="95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nSpc>
                <a:spcPct val="70000"/>
              </a:lnSpc>
              <a:spcBef>
                <a:spcPts val="600"/>
              </a:spcBef>
            </a:pPr>
            <a:r>
              <a:rPr lang="en-US" sz="2000" b="0" smtClean="0">
                <a:solidFill>
                  <a:schemeClr val="dk1"/>
                </a:solidFill>
                <a:latin typeface="Courier New" pitchFamily="49" charset="0"/>
                <a:cs typeface="Courier New" pitchFamily="49" charset="0"/>
              </a:rPr>
              <a:t>main()</a:t>
            </a:r>
          </a:p>
          <a:p>
            <a:pPr>
              <a:lnSpc>
                <a:spcPct val="70000"/>
              </a:lnSpc>
              <a:spcBef>
                <a:spcPts val="600"/>
              </a:spcBef>
            </a:pPr>
            <a:r>
              <a:rPr lang="en-US" sz="2000" b="0" smtClean="0">
                <a:solidFill>
                  <a:schemeClr val="dk1"/>
                </a:solidFill>
                <a:latin typeface="Courier New" pitchFamily="49" charset="0"/>
                <a:cs typeface="Courier New" pitchFamily="49" charset="0"/>
              </a:rPr>
              <a:t>{</a:t>
            </a:r>
          </a:p>
          <a:p>
            <a:pPr>
              <a:lnSpc>
                <a:spcPct val="70000"/>
              </a:lnSpc>
              <a:spcBef>
                <a:spcPts val="600"/>
              </a:spcBef>
            </a:pPr>
            <a:r>
              <a:rPr lang="en-US" sz="2000" b="0" smtClean="0">
                <a:solidFill>
                  <a:schemeClr val="dk1"/>
                </a:solidFill>
                <a:latin typeface="Courier New" pitchFamily="49" charset="0"/>
                <a:cs typeface="Courier New" pitchFamily="49" charset="0"/>
              </a:rPr>
              <a:t>  while(1);</a:t>
            </a:r>
          </a:p>
          <a:p>
            <a:pPr>
              <a:lnSpc>
                <a:spcPct val="70000"/>
              </a:lnSpc>
              <a:spcBef>
                <a:spcPts val="600"/>
              </a:spcBef>
            </a:pPr>
            <a:r>
              <a:rPr lang="en-US" sz="2000" b="0" smtClean="0">
                <a:solidFill>
                  <a:schemeClr val="dk1"/>
                </a:solidFill>
                <a:latin typeface="Courier New" pitchFamily="49" charset="0"/>
                <a:cs typeface="Courier New" pitchFamily="49" charset="0"/>
              </a:rPr>
              <a:t>}</a:t>
            </a:r>
            <a:endParaRPr kumimoji="0" lang="en-US" sz="2000" b="0" i="0" u="none" strike="noStrike" cap="none" normalizeH="0" baseline="0" dirty="0" smtClean="0">
              <a:ln>
                <a:noFill/>
              </a:ln>
              <a:solidFill>
                <a:schemeClr val="dk1"/>
              </a:solidFill>
              <a:effectLst/>
              <a:latin typeface="Courier New" pitchFamily="49" charset="0"/>
              <a:cs typeface="Courier New" pitchFamily="49" charset="0"/>
            </a:endParaRPr>
          </a:p>
        </p:txBody>
      </p:sp>
      <p:grpSp>
        <p:nvGrpSpPr>
          <p:cNvPr id="39" name="Group 38"/>
          <p:cNvGrpSpPr/>
          <p:nvPr/>
        </p:nvGrpSpPr>
        <p:grpSpPr>
          <a:xfrm>
            <a:off x="228600" y="762000"/>
            <a:ext cx="2438400" cy="1953707"/>
            <a:chOff x="228600" y="1018093"/>
            <a:chExt cx="2438400" cy="1953707"/>
          </a:xfrm>
        </p:grpSpPr>
        <p:sp>
          <p:nvSpPr>
            <p:cNvPr id="40" name="Rounded Rectangle 39"/>
            <p:cNvSpPr/>
            <p:nvPr/>
          </p:nvSpPr>
          <p:spPr bwMode="auto">
            <a:xfrm>
              <a:off x="228600" y="1018093"/>
              <a:ext cx="2438400" cy="1953707"/>
            </a:xfrm>
            <a:prstGeom prst="roundRect">
              <a:avLst/>
            </a:prstGeom>
            <a:solidFill>
              <a:schemeClr val="bg1">
                <a:lumMod val="95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nSpc>
                  <a:spcPct val="70000"/>
                </a:lnSpc>
                <a:spcBef>
                  <a:spcPts val="600"/>
                </a:spcBef>
              </a:pPr>
              <a:r>
                <a:rPr lang="en-US" sz="2000" b="0" smtClean="0">
                  <a:solidFill>
                    <a:schemeClr val="dk1"/>
                  </a:solidFill>
                  <a:latin typeface="Courier New" pitchFamily="49" charset="0"/>
                  <a:cs typeface="Courier New" pitchFamily="49" charset="0"/>
                </a:rPr>
                <a:t>TimerA_ISR()</a:t>
              </a:r>
            </a:p>
            <a:p>
              <a:pPr>
                <a:lnSpc>
                  <a:spcPct val="70000"/>
                </a:lnSpc>
                <a:spcBef>
                  <a:spcPts val="600"/>
                </a:spcBef>
              </a:pPr>
              <a:r>
                <a:rPr lang="en-US" sz="2000" b="0" smtClean="0">
                  <a:solidFill>
                    <a:schemeClr val="dk1"/>
                  </a:solidFill>
                  <a:latin typeface="Courier New" pitchFamily="49" charset="0"/>
                  <a:cs typeface="Courier New" pitchFamily="49" charset="0"/>
                </a:rPr>
                <a:t>{</a:t>
              </a:r>
            </a:p>
            <a:p>
              <a:pPr>
                <a:lnSpc>
                  <a:spcPct val="70000"/>
                </a:lnSpc>
                <a:spcBef>
                  <a:spcPts val="600"/>
                </a:spcBef>
              </a:pPr>
              <a:r>
                <a:rPr lang="en-US" sz="2000" b="0">
                  <a:solidFill>
                    <a:schemeClr val="dk1"/>
                  </a:solidFill>
                  <a:latin typeface="Courier New" pitchFamily="49" charset="0"/>
                  <a:cs typeface="Courier New" pitchFamily="49" charset="0"/>
                </a:rPr>
                <a:t> </a:t>
              </a:r>
              <a:r>
                <a:rPr lang="en-US" sz="2000" b="0" smtClean="0">
                  <a:solidFill>
                    <a:schemeClr val="dk1"/>
                  </a:solidFill>
                  <a:latin typeface="Courier New" pitchFamily="49" charset="0"/>
                  <a:cs typeface="Courier New" pitchFamily="49" charset="0"/>
                </a:rPr>
                <a:t>read sample;</a:t>
              </a:r>
            </a:p>
            <a:p>
              <a:pPr>
                <a:lnSpc>
                  <a:spcPct val="70000"/>
                </a:lnSpc>
                <a:spcBef>
                  <a:spcPts val="600"/>
                </a:spcBef>
              </a:pPr>
              <a:endParaRPr lang="en-US" sz="2000" b="0" smtClean="0">
                <a:solidFill>
                  <a:schemeClr val="dk1"/>
                </a:solidFill>
                <a:latin typeface="Courier New" pitchFamily="49" charset="0"/>
                <a:cs typeface="Courier New" pitchFamily="49" charset="0"/>
              </a:endParaRPr>
            </a:p>
            <a:p>
              <a:pPr>
                <a:lnSpc>
                  <a:spcPct val="70000"/>
                </a:lnSpc>
                <a:spcBef>
                  <a:spcPts val="600"/>
                </a:spcBef>
              </a:pPr>
              <a:r>
                <a:rPr lang="en-US" sz="2000" b="0" smtClean="0">
                  <a:solidFill>
                    <a:schemeClr val="dk1"/>
                  </a:solidFill>
                  <a:latin typeface="Courier New" pitchFamily="49" charset="0"/>
                  <a:cs typeface="Courier New" pitchFamily="49" charset="0"/>
                </a:rPr>
                <a:t>   </a:t>
              </a:r>
            </a:p>
            <a:p>
              <a:pPr>
                <a:lnSpc>
                  <a:spcPct val="70000"/>
                </a:lnSpc>
                <a:spcBef>
                  <a:spcPts val="600"/>
                </a:spcBef>
              </a:pPr>
              <a:r>
                <a:rPr lang="en-US" sz="2000" b="0" smtClean="0">
                  <a:solidFill>
                    <a:schemeClr val="dk1"/>
                  </a:solidFill>
                  <a:latin typeface="Courier New" pitchFamily="49" charset="0"/>
                  <a:cs typeface="Courier New" pitchFamily="49" charset="0"/>
                </a:rPr>
                <a:t>}</a:t>
              </a:r>
              <a:endParaRPr kumimoji="0" lang="en-US" sz="2000" b="0" i="0" u="none" strike="noStrike" cap="none" normalizeH="0" baseline="0" dirty="0" smtClean="0">
                <a:ln>
                  <a:noFill/>
                </a:ln>
                <a:solidFill>
                  <a:schemeClr val="dk1"/>
                </a:solidFill>
                <a:effectLst/>
                <a:latin typeface="Courier New" pitchFamily="49" charset="0"/>
                <a:cs typeface="Courier New" pitchFamily="49" charset="0"/>
              </a:endParaRPr>
            </a:p>
          </p:txBody>
        </p:sp>
        <p:sp>
          <p:nvSpPr>
            <p:cNvPr id="41" name="Rectangle 40"/>
            <p:cNvSpPr/>
            <p:nvPr/>
          </p:nvSpPr>
          <p:spPr bwMode="auto">
            <a:xfrm>
              <a:off x="678875" y="2125351"/>
              <a:ext cx="1295400" cy="385949"/>
            </a:xfrm>
            <a:prstGeom prst="rect">
              <a:avLst/>
            </a:prstGeom>
            <a:solidFill>
              <a:schemeClr val="accent5">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dirty="0" smtClean="0">
                  <a:ln>
                    <a:noFill/>
                  </a:ln>
                  <a:solidFill>
                    <a:schemeClr val="dk1"/>
                  </a:solidFill>
                  <a:effectLst/>
                  <a:latin typeface="Calibri" pitchFamily="34" charset="0"/>
                  <a:cs typeface="Calibri" pitchFamily="34" charset="0"/>
                </a:rPr>
                <a:t>Audio</a:t>
              </a:r>
            </a:p>
          </p:txBody>
        </p:sp>
      </p:grpSp>
      <p:grpSp>
        <p:nvGrpSpPr>
          <p:cNvPr id="42" name="Group 41"/>
          <p:cNvGrpSpPr/>
          <p:nvPr/>
        </p:nvGrpSpPr>
        <p:grpSpPr>
          <a:xfrm>
            <a:off x="228600" y="2933700"/>
            <a:ext cx="2438400" cy="1953707"/>
            <a:chOff x="228600" y="3151693"/>
            <a:chExt cx="2438400" cy="1953707"/>
          </a:xfrm>
        </p:grpSpPr>
        <p:sp>
          <p:nvSpPr>
            <p:cNvPr id="43" name="Rounded Rectangle 42"/>
            <p:cNvSpPr/>
            <p:nvPr/>
          </p:nvSpPr>
          <p:spPr bwMode="auto">
            <a:xfrm>
              <a:off x="228600" y="3151693"/>
              <a:ext cx="2438400" cy="1953707"/>
            </a:xfrm>
            <a:prstGeom prst="roundRect">
              <a:avLst/>
            </a:prstGeom>
            <a:solidFill>
              <a:schemeClr val="bg1">
                <a:lumMod val="95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nSpc>
                  <a:spcPct val="70000"/>
                </a:lnSpc>
                <a:spcBef>
                  <a:spcPts val="600"/>
                </a:spcBef>
              </a:pPr>
              <a:r>
                <a:rPr lang="en-US" sz="2000" b="0" smtClean="0">
                  <a:solidFill>
                    <a:schemeClr val="dk1"/>
                  </a:solidFill>
                  <a:latin typeface="Courier New" pitchFamily="49" charset="0"/>
                  <a:cs typeface="Courier New" pitchFamily="49" charset="0"/>
                </a:rPr>
                <a:t>TimerB_ISR()</a:t>
              </a:r>
            </a:p>
            <a:p>
              <a:pPr>
                <a:lnSpc>
                  <a:spcPct val="70000"/>
                </a:lnSpc>
                <a:spcBef>
                  <a:spcPts val="600"/>
                </a:spcBef>
              </a:pPr>
              <a:r>
                <a:rPr lang="en-US" sz="2000" b="0" smtClean="0">
                  <a:solidFill>
                    <a:schemeClr val="dk1"/>
                  </a:solidFill>
                  <a:latin typeface="Courier New" pitchFamily="49" charset="0"/>
                  <a:cs typeface="Courier New" pitchFamily="49" charset="0"/>
                </a:rPr>
                <a:t>{</a:t>
              </a:r>
            </a:p>
            <a:p>
              <a:pPr>
                <a:lnSpc>
                  <a:spcPct val="70000"/>
                </a:lnSpc>
                <a:spcBef>
                  <a:spcPts val="600"/>
                </a:spcBef>
              </a:pPr>
              <a:r>
                <a:rPr lang="en-US" sz="2000" b="0">
                  <a:solidFill>
                    <a:schemeClr val="dk1"/>
                  </a:solidFill>
                  <a:latin typeface="Courier New" pitchFamily="49" charset="0"/>
                  <a:cs typeface="Courier New" pitchFamily="49" charset="0"/>
                </a:rPr>
                <a:t> </a:t>
              </a:r>
              <a:r>
                <a:rPr lang="en-US" sz="2000" b="0" smtClean="0">
                  <a:solidFill>
                    <a:schemeClr val="dk1"/>
                  </a:solidFill>
                  <a:latin typeface="Courier New" pitchFamily="49" charset="0"/>
                  <a:cs typeface="Courier New" pitchFamily="49" charset="0"/>
                </a:rPr>
                <a:t>read keypad;</a:t>
              </a:r>
            </a:p>
            <a:p>
              <a:pPr>
                <a:lnSpc>
                  <a:spcPct val="70000"/>
                </a:lnSpc>
                <a:spcBef>
                  <a:spcPts val="600"/>
                </a:spcBef>
              </a:pPr>
              <a:endParaRPr lang="en-US" sz="2000" b="0" smtClean="0">
                <a:solidFill>
                  <a:schemeClr val="dk1"/>
                </a:solidFill>
                <a:latin typeface="Courier New" pitchFamily="49" charset="0"/>
                <a:cs typeface="Courier New" pitchFamily="49" charset="0"/>
              </a:endParaRPr>
            </a:p>
            <a:p>
              <a:pPr>
                <a:lnSpc>
                  <a:spcPct val="70000"/>
                </a:lnSpc>
                <a:spcBef>
                  <a:spcPts val="600"/>
                </a:spcBef>
              </a:pPr>
              <a:r>
                <a:rPr lang="en-US" sz="2000" b="0" smtClean="0">
                  <a:solidFill>
                    <a:schemeClr val="dk1"/>
                  </a:solidFill>
                  <a:latin typeface="Courier New" pitchFamily="49" charset="0"/>
                  <a:cs typeface="Courier New" pitchFamily="49" charset="0"/>
                </a:rPr>
                <a:t>   </a:t>
              </a:r>
            </a:p>
            <a:p>
              <a:pPr>
                <a:lnSpc>
                  <a:spcPct val="70000"/>
                </a:lnSpc>
                <a:spcBef>
                  <a:spcPts val="600"/>
                </a:spcBef>
              </a:pPr>
              <a:r>
                <a:rPr lang="en-US" sz="2000" b="0" smtClean="0">
                  <a:solidFill>
                    <a:schemeClr val="dk1"/>
                  </a:solidFill>
                  <a:latin typeface="Courier New" pitchFamily="49" charset="0"/>
                  <a:cs typeface="Courier New" pitchFamily="49" charset="0"/>
                </a:rPr>
                <a:t>}</a:t>
              </a:r>
              <a:endParaRPr kumimoji="0" lang="en-US" sz="2000" b="0" i="0" u="none" strike="noStrike" cap="none" normalizeH="0" baseline="0" dirty="0" smtClean="0">
                <a:ln>
                  <a:noFill/>
                </a:ln>
                <a:solidFill>
                  <a:schemeClr val="dk1"/>
                </a:solidFill>
                <a:effectLst/>
                <a:latin typeface="Courier New" pitchFamily="49" charset="0"/>
                <a:cs typeface="Courier New" pitchFamily="49" charset="0"/>
              </a:endParaRPr>
            </a:p>
          </p:txBody>
        </p:sp>
        <p:sp>
          <p:nvSpPr>
            <p:cNvPr id="44" name="Rectangle 43"/>
            <p:cNvSpPr/>
            <p:nvPr/>
          </p:nvSpPr>
          <p:spPr bwMode="auto">
            <a:xfrm>
              <a:off x="678875" y="4258951"/>
              <a:ext cx="1295400" cy="385949"/>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smtClean="0">
                  <a:ln>
                    <a:noFill/>
                  </a:ln>
                  <a:solidFill>
                    <a:schemeClr val="dk1"/>
                  </a:solidFill>
                  <a:effectLst/>
                  <a:latin typeface="Calibri" pitchFamily="34" charset="0"/>
                  <a:cs typeface="Calibri" pitchFamily="34" charset="0"/>
                </a:rPr>
                <a:t>KeyPad</a:t>
              </a:r>
              <a:endParaRPr kumimoji="0" lang="en-US" b="0" i="0" u="none" strike="noStrike" cap="none" normalizeH="0" baseline="0" dirty="0" smtClean="0">
                <a:ln>
                  <a:noFill/>
                </a:ln>
                <a:solidFill>
                  <a:schemeClr val="dk1"/>
                </a:solidFill>
                <a:effectLst/>
                <a:latin typeface="Calibri" pitchFamily="34" charset="0"/>
                <a:cs typeface="Calibri" pitchFamily="34" charset="0"/>
              </a:endParaRPr>
            </a:p>
          </p:txBody>
        </p:sp>
      </p:grpSp>
      <p:pic>
        <p:nvPicPr>
          <p:cNvPr id="22" name="Animated Logo" descr="tilogo_color_twoline.png"/>
          <p:cNvPicPr>
            <a:picLocks noChangeAspect="1"/>
          </p:cNvPicPr>
          <p:nvPr/>
        </p:nvPicPr>
        <p:blipFill>
          <a:blip r:embed="rId5" cstate="print"/>
          <a:stretch>
            <a:fillRect/>
          </a:stretch>
        </p:blipFill>
        <p:spPr>
          <a:xfrm>
            <a:off x="50800" y="6477000"/>
            <a:ext cx="1438537" cy="347443"/>
          </a:xfrm>
          <a:prstGeom prst="rect">
            <a:avLst/>
          </a:prstGeom>
        </p:spPr>
      </p:pic>
    </p:spTree>
    <p:custDataLst>
      <p:tags r:id="rId1"/>
    </p:custDataLst>
    <p:extLst>
      <p:ext uri="{BB962C8B-B14F-4D97-AF65-F5344CB8AC3E}">
        <p14:creationId xmlns:p14="http://schemas.microsoft.com/office/powerpoint/2010/main" val="7168257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3"/>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4"/>
          <p:cNvSpPr>
            <a:spLocks noGrp="1" noChangeArrowheads="1"/>
          </p:cNvSpPr>
          <p:nvPr>
            <p:ph type="title"/>
          </p:nvPr>
        </p:nvSpPr>
        <p:spPr/>
        <p:txBody>
          <a:bodyPr>
            <a:normAutofit/>
          </a:bodyPr>
          <a:lstStyle/>
          <a:p>
            <a:r>
              <a:rPr lang="en-US" smtClean="0"/>
              <a:t>Solution #4 ? – Separate Process &amp; ISR</a:t>
            </a:r>
            <a:endParaRPr lang="en-US" dirty="0" smtClean="0"/>
          </a:p>
        </p:txBody>
      </p:sp>
      <p:sp>
        <p:nvSpPr>
          <p:cNvPr id="9" name="Rectangle 8"/>
          <p:cNvSpPr/>
          <p:nvPr/>
        </p:nvSpPr>
        <p:spPr bwMode="auto">
          <a:xfrm>
            <a:off x="3048000" y="685800"/>
            <a:ext cx="5715000" cy="838200"/>
          </a:xfrm>
          <a:prstGeom prst="rect">
            <a:avLst/>
          </a:prstGeom>
          <a:solidFill>
            <a:schemeClr val="accent1"/>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lvl="0"/>
            <a:r>
              <a:rPr lang="en-US" smtClean="0">
                <a:solidFill>
                  <a:schemeClr val="tx2"/>
                </a:solidFill>
                <a:latin typeface="Calibri" pitchFamily="34" charset="0"/>
                <a:cs typeface="Calibri" pitchFamily="34" charset="0"/>
              </a:rPr>
              <a:t>Problem</a:t>
            </a:r>
            <a:r>
              <a:rPr lang="en-US" b="0" smtClean="0">
                <a:solidFill>
                  <a:srgbClr val="000000"/>
                </a:solidFill>
                <a:latin typeface="Calibri" pitchFamily="34" charset="0"/>
                <a:cs typeface="Calibri" pitchFamily="34" charset="0"/>
              </a:rPr>
              <a:t> – </a:t>
            </a:r>
            <a:r>
              <a:rPr lang="en-US" b="0" i="1" smtClean="0">
                <a:solidFill>
                  <a:schemeClr val="tx2"/>
                </a:solidFill>
                <a:latin typeface="Calibri" pitchFamily="34" charset="0"/>
                <a:cs typeface="Calibri" pitchFamily="34" charset="0"/>
              </a:rPr>
              <a:t>nested interrupts </a:t>
            </a:r>
            <a:r>
              <a:rPr lang="en-US" b="0" smtClean="0">
                <a:solidFill>
                  <a:srgbClr val="000000"/>
                </a:solidFill>
                <a:latin typeface="Calibri" pitchFamily="34" charset="0"/>
                <a:cs typeface="Calibri" pitchFamily="34" charset="0"/>
              </a:rPr>
              <a:t>are used because “Process” (algo) is done IN the ISR !</a:t>
            </a:r>
            <a:endParaRPr lang="en-US" b="0" i="1" dirty="0">
              <a:solidFill>
                <a:srgbClr val="000000"/>
              </a:solidFill>
              <a:latin typeface="Calibri" pitchFamily="34" charset="0"/>
              <a:cs typeface="Calibri" pitchFamily="34" charset="0"/>
            </a:endParaRPr>
          </a:p>
        </p:txBody>
      </p:sp>
      <p:sp>
        <p:nvSpPr>
          <p:cNvPr id="10" name="TextBox 9"/>
          <p:cNvSpPr txBox="1"/>
          <p:nvPr/>
        </p:nvSpPr>
        <p:spPr>
          <a:xfrm>
            <a:off x="2895600" y="1632516"/>
            <a:ext cx="6146800" cy="626005"/>
          </a:xfrm>
          <a:prstGeom prst="rect">
            <a:avLst/>
          </a:prstGeom>
          <a:noFill/>
        </p:spPr>
        <p:txBody>
          <a:bodyPr wrap="square" rtlCol="0" anchor="ctr" anchorCtr="0">
            <a:spAutoFit/>
          </a:bodyPr>
          <a:lstStyle/>
          <a:p>
            <a:pPr marL="342900" indent="-342900">
              <a:lnSpc>
                <a:spcPct val="70000"/>
              </a:lnSpc>
              <a:spcBef>
                <a:spcPts val="600"/>
              </a:spcBef>
              <a:buClr>
                <a:schemeClr val="tx2"/>
              </a:buClr>
              <a:buSzPct val="75000"/>
              <a:buFont typeface="Wingdings"/>
              <a:buChar char=""/>
            </a:pPr>
            <a:r>
              <a:rPr lang="en-US" b="0" smtClean="0">
                <a:solidFill>
                  <a:schemeClr val="dk1"/>
                </a:solidFill>
                <a:latin typeface="Calibri" pitchFamily="34" charset="0"/>
                <a:cs typeface="Calibri" pitchFamily="34" charset="0"/>
              </a:rPr>
              <a:t>When HI PRI is running, you could STILL miss interrupts:</a:t>
            </a:r>
            <a:endParaRPr lang="en-US" b="0" dirty="0" smtClean="0">
              <a:solidFill>
                <a:schemeClr val="dk1"/>
              </a:solidFill>
              <a:latin typeface="Calibri" pitchFamily="34" charset="0"/>
              <a:cs typeface="Calibri" pitchFamily="34" charset="0"/>
            </a:endParaRPr>
          </a:p>
        </p:txBody>
      </p:sp>
      <p:sp>
        <p:nvSpPr>
          <p:cNvPr id="63" name="Leading Question"/>
          <p:cNvSpPr txBox="1"/>
          <p:nvPr/>
        </p:nvSpPr>
        <p:spPr>
          <a:xfrm>
            <a:off x="4419600" y="6405750"/>
            <a:ext cx="4297651" cy="276999"/>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ctr">
              <a:lnSpc>
                <a:spcPct val="90000"/>
              </a:lnSpc>
              <a:spcBef>
                <a:spcPct val="0"/>
              </a:spcBef>
            </a:pPr>
            <a:r>
              <a:rPr lang="en-US" sz="2000" b="0" smtClean="0">
                <a:solidFill>
                  <a:schemeClr val="tx2"/>
                </a:solidFill>
                <a:latin typeface="Arial Narrow"/>
              </a:rPr>
              <a:t>This is what the BIOS Scheduler is all about…</a:t>
            </a:r>
            <a:endParaRPr lang="en-US" sz="2000" b="0" dirty="0" smtClean="0">
              <a:solidFill>
                <a:schemeClr val="tx2"/>
              </a:solidFill>
              <a:effectLst/>
              <a:latin typeface="Arial Narrow"/>
            </a:endParaRPr>
          </a:p>
        </p:txBody>
      </p:sp>
      <p:sp>
        <p:nvSpPr>
          <p:cNvPr id="19" name="Rounded Rectangle 18"/>
          <p:cNvSpPr/>
          <p:nvPr/>
        </p:nvSpPr>
        <p:spPr bwMode="auto">
          <a:xfrm>
            <a:off x="228600" y="5105400"/>
            <a:ext cx="2438400" cy="1295400"/>
          </a:xfrm>
          <a:prstGeom prst="roundRect">
            <a:avLst/>
          </a:prstGeom>
          <a:solidFill>
            <a:schemeClr val="bg1">
              <a:lumMod val="95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nSpc>
                <a:spcPct val="70000"/>
              </a:lnSpc>
              <a:spcBef>
                <a:spcPts val="600"/>
              </a:spcBef>
            </a:pPr>
            <a:r>
              <a:rPr lang="en-US" sz="2000" b="0" smtClean="0">
                <a:solidFill>
                  <a:schemeClr val="dk1"/>
                </a:solidFill>
                <a:latin typeface="Courier New" pitchFamily="49" charset="0"/>
                <a:cs typeface="Courier New" pitchFamily="49" charset="0"/>
              </a:rPr>
              <a:t>main()</a:t>
            </a:r>
          </a:p>
          <a:p>
            <a:pPr>
              <a:lnSpc>
                <a:spcPct val="70000"/>
              </a:lnSpc>
              <a:spcBef>
                <a:spcPts val="600"/>
              </a:spcBef>
            </a:pPr>
            <a:r>
              <a:rPr lang="en-US" sz="2000" b="0" smtClean="0">
                <a:solidFill>
                  <a:schemeClr val="dk1"/>
                </a:solidFill>
                <a:latin typeface="Courier New" pitchFamily="49" charset="0"/>
                <a:cs typeface="Courier New" pitchFamily="49" charset="0"/>
              </a:rPr>
              <a:t>{</a:t>
            </a:r>
          </a:p>
          <a:p>
            <a:pPr>
              <a:lnSpc>
                <a:spcPct val="70000"/>
              </a:lnSpc>
              <a:spcBef>
                <a:spcPts val="600"/>
              </a:spcBef>
            </a:pPr>
            <a:r>
              <a:rPr lang="en-US" sz="2000" b="0" smtClean="0">
                <a:solidFill>
                  <a:schemeClr val="dk1"/>
                </a:solidFill>
                <a:latin typeface="Courier New" pitchFamily="49" charset="0"/>
                <a:cs typeface="Courier New" pitchFamily="49" charset="0"/>
              </a:rPr>
              <a:t>  while(1);</a:t>
            </a:r>
          </a:p>
          <a:p>
            <a:pPr>
              <a:lnSpc>
                <a:spcPct val="70000"/>
              </a:lnSpc>
              <a:spcBef>
                <a:spcPts val="600"/>
              </a:spcBef>
            </a:pPr>
            <a:r>
              <a:rPr lang="en-US" sz="2000" b="0" smtClean="0">
                <a:solidFill>
                  <a:schemeClr val="dk1"/>
                </a:solidFill>
                <a:latin typeface="Courier New" pitchFamily="49" charset="0"/>
                <a:cs typeface="Courier New" pitchFamily="49" charset="0"/>
              </a:rPr>
              <a:t>}</a:t>
            </a:r>
            <a:endParaRPr kumimoji="0" lang="en-US" sz="2000" b="0" i="0" u="none" strike="noStrike" cap="none" normalizeH="0" baseline="0" dirty="0" smtClean="0">
              <a:ln>
                <a:noFill/>
              </a:ln>
              <a:solidFill>
                <a:schemeClr val="dk1"/>
              </a:solidFill>
              <a:effectLst/>
              <a:latin typeface="Courier New" pitchFamily="49" charset="0"/>
              <a:cs typeface="Courier New" pitchFamily="49" charset="0"/>
            </a:endParaRPr>
          </a:p>
        </p:txBody>
      </p:sp>
      <p:grpSp>
        <p:nvGrpSpPr>
          <p:cNvPr id="20" name="Group 19"/>
          <p:cNvGrpSpPr/>
          <p:nvPr/>
        </p:nvGrpSpPr>
        <p:grpSpPr>
          <a:xfrm>
            <a:off x="228600" y="762000"/>
            <a:ext cx="2438400" cy="1953707"/>
            <a:chOff x="228600" y="1018093"/>
            <a:chExt cx="2438400" cy="1953707"/>
          </a:xfrm>
        </p:grpSpPr>
        <p:sp>
          <p:nvSpPr>
            <p:cNvPr id="21" name="Rounded Rectangle 20"/>
            <p:cNvSpPr/>
            <p:nvPr/>
          </p:nvSpPr>
          <p:spPr bwMode="auto">
            <a:xfrm>
              <a:off x="228600" y="1018093"/>
              <a:ext cx="2438400" cy="1953707"/>
            </a:xfrm>
            <a:prstGeom prst="roundRect">
              <a:avLst/>
            </a:prstGeom>
            <a:solidFill>
              <a:schemeClr val="bg1">
                <a:lumMod val="95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nSpc>
                  <a:spcPct val="70000"/>
                </a:lnSpc>
                <a:spcBef>
                  <a:spcPts val="600"/>
                </a:spcBef>
              </a:pPr>
              <a:r>
                <a:rPr lang="en-US" sz="2000" b="0" smtClean="0">
                  <a:solidFill>
                    <a:schemeClr val="dk1"/>
                  </a:solidFill>
                  <a:latin typeface="Courier New" pitchFamily="49" charset="0"/>
                  <a:cs typeface="Courier New" pitchFamily="49" charset="0"/>
                </a:rPr>
                <a:t>TimerA_ISR()</a:t>
              </a:r>
            </a:p>
            <a:p>
              <a:pPr>
                <a:lnSpc>
                  <a:spcPct val="70000"/>
                </a:lnSpc>
                <a:spcBef>
                  <a:spcPts val="600"/>
                </a:spcBef>
              </a:pPr>
              <a:r>
                <a:rPr lang="en-US" sz="2000" b="0" smtClean="0">
                  <a:solidFill>
                    <a:schemeClr val="dk1"/>
                  </a:solidFill>
                  <a:latin typeface="Courier New" pitchFamily="49" charset="0"/>
                  <a:cs typeface="Courier New" pitchFamily="49" charset="0"/>
                </a:rPr>
                <a:t>{</a:t>
              </a:r>
            </a:p>
            <a:p>
              <a:pPr>
                <a:lnSpc>
                  <a:spcPct val="70000"/>
                </a:lnSpc>
                <a:spcBef>
                  <a:spcPts val="600"/>
                </a:spcBef>
              </a:pPr>
              <a:r>
                <a:rPr lang="en-US" sz="2000" b="0">
                  <a:solidFill>
                    <a:schemeClr val="dk1"/>
                  </a:solidFill>
                  <a:latin typeface="Courier New" pitchFamily="49" charset="0"/>
                  <a:cs typeface="Courier New" pitchFamily="49" charset="0"/>
                </a:rPr>
                <a:t> </a:t>
              </a:r>
              <a:r>
                <a:rPr lang="en-US" sz="2000" b="0" smtClean="0">
                  <a:solidFill>
                    <a:schemeClr val="dk1"/>
                  </a:solidFill>
                  <a:latin typeface="Courier New" pitchFamily="49" charset="0"/>
                  <a:cs typeface="Courier New" pitchFamily="49" charset="0"/>
                </a:rPr>
                <a:t>read sample;</a:t>
              </a:r>
            </a:p>
            <a:p>
              <a:pPr>
                <a:lnSpc>
                  <a:spcPct val="70000"/>
                </a:lnSpc>
                <a:spcBef>
                  <a:spcPts val="600"/>
                </a:spcBef>
              </a:pPr>
              <a:endParaRPr lang="en-US" sz="2000" b="0" smtClean="0">
                <a:solidFill>
                  <a:schemeClr val="dk1"/>
                </a:solidFill>
                <a:latin typeface="Courier New" pitchFamily="49" charset="0"/>
                <a:cs typeface="Courier New" pitchFamily="49" charset="0"/>
              </a:endParaRPr>
            </a:p>
            <a:p>
              <a:pPr>
                <a:lnSpc>
                  <a:spcPct val="70000"/>
                </a:lnSpc>
                <a:spcBef>
                  <a:spcPts val="600"/>
                </a:spcBef>
              </a:pPr>
              <a:r>
                <a:rPr lang="en-US" sz="2000" b="0" smtClean="0">
                  <a:solidFill>
                    <a:schemeClr val="dk1"/>
                  </a:solidFill>
                  <a:latin typeface="Courier New" pitchFamily="49" charset="0"/>
                  <a:cs typeface="Courier New" pitchFamily="49" charset="0"/>
                </a:rPr>
                <a:t>   </a:t>
              </a:r>
            </a:p>
            <a:p>
              <a:pPr>
                <a:lnSpc>
                  <a:spcPct val="70000"/>
                </a:lnSpc>
                <a:spcBef>
                  <a:spcPts val="600"/>
                </a:spcBef>
              </a:pPr>
              <a:r>
                <a:rPr lang="en-US" sz="2000" b="0" smtClean="0">
                  <a:solidFill>
                    <a:schemeClr val="dk1"/>
                  </a:solidFill>
                  <a:latin typeface="Courier New" pitchFamily="49" charset="0"/>
                  <a:cs typeface="Courier New" pitchFamily="49" charset="0"/>
                </a:rPr>
                <a:t>}</a:t>
              </a:r>
              <a:endParaRPr kumimoji="0" lang="en-US" sz="2000" b="0" i="0" u="none" strike="noStrike" cap="none" normalizeH="0" baseline="0" dirty="0" smtClean="0">
                <a:ln>
                  <a:noFill/>
                </a:ln>
                <a:solidFill>
                  <a:schemeClr val="dk1"/>
                </a:solidFill>
                <a:effectLst/>
                <a:latin typeface="Courier New" pitchFamily="49" charset="0"/>
                <a:cs typeface="Courier New" pitchFamily="49" charset="0"/>
              </a:endParaRPr>
            </a:p>
          </p:txBody>
        </p:sp>
        <p:sp>
          <p:nvSpPr>
            <p:cNvPr id="22" name="Rectangle 21"/>
            <p:cNvSpPr/>
            <p:nvPr/>
          </p:nvSpPr>
          <p:spPr bwMode="auto">
            <a:xfrm>
              <a:off x="678875" y="2125351"/>
              <a:ext cx="1295400" cy="385949"/>
            </a:xfrm>
            <a:prstGeom prst="rect">
              <a:avLst/>
            </a:prstGeom>
            <a:solidFill>
              <a:schemeClr val="accent5">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dirty="0" smtClean="0">
                  <a:ln>
                    <a:noFill/>
                  </a:ln>
                  <a:solidFill>
                    <a:schemeClr val="dk1"/>
                  </a:solidFill>
                  <a:effectLst/>
                  <a:latin typeface="Calibri" pitchFamily="34" charset="0"/>
                  <a:cs typeface="Calibri" pitchFamily="34" charset="0"/>
                </a:rPr>
                <a:t>Audio</a:t>
              </a:r>
            </a:p>
          </p:txBody>
        </p:sp>
      </p:grpSp>
      <p:grpSp>
        <p:nvGrpSpPr>
          <p:cNvPr id="23" name="Group 22"/>
          <p:cNvGrpSpPr/>
          <p:nvPr/>
        </p:nvGrpSpPr>
        <p:grpSpPr>
          <a:xfrm>
            <a:off x="228600" y="2933700"/>
            <a:ext cx="2438400" cy="1953707"/>
            <a:chOff x="228600" y="3151693"/>
            <a:chExt cx="2438400" cy="1953707"/>
          </a:xfrm>
        </p:grpSpPr>
        <p:sp>
          <p:nvSpPr>
            <p:cNvPr id="24" name="Rounded Rectangle 23"/>
            <p:cNvSpPr/>
            <p:nvPr/>
          </p:nvSpPr>
          <p:spPr bwMode="auto">
            <a:xfrm>
              <a:off x="228600" y="3151693"/>
              <a:ext cx="2438400" cy="1953707"/>
            </a:xfrm>
            <a:prstGeom prst="roundRect">
              <a:avLst/>
            </a:prstGeom>
            <a:solidFill>
              <a:schemeClr val="bg1">
                <a:lumMod val="95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nSpc>
                  <a:spcPct val="70000"/>
                </a:lnSpc>
                <a:spcBef>
                  <a:spcPts val="600"/>
                </a:spcBef>
              </a:pPr>
              <a:r>
                <a:rPr lang="en-US" sz="2000" b="0" smtClean="0">
                  <a:solidFill>
                    <a:schemeClr val="dk1"/>
                  </a:solidFill>
                  <a:latin typeface="Courier New" pitchFamily="49" charset="0"/>
                  <a:cs typeface="Courier New" pitchFamily="49" charset="0"/>
                </a:rPr>
                <a:t>TimerB_ISR()</a:t>
              </a:r>
            </a:p>
            <a:p>
              <a:pPr>
                <a:lnSpc>
                  <a:spcPct val="70000"/>
                </a:lnSpc>
                <a:spcBef>
                  <a:spcPts val="600"/>
                </a:spcBef>
              </a:pPr>
              <a:r>
                <a:rPr lang="en-US" sz="2000" b="0" smtClean="0">
                  <a:solidFill>
                    <a:schemeClr val="dk1"/>
                  </a:solidFill>
                  <a:latin typeface="Courier New" pitchFamily="49" charset="0"/>
                  <a:cs typeface="Courier New" pitchFamily="49" charset="0"/>
                </a:rPr>
                <a:t>{</a:t>
              </a:r>
            </a:p>
            <a:p>
              <a:pPr>
                <a:lnSpc>
                  <a:spcPct val="70000"/>
                </a:lnSpc>
                <a:spcBef>
                  <a:spcPts val="600"/>
                </a:spcBef>
              </a:pPr>
              <a:r>
                <a:rPr lang="en-US" sz="2000" b="0">
                  <a:solidFill>
                    <a:schemeClr val="dk1"/>
                  </a:solidFill>
                  <a:latin typeface="Courier New" pitchFamily="49" charset="0"/>
                  <a:cs typeface="Courier New" pitchFamily="49" charset="0"/>
                </a:rPr>
                <a:t> </a:t>
              </a:r>
              <a:r>
                <a:rPr lang="en-US" sz="2000" b="0" smtClean="0">
                  <a:solidFill>
                    <a:schemeClr val="dk1"/>
                  </a:solidFill>
                  <a:latin typeface="Courier New" pitchFamily="49" charset="0"/>
                  <a:cs typeface="Courier New" pitchFamily="49" charset="0"/>
                </a:rPr>
                <a:t>read keypad;</a:t>
              </a:r>
            </a:p>
            <a:p>
              <a:pPr>
                <a:lnSpc>
                  <a:spcPct val="70000"/>
                </a:lnSpc>
                <a:spcBef>
                  <a:spcPts val="600"/>
                </a:spcBef>
              </a:pPr>
              <a:endParaRPr lang="en-US" sz="2000" b="0" smtClean="0">
                <a:solidFill>
                  <a:schemeClr val="dk1"/>
                </a:solidFill>
                <a:latin typeface="Courier New" pitchFamily="49" charset="0"/>
                <a:cs typeface="Courier New" pitchFamily="49" charset="0"/>
              </a:endParaRPr>
            </a:p>
            <a:p>
              <a:pPr>
                <a:lnSpc>
                  <a:spcPct val="70000"/>
                </a:lnSpc>
                <a:spcBef>
                  <a:spcPts val="600"/>
                </a:spcBef>
              </a:pPr>
              <a:r>
                <a:rPr lang="en-US" sz="2000" b="0" smtClean="0">
                  <a:solidFill>
                    <a:schemeClr val="dk1"/>
                  </a:solidFill>
                  <a:latin typeface="Courier New" pitchFamily="49" charset="0"/>
                  <a:cs typeface="Courier New" pitchFamily="49" charset="0"/>
                </a:rPr>
                <a:t>   </a:t>
              </a:r>
            </a:p>
            <a:p>
              <a:pPr>
                <a:lnSpc>
                  <a:spcPct val="70000"/>
                </a:lnSpc>
                <a:spcBef>
                  <a:spcPts val="600"/>
                </a:spcBef>
              </a:pPr>
              <a:r>
                <a:rPr lang="en-US" sz="2000" b="0" smtClean="0">
                  <a:solidFill>
                    <a:schemeClr val="dk1"/>
                  </a:solidFill>
                  <a:latin typeface="Courier New" pitchFamily="49" charset="0"/>
                  <a:cs typeface="Courier New" pitchFamily="49" charset="0"/>
                </a:rPr>
                <a:t>}</a:t>
              </a:r>
              <a:endParaRPr kumimoji="0" lang="en-US" sz="2000" b="0" i="0" u="none" strike="noStrike" cap="none" normalizeH="0" baseline="0" dirty="0" smtClean="0">
                <a:ln>
                  <a:noFill/>
                </a:ln>
                <a:solidFill>
                  <a:schemeClr val="dk1"/>
                </a:solidFill>
                <a:effectLst/>
                <a:latin typeface="Courier New" pitchFamily="49" charset="0"/>
                <a:cs typeface="Courier New" pitchFamily="49" charset="0"/>
              </a:endParaRPr>
            </a:p>
          </p:txBody>
        </p:sp>
        <p:sp>
          <p:nvSpPr>
            <p:cNvPr id="25" name="Rectangle 24"/>
            <p:cNvSpPr/>
            <p:nvPr/>
          </p:nvSpPr>
          <p:spPr bwMode="auto">
            <a:xfrm>
              <a:off x="678875" y="4258951"/>
              <a:ext cx="1295400" cy="385949"/>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smtClean="0">
                  <a:ln>
                    <a:noFill/>
                  </a:ln>
                  <a:solidFill>
                    <a:schemeClr val="dk1"/>
                  </a:solidFill>
                  <a:effectLst/>
                  <a:latin typeface="Calibri" pitchFamily="34" charset="0"/>
                  <a:cs typeface="Calibri" pitchFamily="34" charset="0"/>
                </a:rPr>
                <a:t>KeyPad</a:t>
              </a:r>
              <a:endParaRPr kumimoji="0" lang="en-US" b="0" i="0" u="none" strike="noStrike" cap="none" normalizeH="0" baseline="0" dirty="0" smtClean="0">
                <a:ln>
                  <a:noFill/>
                </a:ln>
                <a:solidFill>
                  <a:schemeClr val="dk1"/>
                </a:solidFill>
                <a:effectLst/>
                <a:latin typeface="Calibri" pitchFamily="34" charset="0"/>
                <a:cs typeface="Calibri" pitchFamily="34" charset="0"/>
              </a:endParaRPr>
            </a:p>
          </p:txBody>
        </p:sp>
      </p:grpSp>
      <p:grpSp>
        <p:nvGrpSpPr>
          <p:cNvPr id="4" name="Group 3"/>
          <p:cNvGrpSpPr/>
          <p:nvPr/>
        </p:nvGrpSpPr>
        <p:grpSpPr>
          <a:xfrm>
            <a:off x="3352800" y="2289480"/>
            <a:ext cx="5486400" cy="1545731"/>
            <a:chOff x="3352800" y="2360730"/>
            <a:chExt cx="5486400" cy="1545731"/>
          </a:xfrm>
        </p:grpSpPr>
        <p:sp>
          <p:nvSpPr>
            <p:cNvPr id="26" name="TextBox 25"/>
            <p:cNvSpPr txBox="1"/>
            <p:nvPr/>
          </p:nvSpPr>
          <p:spPr>
            <a:xfrm>
              <a:off x="3352800" y="2360730"/>
              <a:ext cx="533400" cy="1192636"/>
            </a:xfrm>
            <a:prstGeom prst="rect">
              <a:avLst/>
            </a:prstGeom>
            <a:solidFill>
              <a:schemeClr val="bg1">
                <a:lumMod val="95000"/>
              </a:schemeClr>
            </a:solidFill>
            <a:ln w="6350">
              <a:solidFill>
                <a:schemeClr val="tx1"/>
              </a:solidFill>
            </a:ln>
          </p:spPr>
          <p:txBody>
            <a:bodyPr wrap="none" rtlCol="0" anchor="ctr" anchorCtr="1">
              <a:noAutofit/>
            </a:bodyPr>
            <a:lstStyle/>
            <a:p>
              <a:pPr algn="ctr"/>
              <a:r>
                <a:rPr lang="en-US" sz="2000" b="0" smtClean="0">
                  <a:solidFill>
                    <a:schemeClr val="dk1"/>
                  </a:solidFill>
                  <a:latin typeface="Calibri" pitchFamily="34" charset="0"/>
                  <a:cs typeface="Calibri" pitchFamily="34" charset="0"/>
                </a:rPr>
                <a:t>C/S</a:t>
              </a:r>
            </a:p>
            <a:p>
              <a:pPr algn="ctr"/>
              <a:r>
                <a:rPr lang="en-US" sz="1800" b="0" smtClean="0">
                  <a:solidFill>
                    <a:schemeClr val="dk1"/>
                  </a:solidFill>
                  <a:effectLst/>
                  <a:latin typeface="Arial Narrow" pitchFamily="34" charset="0"/>
                  <a:cs typeface="Calibri" pitchFamily="34" charset="0"/>
                </a:rPr>
                <a:t>Nest?</a:t>
              </a:r>
            </a:p>
          </p:txBody>
        </p:sp>
        <p:sp>
          <p:nvSpPr>
            <p:cNvPr id="27" name="TextBox 26"/>
            <p:cNvSpPr txBox="1"/>
            <p:nvPr/>
          </p:nvSpPr>
          <p:spPr>
            <a:xfrm>
              <a:off x="8382000" y="2360730"/>
              <a:ext cx="457200" cy="1192636"/>
            </a:xfrm>
            <a:prstGeom prst="rect">
              <a:avLst/>
            </a:prstGeom>
            <a:solidFill>
              <a:schemeClr val="bg1">
                <a:lumMod val="95000"/>
              </a:schemeClr>
            </a:solidFill>
            <a:ln w="6350">
              <a:solidFill>
                <a:schemeClr val="tx1"/>
              </a:solidFill>
            </a:ln>
          </p:spPr>
          <p:txBody>
            <a:bodyPr wrap="none" rtlCol="0" anchor="ctr" anchorCtr="1">
              <a:noAutofit/>
            </a:bodyPr>
            <a:lstStyle/>
            <a:p>
              <a:r>
                <a:rPr lang="en-US" sz="2000" b="0" smtClean="0">
                  <a:solidFill>
                    <a:schemeClr val="dk1"/>
                  </a:solidFill>
                  <a:latin typeface="Calibri" pitchFamily="34" charset="0"/>
                  <a:cs typeface="Calibri" pitchFamily="34" charset="0"/>
                </a:rPr>
                <a:t>C/R</a:t>
              </a:r>
              <a:endParaRPr lang="en-US" b="0" smtClean="0">
                <a:solidFill>
                  <a:schemeClr val="dk1"/>
                </a:solidFill>
                <a:effectLst/>
                <a:latin typeface="Calibri" pitchFamily="34" charset="0"/>
                <a:cs typeface="Calibri" pitchFamily="34" charset="0"/>
              </a:endParaRPr>
            </a:p>
          </p:txBody>
        </p:sp>
        <p:sp>
          <p:nvSpPr>
            <p:cNvPr id="37" name="TextBox 36"/>
            <p:cNvSpPr txBox="1"/>
            <p:nvPr/>
          </p:nvSpPr>
          <p:spPr>
            <a:xfrm>
              <a:off x="3895580" y="2360730"/>
              <a:ext cx="676420" cy="1192636"/>
            </a:xfrm>
            <a:prstGeom prst="rect">
              <a:avLst/>
            </a:prstGeom>
            <a:solidFill>
              <a:schemeClr val="accent1">
                <a:lumMod val="75000"/>
              </a:schemeClr>
            </a:solidFill>
            <a:ln w="6350">
              <a:solidFill>
                <a:schemeClr val="tx1"/>
              </a:solidFill>
            </a:ln>
          </p:spPr>
          <p:txBody>
            <a:bodyPr wrap="none" rtlCol="0" anchor="ctr" anchorCtr="1">
              <a:noAutofit/>
            </a:bodyPr>
            <a:lstStyle/>
            <a:p>
              <a:pPr algn="ctr">
                <a:spcBef>
                  <a:spcPts val="200"/>
                </a:spcBef>
              </a:pPr>
              <a:r>
                <a:rPr lang="en-US" sz="1800" b="0" smtClean="0">
                  <a:solidFill>
                    <a:schemeClr val="dk1"/>
                  </a:solidFill>
                  <a:latin typeface="Arial Narrow" pitchFamily="34" charset="0"/>
                  <a:cs typeface="Calibri" pitchFamily="34" charset="0"/>
                </a:rPr>
                <a:t>Hard</a:t>
              </a:r>
            </a:p>
            <a:p>
              <a:pPr algn="ctr">
                <a:spcBef>
                  <a:spcPts val="200"/>
                </a:spcBef>
              </a:pPr>
              <a:r>
                <a:rPr lang="en-US" sz="1800" b="0" smtClean="0">
                  <a:solidFill>
                    <a:schemeClr val="dk1"/>
                  </a:solidFill>
                  <a:effectLst/>
                  <a:latin typeface="Arial Narrow" pitchFamily="34" charset="0"/>
                  <a:cs typeface="Calibri" pitchFamily="34" charset="0"/>
                </a:rPr>
                <a:t>Real</a:t>
              </a:r>
            </a:p>
            <a:p>
              <a:pPr algn="ctr">
                <a:spcBef>
                  <a:spcPts val="200"/>
                </a:spcBef>
              </a:pPr>
              <a:r>
                <a:rPr lang="en-US" sz="1800" b="0" smtClean="0">
                  <a:solidFill>
                    <a:schemeClr val="dk1"/>
                  </a:solidFill>
                  <a:latin typeface="Arial Narrow" pitchFamily="34" charset="0"/>
                  <a:cs typeface="Calibri" pitchFamily="34" charset="0"/>
                </a:rPr>
                <a:t>Time</a:t>
              </a:r>
            </a:p>
            <a:p>
              <a:pPr algn="ctr">
                <a:spcBef>
                  <a:spcPts val="600"/>
                </a:spcBef>
              </a:pPr>
              <a:r>
                <a:rPr lang="en-US" sz="1800" b="0" smtClean="0">
                  <a:solidFill>
                    <a:schemeClr val="dk1"/>
                  </a:solidFill>
                  <a:effectLst/>
                  <a:latin typeface="Arial Narrow" pitchFamily="34" charset="0"/>
                  <a:cs typeface="Calibri" pitchFamily="34" charset="0"/>
                </a:rPr>
                <a:t>(Read)</a:t>
              </a:r>
            </a:p>
          </p:txBody>
        </p:sp>
        <p:sp>
          <p:nvSpPr>
            <p:cNvPr id="38" name="TextBox 37"/>
            <p:cNvSpPr txBox="1"/>
            <p:nvPr/>
          </p:nvSpPr>
          <p:spPr>
            <a:xfrm>
              <a:off x="4572000" y="2360730"/>
              <a:ext cx="3810000" cy="1192636"/>
            </a:xfrm>
            <a:prstGeom prst="rect">
              <a:avLst/>
            </a:prstGeom>
            <a:solidFill>
              <a:schemeClr val="accent5">
                <a:lumMod val="20000"/>
                <a:lumOff val="80000"/>
              </a:schemeClr>
            </a:solidFill>
            <a:ln w="6350">
              <a:solidFill>
                <a:schemeClr val="tx1"/>
              </a:solidFill>
            </a:ln>
          </p:spPr>
          <p:txBody>
            <a:bodyPr wrap="none" rtlCol="0" anchor="ctr" anchorCtr="1">
              <a:noAutofit/>
            </a:bodyPr>
            <a:lstStyle/>
            <a:p>
              <a:pPr algn="ctr">
                <a:spcBef>
                  <a:spcPts val="300"/>
                </a:spcBef>
              </a:pPr>
              <a:r>
                <a:rPr lang="en-US" b="0" smtClean="0">
                  <a:solidFill>
                    <a:schemeClr val="dk1"/>
                  </a:solidFill>
                  <a:latin typeface="Calibri" pitchFamily="34" charset="0"/>
                  <a:cs typeface="Calibri" pitchFamily="34" charset="0"/>
                </a:rPr>
                <a:t>Process Data</a:t>
              </a:r>
              <a:endParaRPr lang="en-US" b="0" smtClean="0">
                <a:solidFill>
                  <a:schemeClr val="dk1"/>
                </a:solidFill>
                <a:effectLst/>
                <a:latin typeface="Calibri" pitchFamily="34" charset="0"/>
                <a:cs typeface="Calibri" pitchFamily="34" charset="0"/>
              </a:endParaRPr>
            </a:p>
          </p:txBody>
        </p:sp>
        <p:cxnSp>
          <p:nvCxnSpPr>
            <p:cNvPr id="39" name="Straight Connector 38"/>
            <p:cNvCxnSpPr/>
            <p:nvPr/>
          </p:nvCxnSpPr>
          <p:spPr bwMode="auto">
            <a:xfrm>
              <a:off x="3352800" y="3746340"/>
              <a:ext cx="5486400" cy="0"/>
            </a:xfrm>
            <a:prstGeom prst="line">
              <a:avLst/>
            </a:prstGeom>
            <a:solidFill>
              <a:schemeClr val="accent1"/>
            </a:solidFill>
            <a:ln w="28575" cap="flat" cmpd="sng" algn="ctr">
              <a:solidFill>
                <a:schemeClr val="tx1"/>
              </a:solidFill>
              <a:prstDash val="solid"/>
              <a:round/>
              <a:headEnd type="triangle" w="med" len="med"/>
              <a:tailEnd type="triangle" w="med" len="med"/>
            </a:ln>
            <a:effectLst/>
          </p:spPr>
        </p:cxnSp>
        <p:sp>
          <p:nvSpPr>
            <p:cNvPr id="40" name="TextBox 39"/>
            <p:cNvSpPr txBox="1"/>
            <p:nvPr/>
          </p:nvSpPr>
          <p:spPr>
            <a:xfrm>
              <a:off x="5116252" y="3587015"/>
              <a:ext cx="2022798" cy="319446"/>
            </a:xfrm>
            <a:prstGeom prst="rect">
              <a:avLst/>
            </a:prstGeom>
            <a:solidFill>
              <a:schemeClr val="bg1"/>
            </a:solidFill>
          </p:spPr>
          <p:txBody>
            <a:bodyPr wrap="none" rtlCol="0" anchor="t" anchorCtr="0">
              <a:spAutoFit/>
            </a:bodyPr>
            <a:lstStyle/>
            <a:p>
              <a:r>
                <a:rPr lang="en-US" sz="1800" b="0" smtClean="0">
                  <a:solidFill>
                    <a:schemeClr val="dk1"/>
                  </a:solidFill>
                  <a:effectLst/>
                  <a:latin typeface="Calibri" pitchFamily="34" charset="0"/>
                  <a:cs typeface="Calibri" pitchFamily="34" charset="0"/>
                </a:rPr>
                <a:t>Global ints disabled</a:t>
              </a:r>
            </a:p>
          </p:txBody>
        </p:sp>
      </p:grpSp>
      <p:sp>
        <p:nvSpPr>
          <p:cNvPr id="41" name="TextBox 40"/>
          <p:cNvSpPr txBox="1"/>
          <p:nvPr/>
        </p:nvSpPr>
        <p:spPr>
          <a:xfrm>
            <a:off x="2895600" y="4062833"/>
            <a:ext cx="6375400" cy="609398"/>
          </a:xfrm>
          <a:prstGeom prst="rect">
            <a:avLst/>
          </a:prstGeom>
          <a:noFill/>
        </p:spPr>
        <p:txBody>
          <a:bodyPr wrap="square" rtlCol="0" anchor="ctr" anchorCtr="0">
            <a:spAutoFit/>
          </a:bodyPr>
          <a:lstStyle/>
          <a:p>
            <a:pPr marL="342900" indent="-342900">
              <a:lnSpc>
                <a:spcPct val="70000"/>
              </a:lnSpc>
              <a:spcBef>
                <a:spcPts val="1200"/>
              </a:spcBef>
              <a:buClr>
                <a:schemeClr val="tx2"/>
              </a:buClr>
              <a:buSzPct val="75000"/>
              <a:buFont typeface="Wingdings"/>
              <a:buChar char=""/>
            </a:pPr>
            <a:r>
              <a:rPr lang="en-US" b="0" smtClean="0">
                <a:solidFill>
                  <a:schemeClr val="dk1"/>
                </a:solidFill>
                <a:latin typeface="Calibri" pitchFamily="34" charset="0"/>
                <a:cs typeface="Calibri" pitchFamily="34" charset="0"/>
              </a:rPr>
              <a:t>What if we could </a:t>
            </a:r>
            <a:r>
              <a:rPr lang="en-US" b="0" i="1" smtClean="0">
                <a:solidFill>
                  <a:schemeClr val="tx2"/>
                </a:solidFill>
                <a:latin typeface="Calibri" pitchFamily="34" charset="0"/>
                <a:cs typeface="Calibri" pitchFamily="34" charset="0"/>
              </a:rPr>
              <a:t>separate</a:t>
            </a:r>
            <a:r>
              <a:rPr lang="en-US" b="0" smtClean="0">
                <a:solidFill>
                  <a:schemeClr val="dk1"/>
                </a:solidFill>
                <a:latin typeface="Calibri" pitchFamily="34" charset="0"/>
                <a:cs typeface="Calibri" pitchFamily="34" charset="0"/>
              </a:rPr>
              <a:t> the PROCESS from</a:t>
            </a:r>
            <a:br>
              <a:rPr lang="en-US" b="0" smtClean="0">
                <a:solidFill>
                  <a:schemeClr val="dk1"/>
                </a:solidFill>
                <a:latin typeface="Calibri" pitchFamily="34" charset="0"/>
                <a:cs typeface="Calibri" pitchFamily="34" charset="0"/>
              </a:rPr>
            </a:br>
            <a:r>
              <a:rPr lang="en-US" b="0" smtClean="0">
                <a:solidFill>
                  <a:schemeClr val="dk1"/>
                </a:solidFill>
                <a:latin typeface="Calibri" pitchFamily="34" charset="0"/>
                <a:cs typeface="Calibri" pitchFamily="34" charset="0"/>
              </a:rPr>
              <a:t>the rest of the ISR?</a:t>
            </a:r>
            <a:endParaRPr lang="en-US" b="0" dirty="0" smtClean="0">
              <a:solidFill>
                <a:schemeClr val="dk1"/>
              </a:solidFill>
              <a:latin typeface="Calibri" pitchFamily="34" charset="0"/>
              <a:cs typeface="Calibri" pitchFamily="34" charset="0"/>
            </a:endParaRPr>
          </a:p>
        </p:txBody>
      </p:sp>
      <p:grpSp>
        <p:nvGrpSpPr>
          <p:cNvPr id="3" name="Group 2"/>
          <p:cNvGrpSpPr/>
          <p:nvPr/>
        </p:nvGrpSpPr>
        <p:grpSpPr>
          <a:xfrm>
            <a:off x="3352800" y="4693725"/>
            <a:ext cx="5486399" cy="1529677"/>
            <a:chOff x="3352800" y="4693725"/>
            <a:chExt cx="5486399" cy="1529677"/>
          </a:xfrm>
        </p:grpSpPr>
        <p:grpSp>
          <p:nvGrpSpPr>
            <p:cNvPr id="5" name="Group 4"/>
            <p:cNvGrpSpPr/>
            <p:nvPr/>
          </p:nvGrpSpPr>
          <p:grpSpPr>
            <a:xfrm>
              <a:off x="3352800" y="4693725"/>
              <a:ext cx="5486399" cy="1529677"/>
              <a:chOff x="3352800" y="4800600"/>
              <a:chExt cx="5486399" cy="1529677"/>
            </a:xfrm>
          </p:grpSpPr>
          <p:sp>
            <p:nvSpPr>
              <p:cNvPr id="42" name="TextBox 41"/>
              <p:cNvSpPr txBox="1"/>
              <p:nvPr/>
            </p:nvSpPr>
            <p:spPr>
              <a:xfrm>
                <a:off x="3352800" y="4800600"/>
                <a:ext cx="480950" cy="1192636"/>
              </a:xfrm>
              <a:prstGeom prst="rect">
                <a:avLst/>
              </a:prstGeom>
              <a:solidFill>
                <a:schemeClr val="bg1">
                  <a:lumMod val="95000"/>
                </a:schemeClr>
              </a:solidFill>
              <a:ln w="6350">
                <a:solidFill>
                  <a:schemeClr val="tx1"/>
                </a:solidFill>
              </a:ln>
            </p:spPr>
            <p:txBody>
              <a:bodyPr wrap="none" rtlCol="0" anchor="ctr" anchorCtr="1">
                <a:noAutofit/>
              </a:bodyPr>
              <a:lstStyle/>
              <a:p>
                <a:pPr algn="ctr"/>
                <a:r>
                  <a:rPr lang="en-US" sz="1800" b="0" smtClean="0">
                    <a:solidFill>
                      <a:schemeClr val="dk1"/>
                    </a:solidFill>
                    <a:latin typeface="Calibri" pitchFamily="34" charset="0"/>
                    <a:cs typeface="Calibri" pitchFamily="34" charset="0"/>
                  </a:rPr>
                  <a:t>C/S</a:t>
                </a:r>
              </a:p>
              <a:p>
                <a:pPr algn="ctr"/>
                <a:r>
                  <a:rPr lang="en-US" sz="1600" b="0" smtClean="0">
                    <a:effectLst/>
                    <a:latin typeface="Arial Narrow" pitchFamily="34" charset="0"/>
                    <a:cs typeface="Calibri" pitchFamily="34" charset="0"/>
                  </a:rPr>
                  <a:t>Nest?</a:t>
                </a:r>
              </a:p>
            </p:txBody>
          </p:sp>
          <p:sp>
            <p:nvSpPr>
              <p:cNvPr id="43" name="TextBox 42"/>
              <p:cNvSpPr txBox="1"/>
              <p:nvPr/>
            </p:nvSpPr>
            <p:spPr>
              <a:xfrm>
                <a:off x="4800601" y="4800600"/>
                <a:ext cx="369124" cy="1192636"/>
              </a:xfrm>
              <a:prstGeom prst="rect">
                <a:avLst/>
              </a:prstGeom>
              <a:solidFill>
                <a:schemeClr val="bg1">
                  <a:lumMod val="95000"/>
                </a:schemeClr>
              </a:solidFill>
              <a:ln w="6350">
                <a:solidFill>
                  <a:schemeClr val="tx1"/>
                </a:solidFill>
              </a:ln>
            </p:spPr>
            <p:txBody>
              <a:bodyPr wrap="none" rtlCol="0" anchor="ctr" anchorCtr="1">
                <a:noAutofit/>
              </a:bodyPr>
              <a:lstStyle/>
              <a:p>
                <a:r>
                  <a:rPr lang="en-US" sz="1800" b="0" smtClean="0">
                    <a:solidFill>
                      <a:schemeClr val="dk1"/>
                    </a:solidFill>
                    <a:latin typeface="Calibri" pitchFamily="34" charset="0"/>
                    <a:cs typeface="Calibri" pitchFamily="34" charset="0"/>
                  </a:rPr>
                  <a:t>C/R</a:t>
                </a:r>
                <a:endParaRPr lang="en-US" sz="2000" b="0" smtClean="0">
                  <a:solidFill>
                    <a:schemeClr val="dk1"/>
                  </a:solidFill>
                  <a:effectLst/>
                  <a:latin typeface="Calibri" pitchFamily="34" charset="0"/>
                  <a:cs typeface="Calibri" pitchFamily="34" charset="0"/>
                </a:endParaRPr>
              </a:p>
            </p:txBody>
          </p:sp>
          <p:sp>
            <p:nvSpPr>
              <p:cNvPr id="44" name="TextBox 43"/>
              <p:cNvSpPr txBox="1"/>
              <p:nvPr/>
            </p:nvSpPr>
            <p:spPr>
              <a:xfrm>
                <a:off x="3827252" y="4800600"/>
                <a:ext cx="579802" cy="1192636"/>
              </a:xfrm>
              <a:prstGeom prst="rect">
                <a:avLst/>
              </a:prstGeom>
              <a:solidFill>
                <a:schemeClr val="accent1">
                  <a:lumMod val="75000"/>
                </a:schemeClr>
              </a:solidFill>
              <a:ln w="6350">
                <a:solidFill>
                  <a:schemeClr val="tx1"/>
                </a:solidFill>
              </a:ln>
            </p:spPr>
            <p:txBody>
              <a:bodyPr wrap="none" rtlCol="0" anchor="ctr" anchorCtr="1">
                <a:noAutofit/>
              </a:bodyPr>
              <a:lstStyle/>
              <a:p>
                <a:pPr algn="ctr">
                  <a:spcBef>
                    <a:spcPts val="200"/>
                  </a:spcBef>
                </a:pPr>
                <a:r>
                  <a:rPr lang="en-US" sz="1800" b="0" smtClean="0">
                    <a:solidFill>
                      <a:schemeClr val="dk1"/>
                    </a:solidFill>
                    <a:latin typeface="Arial Narrow" pitchFamily="34" charset="0"/>
                    <a:cs typeface="Calibri" pitchFamily="34" charset="0"/>
                  </a:rPr>
                  <a:t>Hard</a:t>
                </a:r>
              </a:p>
              <a:p>
                <a:pPr algn="ctr">
                  <a:spcBef>
                    <a:spcPts val="200"/>
                  </a:spcBef>
                </a:pPr>
                <a:r>
                  <a:rPr lang="en-US" sz="1800" b="0" smtClean="0">
                    <a:solidFill>
                      <a:schemeClr val="dk1"/>
                    </a:solidFill>
                    <a:effectLst/>
                    <a:latin typeface="Arial Narrow" pitchFamily="34" charset="0"/>
                    <a:cs typeface="Calibri" pitchFamily="34" charset="0"/>
                  </a:rPr>
                  <a:t>Real</a:t>
                </a:r>
              </a:p>
              <a:p>
                <a:pPr algn="ctr">
                  <a:spcBef>
                    <a:spcPts val="200"/>
                  </a:spcBef>
                </a:pPr>
                <a:r>
                  <a:rPr lang="en-US" sz="1800" b="0" smtClean="0">
                    <a:solidFill>
                      <a:schemeClr val="dk1"/>
                    </a:solidFill>
                    <a:latin typeface="Arial Narrow" pitchFamily="34" charset="0"/>
                    <a:cs typeface="Calibri" pitchFamily="34" charset="0"/>
                  </a:rPr>
                  <a:t>Time</a:t>
                </a:r>
              </a:p>
              <a:p>
                <a:pPr algn="ctr">
                  <a:spcBef>
                    <a:spcPts val="600"/>
                  </a:spcBef>
                </a:pPr>
                <a:r>
                  <a:rPr lang="en-US" sz="1800" b="0" smtClean="0">
                    <a:solidFill>
                      <a:schemeClr val="dk1"/>
                    </a:solidFill>
                    <a:effectLst/>
                    <a:latin typeface="Arial Narrow" pitchFamily="34" charset="0"/>
                    <a:cs typeface="Calibri" pitchFamily="34" charset="0"/>
                  </a:rPr>
                  <a:t>(Read)</a:t>
                </a:r>
              </a:p>
            </p:txBody>
          </p:sp>
          <p:sp>
            <p:nvSpPr>
              <p:cNvPr id="45" name="TextBox 44"/>
              <p:cNvSpPr txBox="1"/>
              <p:nvPr/>
            </p:nvSpPr>
            <p:spPr>
              <a:xfrm>
                <a:off x="4410974" y="4800600"/>
                <a:ext cx="381000" cy="1192636"/>
              </a:xfrm>
              <a:prstGeom prst="rect">
                <a:avLst/>
              </a:prstGeom>
              <a:solidFill>
                <a:schemeClr val="accent4">
                  <a:lumMod val="20000"/>
                  <a:lumOff val="80000"/>
                </a:schemeClr>
              </a:solidFill>
              <a:ln w="6350">
                <a:solidFill>
                  <a:schemeClr val="tx1"/>
                </a:solidFill>
              </a:ln>
            </p:spPr>
            <p:txBody>
              <a:bodyPr wrap="none" rtlCol="0" anchor="ctr" anchorCtr="1">
                <a:noAutofit/>
              </a:bodyPr>
              <a:lstStyle/>
              <a:p>
                <a:pPr algn="ctr">
                  <a:spcBef>
                    <a:spcPts val="300"/>
                  </a:spcBef>
                </a:pPr>
                <a:r>
                  <a:rPr lang="en-US" sz="1800" b="0" smtClean="0">
                    <a:solidFill>
                      <a:schemeClr val="dk1"/>
                    </a:solidFill>
                    <a:latin typeface="Arial Narrow" pitchFamily="34" charset="0"/>
                    <a:cs typeface="Calibri" pitchFamily="34" charset="0"/>
                  </a:rPr>
                  <a:t>Post</a:t>
                </a:r>
              </a:p>
              <a:p>
                <a:pPr algn="ctr">
                  <a:spcBef>
                    <a:spcPts val="300"/>
                  </a:spcBef>
                </a:pPr>
                <a:r>
                  <a:rPr lang="en-US" sz="1800" b="0" smtClean="0">
                    <a:solidFill>
                      <a:schemeClr val="dk1"/>
                    </a:solidFill>
                    <a:effectLst/>
                    <a:latin typeface="Arial Narrow" pitchFamily="34" charset="0"/>
                    <a:cs typeface="Calibri" pitchFamily="34" charset="0"/>
                  </a:rPr>
                  <a:t>Swi</a:t>
                </a:r>
              </a:p>
            </p:txBody>
          </p:sp>
          <p:sp>
            <p:nvSpPr>
              <p:cNvPr id="46" name="TextBox 45"/>
              <p:cNvSpPr txBox="1"/>
              <p:nvPr/>
            </p:nvSpPr>
            <p:spPr>
              <a:xfrm>
                <a:off x="5334000" y="4800600"/>
                <a:ext cx="3505199" cy="1192636"/>
              </a:xfrm>
              <a:prstGeom prst="rect">
                <a:avLst/>
              </a:prstGeom>
              <a:solidFill>
                <a:schemeClr val="accent5">
                  <a:lumMod val="20000"/>
                  <a:lumOff val="80000"/>
                </a:schemeClr>
              </a:solidFill>
              <a:ln w="19050">
                <a:solidFill>
                  <a:schemeClr val="tx1"/>
                </a:solidFill>
              </a:ln>
            </p:spPr>
            <p:txBody>
              <a:bodyPr wrap="none" rtlCol="0" anchor="ctr" anchorCtr="1">
                <a:noAutofit/>
              </a:bodyPr>
              <a:lstStyle/>
              <a:p>
                <a:pPr algn="ctr">
                  <a:spcBef>
                    <a:spcPts val="300"/>
                  </a:spcBef>
                </a:pPr>
                <a:r>
                  <a:rPr lang="en-US" b="0" smtClean="0">
                    <a:solidFill>
                      <a:schemeClr val="dk1"/>
                    </a:solidFill>
                    <a:latin typeface="Calibri" pitchFamily="34" charset="0"/>
                    <a:cs typeface="Calibri" pitchFamily="34" charset="0"/>
                  </a:rPr>
                  <a:t>Process Data</a:t>
                </a:r>
              </a:p>
              <a:p>
                <a:pPr algn="ctr">
                  <a:spcBef>
                    <a:spcPts val="300"/>
                  </a:spcBef>
                </a:pPr>
                <a:r>
                  <a:rPr lang="en-US" sz="2000" b="0" i="1" smtClean="0">
                    <a:solidFill>
                      <a:schemeClr val="dk1"/>
                    </a:solidFill>
                    <a:effectLst/>
                    <a:latin typeface="Calibri" pitchFamily="34" charset="0"/>
                    <a:cs typeface="Calibri" pitchFamily="34" charset="0"/>
                  </a:rPr>
                  <a:t>(in Software Interrupt)</a:t>
                </a:r>
              </a:p>
            </p:txBody>
          </p:sp>
          <p:cxnSp>
            <p:nvCxnSpPr>
              <p:cNvPr id="47" name="Straight Connector 46"/>
              <p:cNvCxnSpPr/>
              <p:nvPr/>
            </p:nvCxnSpPr>
            <p:spPr bwMode="auto">
              <a:xfrm>
                <a:off x="3352800" y="6185545"/>
                <a:ext cx="1816925" cy="0"/>
              </a:xfrm>
              <a:prstGeom prst="line">
                <a:avLst/>
              </a:prstGeom>
              <a:solidFill>
                <a:schemeClr val="accent1"/>
              </a:solidFill>
              <a:ln w="28575" cap="flat" cmpd="sng" algn="ctr">
                <a:solidFill>
                  <a:schemeClr val="tx1"/>
                </a:solidFill>
                <a:prstDash val="solid"/>
                <a:round/>
                <a:headEnd type="triangle" w="med" len="med"/>
                <a:tailEnd type="triangle" w="med" len="med"/>
              </a:ln>
              <a:effectLst/>
            </p:spPr>
          </p:cxnSp>
          <p:sp>
            <p:nvSpPr>
              <p:cNvPr id="48" name="TextBox 47"/>
              <p:cNvSpPr txBox="1"/>
              <p:nvPr/>
            </p:nvSpPr>
            <p:spPr>
              <a:xfrm>
                <a:off x="3500625" y="6048693"/>
                <a:ext cx="1525354" cy="268984"/>
              </a:xfrm>
              <a:prstGeom prst="rect">
                <a:avLst/>
              </a:prstGeom>
              <a:solidFill>
                <a:schemeClr val="bg1"/>
              </a:solidFill>
            </p:spPr>
            <p:txBody>
              <a:bodyPr wrap="none" lIns="45720" rIns="45720" rtlCol="0" anchor="ctr" anchorCtr="1">
                <a:spAutoFit/>
              </a:bodyPr>
              <a:lstStyle/>
              <a:p>
                <a:r>
                  <a:rPr lang="en-US" sz="1400" b="0" smtClean="0">
                    <a:solidFill>
                      <a:schemeClr val="dk1"/>
                    </a:solidFill>
                    <a:effectLst/>
                    <a:latin typeface="Calibri" pitchFamily="34" charset="0"/>
                    <a:cs typeface="Calibri" pitchFamily="34" charset="0"/>
                  </a:rPr>
                  <a:t>Global ints disabled</a:t>
                </a:r>
              </a:p>
            </p:txBody>
          </p:sp>
          <p:cxnSp>
            <p:nvCxnSpPr>
              <p:cNvPr id="49" name="Straight Connector 48"/>
              <p:cNvCxnSpPr/>
              <p:nvPr/>
            </p:nvCxnSpPr>
            <p:spPr bwMode="auto">
              <a:xfrm>
                <a:off x="5334000" y="6185545"/>
                <a:ext cx="3505199" cy="0"/>
              </a:xfrm>
              <a:prstGeom prst="line">
                <a:avLst/>
              </a:prstGeom>
              <a:solidFill>
                <a:schemeClr val="accent1"/>
              </a:solidFill>
              <a:ln w="28575" cap="flat" cmpd="sng" algn="ctr">
                <a:solidFill>
                  <a:schemeClr val="tx1"/>
                </a:solidFill>
                <a:prstDash val="solid"/>
                <a:round/>
                <a:headEnd type="triangle" w="med" len="med"/>
                <a:tailEnd type="triangle" w="med" len="med"/>
              </a:ln>
              <a:effectLst/>
            </p:spPr>
          </p:cxnSp>
          <p:sp>
            <p:nvSpPr>
              <p:cNvPr id="50" name="TextBox 49"/>
              <p:cNvSpPr txBox="1"/>
              <p:nvPr/>
            </p:nvSpPr>
            <p:spPr>
              <a:xfrm>
                <a:off x="6001808" y="6036094"/>
                <a:ext cx="2049857" cy="294183"/>
              </a:xfrm>
              <a:prstGeom prst="rect">
                <a:avLst/>
              </a:prstGeom>
              <a:solidFill>
                <a:schemeClr val="bg1"/>
              </a:solidFill>
            </p:spPr>
            <p:txBody>
              <a:bodyPr wrap="none" lIns="45720" rIns="45720" rtlCol="0" anchor="ctr" anchorCtr="1">
                <a:spAutoFit/>
              </a:bodyPr>
              <a:lstStyle/>
              <a:p>
                <a:r>
                  <a:rPr lang="en-US" sz="1600" b="0">
                    <a:solidFill>
                      <a:schemeClr val="dk1"/>
                    </a:solidFill>
                    <a:latin typeface="Calibri" pitchFamily="34" charset="0"/>
                    <a:cs typeface="Calibri" pitchFamily="34" charset="0"/>
                  </a:rPr>
                  <a:t>r</a:t>
                </a:r>
                <a:r>
                  <a:rPr lang="en-US" sz="1600" b="0" smtClean="0">
                    <a:solidFill>
                      <a:schemeClr val="dk1"/>
                    </a:solidFill>
                    <a:effectLst/>
                    <a:latin typeface="Calibri" pitchFamily="34" charset="0"/>
                    <a:cs typeface="Calibri" pitchFamily="34" charset="0"/>
                  </a:rPr>
                  <a:t>ather than all this time</a:t>
                </a:r>
              </a:p>
            </p:txBody>
          </p:sp>
        </p:grpSp>
        <p:cxnSp>
          <p:nvCxnSpPr>
            <p:cNvPr id="6" name="Straight Connector 5"/>
            <p:cNvCxnSpPr/>
            <p:nvPr/>
          </p:nvCxnSpPr>
          <p:spPr bwMode="auto">
            <a:xfrm flipV="1">
              <a:off x="3385870" y="5339377"/>
              <a:ext cx="404750" cy="211806"/>
            </a:xfrm>
            <a:prstGeom prst="line">
              <a:avLst/>
            </a:prstGeom>
            <a:solidFill>
              <a:schemeClr val="accent1"/>
            </a:solidFill>
            <a:ln w="38100" cap="flat" cmpd="sng" algn="ctr">
              <a:solidFill>
                <a:srgbClr val="FF0000"/>
              </a:solidFill>
              <a:prstDash val="solid"/>
              <a:round/>
              <a:headEnd type="none" w="sm" len="sm"/>
              <a:tailEnd type="none" w="sm" len="sm"/>
            </a:ln>
            <a:effectLst>
              <a:outerShdw blurRad="50800" dist="38100" dir="2700000" algn="tl" rotWithShape="0">
                <a:prstClr val="black">
                  <a:alpha val="40000"/>
                </a:prstClr>
              </a:outerShdw>
            </a:effectLst>
          </p:spPr>
        </p:cxnSp>
      </p:grpSp>
      <p:pic>
        <p:nvPicPr>
          <p:cNvPr id="52"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Tree>
    <p:custDataLst>
      <p:tags r:id="rId1"/>
    </p:custDataLst>
    <p:extLst>
      <p:ext uri="{BB962C8B-B14F-4D97-AF65-F5344CB8AC3E}">
        <p14:creationId xmlns:p14="http://schemas.microsoft.com/office/powerpoint/2010/main" val="34305859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dissolv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3"/>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499"/>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utoUpdateAnimBg="0"/>
      <p:bldP spid="4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4"/>
          <p:cNvSpPr>
            <a:spLocks noGrp="1" noChangeArrowheads="1"/>
          </p:cNvSpPr>
          <p:nvPr>
            <p:ph type="title"/>
          </p:nvPr>
        </p:nvSpPr>
        <p:spPr/>
        <p:txBody>
          <a:bodyPr>
            <a:normAutofit/>
          </a:bodyPr>
          <a:lstStyle/>
          <a:p>
            <a:r>
              <a:rPr lang="en-US" smtClean="0"/>
              <a:t>Solution #4 – BIOS Scheduler</a:t>
            </a:r>
            <a:endParaRPr lang="en-US" dirty="0" smtClean="0"/>
          </a:p>
        </p:txBody>
      </p:sp>
      <p:sp>
        <p:nvSpPr>
          <p:cNvPr id="63" name="Leading Question"/>
          <p:cNvSpPr txBox="1"/>
          <p:nvPr/>
        </p:nvSpPr>
        <p:spPr>
          <a:xfrm>
            <a:off x="3157898" y="6339999"/>
            <a:ext cx="5878917" cy="276999"/>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ctr">
              <a:lnSpc>
                <a:spcPct val="90000"/>
              </a:lnSpc>
              <a:spcBef>
                <a:spcPct val="0"/>
              </a:spcBef>
            </a:pPr>
            <a:r>
              <a:rPr lang="en-US" sz="2000" b="0" smtClean="0">
                <a:solidFill>
                  <a:schemeClr val="tx2"/>
                </a:solidFill>
                <a:latin typeface="Arial Narrow"/>
              </a:rPr>
              <a:t>What is the difference between a THREAD and a FUNCTION ?</a:t>
            </a:r>
            <a:endParaRPr lang="en-US" sz="2000" b="0" dirty="0" smtClean="0">
              <a:solidFill>
                <a:schemeClr val="tx2"/>
              </a:solidFill>
              <a:effectLst/>
              <a:latin typeface="Arial Narrow"/>
            </a:endParaRPr>
          </a:p>
        </p:txBody>
      </p:sp>
      <p:sp>
        <p:nvSpPr>
          <p:cNvPr id="19" name="Rounded Rectangle 18"/>
          <p:cNvSpPr/>
          <p:nvPr/>
        </p:nvSpPr>
        <p:spPr bwMode="auto">
          <a:xfrm>
            <a:off x="228599" y="4497568"/>
            <a:ext cx="2667001" cy="1891099"/>
          </a:xfrm>
          <a:prstGeom prst="roundRect">
            <a:avLst/>
          </a:prstGeom>
          <a:solidFill>
            <a:schemeClr val="bg1">
              <a:lumMod val="95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nSpc>
                <a:spcPct val="70000"/>
              </a:lnSpc>
              <a:spcBef>
                <a:spcPts val="600"/>
              </a:spcBef>
            </a:pPr>
            <a:r>
              <a:rPr lang="en-US" sz="2000" b="0" smtClean="0">
                <a:solidFill>
                  <a:schemeClr val="dk1"/>
                </a:solidFill>
                <a:latin typeface="Courier New" pitchFamily="49" charset="0"/>
                <a:cs typeface="Courier New" pitchFamily="49" charset="0"/>
              </a:rPr>
              <a:t>main()</a:t>
            </a:r>
          </a:p>
          <a:p>
            <a:pPr>
              <a:lnSpc>
                <a:spcPct val="70000"/>
              </a:lnSpc>
              <a:spcBef>
                <a:spcPts val="600"/>
              </a:spcBef>
            </a:pPr>
            <a:r>
              <a:rPr lang="en-US" sz="2000" b="0" smtClean="0">
                <a:solidFill>
                  <a:schemeClr val="dk1"/>
                </a:solidFill>
                <a:latin typeface="Courier New" pitchFamily="49" charset="0"/>
                <a:cs typeface="Courier New" pitchFamily="49" charset="0"/>
              </a:rPr>
              <a:t>{</a:t>
            </a:r>
          </a:p>
          <a:p>
            <a:pPr>
              <a:lnSpc>
                <a:spcPct val="70000"/>
              </a:lnSpc>
              <a:spcBef>
                <a:spcPts val="600"/>
              </a:spcBef>
            </a:pPr>
            <a:r>
              <a:rPr lang="en-US" sz="2000" b="0">
                <a:solidFill>
                  <a:schemeClr val="dk1"/>
                </a:solidFill>
                <a:latin typeface="Courier New" pitchFamily="49" charset="0"/>
                <a:cs typeface="Courier New" pitchFamily="49" charset="0"/>
              </a:rPr>
              <a:t> </a:t>
            </a:r>
            <a:r>
              <a:rPr lang="en-US" sz="2000" b="0" smtClean="0">
                <a:solidFill>
                  <a:schemeClr val="dk1"/>
                </a:solidFill>
                <a:latin typeface="Courier New" pitchFamily="49" charset="0"/>
                <a:cs typeface="Courier New" pitchFamily="49" charset="0"/>
              </a:rPr>
              <a:t> init_stuff;</a:t>
            </a:r>
          </a:p>
          <a:p>
            <a:pPr>
              <a:lnSpc>
                <a:spcPct val="70000"/>
              </a:lnSpc>
              <a:spcBef>
                <a:spcPts val="600"/>
              </a:spcBef>
            </a:pPr>
            <a:r>
              <a:rPr lang="en-US" sz="2000" b="0" smtClean="0">
                <a:solidFill>
                  <a:schemeClr val="dk1"/>
                </a:solidFill>
                <a:latin typeface="Courier New" pitchFamily="49" charset="0"/>
                <a:cs typeface="Courier New" pitchFamily="49" charset="0"/>
              </a:rPr>
              <a:t>  while(1);</a:t>
            </a:r>
          </a:p>
          <a:p>
            <a:pPr>
              <a:lnSpc>
                <a:spcPct val="70000"/>
              </a:lnSpc>
              <a:spcBef>
                <a:spcPts val="600"/>
              </a:spcBef>
            </a:pPr>
            <a:r>
              <a:rPr lang="en-US" sz="2000" b="0">
                <a:solidFill>
                  <a:schemeClr val="dk1"/>
                </a:solidFill>
                <a:latin typeface="Courier New" pitchFamily="49" charset="0"/>
                <a:cs typeface="Courier New" pitchFamily="49" charset="0"/>
              </a:rPr>
              <a:t> </a:t>
            </a:r>
            <a:r>
              <a:rPr lang="en-US" sz="2000" b="0" smtClean="0">
                <a:solidFill>
                  <a:schemeClr val="dk1"/>
                </a:solidFill>
                <a:latin typeface="Courier New" pitchFamily="49" charset="0"/>
                <a:cs typeface="Courier New" pitchFamily="49" charset="0"/>
              </a:rPr>
              <a:t> </a:t>
            </a:r>
            <a:r>
              <a:rPr lang="en-US" sz="2000" smtClean="0">
                <a:solidFill>
                  <a:schemeClr val="tx2"/>
                </a:solidFill>
                <a:latin typeface="Courier New" pitchFamily="49" charset="0"/>
                <a:cs typeface="Courier New" pitchFamily="49" charset="0"/>
              </a:rPr>
              <a:t>BIOS_start();</a:t>
            </a:r>
          </a:p>
          <a:p>
            <a:pPr>
              <a:lnSpc>
                <a:spcPct val="70000"/>
              </a:lnSpc>
              <a:spcBef>
                <a:spcPts val="600"/>
              </a:spcBef>
            </a:pPr>
            <a:r>
              <a:rPr lang="en-US" sz="2000" b="0" smtClean="0">
                <a:solidFill>
                  <a:schemeClr val="dk1"/>
                </a:solidFill>
                <a:latin typeface="Courier New" pitchFamily="49" charset="0"/>
                <a:cs typeface="Courier New" pitchFamily="49" charset="0"/>
              </a:rPr>
              <a:t>}</a:t>
            </a:r>
            <a:endParaRPr kumimoji="0" lang="en-US" sz="2000" b="0" i="0" u="none" strike="noStrike" cap="none" normalizeH="0" baseline="0" dirty="0" smtClean="0">
              <a:ln>
                <a:noFill/>
              </a:ln>
              <a:solidFill>
                <a:schemeClr val="dk1"/>
              </a:solidFill>
              <a:effectLst/>
              <a:latin typeface="Courier New" pitchFamily="49" charset="0"/>
              <a:cs typeface="Courier New" pitchFamily="49" charset="0"/>
            </a:endParaRPr>
          </a:p>
        </p:txBody>
      </p:sp>
      <p:sp>
        <p:nvSpPr>
          <p:cNvPr id="21" name="Rounded Rectangle 20"/>
          <p:cNvSpPr/>
          <p:nvPr/>
        </p:nvSpPr>
        <p:spPr bwMode="auto">
          <a:xfrm>
            <a:off x="228600" y="687569"/>
            <a:ext cx="2667000" cy="1717163"/>
          </a:xfrm>
          <a:prstGeom prst="roundRect">
            <a:avLst/>
          </a:prstGeom>
          <a:solidFill>
            <a:schemeClr val="accent4">
              <a:lumMod val="20000"/>
              <a:lumOff val="80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nSpc>
                <a:spcPct val="70000"/>
              </a:lnSpc>
              <a:spcBef>
                <a:spcPts val="600"/>
              </a:spcBef>
            </a:pPr>
            <a:r>
              <a:rPr lang="en-US" sz="2000" b="0" smtClean="0">
                <a:solidFill>
                  <a:schemeClr val="dk1"/>
                </a:solidFill>
                <a:latin typeface="Courier New" pitchFamily="49" charset="0"/>
                <a:cs typeface="Courier New" pitchFamily="49" charset="0"/>
              </a:rPr>
              <a:t>Audio_ISR()</a:t>
            </a:r>
          </a:p>
          <a:p>
            <a:pPr>
              <a:lnSpc>
                <a:spcPct val="70000"/>
              </a:lnSpc>
              <a:spcBef>
                <a:spcPts val="600"/>
              </a:spcBef>
            </a:pPr>
            <a:r>
              <a:rPr lang="en-US" sz="2000" b="0" smtClean="0">
                <a:solidFill>
                  <a:schemeClr val="dk1"/>
                </a:solidFill>
                <a:latin typeface="Courier New" pitchFamily="49" charset="0"/>
                <a:cs typeface="Courier New" pitchFamily="49" charset="0"/>
              </a:rPr>
              <a:t>{</a:t>
            </a:r>
          </a:p>
          <a:p>
            <a:pPr>
              <a:lnSpc>
                <a:spcPct val="70000"/>
              </a:lnSpc>
              <a:spcBef>
                <a:spcPts val="600"/>
              </a:spcBef>
            </a:pPr>
            <a:r>
              <a:rPr lang="en-US" sz="2000" b="0">
                <a:solidFill>
                  <a:schemeClr val="dk1"/>
                </a:solidFill>
                <a:latin typeface="Courier New" pitchFamily="49" charset="0"/>
                <a:cs typeface="Courier New" pitchFamily="49" charset="0"/>
              </a:rPr>
              <a:t> </a:t>
            </a:r>
            <a:r>
              <a:rPr lang="en-US" sz="2000" b="0" smtClean="0">
                <a:solidFill>
                  <a:schemeClr val="dk1"/>
                </a:solidFill>
                <a:latin typeface="Courier New" pitchFamily="49" charset="0"/>
                <a:cs typeface="Courier New" pitchFamily="49" charset="0"/>
              </a:rPr>
              <a:t>read sample;</a:t>
            </a:r>
          </a:p>
          <a:p>
            <a:pPr>
              <a:lnSpc>
                <a:spcPct val="70000"/>
              </a:lnSpc>
              <a:spcBef>
                <a:spcPts val="600"/>
              </a:spcBef>
            </a:pPr>
            <a:r>
              <a:rPr lang="en-US" sz="2000" b="0" smtClean="0">
                <a:solidFill>
                  <a:schemeClr val="dk1"/>
                </a:solidFill>
                <a:latin typeface="Courier New" pitchFamily="49" charset="0"/>
                <a:cs typeface="Courier New" pitchFamily="49" charset="0"/>
              </a:rPr>
              <a:t> </a:t>
            </a:r>
            <a:r>
              <a:rPr lang="en-US" sz="2000" smtClean="0">
                <a:solidFill>
                  <a:schemeClr val="tx2"/>
                </a:solidFill>
                <a:latin typeface="Courier New" pitchFamily="49" charset="0"/>
                <a:cs typeface="Courier New" pitchFamily="49" charset="0"/>
              </a:rPr>
              <a:t>post_Audio;</a:t>
            </a:r>
          </a:p>
          <a:p>
            <a:pPr>
              <a:lnSpc>
                <a:spcPct val="70000"/>
              </a:lnSpc>
              <a:spcBef>
                <a:spcPts val="600"/>
              </a:spcBef>
            </a:pPr>
            <a:r>
              <a:rPr lang="en-US" sz="2000" b="0" smtClean="0">
                <a:solidFill>
                  <a:schemeClr val="dk1"/>
                </a:solidFill>
                <a:latin typeface="Courier New" pitchFamily="49" charset="0"/>
                <a:cs typeface="Courier New" pitchFamily="49" charset="0"/>
              </a:rPr>
              <a:t>}</a:t>
            </a:r>
            <a:endParaRPr kumimoji="0" lang="en-US" sz="2000" b="0" i="0" u="none" strike="noStrike" cap="none" normalizeH="0" baseline="0" dirty="0" smtClean="0">
              <a:ln>
                <a:noFill/>
              </a:ln>
              <a:solidFill>
                <a:schemeClr val="dk1"/>
              </a:solidFill>
              <a:effectLst/>
              <a:latin typeface="Courier New" pitchFamily="49" charset="0"/>
              <a:cs typeface="Courier New" pitchFamily="49" charset="0"/>
            </a:endParaRPr>
          </a:p>
        </p:txBody>
      </p:sp>
      <p:sp>
        <p:nvSpPr>
          <p:cNvPr id="24" name="Rounded Rectangle 23"/>
          <p:cNvSpPr/>
          <p:nvPr/>
        </p:nvSpPr>
        <p:spPr bwMode="auto">
          <a:xfrm>
            <a:off x="228600" y="2592569"/>
            <a:ext cx="2667000" cy="1746716"/>
          </a:xfrm>
          <a:prstGeom prst="roundRect">
            <a:avLst/>
          </a:prstGeom>
          <a:solidFill>
            <a:schemeClr val="accent4">
              <a:lumMod val="20000"/>
              <a:lumOff val="80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nSpc>
                <a:spcPct val="70000"/>
              </a:lnSpc>
              <a:spcBef>
                <a:spcPts val="600"/>
              </a:spcBef>
            </a:pPr>
            <a:r>
              <a:rPr lang="en-US" sz="2000" b="0" smtClean="0">
                <a:solidFill>
                  <a:schemeClr val="dk1"/>
                </a:solidFill>
                <a:latin typeface="Courier New" pitchFamily="49" charset="0"/>
                <a:cs typeface="Courier New" pitchFamily="49" charset="0"/>
              </a:rPr>
              <a:t>Keypad_ISR()</a:t>
            </a:r>
          </a:p>
          <a:p>
            <a:pPr>
              <a:lnSpc>
                <a:spcPct val="70000"/>
              </a:lnSpc>
              <a:spcBef>
                <a:spcPts val="600"/>
              </a:spcBef>
            </a:pPr>
            <a:r>
              <a:rPr lang="en-US" sz="2000" b="0" smtClean="0">
                <a:solidFill>
                  <a:schemeClr val="dk1"/>
                </a:solidFill>
                <a:latin typeface="Courier New" pitchFamily="49" charset="0"/>
                <a:cs typeface="Courier New" pitchFamily="49" charset="0"/>
              </a:rPr>
              <a:t>{</a:t>
            </a:r>
          </a:p>
          <a:p>
            <a:pPr>
              <a:lnSpc>
                <a:spcPct val="70000"/>
              </a:lnSpc>
              <a:spcBef>
                <a:spcPts val="600"/>
              </a:spcBef>
            </a:pPr>
            <a:r>
              <a:rPr lang="en-US" sz="2000" b="0">
                <a:solidFill>
                  <a:schemeClr val="dk1"/>
                </a:solidFill>
                <a:latin typeface="Courier New" pitchFamily="49" charset="0"/>
                <a:cs typeface="Courier New" pitchFamily="49" charset="0"/>
              </a:rPr>
              <a:t> </a:t>
            </a:r>
            <a:r>
              <a:rPr lang="en-US" sz="2000" b="0" smtClean="0">
                <a:solidFill>
                  <a:schemeClr val="dk1"/>
                </a:solidFill>
                <a:latin typeface="Courier New" pitchFamily="49" charset="0"/>
                <a:cs typeface="Courier New" pitchFamily="49" charset="0"/>
              </a:rPr>
              <a:t>read keypad;</a:t>
            </a:r>
          </a:p>
          <a:p>
            <a:pPr>
              <a:lnSpc>
                <a:spcPct val="70000"/>
              </a:lnSpc>
              <a:spcBef>
                <a:spcPts val="600"/>
              </a:spcBef>
            </a:pPr>
            <a:r>
              <a:rPr lang="en-US" sz="2000" b="0" smtClean="0">
                <a:solidFill>
                  <a:schemeClr val="dk1"/>
                </a:solidFill>
                <a:latin typeface="Courier New" pitchFamily="49" charset="0"/>
                <a:cs typeface="Courier New" pitchFamily="49" charset="0"/>
              </a:rPr>
              <a:t> </a:t>
            </a:r>
            <a:r>
              <a:rPr lang="en-US" sz="2000" smtClean="0">
                <a:solidFill>
                  <a:schemeClr val="tx2"/>
                </a:solidFill>
                <a:latin typeface="Courier New" pitchFamily="49" charset="0"/>
                <a:cs typeface="Courier New" pitchFamily="49" charset="0"/>
              </a:rPr>
              <a:t>post_KeyPad;</a:t>
            </a:r>
          </a:p>
          <a:p>
            <a:pPr>
              <a:lnSpc>
                <a:spcPct val="70000"/>
              </a:lnSpc>
              <a:spcBef>
                <a:spcPts val="600"/>
              </a:spcBef>
            </a:pPr>
            <a:r>
              <a:rPr lang="en-US" sz="2000" b="0" smtClean="0">
                <a:solidFill>
                  <a:schemeClr val="dk1"/>
                </a:solidFill>
                <a:latin typeface="Courier New" pitchFamily="49" charset="0"/>
                <a:cs typeface="Courier New" pitchFamily="49" charset="0"/>
              </a:rPr>
              <a:t>}</a:t>
            </a:r>
            <a:endParaRPr kumimoji="0" lang="en-US" sz="2000" b="0" i="0" u="none" strike="noStrike" cap="none" normalizeH="0" baseline="0" dirty="0" smtClean="0">
              <a:ln>
                <a:noFill/>
              </a:ln>
              <a:solidFill>
                <a:schemeClr val="dk1"/>
              </a:solidFill>
              <a:effectLst/>
              <a:latin typeface="Courier New" pitchFamily="49" charset="0"/>
              <a:cs typeface="Courier New" pitchFamily="49" charset="0"/>
            </a:endParaRPr>
          </a:p>
        </p:txBody>
      </p:sp>
      <p:sp>
        <p:nvSpPr>
          <p:cNvPr id="34" name="Rectangle 33"/>
          <p:cNvSpPr/>
          <p:nvPr/>
        </p:nvSpPr>
        <p:spPr bwMode="auto">
          <a:xfrm>
            <a:off x="3124200" y="740445"/>
            <a:ext cx="2934787" cy="1699724"/>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119063" marR="0" indent="-60325" defTabSz="914400" rtl="0" eaLnBrk="0" fontAlgn="base" latinLnBrk="0" hangingPunct="0">
              <a:lnSpc>
                <a:spcPct val="100000"/>
              </a:lnSpc>
              <a:spcBef>
                <a:spcPts val="600"/>
              </a:spcBef>
              <a:spcAft>
                <a:spcPct val="0"/>
              </a:spcAft>
              <a:buClrTx/>
              <a:buSzTx/>
              <a:buFontTx/>
              <a:buNone/>
              <a:tabLst/>
            </a:pPr>
            <a:r>
              <a:rPr kumimoji="0" lang="en-US" i="0" u="none" strike="noStrike" cap="none" normalizeH="0" baseline="0" smtClean="0">
                <a:ln>
                  <a:noFill/>
                </a:ln>
                <a:solidFill>
                  <a:schemeClr val="dk1"/>
                </a:solidFill>
                <a:effectLst/>
                <a:latin typeface="Calibri" pitchFamily="34" charset="0"/>
                <a:cs typeface="Calibri" pitchFamily="34" charset="0"/>
              </a:rPr>
              <a:t>Hwi – Hardware INT</a:t>
            </a:r>
            <a:endParaRPr kumimoji="0" lang="en-US" i="0" u="none" strike="noStrike" cap="none" normalizeH="0" baseline="0" dirty="0" smtClean="0">
              <a:ln>
                <a:noFill/>
              </a:ln>
              <a:solidFill>
                <a:schemeClr val="dk1"/>
              </a:solidFill>
              <a:effectLst/>
              <a:latin typeface="Calibri" pitchFamily="34" charset="0"/>
              <a:cs typeface="Calibri" pitchFamily="34" charset="0"/>
            </a:endParaRPr>
          </a:p>
          <a:p>
            <a:pPr marL="287338" marR="0" indent="-169863" defTabSz="914400" rtl="0" eaLnBrk="0" fontAlgn="base" latinLnBrk="0" hangingPunct="0">
              <a:spcBef>
                <a:spcPts val="600"/>
              </a:spcBef>
              <a:spcAft>
                <a:spcPct val="0"/>
              </a:spcAft>
              <a:buClrTx/>
              <a:buSzTx/>
              <a:buFont typeface="Arial" pitchFamily="34" charset="0"/>
              <a:buChar char="•"/>
              <a:tabLst/>
            </a:pPr>
            <a:r>
              <a:rPr lang="en-US" sz="1800" b="0" i="1" smtClean="0">
                <a:solidFill>
                  <a:schemeClr val="dk1"/>
                </a:solidFill>
                <a:latin typeface="Calibri" pitchFamily="34" charset="0"/>
                <a:cs typeface="Calibri" pitchFamily="34" charset="0"/>
              </a:rPr>
              <a:t>Context save/restore (done by BIOS)</a:t>
            </a:r>
            <a:endParaRPr lang="en-US" sz="1800" b="0" i="1" dirty="0" smtClean="0">
              <a:solidFill>
                <a:schemeClr val="dk1"/>
              </a:solidFill>
              <a:latin typeface="Calibri" pitchFamily="34" charset="0"/>
              <a:cs typeface="Calibri" pitchFamily="34" charset="0"/>
            </a:endParaRPr>
          </a:p>
          <a:p>
            <a:pPr marL="287338" marR="0" indent="-169863" defTabSz="914400" rtl="0" eaLnBrk="0" fontAlgn="base" latinLnBrk="0" hangingPunct="0">
              <a:spcBef>
                <a:spcPts val="600"/>
              </a:spcBef>
              <a:spcAft>
                <a:spcPct val="0"/>
              </a:spcAft>
              <a:buClrTx/>
              <a:buSzTx/>
              <a:buFont typeface="Arial" pitchFamily="34" charset="0"/>
              <a:buChar char="•"/>
              <a:tabLst/>
            </a:pPr>
            <a:r>
              <a:rPr kumimoji="0" lang="en-US" sz="1800" b="0" i="1" u="none" strike="noStrike" cap="none" normalizeH="0" baseline="0" smtClean="0">
                <a:ln>
                  <a:noFill/>
                </a:ln>
                <a:solidFill>
                  <a:schemeClr val="dk1"/>
                </a:solidFill>
                <a:effectLst/>
                <a:latin typeface="Calibri" pitchFamily="34" charset="0"/>
                <a:cs typeface="Calibri" pitchFamily="34" charset="0"/>
              </a:rPr>
              <a:t>Hard real-time “read”</a:t>
            </a:r>
          </a:p>
          <a:p>
            <a:pPr marL="287338" marR="0" indent="-169863" defTabSz="914400" rtl="0" eaLnBrk="0" fontAlgn="base" latinLnBrk="0" hangingPunct="0">
              <a:spcBef>
                <a:spcPts val="600"/>
              </a:spcBef>
              <a:spcAft>
                <a:spcPct val="0"/>
              </a:spcAft>
              <a:buClrTx/>
              <a:buSzTx/>
              <a:buFont typeface="Arial" pitchFamily="34" charset="0"/>
              <a:buChar char="•"/>
              <a:tabLst/>
            </a:pPr>
            <a:r>
              <a:rPr lang="en-US" sz="1800" b="0" i="1" baseline="0" smtClean="0">
                <a:solidFill>
                  <a:schemeClr val="dk1"/>
                </a:solidFill>
                <a:latin typeface="Calibri" pitchFamily="34" charset="0"/>
                <a:cs typeface="Calibri" pitchFamily="34" charset="0"/>
              </a:rPr>
              <a:t>Post Swi for follow-up</a:t>
            </a:r>
            <a:endParaRPr kumimoji="0" lang="en-US" sz="1800" b="0" i="1" u="none" strike="noStrike" cap="none" normalizeH="0" baseline="0" dirty="0" smtClean="0">
              <a:ln>
                <a:noFill/>
              </a:ln>
              <a:solidFill>
                <a:schemeClr val="dk1"/>
              </a:solidFill>
              <a:effectLst/>
              <a:latin typeface="Calibri" pitchFamily="34" charset="0"/>
              <a:cs typeface="Calibri" pitchFamily="34" charset="0"/>
            </a:endParaRPr>
          </a:p>
        </p:txBody>
      </p:sp>
      <p:sp>
        <p:nvSpPr>
          <p:cNvPr id="35" name="Rectangle 34"/>
          <p:cNvSpPr/>
          <p:nvPr/>
        </p:nvSpPr>
        <p:spPr bwMode="auto">
          <a:xfrm>
            <a:off x="3124200" y="2967368"/>
            <a:ext cx="2934787" cy="1371600"/>
          </a:xfrm>
          <a:prstGeom prst="rect">
            <a:avLst/>
          </a:prstGeom>
          <a:solidFill>
            <a:schemeClr val="accent5">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R="0" indent="58738" defTabSz="914400" rtl="0" eaLnBrk="0" fontAlgn="base" latinLnBrk="0" hangingPunct="0">
              <a:lnSpc>
                <a:spcPct val="80000"/>
              </a:lnSpc>
              <a:spcBef>
                <a:spcPts val="600"/>
              </a:spcBef>
              <a:spcAft>
                <a:spcPct val="0"/>
              </a:spcAft>
              <a:buClrTx/>
              <a:buSzTx/>
              <a:buFontTx/>
              <a:buNone/>
              <a:tabLst/>
            </a:pPr>
            <a:r>
              <a:rPr lang="en-US" smtClean="0">
                <a:solidFill>
                  <a:schemeClr val="dk1"/>
                </a:solidFill>
                <a:latin typeface="Calibri" pitchFamily="34" charset="0"/>
                <a:cs typeface="Calibri" pitchFamily="34" charset="0"/>
              </a:rPr>
              <a:t>Swi – Software INT</a:t>
            </a:r>
            <a:endParaRPr kumimoji="0" lang="en-US" i="0" u="none" strike="noStrike" cap="none" normalizeH="0" baseline="0" dirty="0" smtClean="0">
              <a:ln>
                <a:noFill/>
              </a:ln>
              <a:solidFill>
                <a:schemeClr val="dk1"/>
              </a:solidFill>
              <a:effectLst/>
              <a:latin typeface="Calibri" pitchFamily="34" charset="0"/>
              <a:cs typeface="Calibri" pitchFamily="34" charset="0"/>
            </a:endParaRPr>
          </a:p>
          <a:p>
            <a:pPr marL="287338" marR="0" indent="-169863" defTabSz="914400" rtl="0" eaLnBrk="0" fontAlgn="base" latinLnBrk="0" hangingPunct="0">
              <a:spcBef>
                <a:spcPts val="600"/>
              </a:spcBef>
              <a:spcAft>
                <a:spcPct val="0"/>
              </a:spcAft>
              <a:buClrTx/>
              <a:buSzTx/>
              <a:buFont typeface="Arial" pitchFamily="34" charset="0"/>
              <a:buChar char="•"/>
              <a:tabLst/>
            </a:pPr>
            <a:r>
              <a:rPr lang="en-US" sz="1800" b="0" i="1" dirty="0" smtClean="0">
                <a:solidFill>
                  <a:schemeClr val="dk1"/>
                </a:solidFill>
                <a:latin typeface="Calibri" pitchFamily="34" charset="0"/>
                <a:cs typeface="Calibri" pitchFamily="34" charset="0"/>
              </a:rPr>
              <a:t>Posted by software</a:t>
            </a:r>
          </a:p>
          <a:p>
            <a:pPr marL="287338" marR="0" indent="-169863" defTabSz="914400" rtl="0" eaLnBrk="0" fontAlgn="base" latinLnBrk="0" hangingPunct="0">
              <a:spcBef>
                <a:spcPts val="600"/>
              </a:spcBef>
              <a:spcAft>
                <a:spcPct val="0"/>
              </a:spcAft>
              <a:buClrTx/>
              <a:buSzTx/>
              <a:buFont typeface="Arial" pitchFamily="34" charset="0"/>
              <a:buChar char="•"/>
              <a:tabLst/>
            </a:pPr>
            <a:r>
              <a:rPr lang="en-US" sz="1800" b="0" i="1" smtClean="0">
                <a:solidFill>
                  <a:schemeClr val="dk1"/>
                </a:solidFill>
                <a:latin typeface="Calibri" pitchFamily="34" charset="0"/>
                <a:cs typeface="Calibri" pitchFamily="34" charset="0"/>
              </a:rPr>
              <a:t>PROCESS data</a:t>
            </a:r>
            <a:endParaRPr lang="en-US" sz="1800" b="0" i="1" dirty="0" smtClean="0">
              <a:solidFill>
                <a:schemeClr val="dk1"/>
              </a:solidFill>
              <a:latin typeface="Calibri" pitchFamily="34" charset="0"/>
              <a:cs typeface="Calibri" pitchFamily="34" charset="0"/>
            </a:endParaRPr>
          </a:p>
          <a:p>
            <a:pPr marL="287338" marR="0" indent="-169863" defTabSz="914400" rtl="0" eaLnBrk="0" fontAlgn="base" latinLnBrk="0" hangingPunct="0">
              <a:spcBef>
                <a:spcPts val="600"/>
              </a:spcBef>
              <a:spcAft>
                <a:spcPct val="0"/>
              </a:spcAft>
              <a:buClrTx/>
              <a:buSzTx/>
              <a:buFont typeface="Arial" pitchFamily="34" charset="0"/>
              <a:buChar char="•"/>
              <a:tabLst/>
            </a:pPr>
            <a:r>
              <a:rPr lang="en-US" sz="1800" b="0" i="1" dirty="0" smtClean="0">
                <a:solidFill>
                  <a:schemeClr val="dk1"/>
                </a:solidFill>
                <a:latin typeface="Calibri" pitchFamily="34" charset="0"/>
                <a:cs typeface="Calibri" pitchFamily="34" charset="0"/>
              </a:rPr>
              <a:t>User can select priority</a:t>
            </a:r>
            <a:endParaRPr kumimoji="0" lang="en-US" sz="1800" b="0" i="1" u="none" strike="noStrike" cap="none" normalizeH="0" baseline="0" dirty="0" smtClean="0">
              <a:ln>
                <a:noFill/>
              </a:ln>
              <a:solidFill>
                <a:schemeClr val="dk1"/>
              </a:solidFill>
              <a:effectLst/>
              <a:latin typeface="Calibri" pitchFamily="34" charset="0"/>
              <a:cs typeface="Calibri" pitchFamily="34" charset="0"/>
            </a:endParaRPr>
          </a:p>
        </p:txBody>
      </p:sp>
      <p:sp>
        <p:nvSpPr>
          <p:cNvPr id="51" name="Rectangle 50"/>
          <p:cNvSpPr/>
          <p:nvPr/>
        </p:nvSpPr>
        <p:spPr bwMode="auto">
          <a:xfrm>
            <a:off x="3124200" y="4866167"/>
            <a:ext cx="2934787" cy="1066800"/>
          </a:xfrm>
          <a:prstGeom prst="rect">
            <a:avLst/>
          </a:prstGeom>
          <a:solidFill>
            <a:schemeClr val="accent3">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R="0" indent="58738" defTabSz="914400" rtl="0" eaLnBrk="0" fontAlgn="base" latinLnBrk="0" hangingPunct="0">
              <a:lnSpc>
                <a:spcPct val="80000"/>
              </a:lnSpc>
              <a:spcBef>
                <a:spcPts val="600"/>
              </a:spcBef>
              <a:spcAft>
                <a:spcPct val="0"/>
              </a:spcAft>
              <a:buClrTx/>
              <a:buSzTx/>
              <a:buFontTx/>
              <a:buNone/>
              <a:tabLst/>
            </a:pPr>
            <a:r>
              <a:rPr lang="en-US" smtClean="0">
                <a:solidFill>
                  <a:schemeClr val="dk1"/>
                </a:solidFill>
                <a:latin typeface="Calibri" pitchFamily="34" charset="0"/>
                <a:cs typeface="Calibri" pitchFamily="34" charset="0"/>
              </a:rPr>
              <a:t>Idle – Background</a:t>
            </a:r>
            <a:endParaRPr kumimoji="0" lang="en-US" i="0" u="none" strike="noStrike" cap="none" normalizeH="0" baseline="0" dirty="0" smtClean="0">
              <a:ln>
                <a:noFill/>
              </a:ln>
              <a:solidFill>
                <a:schemeClr val="dk1"/>
              </a:solidFill>
              <a:effectLst/>
              <a:latin typeface="Calibri" pitchFamily="34" charset="0"/>
              <a:cs typeface="Calibri" pitchFamily="34" charset="0"/>
            </a:endParaRPr>
          </a:p>
          <a:p>
            <a:pPr marL="287338" marR="0" indent="-169863" defTabSz="914400" rtl="0" eaLnBrk="0" fontAlgn="base" latinLnBrk="0" hangingPunct="0">
              <a:spcBef>
                <a:spcPts val="600"/>
              </a:spcBef>
              <a:spcAft>
                <a:spcPct val="0"/>
              </a:spcAft>
              <a:buClrTx/>
              <a:buSzTx/>
              <a:buFont typeface="Arial" pitchFamily="34" charset="0"/>
              <a:buChar char="•"/>
              <a:tabLst/>
            </a:pPr>
            <a:r>
              <a:rPr lang="en-US" sz="1800" b="0" i="1" dirty="0" smtClean="0">
                <a:solidFill>
                  <a:schemeClr val="dk1"/>
                </a:solidFill>
                <a:latin typeface="Calibri" pitchFamily="34" charset="0"/>
                <a:cs typeface="Calibri" pitchFamily="34" charset="0"/>
              </a:rPr>
              <a:t>Runs multiple </a:t>
            </a:r>
            <a:r>
              <a:rPr lang="en-US" sz="1800" b="0" i="1" dirty="0" err="1" smtClean="0">
                <a:solidFill>
                  <a:schemeClr val="dk1"/>
                </a:solidFill>
                <a:latin typeface="Calibri" pitchFamily="34" charset="0"/>
                <a:cs typeface="Calibri" pitchFamily="34" charset="0"/>
              </a:rPr>
              <a:t>fxns</a:t>
            </a:r>
            <a:r>
              <a:rPr lang="en-US" sz="1800" b="0" i="1" dirty="0" smtClean="0">
                <a:solidFill>
                  <a:schemeClr val="dk1"/>
                </a:solidFill>
                <a:latin typeface="Calibri" pitchFamily="34" charset="0"/>
                <a:cs typeface="Calibri" pitchFamily="34" charset="0"/>
              </a:rPr>
              <a:t> inside</a:t>
            </a:r>
            <a:br>
              <a:rPr lang="en-US" sz="1800" b="0" i="1" dirty="0" smtClean="0">
                <a:solidFill>
                  <a:schemeClr val="dk1"/>
                </a:solidFill>
                <a:latin typeface="Calibri" pitchFamily="34" charset="0"/>
                <a:cs typeface="Calibri" pitchFamily="34" charset="0"/>
              </a:rPr>
            </a:br>
            <a:r>
              <a:rPr lang="en-US" sz="1800" b="0" i="1" dirty="0" smtClean="0">
                <a:solidFill>
                  <a:schemeClr val="dk1"/>
                </a:solidFill>
                <a:latin typeface="Calibri" pitchFamily="34" charset="0"/>
                <a:cs typeface="Calibri" pitchFamily="34" charset="0"/>
              </a:rPr>
              <a:t>of a while(1) loop</a:t>
            </a:r>
            <a:endParaRPr kumimoji="0" lang="en-US" sz="1800" b="0" i="1" u="none" strike="noStrike" cap="none" normalizeH="0" baseline="0" dirty="0" smtClean="0">
              <a:ln>
                <a:noFill/>
              </a:ln>
              <a:solidFill>
                <a:schemeClr val="dk1"/>
              </a:solidFill>
              <a:effectLst/>
              <a:latin typeface="Calibri" pitchFamily="34" charset="0"/>
              <a:cs typeface="Calibri" pitchFamily="34" charset="0"/>
            </a:endParaRPr>
          </a:p>
        </p:txBody>
      </p:sp>
      <p:sp>
        <p:nvSpPr>
          <p:cNvPr id="52" name="TextBox 51"/>
          <p:cNvSpPr txBox="1"/>
          <p:nvPr/>
        </p:nvSpPr>
        <p:spPr>
          <a:xfrm>
            <a:off x="6406320" y="1291234"/>
            <a:ext cx="2727047" cy="3379387"/>
          </a:xfrm>
          <a:prstGeom prst="rect">
            <a:avLst/>
          </a:prstGeom>
          <a:noFill/>
        </p:spPr>
        <p:txBody>
          <a:bodyPr wrap="square" rtlCol="0" anchor="ctr" anchorCtr="0">
            <a:spAutoFit/>
          </a:bodyPr>
          <a:lstStyle/>
          <a:p>
            <a:pPr>
              <a:buClr>
                <a:schemeClr val="tx2"/>
              </a:buClr>
              <a:buSzPct val="75000"/>
            </a:pPr>
            <a:r>
              <a:rPr lang="en-US" sz="2000" dirty="0" smtClean="0">
                <a:solidFill>
                  <a:schemeClr val="dk1"/>
                </a:solidFill>
                <a:effectLst/>
                <a:latin typeface="Calibri" pitchFamily="34" charset="0"/>
                <a:cs typeface="Calibri" pitchFamily="34" charset="0"/>
              </a:rPr>
              <a:t>If we can DECOUPLE the</a:t>
            </a:r>
            <a:br>
              <a:rPr lang="en-US" sz="2000" dirty="0" smtClean="0">
                <a:solidFill>
                  <a:schemeClr val="dk1"/>
                </a:solidFill>
                <a:effectLst/>
                <a:latin typeface="Calibri" pitchFamily="34" charset="0"/>
                <a:cs typeface="Calibri" pitchFamily="34" charset="0"/>
              </a:rPr>
            </a:br>
            <a:r>
              <a:rPr lang="en-US" sz="2000" dirty="0" smtClean="0">
                <a:solidFill>
                  <a:schemeClr val="dk1"/>
                </a:solidFill>
                <a:effectLst/>
                <a:latin typeface="Calibri" pitchFamily="34" charset="0"/>
                <a:cs typeface="Calibri" pitchFamily="34" charset="0"/>
              </a:rPr>
              <a:t>processing from the</a:t>
            </a:r>
            <a:br>
              <a:rPr lang="en-US" sz="2000" dirty="0" smtClean="0">
                <a:solidFill>
                  <a:schemeClr val="dk1"/>
                </a:solidFill>
                <a:effectLst/>
                <a:latin typeface="Calibri" pitchFamily="34" charset="0"/>
                <a:cs typeface="Calibri" pitchFamily="34" charset="0"/>
              </a:rPr>
            </a:br>
            <a:r>
              <a:rPr lang="en-US" sz="2000" smtClean="0">
                <a:solidFill>
                  <a:schemeClr val="dk1"/>
                </a:solidFill>
                <a:effectLst/>
                <a:latin typeface="Calibri" pitchFamily="34" charset="0"/>
                <a:cs typeface="Calibri" pitchFamily="34" charset="0"/>
              </a:rPr>
              <a:t>TRIGGER (Hwi):</a:t>
            </a:r>
            <a:endParaRPr lang="en-US" sz="2000" dirty="0" smtClean="0">
              <a:solidFill>
                <a:schemeClr val="dk1"/>
              </a:solidFill>
              <a:effectLst/>
              <a:latin typeface="Calibri" pitchFamily="34" charset="0"/>
              <a:cs typeface="Calibri" pitchFamily="34" charset="0"/>
            </a:endParaRPr>
          </a:p>
          <a:p>
            <a:pPr marL="342900" indent="-342900">
              <a:buClr>
                <a:schemeClr val="tx2"/>
              </a:buClr>
              <a:buSzPct val="75000"/>
              <a:buFont typeface="Wingdings"/>
              <a:buChar char=""/>
            </a:pPr>
            <a:r>
              <a:rPr lang="en-US" sz="1800" b="0" dirty="0">
                <a:solidFill>
                  <a:schemeClr val="dk1"/>
                </a:solidFill>
                <a:latin typeface="Calibri" pitchFamily="34" charset="0"/>
                <a:cs typeface="Calibri" pitchFamily="34" charset="0"/>
              </a:rPr>
              <a:t>ISRs become </a:t>
            </a:r>
            <a:r>
              <a:rPr lang="en-US" sz="1800" b="0">
                <a:solidFill>
                  <a:schemeClr val="dk1"/>
                </a:solidFill>
                <a:latin typeface="Calibri" pitchFamily="34" charset="0"/>
                <a:cs typeface="Calibri" pitchFamily="34" charset="0"/>
              </a:rPr>
              <a:t>VERY </a:t>
            </a:r>
            <a:r>
              <a:rPr lang="en-US" sz="1800" b="0" smtClean="0">
                <a:solidFill>
                  <a:schemeClr val="dk1"/>
                </a:solidFill>
                <a:latin typeface="Calibri" pitchFamily="34" charset="0"/>
                <a:cs typeface="Calibri" pitchFamily="34" charset="0"/>
              </a:rPr>
              <a:t>short (no </a:t>
            </a:r>
            <a:r>
              <a:rPr lang="en-US" sz="1800" b="0" dirty="0">
                <a:solidFill>
                  <a:schemeClr val="dk1"/>
                </a:solidFill>
                <a:latin typeface="Calibri" pitchFamily="34" charset="0"/>
                <a:cs typeface="Calibri" pitchFamily="34" charset="0"/>
              </a:rPr>
              <a:t>need for nesting)</a:t>
            </a:r>
          </a:p>
          <a:p>
            <a:pPr marL="342900" indent="-342900">
              <a:buClr>
                <a:schemeClr val="tx2"/>
              </a:buClr>
              <a:buSzPct val="75000"/>
              <a:buFont typeface="Wingdings"/>
              <a:buChar char=""/>
            </a:pPr>
            <a:r>
              <a:rPr lang="en-US" sz="1800" b="0" smtClean="0">
                <a:solidFill>
                  <a:schemeClr val="dk1"/>
                </a:solidFill>
                <a:latin typeface="Calibri" pitchFamily="34" charset="0"/>
                <a:cs typeface="Calibri" pitchFamily="34" charset="0"/>
              </a:rPr>
              <a:t>Configure </a:t>
            </a:r>
            <a:r>
              <a:rPr lang="en-US" sz="1800" b="0" dirty="0" smtClean="0">
                <a:solidFill>
                  <a:schemeClr val="dk1"/>
                </a:solidFill>
                <a:latin typeface="Calibri" pitchFamily="34" charset="0"/>
                <a:cs typeface="Calibri" pitchFamily="34" charset="0"/>
              </a:rPr>
              <a:t>PRIs </a:t>
            </a:r>
            <a:r>
              <a:rPr lang="en-US" sz="1800" b="0" smtClean="0">
                <a:solidFill>
                  <a:schemeClr val="dk1"/>
                </a:solidFill>
                <a:latin typeface="Calibri" pitchFamily="34" charset="0"/>
                <a:cs typeface="Calibri" pitchFamily="34" charset="0"/>
              </a:rPr>
              <a:t>of threads via </a:t>
            </a:r>
            <a:r>
              <a:rPr lang="en-US" sz="1800" b="0" dirty="0" smtClean="0">
                <a:solidFill>
                  <a:schemeClr val="dk1"/>
                </a:solidFill>
                <a:latin typeface="Calibri" pitchFamily="34" charset="0"/>
                <a:cs typeface="Calibri" pitchFamily="34" charset="0"/>
              </a:rPr>
              <a:t>software</a:t>
            </a:r>
          </a:p>
          <a:p>
            <a:pPr marL="342900" indent="-342900">
              <a:buClr>
                <a:schemeClr val="tx2"/>
              </a:buClr>
              <a:buSzPct val="75000"/>
              <a:buFont typeface="Wingdings"/>
              <a:buChar char=""/>
            </a:pPr>
            <a:r>
              <a:rPr lang="en-US" sz="1800" b="0" dirty="0" smtClean="0">
                <a:solidFill>
                  <a:schemeClr val="dk1"/>
                </a:solidFill>
                <a:effectLst/>
                <a:latin typeface="Calibri" pitchFamily="34" charset="0"/>
                <a:cs typeface="Calibri" pitchFamily="34" charset="0"/>
              </a:rPr>
              <a:t>Add as many </a:t>
            </a:r>
            <a:r>
              <a:rPr lang="en-US" sz="1800" b="0" smtClean="0">
                <a:solidFill>
                  <a:schemeClr val="dk1"/>
                </a:solidFill>
                <a:effectLst/>
                <a:latin typeface="Calibri" pitchFamily="34" charset="0"/>
                <a:cs typeface="Calibri" pitchFamily="34" charset="0"/>
              </a:rPr>
              <a:t>threads as we </a:t>
            </a:r>
            <a:r>
              <a:rPr lang="en-US" sz="1800" b="0" dirty="0" smtClean="0">
                <a:solidFill>
                  <a:schemeClr val="dk1"/>
                </a:solidFill>
                <a:effectLst/>
                <a:latin typeface="Calibri" pitchFamily="34" charset="0"/>
                <a:cs typeface="Calibri" pitchFamily="34" charset="0"/>
              </a:rPr>
              <a:t>need (no </a:t>
            </a:r>
            <a:r>
              <a:rPr lang="en-US" sz="1800" b="0" smtClean="0">
                <a:solidFill>
                  <a:schemeClr val="dk1"/>
                </a:solidFill>
                <a:effectLst/>
                <a:latin typeface="Calibri" pitchFamily="34" charset="0"/>
                <a:cs typeface="Calibri" pitchFamily="34" charset="0"/>
              </a:rPr>
              <a:t>limit)</a:t>
            </a:r>
          </a:p>
          <a:p>
            <a:pPr marL="342900" indent="-342900">
              <a:buClr>
                <a:schemeClr val="tx2"/>
              </a:buClr>
              <a:buSzPct val="75000"/>
              <a:buFont typeface="Wingdings"/>
              <a:buChar char=""/>
            </a:pPr>
            <a:r>
              <a:rPr lang="en-US" sz="1800" b="0" smtClean="0">
                <a:solidFill>
                  <a:schemeClr val="dk1"/>
                </a:solidFill>
                <a:latin typeface="Calibri" pitchFamily="34" charset="0"/>
                <a:cs typeface="Calibri" pitchFamily="34" charset="0"/>
              </a:rPr>
              <a:t>Touch ONE, no CODE changes to the others !</a:t>
            </a:r>
            <a:endParaRPr lang="en-US" sz="1800" b="0" dirty="0" smtClean="0">
              <a:solidFill>
                <a:schemeClr val="dk1"/>
              </a:solidFill>
              <a:effectLst/>
              <a:latin typeface="Calibri" pitchFamily="34" charset="0"/>
              <a:cs typeface="Calibri" pitchFamily="34" charset="0"/>
            </a:endParaRPr>
          </a:p>
        </p:txBody>
      </p:sp>
      <p:cxnSp>
        <p:nvCxnSpPr>
          <p:cNvPr id="53" name="Straight Arrow Connector 52"/>
          <p:cNvCxnSpPr/>
          <p:nvPr/>
        </p:nvCxnSpPr>
        <p:spPr bwMode="auto">
          <a:xfrm>
            <a:off x="2286000" y="1797285"/>
            <a:ext cx="1143000" cy="1170083"/>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cxnSp>
        <p:nvCxnSpPr>
          <p:cNvPr id="54" name="Straight Arrow Connector 53"/>
          <p:cNvCxnSpPr/>
          <p:nvPr/>
        </p:nvCxnSpPr>
        <p:spPr bwMode="auto">
          <a:xfrm flipV="1">
            <a:off x="2440872" y="3278369"/>
            <a:ext cx="683328" cy="374799"/>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cxnSp>
        <p:nvCxnSpPr>
          <p:cNvPr id="55" name="Straight Arrow Connector 54"/>
          <p:cNvCxnSpPr>
            <a:endCxn id="51" idx="1"/>
          </p:cNvCxnSpPr>
          <p:nvPr/>
        </p:nvCxnSpPr>
        <p:spPr bwMode="auto">
          <a:xfrm flipV="1">
            <a:off x="2514600" y="5399567"/>
            <a:ext cx="609600" cy="293352"/>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cxnSp>
        <p:nvCxnSpPr>
          <p:cNvPr id="20" name="Straight Connector 19"/>
          <p:cNvCxnSpPr/>
          <p:nvPr/>
        </p:nvCxnSpPr>
        <p:spPr bwMode="auto">
          <a:xfrm flipV="1">
            <a:off x="685800" y="5476752"/>
            <a:ext cx="1295400" cy="211806"/>
          </a:xfrm>
          <a:prstGeom prst="line">
            <a:avLst/>
          </a:prstGeom>
          <a:solidFill>
            <a:schemeClr val="accent1"/>
          </a:solidFill>
          <a:ln w="38100" cap="flat" cmpd="sng" algn="ctr">
            <a:solidFill>
              <a:srgbClr val="FF0000"/>
            </a:solidFill>
            <a:prstDash val="solid"/>
            <a:round/>
            <a:headEnd type="none" w="sm" len="sm"/>
            <a:tailEnd type="none" w="sm" len="sm"/>
          </a:ln>
          <a:effectLst>
            <a:outerShdw blurRad="50800" dist="38100" dir="2700000" algn="tl" rotWithShape="0">
              <a:prstClr val="black">
                <a:alpha val="40000"/>
              </a:prstClr>
            </a:outerShdw>
          </a:effectLst>
        </p:spPr>
      </p:cxnSp>
      <p:pic>
        <p:nvPicPr>
          <p:cNvPr id="23"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cxnSp>
        <p:nvCxnSpPr>
          <p:cNvPr id="3" name="Straight Arrow Connector 2"/>
          <p:cNvCxnSpPr/>
          <p:nvPr/>
        </p:nvCxnSpPr>
        <p:spPr bwMode="auto">
          <a:xfrm flipV="1">
            <a:off x="6321256" y="1066800"/>
            <a:ext cx="0" cy="4621758"/>
          </a:xfrm>
          <a:prstGeom prst="straightConnector1">
            <a:avLst/>
          </a:prstGeom>
          <a:solidFill>
            <a:schemeClr val="accent1"/>
          </a:solidFill>
          <a:ln w="19050" cap="flat" cmpd="sng" algn="ctr">
            <a:solidFill>
              <a:schemeClr val="accent4">
                <a:lumMod val="75000"/>
              </a:schemeClr>
            </a:solidFill>
            <a:prstDash val="solid"/>
            <a:round/>
            <a:headEnd type="none" w="sm" len="sm"/>
            <a:tailEnd type="arrow"/>
          </a:ln>
          <a:effectLst/>
        </p:spPr>
      </p:cxnSp>
      <p:sp>
        <p:nvSpPr>
          <p:cNvPr id="4" name="TextBox 3"/>
          <p:cNvSpPr txBox="1"/>
          <p:nvPr/>
        </p:nvSpPr>
        <p:spPr>
          <a:xfrm>
            <a:off x="6119035" y="804521"/>
            <a:ext cx="409086" cy="344710"/>
          </a:xfrm>
          <a:prstGeom prst="rect">
            <a:avLst/>
          </a:prstGeom>
          <a:noFill/>
        </p:spPr>
        <p:txBody>
          <a:bodyPr wrap="none" rtlCol="0" anchor="ctr" anchorCtr="0">
            <a:spAutoFit/>
          </a:bodyPr>
          <a:lstStyle/>
          <a:p>
            <a:r>
              <a:rPr lang="en-US" sz="2000" b="0" smtClean="0">
                <a:solidFill>
                  <a:schemeClr val="dk1"/>
                </a:solidFill>
                <a:effectLst/>
                <a:latin typeface="Calibri" pitchFamily="34" charset="0"/>
                <a:cs typeface="Calibri" pitchFamily="34" charset="0"/>
              </a:rPr>
              <a:t>HI</a:t>
            </a:r>
            <a:endParaRPr lang="en-US" sz="2000" b="0" dirty="0" smtClean="0">
              <a:solidFill>
                <a:schemeClr val="dk1"/>
              </a:solidFill>
              <a:effectLst/>
              <a:latin typeface="Calibri" pitchFamily="34" charset="0"/>
              <a:cs typeface="Calibri" pitchFamily="34" charset="0"/>
            </a:endParaRPr>
          </a:p>
        </p:txBody>
      </p:sp>
      <p:sp>
        <p:nvSpPr>
          <p:cNvPr id="22" name="TextBox 21"/>
          <p:cNvSpPr txBox="1"/>
          <p:nvPr/>
        </p:nvSpPr>
        <p:spPr>
          <a:xfrm>
            <a:off x="6119035" y="5674372"/>
            <a:ext cx="456343" cy="344710"/>
          </a:xfrm>
          <a:prstGeom prst="rect">
            <a:avLst/>
          </a:prstGeom>
          <a:noFill/>
        </p:spPr>
        <p:txBody>
          <a:bodyPr wrap="none" rtlCol="0" anchor="ctr" anchorCtr="0">
            <a:spAutoFit/>
          </a:bodyPr>
          <a:lstStyle/>
          <a:p>
            <a:r>
              <a:rPr lang="en-US" sz="2000" b="0" smtClean="0">
                <a:solidFill>
                  <a:schemeClr val="dk1"/>
                </a:solidFill>
                <a:effectLst/>
                <a:latin typeface="Calibri" pitchFamily="34" charset="0"/>
                <a:cs typeface="Calibri" pitchFamily="34" charset="0"/>
              </a:rPr>
              <a:t>LO</a:t>
            </a:r>
            <a:endParaRPr lang="en-US" sz="2000" b="0" dirty="0" smtClean="0">
              <a:solidFill>
                <a:schemeClr val="dk1"/>
              </a:solidFill>
              <a:effectLst/>
              <a:latin typeface="Calibri" pitchFamily="34" charset="0"/>
              <a:cs typeface="Calibri" pitchFamily="34" charset="0"/>
            </a:endParaRPr>
          </a:p>
        </p:txBody>
      </p:sp>
    </p:spTree>
    <p:custDataLst>
      <p:tags r:id="rId1"/>
    </p:custDataLst>
    <p:extLst>
      <p:ext uri="{BB962C8B-B14F-4D97-AF65-F5344CB8AC3E}">
        <p14:creationId xmlns:p14="http://schemas.microsoft.com/office/powerpoint/2010/main" val="33588761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3"/>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a:bodyPr>
          <a:lstStyle/>
          <a:p>
            <a:r>
              <a:rPr lang="en-US" sz="3200" dirty="0" smtClean="0"/>
              <a:t>“Thread” vs. Function</a:t>
            </a:r>
          </a:p>
        </p:txBody>
      </p:sp>
      <p:sp>
        <p:nvSpPr>
          <p:cNvPr id="9" name="Rectangle 8"/>
          <p:cNvSpPr/>
          <p:nvPr/>
        </p:nvSpPr>
        <p:spPr bwMode="auto">
          <a:xfrm>
            <a:off x="3429000" y="762000"/>
            <a:ext cx="5524500" cy="890269"/>
          </a:xfrm>
          <a:prstGeom prst="rect">
            <a:avLst/>
          </a:prstGeom>
          <a:solidFill>
            <a:schemeClr val="accent1"/>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b="0" dirty="0" smtClean="0">
                <a:solidFill>
                  <a:srgbClr val="000000"/>
                </a:solidFill>
                <a:latin typeface="Calibri" pitchFamily="34" charset="0"/>
                <a:cs typeface="Calibri" pitchFamily="34" charset="0"/>
              </a:rPr>
              <a:t>A </a:t>
            </a:r>
            <a:r>
              <a:rPr lang="en-US" i="1" dirty="0" smtClean="0">
                <a:solidFill>
                  <a:schemeClr val="tx2"/>
                </a:solidFill>
                <a:latin typeface="Calibri" pitchFamily="34" charset="0"/>
                <a:cs typeface="Calibri" pitchFamily="34" charset="0"/>
              </a:rPr>
              <a:t>function</a:t>
            </a:r>
            <a:r>
              <a:rPr lang="en-US" b="0" dirty="0" smtClean="0">
                <a:solidFill>
                  <a:srgbClr val="000000"/>
                </a:solidFill>
                <a:latin typeface="Calibri" pitchFamily="34" charset="0"/>
                <a:cs typeface="Calibri" pitchFamily="34" charset="0"/>
              </a:rPr>
              <a:t> is a set of program instructions that produce a given result.</a:t>
            </a:r>
            <a:endParaRPr lang="en-US" b="0" dirty="0">
              <a:solidFill>
                <a:srgbClr val="000000"/>
              </a:solidFill>
              <a:latin typeface="Calibri" pitchFamily="34" charset="0"/>
              <a:cs typeface="Calibri" pitchFamily="34" charset="0"/>
            </a:endParaRPr>
          </a:p>
        </p:txBody>
      </p:sp>
      <p:sp>
        <p:nvSpPr>
          <p:cNvPr id="10" name="TextBox 9"/>
          <p:cNvSpPr txBox="1"/>
          <p:nvPr/>
        </p:nvSpPr>
        <p:spPr>
          <a:xfrm>
            <a:off x="3482710" y="1752600"/>
            <a:ext cx="4899290" cy="690638"/>
          </a:xfrm>
          <a:prstGeom prst="rect">
            <a:avLst/>
          </a:prstGeom>
          <a:noFill/>
        </p:spPr>
        <p:txBody>
          <a:bodyPr wrap="none" rtlCol="0" anchor="ctr" anchorCtr="0">
            <a:spAutoFit/>
          </a:bodyPr>
          <a:lstStyle/>
          <a:p>
            <a:pPr marL="342900" indent="-342900">
              <a:spcBef>
                <a:spcPts val="1200"/>
              </a:spcBef>
              <a:buClr>
                <a:srgbClr val="0066FF"/>
              </a:buClr>
              <a:buSzPct val="75000"/>
              <a:buFont typeface="Wingdings"/>
              <a:buChar char=""/>
            </a:pPr>
            <a:r>
              <a:rPr lang="en-US" b="0" dirty="0" smtClean="0">
                <a:solidFill>
                  <a:srgbClr val="000000"/>
                </a:solidFill>
                <a:latin typeface="Calibri" pitchFamily="34" charset="0"/>
                <a:cs typeface="Calibri" pitchFamily="34" charset="0"/>
              </a:rPr>
              <a:t>If you look at this function, can you</a:t>
            </a:r>
            <a:br>
              <a:rPr lang="en-US" b="0" dirty="0" smtClean="0">
                <a:solidFill>
                  <a:srgbClr val="000000"/>
                </a:solidFill>
                <a:latin typeface="Calibri" pitchFamily="34" charset="0"/>
                <a:cs typeface="Calibri" pitchFamily="34" charset="0"/>
              </a:rPr>
            </a:br>
            <a:r>
              <a:rPr lang="en-US" b="0" dirty="0" smtClean="0">
                <a:solidFill>
                  <a:srgbClr val="000000"/>
                </a:solidFill>
                <a:latin typeface="Calibri" pitchFamily="34" charset="0"/>
                <a:cs typeface="Calibri" pitchFamily="34" charset="0"/>
              </a:rPr>
              <a:t>tell what priority it is running at?</a:t>
            </a:r>
          </a:p>
        </p:txBody>
      </p:sp>
      <p:grpSp>
        <p:nvGrpSpPr>
          <p:cNvPr id="21" name="Group 20"/>
          <p:cNvGrpSpPr/>
          <p:nvPr/>
        </p:nvGrpSpPr>
        <p:grpSpPr>
          <a:xfrm>
            <a:off x="76200" y="3999772"/>
            <a:ext cx="8692508" cy="1883548"/>
            <a:chOff x="76200" y="3999772"/>
            <a:chExt cx="8692508" cy="1883548"/>
          </a:xfrm>
        </p:grpSpPr>
        <p:sp>
          <p:nvSpPr>
            <p:cNvPr id="12" name="TextBox 11"/>
            <p:cNvSpPr txBox="1"/>
            <p:nvPr/>
          </p:nvSpPr>
          <p:spPr>
            <a:xfrm>
              <a:off x="76200" y="3999772"/>
              <a:ext cx="8692508" cy="844527"/>
            </a:xfrm>
            <a:prstGeom prst="rect">
              <a:avLst/>
            </a:prstGeom>
            <a:noFill/>
          </p:spPr>
          <p:txBody>
            <a:bodyPr wrap="none" rtlCol="0" anchor="ctr" anchorCtr="0">
              <a:spAutoFit/>
            </a:bodyPr>
            <a:lstStyle/>
            <a:p>
              <a:pPr marL="342900" indent="-342900">
                <a:spcBef>
                  <a:spcPts val="1200"/>
                </a:spcBef>
                <a:buClr>
                  <a:srgbClr val="0066FF"/>
                </a:buClr>
                <a:buSzPct val="75000"/>
                <a:buFont typeface="Wingdings"/>
                <a:buChar char=""/>
              </a:pPr>
              <a:r>
                <a:rPr lang="en-US" b="0" dirty="0" err="1">
                  <a:solidFill>
                    <a:srgbClr val="000000"/>
                  </a:solidFill>
                  <a:latin typeface="Courier New" pitchFamily="49" charset="0"/>
                  <a:cs typeface="Courier New" pitchFamily="49" charset="0"/>
                </a:rPr>
                <a:t>m</a:t>
              </a:r>
              <a:r>
                <a:rPr lang="en-US" b="0" dirty="0" err="1" smtClean="0">
                  <a:solidFill>
                    <a:srgbClr val="000000"/>
                  </a:solidFill>
                  <a:latin typeface="Courier New" pitchFamily="49" charset="0"/>
                  <a:cs typeface="Courier New" pitchFamily="49" charset="0"/>
                </a:rPr>
                <a:t>y_fxn</a:t>
              </a:r>
              <a:r>
                <a:rPr lang="en-US" b="0" dirty="0" smtClean="0">
                  <a:solidFill>
                    <a:srgbClr val="000000"/>
                  </a:solidFill>
                  <a:latin typeface="Courier New" pitchFamily="49" charset="0"/>
                  <a:cs typeface="Courier New" pitchFamily="49" charset="0"/>
                </a:rPr>
                <a:t>()</a:t>
              </a:r>
              <a:r>
                <a:rPr lang="en-US" b="0" dirty="0" smtClean="0">
                  <a:solidFill>
                    <a:srgbClr val="000000"/>
                  </a:solidFill>
                  <a:latin typeface="Calibri" pitchFamily="34" charset="0"/>
                  <a:cs typeface="Calibri" pitchFamily="34" charset="0"/>
                </a:rPr>
                <a:t> could run as ANY </a:t>
              </a:r>
              <a:r>
                <a:rPr lang="en-US" b="0" smtClean="0">
                  <a:solidFill>
                    <a:srgbClr val="000000"/>
                  </a:solidFill>
                  <a:latin typeface="Calibri" pitchFamily="34" charset="0"/>
                  <a:cs typeface="Calibri" pitchFamily="34" charset="0"/>
                </a:rPr>
                <a:t>thread type </a:t>
              </a:r>
              <a:r>
                <a:rPr lang="en-US" sz="2000" b="0" i="1" smtClean="0">
                  <a:solidFill>
                    <a:srgbClr val="000000"/>
                  </a:solidFill>
                  <a:latin typeface="Calibri" pitchFamily="34" charset="0"/>
                  <a:cs typeface="Calibri" pitchFamily="34" charset="0"/>
                </a:rPr>
                <a:t>(e.g. Swi_1 or Hwi_1)</a:t>
              </a:r>
              <a:endParaRPr lang="en-US" b="0" i="1" dirty="0" smtClean="0">
                <a:solidFill>
                  <a:srgbClr val="000000"/>
                </a:solidFill>
                <a:latin typeface="Calibri" pitchFamily="34" charset="0"/>
                <a:cs typeface="Calibri" pitchFamily="34" charset="0"/>
              </a:endParaRPr>
            </a:p>
            <a:p>
              <a:pPr marL="342900" indent="-342900">
                <a:spcBef>
                  <a:spcPts val="1200"/>
                </a:spcBef>
                <a:buClr>
                  <a:srgbClr val="0066FF"/>
                </a:buClr>
                <a:buSzPct val="75000"/>
                <a:buFont typeface="Wingdings"/>
                <a:buChar char=""/>
              </a:pPr>
              <a:r>
                <a:rPr lang="en-US" b="0" dirty="0" smtClean="0">
                  <a:solidFill>
                    <a:srgbClr val="000000"/>
                  </a:solidFill>
                  <a:latin typeface="Calibri" pitchFamily="34" charset="0"/>
                  <a:cs typeface="Calibri" pitchFamily="34" charset="0"/>
                </a:rPr>
                <a:t>User selects thread GROUP (and PRI w/in group), BIOS executes it</a:t>
              </a:r>
            </a:p>
          </p:txBody>
        </p:sp>
        <p:sp>
          <p:nvSpPr>
            <p:cNvPr id="13" name="Rectangle 12"/>
            <p:cNvSpPr/>
            <p:nvPr/>
          </p:nvSpPr>
          <p:spPr bwMode="auto">
            <a:xfrm>
              <a:off x="609598" y="4876332"/>
              <a:ext cx="2057402" cy="1006987"/>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spcBef>
                  <a:spcPts val="600"/>
                </a:spcBef>
              </a:pPr>
              <a:r>
                <a:rPr lang="en-US" dirty="0" err="1" smtClean="0">
                  <a:solidFill>
                    <a:schemeClr val="tx2"/>
                  </a:solidFill>
                  <a:latin typeface="Calibri" pitchFamily="34" charset="0"/>
                  <a:cs typeface="Calibri" pitchFamily="34" charset="0"/>
                </a:rPr>
                <a:t>Hwi</a:t>
              </a:r>
              <a:endParaRPr lang="en-US" dirty="0" smtClean="0">
                <a:solidFill>
                  <a:schemeClr val="tx2"/>
                </a:solidFill>
                <a:latin typeface="Calibri" pitchFamily="34" charset="0"/>
                <a:cs typeface="Calibri" pitchFamily="34" charset="0"/>
              </a:endParaRPr>
            </a:p>
            <a:p>
              <a:pPr marL="287338" indent="-169863">
                <a:lnSpc>
                  <a:spcPct val="70000"/>
                </a:lnSpc>
                <a:spcBef>
                  <a:spcPts val="600"/>
                </a:spcBef>
                <a:buFont typeface="Arial" pitchFamily="34" charset="0"/>
                <a:buChar char="•"/>
              </a:pPr>
              <a:r>
                <a:rPr lang="en-US" sz="1800" b="0" i="1" dirty="0" smtClean="0">
                  <a:solidFill>
                    <a:srgbClr val="000000"/>
                  </a:solidFill>
                  <a:latin typeface="Calibri" pitchFamily="34" charset="0"/>
                  <a:cs typeface="Calibri" pitchFamily="34" charset="0"/>
                </a:rPr>
                <a:t>High Priority ISR</a:t>
              </a:r>
            </a:p>
            <a:p>
              <a:pPr marL="287338" indent="-169863">
                <a:lnSpc>
                  <a:spcPct val="70000"/>
                </a:lnSpc>
                <a:spcBef>
                  <a:spcPts val="600"/>
                </a:spcBef>
                <a:buFont typeface="Arial" pitchFamily="34" charset="0"/>
                <a:buChar char="•"/>
              </a:pPr>
              <a:r>
                <a:rPr lang="en-US" sz="1800" b="0" i="1" dirty="0" smtClean="0">
                  <a:solidFill>
                    <a:srgbClr val="000000"/>
                  </a:solidFill>
                  <a:latin typeface="Calibri" pitchFamily="34" charset="0"/>
                  <a:cs typeface="Calibri" pitchFamily="34" charset="0"/>
                </a:rPr>
                <a:t>Calls </a:t>
              </a:r>
              <a:r>
                <a:rPr lang="en-US" sz="1800" b="0" i="1" dirty="0" err="1" smtClean="0">
                  <a:solidFill>
                    <a:srgbClr val="000000"/>
                  </a:solidFill>
                  <a:latin typeface="Calibri" pitchFamily="34" charset="0"/>
                  <a:cs typeface="Calibri" pitchFamily="34" charset="0"/>
                </a:rPr>
                <a:t>my_fxn</a:t>
              </a:r>
              <a:r>
                <a:rPr lang="en-US" sz="1800" b="0" i="1" dirty="0" smtClean="0">
                  <a:solidFill>
                    <a:srgbClr val="000000"/>
                  </a:solidFill>
                  <a:latin typeface="Calibri" pitchFamily="34" charset="0"/>
                  <a:cs typeface="Calibri" pitchFamily="34" charset="0"/>
                </a:rPr>
                <a:t>()</a:t>
              </a:r>
            </a:p>
          </p:txBody>
        </p:sp>
        <p:sp>
          <p:nvSpPr>
            <p:cNvPr id="14" name="Rectangle 13"/>
            <p:cNvSpPr/>
            <p:nvPr/>
          </p:nvSpPr>
          <p:spPr bwMode="auto">
            <a:xfrm>
              <a:off x="3017970" y="4882939"/>
              <a:ext cx="2163630" cy="1000380"/>
            </a:xfrm>
            <a:prstGeom prst="rect">
              <a:avLst/>
            </a:prstGeom>
            <a:solidFill>
              <a:schemeClr val="accent5">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spcBef>
                  <a:spcPts val="600"/>
                </a:spcBef>
              </a:pPr>
              <a:r>
                <a:rPr lang="en-US" dirty="0" err="1" smtClean="0">
                  <a:solidFill>
                    <a:schemeClr val="tx2"/>
                  </a:solidFill>
                  <a:latin typeface="Calibri" pitchFamily="34" charset="0"/>
                  <a:cs typeface="Calibri" pitchFamily="34" charset="0"/>
                </a:rPr>
                <a:t>Swi</a:t>
              </a:r>
              <a:endParaRPr lang="en-US" dirty="0" smtClean="0">
                <a:solidFill>
                  <a:schemeClr val="tx2"/>
                </a:solidFill>
                <a:latin typeface="Calibri" pitchFamily="34" charset="0"/>
                <a:cs typeface="Calibri" pitchFamily="34" charset="0"/>
              </a:endParaRPr>
            </a:p>
            <a:p>
              <a:pPr marL="287338" indent="-169863">
                <a:lnSpc>
                  <a:spcPct val="70000"/>
                </a:lnSpc>
                <a:spcBef>
                  <a:spcPts val="600"/>
                </a:spcBef>
                <a:buFont typeface="Arial" pitchFamily="34" charset="0"/>
                <a:buChar char="•"/>
              </a:pPr>
              <a:r>
                <a:rPr lang="en-US" sz="1800" b="0" i="1" dirty="0" smtClean="0">
                  <a:solidFill>
                    <a:srgbClr val="000000"/>
                  </a:solidFill>
                  <a:latin typeface="Calibri" pitchFamily="34" charset="0"/>
                  <a:cs typeface="Calibri" pitchFamily="34" charset="0"/>
                </a:rPr>
                <a:t>Follow-up to </a:t>
              </a:r>
              <a:r>
                <a:rPr lang="en-US" sz="1800" b="0" i="1" dirty="0" err="1" smtClean="0">
                  <a:solidFill>
                    <a:srgbClr val="000000"/>
                  </a:solidFill>
                  <a:latin typeface="Calibri" pitchFamily="34" charset="0"/>
                  <a:cs typeface="Calibri" pitchFamily="34" charset="0"/>
                </a:rPr>
                <a:t>Hwi</a:t>
              </a:r>
              <a:endParaRPr lang="en-US" sz="1800" b="0" i="1" dirty="0" smtClean="0">
                <a:solidFill>
                  <a:srgbClr val="000000"/>
                </a:solidFill>
                <a:latin typeface="Calibri" pitchFamily="34" charset="0"/>
                <a:cs typeface="Calibri" pitchFamily="34" charset="0"/>
              </a:endParaRPr>
            </a:p>
            <a:p>
              <a:pPr marL="287338" indent="-169863">
                <a:lnSpc>
                  <a:spcPct val="70000"/>
                </a:lnSpc>
                <a:spcBef>
                  <a:spcPts val="600"/>
                </a:spcBef>
                <a:buFont typeface="Arial" pitchFamily="34" charset="0"/>
                <a:buChar char="•"/>
              </a:pPr>
              <a:r>
                <a:rPr lang="en-US" sz="1800" b="0" i="1" dirty="0" smtClean="0">
                  <a:solidFill>
                    <a:srgbClr val="000000"/>
                  </a:solidFill>
                  <a:latin typeface="Calibri" pitchFamily="34" charset="0"/>
                  <a:cs typeface="Calibri" pitchFamily="34" charset="0"/>
                </a:rPr>
                <a:t>Calls </a:t>
              </a:r>
              <a:r>
                <a:rPr lang="en-US" sz="1800" b="0" i="1" dirty="0" err="1" smtClean="0">
                  <a:solidFill>
                    <a:srgbClr val="000000"/>
                  </a:solidFill>
                  <a:latin typeface="Calibri" pitchFamily="34" charset="0"/>
                  <a:cs typeface="Calibri" pitchFamily="34" charset="0"/>
                </a:rPr>
                <a:t>my_fxn</a:t>
              </a:r>
              <a:r>
                <a:rPr lang="en-US" sz="1800" b="0" i="1" dirty="0" smtClean="0">
                  <a:solidFill>
                    <a:srgbClr val="000000"/>
                  </a:solidFill>
                  <a:latin typeface="Calibri" pitchFamily="34" charset="0"/>
                  <a:cs typeface="Calibri" pitchFamily="34" charset="0"/>
                </a:rPr>
                <a:t>()</a:t>
              </a:r>
            </a:p>
          </p:txBody>
        </p:sp>
        <p:sp>
          <p:nvSpPr>
            <p:cNvPr id="16" name="Rectangle 15"/>
            <p:cNvSpPr/>
            <p:nvPr/>
          </p:nvSpPr>
          <p:spPr bwMode="auto">
            <a:xfrm>
              <a:off x="5486400" y="4882940"/>
              <a:ext cx="1866900" cy="1000380"/>
            </a:xfrm>
            <a:prstGeom prst="rect">
              <a:avLst/>
            </a:prstGeom>
            <a:solidFill>
              <a:schemeClr val="accent3">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spcBef>
                  <a:spcPts val="600"/>
                </a:spcBef>
              </a:pPr>
              <a:r>
                <a:rPr lang="en-US" dirty="0" smtClean="0">
                  <a:solidFill>
                    <a:schemeClr val="tx2"/>
                  </a:solidFill>
                  <a:latin typeface="Calibri" pitchFamily="34" charset="0"/>
                  <a:cs typeface="Calibri" pitchFamily="34" charset="0"/>
                </a:rPr>
                <a:t>Idle</a:t>
              </a:r>
            </a:p>
            <a:p>
              <a:pPr marL="287338" indent="-169863">
                <a:lnSpc>
                  <a:spcPct val="70000"/>
                </a:lnSpc>
                <a:spcBef>
                  <a:spcPts val="600"/>
                </a:spcBef>
                <a:buFont typeface="Arial" pitchFamily="34" charset="0"/>
                <a:buChar char="•"/>
              </a:pPr>
              <a:r>
                <a:rPr lang="en-US" sz="1800" b="0" i="1" dirty="0" smtClean="0">
                  <a:solidFill>
                    <a:srgbClr val="000000"/>
                  </a:solidFill>
                  <a:latin typeface="Calibri" pitchFamily="34" charset="0"/>
                  <a:cs typeface="Calibri" pitchFamily="34" charset="0"/>
                </a:rPr>
                <a:t>Lowest PRI</a:t>
              </a:r>
            </a:p>
            <a:p>
              <a:pPr marL="287338" indent="-169863">
                <a:lnSpc>
                  <a:spcPct val="70000"/>
                </a:lnSpc>
                <a:spcBef>
                  <a:spcPts val="600"/>
                </a:spcBef>
                <a:buFont typeface="Arial" pitchFamily="34" charset="0"/>
                <a:buChar char="•"/>
              </a:pPr>
              <a:r>
                <a:rPr lang="en-US" sz="1800" b="0" i="1" dirty="0" smtClean="0">
                  <a:solidFill>
                    <a:srgbClr val="000000"/>
                  </a:solidFill>
                  <a:latin typeface="Calibri" pitchFamily="34" charset="0"/>
                  <a:cs typeface="Calibri" pitchFamily="34" charset="0"/>
                </a:rPr>
                <a:t>Calls </a:t>
              </a:r>
              <a:r>
                <a:rPr lang="en-US" sz="1800" b="0" i="1" dirty="0" err="1" smtClean="0">
                  <a:solidFill>
                    <a:srgbClr val="000000"/>
                  </a:solidFill>
                  <a:latin typeface="Calibri" pitchFamily="34" charset="0"/>
                  <a:cs typeface="Calibri" pitchFamily="34" charset="0"/>
                </a:rPr>
                <a:t>my_fxn</a:t>
              </a:r>
              <a:r>
                <a:rPr lang="en-US" sz="1800" b="0" i="1" dirty="0" smtClean="0">
                  <a:solidFill>
                    <a:srgbClr val="000000"/>
                  </a:solidFill>
                  <a:latin typeface="Calibri" pitchFamily="34" charset="0"/>
                  <a:cs typeface="Calibri" pitchFamily="34" charset="0"/>
                </a:rPr>
                <a:t>()</a:t>
              </a:r>
            </a:p>
          </p:txBody>
        </p:sp>
        <p:pic>
          <p:nvPicPr>
            <p:cNvPr id="1026" name="Picture 2" descr="C:\Users\a0159877\Desktop\arrow_loop.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62927" y="4934377"/>
              <a:ext cx="431800" cy="431800"/>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Rectangle 7"/>
          <p:cNvSpPr/>
          <p:nvPr/>
        </p:nvSpPr>
        <p:spPr bwMode="auto">
          <a:xfrm>
            <a:off x="381000" y="999461"/>
            <a:ext cx="2362201" cy="2438401"/>
          </a:xfrm>
          <a:prstGeom prst="rect">
            <a:avLst/>
          </a:prstGeom>
          <a:solidFill>
            <a:schemeClr val="accent6">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nSpc>
                <a:spcPct val="60000"/>
              </a:lnSpc>
              <a:spcBef>
                <a:spcPts val="600"/>
              </a:spcBef>
            </a:pPr>
            <a:r>
              <a:rPr lang="en-US" sz="1800" b="0">
                <a:solidFill>
                  <a:srgbClr val="000000"/>
                </a:solidFill>
                <a:latin typeface="Courier New" pitchFamily="49" charset="0"/>
                <a:cs typeface="Courier New" pitchFamily="49" charset="0"/>
              </a:rPr>
              <a:t>void my_fxn()</a:t>
            </a:r>
          </a:p>
          <a:p>
            <a:pPr>
              <a:lnSpc>
                <a:spcPct val="60000"/>
              </a:lnSpc>
              <a:spcBef>
                <a:spcPts val="600"/>
              </a:spcBef>
            </a:pPr>
            <a:r>
              <a:rPr lang="en-US" sz="1800" b="0">
                <a:solidFill>
                  <a:srgbClr val="000000"/>
                </a:solidFill>
                <a:latin typeface="Courier New" pitchFamily="49" charset="0"/>
                <a:cs typeface="Courier New" pitchFamily="49" charset="0"/>
              </a:rPr>
              <a:t>{</a:t>
            </a:r>
          </a:p>
          <a:p>
            <a:pPr>
              <a:lnSpc>
                <a:spcPct val="60000"/>
              </a:lnSpc>
              <a:spcBef>
                <a:spcPts val="600"/>
              </a:spcBef>
            </a:pPr>
            <a:r>
              <a:rPr lang="en-US" sz="1800" b="0">
                <a:solidFill>
                  <a:srgbClr val="000000"/>
                </a:solidFill>
                <a:latin typeface="Courier New" pitchFamily="49" charset="0"/>
                <a:cs typeface="Courier New" pitchFamily="49" charset="0"/>
              </a:rPr>
              <a:t>  int m, x, b;</a:t>
            </a:r>
          </a:p>
          <a:p>
            <a:pPr>
              <a:lnSpc>
                <a:spcPct val="60000"/>
              </a:lnSpc>
              <a:spcBef>
                <a:spcPts val="600"/>
              </a:spcBef>
            </a:pPr>
            <a:r>
              <a:rPr lang="en-US" sz="1800" b="0">
                <a:solidFill>
                  <a:srgbClr val="000000"/>
                </a:solidFill>
                <a:latin typeface="Courier New" pitchFamily="49" charset="0"/>
                <a:cs typeface="Courier New" pitchFamily="49" charset="0"/>
              </a:rPr>
              <a:t>  int y;</a:t>
            </a:r>
          </a:p>
          <a:p>
            <a:pPr>
              <a:lnSpc>
                <a:spcPct val="60000"/>
              </a:lnSpc>
              <a:spcBef>
                <a:spcPts val="600"/>
              </a:spcBef>
            </a:pPr>
            <a:endParaRPr lang="en-US" sz="1800" b="0">
              <a:solidFill>
                <a:srgbClr val="000000"/>
              </a:solidFill>
              <a:latin typeface="Courier New" pitchFamily="49" charset="0"/>
              <a:cs typeface="Courier New" pitchFamily="49" charset="0"/>
            </a:endParaRPr>
          </a:p>
          <a:p>
            <a:pPr>
              <a:lnSpc>
                <a:spcPct val="60000"/>
              </a:lnSpc>
              <a:spcBef>
                <a:spcPts val="600"/>
              </a:spcBef>
            </a:pPr>
            <a:r>
              <a:rPr lang="en-US" sz="1800" b="0">
                <a:solidFill>
                  <a:srgbClr val="000000"/>
                </a:solidFill>
                <a:latin typeface="Courier New" pitchFamily="49" charset="0"/>
                <a:cs typeface="Courier New" pitchFamily="49" charset="0"/>
              </a:rPr>
              <a:t>  y = m*x + b;</a:t>
            </a:r>
          </a:p>
          <a:p>
            <a:pPr>
              <a:lnSpc>
                <a:spcPct val="60000"/>
              </a:lnSpc>
              <a:spcBef>
                <a:spcPts val="600"/>
              </a:spcBef>
            </a:pPr>
            <a:r>
              <a:rPr lang="en-US" sz="1800" b="0">
                <a:solidFill>
                  <a:srgbClr val="000000"/>
                </a:solidFill>
                <a:latin typeface="Courier New" pitchFamily="49" charset="0"/>
                <a:cs typeface="Courier New" pitchFamily="49" charset="0"/>
              </a:rPr>
              <a:t>  serial = y;</a:t>
            </a:r>
          </a:p>
          <a:p>
            <a:pPr>
              <a:lnSpc>
                <a:spcPct val="60000"/>
              </a:lnSpc>
              <a:spcBef>
                <a:spcPts val="600"/>
              </a:spcBef>
            </a:pPr>
            <a:r>
              <a:rPr lang="en-US" sz="1800" b="0">
                <a:solidFill>
                  <a:srgbClr val="000000"/>
                </a:solidFill>
                <a:latin typeface="Courier New" pitchFamily="49" charset="0"/>
                <a:cs typeface="Courier New" pitchFamily="49" charset="0"/>
              </a:rPr>
              <a:t>  results += 1;</a:t>
            </a:r>
          </a:p>
          <a:p>
            <a:pPr>
              <a:lnSpc>
                <a:spcPct val="60000"/>
              </a:lnSpc>
              <a:spcBef>
                <a:spcPts val="600"/>
              </a:spcBef>
            </a:pPr>
            <a:r>
              <a:rPr lang="en-US" sz="1800" b="0">
                <a:solidFill>
                  <a:srgbClr val="000000"/>
                </a:solidFill>
                <a:latin typeface="Courier New" pitchFamily="49" charset="0"/>
                <a:cs typeface="Courier New" pitchFamily="49" charset="0"/>
              </a:rPr>
              <a:t>}</a:t>
            </a:r>
            <a:endParaRPr lang="en-US" sz="1800" b="0" dirty="0">
              <a:solidFill>
                <a:srgbClr val="000000"/>
              </a:solidFill>
              <a:latin typeface="Courier New" pitchFamily="49" charset="0"/>
              <a:cs typeface="Courier New" pitchFamily="49" charset="0"/>
            </a:endParaRPr>
          </a:p>
        </p:txBody>
      </p:sp>
      <p:grpSp>
        <p:nvGrpSpPr>
          <p:cNvPr id="18" name="Group 17"/>
          <p:cNvGrpSpPr/>
          <p:nvPr/>
        </p:nvGrpSpPr>
        <p:grpSpPr>
          <a:xfrm>
            <a:off x="381000" y="629094"/>
            <a:ext cx="8572500" cy="3180906"/>
            <a:chOff x="381000" y="629094"/>
            <a:chExt cx="8572500" cy="3180906"/>
          </a:xfrm>
        </p:grpSpPr>
        <p:sp>
          <p:nvSpPr>
            <p:cNvPr id="11" name="Rectangle 10"/>
            <p:cNvSpPr/>
            <p:nvPr/>
          </p:nvSpPr>
          <p:spPr bwMode="auto">
            <a:xfrm>
              <a:off x="3429000" y="2767331"/>
              <a:ext cx="5524500" cy="890269"/>
            </a:xfrm>
            <a:prstGeom prst="rect">
              <a:avLst/>
            </a:prstGeom>
            <a:solidFill>
              <a:schemeClr val="accent4">
                <a:lumMod val="20000"/>
                <a:lumOff val="80000"/>
              </a:schemeClr>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b="0" dirty="0" smtClean="0">
                  <a:solidFill>
                    <a:srgbClr val="000000"/>
                  </a:solidFill>
                  <a:latin typeface="Calibri" pitchFamily="34" charset="0"/>
                  <a:cs typeface="Calibri" pitchFamily="34" charset="0"/>
                </a:rPr>
                <a:t>A </a:t>
              </a:r>
              <a:r>
                <a:rPr lang="en-US" i="1" dirty="0" smtClean="0">
                  <a:solidFill>
                    <a:schemeClr val="tx2"/>
                  </a:solidFill>
                  <a:latin typeface="Calibri" pitchFamily="34" charset="0"/>
                  <a:cs typeface="Calibri" pitchFamily="34" charset="0"/>
                </a:rPr>
                <a:t>thread</a:t>
              </a:r>
              <a:r>
                <a:rPr lang="en-US" b="0" dirty="0" smtClean="0">
                  <a:solidFill>
                    <a:srgbClr val="000000"/>
                  </a:solidFill>
                  <a:latin typeface="Calibri" pitchFamily="34" charset="0"/>
                  <a:cs typeface="Calibri" pitchFamily="34" charset="0"/>
                </a:rPr>
                <a:t> is a function that runs within a specific context (PRIORITY, stack,  etc.) </a:t>
              </a:r>
              <a:endParaRPr lang="en-US" b="0" dirty="0">
                <a:solidFill>
                  <a:srgbClr val="000000"/>
                </a:solidFill>
                <a:latin typeface="Calibri" pitchFamily="34" charset="0"/>
                <a:cs typeface="Calibri" pitchFamily="34" charset="0"/>
              </a:endParaRPr>
            </a:p>
          </p:txBody>
        </p:sp>
        <p:sp>
          <p:nvSpPr>
            <p:cNvPr id="23" name="Rectangle 22"/>
            <p:cNvSpPr/>
            <p:nvPr/>
          </p:nvSpPr>
          <p:spPr bwMode="auto">
            <a:xfrm>
              <a:off x="381000" y="629094"/>
              <a:ext cx="2362201" cy="370367"/>
            </a:xfrm>
            <a:prstGeom prst="rect">
              <a:avLst/>
            </a:prstGeom>
            <a:solidFill>
              <a:schemeClr val="accent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a:lnSpc>
                  <a:spcPct val="60000"/>
                </a:lnSpc>
                <a:spcBef>
                  <a:spcPts val="600"/>
                </a:spcBef>
              </a:pPr>
              <a:r>
                <a:rPr lang="en-US" sz="1800" b="0" smtClean="0">
                  <a:solidFill>
                    <a:srgbClr val="000000"/>
                  </a:solidFill>
                  <a:latin typeface="Calibri" pitchFamily="34" charset="0"/>
                  <a:cs typeface="Calibri" pitchFamily="34" charset="0"/>
                </a:rPr>
                <a:t>Thread wrapper (C/S)</a:t>
              </a:r>
              <a:endParaRPr lang="en-US" sz="1800" b="0" dirty="0">
                <a:solidFill>
                  <a:srgbClr val="000000"/>
                </a:solidFill>
                <a:latin typeface="Calibri" pitchFamily="34" charset="0"/>
                <a:cs typeface="Calibri" pitchFamily="34" charset="0"/>
              </a:endParaRPr>
            </a:p>
          </p:txBody>
        </p:sp>
        <p:sp>
          <p:nvSpPr>
            <p:cNvPr id="24" name="Rectangle 23"/>
            <p:cNvSpPr/>
            <p:nvPr/>
          </p:nvSpPr>
          <p:spPr bwMode="auto">
            <a:xfrm>
              <a:off x="381000" y="3439633"/>
              <a:ext cx="2362201" cy="370367"/>
            </a:xfrm>
            <a:prstGeom prst="rect">
              <a:avLst/>
            </a:prstGeom>
            <a:solidFill>
              <a:schemeClr val="accent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a:lnSpc>
                  <a:spcPct val="60000"/>
                </a:lnSpc>
                <a:spcBef>
                  <a:spcPts val="600"/>
                </a:spcBef>
              </a:pPr>
              <a:r>
                <a:rPr lang="en-US" sz="1800" b="0" smtClean="0">
                  <a:solidFill>
                    <a:srgbClr val="000000"/>
                  </a:solidFill>
                  <a:latin typeface="Calibri" pitchFamily="34" charset="0"/>
                  <a:cs typeface="Calibri" pitchFamily="34" charset="0"/>
                </a:rPr>
                <a:t>Thread wrapper (C/R)</a:t>
              </a:r>
              <a:endParaRPr lang="en-US" sz="1800" b="0" dirty="0">
                <a:solidFill>
                  <a:srgbClr val="000000"/>
                </a:solidFill>
                <a:latin typeface="Calibri" pitchFamily="34" charset="0"/>
                <a:cs typeface="Calibri" pitchFamily="34" charset="0"/>
              </a:endParaRPr>
            </a:p>
          </p:txBody>
        </p:sp>
      </p:grpSp>
      <p:grpSp>
        <p:nvGrpSpPr>
          <p:cNvPr id="6" name="Group 5"/>
          <p:cNvGrpSpPr/>
          <p:nvPr/>
        </p:nvGrpSpPr>
        <p:grpSpPr>
          <a:xfrm>
            <a:off x="609598" y="6000464"/>
            <a:ext cx="6743702" cy="395173"/>
            <a:chOff x="609598" y="6000464"/>
            <a:chExt cx="6743702" cy="395173"/>
          </a:xfrm>
        </p:grpSpPr>
        <p:cxnSp>
          <p:nvCxnSpPr>
            <p:cNvPr id="4" name="Straight Arrow Connector 3"/>
            <p:cNvCxnSpPr/>
            <p:nvPr/>
          </p:nvCxnSpPr>
          <p:spPr bwMode="auto">
            <a:xfrm flipH="1">
              <a:off x="609598" y="6172200"/>
              <a:ext cx="6743702" cy="0"/>
            </a:xfrm>
            <a:prstGeom prst="straightConnector1">
              <a:avLst/>
            </a:prstGeom>
            <a:solidFill>
              <a:schemeClr val="accent1"/>
            </a:solidFill>
            <a:ln w="38100" cap="flat" cmpd="sng" algn="ctr">
              <a:solidFill>
                <a:schemeClr val="tx1"/>
              </a:solidFill>
              <a:prstDash val="solid"/>
              <a:round/>
              <a:headEnd type="none" w="med" len="med"/>
              <a:tailEnd type="triangle" w="med" len="med"/>
            </a:ln>
            <a:effectLst/>
          </p:spPr>
        </p:cxnSp>
        <p:sp>
          <p:nvSpPr>
            <p:cNvPr id="5" name="TextBox 4"/>
            <p:cNvSpPr txBox="1"/>
            <p:nvPr/>
          </p:nvSpPr>
          <p:spPr>
            <a:xfrm>
              <a:off x="3525677" y="6000464"/>
              <a:ext cx="1103187" cy="395173"/>
            </a:xfrm>
            <a:prstGeom prst="rect">
              <a:avLst/>
            </a:prstGeom>
            <a:solidFill>
              <a:schemeClr val="bg2"/>
            </a:solidFill>
          </p:spPr>
          <p:txBody>
            <a:bodyPr wrap="none" rtlCol="0" anchor="t" anchorCtr="0">
              <a:spAutoFit/>
            </a:bodyPr>
            <a:lstStyle/>
            <a:p>
              <a:r>
                <a:rPr lang="en-US" b="0" smtClean="0">
                  <a:solidFill>
                    <a:schemeClr val="dk1"/>
                  </a:solidFill>
                  <a:effectLst/>
                  <a:latin typeface="Calibri" pitchFamily="34" charset="0"/>
                  <a:cs typeface="Calibri" pitchFamily="34" charset="0"/>
                </a:rPr>
                <a:t>Priority</a:t>
              </a:r>
            </a:p>
          </p:txBody>
        </p:sp>
      </p:grpSp>
      <p:sp>
        <p:nvSpPr>
          <p:cNvPr id="25" name="Leading Question"/>
          <p:cNvSpPr txBox="1"/>
          <p:nvPr/>
        </p:nvSpPr>
        <p:spPr>
          <a:xfrm>
            <a:off x="3820305" y="6455897"/>
            <a:ext cx="4879093" cy="276999"/>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ctr">
              <a:lnSpc>
                <a:spcPct val="90000"/>
              </a:lnSpc>
              <a:spcBef>
                <a:spcPct val="0"/>
              </a:spcBef>
            </a:pPr>
            <a:r>
              <a:rPr lang="en-US" sz="2000" b="0" smtClean="0">
                <a:solidFill>
                  <a:schemeClr val="tx2"/>
                </a:solidFill>
                <a:latin typeface="Arial Narrow"/>
              </a:rPr>
              <a:t>Let’s see a scheduling example of these 3 threads…</a:t>
            </a:r>
            <a:endParaRPr lang="en-US" sz="2000" b="0" dirty="0" smtClean="0">
              <a:solidFill>
                <a:schemeClr val="tx2"/>
              </a:solidFill>
              <a:effectLst/>
              <a:latin typeface="Arial Narrow"/>
            </a:endParaRPr>
          </a:p>
        </p:txBody>
      </p:sp>
      <p:pic>
        <p:nvPicPr>
          <p:cNvPr id="27" name="Animated Logo" descr="tilogo_color_twoline.png"/>
          <p:cNvPicPr>
            <a:picLocks noChangeAspect="1"/>
          </p:cNvPicPr>
          <p:nvPr/>
        </p:nvPicPr>
        <p:blipFill>
          <a:blip r:embed="rId5" cstate="print"/>
          <a:stretch>
            <a:fillRect/>
          </a:stretch>
        </p:blipFill>
        <p:spPr>
          <a:xfrm>
            <a:off x="50800" y="6477000"/>
            <a:ext cx="1438537" cy="347443"/>
          </a:xfrm>
          <a:prstGeom prst="rect">
            <a:avLst/>
          </a:prstGeom>
        </p:spPr>
      </p:pic>
    </p:spTree>
    <p:custDataLst>
      <p:tags r:id="rId1"/>
    </p:custDataLst>
    <p:extLst>
      <p:ext uri="{BB962C8B-B14F-4D97-AF65-F5344CB8AC3E}">
        <p14:creationId xmlns:p14="http://schemas.microsoft.com/office/powerpoint/2010/main" val="26331925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par>
                          <p:cTn id="13" fill="hold">
                            <p:stCondLst>
                              <p:cond delay="500"/>
                            </p:stCondLst>
                            <p:childTnLst>
                              <p:par>
                                <p:cTn id="14" presetID="22" presetClass="entr" presetSubtype="2"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righ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5"/>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499"/>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Rectangle 536"/>
          <p:cNvSpPr>
            <a:spLocks noChangeArrowheads="1"/>
          </p:cNvSpPr>
          <p:nvPr/>
        </p:nvSpPr>
        <p:spPr bwMode="auto">
          <a:xfrm>
            <a:off x="18288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11266" name="Rectangle 2"/>
          <p:cNvSpPr>
            <a:spLocks noGrp="1" noChangeArrowheads="1"/>
          </p:cNvSpPr>
          <p:nvPr>
            <p:ph type="title"/>
          </p:nvPr>
        </p:nvSpPr>
        <p:spPr/>
        <p:txBody>
          <a:bodyPr/>
          <a:lstStyle/>
          <a:p>
            <a:r>
              <a:rPr lang="en-US" dirty="0" smtClean="0"/>
              <a:t>BIOS – Priority Based Scheduling</a:t>
            </a:r>
          </a:p>
        </p:txBody>
      </p:sp>
      <p:sp>
        <p:nvSpPr>
          <p:cNvPr id="218" name="Rectangle 437"/>
          <p:cNvSpPr>
            <a:spLocks noChangeArrowheads="1"/>
          </p:cNvSpPr>
          <p:nvPr/>
        </p:nvSpPr>
        <p:spPr bwMode="auto">
          <a:xfrm>
            <a:off x="13716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19" name="Rectangle 438"/>
          <p:cNvSpPr>
            <a:spLocks noChangeArrowheads="1"/>
          </p:cNvSpPr>
          <p:nvPr/>
        </p:nvSpPr>
        <p:spPr bwMode="auto">
          <a:xfrm>
            <a:off x="15240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20" name="Rectangle 439"/>
          <p:cNvSpPr>
            <a:spLocks noChangeArrowheads="1"/>
          </p:cNvSpPr>
          <p:nvPr/>
        </p:nvSpPr>
        <p:spPr bwMode="auto">
          <a:xfrm>
            <a:off x="16764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21" name="Rectangle 440"/>
          <p:cNvSpPr>
            <a:spLocks noChangeArrowheads="1"/>
          </p:cNvSpPr>
          <p:nvPr/>
        </p:nvSpPr>
        <p:spPr bwMode="auto">
          <a:xfrm>
            <a:off x="18288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22" name="Line 490"/>
          <p:cNvSpPr>
            <a:spLocks noChangeShapeType="1"/>
          </p:cNvSpPr>
          <p:nvPr/>
        </p:nvSpPr>
        <p:spPr bwMode="auto">
          <a:xfrm>
            <a:off x="1371600" y="5121275"/>
            <a:ext cx="0" cy="6096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223" name="Text Box 23"/>
          <p:cNvSpPr txBox="1">
            <a:spLocks noChangeArrowheads="1"/>
          </p:cNvSpPr>
          <p:nvPr/>
        </p:nvSpPr>
        <p:spPr bwMode="auto">
          <a:xfrm>
            <a:off x="177800" y="777875"/>
            <a:ext cx="1209818" cy="5324535"/>
          </a:xfrm>
          <a:prstGeom prst="rect">
            <a:avLst/>
          </a:prstGeom>
          <a:noFill/>
          <a:ln>
            <a:noFill/>
          </a:ln>
          <a:effectLst/>
          <a:extLst>
            <a:ext uri="{909E8E84-426E-40DD-AFC4-6F175D3DCCD1}">
              <a14:hiddenFill xmlns:a14="http://schemas.microsoft.com/office/drawing/2010/main">
                <a:solidFill>
                  <a:srgbClr val="FCFF9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200000"/>
              </a:lnSpc>
            </a:pPr>
            <a:r>
              <a:rPr lang="en-US" sz="2000" dirty="0" err="1" smtClean="0">
                <a:solidFill>
                  <a:srgbClr val="000000"/>
                </a:solidFill>
                <a:latin typeface="Calibri" pitchFamily="34" charset="0"/>
                <a:cs typeface="Calibri" pitchFamily="34" charset="0"/>
              </a:rPr>
              <a:t>Hwi</a:t>
            </a:r>
            <a:r>
              <a:rPr lang="en-US" sz="2000" dirty="0" smtClean="0">
                <a:solidFill>
                  <a:srgbClr val="000000"/>
                </a:solidFill>
                <a:latin typeface="Calibri" pitchFamily="34" charset="0"/>
                <a:cs typeface="Calibri" pitchFamily="34" charset="0"/>
              </a:rPr>
              <a:t> </a:t>
            </a:r>
            <a:r>
              <a:rPr lang="en-US" sz="2000" dirty="0">
                <a:solidFill>
                  <a:srgbClr val="000000"/>
                </a:solidFill>
                <a:latin typeface="Calibri" pitchFamily="34" charset="0"/>
                <a:cs typeface="Calibri" pitchFamily="34" charset="0"/>
              </a:rPr>
              <a:t>2</a:t>
            </a:r>
          </a:p>
          <a:p>
            <a:pPr>
              <a:lnSpc>
                <a:spcPct val="200000"/>
              </a:lnSpc>
            </a:pPr>
            <a:r>
              <a:rPr lang="en-US" sz="2000" dirty="0" err="1" smtClean="0">
                <a:solidFill>
                  <a:srgbClr val="000000"/>
                </a:solidFill>
                <a:latin typeface="Calibri" pitchFamily="34" charset="0"/>
                <a:cs typeface="Calibri" pitchFamily="34" charset="0"/>
              </a:rPr>
              <a:t>Hwi</a:t>
            </a:r>
            <a:r>
              <a:rPr lang="en-US" sz="2000" dirty="0" smtClean="0">
                <a:solidFill>
                  <a:srgbClr val="000000"/>
                </a:solidFill>
                <a:latin typeface="Calibri" pitchFamily="34" charset="0"/>
                <a:cs typeface="Calibri" pitchFamily="34" charset="0"/>
              </a:rPr>
              <a:t> </a:t>
            </a:r>
            <a:r>
              <a:rPr lang="en-US" sz="2000" dirty="0">
                <a:solidFill>
                  <a:srgbClr val="000000"/>
                </a:solidFill>
                <a:latin typeface="Calibri" pitchFamily="34" charset="0"/>
                <a:cs typeface="Calibri" pitchFamily="34" charset="0"/>
              </a:rPr>
              <a:t>1</a:t>
            </a:r>
          </a:p>
          <a:p>
            <a:pPr>
              <a:lnSpc>
                <a:spcPct val="200000"/>
              </a:lnSpc>
            </a:pPr>
            <a:r>
              <a:rPr lang="en-US" sz="2000" err="1" smtClean="0">
                <a:solidFill>
                  <a:srgbClr val="000000"/>
                </a:solidFill>
                <a:latin typeface="Calibri" pitchFamily="34" charset="0"/>
                <a:cs typeface="Calibri" pitchFamily="34" charset="0"/>
              </a:rPr>
              <a:t>Swi</a:t>
            </a:r>
            <a:r>
              <a:rPr lang="en-US" sz="2000" smtClean="0">
                <a:solidFill>
                  <a:srgbClr val="000000"/>
                </a:solidFill>
                <a:latin typeface="Calibri" pitchFamily="34" charset="0"/>
                <a:cs typeface="Calibri" pitchFamily="34" charset="0"/>
              </a:rPr>
              <a:t> 3 (Hi)</a:t>
            </a:r>
            <a:endParaRPr lang="en-US" sz="2000" dirty="0">
              <a:solidFill>
                <a:srgbClr val="000000"/>
              </a:solidFill>
              <a:latin typeface="Calibri" pitchFamily="34" charset="0"/>
              <a:cs typeface="Calibri" pitchFamily="34" charset="0"/>
            </a:endParaRPr>
          </a:p>
          <a:p>
            <a:pPr>
              <a:lnSpc>
                <a:spcPct val="200000"/>
              </a:lnSpc>
            </a:pPr>
            <a:r>
              <a:rPr lang="en-US" sz="2000" dirty="0" err="1" smtClean="0">
                <a:solidFill>
                  <a:srgbClr val="000000"/>
                </a:solidFill>
                <a:latin typeface="Calibri" pitchFamily="34" charset="0"/>
                <a:cs typeface="Calibri" pitchFamily="34" charset="0"/>
              </a:rPr>
              <a:t>Swi</a:t>
            </a:r>
            <a:r>
              <a:rPr lang="en-US" sz="2000" dirty="0" smtClean="0">
                <a:solidFill>
                  <a:srgbClr val="000000"/>
                </a:solidFill>
                <a:latin typeface="Calibri" pitchFamily="34" charset="0"/>
                <a:cs typeface="Calibri" pitchFamily="34" charset="0"/>
              </a:rPr>
              <a:t> </a:t>
            </a:r>
            <a:r>
              <a:rPr lang="en-US" sz="2000" dirty="0">
                <a:solidFill>
                  <a:srgbClr val="000000"/>
                </a:solidFill>
                <a:latin typeface="Calibri" pitchFamily="34" charset="0"/>
                <a:cs typeface="Calibri" pitchFamily="34" charset="0"/>
              </a:rPr>
              <a:t>2</a:t>
            </a:r>
          </a:p>
          <a:p>
            <a:pPr>
              <a:lnSpc>
                <a:spcPct val="200000"/>
              </a:lnSpc>
            </a:pPr>
            <a:r>
              <a:rPr lang="en-US" sz="2000" err="1" smtClean="0">
                <a:solidFill>
                  <a:srgbClr val="000000"/>
                </a:solidFill>
                <a:latin typeface="Calibri" pitchFamily="34" charset="0"/>
                <a:cs typeface="Calibri" pitchFamily="34" charset="0"/>
              </a:rPr>
              <a:t>Swi</a:t>
            </a:r>
            <a:r>
              <a:rPr lang="en-US" sz="2000" smtClean="0">
                <a:solidFill>
                  <a:srgbClr val="000000"/>
                </a:solidFill>
                <a:latin typeface="Calibri" pitchFamily="34" charset="0"/>
                <a:cs typeface="Calibri" pitchFamily="34" charset="0"/>
              </a:rPr>
              <a:t> 1 (Lo)</a:t>
            </a:r>
            <a:endParaRPr lang="en-US" sz="2000" dirty="0">
              <a:solidFill>
                <a:srgbClr val="000000"/>
              </a:solidFill>
              <a:latin typeface="Calibri" pitchFamily="34" charset="0"/>
              <a:cs typeface="Calibri" pitchFamily="34" charset="0"/>
            </a:endParaRPr>
          </a:p>
          <a:p>
            <a:pPr>
              <a:lnSpc>
                <a:spcPct val="200000"/>
              </a:lnSpc>
            </a:pPr>
            <a:r>
              <a:rPr lang="en-US" sz="2000" dirty="0" smtClean="0">
                <a:solidFill>
                  <a:srgbClr val="000000"/>
                </a:solidFill>
                <a:latin typeface="Calibri" pitchFamily="34" charset="0"/>
                <a:cs typeface="Calibri" pitchFamily="34" charset="0"/>
              </a:rPr>
              <a:t>main</a:t>
            </a:r>
            <a:endParaRPr lang="en-US" sz="2000" dirty="0">
              <a:solidFill>
                <a:srgbClr val="000000"/>
              </a:solidFill>
              <a:latin typeface="Calibri" pitchFamily="34" charset="0"/>
              <a:cs typeface="Calibri" pitchFamily="34" charset="0"/>
            </a:endParaRPr>
          </a:p>
          <a:p>
            <a:pPr>
              <a:lnSpc>
                <a:spcPct val="200000"/>
              </a:lnSpc>
            </a:pPr>
            <a:r>
              <a:rPr lang="en-US" sz="2000" dirty="0" smtClean="0">
                <a:solidFill>
                  <a:srgbClr val="000000"/>
                </a:solidFill>
                <a:latin typeface="Calibri" pitchFamily="34" charset="0"/>
                <a:cs typeface="Calibri" pitchFamily="34" charset="0"/>
              </a:rPr>
              <a:t>Idle</a:t>
            </a:r>
            <a:endParaRPr lang="en-US" sz="2000" dirty="0">
              <a:solidFill>
                <a:srgbClr val="000000"/>
              </a:solidFill>
              <a:latin typeface="Calibri" pitchFamily="34" charset="0"/>
              <a:cs typeface="Calibri" pitchFamily="34" charset="0"/>
            </a:endParaRPr>
          </a:p>
        </p:txBody>
      </p:sp>
      <p:sp>
        <p:nvSpPr>
          <p:cNvPr id="224" name="Rectangle 61"/>
          <p:cNvSpPr>
            <a:spLocks noChangeArrowheads="1"/>
          </p:cNvSpPr>
          <p:nvPr/>
        </p:nvSpPr>
        <p:spPr bwMode="auto">
          <a:xfrm>
            <a:off x="1066800" y="4968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25" name="Line 63"/>
          <p:cNvSpPr>
            <a:spLocks noChangeShapeType="1"/>
          </p:cNvSpPr>
          <p:nvPr/>
        </p:nvSpPr>
        <p:spPr bwMode="auto">
          <a:xfrm flipV="1">
            <a:off x="1981200" y="1997075"/>
            <a:ext cx="0" cy="374491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226" name="Line 116"/>
          <p:cNvSpPr>
            <a:spLocks noChangeShapeType="1"/>
          </p:cNvSpPr>
          <p:nvPr/>
        </p:nvSpPr>
        <p:spPr bwMode="auto">
          <a:xfrm>
            <a:off x="152400" y="2378075"/>
            <a:ext cx="8839200" cy="0"/>
          </a:xfrm>
          <a:prstGeom prst="line">
            <a:avLst/>
          </a:prstGeom>
          <a:noFill/>
          <a:ln w="952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27" name="Line 117"/>
          <p:cNvSpPr>
            <a:spLocks noChangeShapeType="1"/>
          </p:cNvSpPr>
          <p:nvPr/>
        </p:nvSpPr>
        <p:spPr bwMode="auto">
          <a:xfrm>
            <a:off x="152400" y="4664075"/>
            <a:ext cx="8839200" cy="0"/>
          </a:xfrm>
          <a:prstGeom prst="line">
            <a:avLst/>
          </a:prstGeom>
          <a:noFill/>
          <a:ln w="952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28" name="Rectangle 129"/>
          <p:cNvSpPr>
            <a:spLocks noChangeArrowheads="1"/>
          </p:cNvSpPr>
          <p:nvPr/>
        </p:nvSpPr>
        <p:spPr bwMode="auto">
          <a:xfrm>
            <a:off x="5804344" y="636867"/>
            <a:ext cx="2941831" cy="1550133"/>
          </a:xfrm>
          <a:prstGeom prst="rect">
            <a:avLst/>
          </a:prstGeom>
          <a:solidFill>
            <a:srgbClr val="CCECFF"/>
          </a:solidFill>
          <a:ln w="9525">
            <a:solidFill>
              <a:srgbClr val="000000"/>
            </a:solidFill>
            <a:miter lim="800000"/>
            <a:headEnd/>
            <a:tailEnd/>
          </a:ln>
          <a:effectLst>
            <a:outerShdw dist="53882" dir="2700000" algn="ctr" rotWithShape="0">
              <a:srgbClr val="C0C0C0"/>
            </a:outerShdw>
          </a:effectLst>
        </p:spPr>
        <p:txBody>
          <a:bodyPr wrap="none" tIns="137160" bIns="13716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rgbClr val="000000"/>
                </a:solidFill>
                <a:effectLst/>
                <a:uLnTx/>
                <a:uFillTx/>
                <a:latin typeface="Courier New" pitchFamily="49" charset="0"/>
              </a:rPr>
              <a:t>Audio_ISR()</a:t>
            </a:r>
          </a:p>
          <a:p>
            <a:pPr marL="0" marR="0" lvl="0" indent="0" defTabSz="914400" eaLnBrk="1" fontAlgn="auto" latinLnBrk="0" hangingPunct="1">
              <a:lnSpc>
                <a:spcPct val="100000"/>
              </a:lnSpc>
              <a:spcBef>
                <a:spcPts val="0"/>
              </a:spcBef>
              <a:spcAft>
                <a:spcPts val="0"/>
              </a:spcAft>
              <a:buClrTx/>
              <a:buSzTx/>
              <a:buFontTx/>
              <a:buNone/>
              <a:tabLst/>
              <a:defRPr/>
            </a:pPr>
            <a:r>
              <a:rPr lang="en-US" sz="1800" b="0" kern="0" smtClean="0">
                <a:solidFill>
                  <a:srgbClr val="000000"/>
                </a:solidFill>
                <a:latin typeface="Courier New"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urier New" pitchFamily="49" charset="0"/>
              </a:rPr>
              <a:t> </a:t>
            </a:r>
            <a:r>
              <a:rPr kumimoji="0" lang="en-US" sz="1800" b="0" i="0" u="none" strike="noStrike" kern="0" cap="none" spc="0" normalizeH="0" baseline="0" noProof="0" smtClean="0">
                <a:ln>
                  <a:noFill/>
                </a:ln>
                <a:solidFill>
                  <a:srgbClr val="000000"/>
                </a:solidFill>
                <a:effectLst/>
                <a:uLnTx/>
                <a:uFillTx/>
                <a:latin typeface="Courier New" pitchFamily="49" charset="0"/>
              </a:rPr>
              <a:t>read_sample();</a:t>
            </a:r>
          </a:p>
          <a:p>
            <a:pPr marL="0" marR="0" lvl="0" indent="0" defTabSz="914400" eaLnBrk="1" fontAlgn="auto" latinLnBrk="0" hangingPunct="1">
              <a:lnSpc>
                <a:spcPct val="100000"/>
              </a:lnSpc>
              <a:spcBef>
                <a:spcPts val="0"/>
              </a:spcBef>
              <a:spcAft>
                <a:spcPts val="0"/>
              </a:spcAft>
              <a:buClrTx/>
              <a:buSzTx/>
              <a:buFontTx/>
              <a:buNone/>
              <a:tabLst/>
              <a:defRPr/>
            </a:pPr>
            <a:r>
              <a:rPr lang="en-US" sz="1800" b="0" kern="0">
                <a:solidFill>
                  <a:srgbClr val="000000"/>
                </a:solidFill>
                <a:latin typeface="Courier New" pitchFamily="49" charset="0"/>
              </a:rPr>
              <a:t> </a:t>
            </a:r>
            <a:r>
              <a:rPr kumimoji="0" lang="en-US" sz="1800" i="0" u="none" strike="noStrike" kern="0" cap="none" spc="0" normalizeH="0" baseline="0" noProof="0" smtClean="0">
                <a:ln>
                  <a:noFill/>
                </a:ln>
                <a:solidFill>
                  <a:srgbClr val="000000"/>
                </a:solidFill>
                <a:effectLst/>
                <a:uLnTx/>
                <a:uFillTx/>
                <a:latin typeface="Courier New" pitchFamily="49" charset="0"/>
              </a:rPr>
              <a:t>Swi_post(Swi_2);</a:t>
            </a:r>
          </a:p>
          <a:p>
            <a:pPr marL="0" marR="0" lvl="0" indent="0" defTabSz="914400" eaLnBrk="1" fontAlgn="auto" latinLnBrk="0" hangingPunct="1">
              <a:lnSpc>
                <a:spcPct val="100000"/>
              </a:lnSpc>
              <a:spcBef>
                <a:spcPts val="0"/>
              </a:spcBef>
              <a:spcAft>
                <a:spcPts val="0"/>
              </a:spcAft>
              <a:buClrTx/>
              <a:buSzTx/>
              <a:buFontTx/>
              <a:buNone/>
              <a:tabLst/>
              <a:defRPr/>
            </a:pPr>
            <a:r>
              <a:rPr lang="en-US" sz="1800" b="0" kern="0">
                <a:solidFill>
                  <a:srgbClr val="000000"/>
                </a:solidFill>
                <a:latin typeface="Courier New" pitchFamily="49" charset="0"/>
              </a:rPr>
              <a:t>}</a:t>
            </a:r>
            <a:endParaRPr kumimoji="0" lang="en-US" sz="1800" b="0" i="0" u="none" strike="noStrike" kern="0" cap="none" spc="0" normalizeH="0" baseline="0" noProof="0">
              <a:ln>
                <a:noFill/>
              </a:ln>
              <a:solidFill>
                <a:srgbClr val="000000"/>
              </a:solidFill>
              <a:effectLst/>
              <a:uLnTx/>
              <a:uFillTx/>
              <a:latin typeface="Courier New" pitchFamily="49" charset="0"/>
            </a:endParaRPr>
          </a:p>
        </p:txBody>
      </p:sp>
      <p:sp>
        <p:nvSpPr>
          <p:cNvPr id="229" name="Rectangle 130"/>
          <p:cNvSpPr>
            <a:spLocks noChangeArrowheads="1"/>
          </p:cNvSpPr>
          <p:nvPr/>
        </p:nvSpPr>
        <p:spPr bwMode="auto">
          <a:xfrm>
            <a:off x="1219200" y="4968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30" name="Rectangle 220"/>
          <p:cNvSpPr>
            <a:spLocks noChangeArrowheads="1"/>
          </p:cNvSpPr>
          <p:nvPr/>
        </p:nvSpPr>
        <p:spPr bwMode="auto">
          <a:xfrm>
            <a:off x="7162800" y="4206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31" name="Rectangle 221"/>
          <p:cNvSpPr>
            <a:spLocks noChangeArrowheads="1"/>
          </p:cNvSpPr>
          <p:nvPr/>
        </p:nvSpPr>
        <p:spPr bwMode="auto">
          <a:xfrm>
            <a:off x="7315200" y="4206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32" name="Rectangle 222"/>
          <p:cNvSpPr>
            <a:spLocks noChangeArrowheads="1"/>
          </p:cNvSpPr>
          <p:nvPr/>
        </p:nvSpPr>
        <p:spPr bwMode="auto">
          <a:xfrm>
            <a:off x="7467600" y="4206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33" name="Rectangle 223"/>
          <p:cNvSpPr>
            <a:spLocks noChangeArrowheads="1"/>
          </p:cNvSpPr>
          <p:nvPr/>
        </p:nvSpPr>
        <p:spPr bwMode="auto">
          <a:xfrm>
            <a:off x="7620000" y="4206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34" name="Rectangle 224"/>
          <p:cNvSpPr>
            <a:spLocks noChangeArrowheads="1"/>
          </p:cNvSpPr>
          <p:nvPr/>
        </p:nvSpPr>
        <p:spPr bwMode="auto">
          <a:xfrm>
            <a:off x="7772400" y="4206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35" name="Rectangle 243"/>
          <p:cNvSpPr>
            <a:spLocks noChangeArrowheads="1"/>
          </p:cNvSpPr>
          <p:nvPr/>
        </p:nvSpPr>
        <p:spPr bwMode="auto">
          <a:xfrm>
            <a:off x="2895600" y="3444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36" name="Rectangle 244"/>
          <p:cNvSpPr>
            <a:spLocks noChangeArrowheads="1"/>
          </p:cNvSpPr>
          <p:nvPr/>
        </p:nvSpPr>
        <p:spPr bwMode="auto">
          <a:xfrm>
            <a:off x="3048000" y="3444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37" name="Rectangle 245"/>
          <p:cNvSpPr>
            <a:spLocks noChangeArrowheads="1"/>
          </p:cNvSpPr>
          <p:nvPr/>
        </p:nvSpPr>
        <p:spPr bwMode="auto">
          <a:xfrm>
            <a:off x="3200400" y="3444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38" name="Rectangle 246"/>
          <p:cNvSpPr>
            <a:spLocks noChangeArrowheads="1"/>
          </p:cNvSpPr>
          <p:nvPr/>
        </p:nvSpPr>
        <p:spPr bwMode="auto">
          <a:xfrm>
            <a:off x="3352800" y="3444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39" name="Rectangle 247"/>
          <p:cNvSpPr>
            <a:spLocks noChangeArrowheads="1"/>
          </p:cNvSpPr>
          <p:nvPr/>
        </p:nvSpPr>
        <p:spPr bwMode="auto">
          <a:xfrm>
            <a:off x="3505200" y="3444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40" name="Rectangle 248"/>
          <p:cNvSpPr>
            <a:spLocks noChangeArrowheads="1"/>
          </p:cNvSpPr>
          <p:nvPr/>
        </p:nvSpPr>
        <p:spPr bwMode="auto">
          <a:xfrm>
            <a:off x="3657600" y="3444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41" name="Rectangle 249"/>
          <p:cNvSpPr>
            <a:spLocks noChangeArrowheads="1"/>
          </p:cNvSpPr>
          <p:nvPr/>
        </p:nvSpPr>
        <p:spPr bwMode="auto">
          <a:xfrm>
            <a:off x="3810000" y="3444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42" name="Rectangle 250"/>
          <p:cNvSpPr>
            <a:spLocks noChangeArrowheads="1"/>
          </p:cNvSpPr>
          <p:nvPr/>
        </p:nvSpPr>
        <p:spPr bwMode="auto">
          <a:xfrm>
            <a:off x="3962400" y="3444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nvGrpSpPr>
          <p:cNvPr id="243" name="Group 561"/>
          <p:cNvGrpSpPr>
            <a:grpSpLocks/>
          </p:cNvGrpSpPr>
          <p:nvPr/>
        </p:nvGrpSpPr>
        <p:grpSpPr bwMode="auto">
          <a:xfrm>
            <a:off x="6400800" y="3444875"/>
            <a:ext cx="152400" cy="914400"/>
            <a:chOff x="4032" y="2304"/>
            <a:chExt cx="96" cy="576"/>
          </a:xfrm>
        </p:grpSpPr>
        <p:sp>
          <p:nvSpPr>
            <p:cNvPr id="244" name="Rectangle 215"/>
            <p:cNvSpPr>
              <a:spLocks noChangeArrowheads="1"/>
            </p:cNvSpPr>
            <p:nvPr/>
          </p:nvSpPr>
          <p:spPr bwMode="auto">
            <a:xfrm>
              <a:off x="4032" y="278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45" name="Rectangle 266"/>
            <p:cNvSpPr>
              <a:spLocks noChangeArrowheads="1"/>
            </p:cNvSpPr>
            <p:nvPr/>
          </p:nvSpPr>
          <p:spPr bwMode="auto">
            <a:xfrm>
              <a:off x="4032" y="230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246" name="Group 562"/>
          <p:cNvGrpSpPr>
            <a:grpSpLocks/>
          </p:cNvGrpSpPr>
          <p:nvPr/>
        </p:nvGrpSpPr>
        <p:grpSpPr bwMode="auto">
          <a:xfrm>
            <a:off x="6553200" y="3444875"/>
            <a:ext cx="152400" cy="914400"/>
            <a:chOff x="4128" y="2304"/>
            <a:chExt cx="96" cy="576"/>
          </a:xfrm>
        </p:grpSpPr>
        <p:sp>
          <p:nvSpPr>
            <p:cNvPr id="247" name="Rectangle 216"/>
            <p:cNvSpPr>
              <a:spLocks noChangeArrowheads="1"/>
            </p:cNvSpPr>
            <p:nvPr/>
          </p:nvSpPr>
          <p:spPr bwMode="auto">
            <a:xfrm>
              <a:off x="4128" y="278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48" name="Rectangle 267"/>
            <p:cNvSpPr>
              <a:spLocks noChangeArrowheads="1"/>
            </p:cNvSpPr>
            <p:nvPr/>
          </p:nvSpPr>
          <p:spPr bwMode="auto">
            <a:xfrm>
              <a:off x="4128" y="230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249" name="Group 563"/>
          <p:cNvGrpSpPr>
            <a:grpSpLocks/>
          </p:cNvGrpSpPr>
          <p:nvPr/>
        </p:nvGrpSpPr>
        <p:grpSpPr bwMode="auto">
          <a:xfrm>
            <a:off x="6705600" y="3444875"/>
            <a:ext cx="152400" cy="914400"/>
            <a:chOff x="4224" y="2304"/>
            <a:chExt cx="96" cy="576"/>
          </a:xfrm>
        </p:grpSpPr>
        <p:sp>
          <p:nvSpPr>
            <p:cNvPr id="250" name="Rectangle 217"/>
            <p:cNvSpPr>
              <a:spLocks noChangeArrowheads="1"/>
            </p:cNvSpPr>
            <p:nvPr/>
          </p:nvSpPr>
          <p:spPr bwMode="auto">
            <a:xfrm>
              <a:off x="4224" y="278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51" name="Rectangle 268"/>
            <p:cNvSpPr>
              <a:spLocks noChangeArrowheads="1"/>
            </p:cNvSpPr>
            <p:nvPr/>
          </p:nvSpPr>
          <p:spPr bwMode="auto">
            <a:xfrm>
              <a:off x="4224" y="230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252" name="Group 564"/>
          <p:cNvGrpSpPr>
            <a:grpSpLocks/>
          </p:cNvGrpSpPr>
          <p:nvPr/>
        </p:nvGrpSpPr>
        <p:grpSpPr bwMode="auto">
          <a:xfrm>
            <a:off x="6858000" y="3444875"/>
            <a:ext cx="152400" cy="914400"/>
            <a:chOff x="4320" y="2304"/>
            <a:chExt cx="96" cy="576"/>
          </a:xfrm>
        </p:grpSpPr>
        <p:sp>
          <p:nvSpPr>
            <p:cNvPr id="253" name="Rectangle 218"/>
            <p:cNvSpPr>
              <a:spLocks noChangeArrowheads="1"/>
            </p:cNvSpPr>
            <p:nvPr/>
          </p:nvSpPr>
          <p:spPr bwMode="auto">
            <a:xfrm>
              <a:off x="4320" y="278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54" name="Rectangle 269"/>
            <p:cNvSpPr>
              <a:spLocks noChangeArrowheads="1"/>
            </p:cNvSpPr>
            <p:nvPr/>
          </p:nvSpPr>
          <p:spPr bwMode="auto">
            <a:xfrm>
              <a:off x="4320" y="230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255" name="Group 565"/>
          <p:cNvGrpSpPr>
            <a:grpSpLocks/>
          </p:cNvGrpSpPr>
          <p:nvPr/>
        </p:nvGrpSpPr>
        <p:grpSpPr bwMode="auto">
          <a:xfrm>
            <a:off x="7010400" y="3444875"/>
            <a:ext cx="152400" cy="914400"/>
            <a:chOff x="4416" y="2304"/>
            <a:chExt cx="96" cy="576"/>
          </a:xfrm>
        </p:grpSpPr>
        <p:sp>
          <p:nvSpPr>
            <p:cNvPr id="256" name="Rectangle 219"/>
            <p:cNvSpPr>
              <a:spLocks noChangeArrowheads="1"/>
            </p:cNvSpPr>
            <p:nvPr/>
          </p:nvSpPr>
          <p:spPr bwMode="auto">
            <a:xfrm>
              <a:off x="4416" y="278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57" name="Rectangle 270"/>
            <p:cNvSpPr>
              <a:spLocks noChangeArrowheads="1"/>
            </p:cNvSpPr>
            <p:nvPr/>
          </p:nvSpPr>
          <p:spPr bwMode="auto">
            <a:xfrm>
              <a:off x="4416" y="230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258" name="Group 550"/>
          <p:cNvGrpSpPr>
            <a:grpSpLocks/>
          </p:cNvGrpSpPr>
          <p:nvPr/>
        </p:nvGrpSpPr>
        <p:grpSpPr bwMode="auto">
          <a:xfrm>
            <a:off x="5029200" y="2682875"/>
            <a:ext cx="152400" cy="914400"/>
            <a:chOff x="3168" y="1824"/>
            <a:chExt cx="96" cy="576"/>
          </a:xfrm>
        </p:grpSpPr>
        <p:sp>
          <p:nvSpPr>
            <p:cNvPr id="259" name="Rectangle 257"/>
            <p:cNvSpPr>
              <a:spLocks noChangeArrowheads="1"/>
            </p:cNvSpPr>
            <p:nvPr/>
          </p:nvSpPr>
          <p:spPr bwMode="auto">
            <a:xfrm>
              <a:off x="3168"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60" name="Rectangle 308"/>
            <p:cNvSpPr>
              <a:spLocks noChangeArrowheads="1"/>
            </p:cNvSpPr>
            <p:nvPr/>
          </p:nvSpPr>
          <p:spPr bwMode="auto">
            <a:xfrm>
              <a:off x="3168" y="182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261" name="Group 551"/>
          <p:cNvGrpSpPr>
            <a:grpSpLocks/>
          </p:cNvGrpSpPr>
          <p:nvPr/>
        </p:nvGrpSpPr>
        <p:grpSpPr bwMode="auto">
          <a:xfrm>
            <a:off x="5181600" y="2682875"/>
            <a:ext cx="152400" cy="914400"/>
            <a:chOff x="3264" y="1824"/>
            <a:chExt cx="96" cy="576"/>
          </a:xfrm>
        </p:grpSpPr>
        <p:sp>
          <p:nvSpPr>
            <p:cNvPr id="262" name="Rectangle 258"/>
            <p:cNvSpPr>
              <a:spLocks noChangeArrowheads="1"/>
            </p:cNvSpPr>
            <p:nvPr/>
          </p:nvSpPr>
          <p:spPr bwMode="auto">
            <a:xfrm>
              <a:off x="3264"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63" name="Rectangle 309"/>
            <p:cNvSpPr>
              <a:spLocks noChangeArrowheads="1"/>
            </p:cNvSpPr>
            <p:nvPr/>
          </p:nvSpPr>
          <p:spPr bwMode="auto">
            <a:xfrm>
              <a:off x="3264" y="182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264" name="Group 552"/>
          <p:cNvGrpSpPr>
            <a:grpSpLocks/>
          </p:cNvGrpSpPr>
          <p:nvPr/>
        </p:nvGrpSpPr>
        <p:grpSpPr bwMode="auto">
          <a:xfrm>
            <a:off x="5334000" y="2682875"/>
            <a:ext cx="152400" cy="914400"/>
            <a:chOff x="3360" y="1824"/>
            <a:chExt cx="96" cy="576"/>
          </a:xfrm>
        </p:grpSpPr>
        <p:sp>
          <p:nvSpPr>
            <p:cNvPr id="265" name="Rectangle 259"/>
            <p:cNvSpPr>
              <a:spLocks noChangeArrowheads="1"/>
            </p:cNvSpPr>
            <p:nvPr/>
          </p:nvSpPr>
          <p:spPr bwMode="auto">
            <a:xfrm>
              <a:off x="3360"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66" name="Rectangle 310"/>
            <p:cNvSpPr>
              <a:spLocks noChangeArrowheads="1"/>
            </p:cNvSpPr>
            <p:nvPr/>
          </p:nvSpPr>
          <p:spPr bwMode="auto">
            <a:xfrm>
              <a:off x="3360" y="182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267" name="Group 553"/>
          <p:cNvGrpSpPr>
            <a:grpSpLocks/>
          </p:cNvGrpSpPr>
          <p:nvPr/>
        </p:nvGrpSpPr>
        <p:grpSpPr bwMode="auto">
          <a:xfrm>
            <a:off x="5486400" y="2682875"/>
            <a:ext cx="152400" cy="914400"/>
            <a:chOff x="3456" y="1824"/>
            <a:chExt cx="96" cy="576"/>
          </a:xfrm>
        </p:grpSpPr>
        <p:sp>
          <p:nvSpPr>
            <p:cNvPr id="268" name="Rectangle 260"/>
            <p:cNvSpPr>
              <a:spLocks noChangeArrowheads="1"/>
            </p:cNvSpPr>
            <p:nvPr/>
          </p:nvSpPr>
          <p:spPr bwMode="auto">
            <a:xfrm>
              <a:off x="3456"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69" name="Rectangle 311"/>
            <p:cNvSpPr>
              <a:spLocks noChangeArrowheads="1"/>
            </p:cNvSpPr>
            <p:nvPr/>
          </p:nvSpPr>
          <p:spPr bwMode="auto">
            <a:xfrm>
              <a:off x="3456" y="182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270" name="Group 555"/>
          <p:cNvGrpSpPr>
            <a:grpSpLocks/>
          </p:cNvGrpSpPr>
          <p:nvPr/>
        </p:nvGrpSpPr>
        <p:grpSpPr bwMode="auto">
          <a:xfrm>
            <a:off x="5638800" y="2682875"/>
            <a:ext cx="152400" cy="1676400"/>
            <a:chOff x="3552" y="1824"/>
            <a:chExt cx="96" cy="1056"/>
          </a:xfrm>
        </p:grpSpPr>
        <p:sp>
          <p:nvSpPr>
            <p:cNvPr id="271" name="Rectangle 210"/>
            <p:cNvSpPr>
              <a:spLocks noChangeArrowheads="1"/>
            </p:cNvSpPr>
            <p:nvPr/>
          </p:nvSpPr>
          <p:spPr bwMode="auto">
            <a:xfrm>
              <a:off x="3552" y="2784"/>
              <a:ext cx="96" cy="96"/>
            </a:xfrm>
            <a:prstGeom prst="rect">
              <a:avLst/>
            </a:prstGeom>
            <a:solidFill>
              <a:schemeClr val="accent5">
                <a:lumMod val="60000"/>
                <a:lumOff val="4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72" name="Rectangle 261"/>
            <p:cNvSpPr>
              <a:spLocks noChangeArrowheads="1"/>
            </p:cNvSpPr>
            <p:nvPr/>
          </p:nvSpPr>
          <p:spPr bwMode="auto">
            <a:xfrm>
              <a:off x="3552"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73" name="Rectangle 312"/>
            <p:cNvSpPr>
              <a:spLocks noChangeArrowheads="1"/>
            </p:cNvSpPr>
            <p:nvPr/>
          </p:nvSpPr>
          <p:spPr bwMode="auto">
            <a:xfrm>
              <a:off x="3552" y="182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274" name="Group 556"/>
          <p:cNvGrpSpPr>
            <a:grpSpLocks/>
          </p:cNvGrpSpPr>
          <p:nvPr/>
        </p:nvGrpSpPr>
        <p:grpSpPr bwMode="auto">
          <a:xfrm>
            <a:off x="5791200" y="2682875"/>
            <a:ext cx="152400" cy="1676400"/>
            <a:chOff x="3648" y="1824"/>
            <a:chExt cx="96" cy="1056"/>
          </a:xfrm>
        </p:grpSpPr>
        <p:sp>
          <p:nvSpPr>
            <p:cNvPr id="275" name="Rectangle 211"/>
            <p:cNvSpPr>
              <a:spLocks noChangeArrowheads="1"/>
            </p:cNvSpPr>
            <p:nvPr/>
          </p:nvSpPr>
          <p:spPr bwMode="auto">
            <a:xfrm>
              <a:off x="3648" y="278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76" name="Rectangle 262"/>
            <p:cNvSpPr>
              <a:spLocks noChangeArrowheads="1"/>
            </p:cNvSpPr>
            <p:nvPr/>
          </p:nvSpPr>
          <p:spPr bwMode="auto">
            <a:xfrm>
              <a:off x="3648"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77" name="Rectangle 313"/>
            <p:cNvSpPr>
              <a:spLocks noChangeArrowheads="1"/>
            </p:cNvSpPr>
            <p:nvPr/>
          </p:nvSpPr>
          <p:spPr bwMode="auto">
            <a:xfrm>
              <a:off x="3648" y="182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278" name="Group 557"/>
          <p:cNvGrpSpPr>
            <a:grpSpLocks/>
          </p:cNvGrpSpPr>
          <p:nvPr/>
        </p:nvGrpSpPr>
        <p:grpSpPr bwMode="auto">
          <a:xfrm>
            <a:off x="5943600" y="2682875"/>
            <a:ext cx="152400" cy="1676400"/>
            <a:chOff x="3744" y="1824"/>
            <a:chExt cx="96" cy="1056"/>
          </a:xfrm>
        </p:grpSpPr>
        <p:sp>
          <p:nvSpPr>
            <p:cNvPr id="279" name="Rectangle 212"/>
            <p:cNvSpPr>
              <a:spLocks noChangeArrowheads="1"/>
            </p:cNvSpPr>
            <p:nvPr/>
          </p:nvSpPr>
          <p:spPr bwMode="auto">
            <a:xfrm>
              <a:off x="3744" y="278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80" name="Rectangle 263"/>
            <p:cNvSpPr>
              <a:spLocks noChangeArrowheads="1"/>
            </p:cNvSpPr>
            <p:nvPr/>
          </p:nvSpPr>
          <p:spPr bwMode="auto">
            <a:xfrm>
              <a:off x="3744"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81" name="Rectangle 314"/>
            <p:cNvSpPr>
              <a:spLocks noChangeArrowheads="1"/>
            </p:cNvSpPr>
            <p:nvPr/>
          </p:nvSpPr>
          <p:spPr bwMode="auto">
            <a:xfrm>
              <a:off x="3744" y="182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282" name="Group 558"/>
          <p:cNvGrpSpPr>
            <a:grpSpLocks/>
          </p:cNvGrpSpPr>
          <p:nvPr/>
        </p:nvGrpSpPr>
        <p:grpSpPr bwMode="auto">
          <a:xfrm>
            <a:off x="6096000" y="2682875"/>
            <a:ext cx="152400" cy="1676400"/>
            <a:chOff x="3840" y="1824"/>
            <a:chExt cx="96" cy="1056"/>
          </a:xfrm>
        </p:grpSpPr>
        <p:sp>
          <p:nvSpPr>
            <p:cNvPr id="283" name="Rectangle 213"/>
            <p:cNvSpPr>
              <a:spLocks noChangeArrowheads="1"/>
            </p:cNvSpPr>
            <p:nvPr/>
          </p:nvSpPr>
          <p:spPr bwMode="auto">
            <a:xfrm>
              <a:off x="3840" y="278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84" name="Rectangle 264"/>
            <p:cNvSpPr>
              <a:spLocks noChangeArrowheads="1"/>
            </p:cNvSpPr>
            <p:nvPr/>
          </p:nvSpPr>
          <p:spPr bwMode="auto">
            <a:xfrm>
              <a:off x="3840"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85" name="Rectangle 315"/>
            <p:cNvSpPr>
              <a:spLocks noChangeArrowheads="1"/>
            </p:cNvSpPr>
            <p:nvPr/>
          </p:nvSpPr>
          <p:spPr bwMode="auto">
            <a:xfrm>
              <a:off x="3840" y="182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286" name="Group 559"/>
          <p:cNvGrpSpPr>
            <a:grpSpLocks/>
          </p:cNvGrpSpPr>
          <p:nvPr/>
        </p:nvGrpSpPr>
        <p:grpSpPr bwMode="auto">
          <a:xfrm>
            <a:off x="6248400" y="2682875"/>
            <a:ext cx="152400" cy="1676400"/>
            <a:chOff x="3936" y="1824"/>
            <a:chExt cx="96" cy="1056"/>
          </a:xfrm>
        </p:grpSpPr>
        <p:sp>
          <p:nvSpPr>
            <p:cNvPr id="287" name="Rectangle 214"/>
            <p:cNvSpPr>
              <a:spLocks noChangeArrowheads="1"/>
            </p:cNvSpPr>
            <p:nvPr/>
          </p:nvSpPr>
          <p:spPr bwMode="auto">
            <a:xfrm>
              <a:off x="3936" y="278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88" name="Rectangle 265"/>
            <p:cNvSpPr>
              <a:spLocks noChangeArrowheads="1"/>
            </p:cNvSpPr>
            <p:nvPr/>
          </p:nvSpPr>
          <p:spPr bwMode="auto">
            <a:xfrm>
              <a:off x="3936"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89" name="Rectangle 316"/>
            <p:cNvSpPr>
              <a:spLocks noChangeArrowheads="1"/>
            </p:cNvSpPr>
            <p:nvPr/>
          </p:nvSpPr>
          <p:spPr bwMode="auto">
            <a:xfrm>
              <a:off x="3936" y="182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sp>
        <p:nvSpPr>
          <p:cNvPr id="290" name="Rectangle 339"/>
          <p:cNvSpPr>
            <a:spLocks noChangeArrowheads="1"/>
          </p:cNvSpPr>
          <p:nvPr/>
        </p:nvSpPr>
        <p:spPr bwMode="auto">
          <a:xfrm>
            <a:off x="1981200" y="192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91" name="Rectangle 340"/>
          <p:cNvSpPr>
            <a:spLocks noChangeArrowheads="1"/>
          </p:cNvSpPr>
          <p:nvPr/>
        </p:nvSpPr>
        <p:spPr bwMode="auto">
          <a:xfrm>
            <a:off x="2133600" y="192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92" name="Rectangle 341"/>
          <p:cNvSpPr>
            <a:spLocks noChangeArrowheads="1"/>
          </p:cNvSpPr>
          <p:nvPr/>
        </p:nvSpPr>
        <p:spPr bwMode="auto">
          <a:xfrm>
            <a:off x="2286000" y="192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nvGrpSpPr>
          <p:cNvPr id="293" name="Group 522"/>
          <p:cNvGrpSpPr>
            <a:grpSpLocks/>
          </p:cNvGrpSpPr>
          <p:nvPr/>
        </p:nvGrpSpPr>
        <p:grpSpPr bwMode="auto">
          <a:xfrm>
            <a:off x="2438400" y="1920875"/>
            <a:ext cx="152400" cy="1676400"/>
            <a:chOff x="1536" y="1344"/>
            <a:chExt cx="96" cy="1056"/>
          </a:xfrm>
        </p:grpSpPr>
        <p:sp>
          <p:nvSpPr>
            <p:cNvPr id="294" name="Rectangle 240"/>
            <p:cNvSpPr>
              <a:spLocks noChangeArrowheads="1"/>
            </p:cNvSpPr>
            <p:nvPr/>
          </p:nvSpPr>
          <p:spPr bwMode="auto">
            <a:xfrm>
              <a:off x="1536" y="2304"/>
              <a:ext cx="96" cy="96"/>
            </a:xfrm>
            <a:prstGeom prst="rect">
              <a:avLst/>
            </a:prstGeom>
            <a:solidFill>
              <a:schemeClr val="accent5">
                <a:lumMod val="60000"/>
                <a:lumOff val="4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95" name="Rectangle 342"/>
            <p:cNvSpPr>
              <a:spLocks noChangeArrowheads="1"/>
            </p:cNvSpPr>
            <p:nvPr/>
          </p:nvSpPr>
          <p:spPr bwMode="auto">
            <a:xfrm>
              <a:off x="1536" y="134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296" name="Group 523"/>
          <p:cNvGrpSpPr>
            <a:grpSpLocks/>
          </p:cNvGrpSpPr>
          <p:nvPr/>
        </p:nvGrpSpPr>
        <p:grpSpPr bwMode="auto">
          <a:xfrm>
            <a:off x="2590800" y="1920875"/>
            <a:ext cx="152400" cy="1676400"/>
            <a:chOff x="1632" y="1344"/>
            <a:chExt cx="96" cy="1056"/>
          </a:xfrm>
        </p:grpSpPr>
        <p:sp>
          <p:nvSpPr>
            <p:cNvPr id="297" name="Rectangle 241"/>
            <p:cNvSpPr>
              <a:spLocks noChangeArrowheads="1"/>
            </p:cNvSpPr>
            <p:nvPr/>
          </p:nvSpPr>
          <p:spPr bwMode="auto">
            <a:xfrm>
              <a:off x="1632"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98" name="Rectangle 343"/>
            <p:cNvSpPr>
              <a:spLocks noChangeArrowheads="1"/>
            </p:cNvSpPr>
            <p:nvPr/>
          </p:nvSpPr>
          <p:spPr bwMode="auto">
            <a:xfrm>
              <a:off x="1632" y="134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299" name="Group 524"/>
          <p:cNvGrpSpPr>
            <a:grpSpLocks/>
          </p:cNvGrpSpPr>
          <p:nvPr/>
        </p:nvGrpSpPr>
        <p:grpSpPr bwMode="auto">
          <a:xfrm>
            <a:off x="2743200" y="1920875"/>
            <a:ext cx="152400" cy="1676400"/>
            <a:chOff x="1728" y="1344"/>
            <a:chExt cx="96" cy="1056"/>
          </a:xfrm>
        </p:grpSpPr>
        <p:sp>
          <p:nvSpPr>
            <p:cNvPr id="300" name="Rectangle 242"/>
            <p:cNvSpPr>
              <a:spLocks noChangeArrowheads="1"/>
            </p:cNvSpPr>
            <p:nvPr/>
          </p:nvSpPr>
          <p:spPr bwMode="auto">
            <a:xfrm>
              <a:off x="1728"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01" name="Rectangle 344"/>
            <p:cNvSpPr>
              <a:spLocks noChangeArrowheads="1"/>
            </p:cNvSpPr>
            <p:nvPr/>
          </p:nvSpPr>
          <p:spPr bwMode="auto">
            <a:xfrm>
              <a:off x="1728" y="134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302" name="Group 542"/>
          <p:cNvGrpSpPr>
            <a:grpSpLocks/>
          </p:cNvGrpSpPr>
          <p:nvPr/>
        </p:nvGrpSpPr>
        <p:grpSpPr bwMode="auto">
          <a:xfrm>
            <a:off x="4114800" y="1158875"/>
            <a:ext cx="152400" cy="2438400"/>
            <a:chOff x="2592" y="864"/>
            <a:chExt cx="96" cy="1536"/>
          </a:xfrm>
        </p:grpSpPr>
        <p:sp>
          <p:nvSpPr>
            <p:cNvPr id="303" name="Rectangle 251"/>
            <p:cNvSpPr>
              <a:spLocks noChangeArrowheads="1"/>
            </p:cNvSpPr>
            <p:nvPr/>
          </p:nvSpPr>
          <p:spPr bwMode="auto">
            <a:xfrm>
              <a:off x="2592"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04" name="Rectangle 404"/>
            <p:cNvSpPr>
              <a:spLocks noChangeArrowheads="1"/>
            </p:cNvSpPr>
            <p:nvPr/>
          </p:nvSpPr>
          <p:spPr bwMode="auto">
            <a:xfrm>
              <a:off x="2592" y="86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305" name="Group 543"/>
          <p:cNvGrpSpPr>
            <a:grpSpLocks/>
          </p:cNvGrpSpPr>
          <p:nvPr/>
        </p:nvGrpSpPr>
        <p:grpSpPr bwMode="auto">
          <a:xfrm>
            <a:off x="4267200" y="1158875"/>
            <a:ext cx="152400" cy="2438400"/>
            <a:chOff x="2688" y="864"/>
            <a:chExt cx="96" cy="1536"/>
          </a:xfrm>
        </p:grpSpPr>
        <p:sp>
          <p:nvSpPr>
            <p:cNvPr id="306" name="Rectangle 252"/>
            <p:cNvSpPr>
              <a:spLocks noChangeArrowheads="1"/>
            </p:cNvSpPr>
            <p:nvPr/>
          </p:nvSpPr>
          <p:spPr bwMode="auto">
            <a:xfrm>
              <a:off x="2688"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07" name="Rectangle 405"/>
            <p:cNvSpPr>
              <a:spLocks noChangeArrowheads="1"/>
            </p:cNvSpPr>
            <p:nvPr/>
          </p:nvSpPr>
          <p:spPr bwMode="auto">
            <a:xfrm>
              <a:off x="2688" y="86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308" name="Group 544"/>
          <p:cNvGrpSpPr>
            <a:grpSpLocks/>
          </p:cNvGrpSpPr>
          <p:nvPr/>
        </p:nvGrpSpPr>
        <p:grpSpPr bwMode="auto">
          <a:xfrm>
            <a:off x="4419600" y="1158875"/>
            <a:ext cx="152400" cy="2438400"/>
            <a:chOff x="2784" y="864"/>
            <a:chExt cx="96" cy="1536"/>
          </a:xfrm>
        </p:grpSpPr>
        <p:sp>
          <p:nvSpPr>
            <p:cNvPr id="309" name="Rectangle 253"/>
            <p:cNvSpPr>
              <a:spLocks noChangeArrowheads="1"/>
            </p:cNvSpPr>
            <p:nvPr/>
          </p:nvSpPr>
          <p:spPr bwMode="auto">
            <a:xfrm>
              <a:off x="2784"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10" name="Rectangle 406"/>
            <p:cNvSpPr>
              <a:spLocks noChangeArrowheads="1"/>
            </p:cNvSpPr>
            <p:nvPr/>
          </p:nvSpPr>
          <p:spPr bwMode="auto">
            <a:xfrm>
              <a:off x="2784" y="86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311" name="Group 545"/>
          <p:cNvGrpSpPr>
            <a:grpSpLocks/>
          </p:cNvGrpSpPr>
          <p:nvPr/>
        </p:nvGrpSpPr>
        <p:grpSpPr bwMode="auto">
          <a:xfrm>
            <a:off x="4572000" y="1158875"/>
            <a:ext cx="152400" cy="2438400"/>
            <a:chOff x="2880" y="864"/>
            <a:chExt cx="96" cy="1536"/>
          </a:xfrm>
        </p:grpSpPr>
        <p:sp>
          <p:nvSpPr>
            <p:cNvPr id="312" name="Rectangle 254"/>
            <p:cNvSpPr>
              <a:spLocks noChangeArrowheads="1"/>
            </p:cNvSpPr>
            <p:nvPr/>
          </p:nvSpPr>
          <p:spPr bwMode="auto">
            <a:xfrm>
              <a:off x="2880"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13" name="Rectangle 407"/>
            <p:cNvSpPr>
              <a:spLocks noChangeArrowheads="1"/>
            </p:cNvSpPr>
            <p:nvPr/>
          </p:nvSpPr>
          <p:spPr bwMode="auto">
            <a:xfrm>
              <a:off x="2880" y="86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314" name="Group 547"/>
          <p:cNvGrpSpPr>
            <a:grpSpLocks/>
          </p:cNvGrpSpPr>
          <p:nvPr/>
        </p:nvGrpSpPr>
        <p:grpSpPr bwMode="auto">
          <a:xfrm>
            <a:off x="4724400" y="1158875"/>
            <a:ext cx="152400" cy="2438400"/>
            <a:chOff x="2976" y="864"/>
            <a:chExt cx="96" cy="1536"/>
          </a:xfrm>
        </p:grpSpPr>
        <p:sp>
          <p:nvSpPr>
            <p:cNvPr id="315" name="Rectangle 255"/>
            <p:cNvSpPr>
              <a:spLocks noChangeArrowheads="1"/>
            </p:cNvSpPr>
            <p:nvPr/>
          </p:nvSpPr>
          <p:spPr bwMode="auto">
            <a:xfrm>
              <a:off x="2976"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16" name="Rectangle 306"/>
            <p:cNvSpPr>
              <a:spLocks noChangeArrowheads="1"/>
            </p:cNvSpPr>
            <p:nvPr/>
          </p:nvSpPr>
          <p:spPr bwMode="auto">
            <a:xfrm>
              <a:off x="2976" y="1824"/>
              <a:ext cx="96" cy="96"/>
            </a:xfrm>
            <a:prstGeom prst="rect">
              <a:avLst/>
            </a:prstGeom>
            <a:solidFill>
              <a:schemeClr val="accent5">
                <a:lumMod val="60000"/>
                <a:lumOff val="4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17" name="Rectangle 408"/>
            <p:cNvSpPr>
              <a:spLocks noChangeArrowheads="1"/>
            </p:cNvSpPr>
            <p:nvPr/>
          </p:nvSpPr>
          <p:spPr bwMode="auto">
            <a:xfrm>
              <a:off x="2976" y="86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grpSp>
        <p:nvGrpSpPr>
          <p:cNvPr id="318" name="Group 548"/>
          <p:cNvGrpSpPr>
            <a:grpSpLocks/>
          </p:cNvGrpSpPr>
          <p:nvPr/>
        </p:nvGrpSpPr>
        <p:grpSpPr bwMode="auto">
          <a:xfrm>
            <a:off x="4876800" y="1158875"/>
            <a:ext cx="152400" cy="2438400"/>
            <a:chOff x="3072" y="864"/>
            <a:chExt cx="96" cy="1536"/>
          </a:xfrm>
        </p:grpSpPr>
        <p:sp>
          <p:nvSpPr>
            <p:cNvPr id="319" name="Rectangle 256"/>
            <p:cNvSpPr>
              <a:spLocks noChangeArrowheads="1"/>
            </p:cNvSpPr>
            <p:nvPr/>
          </p:nvSpPr>
          <p:spPr bwMode="auto">
            <a:xfrm>
              <a:off x="3072" y="230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20" name="Rectangle 307"/>
            <p:cNvSpPr>
              <a:spLocks noChangeArrowheads="1"/>
            </p:cNvSpPr>
            <p:nvPr/>
          </p:nvSpPr>
          <p:spPr bwMode="auto">
            <a:xfrm>
              <a:off x="3072" y="1824"/>
              <a:ext cx="96" cy="96"/>
            </a:xfrm>
            <a:prstGeom prst="rect">
              <a:avLst/>
            </a:prstGeom>
            <a:solidFill>
              <a:schemeClr val="accent5">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21" name="Rectangle 409"/>
            <p:cNvSpPr>
              <a:spLocks noChangeArrowheads="1"/>
            </p:cNvSpPr>
            <p:nvPr/>
          </p:nvSpPr>
          <p:spPr bwMode="auto">
            <a:xfrm>
              <a:off x="3072" y="864"/>
              <a:ext cx="96" cy="96"/>
            </a:xfrm>
            <a:prstGeom prst="rect">
              <a:avLst/>
            </a:prstGeom>
            <a:solidFill>
              <a:schemeClr val="accent4">
                <a:lumMod val="20000"/>
                <a:lumOff val="80000"/>
              </a:scheme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sp>
        <p:nvSpPr>
          <p:cNvPr id="322" name="Rectangle 435"/>
          <p:cNvSpPr>
            <a:spLocks noChangeArrowheads="1"/>
          </p:cNvSpPr>
          <p:nvPr/>
        </p:nvSpPr>
        <p:spPr bwMode="auto">
          <a:xfrm>
            <a:off x="10668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23" name="Rectangle 436"/>
          <p:cNvSpPr>
            <a:spLocks noChangeArrowheads="1"/>
          </p:cNvSpPr>
          <p:nvPr/>
        </p:nvSpPr>
        <p:spPr bwMode="auto">
          <a:xfrm>
            <a:off x="1219200" y="5730875"/>
            <a:ext cx="152400" cy="1524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24" name="Rectangle 441"/>
          <p:cNvSpPr>
            <a:spLocks noChangeArrowheads="1"/>
          </p:cNvSpPr>
          <p:nvPr/>
        </p:nvSpPr>
        <p:spPr bwMode="auto">
          <a:xfrm>
            <a:off x="19812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25" name="Rectangle 442"/>
          <p:cNvSpPr>
            <a:spLocks noChangeArrowheads="1"/>
          </p:cNvSpPr>
          <p:nvPr/>
        </p:nvSpPr>
        <p:spPr bwMode="auto">
          <a:xfrm>
            <a:off x="21336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26" name="Rectangle 443"/>
          <p:cNvSpPr>
            <a:spLocks noChangeArrowheads="1"/>
          </p:cNvSpPr>
          <p:nvPr/>
        </p:nvSpPr>
        <p:spPr bwMode="auto">
          <a:xfrm>
            <a:off x="22860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27" name="Rectangle 444"/>
          <p:cNvSpPr>
            <a:spLocks noChangeArrowheads="1"/>
          </p:cNvSpPr>
          <p:nvPr/>
        </p:nvSpPr>
        <p:spPr bwMode="auto">
          <a:xfrm>
            <a:off x="24384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28" name="Rectangle 445"/>
          <p:cNvSpPr>
            <a:spLocks noChangeArrowheads="1"/>
          </p:cNvSpPr>
          <p:nvPr/>
        </p:nvSpPr>
        <p:spPr bwMode="auto">
          <a:xfrm>
            <a:off x="25908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29" name="Rectangle 446"/>
          <p:cNvSpPr>
            <a:spLocks noChangeArrowheads="1"/>
          </p:cNvSpPr>
          <p:nvPr/>
        </p:nvSpPr>
        <p:spPr bwMode="auto">
          <a:xfrm>
            <a:off x="27432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30" name="Rectangle 447"/>
          <p:cNvSpPr>
            <a:spLocks noChangeArrowheads="1"/>
          </p:cNvSpPr>
          <p:nvPr/>
        </p:nvSpPr>
        <p:spPr bwMode="auto">
          <a:xfrm>
            <a:off x="28956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31" name="Rectangle 448"/>
          <p:cNvSpPr>
            <a:spLocks noChangeArrowheads="1"/>
          </p:cNvSpPr>
          <p:nvPr/>
        </p:nvSpPr>
        <p:spPr bwMode="auto">
          <a:xfrm>
            <a:off x="30480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32" name="Rectangle 449"/>
          <p:cNvSpPr>
            <a:spLocks noChangeArrowheads="1"/>
          </p:cNvSpPr>
          <p:nvPr/>
        </p:nvSpPr>
        <p:spPr bwMode="auto">
          <a:xfrm>
            <a:off x="32004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33" name="Rectangle 450"/>
          <p:cNvSpPr>
            <a:spLocks noChangeArrowheads="1"/>
          </p:cNvSpPr>
          <p:nvPr/>
        </p:nvSpPr>
        <p:spPr bwMode="auto">
          <a:xfrm>
            <a:off x="33528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34" name="Rectangle 451"/>
          <p:cNvSpPr>
            <a:spLocks noChangeArrowheads="1"/>
          </p:cNvSpPr>
          <p:nvPr/>
        </p:nvSpPr>
        <p:spPr bwMode="auto">
          <a:xfrm>
            <a:off x="35052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35" name="Rectangle 452"/>
          <p:cNvSpPr>
            <a:spLocks noChangeArrowheads="1"/>
          </p:cNvSpPr>
          <p:nvPr/>
        </p:nvSpPr>
        <p:spPr bwMode="auto">
          <a:xfrm>
            <a:off x="36576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36" name="Rectangle 453"/>
          <p:cNvSpPr>
            <a:spLocks noChangeArrowheads="1"/>
          </p:cNvSpPr>
          <p:nvPr/>
        </p:nvSpPr>
        <p:spPr bwMode="auto">
          <a:xfrm>
            <a:off x="38100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37" name="Rectangle 454"/>
          <p:cNvSpPr>
            <a:spLocks noChangeArrowheads="1"/>
          </p:cNvSpPr>
          <p:nvPr/>
        </p:nvSpPr>
        <p:spPr bwMode="auto">
          <a:xfrm>
            <a:off x="39624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38" name="Rectangle 455"/>
          <p:cNvSpPr>
            <a:spLocks noChangeArrowheads="1"/>
          </p:cNvSpPr>
          <p:nvPr/>
        </p:nvSpPr>
        <p:spPr bwMode="auto">
          <a:xfrm>
            <a:off x="41148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39" name="Rectangle 456"/>
          <p:cNvSpPr>
            <a:spLocks noChangeArrowheads="1"/>
          </p:cNvSpPr>
          <p:nvPr/>
        </p:nvSpPr>
        <p:spPr bwMode="auto">
          <a:xfrm>
            <a:off x="42672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40" name="Rectangle 457"/>
          <p:cNvSpPr>
            <a:spLocks noChangeArrowheads="1"/>
          </p:cNvSpPr>
          <p:nvPr/>
        </p:nvSpPr>
        <p:spPr bwMode="auto">
          <a:xfrm>
            <a:off x="44196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41" name="Rectangle 458"/>
          <p:cNvSpPr>
            <a:spLocks noChangeArrowheads="1"/>
          </p:cNvSpPr>
          <p:nvPr/>
        </p:nvSpPr>
        <p:spPr bwMode="auto">
          <a:xfrm>
            <a:off x="45720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42" name="Rectangle 459"/>
          <p:cNvSpPr>
            <a:spLocks noChangeArrowheads="1"/>
          </p:cNvSpPr>
          <p:nvPr/>
        </p:nvSpPr>
        <p:spPr bwMode="auto">
          <a:xfrm>
            <a:off x="47244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43" name="Rectangle 460"/>
          <p:cNvSpPr>
            <a:spLocks noChangeArrowheads="1"/>
          </p:cNvSpPr>
          <p:nvPr/>
        </p:nvSpPr>
        <p:spPr bwMode="auto">
          <a:xfrm>
            <a:off x="48768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44" name="Rectangle 461"/>
          <p:cNvSpPr>
            <a:spLocks noChangeArrowheads="1"/>
          </p:cNvSpPr>
          <p:nvPr/>
        </p:nvSpPr>
        <p:spPr bwMode="auto">
          <a:xfrm>
            <a:off x="50292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45" name="Rectangle 462"/>
          <p:cNvSpPr>
            <a:spLocks noChangeArrowheads="1"/>
          </p:cNvSpPr>
          <p:nvPr/>
        </p:nvSpPr>
        <p:spPr bwMode="auto">
          <a:xfrm>
            <a:off x="51816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46" name="Rectangle 463"/>
          <p:cNvSpPr>
            <a:spLocks noChangeArrowheads="1"/>
          </p:cNvSpPr>
          <p:nvPr/>
        </p:nvSpPr>
        <p:spPr bwMode="auto">
          <a:xfrm>
            <a:off x="53340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47" name="Rectangle 464"/>
          <p:cNvSpPr>
            <a:spLocks noChangeArrowheads="1"/>
          </p:cNvSpPr>
          <p:nvPr/>
        </p:nvSpPr>
        <p:spPr bwMode="auto">
          <a:xfrm>
            <a:off x="54864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48" name="Rectangle 465"/>
          <p:cNvSpPr>
            <a:spLocks noChangeArrowheads="1"/>
          </p:cNvSpPr>
          <p:nvPr/>
        </p:nvSpPr>
        <p:spPr bwMode="auto">
          <a:xfrm>
            <a:off x="56388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49" name="Rectangle 466"/>
          <p:cNvSpPr>
            <a:spLocks noChangeArrowheads="1"/>
          </p:cNvSpPr>
          <p:nvPr/>
        </p:nvSpPr>
        <p:spPr bwMode="auto">
          <a:xfrm>
            <a:off x="57912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50" name="Rectangle 467"/>
          <p:cNvSpPr>
            <a:spLocks noChangeArrowheads="1"/>
          </p:cNvSpPr>
          <p:nvPr/>
        </p:nvSpPr>
        <p:spPr bwMode="auto">
          <a:xfrm>
            <a:off x="59436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51" name="Rectangle 468"/>
          <p:cNvSpPr>
            <a:spLocks noChangeArrowheads="1"/>
          </p:cNvSpPr>
          <p:nvPr/>
        </p:nvSpPr>
        <p:spPr bwMode="auto">
          <a:xfrm>
            <a:off x="60960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52" name="Rectangle 469"/>
          <p:cNvSpPr>
            <a:spLocks noChangeArrowheads="1"/>
          </p:cNvSpPr>
          <p:nvPr/>
        </p:nvSpPr>
        <p:spPr bwMode="auto">
          <a:xfrm>
            <a:off x="62484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53" name="Rectangle 470"/>
          <p:cNvSpPr>
            <a:spLocks noChangeArrowheads="1"/>
          </p:cNvSpPr>
          <p:nvPr/>
        </p:nvSpPr>
        <p:spPr bwMode="auto">
          <a:xfrm>
            <a:off x="64008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54" name="Rectangle 471"/>
          <p:cNvSpPr>
            <a:spLocks noChangeArrowheads="1"/>
          </p:cNvSpPr>
          <p:nvPr/>
        </p:nvSpPr>
        <p:spPr bwMode="auto">
          <a:xfrm>
            <a:off x="65532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55" name="Rectangle 472"/>
          <p:cNvSpPr>
            <a:spLocks noChangeArrowheads="1"/>
          </p:cNvSpPr>
          <p:nvPr/>
        </p:nvSpPr>
        <p:spPr bwMode="auto">
          <a:xfrm>
            <a:off x="67056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56" name="Rectangle 473"/>
          <p:cNvSpPr>
            <a:spLocks noChangeArrowheads="1"/>
          </p:cNvSpPr>
          <p:nvPr/>
        </p:nvSpPr>
        <p:spPr bwMode="auto">
          <a:xfrm>
            <a:off x="68580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57" name="Rectangle 474"/>
          <p:cNvSpPr>
            <a:spLocks noChangeArrowheads="1"/>
          </p:cNvSpPr>
          <p:nvPr/>
        </p:nvSpPr>
        <p:spPr bwMode="auto">
          <a:xfrm>
            <a:off x="70104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58" name="Rectangle 475"/>
          <p:cNvSpPr>
            <a:spLocks noChangeArrowheads="1"/>
          </p:cNvSpPr>
          <p:nvPr/>
        </p:nvSpPr>
        <p:spPr bwMode="auto">
          <a:xfrm>
            <a:off x="71628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59" name="Rectangle 476"/>
          <p:cNvSpPr>
            <a:spLocks noChangeArrowheads="1"/>
          </p:cNvSpPr>
          <p:nvPr/>
        </p:nvSpPr>
        <p:spPr bwMode="auto">
          <a:xfrm>
            <a:off x="73152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60" name="Rectangle 477"/>
          <p:cNvSpPr>
            <a:spLocks noChangeArrowheads="1"/>
          </p:cNvSpPr>
          <p:nvPr/>
        </p:nvSpPr>
        <p:spPr bwMode="auto">
          <a:xfrm>
            <a:off x="74676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61" name="Rectangle 478"/>
          <p:cNvSpPr>
            <a:spLocks noChangeArrowheads="1"/>
          </p:cNvSpPr>
          <p:nvPr/>
        </p:nvSpPr>
        <p:spPr bwMode="auto">
          <a:xfrm>
            <a:off x="76200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62" name="Rectangle 479"/>
          <p:cNvSpPr>
            <a:spLocks noChangeArrowheads="1"/>
          </p:cNvSpPr>
          <p:nvPr/>
        </p:nvSpPr>
        <p:spPr bwMode="auto">
          <a:xfrm>
            <a:off x="77724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363" name="Rectangle 480"/>
          <p:cNvSpPr>
            <a:spLocks noChangeArrowheads="1"/>
          </p:cNvSpPr>
          <p:nvPr/>
        </p:nvSpPr>
        <p:spPr bwMode="auto">
          <a:xfrm>
            <a:off x="7924800" y="5730072"/>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64" name="Rectangle 481"/>
          <p:cNvSpPr>
            <a:spLocks noChangeArrowheads="1"/>
          </p:cNvSpPr>
          <p:nvPr/>
        </p:nvSpPr>
        <p:spPr bwMode="auto">
          <a:xfrm>
            <a:off x="80772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65" name="Rectangle 482"/>
          <p:cNvSpPr>
            <a:spLocks noChangeArrowheads="1"/>
          </p:cNvSpPr>
          <p:nvPr/>
        </p:nvSpPr>
        <p:spPr bwMode="auto">
          <a:xfrm>
            <a:off x="82296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66" name="Rectangle 483"/>
          <p:cNvSpPr>
            <a:spLocks noChangeArrowheads="1"/>
          </p:cNvSpPr>
          <p:nvPr/>
        </p:nvSpPr>
        <p:spPr bwMode="auto">
          <a:xfrm>
            <a:off x="83820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67" name="Rectangle 484"/>
          <p:cNvSpPr>
            <a:spLocks noChangeArrowheads="1"/>
          </p:cNvSpPr>
          <p:nvPr/>
        </p:nvSpPr>
        <p:spPr bwMode="auto">
          <a:xfrm>
            <a:off x="85344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68" name="Rectangle 485"/>
          <p:cNvSpPr>
            <a:spLocks noChangeArrowheads="1"/>
          </p:cNvSpPr>
          <p:nvPr/>
        </p:nvSpPr>
        <p:spPr bwMode="auto">
          <a:xfrm>
            <a:off x="86868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nvGrpSpPr>
          <p:cNvPr id="369" name="Group 520"/>
          <p:cNvGrpSpPr>
            <a:grpSpLocks/>
          </p:cNvGrpSpPr>
          <p:nvPr/>
        </p:nvGrpSpPr>
        <p:grpSpPr bwMode="auto">
          <a:xfrm>
            <a:off x="1422400" y="5334000"/>
            <a:ext cx="635000" cy="473075"/>
            <a:chOff x="896" y="3494"/>
            <a:chExt cx="400" cy="298"/>
          </a:xfrm>
        </p:grpSpPr>
        <p:sp>
          <p:nvSpPr>
            <p:cNvPr id="370" name="Text Box 487"/>
            <p:cNvSpPr txBox="1">
              <a:spLocks noChangeArrowheads="1"/>
            </p:cNvSpPr>
            <p:nvPr/>
          </p:nvSpPr>
          <p:spPr bwMode="auto">
            <a:xfrm>
              <a:off x="896" y="3494"/>
              <a:ext cx="400" cy="250"/>
            </a:xfrm>
            <a:prstGeom prst="rect">
              <a:avLst/>
            </a:prstGeom>
            <a:noFill/>
            <a:ln>
              <a:noFill/>
            </a:ln>
            <a:effectLst/>
            <a:extLst>
              <a:ext uri="{909E8E84-426E-40DD-AFC4-6F175D3DCCD1}">
                <a14:hiddenFill xmlns:a14="http://schemas.microsoft.com/office/drawing/2010/main">
                  <a:solidFill>
                    <a:srgbClr val="FCFF9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00000"/>
                </a:lnSpc>
              </a:pPr>
              <a:r>
                <a:rPr lang="en-US" sz="2000" i="1" dirty="0">
                  <a:solidFill>
                    <a:srgbClr val="000000"/>
                  </a:solidFill>
                  <a:latin typeface="Arial" pitchFamily="34" charset="0"/>
                </a:rPr>
                <a:t>int1</a:t>
              </a:r>
              <a:endParaRPr lang="en-US" sz="2000" dirty="0">
                <a:solidFill>
                  <a:srgbClr val="000000"/>
                </a:solidFill>
                <a:latin typeface="Arial" pitchFamily="34" charset="0"/>
              </a:endParaRPr>
            </a:p>
          </p:txBody>
        </p:sp>
        <p:sp>
          <p:nvSpPr>
            <p:cNvPr id="371" name="Line 488"/>
            <p:cNvSpPr>
              <a:spLocks noChangeShapeType="1"/>
            </p:cNvSpPr>
            <p:nvPr/>
          </p:nvSpPr>
          <p:spPr bwMode="auto">
            <a:xfrm flipH="1" flipV="1">
              <a:off x="1149" y="3699"/>
              <a:ext cx="54" cy="93"/>
            </a:xfrm>
            <a:prstGeom prst="line">
              <a:avLst/>
            </a:prstGeom>
            <a:noFill/>
            <a:ln w="28575">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endParaRPr lang="en-US" sz="2000">
                <a:solidFill>
                  <a:srgbClr val="000000"/>
                </a:solidFill>
                <a:latin typeface="Arial Narrow" pitchFamily="34" charset="0"/>
              </a:endParaRPr>
            </a:p>
          </p:txBody>
        </p:sp>
      </p:grpSp>
      <p:grpSp>
        <p:nvGrpSpPr>
          <p:cNvPr id="372" name="Group 518"/>
          <p:cNvGrpSpPr>
            <a:grpSpLocks/>
          </p:cNvGrpSpPr>
          <p:nvPr/>
        </p:nvGrpSpPr>
        <p:grpSpPr bwMode="auto">
          <a:xfrm>
            <a:off x="904874" y="4573588"/>
            <a:ext cx="739774" cy="471487"/>
            <a:chOff x="570" y="3015"/>
            <a:chExt cx="466" cy="297"/>
          </a:xfrm>
        </p:grpSpPr>
        <p:sp>
          <p:nvSpPr>
            <p:cNvPr id="373" name="Text Box 486"/>
            <p:cNvSpPr txBox="1">
              <a:spLocks noChangeArrowheads="1"/>
            </p:cNvSpPr>
            <p:nvPr/>
          </p:nvSpPr>
          <p:spPr bwMode="auto">
            <a:xfrm>
              <a:off x="570" y="3015"/>
              <a:ext cx="466" cy="252"/>
            </a:xfrm>
            <a:prstGeom prst="rect">
              <a:avLst/>
            </a:prstGeom>
            <a:noFill/>
            <a:ln>
              <a:noFill/>
            </a:ln>
            <a:effectLst/>
            <a:extLst>
              <a:ext uri="{909E8E84-426E-40DD-AFC4-6F175D3DCCD1}">
                <a14:hiddenFill xmlns:a14="http://schemas.microsoft.com/office/drawing/2010/main">
                  <a:solidFill>
                    <a:srgbClr val="FCFF9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00000"/>
                </a:lnSpc>
              </a:pPr>
              <a:r>
                <a:rPr lang="en-US" sz="2000" dirty="0" smtClean="0">
                  <a:solidFill>
                    <a:srgbClr val="000000"/>
                  </a:solidFill>
                  <a:latin typeface="Arial" pitchFamily="34" charset="0"/>
                </a:rPr>
                <a:t>start</a:t>
              </a:r>
              <a:endParaRPr lang="en-US" sz="2000" dirty="0">
                <a:solidFill>
                  <a:srgbClr val="000000"/>
                </a:solidFill>
                <a:latin typeface="Arial" pitchFamily="34" charset="0"/>
              </a:endParaRPr>
            </a:p>
          </p:txBody>
        </p:sp>
        <p:sp>
          <p:nvSpPr>
            <p:cNvPr id="374" name="Line 489"/>
            <p:cNvSpPr>
              <a:spLocks noChangeShapeType="1"/>
            </p:cNvSpPr>
            <p:nvPr/>
          </p:nvSpPr>
          <p:spPr bwMode="auto">
            <a:xfrm flipV="1">
              <a:off x="819" y="3219"/>
              <a:ext cx="54" cy="93"/>
            </a:xfrm>
            <a:prstGeom prst="line">
              <a:avLst/>
            </a:prstGeom>
            <a:noFill/>
            <a:ln w="28575">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endParaRPr lang="en-US" sz="2000">
                <a:solidFill>
                  <a:srgbClr val="000000"/>
                </a:solidFill>
                <a:latin typeface="Arial Narrow" pitchFamily="34" charset="0"/>
              </a:endParaRPr>
            </a:p>
          </p:txBody>
        </p:sp>
      </p:grpSp>
      <p:grpSp>
        <p:nvGrpSpPr>
          <p:cNvPr id="375" name="Group 521"/>
          <p:cNvGrpSpPr>
            <a:grpSpLocks/>
          </p:cNvGrpSpPr>
          <p:nvPr/>
        </p:nvGrpSpPr>
        <p:grpSpPr bwMode="auto">
          <a:xfrm>
            <a:off x="1916113" y="1524000"/>
            <a:ext cx="862012" cy="473075"/>
            <a:chOff x="1207" y="1094"/>
            <a:chExt cx="543" cy="298"/>
          </a:xfrm>
        </p:grpSpPr>
        <p:sp>
          <p:nvSpPr>
            <p:cNvPr id="376" name="Text Box 491"/>
            <p:cNvSpPr txBox="1">
              <a:spLocks noChangeArrowheads="1"/>
            </p:cNvSpPr>
            <p:nvPr/>
          </p:nvSpPr>
          <p:spPr bwMode="auto">
            <a:xfrm>
              <a:off x="1207" y="1094"/>
              <a:ext cx="543" cy="250"/>
            </a:xfrm>
            <a:prstGeom prst="rect">
              <a:avLst/>
            </a:prstGeom>
            <a:noFill/>
            <a:ln>
              <a:noFill/>
            </a:ln>
            <a:effectLst/>
            <a:extLst>
              <a:ext uri="{909E8E84-426E-40DD-AFC4-6F175D3DCCD1}">
                <a14:hiddenFill xmlns:a14="http://schemas.microsoft.com/office/drawing/2010/main">
                  <a:solidFill>
                    <a:srgbClr val="FCFF9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00000"/>
                </a:lnSpc>
              </a:pPr>
              <a:r>
                <a:rPr lang="en-US" sz="2000" dirty="0">
                  <a:solidFill>
                    <a:srgbClr val="000000"/>
                  </a:solidFill>
                  <a:latin typeface="Arial" pitchFamily="34" charset="0"/>
                </a:rPr>
                <a:t>post2</a:t>
              </a:r>
            </a:p>
          </p:txBody>
        </p:sp>
        <p:sp>
          <p:nvSpPr>
            <p:cNvPr id="377" name="Line 493"/>
            <p:cNvSpPr>
              <a:spLocks noChangeShapeType="1"/>
            </p:cNvSpPr>
            <p:nvPr/>
          </p:nvSpPr>
          <p:spPr bwMode="auto">
            <a:xfrm flipH="1" flipV="1">
              <a:off x="1448" y="1299"/>
              <a:ext cx="54" cy="93"/>
            </a:xfrm>
            <a:prstGeom prst="line">
              <a:avLst/>
            </a:prstGeom>
            <a:noFill/>
            <a:ln w="28575">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endParaRPr lang="en-US" sz="2000">
                <a:solidFill>
                  <a:srgbClr val="000000"/>
                </a:solidFill>
                <a:latin typeface="Arial Narrow" pitchFamily="34" charset="0"/>
              </a:endParaRPr>
            </a:p>
          </p:txBody>
        </p:sp>
      </p:grpSp>
      <p:grpSp>
        <p:nvGrpSpPr>
          <p:cNvPr id="378" name="Group 525"/>
          <p:cNvGrpSpPr>
            <a:grpSpLocks/>
          </p:cNvGrpSpPr>
          <p:nvPr/>
        </p:nvGrpSpPr>
        <p:grpSpPr bwMode="auto">
          <a:xfrm>
            <a:off x="2754313" y="1524000"/>
            <a:ext cx="522287" cy="484188"/>
            <a:chOff x="1735" y="1094"/>
            <a:chExt cx="329" cy="305"/>
          </a:xfrm>
        </p:grpSpPr>
        <p:sp>
          <p:nvSpPr>
            <p:cNvPr id="379" name="Text Box 492"/>
            <p:cNvSpPr txBox="1">
              <a:spLocks noChangeArrowheads="1"/>
            </p:cNvSpPr>
            <p:nvPr/>
          </p:nvSpPr>
          <p:spPr bwMode="auto">
            <a:xfrm>
              <a:off x="1735" y="1094"/>
              <a:ext cx="329" cy="250"/>
            </a:xfrm>
            <a:prstGeom prst="rect">
              <a:avLst/>
            </a:prstGeom>
            <a:noFill/>
            <a:ln>
              <a:noFill/>
            </a:ln>
            <a:effectLst/>
            <a:extLst>
              <a:ext uri="{909E8E84-426E-40DD-AFC4-6F175D3DCCD1}">
                <a14:hiddenFill xmlns:a14="http://schemas.microsoft.com/office/drawing/2010/main">
                  <a:solidFill>
                    <a:srgbClr val="FCFF9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00000"/>
                </a:lnSpc>
              </a:pPr>
              <a:r>
                <a:rPr lang="en-US" sz="2000">
                  <a:solidFill>
                    <a:srgbClr val="000000"/>
                  </a:solidFill>
                  <a:latin typeface="Arial" pitchFamily="34" charset="0"/>
                </a:rPr>
                <a:t>rtn</a:t>
              </a:r>
            </a:p>
          </p:txBody>
        </p:sp>
        <p:sp>
          <p:nvSpPr>
            <p:cNvPr id="380" name="Line 494"/>
            <p:cNvSpPr>
              <a:spLocks noChangeShapeType="1"/>
            </p:cNvSpPr>
            <p:nvPr/>
          </p:nvSpPr>
          <p:spPr bwMode="auto">
            <a:xfrm flipV="1">
              <a:off x="1784" y="1306"/>
              <a:ext cx="54" cy="93"/>
            </a:xfrm>
            <a:prstGeom prst="line">
              <a:avLst/>
            </a:prstGeom>
            <a:noFill/>
            <a:ln w="28575">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endParaRPr lang="en-US" sz="2000">
                <a:solidFill>
                  <a:srgbClr val="000000"/>
                </a:solidFill>
                <a:latin typeface="Arial Narrow" pitchFamily="34" charset="0"/>
              </a:endParaRPr>
            </a:p>
          </p:txBody>
        </p:sp>
      </p:grpSp>
      <p:sp>
        <p:nvSpPr>
          <p:cNvPr id="381" name="Line 495"/>
          <p:cNvSpPr>
            <a:spLocks noChangeShapeType="1"/>
          </p:cNvSpPr>
          <p:nvPr/>
        </p:nvSpPr>
        <p:spPr bwMode="auto">
          <a:xfrm>
            <a:off x="2438400" y="1997075"/>
            <a:ext cx="0" cy="14478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37160" bIns="13716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82" name="Line 496"/>
          <p:cNvSpPr>
            <a:spLocks noChangeShapeType="1"/>
          </p:cNvSpPr>
          <p:nvPr/>
        </p:nvSpPr>
        <p:spPr bwMode="auto">
          <a:xfrm>
            <a:off x="2895600" y="1997075"/>
            <a:ext cx="0" cy="14478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37160" bIns="13716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nvGrpSpPr>
          <p:cNvPr id="383" name="Group 541"/>
          <p:cNvGrpSpPr>
            <a:grpSpLocks/>
          </p:cNvGrpSpPr>
          <p:nvPr/>
        </p:nvGrpSpPr>
        <p:grpSpPr bwMode="auto">
          <a:xfrm>
            <a:off x="3556000" y="3063875"/>
            <a:ext cx="635000" cy="473075"/>
            <a:chOff x="2240" y="2064"/>
            <a:chExt cx="400" cy="298"/>
          </a:xfrm>
        </p:grpSpPr>
        <p:sp>
          <p:nvSpPr>
            <p:cNvPr id="384" name="Text Box 497"/>
            <p:cNvSpPr txBox="1">
              <a:spLocks noChangeArrowheads="1"/>
            </p:cNvSpPr>
            <p:nvPr/>
          </p:nvSpPr>
          <p:spPr bwMode="auto">
            <a:xfrm>
              <a:off x="2240" y="2064"/>
              <a:ext cx="400" cy="250"/>
            </a:xfrm>
            <a:prstGeom prst="rect">
              <a:avLst/>
            </a:prstGeom>
            <a:noFill/>
            <a:ln>
              <a:noFill/>
            </a:ln>
            <a:effectLst/>
            <a:extLst>
              <a:ext uri="{909E8E84-426E-40DD-AFC4-6F175D3DCCD1}">
                <a14:hiddenFill xmlns:a14="http://schemas.microsoft.com/office/drawing/2010/main">
                  <a:solidFill>
                    <a:srgbClr val="FCFF9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00000"/>
                </a:lnSpc>
              </a:pPr>
              <a:r>
                <a:rPr lang="en-US" sz="2000" i="1" dirty="0">
                  <a:solidFill>
                    <a:srgbClr val="000000"/>
                  </a:solidFill>
                  <a:latin typeface="Arial" pitchFamily="34" charset="0"/>
                </a:rPr>
                <a:t>int2</a:t>
              </a:r>
              <a:endParaRPr lang="en-US" sz="2000" dirty="0">
                <a:solidFill>
                  <a:srgbClr val="000000"/>
                </a:solidFill>
                <a:latin typeface="Arial" pitchFamily="34" charset="0"/>
              </a:endParaRPr>
            </a:p>
          </p:txBody>
        </p:sp>
        <p:sp>
          <p:nvSpPr>
            <p:cNvPr id="385" name="Line 498"/>
            <p:cNvSpPr>
              <a:spLocks noChangeShapeType="1"/>
            </p:cNvSpPr>
            <p:nvPr/>
          </p:nvSpPr>
          <p:spPr bwMode="auto">
            <a:xfrm flipH="1" flipV="1">
              <a:off x="2493" y="2269"/>
              <a:ext cx="54" cy="93"/>
            </a:xfrm>
            <a:prstGeom prst="line">
              <a:avLst/>
            </a:prstGeom>
            <a:noFill/>
            <a:ln w="28575">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endParaRPr lang="en-US" sz="2000">
                <a:solidFill>
                  <a:srgbClr val="000000"/>
                </a:solidFill>
                <a:latin typeface="Arial Narrow" pitchFamily="34" charset="0"/>
              </a:endParaRPr>
            </a:p>
          </p:txBody>
        </p:sp>
      </p:grpSp>
      <p:sp>
        <p:nvSpPr>
          <p:cNvPr id="386" name="Line 499"/>
          <p:cNvSpPr>
            <a:spLocks noChangeShapeType="1"/>
          </p:cNvSpPr>
          <p:nvPr/>
        </p:nvSpPr>
        <p:spPr bwMode="auto">
          <a:xfrm>
            <a:off x="4114800" y="1235075"/>
            <a:ext cx="0" cy="22098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nvGrpSpPr>
          <p:cNvPr id="387" name="Group 546"/>
          <p:cNvGrpSpPr>
            <a:grpSpLocks/>
          </p:cNvGrpSpPr>
          <p:nvPr/>
        </p:nvGrpSpPr>
        <p:grpSpPr bwMode="auto">
          <a:xfrm>
            <a:off x="3962400" y="762000"/>
            <a:ext cx="862013" cy="488950"/>
            <a:chOff x="2496" y="614"/>
            <a:chExt cx="543" cy="308"/>
          </a:xfrm>
        </p:grpSpPr>
        <p:sp>
          <p:nvSpPr>
            <p:cNvPr id="388" name="Text Box 500"/>
            <p:cNvSpPr txBox="1">
              <a:spLocks noChangeArrowheads="1"/>
            </p:cNvSpPr>
            <p:nvPr/>
          </p:nvSpPr>
          <p:spPr bwMode="auto">
            <a:xfrm>
              <a:off x="2496" y="614"/>
              <a:ext cx="543" cy="250"/>
            </a:xfrm>
            <a:prstGeom prst="rect">
              <a:avLst/>
            </a:prstGeom>
            <a:noFill/>
            <a:ln>
              <a:noFill/>
            </a:ln>
            <a:effectLst/>
            <a:extLst>
              <a:ext uri="{909E8E84-426E-40DD-AFC4-6F175D3DCCD1}">
                <a14:hiddenFill xmlns:a14="http://schemas.microsoft.com/office/drawing/2010/main">
                  <a:solidFill>
                    <a:srgbClr val="FCFF9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00000"/>
                </a:lnSpc>
              </a:pPr>
              <a:r>
                <a:rPr lang="en-US" sz="2000">
                  <a:solidFill>
                    <a:srgbClr val="000000"/>
                  </a:solidFill>
                  <a:latin typeface="Arial" pitchFamily="34" charset="0"/>
                </a:rPr>
                <a:t>post3</a:t>
              </a:r>
            </a:p>
          </p:txBody>
        </p:sp>
        <p:sp>
          <p:nvSpPr>
            <p:cNvPr id="389" name="Line 502"/>
            <p:cNvSpPr>
              <a:spLocks noChangeShapeType="1"/>
            </p:cNvSpPr>
            <p:nvPr/>
          </p:nvSpPr>
          <p:spPr bwMode="auto">
            <a:xfrm flipH="1" flipV="1">
              <a:off x="2888" y="829"/>
              <a:ext cx="54" cy="93"/>
            </a:xfrm>
            <a:prstGeom prst="line">
              <a:avLst/>
            </a:prstGeom>
            <a:noFill/>
            <a:ln w="28575">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endParaRPr lang="en-US" sz="2000">
                <a:solidFill>
                  <a:srgbClr val="000000"/>
                </a:solidFill>
                <a:latin typeface="Arial Narrow" pitchFamily="34" charset="0"/>
              </a:endParaRPr>
            </a:p>
          </p:txBody>
        </p:sp>
      </p:grpSp>
      <p:grpSp>
        <p:nvGrpSpPr>
          <p:cNvPr id="390" name="Group 549"/>
          <p:cNvGrpSpPr>
            <a:grpSpLocks/>
          </p:cNvGrpSpPr>
          <p:nvPr/>
        </p:nvGrpSpPr>
        <p:grpSpPr bwMode="auto">
          <a:xfrm>
            <a:off x="4876800" y="762000"/>
            <a:ext cx="522288" cy="473075"/>
            <a:chOff x="3072" y="614"/>
            <a:chExt cx="329" cy="298"/>
          </a:xfrm>
        </p:grpSpPr>
        <p:sp>
          <p:nvSpPr>
            <p:cNvPr id="391" name="Text Box 501"/>
            <p:cNvSpPr txBox="1">
              <a:spLocks noChangeArrowheads="1"/>
            </p:cNvSpPr>
            <p:nvPr/>
          </p:nvSpPr>
          <p:spPr bwMode="auto">
            <a:xfrm>
              <a:off x="3072" y="614"/>
              <a:ext cx="329" cy="250"/>
            </a:xfrm>
            <a:prstGeom prst="rect">
              <a:avLst/>
            </a:prstGeom>
            <a:noFill/>
            <a:ln>
              <a:noFill/>
            </a:ln>
            <a:effectLst/>
            <a:extLst>
              <a:ext uri="{909E8E84-426E-40DD-AFC4-6F175D3DCCD1}">
                <a14:hiddenFill xmlns:a14="http://schemas.microsoft.com/office/drawing/2010/main">
                  <a:solidFill>
                    <a:srgbClr val="FCFF9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00000"/>
                </a:lnSpc>
              </a:pPr>
              <a:r>
                <a:rPr lang="en-US" sz="2000">
                  <a:solidFill>
                    <a:srgbClr val="000000"/>
                  </a:solidFill>
                  <a:latin typeface="Arial" pitchFamily="34" charset="0"/>
                </a:rPr>
                <a:t>rtn</a:t>
              </a:r>
            </a:p>
          </p:txBody>
        </p:sp>
        <p:sp>
          <p:nvSpPr>
            <p:cNvPr id="392" name="Line 503"/>
            <p:cNvSpPr>
              <a:spLocks noChangeShapeType="1"/>
            </p:cNvSpPr>
            <p:nvPr/>
          </p:nvSpPr>
          <p:spPr bwMode="auto">
            <a:xfrm flipV="1">
              <a:off x="3121" y="819"/>
              <a:ext cx="54" cy="93"/>
            </a:xfrm>
            <a:prstGeom prst="line">
              <a:avLst/>
            </a:prstGeom>
            <a:noFill/>
            <a:ln w="28575">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endParaRPr lang="en-US" sz="2000">
                <a:solidFill>
                  <a:srgbClr val="000000"/>
                </a:solidFill>
                <a:latin typeface="Arial Narrow" pitchFamily="34" charset="0"/>
              </a:endParaRPr>
            </a:p>
          </p:txBody>
        </p:sp>
      </p:grpSp>
      <p:sp>
        <p:nvSpPr>
          <p:cNvPr id="393" name="Line 504"/>
          <p:cNvSpPr>
            <a:spLocks noChangeShapeType="1"/>
          </p:cNvSpPr>
          <p:nvPr/>
        </p:nvSpPr>
        <p:spPr bwMode="auto">
          <a:xfrm>
            <a:off x="4724400" y="1235075"/>
            <a:ext cx="0" cy="15240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94" name="Line 505"/>
          <p:cNvSpPr>
            <a:spLocks noChangeShapeType="1"/>
          </p:cNvSpPr>
          <p:nvPr/>
        </p:nvSpPr>
        <p:spPr bwMode="auto">
          <a:xfrm>
            <a:off x="5029200" y="1235075"/>
            <a:ext cx="0" cy="15240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nvGrpSpPr>
          <p:cNvPr id="395" name="Group 554"/>
          <p:cNvGrpSpPr>
            <a:grpSpLocks/>
          </p:cNvGrpSpPr>
          <p:nvPr/>
        </p:nvGrpSpPr>
        <p:grpSpPr bwMode="auto">
          <a:xfrm>
            <a:off x="5005388" y="2270125"/>
            <a:ext cx="862012" cy="488950"/>
            <a:chOff x="3153" y="1564"/>
            <a:chExt cx="543" cy="308"/>
          </a:xfrm>
        </p:grpSpPr>
        <p:sp>
          <p:nvSpPr>
            <p:cNvPr id="396" name="Text Box 506"/>
            <p:cNvSpPr txBox="1">
              <a:spLocks noChangeArrowheads="1"/>
            </p:cNvSpPr>
            <p:nvPr/>
          </p:nvSpPr>
          <p:spPr bwMode="auto">
            <a:xfrm>
              <a:off x="3153" y="1564"/>
              <a:ext cx="543" cy="250"/>
            </a:xfrm>
            <a:prstGeom prst="rect">
              <a:avLst/>
            </a:prstGeom>
            <a:noFill/>
            <a:ln>
              <a:noFill/>
            </a:ln>
            <a:effectLst/>
            <a:extLst>
              <a:ext uri="{909E8E84-426E-40DD-AFC4-6F175D3DCCD1}">
                <a14:hiddenFill xmlns:a14="http://schemas.microsoft.com/office/drawing/2010/main">
                  <a:solidFill>
                    <a:srgbClr val="FCFF9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00000"/>
                </a:lnSpc>
              </a:pPr>
              <a:r>
                <a:rPr lang="en-US" sz="2000">
                  <a:solidFill>
                    <a:srgbClr val="000000"/>
                  </a:solidFill>
                  <a:latin typeface="Arial" pitchFamily="34" charset="0"/>
                </a:rPr>
                <a:t>post1</a:t>
              </a:r>
            </a:p>
          </p:txBody>
        </p:sp>
        <p:sp>
          <p:nvSpPr>
            <p:cNvPr id="397" name="Line 508"/>
            <p:cNvSpPr>
              <a:spLocks noChangeShapeType="1"/>
            </p:cNvSpPr>
            <p:nvPr/>
          </p:nvSpPr>
          <p:spPr bwMode="auto">
            <a:xfrm flipH="1" flipV="1">
              <a:off x="3471" y="1779"/>
              <a:ext cx="54" cy="93"/>
            </a:xfrm>
            <a:prstGeom prst="line">
              <a:avLst/>
            </a:prstGeom>
            <a:noFill/>
            <a:ln w="28575">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endParaRPr lang="en-US" sz="2000">
                <a:solidFill>
                  <a:srgbClr val="000000"/>
                </a:solidFill>
                <a:latin typeface="Arial Narrow" pitchFamily="34" charset="0"/>
              </a:endParaRPr>
            </a:p>
          </p:txBody>
        </p:sp>
      </p:grpSp>
      <p:grpSp>
        <p:nvGrpSpPr>
          <p:cNvPr id="398" name="Group 560"/>
          <p:cNvGrpSpPr>
            <a:grpSpLocks/>
          </p:cNvGrpSpPr>
          <p:nvPr/>
        </p:nvGrpSpPr>
        <p:grpSpPr bwMode="auto">
          <a:xfrm>
            <a:off x="6259513" y="2286000"/>
            <a:ext cx="522287" cy="473075"/>
            <a:chOff x="3943" y="1574"/>
            <a:chExt cx="329" cy="298"/>
          </a:xfrm>
        </p:grpSpPr>
        <p:sp>
          <p:nvSpPr>
            <p:cNvPr id="399" name="Text Box 507"/>
            <p:cNvSpPr txBox="1">
              <a:spLocks noChangeArrowheads="1"/>
            </p:cNvSpPr>
            <p:nvPr/>
          </p:nvSpPr>
          <p:spPr bwMode="auto">
            <a:xfrm>
              <a:off x="3943" y="1574"/>
              <a:ext cx="329" cy="250"/>
            </a:xfrm>
            <a:prstGeom prst="rect">
              <a:avLst/>
            </a:prstGeom>
            <a:noFill/>
            <a:ln>
              <a:noFill/>
            </a:ln>
            <a:effectLst/>
            <a:extLst>
              <a:ext uri="{909E8E84-426E-40DD-AFC4-6F175D3DCCD1}">
                <a14:hiddenFill xmlns:a14="http://schemas.microsoft.com/office/drawing/2010/main">
                  <a:solidFill>
                    <a:srgbClr val="FCFF9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00000"/>
                </a:lnSpc>
              </a:pPr>
              <a:r>
                <a:rPr lang="en-US" sz="2000">
                  <a:solidFill>
                    <a:srgbClr val="000000"/>
                  </a:solidFill>
                  <a:latin typeface="Arial" pitchFamily="34" charset="0"/>
                </a:rPr>
                <a:t>rtn</a:t>
              </a:r>
            </a:p>
          </p:txBody>
        </p:sp>
        <p:sp>
          <p:nvSpPr>
            <p:cNvPr id="400" name="Line 509"/>
            <p:cNvSpPr>
              <a:spLocks noChangeShapeType="1"/>
            </p:cNvSpPr>
            <p:nvPr/>
          </p:nvSpPr>
          <p:spPr bwMode="auto">
            <a:xfrm flipV="1">
              <a:off x="3992" y="1779"/>
              <a:ext cx="54" cy="93"/>
            </a:xfrm>
            <a:prstGeom prst="line">
              <a:avLst/>
            </a:prstGeom>
            <a:noFill/>
            <a:ln w="28575">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endParaRPr lang="en-US" sz="2000">
                <a:solidFill>
                  <a:srgbClr val="000000"/>
                </a:solidFill>
                <a:latin typeface="Arial Narrow" pitchFamily="34" charset="0"/>
              </a:endParaRPr>
            </a:p>
          </p:txBody>
        </p:sp>
      </p:grpSp>
      <p:sp>
        <p:nvSpPr>
          <p:cNvPr id="401" name="Line 510"/>
          <p:cNvSpPr>
            <a:spLocks noChangeShapeType="1"/>
          </p:cNvSpPr>
          <p:nvPr/>
        </p:nvSpPr>
        <p:spPr bwMode="auto">
          <a:xfrm>
            <a:off x="5638800" y="2759075"/>
            <a:ext cx="0" cy="15240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402" name="Line 511"/>
          <p:cNvSpPr>
            <a:spLocks noChangeShapeType="1"/>
          </p:cNvSpPr>
          <p:nvPr/>
        </p:nvSpPr>
        <p:spPr bwMode="auto">
          <a:xfrm>
            <a:off x="6400800" y="2759075"/>
            <a:ext cx="0" cy="6858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grpSp>
        <p:nvGrpSpPr>
          <p:cNvPr id="403" name="Group 566"/>
          <p:cNvGrpSpPr>
            <a:grpSpLocks/>
          </p:cNvGrpSpPr>
          <p:nvPr/>
        </p:nvGrpSpPr>
        <p:grpSpPr bwMode="auto">
          <a:xfrm>
            <a:off x="7021513" y="3048000"/>
            <a:ext cx="522287" cy="473075"/>
            <a:chOff x="4423" y="2054"/>
            <a:chExt cx="329" cy="298"/>
          </a:xfrm>
        </p:grpSpPr>
        <p:sp>
          <p:nvSpPr>
            <p:cNvPr id="404" name="Text Box 512"/>
            <p:cNvSpPr txBox="1">
              <a:spLocks noChangeArrowheads="1"/>
            </p:cNvSpPr>
            <p:nvPr/>
          </p:nvSpPr>
          <p:spPr bwMode="auto">
            <a:xfrm>
              <a:off x="4423" y="2054"/>
              <a:ext cx="329" cy="250"/>
            </a:xfrm>
            <a:prstGeom prst="rect">
              <a:avLst/>
            </a:prstGeom>
            <a:noFill/>
            <a:ln>
              <a:noFill/>
            </a:ln>
            <a:effectLst/>
            <a:extLst>
              <a:ext uri="{909E8E84-426E-40DD-AFC4-6F175D3DCCD1}">
                <a14:hiddenFill xmlns:a14="http://schemas.microsoft.com/office/drawing/2010/main">
                  <a:solidFill>
                    <a:srgbClr val="FCFF9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00000"/>
                </a:lnSpc>
              </a:pPr>
              <a:r>
                <a:rPr lang="en-US" sz="2000">
                  <a:solidFill>
                    <a:srgbClr val="000000"/>
                  </a:solidFill>
                  <a:latin typeface="Arial" pitchFamily="34" charset="0"/>
                </a:rPr>
                <a:t>rtn</a:t>
              </a:r>
            </a:p>
          </p:txBody>
        </p:sp>
        <p:sp>
          <p:nvSpPr>
            <p:cNvPr id="405" name="Line 513"/>
            <p:cNvSpPr>
              <a:spLocks noChangeShapeType="1"/>
            </p:cNvSpPr>
            <p:nvPr/>
          </p:nvSpPr>
          <p:spPr bwMode="auto">
            <a:xfrm flipV="1">
              <a:off x="4472" y="2259"/>
              <a:ext cx="54" cy="93"/>
            </a:xfrm>
            <a:prstGeom prst="line">
              <a:avLst/>
            </a:prstGeom>
            <a:noFill/>
            <a:ln w="28575">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endParaRPr lang="en-US" sz="2000">
                <a:solidFill>
                  <a:srgbClr val="000000"/>
                </a:solidFill>
                <a:latin typeface="Arial Narrow" pitchFamily="34" charset="0"/>
              </a:endParaRPr>
            </a:p>
          </p:txBody>
        </p:sp>
      </p:grpSp>
      <p:sp>
        <p:nvSpPr>
          <p:cNvPr id="406" name="Text Box 514"/>
          <p:cNvSpPr txBox="1">
            <a:spLocks noChangeArrowheads="1"/>
          </p:cNvSpPr>
          <p:nvPr/>
        </p:nvSpPr>
        <p:spPr bwMode="auto">
          <a:xfrm>
            <a:off x="7783513" y="3810000"/>
            <a:ext cx="522287" cy="396875"/>
          </a:xfrm>
          <a:prstGeom prst="rect">
            <a:avLst/>
          </a:prstGeom>
          <a:noFill/>
          <a:ln>
            <a:noFill/>
          </a:ln>
          <a:effectLst/>
          <a:extLst>
            <a:ext uri="{909E8E84-426E-40DD-AFC4-6F175D3DCCD1}">
              <a14:hiddenFill xmlns:a14="http://schemas.microsoft.com/office/drawing/2010/main">
                <a:solidFill>
                  <a:srgbClr val="FCFF9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00000"/>
              </a:lnSpc>
            </a:pPr>
            <a:r>
              <a:rPr lang="en-US" sz="2000">
                <a:solidFill>
                  <a:srgbClr val="000000"/>
                </a:solidFill>
                <a:latin typeface="Arial" pitchFamily="34" charset="0"/>
              </a:rPr>
              <a:t>rtn</a:t>
            </a:r>
          </a:p>
        </p:txBody>
      </p:sp>
      <p:sp>
        <p:nvSpPr>
          <p:cNvPr id="407" name="Line 515"/>
          <p:cNvSpPr>
            <a:spLocks noChangeShapeType="1"/>
          </p:cNvSpPr>
          <p:nvPr/>
        </p:nvSpPr>
        <p:spPr bwMode="auto">
          <a:xfrm flipV="1">
            <a:off x="7861300" y="4135438"/>
            <a:ext cx="85725" cy="147637"/>
          </a:xfrm>
          <a:prstGeom prst="line">
            <a:avLst/>
          </a:prstGeom>
          <a:noFill/>
          <a:ln w="28575">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408" name="Line 516"/>
          <p:cNvSpPr>
            <a:spLocks noChangeShapeType="1"/>
          </p:cNvSpPr>
          <p:nvPr/>
        </p:nvSpPr>
        <p:spPr bwMode="auto">
          <a:xfrm>
            <a:off x="7162800" y="3597275"/>
            <a:ext cx="0" cy="6858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409" name="Line 517"/>
          <p:cNvSpPr>
            <a:spLocks noChangeShapeType="1"/>
          </p:cNvSpPr>
          <p:nvPr/>
        </p:nvSpPr>
        <p:spPr bwMode="auto">
          <a:xfrm>
            <a:off x="7924800" y="4283075"/>
            <a:ext cx="0" cy="15240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411" name="Rectangle 537"/>
          <p:cNvSpPr>
            <a:spLocks noChangeArrowheads="1"/>
          </p:cNvSpPr>
          <p:nvPr/>
        </p:nvSpPr>
        <p:spPr bwMode="auto">
          <a:xfrm>
            <a:off x="16764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412" name="Rectangle 538"/>
          <p:cNvSpPr>
            <a:spLocks noChangeArrowheads="1"/>
          </p:cNvSpPr>
          <p:nvPr/>
        </p:nvSpPr>
        <p:spPr bwMode="auto">
          <a:xfrm>
            <a:off x="15240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413" name="Rectangle 539"/>
          <p:cNvSpPr>
            <a:spLocks noChangeArrowheads="1"/>
          </p:cNvSpPr>
          <p:nvPr/>
        </p:nvSpPr>
        <p:spPr bwMode="auto">
          <a:xfrm>
            <a:off x="13716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414" name="Rectangle 540"/>
          <p:cNvSpPr>
            <a:spLocks noChangeArrowheads="1"/>
          </p:cNvSpPr>
          <p:nvPr/>
        </p:nvSpPr>
        <p:spPr bwMode="auto">
          <a:xfrm>
            <a:off x="1219200" y="5730875"/>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415" name="Rectangle 567"/>
          <p:cNvSpPr>
            <a:spLocks noChangeArrowheads="1"/>
          </p:cNvSpPr>
          <p:nvPr/>
        </p:nvSpPr>
        <p:spPr bwMode="auto">
          <a:xfrm>
            <a:off x="7924800" y="5735899"/>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416" name="Rectangle 568"/>
          <p:cNvSpPr>
            <a:spLocks noChangeArrowheads="1"/>
          </p:cNvSpPr>
          <p:nvPr/>
        </p:nvSpPr>
        <p:spPr bwMode="auto">
          <a:xfrm>
            <a:off x="80772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417" name="Rectangle 569"/>
          <p:cNvSpPr>
            <a:spLocks noChangeArrowheads="1"/>
          </p:cNvSpPr>
          <p:nvPr/>
        </p:nvSpPr>
        <p:spPr bwMode="auto">
          <a:xfrm>
            <a:off x="82296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418" name="Rectangle 570"/>
          <p:cNvSpPr>
            <a:spLocks noChangeArrowheads="1"/>
          </p:cNvSpPr>
          <p:nvPr/>
        </p:nvSpPr>
        <p:spPr bwMode="auto">
          <a:xfrm>
            <a:off x="83820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419" name="Rectangle 571"/>
          <p:cNvSpPr>
            <a:spLocks noChangeArrowheads="1"/>
          </p:cNvSpPr>
          <p:nvPr/>
        </p:nvSpPr>
        <p:spPr bwMode="auto">
          <a:xfrm>
            <a:off x="85344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420" name="Rectangle 572"/>
          <p:cNvSpPr>
            <a:spLocks noChangeArrowheads="1"/>
          </p:cNvSpPr>
          <p:nvPr/>
        </p:nvSpPr>
        <p:spPr bwMode="auto">
          <a:xfrm>
            <a:off x="8686800" y="5730875"/>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a:lnSpc>
                <a:spcPct val="100000"/>
              </a:lnSpc>
            </a:pPr>
            <a:endParaRPr lang="en-US" sz="2000">
              <a:solidFill>
                <a:srgbClr val="000000"/>
              </a:solidFill>
              <a:latin typeface="Arial Narrow" pitchFamily="34" charset="0"/>
            </a:endParaRPr>
          </a:p>
        </p:txBody>
      </p:sp>
      <p:sp>
        <p:nvSpPr>
          <p:cNvPr id="2" name="TextBox 1"/>
          <p:cNvSpPr txBox="1"/>
          <p:nvPr/>
        </p:nvSpPr>
        <p:spPr>
          <a:xfrm>
            <a:off x="1828800" y="6324600"/>
            <a:ext cx="5810052" cy="387798"/>
          </a:xfrm>
          <a:prstGeom prst="rect">
            <a:avLst/>
          </a:prstGeom>
          <a:solidFill>
            <a:schemeClr val="accent6">
              <a:lumMod val="20000"/>
              <a:lumOff val="80000"/>
            </a:schemeClr>
          </a:solidFill>
        </p:spPr>
        <p:txBody>
          <a:bodyPr wrap="none" rtlCol="0" anchor="ctr" anchorCtr="0">
            <a:spAutoFit/>
          </a:bodyPr>
          <a:lstStyle/>
          <a:p>
            <a:r>
              <a:rPr lang="en-US" dirty="0" smtClean="0">
                <a:solidFill>
                  <a:schemeClr val="dk1"/>
                </a:solidFill>
                <a:effectLst/>
                <a:latin typeface="Calibri" pitchFamily="34" charset="0"/>
                <a:cs typeface="Calibri" pitchFamily="34" charset="0"/>
              </a:rPr>
              <a:t>User SETs the priorities, BIOS executes them</a:t>
            </a:r>
          </a:p>
        </p:txBody>
      </p:sp>
      <p:pic>
        <p:nvPicPr>
          <p:cNvPr id="210"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grpSp>
        <p:nvGrpSpPr>
          <p:cNvPr id="4" name="Group 3"/>
          <p:cNvGrpSpPr/>
          <p:nvPr/>
        </p:nvGrpSpPr>
        <p:grpSpPr>
          <a:xfrm>
            <a:off x="7900179" y="2514608"/>
            <a:ext cx="1067614" cy="913309"/>
            <a:chOff x="7900179" y="2514608"/>
            <a:chExt cx="1067614" cy="913309"/>
          </a:xfrm>
        </p:grpSpPr>
        <p:sp>
          <p:nvSpPr>
            <p:cNvPr id="211" name="Rectangle 221"/>
            <p:cNvSpPr>
              <a:spLocks noChangeArrowheads="1"/>
            </p:cNvSpPr>
            <p:nvPr/>
          </p:nvSpPr>
          <p:spPr bwMode="auto">
            <a:xfrm>
              <a:off x="7900179" y="2881319"/>
              <a:ext cx="152400" cy="152400"/>
            </a:xfrm>
            <a:prstGeom prst="rect">
              <a:avLst/>
            </a:prstGeom>
            <a:solidFill>
              <a:schemeClr val="accent4">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12" name="Rectangle 221"/>
            <p:cNvSpPr>
              <a:spLocks noChangeArrowheads="1"/>
            </p:cNvSpPr>
            <p:nvPr/>
          </p:nvSpPr>
          <p:spPr bwMode="auto">
            <a:xfrm>
              <a:off x="7900179" y="2576519"/>
              <a:ext cx="152400" cy="152400"/>
            </a:xfrm>
            <a:prstGeom prst="rect">
              <a:avLst/>
            </a:prstGeom>
            <a:solidFill>
              <a:schemeClr val="accent5">
                <a:lumMod val="60000"/>
                <a:lumOff val="4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213" name="Rectangle 221"/>
            <p:cNvSpPr>
              <a:spLocks noChangeArrowheads="1"/>
            </p:cNvSpPr>
            <p:nvPr/>
          </p:nvSpPr>
          <p:spPr bwMode="auto">
            <a:xfrm>
              <a:off x="7900179" y="3186119"/>
              <a:ext cx="152400" cy="152400"/>
            </a:xfrm>
            <a:prstGeom prst="rect">
              <a:avLst/>
            </a:prstGeom>
            <a:solidFill>
              <a:schemeClr val="accent5">
                <a:lumMod val="20000"/>
                <a:lumOff val="80000"/>
              </a:schemeClr>
            </a:solidFill>
            <a:ln w="9525">
              <a:solidFill>
                <a:srgbClr val="000000"/>
              </a:solidFill>
              <a:miter lim="800000"/>
              <a:headEnd/>
              <a:tailEnd/>
            </a:ln>
            <a:effectLs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Narrow" pitchFamily="34" charset="0"/>
              </a:endParaRPr>
            </a:p>
          </p:txBody>
        </p:sp>
        <p:sp>
          <p:nvSpPr>
            <p:cNvPr id="3" name="TextBox 2"/>
            <p:cNvSpPr txBox="1"/>
            <p:nvPr/>
          </p:nvSpPr>
          <p:spPr>
            <a:xfrm>
              <a:off x="8095438" y="2514608"/>
              <a:ext cx="749949" cy="294183"/>
            </a:xfrm>
            <a:prstGeom prst="rect">
              <a:avLst/>
            </a:prstGeom>
            <a:noFill/>
          </p:spPr>
          <p:txBody>
            <a:bodyPr wrap="none" rtlCol="0" anchor="ctr" anchorCtr="0">
              <a:spAutoFit/>
            </a:bodyPr>
            <a:lstStyle/>
            <a:p>
              <a:r>
                <a:rPr lang="en-US" sz="1600" b="0" i="1" smtClean="0">
                  <a:solidFill>
                    <a:schemeClr val="dk1"/>
                  </a:solidFill>
                  <a:effectLst/>
                  <a:latin typeface="Calibri" pitchFamily="34" charset="0"/>
                  <a:cs typeface="Calibri" pitchFamily="34" charset="0"/>
                </a:rPr>
                <a:t>Posted</a:t>
              </a:r>
              <a:endParaRPr lang="en-US" sz="1600" b="0" i="1" dirty="0" smtClean="0">
                <a:solidFill>
                  <a:schemeClr val="dk1"/>
                </a:solidFill>
                <a:effectLst/>
                <a:latin typeface="Calibri" pitchFamily="34" charset="0"/>
                <a:cs typeface="Calibri" pitchFamily="34" charset="0"/>
              </a:endParaRPr>
            </a:p>
          </p:txBody>
        </p:sp>
        <p:sp>
          <p:nvSpPr>
            <p:cNvPr id="215" name="TextBox 214"/>
            <p:cNvSpPr txBox="1"/>
            <p:nvPr/>
          </p:nvSpPr>
          <p:spPr>
            <a:xfrm>
              <a:off x="8095438" y="2825262"/>
              <a:ext cx="872355" cy="294183"/>
            </a:xfrm>
            <a:prstGeom prst="rect">
              <a:avLst/>
            </a:prstGeom>
            <a:noFill/>
          </p:spPr>
          <p:txBody>
            <a:bodyPr wrap="none" rtlCol="0" anchor="ctr" anchorCtr="0">
              <a:spAutoFit/>
            </a:bodyPr>
            <a:lstStyle/>
            <a:p>
              <a:r>
                <a:rPr lang="en-US" sz="1600" b="0" i="1" smtClean="0">
                  <a:solidFill>
                    <a:schemeClr val="dk1"/>
                  </a:solidFill>
                  <a:effectLst/>
                  <a:latin typeface="Calibri" pitchFamily="34" charset="0"/>
                  <a:cs typeface="Calibri" pitchFamily="34" charset="0"/>
                </a:rPr>
                <a:t>Running</a:t>
              </a:r>
              <a:endParaRPr lang="en-US" sz="1600" b="0" i="1" dirty="0" smtClean="0">
                <a:solidFill>
                  <a:schemeClr val="dk1"/>
                </a:solidFill>
                <a:effectLst/>
                <a:latin typeface="Calibri" pitchFamily="34" charset="0"/>
                <a:cs typeface="Calibri" pitchFamily="34" charset="0"/>
              </a:endParaRPr>
            </a:p>
          </p:txBody>
        </p:sp>
        <p:sp>
          <p:nvSpPr>
            <p:cNvPr id="216" name="TextBox 215"/>
            <p:cNvSpPr txBox="1"/>
            <p:nvPr/>
          </p:nvSpPr>
          <p:spPr>
            <a:xfrm>
              <a:off x="8095438" y="3133734"/>
              <a:ext cx="694036" cy="294183"/>
            </a:xfrm>
            <a:prstGeom prst="rect">
              <a:avLst/>
            </a:prstGeom>
            <a:noFill/>
          </p:spPr>
          <p:txBody>
            <a:bodyPr wrap="none" rtlCol="0" anchor="ctr" anchorCtr="0">
              <a:spAutoFit/>
            </a:bodyPr>
            <a:lstStyle/>
            <a:p>
              <a:r>
                <a:rPr lang="en-US" sz="1600" b="0" i="1" smtClean="0">
                  <a:solidFill>
                    <a:schemeClr val="dk1"/>
                  </a:solidFill>
                  <a:effectLst/>
                  <a:latin typeface="Calibri" pitchFamily="34" charset="0"/>
                  <a:cs typeface="Calibri" pitchFamily="34" charset="0"/>
                </a:rPr>
                <a:t>Ready</a:t>
              </a:r>
              <a:endParaRPr lang="en-US" sz="1600" b="0" i="1" dirty="0" smtClean="0">
                <a:solidFill>
                  <a:schemeClr val="dk1"/>
                </a:solidFill>
                <a:effectLst/>
                <a:latin typeface="Calibri" pitchFamily="34" charset="0"/>
                <a:cs typeface="Calibri" pitchFamily="34" charset="0"/>
              </a:endParaRPr>
            </a:p>
          </p:txBody>
        </p:sp>
      </p:grpSp>
    </p:spTree>
    <p:custDataLst>
      <p:tags r:id="rId1"/>
    </p:custDataLst>
    <p:extLst>
      <p:ext uri="{BB962C8B-B14F-4D97-AF65-F5344CB8AC3E}">
        <p14:creationId xmlns:p14="http://schemas.microsoft.com/office/powerpoint/2010/main" val="36523652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72"/>
                                        </p:tgtEl>
                                        <p:attrNameLst>
                                          <p:attrName>style.visibility</p:attrName>
                                        </p:attrNameLst>
                                      </p:cBhvr>
                                      <p:to>
                                        <p:strVal val="visible"/>
                                      </p:to>
                                    </p:set>
                                    <p:animEffect transition="in" filter="dissolve">
                                      <p:cBhvr>
                                        <p:cTn id="7" dur="500"/>
                                        <p:tgtEl>
                                          <p:spTgt spid="3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2"/>
                                        </p:tgtEl>
                                        <p:attrNameLst>
                                          <p:attrName>style.visibility</p:attrName>
                                        </p:attrNameLst>
                                      </p:cBhvr>
                                      <p:to>
                                        <p:strVal val="visible"/>
                                      </p:to>
                                    </p:set>
                                    <p:animEffect transition="in" filter="wipe(left)">
                                      <p:cBhvr>
                                        <p:cTn id="12" dur="500"/>
                                        <p:tgtEl>
                                          <p:spTgt spid="222"/>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18"/>
                                        </p:tgtEl>
                                        <p:attrNameLst>
                                          <p:attrName>style.visibility</p:attrName>
                                        </p:attrNameLst>
                                      </p:cBhvr>
                                      <p:to>
                                        <p:strVal val="visible"/>
                                      </p:to>
                                    </p:set>
                                    <p:animEffect transition="in" filter="wipe(left)">
                                      <p:cBhvr>
                                        <p:cTn id="16" dur="500"/>
                                        <p:tgtEl>
                                          <p:spTgt spid="218"/>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219"/>
                                        </p:tgtEl>
                                        <p:attrNameLst>
                                          <p:attrName>style.visibility</p:attrName>
                                        </p:attrNameLst>
                                      </p:cBhvr>
                                      <p:to>
                                        <p:strVal val="visible"/>
                                      </p:to>
                                    </p:set>
                                    <p:animEffect transition="in" filter="wipe(left)">
                                      <p:cBhvr>
                                        <p:cTn id="20" dur="500"/>
                                        <p:tgtEl>
                                          <p:spTgt spid="219"/>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220"/>
                                        </p:tgtEl>
                                        <p:attrNameLst>
                                          <p:attrName>style.visibility</p:attrName>
                                        </p:attrNameLst>
                                      </p:cBhvr>
                                      <p:to>
                                        <p:strVal val="visible"/>
                                      </p:to>
                                    </p:set>
                                    <p:animEffect transition="in" filter="wipe(left)">
                                      <p:cBhvr>
                                        <p:cTn id="24" dur="500"/>
                                        <p:tgtEl>
                                          <p:spTgt spid="220"/>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221"/>
                                        </p:tgtEl>
                                        <p:attrNameLst>
                                          <p:attrName>style.visibility</p:attrName>
                                        </p:attrNameLst>
                                      </p:cBhvr>
                                      <p:to>
                                        <p:strVal val="visible"/>
                                      </p:to>
                                    </p:set>
                                    <p:animEffect transition="in" filter="wipe(left)">
                                      <p:cBhvr>
                                        <p:cTn id="28" dur="500"/>
                                        <p:tgtEl>
                                          <p:spTgt spid="221"/>
                                        </p:tgtEl>
                                      </p:cBhvr>
                                    </p:animEffect>
                                  </p:childTnLst>
                                </p:cTn>
                              </p:par>
                            </p:childTnLst>
                          </p:cTn>
                        </p:par>
                        <p:par>
                          <p:cTn id="29" fill="hold">
                            <p:stCondLst>
                              <p:cond delay="2500"/>
                            </p:stCondLst>
                            <p:childTnLst>
                              <p:par>
                                <p:cTn id="30" presetID="9" presetClass="entr" presetSubtype="0" fill="hold" nodeType="afterEffect">
                                  <p:stCondLst>
                                    <p:cond delay="0"/>
                                  </p:stCondLst>
                                  <p:childTnLst>
                                    <p:set>
                                      <p:cBhvr>
                                        <p:cTn id="31" dur="1" fill="hold">
                                          <p:stCondLst>
                                            <p:cond delay="0"/>
                                          </p:stCondLst>
                                        </p:cTn>
                                        <p:tgtEl>
                                          <p:spTgt spid="369"/>
                                        </p:tgtEl>
                                        <p:attrNameLst>
                                          <p:attrName>style.visibility</p:attrName>
                                        </p:attrNameLst>
                                      </p:cBhvr>
                                      <p:to>
                                        <p:strVal val="visible"/>
                                      </p:to>
                                    </p:set>
                                    <p:animEffect transition="in" filter="dissolve">
                                      <p:cBhvr>
                                        <p:cTn id="32" dur="500"/>
                                        <p:tgtEl>
                                          <p:spTgt spid="36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25"/>
                                        </p:tgtEl>
                                        <p:attrNameLst>
                                          <p:attrName>style.visibility</p:attrName>
                                        </p:attrNameLst>
                                      </p:cBhvr>
                                      <p:to>
                                        <p:strVal val="visible"/>
                                      </p:to>
                                    </p:set>
                                    <p:animEffect transition="in" filter="dissolve">
                                      <p:cBhvr>
                                        <p:cTn id="37" dur="500"/>
                                        <p:tgtEl>
                                          <p:spTgt spid="225"/>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290"/>
                                        </p:tgtEl>
                                        <p:attrNameLst>
                                          <p:attrName>style.visibility</p:attrName>
                                        </p:attrNameLst>
                                      </p:cBhvr>
                                      <p:to>
                                        <p:strVal val="visible"/>
                                      </p:to>
                                    </p:set>
                                    <p:animEffect transition="in" filter="wipe(left)">
                                      <p:cBhvr>
                                        <p:cTn id="41" dur="500"/>
                                        <p:tgtEl>
                                          <p:spTgt spid="290"/>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291"/>
                                        </p:tgtEl>
                                        <p:attrNameLst>
                                          <p:attrName>style.visibility</p:attrName>
                                        </p:attrNameLst>
                                      </p:cBhvr>
                                      <p:to>
                                        <p:strVal val="visible"/>
                                      </p:to>
                                    </p:set>
                                    <p:animEffect transition="in" filter="wipe(left)">
                                      <p:cBhvr>
                                        <p:cTn id="45" dur="500"/>
                                        <p:tgtEl>
                                          <p:spTgt spid="291"/>
                                        </p:tgtEl>
                                      </p:cBhvr>
                                    </p:animEffect>
                                  </p:childTnLst>
                                </p:cTn>
                              </p:par>
                            </p:childTnLst>
                          </p:cTn>
                        </p:par>
                        <p:par>
                          <p:cTn id="46" fill="hold">
                            <p:stCondLst>
                              <p:cond delay="1500"/>
                            </p:stCondLst>
                            <p:childTnLst>
                              <p:par>
                                <p:cTn id="47" presetID="22" presetClass="entr" presetSubtype="8" fill="hold" grpId="0" nodeType="afterEffect">
                                  <p:stCondLst>
                                    <p:cond delay="0"/>
                                  </p:stCondLst>
                                  <p:childTnLst>
                                    <p:set>
                                      <p:cBhvr>
                                        <p:cTn id="48" dur="1" fill="hold">
                                          <p:stCondLst>
                                            <p:cond delay="0"/>
                                          </p:stCondLst>
                                        </p:cTn>
                                        <p:tgtEl>
                                          <p:spTgt spid="292"/>
                                        </p:tgtEl>
                                        <p:attrNameLst>
                                          <p:attrName>style.visibility</p:attrName>
                                        </p:attrNameLst>
                                      </p:cBhvr>
                                      <p:to>
                                        <p:strVal val="visible"/>
                                      </p:to>
                                    </p:set>
                                    <p:animEffect transition="in" filter="wipe(left)">
                                      <p:cBhvr>
                                        <p:cTn id="49" dur="500"/>
                                        <p:tgtEl>
                                          <p:spTgt spid="292"/>
                                        </p:tgtEl>
                                      </p:cBhvr>
                                    </p:animEffect>
                                  </p:childTnLst>
                                </p:cTn>
                              </p:par>
                            </p:childTnLst>
                          </p:cTn>
                        </p:par>
                        <p:par>
                          <p:cTn id="50" fill="hold">
                            <p:stCondLst>
                              <p:cond delay="2000"/>
                            </p:stCondLst>
                            <p:childTnLst>
                              <p:par>
                                <p:cTn id="51" presetID="9" presetClass="entr" presetSubtype="0" fill="hold" nodeType="afterEffect">
                                  <p:stCondLst>
                                    <p:cond delay="0"/>
                                  </p:stCondLst>
                                  <p:childTnLst>
                                    <p:set>
                                      <p:cBhvr>
                                        <p:cTn id="52" dur="1" fill="hold">
                                          <p:stCondLst>
                                            <p:cond delay="0"/>
                                          </p:stCondLst>
                                        </p:cTn>
                                        <p:tgtEl>
                                          <p:spTgt spid="375"/>
                                        </p:tgtEl>
                                        <p:attrNameLst>
                                          <p:attrName>style.visibility</p:attrName>
                                        </p:attrNameLst>
                                      </p:cBhvr>
                                      <p:to>
                                        <p:strVal val="visible"/>
                                      </p:to>
                                    </p:set>
                                    <p:animEffect transition="in" filter="dissolve">
                                      <p:cBhvr>
                                        <p:cTn id="53" dur="500"/>
                                        <p:tgtEl>
                                          <p:spTgt spid="375"/>
                                        </p:tgtEl>
                                      </p:cBhvr>
                                    </p:animEffect>
                                  </p:childTnLst>
                                </p:cTn>
                              </p:par>
                            </p:childTnLst>
                          </p:cTn>
                        </p:par>
                        <p:par>
                          <p:cTn id="54" fill="hold">
                            <p:stCondLst>
                              <p:cond delay="2500"/>
                            </p:stCondLst>
                            <p:childTnLst>
                              <p:par>
                                <p:cTn id="55" presetID="9" presetClass="entr" presetSubtype="0" fill="hold" grpId="0" nodeType="afterEffect">
                                  <p:stCondLst>
                                    <p:cond delay="0"/>
                                  </p:stCondLst>
                                  <p:childTnLst>
                                    <p:set>
                                      <p:cBhvr>
                                        <p:cTn id="56" dur="1" fill="hold">
                                          <p:stCondLst>
                                            <p:cond delay="0"/>
                                          </p:stCondLst>
                                        </p:cTn>
                                        <p:tgtEl>
                                          <p:spTgt spid="228"/>
                                        </p:tgtEl>
                                        <p:attrNameLst>
                                          <p:attrName>style.visibility</p:attrName>
                                        </p:attrNameLst>
                                      </p:cBhvr>
                                      <p:to>
                                        <p:strVal val="visible"/>
                                      </p:to>
                                    </p:set>
                                    <p:animEffect transition="in" filter="dissolve">
                                      <p:cBhvr>
                                        <p:cTn id="57" dur="500"/>
                                        <p:tgtEl>
                                          <p:spTgt spid="228"/>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381"/>
                                        </p:tgtEl>
                                        <p:attrNameLst>
                                          <p:attrName>style.visibility</p:attrName>
                                        </p:attrNameLst>
                                      </p:cBhvr>
                                      <p:to>
                                        <p:strVal val="visible"/>
                                      </p:to>
                                    </p:set>
                                    <p:animEffect transition="in" filter="dissolve">
                                      <p:cBhvr>
                                        <p:cTn id="62" dur="500"/>
                                        <p:tgtEl>
                                          <p:spTgt spid="38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93"/>
                                        </p:tgtEl>
                                        <p:attrNameLst>
                                          <p:attrName>style.visibility</p:attrName>
                                        </p:attrNameLst>
                                      </p:cBhvr>
                                      <p:to>
                                        <p:strVal val="visible"/>
                                      </p:to>
                                    </p:set>
                                    <p:animEffect transition="in" filter="wipe(left)">
                                      <p:cBhvr>
                                        <p:cTn id="67" dur="500"/>
                                        <p:tgtEl>
                                          <p:spTgt spid="293"/>
                                        </p:tgtEl>
                                      </p:cBhvr>
                                    </p:animEffect>
                                  </p:childTnLst>
                                </p:cTn>
                              </p:par>
                            </p:childTnLst>
                          </p:cTn>
                        </p:par>
                        <p:par>
                          <p:cTn id="68" fill="hold">
                            <p:stCondLst>
                              <p:cond delay="500"/>
                            </p:stCondLst>
                            <p:childTnLst>
                              <p:par>
                                <p:cTn id="69" presetID="22" presetClass="entr" presetSubtype="8" fill="hold" nodeType="afterEffect">
                                  <p:stCondLst>
                                    <p:cond delay="0"/>
                                  </p:stCondLst>
                                  <p:childTnLst>
                                    <p:set>
                                      <p:cBhvr>
                                        <p:cTn id="70" dur="1" fill="hold">
                                          <p:stCondLst>
                                            <p:cond delay="0"/>
                                          </p:stCondLst>
                                        </p:cTn>
                                        <p:tgtEl>
                                          <p:spTgt spid="296"/>
                                        </p:tgtEl>
                                        <p:attrNameLst>
                                          <p:attrName>style.visibility</p:attrName>
                                        </p:attrNameLst>
                                      </p:cBhvr>
                                      <p:to>
                                        <p:strVal val="visible"/>
                                      </p:to>
                                    </p:set>
                                    <p:animEffect transition="in" filter="wipe(left)">
                                      <p:cBhvr>
                                        <p:cTn id="71" dur="500"/>
                                        <p:tgtEl>
                                          <p:spTgt spid="296"/>
                                        </p:tgtEl>
                                      </p:cBhvr>
                                    </p:animEffect>
                                  </p:childTnLst>
                                </p:cTn>
                              </p:par>
                            </p:childTnLst>
                          </p:cTn>
                        </p:par>
                        <p:par>
                          <p:cTn id="72" fill="hold">
                            <p:stCondLst>
                              <p:cond delay="1000"/>
                            </p:stCondLst>
                            <p:childTnLst>
                              <p:par>
                                <p:cTn id="73" presetID="22" presetClass="entr" presetSubtype="8" fill="hold" nodeType="afterEffect">
                                  <p:stCondLst>
                                    <p:cond delay="0"/>
                                  </p:stCondLst>
                                  <p:childTnLst>
                                    <p:set>
                                      <p:cBhvr>
                                        <p:cTn id="74" dur="1" fill="hold">
                                          <p:stCondLst>
                                            <p:cond delay="0"/>
                                          </p:stCondLst>
                                        </p:cTn>
                                        <p:tgtEl>
                                          <p:spTgt spid="299"/>
                                        </p:tgtEl>
                                        <p:attrNameLst>
                                          <p:attrName>style.visibility</p:attrName>
                                        </p:attrNameLst>
                                      </p:cBhvr>
                                      <p:to>
                                        <p:strVal val="visible"/>
                                      </p:to>
                                    </p:set>
                                    <p:animEffect transition="in" filter="wipe(left)">
                                      <p:cBhvr>
                                        <p:cTn id="75" dur="500"/>
                                        <p:tgtEl>
                                          <p:spTgt spid="299"/>
                                        </p:tgtEl>
                                      </p:cBhvr>
                                    </p:animEffect>
                                  </p:childTnLst>
                                </p:cTn>
                              </p:par>
                            </p:childTnLst>
                          </p:cTn>
                        </p:par>
                        <p:par>
                          <p:cTn id="76" fill="hold">
                            <p:stCondLst>
                              <p:cond delay="1500"/>
                            </p:stCondLst>
                            <p:childTnLst>
                              <p:par>
                                <p:cTn id="77" presetID="9" presetClass="entr" presetSubtype="0" fill="hold" nodeType="afterEffect">
                                  <p:stCondLst>
                                    <p:cond delay="0"/>
                                  </p:stCondLst>
                                  <p:childTnLst>
                                    <p:set>
                                      <p:cBhvr>
                                        <p:cTn id="78" dur="1" fill="hold">
                                          <p:stCondLst>
                                            <p:cond delay="0"/>
                                          </p:stCondLst>
                                        </p:cTn>
                                        <p:tgtEl>
                                          <p:spTgt spid="378"/>
                                        </p:tgtEl>
                                        <p:attrNameLst>
                                          <p:attrName>style.visibility</p:attrName>
                                        </p:attrNameLst>
                                      </p:cBhvr>
                                      <p:to>
                                        <p:strVal val="visible"/>
                                      </p:to>
                                    </p:set>
                                    <p:animEffect transition="in" filter="dissolve">
                                      <p:cBhvr>
                                        <p:cTn id="79" dur="500"/>
                                        <p:tgtEl>
                                          <p:spTgt spid="378"/>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382"/>
                                        </p:tgtEl>
                                        <p:attrNameLst>
                                          <p:attrName>style.visibility</p:attrName>
                                        </p:attrNameLst>
                                      </p:cBhvr>
                                      <p:to>
                                        <p:strVal val="visible"/>
                                      </p:to>
                                    </p:set>
                                    <p:animEffect transition="in" filter="dissolve">
                                      <p:cBhvr>
                                        <p:cTn id="84" dur="500"/>
                                        <p:tgtEl>
                                          <p:spTgt spid="382"/>
                                        </p:tgtEl>
                                      </p:cBhvr>
                                    </p:animEffect>
                                  </p:childTnLst>
                                </p:cTn>
                              </p:par>
                            </p:childTnLst>
                          </p:cTn>
                        </p:par>
                        <p:par>
                          <p:cTn id="85" fill="hold">
                            <p:stCondLst>
                              <p:cond delay="500"/>
                            </p:stCondLst>
                            <p:childTnLst>
                              <p:par>
                                <p:cTn id="86" presetID="22" presetClass="entr" presetSubtype="8" fill="hold" grpId="0" nodeType="afterEffect">
                                  <p:stCondLst>
                                    <p:cond delay="0"/>
                                  </p:stCondLst>
                                  <p:childTnLst>
                                    <p:set>
                                      <p:cBhvr>
                                        <p:cTn id="87" dur="1" fill="hold">
                                          <p:stCondLst>
                                            <p:cond delay="0"/>
                                          </p:stCondLst>
                                        </p:cTn>
                                        <p:tgtEl>
                                          <p:spTgt spid="235"/>
                                        </p:tgtEl>
                                        <p:attrNameLst>
                                          <p:attrName>style.visibility</p:attrName>
                                        </p:attrNameLst>
                                      </p:cBhvr>
                                      <p:to>
                                        <p:strVal val="visible"/>
                                      </p:to>
                                    </p:set>
                                    <p:animEffect transition="in" filter="wipe(left)">
                                      <p:cBhvr>
                                        <p:cTn id="88" dur="500"/>
                                        <p:tgtEl>
                                          <p:spTgt spid="235"/>
                                        </p:tgtEl>
                                      </p:cBhvr>
                                    </p:animEffect>
                                  </p:childTnLst>
                                </p:cTn>
                              </p:par>
                            </p:childTnLst>
                          </p:cTn>
                        </p:par>
                        <p:par>
                          <p:cTn id="89" fill="hold">
                            <p:stCondLst>
                              <p:cond delay="1000"/>
                            </p:stCondLst>
                            <p:childTnLst>
                              <p:par>
                                <p:cTn id="90" presetID="22" presetClass="entr" presetSubtype="8" fill="hold" grpId="0" nodeType="afterEffect">
                                  <p:stCondLst>
                                    <p:cond delay="0"/>
                                  </p:stCondLst>
                                  <p:childTnLst>
                                    <p:set>
                                      <p:cBhvr>
                                        <p:cTn id="91" dur="1" fill="hold">
                                          <p:stCondLst>
                                            <p:cond delay="0"/>
                                          </p:stCondLst>
                                        </p:cTn>
                                        <p:tgtEl>
                                          <p:spTgt spid="236"/>
                                        </p:tgtEl>
                                        <p:attrNameLst>
                                          <p:attrName>style.visibility</p:attrName>
                                        </p:attrNameLst>
                                      </p:cBhvr>
                                      <p:to>
                                        <p:strVal val="visible"/>
                                      </p:to>
                                    </p:set>
                                    <p:animEffect transition="in" filter="wipe(left)">
                                      <p:cBhvr>
                                        <p:cTn id="92" dur="500"/>
                                        <p:tgtEl>
                                          <p:spTgt spid="236"/>
                                        </p:tgtEl>
                                      </p:cBhvr>
                                    </p:animEffect>
                                  </p:childTnLst>
                                </p:cTn>
                              </p:par>
                            </p:childTnLst>
                          </p:cTn>
                        </p:par>
                        <p:par>
                          <p:cTn id="93" fill="hold">
                            <p:stCondLst>
                              <p:cond delay="1500"/>
                            </p:stCondLst>
                            <p:childTnLst>
                              <p:par>
                                <p:cTn id="94" presetID="22" presetClass="entr" presetSubtype="8" fill="hold" grpId="0" nodeType="afterEffect">
                                  <p:stCondLst>
                                    <p:cond delay="0"/>
                                  </p:stCondLst>
                                  <p:childTnLst>
                                    <p:set>
                                      <p:cBhvr>
                                        <p:cTn id="95" dur="1" fill="hold">
                                          <p:stCondLst>
                                            <p:cond delay="0"/>
                                          </p:stCondLst>
                                        </p:cTn>
                                        <p:tgtEl>
                                          <p:spTgt spid="237"/>
                                        </p:tgtEl>
                                        <p:attrNameLst>
                                          <p:attrName>style.visibility</p:attrName>
                                        </p:attrNameLst>
                                      </p:cBhvr>
                                      <p:to>
                                        <p:strVal val="visible"/>
                                      </p:to>
                                    </p:set>
                                    <p:animEffect transition="in" filter="wipe(left)">
                                      <p:cBhvr>
                                        <p:cTn id="96" dur="500"/>
                                        <p:tgtEl>
                                          <p:spTgt spid="237"/>
                                        </p:tgtEl>
                                      </p:cBhvr>
                                    </p:animEffect>
                                  </p:childTnLst>
                                </p:cTn>
                              </p:par>
                            </p:childTnLst>
                          </p:cTn>
                        </p:par>
                        <p:par>
                          <p:cTn id="97" fill="hold">
                            <p:stCondLst>
                              <p:cond delay="2000"/>
                            </p:stCondLst>
                            <p:childTnLst>
                              <p:par>
                                <p:cTn id="98" presetID="22" presetClass="entr" presetSubtype="8" fill="hold" grpId="0" nodeType="afterEffect">
                                  <p:stCondLst>
                                    <p:cond delay="0"/>
                                  </p:stCondLst>
                                  <p:childTnLst>
                                    <p:set>
                                      <p:cBhvr>
                                        <p:cTn id="99" dur="1" fill="hold">
                                          <p:stCondLst>
                                            <p:cond delay="0"/>
                                          </p:stCondLst>
                                        </p:cTn>
                                        <p:tgtEl>
                                          <p:spTgt spid="238"/>
                                        </p:tgtEl>
                                        <p:attrNameLst>
                                          <p:attrName>style.visibility</p:attrName>
                                        </p:attrNameLst>
                                      </p:cBhvr>
                                      <p:to>
                                        <p:strVal val="visible"/>
                                      </p:to>
                                    </p:set>
                                    <p:animEffect transition="in" filter="wipe(left)">
                                      <p:cBhvr>
                                        <p:cTn id="100" dur="500"/>
                                        <p:tgtEl>
                                          <p:spTgt spid="238"/>
                                        </p:tgtEl>
                                      </p:cBhvr>
                                    </p:animEffect>
                                  </p:childTnLst>
                                </p:cTn>
                              </p:par>
                            </p:childTnLst>
                          </p:cTn>
                        </p:par>
                        <p:par>
                          <p:cTn id="101" fill="hold">
                            <p:stCondLst>
                              <p:cond delay="2500"/>
                            </p:stCondLst>
                            <p:childTnLst>
                              <p:par>
                                <p:cTn id="102" presetID="22" presetClass="entr" presetSubtype="8" fill="hold" grpId="0" nodeType="afterEffect">
                                  <p:stCondLst>
                                    <p:cond delay="0"/>
                                  </p:stCondLst>
                                  <p:childTnLst>
                                    <p:set>
                                      <p:cBhvr>
                                        <p:cTn id="103" dur="1" fill="hold">
                                          <p:stCondLst>
                                            <p:cond delay="0"/>
                                          </p:stCondLst>
                                        </p:cTn>
                                        <p:tgtEl>
                                          <p:spTgt spid="239"/>
                                        </p:tgtEl>
                                        <p:attrNameLst>
                                          <p:attrName>style.visibility</p:attrName>
                                        </p:attrNameLst>
                                      </p:cBhvr>
                                      <p:to>
                                        <p:strVal val="visible"/>
                                      </p:to>
                                    </p:set>
                                    <p:animEffect transition="in" filter="wipe(left)">
                                      <p:cBhvr>
                                        <p:cTn id="104" dur="500"/>
                                        <p:tgtEl>
                                          <p:spTgt spid="239"/>
                                        </p:tgtEl>
                                      </p:cBhvr>
                                    </p:animEffect>
                                  </p:childTnLst>
                                </p:cTn>
                              </p:par>
                            </p:childTnLst>
                          </p:cTn>
                        </p:par>
                        <p:par>
                          <p:cTn id="105" fill="hold">
                            <p:stCondLst>
                              <p:cond delay="3000"/>
                            </p:stCondLst>
                            <p:childTnLst>
                              <p:par>
                                <p:cTn id="106" presetID="22" presetClass="entr" presetSubtype="8" fill="hold" grpId="0" nodeType="afterEffect">
                                  <p:stCondLst>
                                    <p:cond delay="0"/>
                                  </p:stCondLst>
                                  <p:childTnLst>
                                    <p:set>
                                      <p:cBhvr>
                                        <p:cTn id="107" dur="1" fill="hold">
                                          <p:stCondLst>
                                            <p:cond delay="0"/>
                                          </p:stCondLst>
                                        </p:cTn>
                                        <p:tgtEl>
                                          <p:spTgt spid="240"/>
                                        </p:tgtEl>
                                        <p:attrNameLst>
                                          <p:attrName>style.visibility</p:attrName>
                                        </p:attrNameLst>
                                      </p:cBhvr>
                                      <p:to>
                                        <p:strVal val="visible"/>
                                      </p:to>
                                    </p:set>
                                    <p:animEffect transition="in" filter="wipe(left)">
                                      <p:cBhvr>
                                        <p:cTn id="108" dur="500"/>
                                        <p:tgtEl>
                                          <p:spTgt spid="240"/>
                                        </p:tgtEl>
                                      </p:cBhvr>
                                    </p:animEffect>
                                  </p:childTnLst>
                                </p:cTn>
                              </p:par>
                            </p:childTnLst>
                          </p:cTn>
                        </p:par>
                        <p:par>
                          <p:cTn id="109" fill="hold">
                            <p:stCondLst>
                              <p:cond delay="3500"/>
                            </p:stCondLst>
                            <p:childTnLst>
                              <p:par>
                                <p:cTn id="110" presetID="22" presetClass="entr" presetSubtype="8" fill="hold" grpId="0" nodeType="afterEffect">
                                  <p:stCondLst>
                                    <p:cond delay="0"/>
                                  </p:stCondLst>
                                  <p:childTnLst>
                                    <p:set>
                                      <p:cBhvr>
                                        <p:cTn id="111" dur="1" fill="hold">
                                          <p:stCondLst>
                                            <p:cond delay="0"/>
                                          </p:stCondLst>
                                        </p:cTn>
                                        <p:tgtEl>
                                          <p:spTgt spid="241"/>
                                        </p:tgtEl>
                                        <p:attrNameLst>
                                          <p:attrName>style.visibility</p:attrName>
                                        </p:attrNameLst>
                                      </p:cBhvr>
                                      <p:to>
                                        <p:strVal val="visible"/>
                                      </p:to>
                                    </p:set>
                                    <p:animEffect transition="in" filter="wipe(left)">
                                      <p:cBhvr>
                                        <p:cTn id="112" dur="500"/>
                                        <p:tgtEl>
                                          <p:spTgt spid="241"/>
                                        </p:tgtEl>
                                      </p:cBhvr>
                                    </p:animEffect>
                                  </p:childTnLst>
                                </p:cTn>
                              </p:par>
                            </p:childTnLst>
                          </p:cTn>
                        </p:par>
                        <p:par>
                          <p:cTn id="113" fill="hold">
                            <p:stCondLst>
                              <p:cond delay="4000"/>
                            </p:stCondLst>
                            <p:childTnLst>
                              <p:par>
                                <p:cTn id="114" presetID="22" presetClass="entr" presetSubtype="8" fill="hold" grpId="0" nodeType="afterEffect">
                                  <p:stCondLst>
                                    <p:cond delay="0"/>
                                  </p:stCondLst>
                                  <p:childTnLst>
                                    <p:set>
                                      <p:cBhvr>
                                        <p:cTn id="115" dur="1" fill="hold">
                                          <p:stCondLst>
                                            <p:cond delay="0"/>
                                          </p:stCondLst>
                                        </p:cTn>
                                        <p:tgtEl>
                                          <p:spTgt spid="242"/>
                                        </p:tgtEl>
                                        <p:attrNameLst>
                                          <p:attrName>style.visibility</p:attrName>
                                        </p:attrNameLst>
                                      </p:cBhvr>
                                      <p:to>
                                        <p:strVal val="visible"/>
                                      </p:to>
                                    </p:set>
                                    <p:animEffect transition="in" filter="wipe(left)">
                                      <p:cBhvr>
                                        <p:cTn id="116" dur="500"/>
                                        <p:tgtEl>
                                          <p:spTgt spid="242"/>
                                        </p:tgtEl>
                                      </p:cBhvr>
                                    </p:animEffect>
                                  </p:childTnLst>
                                </p:cTn>
                              </p:par>
                            </p:childTnLst>
                          </p:cTn>
                        </p:par>
                        <p:par>
                          <p:cTn id="117" fill="hold">
                            <p:stCondLst>
                              <p:cond delay="4500"/>
                            </p:stCondLst>
                            <p:childTnLst>
                              <p:par>
                                <p:cTn id="118" presetID="9" presetClass="entr" presetSubtype="0" fill="hold" nodeType="afterEffect">
                                  <p:stCondLst>
                                    <p:cond delay="0"/>
                                  </p:stCondLst>
                                  <p:childTnLst>
                                    <p:set>
                                      <p:cBhvr>
                                        <p:cTn id="119" dur="1" fill="hold">
                                          <p:stCondLst>
                                            <p:cond delay="0"/>
                                          </p:stCondLst>
                                        </p:cTn>
                                        <p:tgtEl>
                                          <p:spTgt spid="383"/>
                                        </p:tgtEl>
                                        <p:attrNameLst>
                                          <p:attrName>style.visibility</p:attrName>
                                        </p:attrNameLst>
                                      </p:cBhvr>
                                      <p:to>
                                        <p:strVal val="visible"/>
                                      </p:to>
                                    </p:set>
                                    <p:animEffect transition="in" filter="dissolve">
                                      <p:cBhvr>
                                        <p:cTn id="120" dur="500"/>
                                        <p:tgtEl>
                                          <p:spTgt spid="383"/>
                                        </p:tgtEl>
                                      </p:cBhvr>
                                    </p:animEffect>
                                  </p:childTnLst>
                                </p:cTn>
                              </p:par>
                            </p:childTnLst>
                          </p:cTn>
                        </p:par>
                      </p:childTnLst>
                    </p:cTn>
                  </p:par>
                  <p:par>
                    <p:cTn id="121" fill="hold">
                      <p:stCondLst>
                        <p:cond delay="indefinite"/>
                      </p:stCondLst>
                      <p:childTnLst>
                        <p:par>
                          <p:cTn id="122" fill="hold">
                            <p:stCondLst>
                              <p:cond delay="0"/>
                            </p:stCondLst>
                            <p:childTnLst>
                              <p:par>
                                <p:cTn id="123" presetID="9" presetClass="entr" presetSubtype="0" fill="hold" grpId="0" nodeType="clickEffect">
                                  <p:stCondLst>
                                    <p:cond delay="0"/>
                                  </p:stCondLst>
                                  <p:childTnLst>
                                    <p:set>
                                      <p:cBhvr>
                                        <p:cTn id="124" dur="1" fill="hold">
                                          <p:stCondLst>
                                            <p:cond delay="0"/>
                                          </p:stCondLst>
                                        </p:cTn>
                                        <p:tgtEl>
                                          <p:spTgt spid="386"/>
                                        </p:tgtEl>
                                        <p:attrNameLst>
                                          <p:attrName>style.visibility</p:attrName>
                                        </p:attrNameLst>
                                      </p:cBhvr>
                                      <p:to>
                                        <p:strVal val="visible"/>
                                      </p:to>
                                    </p:set>
                                    <p:animEffect transition="in" filter="dissolve">
                                      <p:cBhvr>
                                        <p:cTn id="125" dur="500"/>
                                        <p:tgtEl>
                                          <p:spTgt spid="386"/>
                                        </p:tgtEl>
                                      </p:cBhvr>
                                    </p:animEffect>
                                  </p:childTnLst>
                                </p:cTn>
                              </p:par>
                            </p:childTnLst>
                          </p:cTn>
                        </p:par>
                        <p:par>
                          <p:cTn id="126" fill="hold">
                            <p:stCondLst>
                              <p:cond delay="500"/>
                            </p:stCondLst>
                            <p:childTnLst>
                              <p:par>
                                <p:cTn id="127" presetID="22" presetClass="entr" presetSubtype="8" fill="hold" nodeType="afterEffect">
                                  <p:stCondLst>
                                    <p:cond delay="0"/>
                                  </p:stCondLst>
                                  <p:childTnLst>
                                    <p:set>
                                      <p:cBhvr>
                                        <p:cTn id="128" dur="1" fill="hold">
                                          <p:stCondLst>
                                            <p:cond delay="0"/>
                                          </p:stCondLst>
                                        </p:cTn>
                                        <p:tgtEl>
                                          <p:spTgt spid="302"/>
                                        </p:tgtEl>
                                        <p:attrNameLst>
                                          <p:attrName>style.visibility</p:attrName>
                                        </p:attrNameLst>
                                      </p:cBhvr>
                                      <p:to>
                                        <p:strVal val="visible"/>
                                      </p:to>
                                    </p:set>
                                    <p:animEffect transition="in" filter="wipe(left)">
                                      <p:cBhvr>
                                        <p:cTn id="129" dur="500"/>
                                        <p:tgtEl>
                                          <p:spTgt spid="302"/>
                                        </p:tgtEl>
                                      </p:cBhvr>
                                    </p:animEffect>
                                  </p:childTnLst>
                                </p:cTn>
                              </p:par>
                            </p:childTnLst>
                          </p:cTn>
                        </p:par>
                        <p:par>
                          <p:cTn id="130" fill="hold">
                            <p:stCondLst>
                              <p:cond delay="1000"/>
                            </p:stCondLst>
                            <p:childTnLst>
                              <p:par>
                                <p:cTn id="131" presetID="22" presetClass="entr" presetSubtype="8" fill="hold" nodeType="afterEffect">
                                  <p:stCondLst>
                                    <p:cond delay="0"/>
                                  </p:stCondLst>
                                  <p:childTnLst>
                                    <p:set>
                                      <p:cBhvr>
                                        <p:cTn id="132" dur="1" fill="hold">
                                          <p:stCondLst>
                                            <p:cond delay="0"/>
                                          </p:stCondLst>
                                        </p:cTn>
                                        <p:tgtEl>
                                          <p:spTgt spid="305"/>
                                        </p:tgtEl>
                                        <p:attrNameLst>
                                          <p:attrName>style.visibility</p:attrName>
                                        </p:attrNameLst>
                                      </p:cBhvr>
                                      <p:to>
                                        <p:strVal val="visible"/>
                                      </p:to>
                                    </p:set>
                                    <p:animEffect transition="in" filter="wipe(left)">
                                      <p:cBhvr>
                                        <p:cTn id="133" dur="500"/>
                                        <p:tgtEl>
                                          <p:spTgt spid="305"/>
                                        </p:tgtEl>
                                      </p:cBhvr>
                                    </p:animEffect>
                                  </p:childTnLst>
                                </p:cTn>
                              </p:par>
                            </p:childTnLst>
                          </p:cTn>
                        </p:par>
                        <p:par>
                          <p:cTn id="134" fill="hold">
                            <p:stCondLst>
                              <p:cond delay="1500"/>
                            </p:stCondLst>
                            <p:childTnLst>
                              <p:par>
                                <p:cTn id="135" presetID="22" presetClass="entr" presetSubtype="8" fill="hold" nodeType="afterEffect">
                                  <p:stCondLst>
                                    <p:cond delay="0"/>
                                  </p:stCondLst>
                                  <p:childTnLst>
                                    <p:set>
                                      <p:cBhvr>
                                        <p:cTn id="136" dur="1" fill="hold">
                                          <p:stCondLst>
                                            <p:cond delay="0"/>
                                          </p:stCondLst>
                                        </p:cTn>
                                        <p:tgtEl>
                                          <p:spTgt spid="308"/>
                                        </p:tgtEl>
                                        <p:attrNameLst>
                                          <p:attrName>style.visibility</p:attrName>
                                        </p:attrNameLst>
                                      </p:cBhvr>
                                      <p:to>
                                        <p:strVal val="visible"/>
                                      </p:to>
                                    </p:set>
                                    <p:animEffect transition="in" filter="wipe(left)">
                                      <p:cBhvr>
                                        <p:cTn id="137" dur="500"/>
                                        <p:tgtEl>
                                          <p:spTgt spid="308"/>
                                        </p:tgtEl>
                                      </p:cBhvr>
                                    </p:animEffect>
                                  </p:childTnLst>
                                </p:cTn>
                              </p:par>
                            </p:childTnLst>
                          </p:cTn>
                        </p:par>
                        <p:par>
                          <p:cTn id="138" fill="hold">
                            <p:stCondLst>
                              <p:cond delay="2000"/>
                            </p:stCondLst>
                            <p:childTnLst>
                              <p:par>
                                <p:cTn id="139" presetID="22" presetClass="entr" presetSubtype="8" fill="hold" nodeType="afterEffect">
                                  <p:stCondLst>
                                    <p:cond delay="0"/>
                                  </p:stCondLst>
                                  <p:childTnLst>
                                    <p:set>
                                      <p:cBhvr>
                                        <p:cTn id="140" dur="1" fill="hold">
                                          <p:stCondLst>
                                            <p:cond delay="0"/>
                                          </p:stCondLst>
                                        </p:cTn>
                                        <p:tgtEl>
                                          <p:spTgt spid="311"/>
                                        </p:tgtEl>
                                        <p:attrNameLst>
                                          <p:attrName>style.visibility</p:attrName>
                                        </p:attrNameLst>
                                      </p:cBhvr>
                                      <p:to>
                                        <p:strVal val="visible"/>
                                      </p:to>
                                    </p:set>
                                    <p:animEffect transition="in" filter="wipe(left)">
                                      <p:cBhvr>
                                        <p:cTn id="141" dur="500"/>
                                        <p:tgtEl>
                                          <p:spTgt spid="311"/>
                                        </p:tgtEl>
                                      </p:cBhvr>
                                    </p:animEffect>
                                  </p:childTnLst>
                                </p:cTn>
                              </p:par>
                            </p:childTnLst>
                          </p:cTn>
                        </p:par>
                        <p:par>
                          <p:cTn id="142" fill="hold">
                            <p:stCondLst>
                              <p:cond delay="2500"/>
                            </p:stCondLst>
                            <p:childTnLst>
                              <p:par>
                                <p:cTn id="143" presetID="22" presetClass="entr" presetSubtype="8" fill="hold" nodeType="afterEffect">
                                  <p:stCondLst>
                                    <p:cond delay="0"/>
                                  </p:stCondLst>
                                  <p:childTnLst>
                                    <p:set>
                                      <p:cBhvr>
                                        <p:cTn id="144" dur="1" fill="hold">
                                          <p:stCondLst>
                                            <p:cond delay="0"/>
                                          </p:stCondLst>
                                        </p:cTn>
                                        <p:tgtEl>
                                          <p:spTgt spid="387"/>
                                        </p:tgtEl>
                                        <p:attrNameLst>
                                          <p:attrName>style.visibility</p:attrName>
                                        </p:attrNameLst>
                                      </p:cBhvr>
                                      <p:to>
                                        <p:strVal val="visible"/>
                                      </p:to>
                                    </p:set>
                                    <p:animEffect transition="in" filter="wipe(left)">
                                      <p:cBhvr>
                                        <p:cTn id="145" dur="500"/>
                                        <p:tgtEl>
                                          <p:spTgt spid="387"/>
                                        </p:tgtEl>
                                      </p:cBhvr>
                                    </p:animEffect>
                                  </p:childTnLst>
                                </p:cTn>
                              </p:par>
                            </p:childTnLst>
                          </p:cTn>
                        </p:par>
                      </p:childTnLst>
                    </p:cTn>
                  </p:par>
                  <p:par>
                    <p:cTn id="146" fill="hold">
                      <p:stCondLst>
                        <p:cond delay="indefinite"/>
                      </p:stCondLst>
                      <p:childTnLst>
                        <p:par>
                          <p:cTn id="147" fill="hold">
                            <p:stCondLst>
                              <p:cond delay="0"/>
                            </p:stCondLst>
                            <p:childTnLst>
                              <p:par>
                                <p:cTn id="148" presetID="9" presetClass="entr" presetSubtype="0" fill="hold" grpId="0" nodeType="clickEffect">
                                  <p:stCondLst>
                                    <p:cond delay="0"/>
                                  </p:stCondLst>
                                  <p:childTnLst>
                                    <p:set>
                                      <p:cBhvr>
                                        <p:cTn id="149" dur="1" fill="hold">
                                          <p:stCondLst>
                                            <p:cond delay="0"/>
                                          </p:stCondLst>
                                        </p:cTn>
                                        <p:tgtEl>
                                          <p:spTgt spid="393"/>
                                        </p:tgtEl>
                                        <p:attrNameLst>
                                          <p:attrName>style.visibility</p:attrName>
                                        </p:attrNameLst>
                                      </p:cBhvr>
                                      <p:to>
                                        <p:strVal val="visible"/>
                                      </p:to>
                                    </p:set>
                                    <p:animEffect transition="in" filter="dissolve">
                                      <p:cBhvr>
                                        <p:cTn id="150" dur="500"/>
                                        <p:tgtEl>
                                          <p:spTgt spid="393"/>
                                        </p:tgtEl>
                                      </p:cBhvr>
                                    </p:animEffect>
                                  </p:childTnLst>
                                </p:cTn>
                              </p:par>
                            </p:childTnLst>
                          </p:cTn>
                        </p:par>
                        <p:par>
                          <p:cTn id="151" fill="hold">
                            <p:stCondLst>
                              <p:cond delay="500"/>
                            </p:stCondLst>
                            <p:childTnLst>
                              <p:par>
                                <p:cTn id="152" presetID="22" presetClass="entr" presetSubtype="8" fill="hold" nodeType="afterEffect">
                                  <p:stCondLst>
                                    <p:cond delay="0"/>
                                  </p:stCondLst>
                                  <p:childTnLst>
                                    <p:set>
                                      <p:cBhvr>
                                        <p:cTn id="153" dur="1" fill="hold">
                                          <p:stCondLst>
                                            <p:cond delay="0"/>
                                          </p:stCondLst>
                                        </p:cTn>
                                        <p:tgtEl>
                                          <p:spTgt spid="314"/>
                                        </p:tgtEl>
                                        <p:attrNameLst>
                                          <p:attrName>style.visibility</p:attrName>
                                        </p:attrNameLst>
                                      </p:cBhvr>
                                      <p:to>
                                        <p:strVal val="visible"/>
                                      </p:to>
                                    </p:set>
                                    <p:animEffect transition="in" filter="wipe(left)">
                                      <p:cBhvr>
                                        <p:cTn id="154" dur="500"/>
                                        <p:tgtEl>
                                          <p:spTgt spid="314"/>
                                        </p:tgtEl>
                                      </p:cBhvr>
                                    </p:animEffect>
                                  </p:childTnLst>
                                </p:cTn>
                              </p:par>
                            </p:childTnLst>
                          </p:cTn>
                        </p:par>
                        <p:par>
                          <p:cTn id="155" fill="hold">
                            <p:stCondLst>
                              <p:cond delay="1000"/>
                            </p:stCondLst>
                            <p:childTnLst>
                              <p:par>
                                <p:cTn id="156" presetID="22" presetClass="entr" presetSubtype="8" fill="hold" nodeType="afterEffect">
                                  <p:stCondLst>
                                    <p:cond delay="0"/>
                                  </p:stCondLst>
                                  <p:childTnLst>
                                    <p:set>
                                      <p:cBhvr>
                                        <p:cTn id="157" dur="1" fill="hold">
                                          <p:stCondLst>
                                            <p:cond delay="0"/>
                                          </p:stCondLst>
                                        </p:cTn>
                                        <p:tgtEl>
                                          <p:spTgt spid="318"/>
                                        </p:tgtEl>
                                        <p:attrNameLst>
                                          <p:attrName>style.visibility</p:attrName>
                                        </p:attrNameLst>
                                      </p:cBhvr>
                                      <p:to>
                                        <p:strVal val="visible"/>
                                      </p:to>
                                    </p:set>
                                    <p:animEffect transition="in" filter="wipe(left)">
                                      <p:cBhvr>
                                        <p:cTn id="158" dur="500"/>
                                        <p:tgtEl>
                                          <p:spTgt spid="318"/>
                                        </p:tgtEl>
                                      </p:cBhvr>
                                    </p:animEffect>
                                  </p:childTnLst>
                                </p:cTn>
                              </p:par>
                            </p:childTnLst>
                          </p:cTn>
                        </p:par>
                        <p:par>
                          <p:cTn id="159" fill="hold">
                            <p:stCondLst>
                              <p:cond delay="1500"/>
                            </p:stCondLst>
                            <p:childTnLst>
                              <p:par>
                                <p:cTn id="160" presetID="22" presetClass="entr" presetSubtype="8" fill="hold" nodeType="afterEffect">
                                  <p:stCondLst>
                                    <p:cond delay="0"/>
                                  </p:stCondLst>
                                  <p:childTnLst>
                                    <p:set>
                                      <p:cBhvr>
                                        <p:cTn id="161" dur="1" fill="hold">
                                          <p:stCondLst>
                                            <p:cond delay="0"/>
                                          </p:stCondLst>
                                        </p:cTn>
                                        <p:tgtEl>
                                          <p:spTgt spid="390"/>
                                        </p:tgtEl>
                                        <p:attrNameLst>
                                          <p:attrName>style.visibility</p:attrName>
                                        </p:attrNameLst>
                                      </p:cBhvr>
                                      <p:to>
                                        <p:strVal val="visible"/>
                                      </p:to>
                                    </p:set>
                                    <p:animEffect transition="in" filter="wipe(left)">
                                      <p:cBhvr>
                                        <p:cTn id="162" dur="500"/>
                                        <p:tgtEl>
                                          <p:spTgt spid="390"/>
                                        </p:tgtEl>
                                      </p:cBhvr>
                                    </p:animEffect>
                                  </p:childTnLst>
                                </p:cTn>
                              </p:par>
                            </p:childTnLst>
                          </p:cTn>
                        </p:par>
                      </p:childTnLst>
                    </p:cTn>
                  </p:par>
                  <p:par>
                    <p:cTn id="163" fill="hold">
                      <p:stCondLst>
                        <p:cond delay="indefinite"/>
                      </p:stCondLst>
                      <p:childTnLst>
                        <p:par>
                          <p:cTn id="164" fill="hold">
                            <p:stCondLst>
                              <p:cond delay="0"/>
                            </p:stCondLst>
                            <p:childTnLst>
                              <p:par>
                                <p:cTn id="165" presetID="9" presetClass="entr" presetSubtype="0" fill="hold" grpId="0" nodeType="clickEffect">
                                  <p:stCondLst>
                                    <p:cond delay="0"/>
                                  </p:stCondLst>
                                  <p:childTnLst>
                                    <p:set>
                                      <p:cBhvr>
                                        <p:cTn id="166" dur="1" fill="hold">
                                          <p:stCondLst>
                                            <p:cond delay="0"/>
                                          </p:stCondLst>
                                        </p:cTn>
                                        <p:tgtEl>
                                          <p:spTgt spid="394"/>
                                        </p:tgtEl>
                                        <p:attrNameLst>
                                          <p:attrName>style.visibility</p:attrName>
                                        </p:attrNameLst>
                                      </p:cBhvr>
                                      <p:to>
                                        <p:strVal val="visible"/>
                                      </p:to>
                                    </p:set>
                                    <p:animEffect transition="in" filter="dissolve">
                                      <p:cBhvr>
                                        <p:cTn id="167" dur="500"/>
                                        <p:tgtEl>
                                          <p:spTgt spid="394"/>
                                        </p:tgtEl>
                                      </p:cBhvr>
                                    </p:animEffect>
                                  </p:childTnLst>
                                </p:cTn>
                              </p:par>
                            </p:childTnLst>
                          </p:cTn>
                        </p:par>
                        <p:par>
                          <p:cTn id="168" fill="hold">
                            <p:stCondLst>
                              <p:cond delay="500"/>
                            </p:stCondLst>
                            <p:childTnLst>
                              <p:par>
                                <p:cTn id="169" presetID="22" presetClass="entr" presetSubtype="8" fill="hold" nodeType="afterEffect">
                                  <p:stCondLst>
                                    <p:cond delay="0"/>
                                  </p:stCondLst>
                                  <p:childTnLst>
                                    <p:set>
                                      <p:cBhvr>
                                        <p:cTn id="170" dur="1" fill="hold">
                                          <p:stCondLst>
                                            <p:cond delay="0"/>
                                          </p:stCondLst>
                                        </p:cTn>
                                        <p:tgtEl>
                                          <p:spTgt spid="258"/>
                                        </p:tgtEl>
                                        <p:attrNameLst>
                                          <p:attrName>style.visibility</p:attrName>
                                        </p:attrNameLst>
                                      </p:cBhvr>
                                      <p:to>
                                        <p:strVal val="visible"/>
                                      </p:to>
                                    </p:set>
                                    <p:animEffect transition="in" filter="wipe(left)">
                                      <p:cBhvr>
                                        <p:cTn id="171" dur="500"/>
                                        <p:tgtEl>
                                          <p:spTgt spid="258"/>
                                        </p:tgtEl>
                                      </p:cBhvr>
                                    </p:animEffect>
                                  </p:childTnLst>
                                </p:cTn>
                              </p:par>
                            </p:childTnLst>
                          </p:cTn>
                        </p:par>
                        <p:par>
                          <p:cTn id="172" fill="hold">
                            <p:stCondLst>
                              <p:cond delay="1000"/>
                            </p:stCondLst>
                            <p:childTnLst>
                              <p:par>
                                <p:cTn id="173" presetID="22" presetClass="entr" presetSubtype="8" fill="hold" nodeType="afterEffect">
                                  <p:stCondLst>
                                    <p:cond delay="0"/>
                                  </p:stCondLst>
                                  <p:childTnLst>
                                    <p:set>
                                      <p:cBhvr>
                                        <p:cTn id="174" dur="1" fill="hold">
                                          <p:stCondLst>
                                            <p:cond delay="0"/>
                                          </p:stCondLst>
                                        </p:cTn>
                                        <p:tgtEl>
                                          <p:spTgt spid="261"/>
                                        </p:tgtEl>
                                        <p:attrNameLst>
                                          <p:attrName>style.visibility</p:attrName>
                                        </p:attrNameLst>
                                      </p:cBhvr>
                                      <p:to>
                                        <p:strVal val="visible"/>
                                      </p:to>
                                    </p:set>
                                    <p:animEffect transition="in" filter="wipe(left)">
                                      <p:cBhvr>
                                        <p:cTn id="175" dur="500"/>
                                        <p:tgtEl>
                                          <p:spTgt spid="261"/>
                                        </p:tgtEl>
                                      </p:cBhvr>
                                    </p:animEffect>
                                  </p:childTnLst>
                                </p:cTn>
                              </p:par>
                            </p:childTnLst>
                          </p:cTn>
                        </p:par>
                        <p:par>
                          <p:cTn id="176" fill="hold">
                            <p:stCondLst>
                              <p:cond delay="1500"/>
                            </p:stCondLst>
                            <p:childTnLst>
                              <p:par>
                                <p:cTn id="177" presetID="22" presetClass="entr" presetSubtype="8" fill="hold" nodeType="afterEffect">
                                  <p:stCondLst>
                                    <p:cond delay="0"/>
                                  </p:stCondLst>
                                  <p:childTnLst>
                                    <p:set>
                                      <p:cBhvr>
                                        <p:cTn id="178" dur="1" fill="hold">
                                          <p:stCondLst>
                                            <p:cond delay="0"/>
                                          </p:stCondLst>
                                        </p:cTn>
                                        <p:tgtEl>
                                          <p:spTgt spid="264"/>
                                        </p:tgtEl>
                                        <p:attrNameLst>
                                          <p:attrName>style.visibility</p:attrName>
                                        </p:attrNameLst>
                                      </p:cBhvr>
                                      <p:to>
                                        <p:strVal val="visible"/>
                                      </p:to>
                                    </p:set>
                                    <p:animEffect transition="in" filter="wipe(left)">
                                      <p:cBhvr>
                                        <p:cTn id="179" dur="500"/>
                                        <p:tgtEl>
                                          <p:spTgt spid="264"/>
                                        </p:tgtEl>
                                      </p:cBhvr>
                                    </p:animEffect>
                                  </p:childTnLst>
                                </p:cTn>
                              </p:par>
                            </p:childTnLst>
                          </p:cTn>
                        </p:par>
                        <p:par>
                          <p:cTn id="180" fill="hold">
                            <p:stCondLst>
                              <p:cond delay="2000"/>
                            </p:stCondLst>
                            <p:childTnLst>
                              <p:par>
                                <p:cTn id="181" presetID="22" presetClass="entr" presetSubtype="8" fill="hold" nodeType="afterEffect">
                                  <p:stCondLst>
                                    <p:cond delay="0"/>
                                  </p:stCondLst>
                                  <p:childTnLst>
                                    <p:set>
                                      <p:cBhvr>
                                        <p:cTn id="182" dur="1" fill="hold">
                                          <p:stCondLst>
                                            <p:cond delay="0"/>
                                          </p:stCondLst>
                                        </p:cTn>
                                        <p:tgtEl>
                                          <p:spTgt spid="267"/>
                                        </p:tgtEl>
                                        <p:attrNameLst>
                                          <p:attrName>style.visibility</p:attrName>
                                        </p:attrNameLst>
                                      </p:cBhvr>
                                      <p:to>
                                        <p:strVal val="visible"/>
                                      </p:to>
                                    </p:set>
                                    <p:animEffect transition="in" filter="wipe(left)">
                                      <p:cBhvr>
                                        <p:cTn id="183" dur="500"/>
                                        <p:tgtEl>
                                          <p:spTgt spid="267"/>
                                        </p:tgtEl>
                                      </p:cBhvr>
                                    </p:animEffect>
                                  </p:childTnLst>
                                </p:cTn>
                              </p:par>
                            </p:childTnLst>
                          </p:cTn>
                        </p:par>
                        <p:par>
                          <p:cTn id="184" fill="hold">
                            <p:stCondLst>
                              <p:cond delay="2500"/>
                            </p:stCondLst>
                            <p:childTnLst>
                              <p:par>
                                <p:cTn id="185" presetID="9" presetClass="entr" presetSubtype="0" fill="hold" nodeType="afterEffect">
                                  <p:stCondLst>
                                    <p:cond delay="0"/>
                                  </p:stCondLst>
                                  <p:childTnLst>
                                    <p:set>
                                      <p:cBhvr>
                                        <p:cTn id="186" dur="1" fill="hold">
                                          <p:stCondLst>
                                            <p:cond delay="0"/>
                                          </p:stCondLst>
                                        </p:cTn>
                                        <p:tgtEl>
                                          <p:spTgt spid="395"/>
                                        </p:tgtEl>
                                        <p:attrNameLst>
                                          <p:attrName>style.visibility</p:attrName>
                                        </p:attrNameLst>
                                      </p:cBhvr>
                                      <p:to>
                                        <p:strVal val="visible"/>
                                      </p:to>
                                    </p:set>
                                    <p:animEffect transition="in" filter="dissolve">
                                      <p:cBhvr>
                                        <p:cTn id="187" dur="500"/>
                                        <p:tgtEl>
                                          <p:spTgt spid="395"/>
                                        </p:tgtEl>
                                      </p:cBhvr>
                                    </p:animEffect>
                                  </p:childTnLst>
                                </p:cTn>
                              </p:par>
                            </p:childTnLst>
                          </p:cTn>
                        </p:par>
                      </p:childTnLst>
                    </p:cTn>
                  </p:par>
                  <p:par>
                    <p:cTn id="188" fill="hold">
                      <p:stCondLst>
                        <p:cond delay="indefinite"/>
                      </p:stCondLst>
                      <p:childTnLst>
                        <p:par>
                          <p:cTn id="189" fill="hold">
                            <p:stCondLst>
                              <p:cond delay="0"/>
                            </p:stCondLst>
                            <p:childTnLst>
                              <p:par>
                                <p:cTn id="190" presetID="9" presetClass="entr" presetSubtype="0" fill="hold" grpId="0" nodeType="clickEffect">
                                  <p:stCondLst>
                                    <p:cond delay="0"/>
                                  </p:stCondLst>
                                  <p:childTnLst>
                                    <p:set>
                                      <p:cBhvr>
                                        <p:cTn id="191" dur="1" fill="hold">
                                          <p:stCondLst>
                                            <p:cond delay="0"/>
                                          </p:stCondLst>
                                        </p:cTn>
                                        <p:tgtEl>
                                          <p:spTgt spid="401"/>
                                        </p:tgtEl>
                                        <p:attrNameLst>
                                          <p:attrName>style.visibility</p:attrName>
                                        </p:attrNameLst>
                                      </p:cBhvr>
                                      <p:to>
                                        <p:strVal val="visible"/>
                                      </p:to>
                                    </p:set>
                                    <p:animEffect transition="in" filter="dissolve">
                                      <p:cBhvr>
                                        <p:cTn id="192" dur="500"/>
                                        <p:tgtEl>
                                          <p:spTgt spid="401"/>
                                        </p:tgtEl>
                                      </p:cBhvr>
                                    </p:animEffect>
                                  </p:childTnLst>
                                </p:cTn>
                              </p:par>
                            </p:childTnLst>
                          </p:cTn>
                        </p:par>
                        <p:par>
                          <p:cTn id="193" fill="hold">
                            <p:stCondLst>
                              <p:cond delay="500"/>
                            </p:stCondLst>
                            <p:childTnLst>
                              <p:par>
                                <p:cTn id="194" presetID="22" presetClass="entr" presetSubtype="8" fill="hold" nodeType="afterEffect">
                                  <p:stCondLst>
                                    <p:cond delay="0"/>
                                  </p:stCondLst>
                                  <p:childTnLst>
                                    <p:set>
                                      <p:cBhvr>
                                        <p:cTn id="195" dur="1" fill="hold">
                                          <p:stCondLst>
                                            <p:cond delay="0"/>
                                          </p:stCondLst>
                                        </p:cTn>
                                        <p:tgtEl>
                                          <p:spTgt spid="270"/>
                                        </p:tgtEl>
                                        <p:attrNameLst>
                                          <p:attrName>style.visibility</p:attrName>
                                        </p:attrNameLst>
                                      </p:cBhvr>
                                      <p:to>
                                        <p:strVal val="visible"/>
                                      </p:to>
                                    </p:set>
                                    <p:animEffect transition="in" filter="wipe(left)">
                                      <p:cBhvr>
                                        <p:cTn id="196" dur="500"/>
                                        <p:tgtEl>
                                          <p:spTgt spid="270"/>
                                        </p:tgtEl>
                                      </p:cBhvr>
                                    </p:animEffect>
                                  </p:childTnLst>
                                </p:cTn>
                              </p:par>
                            </p:childTnLst>
                          </p:cTn>
                        </p:par>
                        <p:par>
                          <p:cTn id="197" fill="hold">
                            <p:stCondLst>
                              <p:cond delay="1000"/>
                            </p:stCondLst>
                            <p:childTnLst>
                              <p:par>
                                <p:cTn id="198" presetID="22" presetClass="entr" presetSubtype="8" fill="hold" nodeType="afterEffect">
                                  <p:stCondLst>
                                    <p:cond delay="0"/>
                                  </p:stCondLst>
                                  <p:childTnLst>
                                    <p:set>
                                      <p:cBhvr>
                                        <p:cTn id="199" dur="1" fill="hold">
                                          <p:stCondLst>
                                            <p:cond delay="0"/>
                                          </p:stCondLst>
                                        </p:cTn>
                                        <p:tgtEl>
                                          <p:spTgt spid="274"/>
                                        </p:tgtEl>
                                        <p:attrNameLst>
                                          <p:attrName>style.visibility</p:attrName>
                                        </p:attrNameLst>
                                      </p:cBhvr>
                                      <p:to>
                                        <p:strVal val="visible"/>
                                      </p:to>
                                    </p:set>
                                    <p:animEffect transition="in" filter="wipe(left)">
                                      <p:cBhvr>
                                        <p:cTn id="200" dur="500"/>
                                        <p:tgtEl>
                                          <p:spTgt spid="274"/>
                                        </p:tgtEl>
                                      </p:cBhvr>
                                    </p:animEffect>
                                  </p:childTnLst>
                                </p:cTn>
                              </p:par>
                            </p:childTnLst>
                          </p:cTn>
                        </p:par>
                        <p:par>
                          <p:cTn id="201" fill="hold">
                            <p:stCondLst>
                              <p:cond delay="1500"/>
                            </p:stCondLst>
                            <p:childTnLst>
                              <p:par>
                                <p:cTn id="202" presetID="22" presetClass="entr" presetSubtype="8" fill="hold" nodeType="afterEffect">
                                  <p:stCondLst>
                                    <p:cond delay="0"/>
                                  </p:stCondLst>
                                  <p:childTnLst>
                                    <p:set>
                                      <p:cBhvr>
                                        <p:cTn id="203" dur="1" fill="hold">
                                          <p:stCondLst>
                                            <p:cond delay="0"/>
                                          </p:stCondLst>
                                        </p:cTn>
                                        <p:tgtEl>
                                          <p:spTgt spid="278"/>
                                        </p:tgtEl>
                                        <p:attrNameLst>
                                          <p:attrName>style.visibility</p:attrName>
                                        </p:attrNameLst>
                                      </p:cBhvr>
                                      <p:to>
                                        <p:strVal val="visible"/>
                                      </p:to>
                                    </p:set>
                                    <p:animEffect transition="in" filter="wipe(left)">
                                      <p:cBhvr>
                                        <p:cTn id="204" dur="500"/>
                                        <p:tgtEl>
                                          <p:spTgt spid="278"/>
                                        </p:tgtEl>
                                      </p:cBhvr>
                                    </p:animEffect>
                                  </p:childTnLst>
                                </p:cTn>
                              </p:par>
                            </p:childTnLst>
                          </p:cTn>
                        </p:par>
                        <p:par>
                          <p:cTn id="205" fill="hold">
                            <p:stCondLst>
                              <p:cond delay="2000"/>
                            </p:stCondLst>
                            <p:childTnLst>
                              <p:par>
                                <p:cTn id="206" presetID="22" presetClass="entr" presetSubtype="8" fill="hold" nodeType="afterEffect">
                                  <p:stCondLst>
                                    <p:cond delay="0"/>
                                  </p:stCondLst>
                                  <p:childTnLst>
                                    <p:set>
                                      <p:cBhvr>
                                        <p:cTn id="207" dur="1" fill="hold">
                                          <p:stCondLst>
                                            <p:cond delay="0"/>
                                          </p:stCondLst>
                                        </p:cTn>
                                        <p:tgtEl>
                                          <p:spTgt spid="282"/>
                                        </p:tgtEl>
                                        <p:attrNameLst>
                                          <p:attrName>style.visibility</p:attrName>
                                        </p:attrNameLst>
                                      </p:cBhvr>
                                      <p:to>
                                        <p:strVal val="visible"/>
                                      </p:to>
                                    </p:set>
                                    <p:animEffect transition="in" filter="wipe(left)">
                                      <p:cBhvr>
                                        <p:cTn id="208" dur="500"/>
                                        <p:tgtEl>
                                          <p:spTgt spid="282"/>
                                        </p:tgtEl>
                                      </p:cBhvr>
                                    </p:animEffect>
                                  </p:childTnLst>
                                </p:cTn>
                              </p:par>
                            </p:childTnLst>
                          </p:cTn>
                        </p:par>
                        <p:par>
                          <p:cTn id="209" fill="hold">
                            <p:stCondLst>
                              <p:cond delay="2500"/>
                            </p:stCondLst>
                            <p:childTnLst>
                              <p:par>
                                <p:cTn id="210" presetID="22" presetClass="entr" presetSubtype="8" fill="hold" nodeType="afterEffect">
                                  <p:stCondLst>
                                    <p:cond delay="0"/>
                                  </p:stCondLst>
                                  <p:childTnLst>
                                    <p:set>
                                      <p:cBhvr>
                                        <p:cTn id="211" dur="1" fill="hold">
                                          <p:stCondLst>
                                            <p:cond delay="0"/>
                                          </p:stCondLst>
                                        </p:cTn>
                                        <p:tgtEl>
                                          <p:spTgt spid="286"/>
                                        </p:tgtEl>
                                        <p:attrNameLst>
                                          <p:attrName>style.visibility</p:attrName>
                                        </p:attrNameLst>
                                      </p:cBhvr>
                                      <p:to>
                                        <p:strVal val="visible"/>
                                      </p:to>
                                    </p:set>
                                    <p:animEffect transition="in" filter="wipe(left)">
                                      <p:cBhvr>
                                        <p:cTn id="212" dur="500"/>
                                        <p:tgtEl>
                                          <p:spTgt spid="286"/>
                                        </p:tgtEl>
                                      </p:cBhvr>
                                    </p:animEffect>
                                  </p:childTnLst>
                                </p:cTn>
                              </p:par>
                            </p:childTnLst>
                          </p:cTn>
                        </p:par>
                        <p:par>
                          <p:cTn id="213" fill="hold">
                            <p:stCondLst>
                              <p:cond delay="3000"/>
                            </p:stCondLst>
                            <p:childTnLst>
                              <p:par>
                                <p:cTn id="214" presetID="9" presetClass="entr" presetSubtype="0" fill="hold" nodeType="afterEffect">
                                  <p:stCondLst>
                                    <p:cond delay="0"/>
                                  </p:stCondLst>
                                  <p:childTnLst>
                                    <p:set>
                                      <p:cBhvr>
                                        <p:cTn id="215" dur="1" fill="hold">
                                          <p:stCondLst>
                                            <p:cond delay="0"/>
                                          </p:stCondLst>
                                        </p:cTn>
                                        <p:tgtEl>
                                          <p:spTgt spid="398"/>
                                        </p:tgtEl>
                                        <p:attrNameLst>
                                          <p:attrName>style.visibility</p:attrName>
                                        </p:attrNameLst>
                                      </p:cBhvr>
                                      <p:to>
                                        <p:strVal val="visible"/>
                                      </p:to>
                                    </p:set>
                                    <p:animEffect transition="in" filter="dissolve">
                                      <p:cBhvr>
                                        <p:cTn id="216" dur="500"/>
                                        <p:tgtEl>
                                          <p:spTgt spid="398"/>
                                        </p:tgtEl>
                                      </p:cBhvr>
                                    </p:animEffect>
                                  </p:childTnLst>
                                </p:cTn>
                              </p:par>
                            </p:childTnLst>
                          </p:cTn>
                        </p:par>
                      </p:childTnLst>
                    </p:cTn>
                  </p:par>
                  <p:par>
                    <p:cTn id="217" fill="hold">
                      <p:stCondLst>
                        <p:cond delay="indefinite"/>
                      </p:stCondLst>
                      <p:childTnLst>
                        <p:par>
                          <p:cTn id="218" fill="hold">
                            <p:stCondLst>
                              <p:cond delay="0"/>
                            </p:stCondLst>
                            <p:childTnLst>
                              <p:par>
                                <p:cTn id="219" presetID="9" presetClass="entr" presetSubtype="0" fill="hold" grpId="0" nodeType="clickEffect">
                                  <p:stCondLst>
                                    <p:cond delay="0"/>
                                  </p:stCondLst>
                                  <p:childTnLst>
                                    <p:set>
                                      <p:cBhvr>
                                        <p:cTn id="220" dur="1" fill="hold">
                                          <p:stCondLst>
                                            <p:cond delay="0"/>
                                          </p:stCondLst>
                                        </p:cTn>
                                        <p:tgtEl>
                                          <p:spTgt spid="402"/>
                                        </p:tgtEl>
                                        <p:attrNameLst>
                                          <p:attrName>style.visibility</p:attrName>
                                        </p:attrNameLst>
                                      </p:cBhvr>
                                      <p:to>
                                        <p:strVal val="visible"/>
                                      </p:to>
                                    </p:set>
                                    <p:animEffect transition="in" filter="dissolve">
                                      <p:cBhvr>
                                        <p:cTn id="221" dur="500"/>
                                        <p:tgtEl>
                                          <p:spTgt spid="402"/>
                                        </p:tgtEl>
                                      </p:cBhvr>
                                    </p:animEffect>
                                  </p:childTnLst>
                                </p:cTn>
                              </p:par>
                            </p:childTnLst>
                          </p:cTn>
                        </p:par>
                        <p:par>
                          <p:cTn id="222" fill="hold">
                            <p:stCondLst>
                              <p:cond delay="500"/>
                            </p:stCondLst>
                            <p:childTnLst>
                              <p:par>
                                <p:cTn id="223" presetID="22" presetClass="entr" presetSubtype="8" fill="hold" nodeType="afterEffect">
                                  <p:stCondLst>
                                    <p:cond delay="0"/>
                                  </p:stCondLst>
                                  <p:childTnLst>
                                    <p:set>
                                      <p:cBhvr>
                                        <p:cTn id="224" dur="1" fill="hold">
                                          <p:stCondLst>
                                            <p:cond delay="0"/>
                                          </p:stCondLst>
                                        </p:cTn>
                                        <p:tgtEl>
                                          <p:spTgt spid="243"/>
                                        </p:tgtEl>
                                        <p:attrNameLst>
                                          <p:attrName>style.visibility</p:attrName>
                                        </p:attrNameLst>
                                      </p:cBhvr>
                                      <p:to>
                                        <p:strVal val="visible"/>
                                      </p:to>
                                    </p:set>
                                    <p:animEffect transition="in" filter="wipe(left)">
                                      <p:cBhvr>
                                        <p:cTn id="225" dur="500"/>
                                        <p:tgtEl>
                                          <p:spTgt spid="243"/>
                                        </p:tgtEl>
                                      </p:cBhvr>
                                    </p:animEffect>
                                  </p:childTnLst>
                                </p:cTn>
                              </p:par>
                            </p:childTnLst>
                          </p:cTn>
                        </p:par>
                        <p:par>
                          <p:cTn id="226" fill="hold">
                            <p:stCondLst>
                              <p:cond delay="1000"/>
                            </p:stCondLst>
                            <p:childTnLst>
                              <p:par>
                                <p:cTn id="227" presetID="22" presetClass="entr" presetSubtype="8" fill="hold" nodeType="afterEffect">
                                  <p:stCondLst>
                                    <p:cond delay="0"/>
                                  </p:stCondLst>
                                  <p:childTnLst>
                                    <p:set>
                                      <p:cBhvr>
                                        <p:cTn id="228" dur="1" fill="hold">
                                          <p:stCondLst>
                                            <p:cond delay="0"/>
                                          </p:stCondLst>
                                        </p:cTn>
                                        <p:tgtEl>
                                          <p:spTgt spid="246"/>
                                        </p:tgtEl>
                                        <p:attrNameLst>
                                          <p:attrName>style.visibility</p:attrName>
                                        </p:attrNameLst>
                                      </p:cBhvr>
                                      <p:to>
                                        <p:strVal val="visible"/>
                                      </p:to>
                                    </p:set>
                                    <p:animEffect transition="in" filter="wipe(left)">
                                      <p:cBhvr>
                                        <p:cTn id="229" dur="500"/>
                                        <p:tgtEl>
                                          <p:spTgt spid="246"/>
                                        </p:tgtEl>
                                      </p:cBhvr>
                                    </p:animEffect>
                                  </p:childTnLst>
                                </p:cTn>
                              </p:par>
                            </p:childTnLst>
                          </p:cTn>
                        </p:par>
                        <p:par>
                          <p:cTn id="230" fill="hold">
                            <p:stCondLst>
                              <p:cond delay="1500"/>
                            </p:stCondLst>
                            <p:childTnLst>
                              <p:par>
                                <p:cTn id="231" presetID="22" presetClass="entr" presetSubtype="8" fill="hold" nodeType="afterEffect">
                                  <p:stCondLst>
                                    <p:cond delay="0"/>
                                  </p:stCondLst>
                                  <p:childTnLst>
                                    <p:set>
                                      <p:cBhvr>
                                        <p:cTn id="232" dur="1" fill="hold">
                                          <p:stCondLst>
                                            <p:cond delay="0"/>
                                          </p:stCondLst>
                                        </p:cTn>
                                        <p:tgtEl>
                                          <p:spTgt spid="249"/>
                                        </p:tgtEl>
                                        <p:attrNameLst>
                                          <p:attrName>style.visibility</p:attrName>
                                        </p:attrNameLst>
                                      </p:cBhvr>
                                      <p:to>
                                        <p:strVal val="visible"/>
                                      </p:to>
                                    </p:set>
                                    <p:animEffect transition="in" filter="wipe(left)">
                                      <p:cBhvr>
                                        <p:cTn id="233" dur="500"/>
                                        <p:tgtEl>
                                          <p:spTgt spid="249"/>
                                        </p:tgtEl>
                                      </p:cBhvr>
                                    </p:animEffect>
                                  </p:childTnLst>
                                </p:cTn>
                              </p:par>
                            </p:childTnLst>
                          </p:cTn>
                        </p:par>
                        <p:par>
                          <p:cTn id="234" fill="hold">
                            <p:stCondLst>
                              <p:cond delay="2000"/>
                            </p:stCondLst>
                            <p:childTnLst>
                              <p:par>
                                <p:cTn id="235" presetID="22" presetClass="entr" presetSubtype="8" fill="hold" nodeType="afterEffect">
                                  <p:stCondLst>
                                    <p:cond delay="0"/>
                                  </p:stCondLst>
                                  <p:childTnLst>
                                    <p:set>
                                      <p:cBhvr>
                                        <p:cTn id="236" dur="1" fill="hold">
                                          <p:stCondLst>
                                            <p:cond delay="0"/>
                                          </p:stCondLst>
                                        </p:cTn>
                                        <p:tgtEl>
                                          <p:spTgt spid="252"/>
                                        </p:tgtEl>
                                        <p:attrNameLst>
                                          <p:attrName>style.visibility</p:attrName>
                                        </p:attrNameLst>
                                      </p:cBhvr>
                                      <p:to>
                                        <p:strVal val="visible"/>
                                      </p:to>
                                    </p:set>
                                    <p:animEffect transition="in" filter="wipe(left)">
                                      <p:cBhvr>
                                        <p:cTn id="237" dur="500"/>
                                        <p:tgtEl>
                                          <p:spTgt spid="252"/>
                                        </p:tgtEl>
                                      </p:cBhvr>
                                    </p:animEffect>
                                  </p:childTnLst>
                                </p:cTn>
                              </p:par>
                            </p:childTnLst>
                          </p:cTn>
                        </p:par>
                        <p:par>
                          <p:cTn id="238" fill="hold">
                            <p:stCondLst>
                              <p:cond delay="2500"/>
                            </p:stCondLst>
                            <p:childTnLst>
                              <p:par>
                                <p:cTn id="239" presetID="22" presetClass="entr" presetSubtype="8" fill="hold" nodeType="afterEffect">
                                  <p:stCondLst>
                                    <p:cond delay="0"/>
                                  </p:stCondLst>
                                  <p:childTnLst>
                                    <p:set>
                                      <p:cBhvr>
                                        <p:cTn id="240" dur="1" fill="hold">
                                          <p:stCondLst>
                                            <p:cond delay="0"/>
                                          </p:stCondLst>
                                        </p:cTn>
                                        <p:tgtEl>
                                          <p:spTgt spid="255"/>
                                        </p:tgtEl>
                                        <p:attrNameLst>
                                          <p:attrName>style.visibility</p:attrName>
                                        </p:attrNameLst>
                                      </p:cBhvr>
                                      <p:to>
                                        <p:strVal val="visible"/>
                                      </p:to>
                                    </p:set>
                                    <p:animEffect transition="in" filter="wipe(left)">
                                      <p:cBhvr>
                                        <p:cTn id="241" dur="500"/>
                                        <p:tgtEl>
                                          <p:spTgt spid="255"/>
                                        </p:tgtEl>
                                      </p:cBhvr>
                                    </p:animEffect>
                                  </p:childTnLst>
                                </p:cTn>
                              </p:par>
                            </p:childTnLst>
                          </p:cTn>
                        </p:par>
                        <p:par>
                          <p:cTn id="242" fill="hold">
                            <p:stCondLst>
                              <p:cond delay="3000"/>
                            </p:stCondLst>
                            <p:childTnLst>
                              <p:par>
                                <p:cTn id="243" presetID="22" presetClass="entr" presetSubtype="8" fill="hold" nodeType="afterEffect">
                                  <p:stCondLst>
                                    <p:cond delay="0"/>
                                  </p:stCondLst>
                                  <p:childTnLst>
                                    <p:set>
                                      <p:cBhvr>
                                        <p:cTn id="244" dur="1" fill="hold">
                                          <p:stCondLst>
                                            <p:cond delay="0"/>
                                          </p:stCondLst>
                                        </p:cTn>
                                        <p:tgtEl>
                                          <p:spTgt spid="403"/>
                                        </p:tgtEl>
                                        <p:attrNameLst>
                                          <p:attrName>style.visibility</p:attrName>
                                        </p:attrNameLst>
                                      </p:cBhvr>
                                      <p:to>
                                        <p:strVal val="visible"/>
                                      </p:to>
                                    </p:set>
                                    <p:animEffect transition="in" filter="wipe(left)">
                                      <p:cBhvr>
                                        <p:cTn id="245" dur="500"/>
                                        <p:tgtEl>
                                          <p:spTgt spid="403"/>
                                        </p:tgtEl>
                                      </p:cBhvr>
                                    </p:animEffect>
                                  </p:childTnLst>
                                </p:cTn>
                              </p:par>
                            </p:childTnLst>
                          </p:cTn>
                        </p:par>
                      </p:childTnLst>
                    </p:cTn>
                  </p:par>
                  <p:par>
                    <p:cTn id="246" fill="hold">
                      <p:stCondLst>
                        <p:cond delay="indefinite"/>
                      </p:stCondLst>
                      <p:childTnLst>
                        <p:par>
                          <p:cTn id="247" fill="hold">
                            <p:stCondLst>
                              <p:cond delay="0"/>
                            </p:stCondLst>
                            <p:childTnLst>
                              <p:par>
                                <p:cTn id="248" presetID="9" presetClass="entr" presetSubtype="0" fill="hold" grpId="0" nodeType="clickEffect">
                                  <p:stCondLst>
                                    <p:cond delay="0"/>
                                  </p:stCondLst>
                                  <p:childTnLst>
                                    <p:set>
                                      <p:cBhvr>
                                        <p:cTn id="249" dur="1" fill="hold">
                                          <p:stCondLst>
                                            <p:cond delay="0"/>
                                          </p:stCondLst>
                                        </p:cTn>
                                        <p:tgtEl>
                                          <p:spTgt spid="408"/>
                                        </p:tgtEl>
                                        <p:attrNameLst>
                                          <p:attrName>style.visibility</p:attrName>
                                        </p:attrNameLst>
                                      </p:cBhvr>
                                      <p:to>
                                        <p:strVal val="visible"/>
                                      </p:to>
                                    </p:set>
                                    <p:animEffect transition="in" filter="dissolve">
                                      <p:cBhvr>
                                        <p:cTn id="250" dur="500"/>
                                        <p:tgtEl>
                                          <p:spTgt spid="408"/>
                                        </p:tgtEl>
                                      </p:cBhvr>
                                    </p:animEffect>
                                  </p:childTnLst>
                                </p:cTn>
                              </p:par>
                            </p:childTnLst>
                          </p:cTn>
                        </p:par>
                        <p:par>
                          <p:cTn id="251" fill="hold">
                            <p:stCondLst>
                              <p:cond delay="500"/>
                            </p:stCondLst>
                            <p:childTnLst>
                              <p:par>
                                <p:cTn id="252" presetID="22" presetClass="entr" presetSubtype="8" fill="hold" grpId="0" nodeType="afterEffect">
                                  <p:stCondLst>
                                    <p:cond delay="0"/>
                                  </p:stCondLst>
                                  <p:childTnLst>
                                    <p:set>
                                      <p:cBhvr>
                                        <p:cTn id="253" dur="1" fill="hold">
                                          <p:stCondLst>
                                            <p:cond delay="0"/>
                                          </p:stCondLst>
                                        </p:cTn>
                                        <p:tgtEl>
                                          <p:spTgt spid="230"/>
                                        </p:tgtEl>
                                        <p:attrNameLst>
                                          <p:attrName>style.visibility</p:attrName>
                                        </p:attrNameLst>
                                      </p:cBhvr>
                                      <p:to>
                                        <p:strVal val="visible"/>
                                      </p:to>
                                    </p:set>
                                    <p:animEffect transition="in" filter="wipe(left)">
                                      <p:cBhvr>
                                        <p:cTn id="254" dur="500"/>
                                        <p:tgtEl>
                                          <p:spTgt spid="230"/>
                                        </p:tgtEl>
                                      </p:cBhvr>
                                    </p:animEffect>
                                  </p:childTnLst>
                                </p:cTn>
                              </p:par>
                            </p:childTnLst>
                          </p:cTn>
                        </p:par>
                        <p:par>
                          <p:cTn id="255" fill="hold">
                            <p:stCondLst>
                              <p:cond delay="1000"/>
                            </p:stCondLst>
                            <p:childTnLst>
                              <p:par>
                                <p:cTn id="256" presetID="22" presetClass="entr" presetSubtype="8" fill="hold" grpId="0" nodeType="afterEffect">
                                  <p:stCondLst>
                                    <p:cond delay="0"/>
                                  </p:stCondLst>
                                  <p:childTnLst>
                                    <p:set>
                                      <p:cBhvr>
                                        <p:cTn id="257" dur="1" fill="hold">
                                          <p:stCondLst>
                                            <p:cond delay="0"/>
                                          </p:stCondLst>
                                        </p:cTn>
                                        <p:tgtEl>
                                          <p:spTgt spid="231"/>
                                        </p:tgtEl>
                                        <p:attrNameLst>
                                          <p:attrName>style.visibility</p:attrName>
                                        </p:attrNameLst>
                                      </p:cBhvr>
                                      <p:to>
                                        <p:strVal val="visible"/>
                                      </p:to>
                                    </p:set>
                                    <p:animEffect transition="in" filter="wipe(left)">
                                      <p:cBhvr>
                                        <p:cTn id="258" dur="500"/>
                                        <p:tgtEl>
                                          <p:spTgt spid="231"/>
                                        </p:tgtEl>
                                      </p:cBhvr>
                                    </p:animEffect>
                                  </p:childTnLst>
                                </p:cTn>
                              </p:par>
                            </p:childTnLst>
                          </p:cTn>
                        </p:par>
                        <p:par>
                          <p:cTn id="259" fill="hold">
                            <p:stCondLst>
                              <p:cond delay="1500"/>
                            </p:stCondLst>
                            <p:childTnLst>
                              <p:par>
                                <p:cTn id="260" presetID="22" presetClass="entr" presetSubtype="8" fill="hold" grpId="0" nodeType="afterEffect">
                                  <p:stCondLst>
                                    <p:cond delay="0"/>
                                  </p:stCondLst>
                                  <p:childTnLst>
                                    <p:set>
                                      <p:cBhvr>
                                        <p:cTn id="261" dur="1" fill="hold">
                                          <p:stCondLst>
                                            <p:cond delay="0"/>
                                          </p:stCondLst>
                                        </p:cTn>
                                        <p:tgtEl>
                                          <p:spTgt spid="232"/>
                                        </p:tgtEl>
                                        <p:attrNameLst>
                                          <p:attrName>style.visibility</p:attrName>
                                        </p:attrNameLst>
                                      </p:cBhvr>
                                      <p:to>
                                        <p:strVal val="visible"/>
                                      </p:to>
                                    </p:set>
                                    <p:animEffect transition="in" filter="wipe(left)">
                                      <p:cBhvr>
                                        <p:cTn id="262" dur="500"/>
                                        <p:tgtEl>
                                          <p:spTgt spid="232"/>
                                        </p:tgtEl>
                                      </p:cBhvr>
                                    </p:animEffect>
                                  </p:childTnLst>
                                </p:cTn>
                              </p:par>
                            </p:childTnLst>
                          </p:cTn>
                        </p:par>
                        <p:par>
                          <p:cTn id="263" fill="hold">
                            <p:stCondLst>
                              <p:cond delay="2000"/>
                            </p:stCondLst>
                            <p:childTnLst>
                              <p:par>
                                <p:cTn id="264" presetID="22" presetClass="entr" presetSubtype="8" fill="hold" grpId="0" nodeType="afterEffect">
                                  <p:stCondLst>
                                    <p:cond delay="0"/>
                                  </p:stCondLst>
                                  <p:childTnLst>
                                    <p:set>
                                      <p:cBhvr>
                                        <p:cTn id="265" dur="1" fill="hold">
                                          <p:stCondLst>
                                            <p:cond delay="0"/>
                                          </p:stCondLst>
                                        </p:cTn>
                                        <p:tgtEl>
                                          <p:spTgt spid="233"/>
                                        </p:tgtEl>
                                        <p:attrNameLst>
                                          <p:attrName>style.visibility</p:attrName>
                                        </p:attrNameLst>
                                      </p:cBhvr>
                                      <p:to>
                                        <p:strVal val="visible"/>
                                      </p:to>
                                    </p:set>
                                    <p:animEffect transition="in" filter="wipe(left)">
                                      <p:cBhvr>
                                        <p:cTn id="266" dur="500"/>
                                        <p:tgtEl>
                                          <p:spTgt spid="233"/>
                                        </p:tgtEl>
                                      </p:cBhvr>
                                    </p:animEffect>
                                  </p:childTnLst>
                                </p:cTn>
                              </p:par>
                            </p:childTnLst>
                          </p:cTn>
                        </p:par>
                        <p:par>
                          <p:cTn id="267" fill="hold">
                            <p:stCondLst>
                              <p:cond delay="2500"/>
                            </p:stCondLst>
                            <p:childTnLst>
                              <p:par>
                                <p:cTn id="268" presetID="22" presetClass="entr" presetSubtype="8" fill="hold" grpId="0" nodeType="afterEffect">
                                  <p:stCondLst>
                                    <p:cond delay="0"/>
                                  </p:stCondLst>
                                  <p:childTnLst>
                                    <p:set>
                                      <p:cBhvr>
                                        <p:cTn id="269" dur="1" fill="hold">
                                          <p:stCondLst>
                                            <p:cond delay="0"/>
                                          </p:stCondLst>
                                        </p:cTn>
                                        <p:tgtEl>
                                          <p:spTgt spid="234"/>
                                        </p:tgtEl>
                                        <p:attrNameLst>
                                          <p:attrName>style.visibility</p:attrName>
                                        </p:attrNameLst>
                                      </p:cBhvr>
                                      <p:to>
                                        <p:strVal val="visible"/>
                                      </p:to>
                                    </p:set>
                                    <p:animEffect transition="in" filter="wipe(left)">
                                      <p:cBhvr>
                                        <p:cTn id="270" dur="500"/>
                                        <p:tgtEl>
                                          <p:spTgt spid="234"/>
                                        </p:tgtEl>
                                      </p:cBhvr>
                                    </p:animEffect>
                                  </p:childTnLst>
                                </p:cTn>
                              </p:par>
                            </p:childTnLst>
                          </p:cTn>
                        </p:par>
                        <p:par>
                          <p:cTn id="271" fill="hold">
                            <p:stCondLst>
                              <p:cond delay="3000"/>
                            </p:stCondLst>
                            <p:childTnLst>
                              <p:par>
                                <p:cTn id="272" presetID="22" presetClass="entr" presetSubtype="8" fill="hold" grpId="0" nodeType="afterEffect">
                                  <p:stCondLst>
                                    <p:cond delay="0"/>
                                  </p:stCondLst>
                                  <p:childTnLst>
                                    <p:set>
                                      <p:cBhvr>
                                        <p:cTn id="273" dur="1" fill="hold">
                                          <p:stCondLst>
                                            <p:cond delay="0"/>
                                          </p:stCondLst>
                                        </p:cTn>
                                        <p:tgtEl>
                                          <p:spTgt spid="407"/>
                                        </p:tgtEl>
                                        <p:attrNameLst>
                                          <p:attrName>style.visibility</p:attrName>
                                        </p:attrNameLst>
                                      </p:cBhvr>
                                      <p:to>
                                        <p:strVal val="visible"/>
                                      </p:to>
                                    </p:set>
                                    <p:animEffect transition="in" filter="wipe(left)">
                                      <p:cBhvr>
                                        <p:cTn id="274" dur="500"/>
                                        <p:tgtEl>
                                          <p:spTgt spid="407"/>
                                        </p:tgtEl>
                                      </p:cBhvr>
                                    </p:animEffect>
                                  </p:childTnLst>
                                </p:cTn>
                              </p:par>
                            </p:childTnLst>
                          </p:cTn>
                        </p:par>
                        <p:par>
                          <p:cTn id="275" fill="hold">
                            <p:stCondLst>
                              <p:cond delay="3500"/>
                            </p:stCondLst>
                            <p:childTnLst>
                              <p:par>
                                <p:cTn id="276" presetID="22" presetClass="entr" presetSubtype="8" fill="hold" grpId="0" nodeType="afterEffect">
                                  <p:stCondLst>
                                    <p:cond delay="0"/>
                                  </p:stCondLst>
                                  <p:childTnLst>
                                    <p:set>
                                      <p:cBhvr>
                                        <p:cTn id="277" dur="1" fill="hold">
                                          <p:stCondLst>
                                            <p:cond delay="0"/>
                                          </p:stCondLst>
                                        </p:cTn>
                                        <p:tgtEl>
                                          <p:spTgt spid="406"/>
                                        </p:tgtEl>
                                        <p:attrNameLst>
                                          <p:attrName>style.visibility</p:attrName>
                                        </p:attrNameLst>
                                      </p:cBhvr>
                                      <p:to>
                                        <p:strVal val="visible"/>
                                      </p:to>
                                    </p:set>
                                    <p:animEffect transition="in" filter="wipe(left)">
                                      <p:cBhvr>
                                        <p:cTn id="278" dur="500"/>
                                        <p:tgtEl>
                                          <p:spTgt spid="406"/>
                                        </p:tgtEl>
                                      </p:cBhvr>
                                    </p:animEffect>
                                  </p:childTnLst>
                                </p:cTn>
                              </p:par>
                            </p:childTnLst>
                          </p:cTn>
                        </p:par>
                      </p:childTnLst>
                    </p:cTn>
                  </p:par>
                  <p:par>
                    <p:cTn id="279" fill="hold">
                      <p:stCondLst>
                        <p:cond delay="indefinite"/>
                      </p:stCondLst>
                      <p:childTnLst>
                        <p:par>
                          <p:cTn id="280" fill="hold">
                            <p:stCondLst>
                              <p:cond delay="0"/>
                            </p:stCondLst>
                            <p:childTnLst>
                              <p:par>
                                <p:cTn id="281" presetID="9" presetClass="entr" presetSubtype="0" fill="hold" grpId="0" nodeType="clickEffect">
                                  <p:stCondLst>
                                    <p:cond delay="0"/>
                                  </p:stCondLst>
                                  <p:childTnLst>
                                    <p:set>
                                      <p:cBhvr>
                                        <p:cTn id="282" dur="1" fill="hold">
                                          <p:stCondLst>
                                            <p:cond delay="0"/>
                                          </p:stCondLst>
                                        </p:cTn>
                                        <p:tgtEl>
                                          <p:spTgt spid="409"/>
                                        </p:tgtEl>
                                        <p:attrNameLst>
                                          <p:attrName>style.visibility</p:attrName>
                                        </p:attrNameLst>
                                      </p:cBhvr>
                                      <p:to>
                                        <p:strVal val="visible"/>
                                      </p:to>
                                    </p:set>
                                    <p:animEffect transition="in" filter="dissolve">
                                      <p:cBhvr>
                                        <p:cTn id="283" dur="500"/>
                                        <p:tgtEl>
                                          <p:spTgt spid="409"/>
                                        </p:tgtEl>
                                      </p:cBhvr>
                                    </p:animEffect>
                                  </p:childTnLst>
                                </p:cTn>
                              </p:par>
                            </p:childTnLst>
                          </p:cTn>
                        </p:par>
                        <p:par>
                          <p:cTn id="284" fill="hold">
                            <p:stCondLst>
                              <p:cond delay="500"/>
                            </p:stCondLst>
                            <p:childTnLst>
                              <p:par>
                                <p:cTn id="285" presetID="22" presetClass="entr" presetSubtype="8" fill="hold" grpId="0" nodeType="afterEffect">
                                  <p:stCondLst>
                                    <p:cond delay="0"/>
                                  </p:stCondLst>
                                  <p:childTnLst>
                                    <p:set>
                                      <p:cBhvr>
                                        <p:cTn id="286" dur="1" fill="hold">
                                          <p:stCondLst>
                                            <p:cond delay="0"/>
                                          </p:stCondLst>
                                        </p:cTn>
                                        <p:tgtEl>
                                          <p:spTgt spid="363"/>
                                        </p:tgtEl>
                                        <p:attrNameLst>
                                          <p:attrName>style.visibility</p:attrName>
                                        </p:attrNameLst>
                                      </p:cBhvr>
                                      <p:to>
                                        <p:strVal val="visible"/>
                                      </p:to>
                                    </p:set>
                                    <p:animEffect transition="in" filter="wipe(left)">
                                      <p:cBhvr>
                                        <p:cTn id="287" dur="500"/>
                                        <p:tgtEl>
                                          <p:spTgt spid="363"/>
                                        </p:tgtEl>
                                      </p:cBhvr>
                                    </p:animEffect>
                                  </p:childTnLst>
                                </p:cTn>
                              </p:par>
                            </p:childTnLst>
                          </p:cTn>
                        </p:par>
                        <p:par>
                          <p:cTn id="288" fill="hold">
                            <p:stCondLst>
                              <p:cond delay="1000"/>
                            </p:stCondLst>
                            <p:childTnLst>
                              <p:par>
                                <p:cTn id="289" presetID="22" presetClass="entr" presetSubtype="8" fill="hold" grpId="0" nodeType="afterEffect">
                                  <p:stCondLst>
                                    <p:cond delay="0"/>
                                  </p:stCondLst>
                                  <p:childTnLst>
                                    <p:set>
                                      <p:cBhvr>
                                        <p:cTn id="290" dur="1" fill="hold">
                                          <p:stCondLst>
                                            <p:cond delay="0"/>
                                          </p:stCondLst>
                                        </p:cTn>
                                        <p:tgtEl>
                                          <p:spTgt spid="364"/>
                                        </p:tgtEl>
                                        <p:attrNameLst>
                                          <p:attrName>style.visibility</p:attrName>
                                        </p:attrNameLst>
                                      </p:cBhvr>
                                      <p:to>
                                        <p:strVal val="visible"/>
                                      </p:to>
                                    </p:set>
                                    <p:animEffect transition="in" filter="wipe(left)">
                                      <p:cBhvr>
                                        <p:cTn id="291" dur="500"/>
                                        <p:tgtEl>
                                          <p:spTgt spid="364"/>
                                        </p:tgtEl>
                                      </p:cBhvr>
                                    </p:animEffect>
                                  </p:childTnLst>
                                </p:cTn>
                              </p:par>
                            </p:childTnLst>
                          </p:cTn>
                        </p:par>
                        <p:par>
                          <p:cTn id="292" fill="hold">
                            <p:stCondLst>
                              <p:cond delay="1500"/>
                            </p:stCondLst>
                            <p:childTnLst>
                              <p:par>
                                <p:cTn id="293" presetID="22" presetClass="entr" presetSubtype="8" fill="hold" grpId="0" nodeType="afterEffect">
                                  <p:stCondLst>
                                    <p:cond delay="0"/>
                                  </p:stCondLst>
                                  <p:childTnLst>
                                    <p:set>
                                      <p:cBhvr>
                                        <p:cTn id="294" dur="1" fill="hold">
                                          <p:stCondLst>
                                            <p:cond delay="0"/>
                                          </p:stCondLst>
                                        </p:cTn>
                                        <p:tgtEl>
                                          <p:spTgt spid="365"/>
                                        </p:tgtEl>
                                        <p:attrNameLst>
                                          <p:attrName>style.visibility</p:attrName>
                                        </p:attrNameLst>
                                      </p:cBhvr>
                                      <p:to>
                                        <p:strVal val="visible"/>
                                      </p:to>
                                    </p:set>
                                    <p:animEffect transition="in" filter="wipe(left)">
                                      <p:cBhvr>
                                        <p:cTn id="295" dur="500"/>
                                        <p:tgtEl>
                                          <p:spTgt spid="365"/>
                                        </p:tgtEl>
                                      </p:cBhvr>
                                    </p:animEffect>
                                  </p:childTnLst>
                                </p:cTn>
                              </p:par>
                            </p:childTnLst>
                          </p:cTn>
                        </p:par>
                        <p:par>
                          <p:cTn id="296" fill="hold">
                            <p:stCondLst>
                              <p:cond delay="2000"/>
                            </p:stCondLst>
                            <p:childTnLst>
                              <p:par>
                                <p:cTn id="297" presetID="22" presetClass="entr" presetSubtype="8" fill="hold" grpId="0" nodeType="afterEffect">
                                  <p:stCondLst>
                                    <p:cond delay="0"/>
                                  </p:stCondLst>
                                  <p:childTnLst>
                                    <p:set>
                                      <p:cBhvr>
                                        <p:cTn id="298" dur="1" fill="hold">
                                          <p:stCondLst>
                                            <p:cond delay="0"/>
                                          </p:stCondLst>
                                        </p:cTn>
                                        <p:tgtEl>
                                          <p:spTgt spid="366"/>
                                        </p:tgtEl>
                                        <p:attrNameLst>
                                          <p:attrName>style.visibility</p:attrName>
                                        </p:attrNameLst>
                                      </p:cBhvr>
                                      <p:to>
                                        <p:strVal val="visible"/>
                                      </p:to>
                                    </p:set>
                                    <p:animEffect transition="in" filter="wipe(left)">
                                      <p:cBhvr>
                                        <p:cTn id="299" dur="500"/>
                                        <p:tgtEl>
                                          <p:spTgt spid="366"/>
                                        </p:tgtEl>
                                      </p:cBhvr>
                                    </p:animEffect>
                                  </p:childTnLst>
                                </p:cTn>
                              </p:par>
                            </p:childTnLst>
                          </p:cTn>
                        </p:par>
                        <p:par>
                          <p:cTn id="300" fill="hold">
                            <p:stCondLst>
                              <p:cond delay="2500"/>
                            </p:stCondLst>
                            <p:childTnLst>
                              <p:par>
                                <p:cTn id="301" presetID="22" presetClass="entr" presetSubtype="8" fill="hold" grpId="0" nodeType="afterEffect">
                                  <p:stCondLst>
                                    <p:cond delay="0"/>
                                  </p:stCondLst>
                                  <p:childTnLst>
                                    <p:set>
                                      <p:cBhvr>
                                        <p:cTn id="302" dur="1" fill="hold">
                                          <p:stCondLst>
                                            <p:cond delay="0"/>
                                          </p:stCondLst>
                                        </p:cTn>
                                        <p:tgtEl>
                                          <p:spTgt spid="367"/>
                                        </p:tgtEl>
                                        <p:attrNameLst>
                                          <p:attrName>style.visibility</p:attrName>
                                        </p:attrNameLst>
                                      </p:cBhvr>
                                      <p:to>
                                        <p:strVal val="visible"/>
                                      </p:to>
                                    </p:set>
                                    <p:animEffect transition="in" filter="wipe(left)">
                                      <p:cBhvr>
                                        <p:cTn id="303" dur="500"/>
                                        <p:tgtEl>
                                          <p:spTgt spid="367"/>
                                        </p:tgtEl>
                                      </p:cBhvr>
                                    </p:animEffect>
                                  </p:childTnLst>
                                </p:cTn>
                              </p:par>
                            </p:childTnLst>
                          </p:cTn>
                        </p:par>
                        <p:par>
                          <p:cTn id="304" fill="hold">
                            <p:stCondLst>
                              <p:cond delay="3000"/>
                            </p:stCondLst>
                            <p:childTnLst>
                              <p:par>
                                <p:cTn id="305" presetID="22" presetClass="entr" presetSubtype="8" fill="hold" grpId="0" nodeType="afterEffect">
                                  <p:stCondLst>
                                    <p:cond delay="0"/>
                                  </p:stCondLst>
                                  <p:childTnLst>
                                    <p:set>
                                      <p:cBhvr>
                                        <p:cTn id="306" dur="1" fill="hold">
                                          <p:stCondLst>
                                            <p:cond delay="0"/>
                                          </p:stCondLst>
                                        </p:cTn>
                                        <p:tgtEl>
                                          <p:spTgt spid="368"/>
                                        </p:tgtEl>
                                        <p:attrNameLst>
                                          <p:attrName>style.visibility</p:attrName>
                                        </p:attrNameLst>
                                      </p:cBhvr>
                                      <p:to>
                                        <p:strVal val="visible"/>
                                      </p:to>
                                    </p:set>
                                    <p:animEffect transition="in" filter="wipe(left)">
                                      <p:cBhvr>
                                        <p:cTn id="307" dur="500"/>
                                        <p:tgtEl>
                                          <p:spTgt spid="368"/>
                                        </p:tgtEl>
                                      </p:cBhvr>
                                    </p:animEffect>
                                  </p:childTnLst>
                                </p:cTn>
                              </p:par>
                            </p:childTnLst>
                          </p:cTn>
                        </p:par>
                        <p:par>
                          <p:cTn id="308" fill="hold">
                            <p:stCondLst>
                              <p:cond delay="3500"/>
                            </p:stCondLst>
                            <p:childTnLst>
                              <p:par>
                                <p:cTn id="309" presetID="1" presetClass="entr" presetSubtype="0" fill="hold" nodeType="afterEffect">
                                  <p:stCondLst>
                                    <p:cond delay="0"/>
                                  </p:stCondLst>
                                  <p:childTnLst>
                                    <p:set>
                                      <p:cBhvr>
                                        <p:cTn id="310" dur="1" fill="hold">
                                          <p:stCondLst>
                                            <p:cond delay="499"/>
                                          </p:stCondLst>
                                        </p:cTn>
                                        <p:tgtEl>
                                          <p:spTgt spid="2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 grpId="0" animBg="1" autoUpdateAnimBg="0"/>
      <p:bldP spid="219" grpId="0" animBg="1" autoUpdateAnimBg="0"/>
      <p:bldP spid="220" grpId="0" animBg="1" autoUpdateAnimBg="0"/>
      <p:bldP spid="221" grpId="0" animBg="1" autoUpdateAnimBg="0"/>
      <p:bldP spid="222" grpId="0" animBg="1" autoUpdateAnimBg="0"/>
      <p:bldP spid="225" grpId="0" animBg="1" autoUpdateAnimBg="0"/>
      <p:bldP spid="228" grpId="0" animBg="1" autoUpdateAnimBg="0"/>
      <p:bldP spid="230" grpId="0" animBg="1" autoUpdateAnimBg="0"/>
      <p:bldP spid="231" grpId="0" animBg="1" autoUpdateAnimBg="0"/>
      <p:bldP spid="232" grpId="0" animBg="1" autoUpdateAnimBg="0"/>
      <p:bldP spid="233" grpId="0" animBg="1" autoUpdateAnimBg="0"/>
      <p:bldP spid="234" grpId="0" animBg="1" autoUpdateAnimBg="0"/>
      <p:bldP spid="235" grpId="0" animBg="1" autoUpdateAnimBg="0"/>
      <p:bldP spid="236" grpId="0" animBg="1" autoUpdateAnimBg="0"/>
      <p:bldP spid="237" grpId="0" animBg="1" autoUpdateAnimBg="0"/>
      <p:bldP spid="238" grpId="0" animBg="1" autoUpdateAnimBg="0"/>
      <p:bldP spid="239" grpId="0" animBg="1" autoUpdateAnimBg="0"/>
      <p:bldP spid="240" grpId="0" animBg="1" autoUpdateAnimBg="0"/>
      <p:bldP spid="241" grpId="0" animBg="1" autoUpdateAnimBg="0"/>
      <p:bldP spid="242" grpId="0" animBg="1" autoUpdateAnimBg="0"/>
      <p:bldP spid="290" grpId="0" animBg="1" autoUpdateAnimBg="0"/>
      <p:bldP spid="291" grpId="0" animBg="1" autoUpdateAnimBg="0"/>
      <p:bldP spid="292" grpId="0" animBg="1" autoUpdateAnimBg="0"/>
      <p:bldP spid="363" grpId="0" animBg="1" autoUpdateAnimBg="0"/>
      <p:bldP spid="364" grpId="0" animBg="1" autoUpdateAnimBg="0"/>
      <p:bldP spid="365" grpId="0" animBg="1" autoUpdateAnimBg="0"/>
      <p:bldP spid="366" grpId="0" animBg="1" autoUpdateAnimBg="0"/>
      <p:bldP spid="367" grpId="0" animBg="1" autoUpdateAnimBg="0"/>
      <p:bldP spid="368" grpId="0" animBg="1" autoUpdateAnimBg="0"/>
      <p:bldP spid="381" grpId="0" animBg="1" autoUpdateAnimBg="0"/>
      <p:bldP spid="382" grpId="0" animBg="1" autoUpdateAnimBg="0"/>
      <p:bldP spid="386" grpId="0" animBg="1" autoUpdateAnimBg="0"/>
      <p:bldP spid="393" grpId="0" animBg="1" autoUpdateAnimBg="0"/>
      <p:bldP spid="394" grpId="0" animBg="1" autoUpdateAnimBg="0"/>
      <p:bldP spid="401" grpId="0" animBg="1" autoUpdateAnimBg="0"/>
      <p:bldP spid="402" grpId="0" animBg="1" autoUpdateAnimBg="0"/>
      <p:bldP spid="406" grpId="0" autoUpdateAnimBg="0"/>
      <p:bldP spid="407" grpId="0" animBg="1" autoUpdateAnimBg="0"/>
      <p:bldP spid="408" grpId="0" animBg="1" autoUpdateAnimBg="0"/>
      <p:bldP spid="409"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533400" y="1219200"/>
            <a:ext cx="5105400" cy="4324922"/>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0"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11" action="ppaction://hlinksldjump"/>
          </p:cNvPr>
          <p:cNvSpPr txBox="1">
            <a:spLocks noChangeArrowheads="1"/>
          </p:cNvSpPr>
          <p:nvPr>
            <p:custDataLst>
              <p:tags r:id="rId2"/>
            </p:custDataLst>
          </p:nvPr>
        </p:nvSpPr>
        <p:spPr bwMode="auto">
          <a:xfrm>
            <a:off x="538802" y="137289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What is the TI-RTOS Kernel?</a:t>
            </a:r>
            <a:endParaRPr lang="en-US" dirty="0">
              <a:solidFill>
                <a:srgbClr val="000000"/>
              </a:solidFill>
            </a:endParaRPr>
          </a:p>
        </p:txBody>
      </p:sp>
      <p:sp>
        <p:nvSpPr>
          <p:cNvPr id="10" name="Text Box 4">
            <a:hlinkClick r:id="rId12" action="ppaction://hlinksldjump"/>
          </p:cNvPr>
          <p:cNvSpPr txBox="1">
            <a:spLocks noChangeArrowheads="1"/>
          </p:cNvSpPr>
          <p:nvPr>
            <p:custDataLst>
              <p:tags r:id="rId3"/>
            </p:custDataLst>
          </p:nvPr>
        </p:nvSpPr>
        <p:spPr bwMode="auto">
          <a:xfrm>
            <a:off x="538802" y="182520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Scheduler</a:t>
            </a:r>
            <a:endParaRPr lang="en-US" dirty="0">
              <a:solidFill>
                <a:srgbClr val="000000"/>
              </a:solidFill>
            </a:endParaRPr>
          </a:p>
        </p:txBody>
      </p:sp>
      <p:sp>
        <p:nvSpPr>
          <p:cNvPr id="11" name="Text Box 3">
            <a:hlinkClick r:id="rId13" action="ppaction://hlinksldjump"/>
          </p:cNvPr>
          <p:cNvSpPr txBox="1">
            <a:spLocks noChangeArrowheads="1"/>
          </p:cNvSpPr>
          <p:nvPr>
            <p:custDataLst>
              <p:tags r:id="rId4"/>
            </p:custDataLst>
          </p:nvPr>
        </p:nvSpPr>
        <p:spPr bwMode="auto">
          <a:xfrm>
            <a:off x="533400" y="2277520"/>
            <a:ext cx="5105400" cy="387798"/>
          </a:xfrm>
          <a:prstGeom prst="rect">
            <a:avLst/>
          </a:prstGeom>
          <a:solidFill>
            <a:schemeClr val="bg1"/>
          </a:solidFill>
          <a:ln w="19050">
            <a:solidFill>
              <a:schemeClr val="tx1"/>
            </a:solid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Adding Tasks…</a:t>
            </a:r>
            <a:endParaRPr lang="en-US" dirty="0">
              <a:solidFill>
                <a:srgbClr val="000000"/>
              </a:solidFill>
            </a:endParaRPr>
          </a:p>
        </p:txBody>
      </p:sp>
      <p:sp>
        <p:nvSpPr>
          <p:cNvPr id="12" name="Text Box 4">
            <a:hlinkClick r:id="rId14" action="ppaction://hlinksldjump"/>
          </p:cNvPr>
          <p:cNvSpPr txBox="1">
            <a:spLocks noChangeArrowheads="1"/>
          </p:cNvSpPr>
          <p:nvPr>
            <p:custDataLst>
              <p:tags r:id="rId5"/>
            </p:custDataLst>
          </p:nvPr>
        </p:nvSpPr>
        <p:spPr bwMode="auto">
          <a:xfrm>
            <a:off x="538802" y="2729834"/>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Environment</a:t>
            </a:r>
            <a:endParaRPr lang="en-US" dirty="0">
              <a:solidFill>
                <a:srgbClr val="000000"/>
              </a:solidFill>
            </a:endParaRPr>
          </a:p>
        </p:txBody>
      </p:sp>
      <p:sp>
        <p:nvSpPr>
          <p:cNvPr id="13" name="Text Box 4">
            <a:hlinkClick r:id="rId15" action="ppaction://hlinksldjump"/>
          </p:cNvPr>
          <p:cNvSpPr txBox="1">
            <a:spLocks noChangeArrowheads="1"/>
          </p:cNvSpPr>
          <p:nvPr>
            <p:custDataLst>
              <p:tags r:id="rId6"/>
            </p:custDataLst>
          </p:nvPr>
        </p:nvSpPr>
        <p:spPr bwMode="auto">
          <a:xfrm>
            <a:off x="538802" y="3182148"/>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Debugging Tools</a:t>
            </a:r>
            <a:endParaRPr lang="en-US" dirty="0">
              <a:solidFill>
                <a:srgbClr val="000000"/>
              </a:solidFill>
            </a:endParaRPr>
          </a:p>
        </p:txBody>
      </p:sp>
      <p:sp>
        <p:nvSpPr>
          <p:cNvPr id="14" name="Text Box 4">
            <a:hlinkClick r:id="rId16" action="ppaction://hlinksldjump"/>
          </p:cNvPr>
          <p:cNvSpPr txBox="1">
            <a:spLocks noChangeArrowheads="1"/>
          </p:cNvSpPr>
          <p:nvPr>
            <p:custDataLst>
              <p:tags r:id="rId7"/>
            </p:custDataLst>
          </p:nvPr>
        </p:nvSpPr>
        <p:spPr bwMode="auto">
          <a:xfrm>
            <a:off x="538802" y="363446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For More Info…</a:t>
            </a:r>
            <a:endParaRPr lang="en-US" dirty="0">
              <a:solidFill>
                <a:srgbClr val="000000"/>
              </a:solidFill>
            </a:endParaRPr>
          </a:p>
        </p:txBody>
      </p:sp>
      <p:sp>
        <p:nvSpPr>
          <p:cNvPr id="15" name="Text Box 4">
            <a:hlinkClick r:id="rId17" action="ppaction://hlinksldjump"/>
          </p:cNvPr>
          <p:cNvSpPr txBox="1">
            <a:spLocks noChangeArrowheads="1"/>
          </p:cNvSpPr>
          <p:nvPr>
            <p:custDataLst>
              <p:tags r:id="rId8"/>
            </p:custDataLst>
          </p:nvPr>
        </p:nvSpPr>
        <p:spPr bwMode="auto">
          <a:xfrm>
            <a:off x="538802" y="408677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Chapter Quiz</a:t>
            </a:r>
            <a:endParaRPr lang="en-US" dirty="0">
              <a:solidFill>
                <a:srgbClr val="000000"/>
              </a:solidFill>
            </a:endParaRPr>
          </a:p>
        </p:txBody>
      </p:sp>
    </p:spTree>
    <p:custDataLst>
      <p:tags r:id="rId1"/>
    </p:custDataLst>
    <p:extLst>
      <p:ext uri="{BB962C8B-B14F-4D97-AF65-F5344CB8AC3E}">
        <p14:creationId xmlns:p14="http://schemas.microsoft.com/office/powerpoint/2010/main" val="228817029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fontScale="90000"/>
          </a:bodyPr>
          <a:lstStyle/>
          <a:p>
            <a:r>
              <a:rPr lang="en-US" dirty="0" smtClean="0"/>
              <a:t>SYS/BIOS </a:t>
            </a:r>
            <a:r>
              <a:rPr lang="en-US" smtClean="0"/>
              <a:t>Thread Types (including Tasks)</a:t>
            </a:r>
            <a:endParaRPr lang="en-US" dirty="0" smtClean="0"/>
          </a:p>
        </p:txBody>
      </p:sp>
      <p:sp>
        <p:nvSpPr>
          <p:cNvPr id="11267" name="Text Box 4"/>
          <p:cNvSpPr txBox="1">
            <a:spLocks noChangeArrowheads="1"/>
          </p:cNvSpPr>
          <p:nvPr/>
        </p:nvSpPr>
        <p:spPr bwMode="auto">
          <a:xfrm rot="-5400000">
            <a:off x="-351705" y="3265404"/>
            <a:ext cx="1295547" cy="437043"/>
          </a:xfrm>
          <a:prstGeom prst="rect">
            <a:avLst/>
          </a:prstGeom>
          <a:noFill/>
          <a:ln w="12700">
            <a:noFill/>
            <a:miter lim="800000"/>
            <a:headEnd type="none" w="sm" len="sm"/>
            <a:tailEnd type="none" w="sm" len="sm"/>
          </a:ln>
        </p:spPr>
        <p:txBody>
          <a:bodyPr wrap="none">
            <a:spAutoFit/>
          </a:bodyPr>
          <a:lstStyle/>
          <a:p>
            <a:r>
              <a:rPr lang="en-US" sz="2800">
                <a:solidFill>
                  <a:srgbClr val="000000"/>
                </a:solidFill>
                <a:latin typeface="Calibri" pitchFamily="34" charset="0"/>
                <a:cs typeface="Calibri" pitchFamily="34" charset="0"/>
              </a:rPr>
              <a:t>Priority</a:t>
            </a:r>
          </a:p>
        </p:txBody>
      </p:sp>
      <p:sp>
        <p:nvSpPr>
          <p:cNvPr id="368645" name="Line 5"/>
          <p:cNvSpPr>
            <a:spLocks noChangeShapeType="1"/>
          </p:cNvSpPr>
          <p:nvPr/>
        </p:nvSpPr>
        <p:spPr bwMode="auto">
          <a:xfrm flipV="1">
            <a:off x="587375" y="626425"/>
            <a:ext cx="0" cy="5715000"/>
          </a:xfrm>
          <a:prstGeom prst="line">
            <a:avLst/>
          </a:prstGeom>
          <a:noFill/>
          <a:ln w="57150">
            <a:solidFill>
              <a:srgbClr val="0070C0"/>
            </a:solidFill>
            <a:round/>
            <a:headEnd/>
            <a:tailEnd type="triangle" w="med" len="me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11269" name="Rectangle 6"/>
          <p:cNvSpPr>
            <a:spLocks noChangeArrowheads="1"/>
          </p:cNvSpPr>
          <p:nvPr/>
        </p:nvSpPr>
        <p:spPr bwMode="auto">
          <a:xfrm>
            <a:off x="827088" y="609600"/>
            <a:ext cx="2601912" cy="1319213"/>
          </a:xfrm>
          <a:prstGeom prst="rect">
            <a:avLst/>
          </a:prstGeom>
          <a:solidFill>
            <a:schemeClr val="accent4">
              <a:lumMod val="20000"/>
              <a:lumOff val="80000"/>
            </a:schemeClr>
          </a:solidFill>
          <a:ln w="12700">
            <a:solidFill>
              <a:schemeClr val="tx1"/>
            </a:solidFill>
            <a:miter lim="800000"/>
            <a:headEnd type="none" w="sm" len="sm"/>
            <a:tailEnd type="none" w="sm" len="sm"/>
          </a:ln>
        </p:spPr>
        <p:txBody>
          <a:bodyPr wrap="none" anchor="ctr"/>
          <a:lstStyle/>
          <a:p>
            <a:pPr algn="ctr"/>
            <a:r>
              <a:rPr lang="en-US" sz="3200" dirty="0" err="1" smtClean="0">
                <a:solidFill>
                  <a:schemeClr val="tx2"/>
                </a:solidFill>
                <a:latin typeface="Calibri" pitchFamily="34" charset="0"/>
                <a:cs typeface="Calibri" pitchFamily="34" charset="0"/>
              </a:rPr>
              <a:t>Hwi</a:t>
            </a:r>
            <a:endParaRPr lang="en-US" sz="3200" dirty="0">
              <a:solidFill>
                <a:schemeClr val="tx2"/>
              </a:solidFill>
              <a:latin typeface="Calibri" pitchFamily="34" charset="0"/>
              <a:cs typeface="Calibri" pitchFamily="34" charset="0"/>
            </a:endParaRPr>
          </a:p>
          <a:p>
            <a:pPr algn="ctr"/>
            <a:r>
              <a:rPr lang="en-US" sz="2000" dirty="0">
                <a:solidFill>
                  <a:srgbClr val="000000"/>
                </a:solidFill>
                <a:latin typeface="Calibri" pitchFamily="34" charset="0"/>
                <a:cs typeface="Calibri" pitchFamily="34" charset="0"/>
              </a:rPr>
              <a:t>Hardware Interrupts</a:t>
            </a:r>
            <a:endParaRPr lang="en-US" dirty="0">
              <a:solidFill>
                <a:srgbClr val="000000"/>
              </a:solidFill>
              <a:latin typeface="Calibri" pitchFamily="34" charset="0"/>
              <a:cs typeface="Calibri" pitchFamily="34" charset="0"/>
            </a:endParaRPr>
          </a:p>
        </p:txBody>
      </p:sp>
      <p:sp>
        <p:nvSpPr>
          <p:cNvPr id="11270" name="Text Box 7"/>
          <p:cNvSpPr txBox="1">
            <a:spLocks noChangeArrowheads="1"/>
          </p:cNvSpPr>
          <p:nvPr/>
        </p:nvSpPr>
        <p:spPr bwMode="auto">
          <a:xfrm>
            <a:off x="3443288" y="662050"/>
            <a:ext cx="5699125" cy="1219200"/>
          </a:xfrm>
          <a:prstGeom prst="rect">
            <a:avLst/>
          </a:prstGeom>
          <a:noFill/>
          <a:ln w="12700">
            <a:noFill/>
            <a:miter lim="800000"/>
            <a:headEnd type="none" w="sm" len="sm"/>
            <a:tailEnd type="none" w="sm" len="sm"/>
          </a:ln>
        </p:spPr>
        <p:txBody>
          <a:bodyPr lIns="274320" tIns="91440" anchor="ctr"/>
          <a:lstStyle/>
          <a:p>
            <a:pPr marL="342900" indent="-342900">
              <a:spcBef>
                <a:spcPts val="600"/>
              </a:spcBef>
              <a:buClr>
                <a:srgbClr val="0066FF"/>
              </a:buClr>
              <a:buSzPct val="75000"/>
              <a:buFont typeface="Wingdings" pitchFamily="2" charset="2"/>
              <a:buChar char=""/>
            </a:pPr>
            <a:r>
              <a:rPr lang="en-US" sz="2000" b="0" u="sng">
                <a:solidFill>
                  <a:schemeClr val="tx2"/>
                </a:solidFill>
                <a:latin typeface="Calibri" pitchFamily="34" charset="0"/>
                <a:cs typeface="Calibri" pitchFamily="34" charset="0"/>
              </a:rPr>
              <a:t>Hardware event</a:t>
            </a:r>
            <a:r>
              <a:rPr lang="en-US" sz="2000" b="0">
                <a:solidFill>
                  <a:srgbClr val="0066FF"/>
                </a:solidFill>
                <a:latin typeface="Calibri" pitchFamily="34" charset="0"/>
                <a:cs typeface="Calibri" pitchFamily="34" charset="0"/>
              </a:rPr>
              <a:t> </a:t>
            </a:r>
            <a:r>
              <a:rPr lang="en-US" sz="2000" b="0">
                <a:solidFill>
                  <a:srgbClr val="000000"/>
                </a:solidFill>
                <a:latin typeface="Calibri" pitchFamily="34" charset="0"/>
                <a:cs typeface="Calibri" pitchFamily="34" charset="0"/>
              </a:rPr>
              <a:t>triggers Hwi to run</a:t>
            </a:r>
          </a:p>
          <a:p>
            <a:pPr marL="342900" indent="-342900">
              <a:spcBef>
                <a:spcPts val="6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BIOS handles context save/restore, nesting</a:t>
            </a:r>
            <a:endParaRPr lang="en-US" sz="2000" b="0">
              <a:solidFill>
                <a:srgbClr val="000000"/>
              </a:solidFill>
              <a:latin typeface="Calibri" pitchFamily="34" charset="0"/>
              <a:cs typeface="Calibri" pitchFamily="34" charset="0"/>
            </a:endParaRPr>
          </a:p>
          <a:p>
            <a:pPr marL="342900" indent="-342900">
              <a:spcBef>
                <a:spcPts val="6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Hwi triggers follow-up processing</a:t>
            </a:r>
          </a:p>
          <a:p>
            <a:pPr marL="342900" indent="-342900">
              <a:spcBef>
                <a:spcPts val="6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Priorities set in silicon</a:t>
            </a:r>
            <a:endParaRPr lang="en-US" sz="2000" b="0">
              <a:solidFill>
                <a:srgbClr val="000000"/>
              </a:solidFill>
              <a:latin typeface="Calibri" pitchFamily="34" charset="0"/>
              <a:cs typeface="Calibri" pitchFamily="34" charset="0"/>
            </a:endParaRPr>
          </a:p>
        </p:txBody>
      </p:sp>
      <p:sp>
        <p:nvSpPr>
          <p:cNvPr id="11271" name="Rectangle 8"/>
          <p:cNvSpPr>
            <a:spLocks noChangeArrowheads="1"/>
          </p:cNvSpPr>
          <p:nvPr/>
        </p:nvSpPr>
        <p:spPr bwMode="auto">
          <a:xfrm>
            <a:off x="827088" y="2082800"/>
            <a:ext cx="2601912" cy="1319213"/>
          </a:xfrm>
          <a:prstGeom prst="rect">
            <a:avLst/>
          </a:prstGeom>
          <a:solidFill>
            <a:schemeClr val="accent5">
              <a:lumMod val="20000"/>
              <a:lumOff val="80000"/>
            </a:schemeClr>
          </a:solidFill>
          <a:ln w="12700">
            <a:solidFill>
              <a:schemeClr val="tx1"/>
            </a:solidFill>
            <a:miter lim="800000"/>
            <a:headEnd type="none" w="sm" len="sm"/>
            <a:tailEnd type="none" w="sm" len="sm"/>
          </a:ln>
        </p:spPr>
        <p:txBody>
          <a:bodyPr wrap="none" anchor="ctr"/>
          <a:lstStyle/>
          <a:p>
            <a:pPr algn="ctr"/>
            <a:r>
              <a:rPr lang="en-US" sz="3200" dirty="0" err="1" smtClean="0">
                <a:solidFill>
                  <a:schemeClr val="tx2"/>
                </a:solidFill>
                <a:latin typeface="Calibri" pitchFamily="34" charset="0"/>
                <a:cs typeface="Calibri" pitchFamily="34" charset="0"/>
              </a:rPr>
              <a:t>Swi</a:t>
            </a:r>
            <a:endParaRPr lang="en-US" sz="3200" dirty="0">
              <a:solidFill>
                <a:schemeClr val="tx2"/>
              </a:solidFill>
              <a:latin typeface="Calibri" pitchFamily="34" charset="0"/>
              <a:cs typeface="Calibri" pitchFamily="34" charset="0"/>
            </a:endParaRPr>
          </a:p>
          <a:p>
            <a:pPr algn="ctr"/>
            <a:r>
              <a:rPr lang="en-US" sz="2000" dirty="0">
                <a:solidFill>
                  <a:srgbClr val="000000"/>
                </a:solidFill>
                <a:latin typeface="Calibri" pitchFamily="34" charset="0"/>
                <a:cs typeface="Calibri" pitchFamily="34" charset="0"/>
              </a:rPr>
              <a:t>Software Interrupts</a:t>
            </a:r>
            <a:endParaRPr lang="en-US" dirty="0">
              <a:solidFill>
                <a:srgbClr val="000000"/>
              </a:solidFill>
              <a:latin typeface="Calibri" pitchFamily="34" charset="0"/>
              <a:cs typeface="Calibri" pitchFamily="34" charset="0"/>
            </a:endParaRPr>
          </a:p>
        </p:txBody>
      </p:sp>
      <p:sp>
        <p:nvSpPr>
          <p:cNvPr id="11272" name="Text Box 9"/>
          <p:cNvSpPr txBox="1">
            <a:spLocks noChangeArrowheads="1"/>
          </p:cNvSpPr>
          <p:nvPr/>
        </p:nvSpPr>
        <p:spPr bwMode="auto">
          <a:xfrm>
            <a:off x="3429000" y="2099950"/>
            <a:ext cx="5715000" cy="1319213"/>
          </a:xfrm>
          <a:prstGeom prst="rect">
            <a:avLst/>
          </a:prstGeom>
          <a:noFill/>
          <a:ln w="12700">
            <a:noFill/>
            <a:miter lim="800000"/>
            <a:headEnd type="none" w="sm" len="sm"/>
            <a:tailEnd type="none" w="sm" len="sm"/>
          </a:ln>
        </p:spPr>
        <p:txBody>
          <a:bodyPr lIns="274320" anchor="ctr"/>
          <a:lstStyle/>
          <a:p>
            <a:pPr marL="342900" indent="-342900">
              <a:spcBef>
                <a:spcPts val="6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Software </a:t>
            </a:r>
            <a:r>
              <a:rPr lang="en-US" sz="2000" b="0" i="1" u="sng" smtClean="0">
                <a:solidFill>
                  <a:schemeClr val="tx2"/>
                </a:solidFill>
                <a:latin typeface="Calibri" pitchFamily="34" charset="0"/>
                <a:cs typeface="Calibri" pitchFamily="34" charset="0"/>
              </a:rPr>
              <a:t>posts</a:t>
            </a:r>
            <a:r>
              <a:rPr lang="en-US" sz="2000" b="0" smtClean="0">
                <a:solidFill>
                  <a:srgbClr val="000000"/>
                </a:solidFill>
                <a:latin typeface="Calibri" pitchFamily="34" charset="0"/>
                <a:cs typeface="Calibri" pitchFamily="34" charset="0"/>
              </a:rPr>
              <a:t> Swi to run</a:t>
            </a:r>
            <a:endParaRPr lang="en-US" sz="2000" b="0">
              <a:solidFill>
                <a:srgbClr val="000000"/>
              </a:solidFill>
              <a:latin typeface="Calibri" pitchFamily="34" charset="0"/>
              <a:cs typeface="Calibri" pitchFamily="34" charset="0"/>
            </a:endParaRPr>
          </a:p>
          <a:p>
            <a:pPr marL="342900" indent="-342900">
              <a:spcBef>
                <a:spcPts val="6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Performs Hwi </a:t>
            </a:r>
            <a:r>
              <a:rPr lang="en-US" sz="2000" b="0" dirty="0">
                <a:solidFill>
                  <a:srgbClr val="000000"/>
                </a:solidFill>
                <a:latin typeface="Calibri" pitchFamily="34" charset="0"/>
                <a:cs typeface="Calibri" pitchFamily="34" charset="0"/>
              </a:rPr>
              <a:t>‘</a:t>
            </a:r>
            <a:r>
              <a:rPr lang="en-US" sz="2000" b="0" i="1" u="sng" dirty="0">
                <a:solidFill>
                  <a:schemeClr val="tx2"/>
                </a:solidFill>
                <a:latin typeface="Calibri" pitchFamily="34" charset="0"/>
                <a:cs typeface="Calibri" pitchFamily="34" charset="0"/>
              </a:rPr>
              <a:t>follow-up</a:t>
            </a:r>
            <a:r>
              <a:rPr lang="en-US" sz="2000" b="0">
                <a:solidFill>
                  <a:srgbClr val="000000"/>
                </a:solidFill>
                <a:latin typeface="Calibri" pitchFamily="34" charset="0"/>
                <a:cs typeface="Calibri" pitchFamily="34" charset="0"/>
              </a:rPr>
              <a:t>’ </a:t>
            </a:r>
            <a:r>
              <a:rPr lang="en-US" sz="2000" b="0" smtClean="0">
                <a:solidFill>
                  <a:srgbClr val="000000"/>
                </a:solidFill>
                <a:latin typeface="Calibri" pitchFamily="34" charset="0"/>
                <a:cs typeface="Calibri" pitchFamily="34" charset="0"/>
              </a:rPr>
              <a:t>activity (process data)</a:t>
            </a:r>
            <a:endParaRPr lang="en-US" sz="2000" b="0" dirty="0">
              <a:solidFill>
                <a:srgbClr val="000000"/>
              </a:solidFill>
              <a:latin typeface="Calibri" pitchFamily="34" charset="0"/>
              <a:cs typeface="Calibri" pitchFamily="34" charset="0"/>
            </a:endParaRPr>
          </a:p>
          <a:p>
            <a:pPr marL="342900" indent="-342900">
              <a:spcBef>
                <a:spcPts val="6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Up </a:t>
            </a:r>
            <a:r>
              <a:rPr lang="en-US" sz="2000" b="0" dirty="0" smtClean="0">
                <a:solidFill>
                  <a:srgbClr val="000000"/>
                </a:solidFill>
                <a:latin typeface="Calibri" pitchFamily="34" charset="0"/>
                <a:cs typeface="Calibri" pitchFamily="34" charset="0"/>
              </a:rPr>
              <a:t>to 32 </a:t>
            </a:r>
            <a:r>
              <a:rPr lang="en-US" sz="2000" b="0" dirty="0">
                <a:solidFill>
                  <a:srgbClr val="000000"/>
                </a:solidFill>
                <a:latin typeface="Calibri" pitchFamily="34" charset="0"/>
                <a:cs typeface="Calibri" pitchFamily="34" charset="0"/>
              </a:rPr>
              <a:t>priority </a:t>
            </a:r>
            <a:r>
              <a:rPr lang="en-US" sz="2000" b="0" dirty="0" smtClean="0">
                <a:solidFill>
                  <a:srgbClr val="000000"/>
                </a:solidFill>
                <a:latin typeface="Calibri" pitchFamily="34" charset="0"/>
                <a:cs typeface="Calibri" pitchFamily="34" charset="0"/>
              </a:rPr>
              <a:t>levels (16 </a:t>
            </a:r>
            <a:r>
              <a:rPr lang="en-US" sz="2000" b="0" smtClean="0">
                <a:solidFill>
                  <a:srgbClr val="000000"/>
                </a:solidFill>
                <a:latin typeface="Calibri" pitchFamily="34" charset="0"/>
                <a:cs typeface="Calibri" pitchFamily="34" charset="0"/>
              </a:rPr>
              <a:t>on C28x/MSP430)</a:t>
            </a:r>
            <a:endParaRPr lang="en-US" sz="2000" b="0" dirty="0">
              <a:solidFill>
                <a:srgbClr val="000000"/>
              </a:solidFill>
              <a:latin typeface="Calibri" pitchFamily="34" charset="0"/>
              <a:cs typeface="Calibri" pitchFamily="34" charset="0"/>
            </a:endParaRPr>
          </a:p>
        </p:txBody>
      </p:sp>
      <p:grpSp>
        <p:nvGrpSpPr>
          <p:cNvPr id="3" name="Group 2"/>
          <p:cNvGrpSpPr/>
          <p:nvPr/>
        </p:nvGrpSpPr>
        <p:grpSpPr>
          <a:xfrm>
            <a:off x="827088" y="3552700"/>
            <a:ext cx="8316912" cy="1322513"/>
            <a:chOff x="827088" y="3628900"/>
            <a:chExt cx="8316912" cy="1322513"/>
          </a:xfrm>
        </p:grpSpPr>
        <p:sp>
          <p:nvSpPr>
            <p:cNvPr id="11273" name="Rectangle 10"/>
            <p:cNvSpPr>
              <a:spLocks noChangeArrowheads="1"/>
            </p:cNvSpPr>
            <p:nvPr/>
          </p:nvSpPr>
          <p:spPr bwMode="auto">
            <a:xfrm>
              <a:off x="827088" y="3632200"/>
              <a:ext cx="2601912" cy="1319213"/>
            </a:xfrm>
            <a:prstGeom prst="rect">
              <a:avLst/>
            </a:prstGeom>
            <a:solidFill>
              <a:srgbClr val="CCFF66"/>
            </a:solidFill>
            <a:ln w="38100">
              <a:solidFill>
                <a:schemeClr val="tx1"/>
              </a:solidFill>
              <a:miter lim="800000"/>
              <a:headEnd type="none" w="sm" len="sm"/>
              <a:tailEnd type="none" w="sm" len="sm"/>
            </a:ln>
          </p:spPr>
          <p:txBody>
            <a:bodyPr wrap="none" anchor="ctr"/>
            <a:lstStyle/>
            <a:p>
              <a:pPr algn="ctr"/>
              <a:r>
                <a:rPr lang="en-US" sz="3200" dirty="0" smtClean="0">
                  <a:solidFill>
                    <a:schemeClr val="tx2"/>
                  </a:solidFill>
                  <a:latin typeface="Calibri" pitchFamily="34" charset="0"/>
                  <a:cs typeface="Calibri" pitchFamily="34" charset="0"/>
                </a:rPr>
                <a:t>Task</a:t>
              </a:r>
              <a:endParaRPr lang="en-US" sz="3200" dirty="0">
                <a:solidFill>
                  <a:schemeClr val="tx2"/>
                </a:solidFill>
                <a:latin typeface="Calibri" pitchFamily="34" charset="0"/>
                <a:cs typeface="Calibri" pitchFamily="34" charset="0"/>
              </a:endParaRPr>
            </a:p>
            <a:p>
              <a:pPr algn="ctr"/>
              <a:r>
                <a:rPr lang="en-US" sz="2000" dirty="0">
                  <a:solidFill>
                    <a:srgbClr val="000000"/>
                  </a:solidFill>
                  <a:latin typeface="Calibri" pitchFamily="34" charset="0"/>
                  <a:cs typeface="Calibri" pitchFamily="34" charset="0"/>
                </a:rPr>
                <a:t>Tasks</a:t>
              </a:r>
              <a:endParaRPr lang="en-US" dirty="0">
                <a:solidFill>
                  <a:srgbClr val="000000"/>
                </a:solidFill>
                <a:latin typeface="Calibri" pitchFamily="34" charset="0"/>
                <a:cs typeface="Calibri" pitchFamily="34" charset="0"/>
              </a:endParaRPr>
            </a:p>
          </p:txBody>
        </p:sp>
        <p:sp>
          <p:nvSpPr>
            <p:cNvPr id="11274" name="Text Box 11"/>
            <p:cNvSpPr txBox="1">
              <a:spLocks noChangeArrowheads="1"/>
            </p:cNvSpPr>
            <p:nvPr/>
          </p:nvSpPr>
          <p:spPr bwMode="auto">
            <a:xfrm>
              <a:off x="3429000" y="3628900"/>
              <a:ext cx="5715000" cy="1319213"/>
            </a:xfrm>
            <a:prstGeom prst="rect">
              <a:avLst/>
            </a:prstGeom>
            <a:noFill/>
            <a:ln w="12700">
              <a:noFill/>
              <a:miter lim="800000"/>
              <a:headEnd type="none" w="sm" len="sm"/>
              <a:tailEnd type="none" w="sm" len="sm"/>
            </a:ln>
          </p:spPr>
          <p:txBody>
            <a:bodyPr lIns="274320" anchor="ctr"/>
            <a:lstStyle/>
            <a:p>
              <a:pPr marL="342900" indent="-342900">
                <a:spcBef>
                  <a:spcPts val="600"/>
                </a:spcBef>
                <a:buClr>
                  <a:srgbClr val="0066FF"/>
                </a:buClr>
                <a:buSzPct val="75000"/>
                <a:buFont typeface="Wingdings" pitchFamily="2" charset="2"/>
                <a:buChar char=""/>
              </a:pPr>
              <a:r>
                <a:rPr lang="en-US" sz="2000" b="0">
                  <a:solidFill>
                    <a:srgbClr val="000000"/>
                  </a:solidFill>
                  <a:latin typeface="Calibri" pitchFamily="34" charset="0"/>
                  <a:cs typeface="Calibri" pitchFamily="34" charset="0"/>
                </a:rPr>
                <a:t>Usually enabled to run by posting a ‘</a:t>
              </a:r>
              <a:r>
                <a:rPr lang="en-US" sz="2000" b="0" i="1" u="sng">
                  <a:solidFill>
                    <a:schemeClr val="tx2"/>
                  </a:solidFill>
                  <a:latin typeface="Calibri" pitchFamily="34" charset="0"/>
                  <a:cs typeface="Calibri" pitchFamily="34" charset="0"/>
                </a:rPr>
                <a:t>semaphore</a:t>
              </a:r>
              <a:r>
                <a:rPr lang="en-US" sz="2000" b="0">
                  <a:solidFill>
                    <a:srgbClr val="000000"/>
                  </a:solidFill>
                  <a:latin typeface="Calibri" pitchFamily="34" charset="0"/>
                  <a:cs typeface="Calibri" pitchFamily="34" charset="0"/>
                </a:rPr>
                <a:t>’</a:t>
              </a:r>
              <a:br>
                <a:rPr lang="en-US" sz="2000" b="0">
                  <a:solidFill>
                    <a:srgbClr val="000000"/>
                  </a:solidFill>
                  <a:latin typeface="Calibri" pitchFamily="34" charset="0"/>
                  <a:cs typeface="Calibri" pitchFamily="34" charset="0"/>
                </a:rPr>
              </a:br>
              <a:r>
                <a:rPr lang="en-US" sz="2000" b="0">
                  <a:solidFill>
                    <a:srgbClr val="000000"/>
                  </a:solidFill>
                  <a:latin typeface="Calibri" pitchFamily="34" charset="0"/>
                  <a:cs typeface="Calibri" pitchFamily="34" charset="0"/>
                </a:rPr>
                <a:t>(a task signaling mechanism)</a:t>
              </a:r>
            </a:p>
            <a:p>
              <a:pPr marL="342900" indent="-342900">
                <a:spcBef>
                  <a:spcPts val="6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Designed to run concurrently – pauses when waiting for data (semaphore)</a:t>
              </a:r>
              <a:endParaRPr lang="en-US" sz="2000" b="0" dirty="0">
                <a:solidFill>
                  <a:srgbClr val="000000"/>
                </a:solidFill>
                <a:latin typeface="Calibri" pitchFamily="34" charset="0"/>
                <a:cs typeface="Calibri" pitchFamily="34" charset="0"/>
              </a:endParaRPr>
            </a:p>
            <a:p>
              <a:pPr marL="342900" indent="-342900">
                <a:spcBef>
                  <a:spcPts val="6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Up </a:t>
              </a:r>
              <a:r>
                <a:rPr lang="en-US" sz="2000" b="0" dirty="0" smtClean="0">
                  <a:solidFill>
                    <a:srgbClr val="000000"/>
                  </a:solidFill>
                  <a:latin typeface="Calibri" pitchFamily="34" charset="0"/>
                  <a:cs typeface="Calibri" pitchFamily="34" charset="0"/>
                </a:rPr>
                <a:t>to 32 </a:t>
              </a:r>
              <a:r>
                <a:rPr lang="en-US" sz="2000" b="0" dirty="0">
                  <a:solidFill>
                    <a:srgbClr val="000000"/>
                  </a:solidFill>
                  <a:latin typeface="Calibri" pitchFamily="34" charset="0"/>
                  <a:cs typeface="Calibri" pitchFamily="34" charset="0"/>
                </a:rPr>
                <a:t>priority </a:t>
              </a:r>
              <a:r>
                <a:rPr lang="en-US" sz="2000" b="0" dirty="0" smtClean="0">
                  <a:solidFill>
                    <a:srgbClr val="000000"/>
                  </a:solidFill>
                  <a:latin typeface="Calibri" pitchFamily="34" charset="0"/>
                  <a:cs typeface="Calibri" pitchFamily="34" charset="0"/>
                </a:rPr>
                <a:t>levels (16 </a:t>
              </a:r>
              <a:r>
                <a:rPr lang="en-US" sz="2000" b="0" smtClean="0">
                  <a:solidFill>
                    <a:srgbClr val="000000"/>
                  </a:solidFill>
                  <a:latin typeface="Calibri" pitchFamily="34" charset="0"/>
                  <a:cs typeface="Calibri" pitchFamily="34" charset="0"/>
                </a:rPr>
                <a:t>on C28x/MSP430)</a:t>
              </a:r>
              <a:endParaRPr lang="en-US" sz="2000" b="0" dirty="0">
                <a:solidFill>
                  <a:srgbClr val="000000"/>
                </a:solidFill>
                <a:latin typeface="Calibri" pitchFamily="34" charset="0"/>
                <a:cs typeface="Calibri" pitchFamily="34" charset="0"/>
              </a:endParaRPr>
            </a:p>
          </p:txBody>
        </p:sp>
      </p:grpSp>
      <p:sp>
        <p:nvSpPr>
          <p:cNvPr id="11275" name="Rectangle 12"/>
          <p:cNvSpPr>
            <a:spLocks noChangeArrowheads="1"/>
          </p:cNvSpPr>
          <p:nvPr/>
        </p:nvSpPr>
        <p:spPr bwMode="auto">
          <a:xfrm>
            <a:off x="827088" y="5029200"/>
            <a:ext cx="2601912" cy="1319213"/>
          </a:xfrm>
          <a:prstGeom prst="rect">
            <a:avLst/>
          </a:prstGeom>
          <a:solidFill>
            <a:schemeClr val="accent3">
              <a:lumMod val="40000"/>
              <a:lumOff val="60000"/>
            </a:schemeClr>
          </a:solidFill>
          <a:ln w="12700">
            <a:solidFill>
              <a:schemeClr val="tx1"/>
            </a:solidFill>
            <a:prstDash val="dash"/>
            <a:miter lim="800000"/>
            <a:headEnd type="none" w="sm" len="sm"/>
            <a:tailEnd type="none" w="sm" len="sm"/>
          </a:ln>
        </p:spPr>
        <p:txBody>
          <a:bodyPr wrap="none" anchor="ctr"/>
          <a:lstStyle/>
          <a:p>
            <a:pPr algn="ctr"/>
            <a:r>
              <a:rPr lang="en-US" sz="3200" dirty="0" smtClean="0">
                <a:solidFill>
                  <a:schemeClr val="tx2"/>
                </a:solidFill>
                <a:latin typeface="Calibri" pitchFamily="34" charset="0"/>
                <a:cs typeface="Calibri" pitchFamily="34" charset="0"/>
              </a:rPr>
              <a:t>Idle</a:t>
            </a:r>
            <a:endParaRPr lang="en-US" sz="3200" dirty="0">
              <a:solidFill>
                <a:schemeClr val="tx2"/>
              </a:solidFill>
              <a:latin typeface="Calibri" pitchFamily="34" charset="0"/>
              <a:cs typeface="Calibri" pitchFamily="34" charset="0"/>
            </a:endParaRPr>
          </a:p>
          <a:p>
            <a:pPr algn="ctr"/>
            <a:r>
              <a:rPr lang="en-US" sz="2000" dirty="0">
                <a:solidFill>
                  <a:srgbClr val="000000"/>
                </a:solidFill>
                <a:latin typeface="Calibri" pitchFamily="34" charset="0"/>
                <a:cs typeface="Calibri" pitchFamily="34" charset="0"/>
              </a:rPr>
              <a:t>Background</a:t>
            </a:r>
            <a:endParaRPr lang="en-US" dirty="0">
              <a:solidFill>
                <a:srgbClr val="000000"/>
              </a:solidFill>
              <a:latin typeface="Calibri" pitchFamily="34" charset="0"/>
              <a:cs typeface="Calibri" pitchFamily="34" charset="0"/>
            </a:endParaRPr>
          </a:p>
        </p:txBody>
      </p:sp>
      <p:sp>
        <p:nvSpPr>
          <p:cNvPr id="11276" name="Text Box 13"/>
          <p:cNvSpPr txBox="1">
            <a:spLocks noChangeArrowheads="1"/>
          </p:cNvSpPr>
          <p:nvPr/>
        </p:nvSpPr>
        <p:spPr bwMode="auto">
          <a:xfrm>
            <a:off x="3429000" y="5029200"/>
            <a:ext cx="5715000" cy="1319213"/>
          </a:xfrm>
          <a:prstGeom prst="rect">
            <a:avLst/>
          </a:prstGeom>
          <a:noFill/>
          <a:ln w="12700">
            <a:noFill/>
            <a:miter lim="800000"/>
            <a:headEnd type="none" w="sm" len="sm"/>
            <a:tailEnd type="none" w="sm" len="sm"/>
          </a:ln>
        </p:spPr>
        <p:txBody>
          <a:bodyPr lIns="274320" anchor="ctr"/>
          <a:lstStyle/>
          <a:p>
            <a:pPr marL="342900" indent="-342900">
              <a:spcBef>
                <a:spcPct val="200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Runs as an infinite while(1) loop</a:t>
            </a:r>
            <a:endParaRPr lang="en-US" sz="2000" b="0" dirty="0">
              <a:solidFill>
                <a:srgbClr val="000000"/>
              </a:solidFill>
              <a:latin typeface="Calibri" pitchFamily="34" charset="0"/>
              <a:cs typeface="Calibri" pitchFamily="34" charset="0"/>
            </a:endParaRPr>
          </a:p>
          <a:p>
            <a:pPr marL="342900" indent="-342900">
              <a:spcBef>
                <a:spcPct val="200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Users can assign multiple functions to Idle</a:t>
            </a:r>
            <a:endParaRPr lang="en-US" sz="2000" b="0" dirty="0">
              <a:solidFill>
                <a:srgbClr val="000000"/>
              </a:solidFill>
              <a:latin typeface="Calibri" pitchFamily="34" charset="0"/>
              <a:cs typeface="Calibri" pitchFamily="34" charset="0"/>
            </a:endParaRPr>
          </a:p>
          <a:p>
            <a:pPr marL="342900" indent="-342900">
              <a:spcBef>
                <a:spcPct val="20000"/>
              </a:spcBef>
              <a:buClr>
                <a:srgbClr val="0066FF"/>
              </a:buClr>
              <a:buSzPct val="75000"/>
              <a:buFont typeface="Wingdings" pitchFamily="2" charset="2"/>
              <a:buChar char=""/>
            </a:pPr>
            <a:r>
              <a:rPr lang="en-US" sz="2000" b="0" dirty="0">
                <a:solidFill>
                  <a:srgbClr val="000000"/>
                </a:solidFill>
                <a:latin typeface="Calibri" pitchFamily="34" charset="0"/>
                <a:cs typeface="Calibri" pitchFamily="34" charset="0"/>
              </a:rPr>
              <a:t>Single priority level</a:t>
            </a:r>
          </a:p>
        </p:txBody>
      </p:sp>
      <p:sp>
        <p:nvSpPr>
          <p:cNvPr id="4" name="Leading Question"/>
          <p:cNvSpPr txBox="1"/>
          <p:nvPr/>
        </p:nvSpPr>
        <p:spPr>
          <a:xfrm>
            <a:off x="5727416" y="6424550"/>
            <a:ext cx="2842125" cy="246221"/>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2000" b="0" smtClean="0">
                <a:solidFill>
                  <a:schemeClr val="tx2"/>
                </a:solidFill>
                <a:effectLst/>
                <a:latin typeface="Arial Narrow"/>
              </a:rPr>
              <a:t>A little more info about Tasks...</a:t>
            </a:r>
            <a:endParaRPr lang="en-US" sz="2000" b="0" dirty="0" smtClean="0">
              <a:solidFill>
                <a:schemeClr val="tx2"/>
              </a:solidFill>
              <a:effectLst/>
              <a:latin typeface="Arial Narrow"/>
            </a:endParaRPr>
          </a:p>
        </p:txBody>
      </p:sp>
      <p:pic>
        <p:nvPicPr>
          <p:cNvPr id="18"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Tree>
    <p:custDataLst>
      <p:tags r:id="rId1"/>
    </p:custDataLst>
    <p:extLst>
      <p:ext uri="{BB962C8B-B14F-4D97-AF65-F5344CB8AC3E}">
        <p14:creationId xmlns:p14="http://schemas.microsoft.com/office/powerpoint/2010/main" val="24608058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4"/>
                                        </p:tgtEl>
                                        <p:attrNameLst>
                                          <p:attrName>style.visibility</p:attrName>
                                        </p:attrNameLst>
                                      </p:cBhvr>
                                      <p:to>
                                        <p:strVal val="visible"/>
                                      </p:to>
                                    </p:se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smtClean="0"/>
              <a:t>How Tasks Work…</a:t>
            </a:r>
            <a:endParaRPr lang="en-US" dirty="0" smtClean="0"/>
          </a:p>
        </p:txBody>
      </p:sp>
      <p:sp>
        <p:nvSpPr>
          <p:cNvPr id="13324" name="Text Box 12"/>
          <p:cNvSpPr txBox="1">
            <a:spLocks noChangeArrowheads="1"/>
          </p:cNvSpPr>
          <p:nvPr/>
        </p:nvSpPr>
        <p:spPr bwMode="auto">
          <a:xfrm>
            <a:off x="110143" y="797845"/>
            <a:ext cx="4690457" cy="4993355"/>
          </a:xfrm>
          <a:prstGeom prst="rect">
            <a:avLst/>
          </a:prstGeom>
          <a:noFill/>
          <a:ln w="12700">
            <a:noFill/>
            <a:miter lim="800000"/>
            <a:headEnd type="none" w="sm" len="sm"/>
            <a:tailEnd type="none" w="sm" len="sm"/>
          </a:ln>
        </p:spPr>
        <p:txBody>
          <a:bodyPr wrap="square">
            <a:spAutoFit/>
          </a:bodyPr>
          <a:lstStyle/>
          <a:p>
            <a:pPr marL="342900" indent="-342900">
              <a:spcBef>
                <a:spcPts val="900"/>
              </a:spcBef>
              <a:buClr>
                <a:schemeClr val="tx2"/>
              </a:buClr>
              <a:buSzPct val="75000"/>
              <a:buFont typeface="Wingdings"/>
              <a:buChar char=""/>
            </a:pPr>
            <a:r>
              <a:rPr lang="en-US" b="0" smtClean="0">
                <a:solidFill>
                  <a:srgbClr val="000000"/>
                </a:solidFill>
                <a:latin typeface="Calibri" pitchFamily="34" charset="0"/>
                <a:cs typeface="Calibri" pitchFamily="34" charset="0"/>
              </a:rPr>
              <a:t>Tasks are just a function that run in a </a:t>
            </a:r>
            <a:r>
              <a:rPr lang="en-US" b="0" smtClean="0">
                <a:solidFill>
                  <a:srgbClr val="000000"/>
                </a:solidFill>
                <a:latin typeface="Courier New" pitchFamily="49" charset="0"/>
                <a:cs typeface="Courier New" pitchFamily="49" charset="0"/>
              </a:rPr>
              <a:t>while(1)</a:t>
            </a:r>
            <a:r>
              <a:rPr lang="en-US" b="0" smtClean="0">
                <a:solidFill>
                  <a:srgbClr val="000000"/>
                </a:solidFill>
                <a:latin typeface="Calibri" pitchFamily="34" charset="0"/>
                <a:cs typeface="Calibri" pitchFamily="34" charset="0"/>
              </a:rPr>
              <a:t> </a:t>
            </a:r>
            <a:r>
              <a:rPr lang="en-US" b="0" u="sng" smtClean="0">
                <a:solidFill>
                  <a:srgbClr val="FF0000"/>
                </a:solidFill>
                <a:latin typeface="Calibri" pitchFamily="34" charset="0"/>
                <a:cs typeface="Calibri" pitchFamily="34" charset="0"/>
              </a:rPr>
              <a:t>loop</a:t>
            </a:r>
            <a:r>
              <a:rPr lang="en-US" b="0" smtClean="0">
                <a:solidFill>
                  <a:srgbClr val="000000"/>
                </a:solidFill>
                <a:latin typeface="Calibri" pitchFamily="34" charset="0"/>
                <a:cs typeface="Calibri" pitchFamily="34" charset="0"/>
              </a:rPr>
              <a:t> and contain a blocking call that </a:t>
            </a:r>
            <a:r>
              <a:rPr lang="en-US" b="0" u="sng" smtClean="0">
                <a:solidFill>
                  <a:srgbClr val="FF0000"/>
                </a:solidFill>
                <a:latin typeface="Calibri" pitchFamily="34" charset="0"/>
                <a:cs typeface="Calibri" pitchFamily="34" charset="0"/>
              </a:rPr>
              <a:t>waits for a signal</a:t>
            </a:r>
          </a:p>
          <a:p>
            <a:pPr marL="342900" indent="-342900">
              <a:spcBef>
                <a:spcPts val="900"/>
              </a:spcBef>
              <a:buClr>
                <a:schemeClr val="tx2"/>
              </a:buClr>
              <a:buSzPct val="75000"/>
              <a:buFont typeface="Wingdings"/>
              <a:buChar char=""/>
            </a:pPr>
            <a:r>
              <a:rPr lang="en-US" b="0" smtClean="0">
                <a:solidFill>
                  <a:srgbClr val="000000"/>
                </a:solidFill>
                <a:latin typeface="Calibri" pitchFamily="34" charset="0"/>
                <a:cs typeface="Calibri" pitchFamily="34" charset="0"/>
              </a:rPr>
              <a:t>When the task is </a:t>
            </a:r>
            <a:r>
              <a:rPr lang="en-US" b="0" u="sng" smtClean="0">
                <a:solidFill>
                  <a:srgbClr val="FF0000"/>
                </a:solidFill>
                <a:latin typeface="Calibri" pitchFamily="34" charset="0"/>
                <a:cs typeface="Calibri" pitchFamily="34" charset="0"/>
              </a:rPr>
              <a:t>BLOCKED</a:t>
            </a:r>
            <a:r>
              <a:rPr lang="en-US" b="0" smtClean="0">
                <a:solidFill>
                  <a:srgbClr val="000000"/>
                </a:solidFill>
                <a:latin typeface="Calibri" pitchFamily="34" charset="0"/>
                <a:cs typeface="Calibri" pitchFamily="34" charset="0"/>
              </a:rPr>
              <a:t> (e.g. waiting for “</a:t>
            </a:r>
            <a:r>
              <a:rPr lang="en-US" b="0" i="1" smtClean="0">
                <a:solidFill>
                  <a:srgbClr val="000000"/>
                </a:solidFill>
                <a:latin typeface="Calibri" pitchFamily="34" charset="0"/>
                <a:cs typeface="Calibri" pitchFamily="34" charset="0"/>
              </a:rPr>
              <a:t>buffer ready</a:t>
            </a:r>
            <a:r>
              <a:rPr lang="en-US" b="0" smtClean="0">
                <a:solidFill>
                  <a:srgbClr val="000000"/>
                </a:solidFill>
                <a:latin typeface="Calibri" pitchFamily="34" charset="0"/>
                <a:cs typeface="Calibri" pitchFamily="34" charset="0"/>
              </a:rPr>
              <a:t>” signal), lower priority threads can run</a:t>
            </a:r>
          </a:p>
          <a:p>
            <a:pPr marL="342900" indent="-342900">
              <a:spcBef>
                <a:spcPts val="900"/>
              </a:spcBef>
              <a:buClr>
                <a:schemeClr val="tx2"/>
              </a:buClr>
              <a:buSzPct val="75000"/>
              <a:buFont typeface="Wingdings"/>
              <a:buChar char=""/>
            </a:pPr>
            <a:r>
              <a:rPr lang="en-US" b="0" smtClean="0">
                <a:solidFill>
                  <a:srgbClr val="000000"/>
                </a:solidFill>
                <a:latin typeface="Calibri" pitchFamily="34" charset="0"/>
                <a:cs typeface="Calibri" pitchFamily="34" charset="0"/>
              </a:rPr>
              <a:t>Another thread (e.g. Hwi) posts a signal to </a:t>
            </a:r>
            <a:r>
              <a:rPr lang="en-US" b="0" u="sng" smtClean="0">
                <a:solidFill>
                  <a:srgbClr val="FF0000"/>
                </a:solidFill>
                <a:latin typeface="Calibri" pitchFamily="34" charset="0"/>
                <a:cs typeface="Calibri" pitchFamily="34" charset="0"/>
              </a:rPr>
              <a:t>UNBLOCK</a:t>
            </a:r>
            <a:r>
              <a:rPr lang="en-US" b="0" smtClean="0">
                <a:solidFill>
                  <a:srgbClr val="000000"/>
                </a:solidFill>
                <a:latin typeface="Calibri" pitchFamily="34" charset="0"/>
                <a:cs typeface="Calibri" pitchFamily="34" charset="0"/>
              </a:rPr>
              <a:t> the Task which triggers the execution of “</a:t>
            </a:r>
            <a:r>
              <a:rPr lang="en-US" b="0" smtClean="0">
                <a:solidFill>
                  <a:srgbClr val="FF0000"/>
                </a:solidFill>
                <a:latin typeface="Calibri" pitchFamily="34" charset="0"/>
                <a:cs typeface="Calibri" pitchFamily="34" charset="0"/>
              </a:rPr>
              <a:t>Process Data</a:t>
            </a:r>
            <a:r>
              <a:rPr lang="en-US" b="0" smtClean="0">
                <a:solidFill>
                  <a:srgbClr val="000000"/>
                </a:solidFill>
                <a:latin typeface="Calibri" pitchFamily="34" charset="0"/>
                <a:cs typeface="Calibri" pitchFamily="34" charset="0"/>
              </a:rPr>
              <a:t>”</a:t>
            </a:r>
          </a:p>
          <a:p>
            <a:pPr marL="342900" indent="-342900">
              <a:spcBef>
                <a:spcPts val="900"/>
              </a:spcBef>
              <a:buClr>
                <a:schemeClr val="tx2"/>
              </a:buClr>
              <a:buSzPct val="75000"/>
              <a:buFont typeface="Wingdings"/>
              <a:buChar char=""/>
            </a:pPr>
            <a:r>
              <a:rPr lang="en-US" b="0" smtClean="0">
                <a:solidFill>
                  <a:srgbClr val="000000"/>
                </a:solidFill>
                <a:latin typeface="Calibri" pitchFamily="34" charset="0"/>
                <a:cs typeface="Calibri" pitchFamily="34" charset="0"/>
              </a:rPr>
              <a:t>The code then loops back and </a:t>
            </a:r>
            <a:r>
              <a:rPr lang="en-US" b="0" u="sng" smtClean="0">
                <a:solidFill>
                  <a:srgbClr val="FF0000"/>
                </a:solidFill>
                <a:latin typeface="Calibri" pitchFamily="34" charset="0"/>
                <a:cs typeface="Calibri" pitchFamily="34" charset="0"/>
              </a:rPr>
              <a:t>BLOCKS again</a:t>
            </a:r>
            <a:r>
              <a:rPr lang="en-US" b="0" smtClean="0">
                <a:solidFill>
                  <a:srgbClr val="000000"/>
                </a:solidFill>
                <a:latin typeface="Calibri" pitchFamily="34" charset="0"/>
                <a:cs typeface="Calibri" pitchFamily="34" charset="0"/>
              </a:rPr>
              <a:t> – waiting for signal</a:t>
            </a:r>
            <a:endParaRPr lang="en-US" b="0" dirty="0">
              <a:solidFill>
                <a:srgbClr val="000000"/>
              </a:solidFill>
              <a:latin typeface="Calibri" pitchFamily="34" charset="0"/>
              <a:cs typeface="Calibri" pitchFamily="34" charset="0"/>
            </a:endParaRPr>
          </a:p>
          <a:p>
            <a:pPr marL="342900" indent="-342900">
              <a:spcBef>
                <a:spcPts val="900"/>
              </a:spcBef>
              <a:buClr>
                <a:schemeClr val="tx2"/>
              </a:buClr>
              <a:buSzPct val="75000"/>
              <a:buFont typeface="Wingdings"/>
              <a:buChar char=""/>
            </a:pPr>
            <a:r>
              <a:rPr lang="en-US" b="0" smtClean="0">
                <a:solidFill>
                  <a:srgbClr val="000000"/>
                </a:solidFill>
                <a:latin typeface="Calibri" pitchFamily="34" charset="0"/>
                <a:cs typeface="Calibri" pitchFamily="34" charset="0"/>
              </a:rPr>
              <a:t>Blocking requires each Task to have its own </a:t>
            </a:r>
            <a:r>
              <a:rPr lang="en-US" b="0" u="sng" smtClean="0">
                <a:solidFill>
                  <a:srgbClr val="FF0000"/>
                </a:solidFill>
                <a:latin typeface="Calibri" pitchFamily="34" charset="0"/>
                <a:cs typeface="Calibri" pitchFamily="34" charset="0"/>
              </a:rPr>
              <a:t>private stack</a:t>
            </a:r>
            <a:r>
              <a:rPr lang="en-US" b="0" smtClean="0">
                <a:solidFill>
                  <a:srgbClr val="000000"/>
                </a:solidFill>
                <a:latin typeface="Calibri" pitchFamily="34" charset="0"/>
                <a:cs typeface="Calibri" pitchFamily="34" charset="0"/>
              </a:rPr>
              <a:t>.</a:t>
            </a:r>
          </a:p>
        </p:txBody>
      </p:sp>
      <p:sp>
        <p:nvSpPr>
          <p:cNvPr id="374797" name="Rectangle 13"/>
          <p:cNvSpPr>
            <a:spLocks noChangeArrowheads="1"/>
          </p:cNvSpPr>
          <p:nvPr/>
        </p:nvSpPr>
        <p:spPr bwMode="auto">
          <a:xfrm>
            <a:off x="6694967" y="2590800"/>
            <a:ext cx="304800" cy="304800"/>
          </a:xfrm>
          <a:prstGeom prst="rect">
            <a:avLst/>
          </a:prstGeom>
          <a:solidFill>
            <a:schemeClr val="accent1"/>
          </a:solidFill>
          <a:ln w="12700">
            <a:no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74798" name="Rectangle 14"/>
          <p:cNvSpPr>
            <a:spLocks noChangeArrowheads="1"/>
          </p:cNvSpPr>
          <p:nvPr/>
        </p:nvSpPr>
        <p:spPr bwMode="auto">
          <a:xfrm>
            <a:off x="5105400" y="1476375"/>
            <a:ext cx="3886200" cy="3705225"/>
          </a:xfrm>
          <a:prstGeom prst="rect">
            <a:avLst/>
          </a:prstGeom>
          <a:solidFill>
            <a:schemeClr val="accent4">
              <a:lumMod val="20000"/>
              <a:lumOff val="80000"/>
            </a:schemeClr>
          </a:solidFill>
          <a:ln w="12700">
            <a:solidFill>
              <a:schemeClr val="tx1"/>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13327" name="Text Box 15"/>
          <p:cNvSpPr txBox="1">
            <a:spLocks noChangeArrowheads="1"/>
          </p:cNvSpPr>
          <p:nvPr/>
        </p:nvSpPr>
        <p:spPr bwMode="auto">
          <a:xfrm>
            <a:off x="5017325" y="1066800"/>
            <a:ext cx="919867" cy="496161"/>
          </a:xfrm>
          <a:prstGeom prst="rect">
            <a:avLst/>
          </a:prstGeom>
          <a:noFill/>
          <a:ln w="12700">
            <a:noFill/>
            <a:miter lim="800000"/>
            <a:headEnd type="none" w="sm" len="sm"/>
            <a:tailEnd type="none" w="sm" len="sm"/>
          </a:ln>
        </p:spPr>
        <p:txBody>
          <a:bodyPr wrap="none">
            <a:spAutoFit/>
          </a:bodyPr>
          <a:lstStyle/>
          <a:p>
            <a:r>
              <a:rPr lang="en-US" sz="3200" dirty="0" smtClean="0">
                <a:solidFill>
                  <a:schemeClr val="tx2"/>
                </a:solidFill>
                <a:latin typeface="Calibri" pitchFamily="34" charset="0"/>
                <a:cs typeface="Calibri" pitchFamily="34" charset="0"/>
              </a:rPr>
              <a:t>Task</a:t>
            </a:r>
            <a:endParaRPr lang="en-US" sz="3600" dirty="0">
              <a:solidFill>
                <a:schemeClr val="tx2"/>
              </a:solidFill>
              <a:latin typeface="Calibri" pitchFamily="34" charset="0"/>
              <a:cs typeface="Calibri" pitchFamily="34" charset="0"/>
            </a:endParaRPr>
          </a:p>
        </p:txBody>
      </p:sp>
      <p:grpSp>
        <p:nvGrpSpPr>
          <p:cNvPr id="2" name="Group 16"/>
          <p:cNvGrpSpPr>
            <a:grpSpLocks/>
          </p:cNvGrpSpPr>
          <p:nvPr/>
        </p:nvGrpSpPr>
        <p:grpSpPr bwMode="auto">
          <a:xfrm>
            <a:off x="5257800" y="1731962"/>
            <a:ext cx="1143000" cy="3225511"/>
            <a:chOff x="3312" y="1008"/>
            <a:chExt cx="720" cy="2163"/>
          </a:xfrm>
        </p:grpSpPr>
        <p:sp>
          <p:nvSpPr>
            <p:cNvPr id="374801" name="Line 17"/>
            <p:cNvSpPr>
              <a:spLocks noChangeShapeType="1"/>
            </p:cNvSpPr>
            <p:nvPr/>
          </p:nvSpPr>
          <p:spPr bwMode="auto">
            <a:xfrm>
              <a:off x="4032" y="1921"/>
              <a:ext cx="0" cy="1250"/>
            </a:xfrm>
            <a:prstGeom prst="line">
              <a:avLst/>
            </a:prstGeom>
            <a:noFill/>
            <a:ln w="28575">
              <a:solidFill>
                <a:schemeClr val="tx1"/>
              </a:solidFill>
              <a:round/>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74802" name="Line 18"/>
            <p:cNvSpPr>
              <a:spLocks noChangeShapeType="1"/>
            </p:cNvSpPr>
            <p:nvPr/>
          </p:nvSpPr>
          <p:spPr bwMode="auto">
            <a:xfrm flipH="1">
              <a:off x="3312" y="3168"/>
              <a:ext cx="720" cy="0"/>
            </a:xfrm>
            <a:prstGeom prst="line">
              <a:avLst/>
            </a:prstGeom>
            <a:noFill/>
            <a:ln w="28575">
              <a:solidFill>
                <a:schemeClr val="tx1"/>
              </a:solidFill>
              <a:round/>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74803" name="Line 19"/>
            <p:cNvSpPr>
              <a:spLocks noChangeShapeType="1"/>
            </p:cNvSpPr>
            <p:nvPr/>
          </p:nvSpPr>
          <p:spPr bwMode="auto">
            <a:xfrm flipV="1">
              <a:off x="3312" y="1008"/>
              <a:ext cx="0" cy="2160"/>
            </a:xfrm>
            <a:prstGeom prst="line">
              <a:avLst/>
            </a:prstGeom>
            <a:noFill/>
            <a:ln w="28575">
              <a:solidFill>
                <a:schemeClr val="tx1"/>
              </a:solidFill>
              <a:round/>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74804" name="Line 20"/>
            <p:cNvSpPr>
              <a:spLocks noChangeShapeType="1"/>
            </p:cNvSpPr>
            <p:nvPr/>
          </p:nvSpPr>
          <p:spPr bwMode="auto">
            <a:xfrm>
              <a:off x="3312" y="1008"/>
              <a:ext cx="720" cy="0"/>
            </a:xfrm>
            <a:prstGeom prst="line">
              <a:avLst/>
            </a:prstGeom>
            <a:noFill/>
            <a:ln w="28575">
              <a:solidFill>
                <a:schemeClr val="tx1"/>
              </a:solidFill>
              <a:round/>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74805" name="Line 21"/>
            <p:cNvSpPr>
              <a:spLocks noChangeShapeType="1"/>
            </p:cNvSpPr>
            <p:nvPr/>
          </p:nvSpPr>
          <p:spPr bwMode="auto">
            <a:xfrm>
              <a:off x="4032" y="1008"/>
              <a:ext cx="0" cy="372"/>
            </a:xfrm>
            <a:prstGeom prst="line">
              <a:avLst/>
            </a:prstGeom>
            <a:noFill/>
            <a:ln w="28575">
              <a:solidFill>
                <a:schemeClr val="tx1"/>
              </a:solidFill>
              <a:round/>
              <a:headEnd type="none" w="sm" len="sm"/>
              <a:tailEnd type="triangle" w="med" len="me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grpSp>
      <p:sp>
        <p:nvSpPr>
          <p:cNvPr id="13329" name="Text Box 22"/>
          <p:cNvSpPr txBox="1">
            <a:spLocks noChangeArrowheads="1"/>
          </p:cNvSpPr>
          <p:nvPr/>
        </p:nvSpPr>
        <p:spPr bwMode="auto">
          <a:xfrm>
            <a:off x="6400800" y="3886200"/>
            <a:ext cx="2060179" cy="338554"/>
          </a:xfrm>
          <a:prstGeom prst="rect">
            <a:avLst/>
          </a:prstGeom>
          <a:noFill/>
          <a:ln w="12700">
            <a:noFill/>
            <a:miter lim="800000"/>
            <a:headEnd type="none" w="sm" len="sm"/>
            <a:tailEnd type="none" w="sm" len="sm"/>
          </a:ln>
        </p:spPr>
        <p:txBody>
          <a:bodyPr wrap="none">
            <a:spAutoFit/>
          </a:bodyPr>
          <a:lstStyle/>
          <a:p>
            <a:r>
              <a:rPr lang="en-US" sz="2000" smtClean="0">
                <a:solidFill>
                  <a:schemeClr val="tx2"/>
                </a:solidFill>
              </a:rPr>
              <a:t>“Process Data”</a:t>
            </a:r>
            <a:endParaRPr lang="en-US">
              <a:solidFill>
                <a:schemeClr val="tx2"/>
              </a:solidFill>
              <a:latin typeface="Times New Roman" pitchFamily="18" charset="0"/>
            </a:endParaRPr>
          </a:p>
        </p:txBody>
      </p:sp>
      <p:sp>
        <p:nvSpPr>
          <p:cNvPr id="13331" name="Text Box 24"/>
          <p:cNvSpPr txBox="1">
            <a:spLocks noChangeArrowheads="1"/>
          </p:cNvSpPr>
          <p:nvPr/>
        </p:nvSpPr>
        <p:spPr bwMode="auto">
          <a:xfrm>
            <a:off x="7796212" y="2740025"/>
            <a:ext cx="933450" cy="336550"/>
          </a:xfrm>
          <a:prstGeom prst="rect">
            <a:avLst/>
          </a:prstGeom>
          <a:noFill/>
          <a:ln w="12700">
            <a:noFill/>
            <a:miter lim="800000"/>
            <a:headEnd type="none" w="sm" len="sm"/>
            <a:tailEnd type="none" w="sm" len="sm"/>
          </a:ln>
        </p:spPr>
        <p:txBody>
          <a:bodyPr wrap="none">
            <a:spAutoFit/>
          </a:bodyPr>
          <a:lstStyle/>
          <a:p>
            <a:pPr algn="ctr"/>
            <a:r>
              <a:rPr lang="en-US" sz="2000">
                <a:solidFill>
                  <a:schemeClr val="tx2"/>
                </a:solidFill>
              </a:rPr>
              <a:t>Pause</a:t>
            </a:r>
            <a:endParaRPr lang="en-US">
              <a:solidFill>
                <a:schemeClr val="tx2"/>
              </a:solidFill>
              <a:latin typeface="Times New Roman" pitchFamily="18" charset="0"/>
            </a:endParaRPr>
          </a:p>
        </p:txBody>
      </p:sp>
      <p:sp>
        <p:nvSpPr>
          <p:cNvPr id="13332" name="Text Box 25"/>
          <p:cNvSpPr txBox="1">
            <a:spLocks noChangeArrowheads="1"/>
          </p:cNvSpPr>
          <p:nvPr/>
        </p:nvSpPr>
        <p:spPr bwMode="auto">
          <a:xfrm>
            <a:off x="7291320" y="990600"/>
            <a:ext cx="1624080" cy="738664"/>
          </a:xfrm>
          <a:prstGeom prst="rect">
            <a:avLst/>
          </a:prstGeom>
          <a:solidFill>
            <a:schemeClr val="bg1">
              <a:lumMod val="95000"/>
            </a:schemeClr>
          </a:solidFill>
          <a:ln w="12700">
            <a:solidFill>
              <a:schemeClr val="tx1"/>
            </a:solidFill>
            <a:miter lim="800000"/>
            <a:headEnd type="none" w="sm" len="sm"/>
            <a:tailEnd type="none" w="sm" len="sm"/>
          </a:ln>
        </p:spPr>
        <p:txBody>
          <a:bodyPr wrap="square">
            <a:spAutoFit/>
          </a:bodyPr>
          <a:lstStyle/>
          <a:p>
            <a:r>
              <a:rPr lang="en-US" sz="2000" smtClean="0">
                <a:solidFill>
                  <a:srgbClr val="FF0000"/>
                </a:solidFill>
                <a:latin typeface="Arial Narrow" pitchFamily="34" charset="0"/>
              </a:rPr>
              <a:t>Hwi_ISR:</a:t>
            </a:r>
          </a:p>
          <a:p>
            <a:r>
              <a:rPr lang="en-US" sz="2000" smtClean="0">
                <a:solidFill>
                  <a:srgbClr val="000000"/>
                </a:solidFill>
                <a:latin typeface="Arial Narrow" pitchFamily="34" charset="0"/>
              </a:rPr>
              <a:t>POST SIGNAL</a:t>
            </a:r>
            <a:endParaRPr lang="en-US" dirty="0">
              <a:solidFill>
                <a:srgbClr val="000000"/>
              </a:solidFill>
              <a:latin typeface="Arial Narrow" pitchFamily="34" charset="0"/>
            </a:endParaRPr>
          </a:p>
        </p:txBody>
      </p:sp>
      <p:cxnSp>
        <p:nvCxnSpPr>
          <p:cNvPr id="13334" name="AutoShape 27"/>
          <p:cNvCxnSpPr>
            <a:cxnSpLocks noChangeShapeType="1"/>
            <a:endCxn id="13331" idx="1"/>
          </p:cNvCxnSpPr>
          <p:nvPr/>
        </p:nvCxnSpPr>
        <p:spPr bwMode="auto">
          <a:xfrm>
            <a:off x="7485062" y="2908300"/>
            <a:ext cx="311150" cy="0"/>
          </a:xfrm>
          <a:prstGeom prst="straightConnector1">
            <a:avLst/>
          </a:prstGeom>
          <a:noFill/>
          <a:ln w="12700">
            <a:solidFill>
              <a:schemeClr val="tx1"/>
            </a:solidFill>
            <a:round/>
            <a:headEnd type="none" w="sm" len="sm"/>
            <a:tailEnd type="triangle" w="sm" len="sm"/>
          </a:ln>
        </p:spPr>
      </p:cxnSp>
      <p:sp>
        <p:nvSpPr>
          <p:cNvPr id="13335" name="Text Box 28"/>
          <p:cNvSpPr txBox="1">
            <a:spLocks noChangeArrowheads="1"/>
          </p:cNvSpPr>
          <p:nvPr/>
        </p:nvSpPr>
        <p:spPr bwMode="auto">
          <a:xfrm>
            <a:off x="7608887" y="3087208"/>
            <a:ext cx="1306513" cy="581025"/>
          </a:xfrm>
          <a:prstGeom prst="rect">
            <a:avLst/>
          </a:prstGeom>
          <a:noFill/>
          <a:ln w="12700">
            <a:noFill/>
            <a:miter lim="800000"/>
            <a:headEnd type="none" w="sm" len="sm"/>
            <a:tailEnd type="none" w="sm" len="sm"/>
          </a:ln>
        </p:spPr>
        <p:txBody>
          <a:bodyPr wrap="none">
            <a:spAutoFit/>
          </a:bodyPr>
          <a:lstStyle/>
          <a:p>
            <a:pPr algn="ctr"/>
            <a:r>
              <a:rPr lang="en-US" sz="2000" b="0">
                <a:solidFill>
                  <a:srgbClr val="000000"/>
                </a:solidFill>
              </a:rPr>
              <a:t>(blocked</a:t>
            </a:r>
            <a:br>
              <a:rPr lang="en-US" sz="2000" b="0">
                <a:solidFill>
                  <a:srgbClr val="000000"/>
                </a:solidFill>
              </a:rPr>
            </a:br>
            <a:r>
              <a:rPr lang="en-US" sz="2000" b="0">
                <a:solidFill>
                  <a:srgbClr val="000000"/>
                </a:solidFill>
              </a:rPr>
              <a:t>       state)</a:t>
            </a:r>
            <a:endParaRPr lang="en-US" sz="2000" b="0">
              <a:solidFill>
                <a:srgbClr val="000000"/>
              </a:solidFill>
              <a:latin typeface="Times New Roman" pitchFamily="18" charset="0"/>
            </a:endParaRPr>
          </a:p>
        </p:txBody>
      </p:sp>
      <p:sp>
        <p:nvSpPr>
          <p:cNvPr id="13336" name="AutoShape 29"/>
          <p:cNvSpPr>
            <a:spLocks noChangeArrowheads="1"/>
          </p:cNvSpPr>
          <p:nvPr/>
        </p:nvSpPr>
        <p:spPr bwMode="auto">
          <a:xfrm>
            <a:off x="5366583" y="2286000"/>
            <a:ext cx="2057400" cy="1219200"/>
          </a:xfrm>
          <a:prstGeom prst="flowChartDecision">
            <a:avLst/>
          </a:prstGeom>
          <a:solidFill>
            <a:schemeClr val="accent6"/>
          </a:solidFill>
          <a:ln w="12700">
            <a:solidFill>
              <a:schemeClr val="tx1"/>
            </a:solidFill>
            <a:miter lim="800000"/>
            <a:headEnd type="none" w="sm" len="sm"/>
            <a:tailEnd type="none" w="sm" len="sm"/>
          </a:ln>
        </p:spPr>
        <p:txBody>
          <a:bodyPr wrap="none" tIns="137160" anchor="t" anchorCtr="0"/>
          <a:lstStyle/>
          <a:p>
            <a:pPr algn="ctr"/>
            <a:r>
              <a:rPr lang="en-US" sz="1800" smtClean="0">
                <a:solidFill>
                  <a:srgbClr val="000000"/>
                </a:solidFill>
                <a:latin typeface="Arial Narrow" pitchFamily="34" charset="0"/>
              </a:rPr>
              <a:t>BLOCK waiting</a:t>
            </a:r>
            <a:br>
              <a:rPr lang="en-US" sz="1800" smtClean="0">
                <a:solidFill>
                  <a:srgbClr val="000000"/>
                </a:solidFill>
                <a:latin typeface="Arial Narrow" pitchFamily="34" charset="0"/>
              </a:rPr>
            </a:br>
            <a:r>
              <a:rPr lang="en-US" sz="1800" smtClean="0">
                <a:solidFill>
                  <a:srgbClr val="000000"/>
                </a:solidFill>
                <a:latin typeface="Arial Narrow" pitchFamily="34" charset="0"/>
              </a:rPr>
              <a:t>for signal</a:t>
            </a:r>
            <a:endParaRPr lang="en-US" sz="1800" dirty="0">
              <a:solidFill>
                <a:srgbClr val="000000"/>
              </a:solidFill>
              <a:latin typeface="Arial Narrow" pitchFamily="34" charset="0"/>
            </a:endParaRPr>
          </a:p>
        </p:txBody>
      </p:sp>
      <p:sp>
        <p:nvSpPr>
          <p:cNvPr id="35" name="Rectangle 34"/>
          <p:cNvSpPr/>
          <p:nvPr/>
        </p:nvSpPr>
        <p:spPr bwMode="auto">
          <a:xfrm>
            <a:off x="7560556" y="4533900"/>
            <a:ext cx="1143000" cy="1295400"/>
          </a:xfrm>
          <a:prstGeom prst="rect">
            <a:avLst/>
          </a:prstGeom>
          <a:solidFill>
            <a:schemeClr val="accent3">
              <a:lumMod val="60000"/>
              <a:lumOff val="40000"/>
            </a:schemeClr>
          </a:solidFill>
          <a:ln w="19050" cap="flat" cmpd="sng" algn="ctr">
            <a:solidFill>
              <a:schemeClr val="tx1"/>
            </a:solidFill>
            <a:prstDash val="solid"/>
            <a:round/>
            <a:headEnd type="none" w="sm" len="sm"/>
            <a:tailEnd type="none" w="sm" len="sm"/>
          </a:ln>
          <a:effectLst>
            <a:outerShdw blurRad="50800" dist="762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a:r>
              <a:rPr lang="en-US" b="0" dirty="0" smtClean="0">
                <a:solidFill>
                  <a:srgbClr val="000000"/>
                </a:solidFill>
                <a:latin typeface="Arial Narrow" pitchFamily="34" charset="0"/>
              </a:rPr>
              <a:t>Private</a:t>
            </a:r>
            <a:br>
              <a:rPr lang="en-US" b="0" dirty="0" smtClean="0">
                <a:solidFill>
                  <a:srgbClr val="000000"/>
                </a:solidFill>
                <a:latin typeface="Arial Narrow" pitchFamily="34" charset="0"/>
              </a:rPr>
            </a:br>
            <a:r>
              <a:rPr lang="en-US" b="0" dirty="0" smtClean="0">
                <a:solidFill>
                  <a:srgbClr val="000000"/>
                </a:solidFill>
                <a:latin typeface="Arial Narrow" pitchFamily="34" charset="0"/>
              </a:rPr>
              <a:t>Stack</a:t>
            </a:r>
          </a:p>
          <a:p>
            <a:pPr algn="ctr"/>
            <a:r>
              <a:rPr lang="en-US" b="0" dirty="0" smtClean="0">
                <a:solidFill>
                  <a:srgbClr val="000000"/>
                </a:solidFill>
                <a:latin typeface="Arial Narrow" pitchFamily="34" charset="0"/>
              </a:rPr>
              <a:t>(Task)</a:t>
            </a:r>
          </a:p>
        </p:txBody>
      </p:sp>
      <p:pic>
        <p:nvPicPr>
          <p:cNvPr id="39"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
        <p:nvSpPr>
          <p:cNvPr id="37" name="Text Box 22"/>
          <p:cNvSpPr txBox="1">
            <a:spLocks noChangeArrowheads="1"/>
          </p:cNvSpPr>
          <p:nvPr/>
        </p:nvSpPr>
        <p:spPr bwMode="auto">
          <a:xfrm>
            <a:off x="6400800" y="1728710"/>
            <a:ext cx="739305" cy="338554"/>
          </a:xfrm>
          <a:prstGeom prst="rect">
            <a:avLst/>
          </a:prstGeom>
          <a:noFill/>
          <a:ln w="12700">
            <a:noFill/>
            <a:miter lim="800000"/>
            <a:headEnd type="none" w="sm" len="sm"/>
            <a:tailEnd type="none" w="sm" len="sm"/>
          </a:ln>
        </p:spPr>
        <p:txBody>
          <a:bodyPr wrap="none">
            <a:spAutoFit/>
          </a:bodyPr>
          <a:lstStyle/>
          <a:p>
            <a:r>
              <a:rPr lang="en-US" sz="2000" smtClean="0">
                <a:solidFill>
                  <a:schemeClr val="tx2"/>
                </a:solidFill>
              </a:rPr>
              <a:t>start</a:t>
            </a:r>
            <a:endParaRPr lang="en-US">
              <a:solidFill>
                <a:schemeClr val="tx2"/>
              </a:solidFill>
              <a:latin typeface="Times New Roman" pitchFamily="18" charset="0"/>
            </a:endParaRPr>
          </a:p>
        </p:txBody>
      </p:sp>
      <p:cxnSp>
        <p:nvCxnSpPr>
          <p:cNvPr id="13333" name="AutoShape 26"/>
          <p:cNvCxnSpPr>
            <a:cxnSpLocks noChangeShapeType="1"/>
          </p:cNvCxnSpPr>
          <p:nvPr/>
        </p:nvCxnSpPr>
        <p:spPr bwMode="auto">
          <a:xfrm rot="5400000">
            <a:off x="6955611" y="1714125"/>
            <a:ext cx="1118791" cy="933012"/>
          </a:xfrm>
          <a:prstGeom prst="curvedConnector3">
            <a:avLst>
              <a:gd name="adj1" fmla="val 50000"/>
            </a:avLst>
          </a:prstGeom>
          <a:noFill/>
          <a:ln w="28575">
            <a:solidFill>
              <a:schemeClr val="tx2"/>
            </a:solidFill>
            <a:round/>
            <a:headEnd type="none" w="med" len="med"/>
            <a:tailEnd type="arrow" w="med" len="med"/>
          </a:ln>
        </p:spPr>
      </p:cxnSp>
      <p:sp>
        <p:nvSpPr>
          <p:cNvPr id="41" name="Text Box 22"/>
          <p:cNvSpPr txBox="1">
            <a:spLocks noChangeArrowheads="1"/>
          </p:cNvSpPr>
          <p:nvPr/>
        </p:nvSpPr>
        <p:spPr bwMode="auto">
          <a:xfrm>
            <a:off x="6400800" y="4661451"/>
            <a:ext cx="641522" cy="338554"/>
          </a:xfrm>
          <a:prstGeom prst="rect">
            <a:avLst/>
          </a:prstGeom>
          <a:noFill/>
          <a:ln w="12700">
            <a:noFill/>
            <a:miter lim="800000"/>
            <a:headEnd type="none" w="sm" len="sm"/>
            <a:tailEnd type="none" w="sm" len="sm"/>
          </a:ln>
        </p:spPr>
        <p:txBody>
          <a:bodyPr wrap="none">
            <a:spAutoFit/>
          </a:bodyPr>
          <a:lstStyle/>
          <a:p>
            <a:r>
              <a:rPr lang="en-US" sz="2000" smtClean="0">
                <a:solidFill>
                  <a:schemeClr val="tx2"/>
                </a:solidFill>
              </a:rPr>
              <a:t>end</a:t>
            </a:r>
            <a:endParaRPr lang="en-US">
              <a:solidFill>
                <a:schemeClr val="tx2"/>
              </a:solidFill>
              <a:latin typeface="Times New Roman" pitchFamily="18" charset="0"/>
            </a:endParaRPr>
          </a:p>
        </p:txBody>
      </p:sp>
      <p:sp>
        <p:nvSpPr>
          <p:cNvPr id="10" name="U-Turn Arrow 9"/>
          <p:cNvSpPr/>
          <p:nvPr/>
        </p:nvSpPr>
        <p:spPr bwMode="auto">
          <a:xfrm rot="10800000">
            <a:off x="5389620" y="4146757"/>
            <a:ext cx="723900" cy="685800"/>
          </a:xfrm>
          <a:prstGeom prst="uturnArrow">
            <a:avLst>
              <a:gd name="adj1" fmla="val 21899"/>
              <a:gd name="adj2" fmla="val 25000"/>
              <a:gd name="adj3" fmla="val 25000"/>
              <a:gd name="adj4" fmla="val 43750"/>
              <a:gd name="adj5" fmla="val 100000"/>
            </a:avLst>
          </a:prstGeom>
          <a:solidFill>
            <a:schemeClr val="accent3">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44" name="Text Box 22"/>
          <p:cNvSpPr txBox="1">
            <a:spLocks noChangeArrowheads="1"/>
          </p:cNvSpPr>
          <p:nvPr/>
        </p:nvSpPr>
        <p:spPr bwMode="auto">
          <a:xfrm>
            <a:off x="5224128" y="3856183"/>
            <a:ext cx="726481" cy="338554"/>
          </a:xfrm>
          <a:prstGeom prst="rect">
            <a:avLst/>
          </a:prstGeom>
          <a:noFill/>
          <a:ln w="12700">
            <a:noFill/>
            <a:miter lim="800000"/>
            <a:headEnd type="none" w="sm" len="sm"/>
            <a:tailEnd type="none" w="sm" len="sm"/>
          </a:ln>
        </p:spPr>
        <p:txBody>
          <a:bodyPr wrap="none">
            <a:spAutoFit/>
          </a:bodyPr>
          <a:lstStyle/>
          <a:p>
            <a:r>
              <a:rPr lang="en-US" sz="2000" smtClean="0">
                <a:solidFill>
                  <a:schemeClr val="tx2"/>
                </a:solidFill>
              </a:rPr>
              <a:t>loop</a:t>
            </a:r>
            <a:endParaRPr lang="en-US">
              <a:solidFill>
                <a:schemeClr val="tx2"/>
              </a:solidFill>
              <a:latin typeface="Times New Roman" pitchFamily="18" charset="0"/>
            </a:endParaRPr>
          </a:p>
        </p:txBody>
      </p:sp>
      <p:sp>
        <p:nvSpPr>
          <p:cNvPr id="11" name="TextBox 10"/>
          <p:cNvSpPr txBox="1"/>
          <p:nvPr/>
        </p:nvSpPr>
        <p:spPr>
          <a:xfrm>
            <a:off x="1291226" y="6263890"/>
            <a:ext cx="6938374" cy="289310"/>
          </a:xfrm>
          <a:prstGeom prst="rect">
            <a:avLst/>
          </a:prstGeom>
          <a:noFill/>
        </p:spPr>
        <p:txBody>
          <a:bodyPr wrap="none" rtlCol="0" anchor="ctr" anchorCtr="0">
            <a:spAutoFit/>
          </a:bodyPr>
          <a:lstStyle/>
          <a:p>
            <a:r>
              <a:rPr lang="en-US" sz="1600" b="0" i="1" smtClean="0">
                <a:solidFill>
                  <a:schemeClr val="dk1"/>
                </a:solidFill>
                <a:effectLst/>
              </a:rPr>
              <a:t>Note: we have entire chapters dedicated to exploring both Swi’s and Tasks</a:t>
            </a:r>
            <a:endParaRPr lang="en-US" sz="1600" b="0" i="1" dirty="0" smtClean="0">
              <a:solidFill>
                <a:schemeClr val="dk1"/>
              </a:solidFill>
              <a:effectLst/>
            </a:endParaRPr>
          </a:p>
        </p:txBody>
      </p:sp>
    </p:spTree>
    <p:custDataLst>
      <p:tags r:id="rId1"/>
    </p:custDataLst>
    <p:extLst>
      <p:ext uri="{BB962C8B-B14F-4D97-AF65-F5344CB8AC3E}">
        <p14:creationId xmlns:p14="http://schemas.microsoft.com/office/powerpoint/2010/main" val="2155771386"/>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p:txBody>
          <a:bodyPr/>
          <a:lstStyle/>
          <a:p>
            <a:r>
              <a:rPr lang="en-US" smtClean="0"/>
              <a:t>TI-RTOS Kernel Services – Summary</a:t>
            </a:r>
            <a:endParaRPr lang="en-US" dirty="0" smtClean="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838200"/>
            <a:ext cx="3296976" cy="5076296"/>
          </a:xfrm>
          <a:prstGeom prst="rect">
            <a:avLst/>
          </a:prstGeom>
          <a:noFill/>
          <a:ln w="19050">
            <a:solidFill>
              <a:schemeClr val="tx1"/>
            </a:solidFill>
            <a:miter lim="800000"/>
            <a:headEnd/>
            <a:tailEnd/>
          </a:ln>
          <a:effectLst>
            <a:outerShdw blurRad="50800" dist="76200" dir="2700000" algn="tl" rotWithShape="0">
              <a:schemeClr val="tx1">
                <a:alpha val="40000"/>
              </a:schemeClr>
            </a:outerShdw>
          </a:effectLst>
          <a:extLst>
            <a:ext uri="{909E8E84-426E-40DD-AFC4-6F175D3DCCD1}">
              <a14:hiddenFill xmlns:a14="http://schemas.microsoft.com/office/drawing/2010/main">
                <a:solidFill>
                  <a:schemeClr val="accent1"/>
                </a:solidFill>
              </a14:hiddenFill>
            </a:ext>
          </a:extLst>
        </p:spPr>
      </p:pic>
      <p:sp>
        <p:nvSpPr>
          <p:cNvPr id="2" name="Rounded Rectangle 1"/>
          <p:cNvSpPr/>
          <p:nvPr/>
        </p:nvSpPr>
        <p:spPr bwMode="auto">
          <a:xfrm>
            <a:off x="533400" y="2057400"/>
            <a:ext cx="2895600" cy="3200400"/>
          </a:xfrm>
          <a:prstGeom prst="round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endParaRPr lang="en-US" sz="2800" dirty="0" smtClean="0">
              <a:solidFill>
                <a:srgbClr val="000000"/>
              </a:solidFill>
              <a:latin typeface="Arial Narrow" pitchFamily="34" charset="0"/>
            </a:endParaRPr>
          </a:p>
        </p:txBody>
      </p:sp>
      <p:sp>
        <p:nvSpPr>
          <p:cNvPr id="4" name="TextBox 3"/>
          <p:cNvSpPr txBox="1"/>
          <p:nvPr/>
        </p:nvSpPr>
        <p:spPr>
          <a:xfrm>
            <a:off x="3810000" y="685800"/>
            <a:ext cx="5257800" cy="5386090"/>
          </a:xfrm>
          <a:prstGeom prst="rect">
            <a:avLst/>
          </a:prstGeom>
          <a:noFill/>
        </p:spPr>
        <p:txBody>
          <a:bodyPr wrap="square" rtlCol="0" anchor="t" anchorCtr="0">
            <a:spAutoFit/>
          </a:bodyPr>
          <a:lstStyle/>
          <a:p>
            <a:pPr marL="342900" indent="-342900">
              <a:spcBef>
                <a:spcPts val="1200"/>
              </a:spcBef>
              <a:buClr>
                <a:schemeClr val="tx2"/>
              </a:buClr>
              <a:buSzPct val="75000"/>
              <a:buFont typeface="Wingdings"/>
              <a:buChar char=""/>
            </a:pPr>
            <a:r>
              <a:rPr lang="en-US" b="0" smtClean="0">
                <a:solidFill>
                  <a:schemeClr val="dk1"/>
                </a:solidFill>
                <a:effectLst/>
                <a:latin typeface="Calibri" pitchFamily="34" charset="0"/>
                <a:cs typeface="Calibri" pitchFamily="34" charset="0"/>
              </a:rPr>
              <a:t>You have now been exposed to the following thread types:</a:t>
            </a:r>
          </a:p>
          <a:p>
            <a:pPr marL="795338" lvl="1" indent="-331788">
              <a:spcBef>
                <a:spcPts val="600"/>
              </a:spcBef>
              <a:buSzPct val="100000"/>
              <a:buFont typeface="Arial" pitchFamily="34" charset="0"/>
              <a:buChar char="•"/>
            </a:pPr>
            <a:r>
              <a:rPr lang="en-US" sz="2000" b="0" smtClean="0">
                <a:solidFill>
                  <a:schemeClr val="dk1"/>
                </a:solidFill>
                <a:latin typeface="Calibri" pitchFamily="34" charset="0"/>
                <a:cs typeface="Calibri" pitchFamily="34" charset="0"/>
              </a:rPr>
              <a:t>Idle </a:t>
            </a:r>
            <a:r>
              <a:rPr lang="en-US" sz="1800" b="0" smtClean="0">
                <a:solidFill>
                  <a:schemeClr val="dk1"/>
                </a:solidFill>
                <a:latin typeface="Calibri" pitchFamily="34" charset="0"/>
                <a:cs typeface="Calibri" pitchFamily="34" charset="0"/>
              </a:rPr>
              <a:t>(Chapter 4)</a:t>
            </a:r>
            <a:endParaRPr lang="en-US" sz="2000" b="0" smtClean="0">
              <a:solidFill>
                <a:schemeClr val="dk1"/>
              </a:solidFill>
              <a:latin typeface="Calibri" pitchFamily="34" charset="0"/>
              <a:cs typeface="Calibri" pitchFamily="34" charset="0"/>
            </a:endParaRPr>
          </a:p>
          <a:p>
            <a:pPr marL="795338" lvl="1" indent="-331788">
              <a:spcBef>
                <a:spcPts val="600"/>
              </a:spcBef>
              <a:buSzPct val="100000"/>
              <a:buFont typeface="Arial" pitchFamily="34" charset="0"/>
              <a:buChar char="•"/>
            </a:pPr>
            <a:r>
              <a:rPr lang="en-US" sz="2000" b="0" smtClean="0">
                <a:solidFill>
                  <a:schemeClr val="dk1"/>
                </a:solidFill>
                <a:latin typeface="Calibri" pitchFamily="34" charset="0"/>
                <a:cs typeface="Calibri" pitchFamily="34" charset="0"/>
              </a:rPr>
              <a:t>Hwi </a:t>
            </a:r>
            <a:r>
              <a:rPr lang="en-US" sz="1800" b="0" smtClean="0">
                <a:solidFill>
                  <a:schemeClr val="dk1"/>
                </a:solidFill>
                <a:latin typeface="Calibri" pitchFamily="34" charset="0"/>
                <a:cs typeface="Calibri" pitchFamily="34" charset="0"/>
              </a:rPr>
              <a:t>(Chapter 5)</a:t>
            </a:r>
            <a:endParaRPr lang="en-US" sz="2000" b="0" smtClean="0">
              <a:solidFill>
                <a:schemeClr val="dk1"/>
              </a:solidFill>
              <a:latin typeface="Calibri" pitchFamily="34" charset="0"/>
              <a:cs typeface="Calibri" pitchFamily="34" charset="0"/>
            </a:endParaRPr>
          </a:p>
          <a:p>
            <a:pPr marL="795338" lvl="1" indent="-331788">
              <a:spcBef>
                <a:spcPts val="600"/>
              </a:spcBef>
              <a:buSzPct val="100000"/>
              <a:buFont typeface="Arial" pitchFamily="34" charset="0"/>
              <a:buChar char="•"/>
            </a:pPr>
            <a:r>
              <a:rPr lang="en-US" sz="2000" b="0" smtClean="0">
                <a:solidFill>
                  <a:schemeClr val="dk1"/>
                </a:solidFill>
                <a:latin typeface="Calibri" pitchFamily="34" charset="0"/>
                <a:cs typeface="Calibri" pitchFamily="34" charset="0"/>
              </a:rPr>
              <a:t>Swi </a:t>
            </a:r>
            <a:r>
              <a:rPr lang="en-US" sz="1800" b="0" smtClean="0">
                <a:solidFill>
                  <a:schemeClr val="dk1"/>
                </a:solidFill>
                <a:latin typeface="Calibri" pitchFamily="34" charset="0"/>
                <a:cs typeface="Calibri" pitchFamily="34" charset="0"/>
              </a:rPr>
              <a:t>(Chapter 6)</a:t>
            </a:r>
            <a:endParaRPr lang="en-US" sz="2000" b="0" smtClean="0">
              <a:solidFill>
                <a:schemeClr val="dk1"/>
              </a:solidFill>
              <a:latin typeface="Calibri" pitchFamily="34" charset="0"/>
              <a:cs typeface="Calibri" pitchFamily="34" charset="0"/>
            </a:endParaRPr>
          </a:p>
          <a:p>
            <a:pPr marL="795338" lvl="1" indent="-331788">
              <a:spcBef>
                <a:spcPts val="600"/>
              </a:spcBef>
              <a:buSzPct val="100000"/>
              <a:buFont typeface="Arial" pitchFamily="34" charset="0"/>
              <a:buChar char="•"/>
            </a:pPr>
            <a:r>
              <a:rPr lang="en-US" sz="2000" b="0" smtClean="0">
                <a:solidFill>
                  <a:schemeClr val="dk1"/>
                </a:solidFill>
                <a:latin typeface="Calibri" pitchFamily="34" charset="0"/>
                <a:cs typeface="Calibri" pitchFamily="34" charset="0"/>
              </a:rPr>
              <a:t>Task </a:t>
            </a:r>
            <a:r>
              <a:rPr lang="en-US" sz="1800" b="0" smtClean="0">
                <a:solidFill>
                  <a:schemeClr val="dk1"/>
                </a:solidFill>
                <a:latin typeface="Calibri" pitchFamily="34" charset="0"/>
                <a:cs typeface="Calibri" pitchFamily="34" charset="0"/>
              </a:rPr>
              <a:t>(Chapter 8)</a:t>
            </a:r>
            <a:endParaRPr lang="en-US" sz="2000" b="0" smtClean="0">
              <a:solidFill>
                <a:schemeClr val="dk1"/>
              </a:solidFill>
              <a:latin typeface="Calibri" pitchFamily="34" charset="0"/>
              <a:cs typeface="Calibri" pitchFamily="34" charset="0"/>
            </a:endParaRPr>
          </a:p>
          <a:p>
            <a:pPr marL="342900" indent="-342900">
              <a:buClr>
                <a:schemeClr val="tx2"/>
              </a:buClr>
              <a:buSzPct val="75000"/>
              <a:buFont typeface="Wingdings"/>
              <a:buChar char=""/>
            </a:pPr>
            <a:r>
              <a:rPr lang="en-US" b="0" smtClean="0">
                <a:effectLst/>
                <a:latin typeface="Calibri" pitchFamily="34" charset="0"/>
                <a:cs typeface="Calibri" pitchFamily="34" charset="0"/>
              </a:rPr>
              <a:t>Each of these thread types have their own chapter along with:</a:t>
            </a:r>
          </a:p>
          <a:p>
            <a:pPr marL="800100" lvl="1" indent="-342900">
              <a:spcBef>
                <a:spcPts val="1200"/>
              </a:spcBef>
              <a:buSzPct val="100000"/>
              <a:buFont typeface="Arial" pitchFamily="34" charset="0"/>
              <a:buChar char="•"/>
            </a:pPr>
            <a:r>
              <a:rPr lang="en-US" b="0">
                <a:solidFill>
                  <a:schemeClr val="tx2"/>
                </a:solidFill>
                <a:latin typeface="Calibri" pitchFamily="34" charset="0"/>
                <a:cs typeface="Calibri" pitchFamily="34" charset="0"/>
              </a:rPr>
              <a:t>Memory Mgmt </a:t>
            </a:r>
            <a:r>
              <a:rPr lang="en-US" b="0">
                <a:solidFill>
                  <a:schemeClr val="dk1"/>
                </a:solidFill>
                <a:latin typeface="Calibri" pitchFamily="34" charset="0"/>
                <a:cs typeface="Calibri" pitchFamily="34" charset="0"/>
              </a:rPr>
              <a:t>(stack, heap) –  </a:t>
            </a:r>
            <a:r>
              <a:rPr lang="en-US" b="0" smtClean="0">
                <a:solidFill>
                  <a:schemeClr val="dk1"/>
                </a:solidFill>
                <a:latin typeface="Calibri" pitchFamily="34" charset="0"/>
                <a:cs typeface="Calibri" pitchFamily="34" charset="0"/>
              </a:rPr>
              <a:t/>
            </a:r>
            <a:br>
              <a:rPr lang="en-US" b="0" smtClean="0">
                <a:solidFill>
                  <a:schemeClr val="dk1"/>
                </a:solidFill>
                <a:latin typeface="Calibri" pitchFamily="34" charset="0"/>
                <a:cs typeface="Calibri" pitchFamily="34" charset="0"/>
              </a:rPr>
            </a:br>
            <a:r>
              <a:rPr lang="en-US" sz="2000" b="0" smtClean="0">
                <a:solidFill>
                  <a:schemeClr val="dk1"/>
                </a:solidFill>
                <a:latin typeface="Calibri" pitchFamily="34" charset="0"/>
                <a:cs typeface="Calibri" pitchFamily="34" charset="0"/>
              </a:rPr>
              <a:t>“Dyn Mem” chapter (optional)</a:t>
            </a:r>
            <a:endParaRPr lang="en-US" b="0">
              <a:solidFill>
                <a:schemeClr val="dk1"/>
              </a:solidFill>
              <a:latin typeface="Calibri" pitchFamily="34" charset="0"/>
              <a:cs typeface="Calibri" pitchFamily="34" charset="0"/>
            </a:endParaRPr>
          </a:p>
          <a:p>
            <a:pPr marL="800100" lvl="1" indent="-342900">
              <a:spcBef>
                <a:spcPts val="1200"/>
              </a:spcBef>
              <a:buSzPct val="100000"/>
              <a:buFont typeface="Arial" pitchFamily="34" charset="0"/>
              <a:buChar char="•"/>
            </a:pPr>
            <a:r>
              <a:rPr lang="en-US" b="0">
                <a:solidFill>
                  <a:schemeClr val="tx2"/>
                </a:solidFill>
                <a:latin typeface="Calibri" pitchFamily="34" charset="0"/>
                <a:cs typeface="Calibri" pitchFamily="34" charset="0"/>
              </a:rPr>
              <a:t>Real-Time Analysis</a:t>
            </a:r>
            <a:r>
              <a:rPr lang="en-US" b="0">
                <a:solidFill>
                  <a:schemeClr val="dk1"/>
                </a:solidFill>
                <a:latin typeface="Calibri" pitchFamily="34" charset="0"/>
                <a:cs typeface="Calibri" pitchFamily="34" charset="0"/>
              </a:rPr>
              <a:t> (logs, graphs, loads) – </a:t>
            </a:r>
            <a:r>
              <a:rPr lang="en-US" sz="2000" b="0" smtClean="0">
                <a:solidFill>
                  <a:schemeClr val="dk1"/>
                </a:solidFill>
                <a:latin typeface="Calibri" pitchFamily="34" charset="0"/>
                <a:cs typeface="Calibri" pitchFamily="34" charset="0"/>
              </a:rPr>
              <a:t>(Chapter 4)</a:t>
            </a:r>
            <a:endParaRPr lang="en-US" b="0">
              <a:solidFill>
                <a:schemeClr val="dk1"/>
              </a:solidFill>
              <a:latin typeface="Calibri" pitchFamily="34" charset="0"/>
              <a:cs typeface="Calibri" pitchFamily="34" charset="0"/>
            </a:endParaRPr>
          </a:p>
          <a:p>
            <a:pPr marL="800100" lvl="1" indent="-342900">
              <a:spcBef>
                <a:spcPts val="1200"/>
              </a:spcBef>
              <a:buSzPct val="100000"/>
              <a:buFont typeface="Arial" pitchFamily="34" charset="0"/>
              <a:buChar char="•"/>
            </a:pPr>
            <a:r>
              <a:rPr lang="en-US" b="0" i="1" smtClean="0">
                <a:solidFill>
                  <a:schemeClr val="tx2"/>
                </a:solidFill>
                <a:effectLst/>
                <a:latin typeface="Calibri" pitchFamily="34" charset="0"/>
                <a:cs typeface="Calibri" pitchFamily="34" charset="0"/>
              </a:rPr>
              <a:t>Clock/Timer</a:t>
            </a:r>
            <a:r>
              <a:rPr lang="en-US" b="0" smtClean="0">
                <a:solidFill>
                  <a:schemeClr val="dk1"/>
                </a:solidFill>
                <a:effectLst/>
                <a:latin typeface="Calibri" pitchFamily="34" charset="0"/>
                <a:cs typeface="Calibri" pitchFamily="34" charset="0"/>
              </a:rPr>
              <a:t> – </a:t>
            </a:r>
            <a:r>
              <a:rPr lang="en-US" sz="2000" b="0" smtClean="0">
                <a:solidFill>
                  <a:schemeClr val="dk1"/>
                </a:solidFill>
                <a:effectLst/>
                <a:latin typeface="Calibri" pitchFamily="34" charset="0"/>
                <a:cs typeface="Calibri" pitchFamily="34" charset="0"/>
              </a:rPr>
              <a:t>(Chapter 7)</a:t>
            </a:r>
            <a:endParaRPr lang="en-US" b="0" smtClean="0">
              <a:solidFill>
                <a:schemeClr val="dk1"/>
              </a:solidFill>
              <a:effectLst/>
              <a:latin typeface="Calibri" pitchFamily="34" charset="0"/>
              <a:cs typeface="Calibri" pitchFamily="34" charset="0"/>
            </a:endParaRPr>
          </a:p>
          <a:p>
            <a:pPr marL="800100" lvl="1" indent="-342900">
              <a:spcBef>
                <a:spcPts val="1200"/>
              </a:spcBef>
              <a:buSzPct val="100000"/>
              <a:buFont typeface="Arial" pitchFamily="34" charset="0"/>
              <a:buChar char="•"/>
            </a:pPr>
            <a:r>
              <a:rPr lang="en-US" b="0" smtClean="0">
                <a:solidFill>
                  <a:schemeClr val="tx2"/>
                </a:solidFill>
                <a:effectLst/>
                <a:latin typeface="Calibri" pitchFamily="34" charset="0"/>
                <a:cs typeface="Calibri" pitchFamily="34" charset="0"/>
              </a:rPr>
              <a:t>Synchronization</a:t>
            </a:r>
            <a:r>
              <a:rPr lang="en-US" b="0" smtClean="0">
                <a:solidFill>
                  <a:schemeClr val="dk1"/>
                </a:solidFill>
                <a:effectLst/>
                <a:latin typeface="Calibri" pitchFamily="34" charset="0"/>
                <a:cs typeface="Calibri" pitchFamily="34" charset="0"/>
              </a:rPr>
              <a:t> (semaphores, events) –  </a:t>
            </a:r>
            <a:r>
              <a:rPr lang="en-US" sz="2000" b="0" smtClean="0">
                <a:solidFill>
                  <a:schemeClr val="dk1"/>
                </a:solidFill>
                <a:effectLst/>
                <a:latin typeface="Calibri" pitchFamily="34" charset="0"/>
                <a:cs typeface="Calibri" pitchFamily="34" charset="0"/>
              </a:rPr>
              <a:t>(Chapter 8)</a:t>
            </a:r>
            <a:endParaRPr lang="en-US" b="0" smtClean="0">
              <a:solidFill>
                <a:schemeClr val="dk1"/>
              </a:solidFill>
              <a:effectLst/>
              <a:latin typeface="Calibri" pitchFamily="34" charset="0"/>
              <a:cs typeface="Calibri" pitchFamily="34" charset="0"/>
            </a:endParaRPr>
          </a:p>
        </p:txBody>
      </p:sp>
      <p:sp>
        <p:nvSpPr>
          <p:cNvPr id="5" name="Leading Question"/>
          <p:cNvSpPr txBox="1"/>
          <p:nvPr/>
        </p:nvSpPr>
        <p:spPr>
          <a:xfrm>
            <a:off x="4590148" y="6383179"/>
            <a:ext cx="4042773" cy="246221"/>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2000" b="0" smtClean="0">
                <a:solidFill>
                  <a:schemeClr val="tx2"/>
                </a:solidFill>
                <a:effectLst/>
                <a:latin typeface="Arial Narrow"/>
                <a:cs typeface="Calibri" pitchFamily="34" charset="0"/>
              </a:rPr>
              <a:t>Let's take a look at the BIOS environment...</a:t>
            </a:r>
          </a:p>
        </p:txBody>
      </p:sp>
      <p:sp>
        <p:nvSpPr>
          <p:cNvPr id="7" name="TextBox 6"/>
          <p:cNvSpPr txBox="1"/>
          <p:nvPr/>
        </p:nvSpPr>
        <p:spPr>
          <a:xfrm>
            <a:off x="790700" y="3426702"/>
            <a:ext cx="668773" cy="395173"/>
          </a:xfrm>
          <a:prstGeom prst="rect">
            <a:avLst/>
          </a:prstGeom>
          <a:noFill/>
        </p:spPr>
        <p:txBody>
          <a:bodyPr wrap="none" rtlCol="0" anchor="t" anchorCtr="0">
            <a:spAutoFit/>
          </a:bodyPr>
          <a:lstStyle/>
          <a:p>
            <a:pPr marL="342900" indent="-342900">
              <a:buClr>
                <a:srgbClr val="FF0000"/>
              </a:buClr>
              <a:buSzPct val="125000"/>
              <a:buFont typeface="Wingdings"/>
              <a:buChar char=""/>
            </a:pPr>
            <a:r>
              <a:rPr lang="en-US" b="0">
                <a:solidFill>
                  <a:srgbClr val="FF0000"/>
                </a:solidFill>
                <a:latin typeface="Calibri" pitchFamily="34" charset="0"/>
                <a:cs typeface="Calibri" pitchFamily="34" charset="0"/>
              </a:rPr>
              <a:t> </a:t>
            </a:r>
            <a:r>
              <a:rPr lang="en-US" b="0" smtClean="0">
                <a:solidFill>
                  <a:srgbClr val="FF0000"/>
                </a:solidFill>
                <a:effectLst/>
                <a:latin typeface="Calibri" pitchFamily="34" charset="0"/>
                <a:cs typeface="Calibri" pitchFamily="34" charset="0"/>
              </a:rPr>
              <a:t> </a:t>
            </a:r>
          </a:p>
        </p:txBody>
      </p:sp>
      <p:sp>
        <p:nvSpPr>
          <p:cNvPr id="12" name="TextBox 11"/>
          <p:cNvSpPr txBox="1"/>
          <p:nvPr/>
        </p:nvSpPr>
        <p:spPr>
          <a:xfrm>
            <a:off x="790700" y="3736544"/>
            <a:ext cx="668773" cy="395173"/>
          </a:xfrm>
          <a:prstGeom prst="rect">
            <a:avLst/>
          </a:prstGeom>
          <a:noFill/>
        </p:spPr>
        <p:txBody>
          <a:bodyPr wrap="none" rtlCol="0" anchor="t" anchorCtr="0">
            <a:spAutoFit/>
          </a:bodyPr>
          <a:lstStyle/>
          <a:p>
            <a:pPr marL="342900" indent="-342900">
              <a:buClr>
                <a:srgbClr val="FF0000"/>
              </a:buClr>
              <a:buSzPct val="125000"/>
              <a:buFont typeface="Wingdings"/>
              <a:buChar char=""/>
            </a:pPr>
            <a:r>
              <a:rPr lang="en-US" b="0">
                <a:solidFill>
                  <a:srgbClr val="FF0000"/>
                </a:solidFill>
                <a:latin typeface="Calibri" pitchFamily="34" charset="0"/>
                <a:cs typeface="Calibri" pitchFamily="34" charset="0"/>
              </a:rPr>
              <a:t> </a:t>
            </a:r>
            <a:r>
              <a:rPr lang="en-US" b="0" smtClean="0">
                <a:solidFill>
                  <a:srgbClr val="FF0000"/>
                </a:solidFill>
                <a:effectLst/>
                <a:latin typeface="Calibri" pitchFamily="34" charset="0"/>
                <a:cs typeface="Calibri" pitchFamily="34" charset="0"/>
              </a:rPr>
              <a:t> </a:t>
            </a:r>
          </a:p>
        </p:txBody>
      </p:sp>
      <p:sp>
        <p:nvSpPr>
          <p:cNvPr id="13" name="TextBox 12"/>
          <p:cNvSpPr txBox="1"/>
          <p:nvPr/>
        </p:nvSpPr>
        <p:spPr>
          <a:xfrm>
            <a:off x="790700" y="4046386"/>
            <a:ext cx="668773" cy="395173"/>
          </a:xfrm>
          <a:prstGeom prst="rect">
            <a:avLst/>
          </a:prstGeom>
          <a:noFill/>
        </p:spPr>
        <p:txBody>
          <a:bodyPr wrap="none" rtlCol="0" anchor="t" anchorCtr="0">
            <a:spAutoFit/>
          </a:bodyPr>
          <a:lstStyle/>
          <a:p>
            <a:pPr marL="342900" indent="-342900">
              <a:buClr>
                <a:srgbClr val="FF0000"/>
              </a:buClr>
              <a:buSzPct val="125000"/>
              <a:buFont typeface="Wingdings"/>
              <a:buChar char=""/>
            </a:pPr>
            <a:r>
              <a:rPr lang="en-US" b="0">
                <a:solidFill>
                  <a:srgbClr val="FF0000"/>
                </a:solidFill>
                <a:latin typeface="Calibri" pitchFamily="34" charset="0"/>
                <a:cs typeface="Calibri" pitchFamily="34" charset="0"/>
              </a:rPr>
              <a:t> </a:t>
            </a:r>
            <a:r>
              <a:rPr lang="en-US" b="0" smtClean="0">
                <a:solidFill>
                  <a:srgbClr val="FF0000"/>
                </a:solidFill>
                <a:effectLst/>
                <a:latin typeface="Calibri" pitchFamily="34" charset="0"/>
                <a:cs typeface="Calibri" pitchFamily="34" charset="0"/>
              </a:rPr>
              <a:t> </a:t>
            </a:r>
          </a:p>
        </p:txBody>
      </p:sp>
      <p:sp>
        <p:nvSpPr>
          <p:cNvPr id="14" name="TextBox 13"/>
          <p:cNvSpPr txBox="1"/>
          <p:nvPr/>
        </p:nvSpPr>
        <p:spPr>
          <a:xfrm>
            <a:off x="790700" y="4356227"/>
            <a:ext cx="668773" cy="395173"/>
          </a:xfrm>
          <a:prstGeom prst="rect">
            <a:avLst/>
          </a:prstGeom>
          <a:noFill/>
        </p:spPr>
        <p:txBody>
          <a:bodyPr wrap="none" rtlCol="0" anchor="t" anchorCtr="0">
            <a:spAutoFit/>
          </a:bodyPr>
          <a:lstStyle/>
          <a:p>
            <a:pPr marL="342900" indent="-342900">
              <a:buClr>
                <a:srgbClr val="FF0000"/>
              </a:buClr>
              <a:buSzPct val="125000"/>
              <a:buFont typeface="Wingdings"/>
              <a:buChar char=""/>
            </a:pPr>
            <a:r>
              <a:rPr lang="en-US" b="0">
                <a:solidFill>
                  <a:srgbClr val="FF0000"/>
                </a:solidFill>
                <a:latin typeface="Calibri" pitchFamily="34" charset="0"/>
                <a:cs typeface="Calibri" pitchFamily="34" charset="0"/>
              </a:rPr>
              <a:t> </a:t>
            </a:r>
            <a:r>
              <a:rPr lang="en-US" b="0" smtClean="0">
                <a:solidFill>
                  <a:srgbClr val="FF0000"/>
                </a:solidFill>
                <a:effectLst/>
                <a:latin typeface="Calibri" pitchFamily="34" charset="0"/>
                <a:cs typeface="Calibri" pitchFamily="34" charset="0"/>
              </a:rPr>
              <a:t> </a:t>
            </a:r>
          </a:p>
        </p:txBody>
      </p:sp>
      <p:pic>
        <p:nvPicPr>
          <p:cNvPr id="17"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Tree>
    <p:extLst>
      <p:ext uri="{BB962C8B-B14F-4D97-AF65-F5344CB8AC3E}">
        <p14:creationId xmlns:p14="http://schemas.microsoft.com/office/powerpoint/2010/main" val="273736173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533400" y="1219200"/>
            <a:ext cx="5105400" cy="4324922"/>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0"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11" action="ppaction://hlinksldjump"/>
          </p:cNvPr>
          <p:cNvSpPr txBox="1">
            <a:spLocks noChangeArrowheads="1"/>
          </p:cNvSpPr>
          <p:nvPr>
            <p:custDataLst>
              <p:tags r:id="rId2"/>
            </p:custDataLst>
          </p:nvPr>
        </p:nvSpPr>
        <p:spPr bwMode="auto">
          <a:xfrm>
            <a:off x="538802" y="137289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What is the TI-RTOS Kernel?</a:t>
            </a:r>
            <a:endParaRPr lang="en-US" dirty="0">
              <a:solidFill>
                <a:srgbClr val="000000"/>
              </a:solidFill>
            </a:endParaRPr>
          </a:p>
        </p:txBody>
      </p:sp>
      <p:sp>
        <p:nvSpPr>
          <p:cNvPr id="10" name="Text Box 4">
            <a:hlinkClick r:id="rId12" action="ppaction://hlinksldjump"/>
          </p:cNvPr>
          <p:cNvSpPr txBox="1">
            <a:spLocks noChangeArrowheads="1"/>
          </p:cNvSpPr>
          <p:nvPr>
            <p:custDataLst>
              <p:tags r:id="rId3"/>
            </p:custDataLst>
          </p:nvPr>
        </p:nvSpPr>
        <p:spPr bwMode="auto">
          <a:xfrm>
            <a:off x="538802" y="182520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Scheduler</a:t>
            </a:r>
            <a:endParaRPr lang="en-US" dirty="0">
              <a:solidFill>
                <a:srgbClr val="000000"/>
              </a:solidFill>
            </a:endParaRPr>
          </a:p>
        </p:txBody>
      </p:sp>
      <p:sp>
        <p:nvSpPr>
          <p:cNvPr id="11" name="Text Box 4">
            <a:hlinkClick r:id="rId13" action="ppaction://hlinksldjump"/>
          </p:cNvPr>
          <p:cNvSpPr txBox="1">
            <a:spLocks noChangeArrowheads="1"/>
          </p:cNvSpPr>
          <p:nvPr>
            <p:custDataLst>
              <p:tags r:id="rId4"/>
            </p:custDataLst>
          </p:nvPr>
        </p:nvSpPr>
        <p:spPr bwMode="auto">
          <a:xfrm>
            <a:off x="538802" y="2277520"/>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Adding Tasks…</a:t>
            </a:r>
            <a:endParaRPr lang="en-US" dirty="0">
              <a:solidFill>
                <a:srgbClr val="000000"/>
              </a:solidFill>
            </a:endParaRPr>
          </a:p>
        </p:txBody>
      </p:sp>
      <p:sp>
        <p:nvSpPr>
          <p:cNvPr id="12" name="Text Box 3">
            <a:hlinkClick r:id="rId14" action="ppaction://hlinksldjump"/>
          </p:cNvPr>
          <p:cNvSpPr txBox="1">
            <a:spLocks noChangeArrowheads="1"/>
          </p:cNvSpPr>
          <p:nvPr>
            <p:custDataLst>
              <p:tags r:id="rId5"/>
            </p:custDataLst>
          </p:nvPr>
        </p:nvSpPr>
        <p:spPr bwMode="auto">
          <a:xfrm>
            <a:off x="533400" y="2729834"/>
            <a:ext cx="5105400" cy="387798"/>
          </a:xfrm>
          <a:prstGeom prst="rect">
            <a:avLst/>
          </a:prstGeom>
          <a:solidFill>
            <a:schemeClr val="bg1"/>
          </a:solidFill>
          <a:ln w="19050">
            <a:solidFill>
              <a:schemeClr val="tx1"/>
            </a:solid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Environment</a:t>
            </a:r>
            <a:endParaRPr lang="en-US" dirty="0">
              <a:solidFill>
                <a:srgbClr val="000000"/>
              </a:solidFill>
            </a:endParaRPr>
          </a:p>
        </p:txBody>
      </p:sp>
      <p:sp>
        <p:nvSpPr>
          <p:cNvPr id="13" name="Text Box 4">
            <a:hlinkClick r:id="rId15" action="ppaction://hlinksldjump"/>
          </p:cNvPr>
          <p:cNvSpPr txBox="1">
            <a:spLocks noChangeArrowheads="1"/>
          </p:cNvSpPr>
          <p:nvPr>
            <p:custDataLst>
              <p:tags r:id="rId6"/>
            </p:custDataLst>
          </p:nvPr>
        </p:nvSpPr>
        <p:spPr bwMode="auto">
          <a:xfrm>
            <a:off x="538802" y="3182148"/>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Debugging Tools</a:t>
            </a:r>
            <a:endParaRPr lang="en-US" dirty="0">
              <a:solidFill>
                <a:srgbClr val="000000"/>
              </a:solidFill>
            </a:endParaRPr>
          </a:p>
        </p:txBody>
      </p:sp>
      <p:sp>
        <p:nvSpPr>
          <p:cNvPr id="14" name="Text Box 4">
            <a:hlinkClick r:id="rId16" action="ppaction://hlinksldjump"/>
          </p:cNvPr>
          <p:cNvSpPr txBox="1">
            <a:spLocks noChangeArrowheads="1"/>
          </p:cNvSpPr>
          <p:nvPr>
            <p:custDataLst>
              <p:tags r:id="rId7"/>
            </p:custDataLst>
          </p:nvPr>
        </p:nvSpPr>
        <p:spPr bwMode="auto">
          <a:xfrm>
            <a:off x="538802" y="363446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For More Info…</a:t>
            </a:r>
            <a:endParaRPr lang="en-US" dirty="0">
              <a:solidFill>
                <a:srgbClr val="000000"/>
              </a:solidFill>
            </a:endParaRPr>
          </a:p>
        </p:txBody>
      </p:sp>
      <p:sp>
        <p:nvSpPr>
          <p:cNvPr id="15" name="Text Box 4">
            <a:hlinkClick r:id="rId17" action="ppaction://hlinksldjump"/>
          </p:cNvPr>
          <p:cNvSpPr txBox="1">
            <a:spLocks noChangeArrowheads="1"/>
          </p:cNvSpPr>
          <p:nvPr>
            <p:custDataLst>
              <p:tags r:id="rId8"/>
            </p:custDataLst>
          </p:nvPr>
        </p:nvSpPr>
        <p:spPr bwMode="auto">
          <a:xfrm>
            <a:off x="538802" y="408677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Chapter Quiz</a:t>
            </a:r>
            <a:endParaRPr lang="en-US" dirty="0">
              <a:solidFill>
                <a:srgbClr val="000000"/>
              </a:solidFill>
            </a:endParaRPr>
          </a:p>
        </p:txBody>
      </p:sp>
    </p:spTree>
    <p:custDataLst>
      <p:tags r:id="rId1"/>
    </p:custDataLst>
    <p:extLst>
      <p:ext uri="{BB962C8B-B14F-4D97-AF65-F5344CB8AC3E}">
        <p14:creationId xmlns:p14="http://schemas.microsoft.com/office/powerpoint/2010/main" val="3962497277"/>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p:txBody>
          <a:bodyPr/>
          <a:lstStyle/>
          <a:p>
            <a:r>
              <a:rPr lang="en-US" smtClean="0"/>
              <a:t>Kernel APIs, Objects and Handles</a:t>
            </a:r>
            <a:endParaRPr lang="en-US" dirty="0" smtClean="0"/>
          </a:p>
        </p:txBody>
      </p:sp>
      <p:sp>
        <p:nvSpPr>
          <p:cNvPr id="11" name="Rectangle 10"/>
          <p:cNvSpPr/>
          <p:nvPr/>
        </p:nvSpPr>
        <p:spPr bwMode="auto">
          <a:xfrm>
            <a:off x="3723167" y="685800"/>
            <a:ext cx="5219700" cy="1244922"/>
          </a:xfrm>
          <a:prstGeom prst="rect">
            <a:avLst/>
          </a:prstGeom>
          <a:solidFill>
            <a:schemeClr val="accent1"/>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lvl="0"/>
            <a:r>
              <a:rPr lang="en-US" sz="2800" b="0">
                <a:solidFill>
                  <a:srgbClr val="000000"/>
                </a:solidFill>
                <a:latin typeface="Calibri" pitchFamily="34" charset="0"/>
                <a:cs typeface="Calibri" pitchFamily="34" charset="0"/>
              </a:rPr>
              <a:t>BIOS </a:t>
            </a:r>
            <a:r>
              <a:rPr lang="en-US" sz="2800" b="0" smtClean="0">
                <a:solidFill>
                  <a:srgbClr val="000000"/>
                </a:solidFill>
                <a:latin typeface="Calibri" pitchFamily="34" charset="0"/>
                <a:cs typeface="Calibri" pitchFamily="34" charset="0"/>
              </a:rPr>
              <a:t>is </a:t>
            </a:r>
            <a:r>
              <a:rPr lang="en-US" sz="2800" i="1" dirty="0" smtClean="0">
                <a:solidFill>
                  <a:schemeClr val="tx2"/>
                </a:solidFill>
                <a:latin typeface="Calibri" pitchFamily="34" charset="0"/>
                <a:cs typeface="Calibri" pitchFamily="34" charset="0"/>
              </a:rPr>
              <a:t>object oriented</a:t>
            </a:r>
            <a:r>
              <a:rPr lang="en-US" sz="2800" b="0" dirty="0" smtClean="0">
                <a:solidFill>
                  <a:srgbClr val="000000"/>
                </a:solidFill>
                <a:latin typeface="Calibri" pitchFamily="34" charset="0"/>
                <a:cs typeface="Calibri" pitchFamily="34" charset="0"/>
              </a:rPr>
              <a:t> – each module is created as an </a:t>
            </a:r>
            <a:r>
              <a:rPr lang="en-US" sz="2800" b="0" i="1" dirty="0" smtClean="0">
                <a:solidFill>
                  <a:srgbClr val="000000"/>
                </a:solidFill>
                <a:latin typeface="Calibri" pitchFamily="34" charset="0"/>
                <a:cs typeface="Calibri" pitchFamily="34" charset="0"/>
              </a:rPr>
              <a:t>object</a:t>
            </a:r>
            <a:r>
              <a:rPr lang="en-US" sz="2800" b="0" dirty="0" smtClean="0">
                <a:solidFill>
                  <a:srgbClr val="000000"/>
                </a:solidFill>
                <a:latin typeface="Calibri" pitchFamily="34" charset="0"/>
                <a:cs typeface="Calibri" pitchFamily="34" charset="0"/>
              </a:rPr>
              <a:t> and objects are accessed via the API:</a:t>
            </a:r>
            <a:endParaRPr lang="en-US" sz="2800" b="0" dirty="0">
              <a:solidFill>
                <a:srgbClr val="000000"/>
              </a:solidFill>
              <a:latin typeface="Calibri" pitchFamily="34" charset="0"/>
              <a:cs typeface="Calibri" pitchFamily="34" charset="0"/>
            </a:endParaRPr>
          </a:p>
        </p:txBody>
      </p:sp>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685800"/>
            <a:ext cx="2969444" cy="4572000"/>
          </a:xfrm>
          <a:prstGeom prst="rect">
            <a:avLst/>
          </a:prstGeom>
          <a:noFill/>
          <a:ln w="19050">
            <a:solidFill>
              <a:schemeClr val="tx1"/>
            </a:solidFill>
            <a:miter lim="800000"/>
            <a:headEnd/>
            <a:tailEnd/>
          </a:ln>
          <a:effectLst>
            <a:outerShdw blurRad="50800" dist="76200" dir="2700000" algn="tl" rotWithShape="0">
              <a:schemeClr val="tx1">
                <a:alpha val="40000"/>
              </a:schemeClr>
            </a:outerShdw>
          </a:effectLst>
          <a:extLst>
            <a:ext uri="{909E8E84-426E-40DD-AFC4-6F175D3DCCD1}">
              <a14:hiddenFill xmlns:a14="http://schemas.microsoft.com/office/drawing/2010/main">
                <a:solidFill>
                  <a:schemeClr val="accent1"/>
                </a:solidFill>
              </a14:hiddenFill>
            </a:ext>
          </a:extLst>
        </p:spPr>
      </p:pic>
      <p:sp>
        <p:nvSpPr>
          <p:cNvPr id="14" name="TextBox 13"/>
          <p:cNvSpPr txBox="1"/>
          <p:nvPr/>
        </p:nvSpPr>
        <p:spPr>
          <a:xfrm>
            <a:off x="3352800" y="4295677"/>
            <a:ext cx="3185359" cy="1554272"/>
          </a:xfrm>
          <a:prstGeom prst="rect">
            <a:avLst/>
          </a:prstGeom>
          <a:noFill/>
        </p:spPr>
        <p:txBody>
          <a:bodyPr wrap="none" rtlCol="0" anchor="ctr" anchorCtr="0">
            <a:spAutoFit/>
          </a:bodyPr>
          <a:lstStyle/>
          <a:p>
            <a:pPr marL="342900" indent="-342900">
              <a:spcBef>
                <a:spcPts val="600"/>
              </a:spcBef>
              <a:buClr>
                <a:schemeClr val="tx2"/>
              </a:buClr>
              <a:buSzPct val="75000"/>
              <a:buFont typeface="Wingdings"/>
              <a:buChar char=""/>
            </a:pPr>
            <a:r>
              <a:rPr lang="en-US" sz="2000" b="0" dirty="0" smtClean="0">
                <a:solidFill>
                  <a:schemeClr val="dk1"/>
                </a:solidFill>
                <a:latin typeface="Calibri" pitchFamily="34" charset="0"/>
                <a:cs typeface="Calibri" pitchFamily="34" charset="0"/>
              </a:rPr>
              <a:t>Better encapsulation</a:t>
            </a:r>
          </a:p>
          <a:p>
            <a:pPr marL="342900" indent="-342900">
              <a:spcBef>
                <a:spcPts val="600"/>
              </a:spcBef>
              <a:buClr>
                <a:schemeClr val="tx2"/>
              </a:buClr>
              <a:buSzPct val="75000"/>
              <a:buFont typeface="Wingdings"/>
              <a:buChar char=""/>
            </a:pPr>
            <a:r>
              <a:rPr lang="en-US" sz="2000" b="0" dirty="0" smtClean="0">
                <a:solidFill>
                  <a:schemeClr val="dk1"/>
                </a:solidFill>
                <a:effectLst/>
                <a:latin typeface="Calibri" pitchFamily="34" charset="0"/>
                <a:cs typeface="Calibri" pitchFamily="34" charset="0"/>
              </a:rPr>
              <a:t>Change one w/o</a:t>
            </a:r>
            <a:br>
              <a:rPr lang="en-US" sz="2000" b="0" dirty="0" smtClean="0">
                <a:solidFill>
                  <a:schemeClr val="dk1"/>
                </a:solidFill>
                <a:effectLst/>
                <a:latin typeface="Calibri" pitchFamily="34" charset="0"/>
                <a:cs typeface="Calibri" pitchFamily="34" charset="0"/>
              </a:rPr>
            </a:br>
            <a:r>
              <a:rPr lang="en-US" sz="2000" b="0" dirty="0" smtClean="0">
                <a:solidFill>
                  <a:schemeClr val="dk1"/>
                </a:solidFill>
                <a:effectLst/>
                <a:latin typeface="Calibri" pitchFamily="34" charset="0"/>
                <a:cs typeface="Calibri" pitchFamily="34" charset="0"/>
              </a:rPr>
              <a:t>affecting others</a:t>
            </a:r>
          </a:p>
          <a:p>
            <a:pPr marL="342900" indent="-342900">
              <a:spcBef>
                <a:spcPts val="600"/>
              </a:spcBef>
              <a:buClr>
                <a:schemeClr val="tx2"/>
              </a:buClr>
              <a:buSzPct val="75000"/>
              <a:buFont typeface="Wingdings"/>
              <a:buChar char=""/>
            </a:pPr>
            <a:r>
              <a:rPr lang="en-US" sz="2000" b="0" dirty="0" smtClean="0">
                <a:solidFill>
                  <a:schemeClr val="dk1"/>
                </a:solidFill>
                <a:latin typeface="Calibri" pitchFamily="34" charset="0"/>
                <a:cs typeface="Calibri" pitchFamily="34" charset="0"/>
              </a:rPr>
              <a:t>Multiple instances</a:t>
            </a:r>
          </a:p>
          <a:p>
            <a:pPr marL="342900" indent="-342900">
              <a:spcBef>
                <a:spcPts val="600"/>
              </a:spcBef>
              <a:buClr>
                <a:schemeClr val="tx2"/>
              </a:buClr>
              <a:buSzPct val="75000"/>
              <a:buFont typeface="Wingdings"/>
              <a:buChar char=""/>
            </a:pPr>
            <a:r>
              <a:rPr lang="en-US" sz="2000" b="0" dirty="0" smtClean="0">
                <a:solidFill>
                  <a:schemeClr val="dk1"/>
                </a:solidFill>
                <a:effectLst/>
                <a:latin typeface="Calibri" pitchFamily="34" charset="0"/>
                <a:cs typeface="Calibri" pitchFamily="34" charset="0"/>
              </a:rPr>
              <a:t>Easy to maintain, validate</a:t>
            </a:r>
            <a:endParaRPr lang="en-US" sz="1800" b="0" dirty="0" smtClean="0">
              <a:solidFill>
                <a:schemeClr val="dk1"/>
              </a:solidFill>
              <a:effectLst/>
              <a:latin typeface="Calibri" pitchFamily="34" charset="0"/>
              <a:cs typeface="Calibri" pitchFamily="34" charset="0"/>
            </a:endParaRPr>
          </a:p>
        </p:txBody>
      </p:sp>
      <p:sp>
        <p:nvSpPr>
          <p:cNvPr id="15" name="Leading Question"/>
          <p:cNvSpPr txBox="1"/>
          <p:nvPr/>
        </p:nvSpPr>
        <p:spPr>
          <a:xfrm>
            <a:off x="4392754" y="6220801"/>
            <a:ext cx="3760646" cy="332399"/>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ctr">
              <a:lnSpc>
                <a:spcPct val="90000"/>
              </a:lnSpc>
              <a:spcBef>
                <a:spcPct val="0"/>
              </a:spcBef>
            </a:pPr>
            <a:r>
              <a:rPr lang="en-US" b="0" smtClean="0">
                <a:solidFill>
                  <a:schemeClr val="tx2"/>
                </a:solidFill>
                <a:effectLst/>
                <a:latin typeface="Arial Narrow"/>
              </a:rPr>
              <a:t>How do you create a Swi object ?</a:t>
            </a:r>
            <a:endParaRPr lang="en-US" b="0" dirty="0" smtClean="0">
              <a:solidFill>
                <a:schemeClr val="tx2"/>
              </a:solidFill>
              <a:effectLst/>
              <a:latin typeface="Arial Narrow"/>
            </a:endParaRPr>
          </a:p>
        </p:txBody>
      </p:sp>
      <p:sp>
        <p:nvSpPr>
          <p:cNvPr id="16" name="Rounded Rectangle 15"/>
          <p:cNvSpPr/>
          <p:nvPr/>
        </p:nvSpPr>
        <p:spPr bwMode="auto">
          <a:xfrm>
            <a:off x="5486400" y="2057400"/>
            <a:ext cx="2743200" cy="1447800"/>
          </a:xfrm>
          <a:prstGeom prst="roundRect">
            <a:avLst/>
          </a:prstGeom>
          <a:solidFill>
            <a:schemeClr val="accent4">
              <a:lumMod val="20000"/>
              <a:lumOff val="80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spcBef>
                <a:spcPts val="600"/>
              </a:spcBef>
            </a:pPr>
            <a:r>
              <a:rPr lang="en-US" sz="2000" b="0" dirty="0" err="1" smtClean="0">
                <a:solidFill>
                  <a:schemeClr val="dk1"/>
                </a:solidFill>
                <a:latin typeface="Arial Narrow" pitchFamily="34" charset="0"/>
                <a:cs typeface="Courier New" pitchFamily="49" charset="0"/>
              </a:rPr>
              <a:t>Audio_ISR</a:t>
            </a:r>
            <a:r>
              <a:rPr lang="en-US" sz="2000" b="0" dirty="0" smtClean="0">
                <a:solidFill>
                  <a:schemeClr val="dk1"/>
                </a:solidFill>
                <a:latin typeface="Arial Narrow" pitchFamily="34" charset="0"/>
                <a:cs typeface="Courier New" pitchFamily="49" charset="0"/>
              </a:rPr>
              <a:t>() {</a:t>
            </a:r>
            <a:endParaRPr lang="en-US" sz="2000" b="0" dirty="0">
              <a:solidFill>
                <a:schemeClr val="dk1"/>
              </a:solidFill>
              <a:latin typeface="Arial Narrow" pitchFamily="34" charset="0"/>
              <a:cs typeface="Courier New" pitchFamily="49" charset="0"/>
            </a:endParaRPr>
          </a:p>
          <a:p>
            <a:pPr>
              <a:spcBef>
                <a:spcPts val="600"/>
              </a:spcBef>
            </a:pPr>
            <a:r>
              <a:rPr lang="en-US" sz="2000" b="0" dirty="0" smtClean="0">
                <a:solidFill>
                  <a:schemeClr val="dk1"/>
                </a:solidFill>
                <a:latin typeface="Arial Narrow" pitchFamily="34" charset="0"/>
                <a:cs typeface="Courier New" pitchFamily="49" charset="0"/>
              </a:rPr>
              <a:t>  Hard </a:t>
            </a:r>
            <a:r>
              <a:rPr lang="en-US" sz="2000" b="0" dirty="0" err="1" smtClean="0">
                <a:solidFill>
                  <a:schemeClr val="dk1"/>
                </a:solidFill>
                <a:latin typeface="Arial Narrow" pitchFamily="34" charset="0"/>
                <a:cs typeface="Courier New" pitchFamily="49" charset="0"/>
              </a:rPr>
              <a:t>real_time</a:t>
            </a:r>
            <a:r>
              <a:rPr lang="en-US" sz="2000" b="0" dirty="0" smtClean="0">
                <a:solidFill>
                  <a:schemeClr val="dk1"/>
                </a:solidFill>
                <a:latin typeface="Arial Narrow" pitchFamily="34" charset="0"/>
                <a:cs typeface="Courier New" pitchFamily="49" charset="0"/>
              </a:rPr>
              <a:t> access; </a:t>
            </a:r>
            <a:endParaRPr lang="en-US" sz="2000" b="0" dirty="0">
              <a:solidFill>
                <a:schemeClr val="dk1"/>
              </a:solidFill>
              <a:latin typeface="Arial Narrow" pitchFamily="34" charset="0"/>
              <a:cs typeface="Courier New" pitchFamily="49" charset="0"/>
            </a:endParaRPr>
          </a:p>
          <a:p>
            <a:pPr>
              <a:spcBef>
                <a:spcPts val="600"/>
              </a:spcBef>
            </a:pPr>
            <a:r>
              <a:rPr lang="en-US" sz="2000" dirty="0" smtClean="0">
                <a:solidFill>
                  <a:schemeClr val="dk1"/>
                </a:solidFill>
                <a:latin typeface="Arial Narrow" pitchFamily="34" charset="0"/>
                <a:cs typeface="Courier New" pitchFamily="49" charset="0"/>
              </a:rPr>
              <a:t>  </a:t>
            </a:r>
            <a:r>
              <a:rPr lang="en-US" sz="2000" dirty="0" err="1" smtClean="0">
                <a:solidFill>
                  <a:schemeClr val="tx2"/>
                </a:solidFill>
                <a:latin typeface="Arial Narrow" pitchFamily="34" charset="0"/>
                <a:cs typeface="Courier New" pitchFamily="49" charset="0"/>
              </a:rPr>
              <a:t>Swi_post</a:t>
            </a:r>
            <a:r>
              <a:rPr lang="en-US" sz="2000" dirty="0" smtClean="0">
                <a:solidFill>
                  <a:schemeClr val="tx2"/>
                </a:solidFill>
                <a:latin typeface="Arial Narrow" pitchFamily="34" charset="0"/>
                <a:cs typeface="Courier New" pitchFamily="49" charset="0"/>
              </a:rPr>
              <a:t> (</a:t>
            </a:r>
            <a:r>
              <a:rPr lang="en-US" sz="2000" dirty="0" err="1" smtClean="0">
                <a:solidFill>
                  <a:schemeClr val="tx2"/>
                </a:solidFill>
                <a:latin typeface="Arial Narrow" pitchFamily="34" charset="0"/>
                <a:cs typeface="Courier New" pitchFamily="49" charset="0"/>
              </a:rPr>
              <a:t>AudioSwi</a:t>
            </a:r>
            <a:r>
              <a:rPr lang="en-US" sz="2000" dirty="0" smtClean="0">
                <a:solidFill>
                  <a:schemeClr val="tx2"/>
                </a:solidFill>
                <a:latin typeface="Arial Narrow" pitchFamily="34" charset="0"/>
                <a:cs typeface="Courier New" pitchFamily="49" charset="0"/>
              </a:rPr>
              <a:t>); </a:t>
            </a:r>
          </a:p>
          <a:p>
            <a:pPr>
              <a:spcBef>
                <a:spcPts val="600"/>
              </a:spcBef>
            </a:pPr>
            <a:r>
              <a:rPr lang="en-US" sz="2000" b="0" dirty="0" smtClean="0">
                <a:solidFill>
                  <a:schemeClr val="dk1"/>
                </a:solidFill>
                <a:latin typeface="Arial Narrow" pitchFamily="34" charset="0"/>
                <a:cs typeface="Courier New" pitchFamily="49" charset="0"/>
              </a:rPr>
              <a:t>}</a:t>
            </a:r>
          </a:p>
        </p:txBody>
      </p:sp>
      <p:sp>
        <p:nvSpPr>
          <p:cNvPr id="20" name="Rounded Rectangle 19"/>
          <p:cNvSpPr/>
          <p:nvPr/>
        </p:nvSpPr>
        <p:spPr bwMode="auto">
          <a:xfrm>
            <a:off x="6477000" y="3657600"/>
            <a:ext cx="2514600" cy="1905000"/>
          </a:xfrm>
          <a:prstGeom prst="roundRect">
            <a:avLst/>
          </a:prstGeom>
          <a:solidFill>
            <a:schemeClr val="accent5">
              <a:lumMod val="20000"/>
              <a:lumOff val="80000"/>
            </a:schemeClr>
          </a:solid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nSpc>
                <a:spcPct val="90000"/>
              </a:lnSpc>
              <a:spcBef>
                <a:spcPts val="600"/>
              </a:spcBef>
            </a:pPr>
            <a:r>
              <a:rPr lang="en-US" sz="2000" b="0" dirty="0" err="1">
                <a:solidFill>
                  <a:schemeClr val="dk1"/>
                </a:solidFill>
                <a:latin typeface="Arial Narrow" pitchFamily="34" charset="0"/>
                <a:cs typeface="Courier New" pitchFamily="49" charset="0"/>
              </a:rPr>
              <a:t>t</a:t>
            </a:r>
            <a:r>
              <a:rPr lang="en-US" sz="2000" b="0" dirty="0" err="1" smtClean="0">
                <a:solidFill>
                  <a:schemeClr val="dk1"/>
                </a:solidFill>
                <a:latin typeface="Arial Narrow" pitchFamily="34" charset="0"/>
                <a:cs typeface="Courier New" pitchFamily="49" charset="0"/>
              </a:rPr>
              <a:t>ypedef</a:t>
            </a:r>
            <a:r>
              <a:rPr lang="en-US" sz="2000" b="0" dirty="0" smtClean="0">
                <a:solidFill>
                  <a:schemeClr val="dk1"/>
                </a:solidFill>
                <a:latin typeface="Arial Narrow" pitchFamily="34" charset="0"/>
                <a:cs typeface="Courier New" pitchFamily="49" charset="0"/>
              </a:rPr>
              <a:t> </a:t>
            </a:r>
            <a:r>
              <a:rPr lang="en-US" sz="2000" b="0" dirty="0" err="1" smtClean="0">
                <a:solidFill>
                  <a:schemeClr val="dk1"/>
                </a:solidFill>
                <a:latin typeface="Arial Narrow" pitchFamily="34" charset="0"/>
                <a:cs typeface="Courier New" pitchFamily="49" charset="0"/>
              </a:rPr>
              <a:t>struct</a:t>
            </a:r>
            <a:r>
              <a:rPr lang="en-US" sz="2000" b="0" dirty="0" smtClean="0">
                <a:solidFill>
                  <a:schemeClr val="dk1"/>
                </a:solidFill>
                <a:latin typeface="Arial Narrow" pitchFamily="34" charset="0"/>
                <a:cs typeface="Courier New" pitchFamily="49" charset="0"/>
              </a:rPr>
              <a:t> </a:t>
            </a:r>
            <a:r>
              <a:rPr lang="en-US" sz="2000" b="0" dirty="0" err="1" smtClean="0">
                <a:solidFill>
                  <a:schemeClr val="dk1"/>
                </a:solidFill>
                <a:latin typeface="Arial Narrow" pitchFamily="34" charset="0"/>
                <a:cs typeface="Courier New" pitchFamily="49" charset="0"/>
              </a:rPr>
              <a:t>SwiObj</a:t>
            </a:r>
            <a:r>
              <a:rPr lang="en-US" sz="2000" b="0" dirty="0" smtClean="0">
                <a:solidFill>
                  <a:schemeClr val="dk1"/>
                </a:solidFill>
                <a:latin typeface="Arial Narrow" pitchFamily="34" charset="0"/>
                <a:cs typeface="Courier New" pitchFamily="49" charset="0"/>
              </a:rPr>
              <a:t> {</a:t>
            </a:r>
            <a:endParaRPr lang="en-US" sz="2000" b="0" dirty="0">
              <a:solidFill>
                <a:schemeClr val="dk1"/>
              </a:solidFill>
              <a:latin typeface="Arial Narrow" pitchFamily="34" charset="0"/>
              <a:cs typeface="Courier New" pitchFamily="49" charset="0"/>
            </a:endParaRPr>
          </a:p>
          <a:p>
            <a:pPr marL="166688">
              <a:lnSpc>
                <a:spcPct val="90000"/>
              </a:lnSpc>
              <a:spcBef>
                <a:spcPts val="600"/>
              </a:spcBef>
            </a:pPr>
            <a:r>
              <a:rPr lang="en-US" sz="2000" b="0" smtClean="0">
                <a:solidFill>
                  <a:schemeClr val="dk1"/>
                </a:solidFill>
                <a:latin typeface="Arial Narrow" pitchFamily="34" charset="0"/>
                <a:cs typeface="Courier New" pitchFamily="49" charset="0"/>
              </a:rPr>
              <a:t>AudioSwi;    // handle</a:t>
            </a:r>
          </a:p>
          <a:p>
            <a:pPr marL="166688">
              <a:lnSpc>
                <a:spcPct val="90000"/>
              </a:lnSpc>
              <a:spcBef>
                <a:spcPts val="600"/>
              </a:spcBef>
            </a:pPr>
            <a:r>
              <a:rPr lang="en-US" sz="2000" b="0" smtClean="0">
                <a:solidFill>
                  <a:schemeClr val="dk1"/>
                </a:solidFill>
                <a:latin typeface="Arial Narrow" pitchFamily="34" charset="0"/>
                <a:cs typeface="Courier New" pitchFamily="49" charset="0"/>
              </a:rPr>
              <a:t>Audio_fxn;   // fxn</a:t>
            </a:r>
          </a:p>
          <a:p>
            <a:pPr marL="166688">
              <a:lnSpc>
                <a:spcPct val="90000"/>
              </a:lnSpc>
              <a:spcBef>
                <a:spcPts val="600"/>
              </a:spcBef>
            </a:pPr>
            <a:r>
              <a:rPr lang="en-US" sz="2000" b="0" smtClean="0">
                <a:solidFill>
                  <a:schemeClr val="dk1"/>
                </a:solidFill>
                <a:latin typeface="Arial Narrow" pitchFamily="34" charset="0"/>
                <a:cs typeface="Courier New" pitchFamily="49" charset="0"/>
              </a:rPr>
              <a:t>2;  	       // Priority</a:t>
            </a:r>
            <a:endParaRPr lang="en-US" sz="2000" b="0" dirty="0" smtClean="0">
              <a:solidFill>
                <a:schemeClr val="dk1"/>
              </a:solidFill>
              <a:latin typeface="Arial Narrow" pitchFamily="34" charset="0"/>
              <a:cs typeface="Courier New" pitchFamily="49" charset="0"/>
            </a:endParaRPr>
          </a:p>
          <a:p>
            <a:pPr>
              <a:lnSpc>
                <a:spcPct val="90000"/>
              </a:lnSpc>
              <a:spcBef>
                <a:spcPts val="600"/>
              </a:spcBef>
            </a:pPr>
            <a:r>
              <a:rPr lang="en-US" sz="2000" b="0" smtClean="0">
                <a:solidFill>
                  <a:schemeClr val="dk1"/>
                </a:solidFill>
                <a:latin typeface="Arial Narrow" pitchFamily="34" charset="0"/>
                <a:cs typeface="Courier New" pitchFamily="49" charset="0"/>
              </a:rPr>
              <a:t>};</a:t>
            </a:r>
            <a:endParaRPr lang="en-US" sz="2000" b="0" dirty="0" smtClean="0">
              <a:solidFill>
                <a:schemeClr val="dk1"/>
              </a:solidFill>
              <a:latin typeface="Arial Narrow" pitchFamily="34" charset="0"/>
              <a:cs typeface="Courier New" pitchFamily="49" charset="0"/>
            </a:endParaRPr>
          </a:p>
        </p:txBody>
      </p:sp>
      <p:sp>
        <p:nvSpPr>
          <p:cNvPr id="21" name="Rectangle 20"/>
          <p:cNvSpPr/>
          <p:nvPr/>
        </p:nvSpPr>
        <p:spPr bwMode="auto">
          <a:xfrm>
            <a:off x="3429000" y="3733800"/>
            <a:ext cx="1828800" cy="457200"/>
          </a:xfrm>
          <a:prstGeom prst="rect">
            <a:avLst/>
          </a:prstGeom>
          <a:solidFill>
            <a:schemeClr val="accent5">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dirty="0" err="1" smtClean="0">
                <a:ln>
                  <a:noFill/>
                </a:ln>
                <a:solidFill>
                  <a:schemeClr val="dk1"/>
                </a:solidFill>
                <a:effectLst/>
                <a:latin typeface="Calibri" pitchFamily="34" charset="0"/>
                <a:cs typeface="Calibri" pitchFamily="34" charset="0"/>
              </a:rPr>
              <a:t>Swi_Handle</a:t>
            </a:r>
            <a:endParaRPr kumimoji="0" lang="en-US" b="0" i="0" u="none" strike="noStrike" cap="none" normalizeH="0" baseline="0" dirty="0" smtClean="0">
              <a:ln>
                <a:noFill/>
              </a:ln>
              <a:solidFill>
                <a:schemeClr val="dk1"/>
              </a:solidFill>
              <a:effectLst/>
              <a:latin typeface="Calibri" pitchFamily="34" charset="0"/>
              <a:cs typeface="Calibri" pitchFamily="34" charset="0"/>
            </a:endParaRPr>
          </a:p>
        </p:txBody>
      </p:sp>
      <p:cxnSp>
        <p:nvCxnSpPr>
          <p:cNvPr id="27" name="Straight Arrow Connector 26"/>
          <p:cNvCxnSpPr>
            <a:stCxn id="21" idx="3"/>
          </p:cNvCxnSpPr>
          <p:nvPr/>
        </p:nvCxnSpPr>
        <p:spPr bwMode="auto">
          <a:xfrm>
            <a:off x="5257800" y="3962400"/>
            <a:ext cx="1219200" cy="0"/>
          </a:xfrm>
          <a:prstGeom prst="straightConnector1">
            <a:avLst/>
          </a:prstGeom>
          <a:solidFill>
            <a:schemeClr val="accent1"/>
          </a:solidFill>
          <a:ln w="38100" cap="flat" cmpd="sng" algn="ctr">
            <a:solidFill>
              <a:schemeClr val="tx1"/>
            </a:solidFill>
            <a:prstDash val="solid"/>
            <a:round/>
            <a:headEnd type="none" w="med" len="med"/>
            <a:tailEnd type="triangle" w="med" len="med"/>
          </a:ln>
          <a:effectLst/>
        </p:spPr>
      </p:cxnSp>
      <p:cxnSp>
        <p:nvCxnSpPr>
          <p:cNvPr id="25" name="Straight Arrow Connector 24"/>
          <p:cNvCxnSpPr/>
          <p:nvPr/>
        </p:nvCxnSpPr>
        <p:spPr bwMode="auto">
          <a:xfrm flipH="1">
            <a:off x="3198044" y="2921000"/>
            <a:ext cx="2516956" cy="0"/>
          </a:xfrm>
          <a:prstGeom prst="straightConnector1">
            <a:avLst/>
          </a:prstGeom>
          <a:solidFill>
            <a:schemeClr val="accent1"/>
          </a:solidFill>
          <a:ln w="38100" cap="flat" cmpd="sng" algn="ctr">
            <a:solidFill>
              <a:schemeClr val="tx1"/>
            </a:solidFill>
            <a:prstDash val="solid"/>
            <a:round/>
            <a:headEnd type="none" w="med" len="med"/>
            <a:tailEnd type="triangle" w="med" len="med"/>
          </a:ln>
          <a:effectLst/>
        </p:spPr>
      </p:cxnSp>
      <p:sp>
        <p:nvSpPr>
          <p:cNvPr id="4" name="Rectangle 3"/>
          <p:cNvSpPr/>
          <p:nvPr/>
        </p:nvSpPr>
        <p:spPr bwMode="auto">
          <a:xfrm>
            <a:off x="3937000" y="2667000"/>
            <a:ext cx="775275" cy="5334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sz="2800" b="1" i="0" u="none" strike="noStrike" cap="none" normalizeH="0" baseline="0" dirty="0" smtClean="0">
                <a:ln>
                  <a:noFill/>
                </a:ln>
                <a:solidFill>
                  <a:schemeClr val="dk1"/>
                </a:solidFill>
                <a:effectLst/>
                <a:latin typeface="Calibri" pitchFamily="34" charset="0"/>
                <a:cs typeface="Calibri" pitchFamily="34" charset="0"/>
              </a:rPr>
              <a:t>API</a:t>
            </a:r>
          </a:p>
        </p:txBody>
      </p:sp>
      <p:pic>
        <p:nvPicPr>
          <p:cNvPr id="19" name="Animated Logo" descr="tilogo_color_twoline.png"/>
          <p:cNvPicPr>
            <a:picLocks noChangeAspect="1"/>
          </p:cNvPicPr>
          <p:nvPr/>
        </p:nvPicPr>
        <p:blipFill>
          <a:blip r:embed="rId5" cstate="print"/>
          <a:stretch>
            <a:fillRect/>
          </a:stretch>
        </p:blipFill>
        <p:spPr>
          <a:xfrm>
            <a:off x="50800" y="6477000"/>
            <a:ext cx="1438537" cy="347443"/>
          </a:xfrm>
          <a:prstGeom prst="rect">
            <a:avLst/>
          </a:prstGeom>
        </p:spPr>
      </p:pic>
    </p:spTree>
    <p:custDataLst>
      <p:tags r:id="rId1"/>
    </p:custDataLst>
    <p:extLst>
      <p:ext uri="{BB962C8B-B14F-4D97-AF65-F5344CB8AC3E}">
        <p14:creationId xmlns:p14="http://schemas.microsoft.com/office/powerpoint/2010/main" val="18110587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dirty="0" smtClean="0"/>
              <a:t>Thread (Object) Creation </a:t>
            </a:r>
            <a:r>
              <a:rPr lang="en-US" smtClean="0"/>
              <a:t>in TI-RTOS</a:t>
            </a:r>
            <a:endParaRPr lang="en-US" dirty="0" smtClean="0"/>
          </a:p>
        </p:txBody>
      </p:sp>
      <p:sp>
        <p:nvSpPr>
          <p:cNvPr id="37" name="TextBox 36"/>
          <p:cNvSpPr txBox="1"/>
          <p:nvPr/>
        </p:nvSpPr>
        <p:spPr>
          <a:xfrm>
            <a:off x="205945" y="621106"/>
            <a:ext cx="7688259" cy="1449628"/>
          </a:xfrm>
          <a:prstGeom prst="rect">
            <a:avLst/>
          </a:prstGeom>
          <a:noFill/>
        </p:spPr>
        <p:txBody>
          <a:bodyPr wrap="none" rtlCol="0" anchor="ctr" anchorCtr="0">
            <a:spAutoFit/>
          </a:bodyPr>
          <a:lstStyle/>
          <a:p>
            <a:pPr marL="342900" indent="-342900">
              <a:spcBef>
                <a:spcPts val="600"/>
              </a:spcBef>
              <a:buClr>
                <a:srgbClr val="0066FF"/>
              </a:buClr>
              <a:buSzPct val="75000"/>
              <a:buFont typeface="Wingdings"/>
              <a:buChar char=""/>
            </a:pPr>
            <a:r>
              <a:rPr lang="en-US" dirty="0" smtClean="0">
                <a:solidFill>
                  <a:srgbClr val="000000"/>
                </a:solidFill>
                <a:latin typeface="Calibri" pitchFamily="34" charset="0"/>
                <a:cs typeface="Calibri" pitchFamily="34" charset="0"/>
              </a:rPr>
              <a:t>Users can create threads (BIOS resources or “objects”):</a:t>
            </a:r>
          </a:p>
          <a:p>
            <a:pPr marL="574675" indent="-169863">
              <a:lnSpc>
                <a:spcPct val="90000"/>
              </a:lnSpc>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rPr>
              <a:t>Statically (via the GUI or .</a:t>
            </a:r>
            <a:r>
              <a:rPr lang="en-US" sz="2000" b="0" dirty="0" err="1" smtClean="0">
                <a:solidFill>
                  <a:srgbClr val="000000"/>
                </a:solidFill>
                <a:latin typeface="Calibri" pitchFamily="34" charset="0"/>
                <a:cs typeface="Calibri" pitchFamily="34" charset="0"/>
              </a:rPr>
              <a:t>cfg</a:t>
            </a:r>
            <a:r>
              <a:rPr lang="en-US" sz="2000" b="0" dirty="0" smtClean="0">
                <a:solidFill>
                  <a:srgbClr val="000000"/>
                </a:solidFill>
                <a:latin typeface="Calibri" pitchFamily="34" charset="0"/>
                <a:cs typeface="Calibri" pitchFamily="34" charset="0"/>
              </a:rPr>
              <a:t> script)</a:t>
            </a:r>
          </a:p>
          <a:p>
            <a:pPr marL="574675" indent="-169863">
              <a:lnSpc>
                <a:spcPct val="90000"/>
              </a:lnSpc>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rPr>
              <a:t>Dynamically (via C code) – </a:t>
            </a:r>
            <a:r>
              <a:rPr lang="en-US" sz="1800" b="0" i="1" dirty="0" smtClean="0">
                <a:solidFill>
                  <a:srgbClr val="000000"/>
                </a:solidFill>
                <a:latin typeface="Calibri" pitchFamily="34" charset="0"/>
                <a:cs typeface="Calibri" pitchFamily="34" charset="0"/>
              </a:rPr>
              <a:t>more details in </a:t>
            </a:r>
            <a:r>
              <a:rPr lang="en-US" sz="1800" b="0" i="1" smtClean="0">
                <a:solidFill>
                  <a:srgbClr val="000000"/>
                </a:solidFill>
                <a:latin typeface="Calibri" pitchFamily="34" charset="0"/>
                <a:cs typeface="Calibri" pitchFamily="34" charset="0"/>
              </a:rPr>
              <a:t>the “memory mgmt” </a:t>
            </a:r>
            <a:r>
              <a:rPr lang="en-US" sz="1800" b="0" i="1" dirty="0" smtClean="0">
                <a:solidFill>
                  <a:srgbClr val="000000"/>
                </a:solidFill>
                <a:latin typeface="Calibri" pitchFamily="34" charset="0"/>
                <a:cs typeface="Calibri" pitchFamily="34" charset="0"/>
              </a:rPr>
              <a:t>chapter</a:t>
            </a:r>
            <a:endParaRPr lang="en-US" sz="2000" b="0" i="1" dirty="0" smtClean="0">
              <a:solidFill>
                <a:srgbClr val="000000"/>
              </a:solidFill>
              <a:latin typeface="Calibri" pitchFamily="34" charset="0"/>
              <a:cs typeface="Calibri" pitchFamily="34" charset="0"/>
            </a:endParaRPr>
          </a:p>
          <a:p>
            <a:pPr marL="574675" indent="-169863">
              <a:lnSpc>
                <a:spcPct val="90000"/>
              </a:lnSpc>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rPr>
              <a:t>BIOS doesn’t care – but you might…</a:t>
            </a:r>
            <a:endParaRPr lang="en-US" sz="2000" b="0" i="1" dirty="0" smtClean="0">
              <a:solidFill>
                <a:srgbClr val="000000"/>
              </a:solidFill>
              <a:latin typeface="Calibri" pitchFamily="34" charset="0"/>
              <a:cs typeface="Calibri" pitchFamily="34" charset="0"/>
            </a:endParaRPr>
          </a:p>
        </p:txBody>
      </p:sp>
      <p:sp>
        <p:nvSpPr>
          <p:cNvPr id="39" name="Text Box 5"/>
          <p:cNvSpPr txBox="1">
            <a:spLocks noChangeArrowheads="1"/>
          </p:cNvSpPr>
          <p:nvPr/>
        </p:nvSpPr>
        <p:spPr bwMode="auto">
          <a:xfrm>
            <a:off x="334752" y="4953000"/>
            <a:ext cx="5837448" cy="1371600"/>
          </a:xfrm>
          <a:prstGeom prst="rect">
            <a:avLst/>
          </a:prstGeom>
          <a:solidFill>
            <a:schemeClr val="accent1">
              <a:lumMod val="90000"/>
            </a:schemeClr>
          </a:solidFill>
          <a:ln w="28575">
            <a:solidFill>
              <a:schemeClr val="tx1"/>
            </a:solidFill>
            <a:miter lim="800000"/>
            <a:headEnd/>
            <a:tailEnd/>
          </a:ln>
          <a:effectLst>
            <a:outerShdw blurRad="50800" dist="76200" dir="2700000" algn="tl" rotWithShape="0">
              <a:prstClr val="black">
                <a:alpha val="40000"/>
              </a:prstClr>
            </a:outerShdw>
          </a:effectLst>
        </p:spPr>
        <p:txBody>
          <a:bodyPr wrap="square" anchor="ctr" anchorCtr="0">
            <a:noAutofit/>
          </a:bodyPr>
          <a:lstStyle/>
          <a:p>
            <a:pPr>
              <a:lnSpc>
                <a:spcPct val="100000"/>
              </a:lnSpc>
              <a:spcBef>
                <a:spcPts val="0"/>
              </a:spcBef>
            </a:pPr>
            <a:r>
              <a:rPr lang="en-US" sz="1600" b="0" i="1">
                <a:solidFill>
                  <a:srgbClr val="000000"/>
                </a:solidFill>
                <a:latin typeface="Arial Narrow" pitchFamily="34" charset="0"/>
              </a:rPr>
              <a:t>var Swi = xdc.useModule('ti.sysbios.knl.Swi');</a:t>
            </a:r>
            <a:endParaRPr lang="en-US" sz="1600" b="0" i="1" smtClean="0">
              <a:solidFill>
                <a:srgbClr val="000000"/>
              </a:solidFill>
              <a:latin typeface="Arial Narrow" pitchFamily="34" charset="0"/>
            </a:endParaRPr>
          </a:p>
          <a:p>
            <a:pPr>
              <a:lnSpc>
                <a:spcPct val="100000"/>
              </a:lnSpc>
              <a:spcBef>
                <a:spcPts val="0"/>
              </a:spcBef>
            </a:pPr>
            <a:r>
              <a:rPr lang="en-US" sz="1600" b="0">
                <a:solidFill>
                  <a:srgbClr val="000000"/>
                </a:solidFill>
                <a:latin typeface="Arial Narrow" pitchFamily="34" charset="0"/>
              </a:rPr>
              <a:t>var swi0Params = new Swi.Params();</a:t>
            </a:r>
          </a:p>
          <a:p>
            <a:pPr>
              <a:lnSpc>
                <a:spcPct val="100000"/>
              </a:lnSpc>
              <a:spcBef>
                <a:spcPts val="0"/>
              </a:spcBef>
            </a:pPr>
            <a:r>
              <a:rPr lang="en-US" sz="1600" b="0">
                <a:solidFill>
                  <a:srgbClr val="000000"/>
                </a:solidFill>
                <a:latin typeface="Arial Narrow" pitchFamily="34" charset="0"/>
              </a:rPr>
              <a:t>swi0Params.instance.name = "MyNewSwi";</a:t>
            </a:r>
          </a:p>
          <a:p>
            <a:pPr>
              <a:lnSpc>
                <a:spcPct val="100000"/>
              </a:lnSpc>
              <a:spcBef>
                <a:spcPts val="0"/>
              </a:spcBef>
            </a:pPr>
            <a:r>
              <a:rPr lang="en-US" sz="1600" b="0">
                <a:solidFill>
                  <a:srgbClr val="000000"/>
                </a:solidFill>
                <a:latin typeface="Arial Narrow" pitchFamily="34" charset="0"/>
              </a:rPr>
              <a:t>swi0Params.priority = 2;</a:t>
            </a:r>
          </a:p>
          <a:p>
            <a:pPr>
              <a:lnSpc>
                <a:spcPct val="100000"/>
              </a:lnSpc>
              <a:spcBef>
                <a:spcPts val="0"/>
              </a:spcBef>
            </a:pPr>
            <a:r>
              <a:rPr lang="en-US" sz="1600" b="0">
                <a:solidFill>
                  <a:srgbClr val="000000"/>
                </a:solidFill>
                <a:latin typeface="Arial Narrow" pitchFamily="34" charset="0"/>
              </a:rPr>
              <a:t>Program.global.MyNewSwi = </a:t>
            </a:r>
            <a:r>
              <a:rPr lang="en-US" sz="1600">
                <a:solidFill>
                  <a:schemeClr val="tx2"/>
                </a:solidFill>
                <a:latin typeface="Arial Narrow" pitchFamily="34" charset="0"/>
              </a:rPr>
              <a:t>Swi.create</a:t>
            </a:r>
            <a:r>
              <a:rPr lang="en-US" sz="1600" b="0">
                <a:solidFill>
                  <a:srgbClr val="000000"/>
                </a:solidFill>
                <a:latin typeface="Arial Narrow" pitchFamily="34" charset="0"/>
              </a:rPr>
              <a:t>("&amp;ledToggle", swi0Params</a:t>
            </a:r>
            <a:r>
              <a:rPr lang="en-US" sz="1600" b="0" smtClean="0">
                <a:solidFill>
                  <a:srgbClr val="000000"/>
                </a:solidFill>
                <a:latin typeface="Arial Narrow" pitchFamily="34" charset="0"/>
              </a:rPr>
              <a:t>);</a:t>
            </a:r>
            <a:endParaRPr lang="en-US" sz="1600" b="0" noProof="1">
              <a:solidFill>
                <a:srgbClr val="000000"/>
              </a:solidFill>
              <a:latin typeface="Arial Narrow" pitchFamily="34" charset="0"/>
            </a:endParaRPr>
          </a:p>
        </p:txBody>
      </p:sp>
      <p:sp>
        <p:nvSpPr>
          <p:cNvPr id="41" name="TextBox 40"/>
          <p:cNvSpPr txBox="1"/>
          <p:nvPr/>
        </p:nvSpPr>
        <p:spPr>
          <a:xfrm>
            <a:off x="4495800" y="5257800"/>
            <a:ext cx="1261884" cy="338554"/>
          </a:xfrm>
          <a:prstGeom prst="rect">
            <a:avLst/>
          </a:prstGeom>
          <a:solidFill>
            <a:schemeClr val="bg2">
              <a:lumMod val="95000"/>
            </a:schemeClr>
          </a:solidFill>
          <a:ln w="12700">
            <a:solidFill>
              <a:schemeClr val="tx1"/>
            </a:solidFill>
          </a:ln>
          <a:effectLst>
            <a:outerShdw blurRad="50800" dist="50800" dir="2700000" algn="tl" rotWithShape="0">
              <a:prstClr val="black">
                <a:alpha val="40000"/>
              </a:prstClr>
            </a:outerShdw>
          </a:effectLst>
        </p:spPr>
        <p:txBody>
          <a:bodyPr wrap="none" rtlCol="0" anchor="ctr" anchorCtr="0">
            <a:spAutoFit/>
          </a:bodyPr>
          <a:lstStyle/>
          <a:p>
            <a:r>
              <a:rPr lang="en-US" sz="2000" dirty="0" smtClean="0">
                <a:solidFill>
                  <a:srgbClr val="000000"/>
                </a:solidFill>
                <a:latin typeface="Courier New" pitchFamily="49" charset="0"/>
                <a:cs typeface="Courier New" pitchFamily="49" charset="0"/>
              </a:rPr>
              <a:t>app.cfg</a:t>
            </a:r>
          </a:p>
        </p:txBody>
      </p:sp>
      <p:sp>
        <p:nvSpPr>
          <p:cNvPr id="47" name="TextBox 46"/>
          <p:cNvSpPr txBox="1"/>
          <p:nvPr/>
        </p:nvSpPr>
        <p:spPr>
          <a:xfrm>
            <a:off x="242632" y="2133600"/>
            <a:ext cx="3209533" cy="387798"/>
          </a:xfrm>
          <a:prstGeom prst="rect">
            <a:avLst/>
          </a:prstGeom>
          <a:noFill/>
        </p:spPr>
        <p:txBody>
          <a:bodyPr wrap="none" rtlCol="0" anchor="ctr" anchorCtr="0">
            <a:spAutoFit/>
          </a:bodyPr>
          <a:lstStyle/>
          <a:p>
            <a:r>
              <a:rPr lang="en-US" dirty="0" smtClean="0">
                <a:solidFill>
                  <a:srgbClr val="0066FF"/>
                </a:solidFill>
              </a:rPr>
              <a:t>Static (GUI or Script)</a:t>
            </a:r>
          </a:p>
        </p:txBody>
      </p:sp>
      <p:pic>
        <p:nvPicPr>
          <p:cNvPr id="102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b="12931"/>
          <a:stretch/>
        </p:blipFill>
        <p:spPr bwMode="auto">
          <a:xfrm>
            <a:off x="375018" y="2463962"/>
            <a:ext cx="5422252" cy="2229721"/>
          </a:xfrm>
          <a:prstGeom prst="rect">
            <a:avLst/>
          </a:prstGeom>
          <a:noFill/>
          <a:ln w="19050">
            <a:solidFill>
              <a:schemeClr val="tx1"/>
            </a:solidFill>
            <a:miter lim="800000"/>
            <a:headEnd/>
            <a:tailEnd/>
          </a:ln>
          <a:effectLst>
            <a:outerShdw blurRad="50800" dist="76200" dir="2700000" algn="ctr" rotWithShape="0">
              <a:schemeClr val="tx1">
                <a:alpha val="51000"/>
              </a:schemeClr>
            </a:outerShdw>
          </a:effectLst>
          <a:extLst>
            <a:ext uri="{909E8E84-426E-40DD-AFC4-6F175D3DCCD1}">
              <a14:hiddenFill xmlns:a14="http://schemas.microsoft.com/office/drawing/2010/main">
                <a:solidFill>
                  <a:schemeClr val="accent1"/>
                </a:solidFill>
              </a14:hiddenFill>
            </a:ext>
          </a:extLst>
        </p:spPr>
      </p:pic>
      <p:sp>
        <p:nvSpPr>
          <p:cNvPr id="45" name="Down Arrow 44"/>
          <p:cNvSpPr/>
          <p:nvPr/>
        </p:nvSpPr>
        <p:spPr bwMode="auto">
          <a:xfrm>
            <a:off x="894380" y="4339979"/>
            <a:ext cx="609600" cy="707408"/>
          </a:xfrm>
          <a:prstGeom prst="downArrow">
            <a:avLst/>
          </a:prstGeom>
          <a:solidFill>
            <a:schemeClr val="tx2">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endParaRPr lang="en-US" sz="2800" dirty="0" smtClean="0">
              <a:solidFill>
                <a:srgbClr val="000000"/>
              </a:solidFill>
              <a:latin typeface="Arial Narrow" pitchFamily="34" charset="0"/>
            </a:endParaRPr>
          </a:p>
        </p:txBody>
      </p:sp>
      <p:grpSp>
        <p:nvGrpSpPr>
          <p:cNvPr id="2" name="Group 1"/>
          <p:cNvGrpSpPr/>
          <p:nvPr/>
        </p:nvGrpSpPr>
        <p:grpSpPr>
          <a:xfrm>
            <a:off x="4772100" y="1716975"/>
            <a:ext cx="4067100" cy="1831032"/>
            <a:chOff x="4772100" y="2514600"/>
            <a:chExt cx="4067100" cy="1831032"/>
          </a:xfrm>
        </p:grpSpPr>
        <p:sp>
          <p:nvSpPr>
            <p:cNvPr id="46" name="TextBox 45"/>
            <p:cNvSpPr txBox="1"/>
            <p:nvPr/>
          </p:nvSpPr>
          <p:spPr>
            <a:xfrm>
              <a:off x="5561396" y="2514600"/>
              <a:ext cx="2836033" cy="387798"/>
            </a:xfrm>
            <a:prstGeom prst="rect">
              <a:avLst/>
            </a:prstGeom>
            <a:noFill/>
          </p:spPr>
          <p:txBody>
            <a:bodyPr wrap="none" rtlCol="0" anchor="ctr" anchorCtr="0">
              <a:spAutoFit/>
            </a:bodyPr>
            <a:lstStyle/>
            <a:p>
              <a:r>
                <a:rPr lang="en-US" dirty="0" smtClean="0">
                  <a:solidFill>
                    <a:srgbClr val="0066FF"/>
                  </a:solidFill>
                </a:rPr>
                <a:t>Dynamic (C Code)</a:t>
              </a:r>
            </a:p>
          </p:txBody>
        </p:sp>
        <p:sp>
          <p:nvSpPr>
            <p:cNvPr id="40" name="Text Box 7"/>
            <p:cNvSpPr txBox="1">
              <a:spLocks noChangeArrowheads="1"/>
            </p:cNvSpPr>
            <p:nvPr/>
          </p:nvSpPr>
          <p:spPr bwMode="auto">
            <a:xfrm>
              <a:off x="4772100" y="2868304"/>
              <a:ext cx="4067100" cy="1477328"/>
            </a:xfrm>
            <a:prstGeom prst="rect">
              <a:avLst/>
            </a:prstGeom>
            <a:solidFill>
              <a:schemeClr val="accent5">
                <a:lumMod val="20000"/>
                <a:lumOff val="80000"/>
              </a:schemeClr>
            </a:solidFill>
            <a:ln w="28575">
              <a:solidFill>
                <a:schemeClr val="tx1"/>
              </a:solidFill>
              <a:miter lim="800000"/>
              <a:headEnd/>
              <a:tailEnd/>
            </a:ln>
            <a:effectLst>
              <a:outerShdw blurRad="50800" dist="76200" dir="2700000" algn="tl" rotWithShape="0">
                <a:prstClr val="black">
                  <a:alpha val="40000"/>
                </a:prstClr>
              </a:outerShdw>
            </a:effectLst>
          </p:spPr>
          <p:txBody>
            <a:bodyPr wrap="square" anchor="ctr">
              <a:spAutoFit/>
            </a:bodyPr>
            <a:lstStyle/>
            <a:p>
              <a:pPr>
                <a:lnSpc>
                  <a:spcPct val="100000"/>
                </a:lnSpc>
                <a:spcBef>
                  <a:spcPct val="0"/>
                </a:spcBef>
              </a:pPr>
              <a:r>
                <a:rPr lang="en-US" sz="1800" b="0" dirty="0">
                  <a:solidFill>
                    <a:srgbClr val="000000"/>
                  </a:solidFill>
                  <a:latin typeface="Arial Narrow" pitchFamily="34" charset="0"/>
                </a:rPr>
                <a:t>#include </a:t>
              </a:r>
              <a:r>
                <a:rPr lang="en-US" sz="1800" b="0">
                  <a:solidFill>
                    <a:srgbClr val="000000"/>
                  </a:solidFill>
                  <a:latin typeface="Arial Narrow" pitchFamily="34" charset="0"/>
                </a:rPr>
                <a:t>&lt;</a:t>
              </a:r>
              <a:r>
                <a:rPr lang="en-US" sz="1800" b="0" smtClean="0">
                  <a:solidFill>
                    <a:srgbClr val="000000"/>
                  </a:solidFill>
                  <a:latin typeface="Arial Narrow" pitchFamily="34" charset="0"/>
                </a:rPr>
                <a:t>ti/sysbios/knl/Swi.h</a:t>
              </a:r>
              <a:r>
                <a:rPr lang="en-US" sz="1800" b="0" dirty="0">
                  <a:solidFill>
                    <a:srgbClr val="000000"/>
                  </a:solidFill>
                  <a:latin typeface="Arial Narrow" pitchFamily="34" charset="0"/>
                </a:rPr>
                <a:t>&gt; </a:t>
              </a:r>
            </a:p>
            <a:p>
              <a:pPr>
                <a:lnSpc>
                  <a:spcPct val="100000"/>
                </a:lnSpc>
                <a:spcBef>
                  <a:spcPct val="0"/>
                </a:spcBef>
              </a:pPr>
              <a:r>
                <a:rPr lang="en-US" sz="1800" b="0">
                  <a:solidFill>
                    <a:srgbClr val="000000"/>
                  </a:solidFill>
                  <a:latin typeface="Arial Narrow" pitchFamily="34" charset="0"/>
                </a:rPr>
                <a:t>S</a:t>
              </a:r>
              <a:r>
                <a:rPr lang="en-US" sz="1800" b="0" smtClean="0">
                  <a:solidFill>
                    <a:srgbClr val="000000"/>
                  </a:solidFill>
                  <a:latin typeface="Arial Narrow" pitchFamily="34" charset="0"/>
                </a:rPr>
                <a:t>wi_Params swiParams</a:t>
              </a:r>
              <a:r>
                <a:rPr lang="en-US" sz="1800" b="0" dirty="0">
                  <a:solidFill>
                    <a:srgbClr val="000000"/>
                  </a:solidFill>
                  <a:latin typeface="Arial Narrow" pitchFamily="34" charset="0"/>
                </a:rPr>
                <a:t>;</a:t>
              </a:r>
              <a:r>
                <a:rPr lang="en-US" sz="1800" b="0">
                  <a:solidFill>
                    <a:srgbClr val="000000"/>
                  </a:solidFill>
                  <a:latin typeface="Arial Narrow" pitchFamily="34" charset="0"/>
                </a:rPr>
                <a:t/>
              </a:r>
              <a:br>
                <a:rPr lang="en-US" sz="1800" b="0">
                  <a:solidFill>
                    <a:srgbClr val="000000"/>
                  </a:solidFill>
                  <a:latin typeface="Arial Narrow" pitchFamily="34" charset="0"/>
                </a:rPr>
              </a:br>
              <a:r>
                <a:rPr lang="en-US" sz="1800" b="0" smtClean="0">
                  <a:solidFill>
                    <a:srgbClr val="000000"/>
                  </a:solidFill>
                  <a:latin typeface="Arial Narrow" pitchFamily="34" charset="0"/>
                </a:rPr>
                <a:t>Swi_Params_init(&amp;swiParams</a:t>
              </a:r>
              <a:r>
                <a:rPr lang="en-US" sz="1800" b="0" dirty="0" smtClean="0">
                  <a:solidFill>
                    <a:srgbClr val="000000"/>
                  </a:solidFill>
                  <a:latin typeface="Arial Narrow" pitchFamily="34" charset="0"/>
                </a:rPr>
                <a:t>);</a:t>
              </a:r>
            </a:p>
            <a:p>
              <a:pPr>
                <a:lnSpc>
                  <a:spcPct val="100000"/>
                </a:lnSpc>
                <a:spcBef>
                  <a:spcPct val="0"/>
                </a:spcBef>
              </a:pPr>
              <a:r>
                <a:rPr lang="en-US" sz="1800" b="0" smtClean="0">
                  <a:solidFill>
                    <a:srgbClr val="000000"/>
                  </a:solidFill>
                  <a:latin typeface="Arial Narrow" pitchFamily="34" charset="0"/>
                </a:rPr>
                <a:t>swiParams.priority = 2;</a:t>
              </a:r>
              <a:r>
                <a:rPr lang="en-US" sz="1800" b="0">
                  <a:solidFill>
                    <a:srgbClr val="000000"/>
                  </a:solidFill>
                  <a:latin typeface="Arial Narrow" pitchFamily="34" charset="0"/>
                </a:rPr>
                <a:t/>
              </a:r>
              <a:br>
                <a:rPr lang="en-US" sz="1800" b="0">
                  <a:solidFill>
                    <a:srgbClr val="000000"/>
                  </a:solidFill>
                  <a:latin typeface="Arial Narrow" pitchFamily="34" charset="0"/>
                </a:rPr>
              </a:br>
              <a:r>
                <a:rPr lang="en-US" sz="1800" smtClean="0">
                  <a:solidFill>
                    <a:schemeClr val="tx2"/>
                  </a:solidFill>
                  <a:latin typeface="Arial Narrow" pitchFamily="34" charset="0"/>
                </a:rPr>
                <a:t>Swi_create</a:t>
              </a:r>
              <a:r>
                <a:rPr lang="en-US" sz="1800" b="0" smtClean="0">
                  <a:solidFill>
                    <a:srgbClr val="000000"/>
                  </a:solidFill>
                  <a:latin typeface="Arial Narrow" pitchFamily="34" charset="0"/>
                </a:rPr>
                <a:t>(ledToggle, &amp;swiParams</a:t>
              </a:r>
              <a:r>
                <a:rPr lang="en-US" sz="1800" b="0">
                  <a:solidFill>
                    <a:srgbClr val="000000"/>
                  </a:solidFill>
                  <a:latin typeface="Arial Narrow" pitchFamily="34" charset="0"/>
                </a:rPr>
                <a:t>, </a:t>
              </a:r>
              <a:r>
                <a:rPr lang="en-US" sz="1800" b="0" smtClean="0">
                  <a:solidFill>
                    <a:srgbClr val="000000"/>
                  </a:solidFill>
                  <a:latin typeface="Arial Narrow" pitchFamily="34" charset="0"/>
                </a:rPr>
                <a:t>NULL); </a:t>
              </a:r>
              <a:endParaRPr lang="en-US" sz="1800" b="0" noProof="1">
                <a:solidFill>
                  <a:srgbClr val="000000"/>
                </a:solidFill>
                <a:latin typeface="Arial Narrow" pitchFamily="34" charset="0"/>
              </a:endParaRPr>
            </a:p>
          </p:txBody>
        </p:sp>
        <p:sp>
          <p:nvSpPr>
            <p:cNvPr id="42" name="TextBox 41"/>
            <p:cNvSpPr txBox="1"/>
            <p:nvPr/>
          </p:nvSpPr>
          <p:spPr>
            <a:xfrm>
              <a:off x="7747000" y="3189024"/>
              <a:ext cx="954107" cy="353943"/>
            </a:xfrm>
            <a:prstGeom prst="rect">
              <a:avLst/>
            </a:prstGeom>
            <a:solidFill>
              <a:schemeClr val="bg1">
                <a:lumMod val="95000"/>
              </a:schemeClr>
            </a:solidFill>
            <a:ln>
              <a:solidFill>
                <a:schemeClr val="tx1"/>
              </a:solidFill>
            </a:ln>
            <a:effectLst>
              <a:outerShdw blurRad="50800" dist="50800" dir="2700000" algn="tl" rotWithShape="0">
                <a:prstClr val="black">
                  <a:alpha val="40000"/>
                </a:prstClr>
              </a:outerShdw>
            </a:effectLst>
          </p:spPr>
          <p:txBody>
            <a:bodyPr wrap="none" rtlCol="0" anchor="ctr" anchorCtr="0">
              <a:spAutoFit/>
            </a:bodyPr>
            <a:lstStyle/>
            <a:p>
              <a:r>
                <a:rPr lang="en-US" sz="2000" dirty="0" err="1" smtClean="0">
                  <a:solidFill>
                    <a:srgbClr val="000000"/>
                  </a:solidFill>
                  <a:latin typeface="Courier New" pitchFamily="49" charset="0"/>
                  <a:cs typeface="Courier New" pitchFamily="49" charset="0"/>
                </a:rPr>
                <a:t>app.c</a:t>
              </a:r>
              <a:endParaRPr lang="en-US" sz="2000" dirty="0" smtClean="0">
                <a:solidFill>
                  <a:srgbClr val="000000"/>
                </a:solidFill>
                <a:latin typeface="Courier New" pitchFamily="49" charset="0"/>
                <a:cs typeface="Courier New" pitchFamily="49" charset="0"/>
              </a:endParaRPr>
            </a:p>
          </p:txBody>
        </p:sp>
      </p:grpSp>
      <p:sp>
        <p:nvSpPr>
          <p:cNvPr id="15" name="TextBox 14"/>
          <p:cNvSpPr txBox="1"/>
          <p:nvPr/>
        </p:nvSpPr>
        <p:spPr>
          <a:xfrm>
            <a:off x="6096000" y="4074693"/>
            <a:ext cx="2865199" cy="535531"/>
          </a:xfrm>
          <a:prstGeom prst="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nchor="t" anchorCtr="0">
            <a:spAutoFit/>
          </a:bodyPr>
          <a:lstStyle/>
          <a:p>
            <a:r>
              <a:rPr lang="en-US" sz="1800" b="0" i="1" smtClean="0">
                <a:solidFill>
                  <a:schemeClr val="dk1"/>
                </a:solidFill>
                <a:effectLst/>
                <a:latin typeface="Calibri" pitchFamily="34" charset="0"/>
                <a:cs typeface="Calibri" pitchFamily="34" charset="0"/>
              </a:rPr>
              <a:t>Note:  more details on BIOS config in the next chapter…</a:t>
            </a:r>
          </a:p>
        </p:txBody>
      </p:sp>
      <p:sp>
        <p:nvSpPr>
          <p:cNvPr id="16" name="Leading Question"/>
          <p:cNvSpPr txBox="1"/>
          <p:nvPr/>
        </p:nvSpPr>
        <p:spPr>
          <a:xfrm>
            <a:off x="5957492" y="6532501"/>
            <a:ext cx="3003707" cy="249299"/>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ctr">
              <a:lnSpc>
                <a:spcPct val="90000"/>
              </a:lnSpc>
              <a:spcBef>
                <a:spcPct val="0"/>
              </a:spcBef>
            </a:pPr>
            <a:r>
              <a:rPr lang="en-US" sz="1800" b="0" smtClean="0">
                <a:solidFill>
                  <a:schemeClr val="tx2"/>
                </a:solidFill>
                <a:latin typeface="Arial Narrow"/>
              </a:rPr>
              <a:t>TI-RTOS Kernel Debugging Tools…</a:t>
            </a:r>
            <a:endParaRPr lang="en-US" sz="1800" b="0" dirty="0" smtClean="0">
              <a:solidFill>
                <a:schemeClr val="tx2"/>
              </a:solidFill>
              <a:effectLst/>
              <a:latin typeface="Arial Narrow"/>
            </a:endParaRPr>
          </a:p>
        </p:txBody>
      </p:sp>
    </p:spTree>
    <p:custDataLst>
      <p:tags r:id="rId1"/>
    </p:custDataLst>
    <p:extLst>
      <p:ext uri="{BB962C8B-B14F-4D97-AF65-F5344CB8AC3E}">
        <p14:creationId xmlns:p14="http://schemas.microsoft.com/office/powerpoint/2010/main" val="28171486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533400" y="1219200"/>
            <a:ext cx="5105400" cy="4324922"/>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0"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11" action="ppaction://hlinksldjump"/>
          </p:cNvPr>
          <p:cNvSpPr txBox="1">
            <a:spLocks noChangeArrowheads="1"/>
          </p:cNvSpPr>
          <p:nvPr>
            <p:custDataLst>
              <p:tags r:id="rId2"/>
            </p:custDataLst>
          </p:nvPr>
        </p:nvSpPr>
        <p:spPr bwMode="auto">
          <a:xfrm>
            <a:off x="538802" y="137289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What is the TI-RTOS Kernel?</a:t>
            </a:r>
            <a:endParaRPr lang="en-US" dirty="0">
              <a:solidFill>
                <a:srgbClr val="000000"/>
              </a:solidFill>
            </a:endParaRPr>
          </a:p>
        </p:txBody>
      </p:sp>
      <p:sp>
        <p:nvSpPr>
          <p:cNvPr id="10" name="Text Box 4">
            <a:hlinkClick r:id="rId12" action="ppaction://hlinksldjump"/>
          </p:cNvPr>
          <p:cNvSpPr txBox="1">
            <a:spLocks noChangeArrowheads="1"/>
          </p:cNvSpPr>
          <p:nvPr>
            <p:custDataLst>
              <p:tags r:id="rId3"/>
            </p:custDataLst>
          </p:nvPr>
        </p:nvSpPr>
        <p:spPr bwMode="auto">
          <a:xfrm>
            <a:off x="538802" y="182520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Scheduler</a:t>
            </a:r>
            <a:endParaRPr lang="en-US" dirty="0">
              <a:solidFill>
                <a:srgbClr val="000000"/>
              </a:solidFill>
            </a:endParaRPr>
          </a:p>
        </p:txBody>
      </p:sp>
      <p:sp>
        <p:nvSpPr>
          <p:cNvPr id="11" name="Text Box 4">
            <a:hlinkClick r:id="rId13" action="ppaction://hlinksldjump"/>
          </p:cNvPr>
          <p:cNvSpPr txBox="1">
            <a:spLocks noChangeArrowheads="1"/>
          </p:cNvSpPr>
          <p:nvPr>
            <p:custDataLst>
              <p:tags r:id="rId4"/>
            </p:custDataLst>
          </p:nvPr>
        </p:nvSpPr>
        <p:spPr bwMode="auto">
          <a:xfrm>
            <a:off x="538802" y="2277520"/>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Adding Tasks…</a:t>
            </a:r>
            <a:endParaRPr lang="en-US" dirty="0">
              <a:solidFill>
                <a:srgbClr val="000000"/>
              </a:solidFill>
            </a:endParaRPr>
          </a:p>
        </p:txBody>
      </p:sp>
      <p:sp>
        <p:nvSpPr>
          <p:cNvPr id="12" name="Text Box 4">
            <a:hlinkClick r:id="rId14" action="ppaction://hlinksldjump"/>
          </p:cNvPr>
          <p:cNvSpPr txBox="1">
            <a:spLocks noChangeArrowheads="1"/>
          </p:cNvSpPr>
          <p:nvPr>
            <p:custDataLst>
              <p:tags r:id="rId5"/>
            </p:custDataLst>
          </p:nvPr>
        </p:nvSpPr>
        <p:spPr bwMode="auto">
          <a:xfrm>
            <a:off x="538802" y="2729834"/>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Environment</a:t>
            </a:r>
            <a:endParaRPr lang="en-US" dirty="0">
              <a:solidFill>
                <a:srgbClr val="000000"/>
              </a:solidFill>
            </a:endParaRPr>
          </a:p>
        </p:txBody>
      </p:sp>
      <p:sp>
        <p:nvSpPr>
          <p:cNvPr id="13" name="Text Box 3">
            <a:hlinkClick r:id="rId15" action="ppaction://hlinksldjump"/>
          </p:cNvPr>
          <p:cNvSpPr txBox="1">
            <a:spLocks noChangeArrowheads="1"/>
          </p:cNvSpPr>
          <p:nvPr>
            <p:custDataLst>
              <p:tags r:id="rId6"/>
            </p:custDataLst>
          </p:nvPr>
        </p:nvSpPr>
        <p:spPr bwMode="auto">
          <a:xfrm>
            <a:off x="533400" y="3182148"/>
            <a:ext cx="5105400" cy="387798"/>
          </a:xfrm>
          <a:prstGeom prst="rect">
            <a:avLst/>
          </a:prstGeom>
          <a:solidFill>
            <a:schemeClr val="bg1"/>
          </a:solidFill>
          <a:ln w="19050">
            <a:solidFill>
              <a:schemeClr val="tx1"/>
            </a:solid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Debugging Tools</a:t>
            </a:r>
            <a:endParaRPr lang="en-US" dirty="0">
              <a:solidFill>
                <a:srgbClr val="000000"/>
              </a:solidFill>
            </a:endParaRPr>
          </a:p>
        </p:txBody>
      </p:sp>
      <p:sp>
        <p:nvSpPr>
          <p:cNvPr id="14" name="Text Box 4">
            <a:hlinkClick r:id="rId16" action="ppaction://hlinksldjump"/>
          </p:cNvPr>
          <p:cNvSpPr txBox="1">
            <a:spLocks noChangeArrowheads="1"/>
          </p:cNvSpPr>
          <p:nvPr>
            <p:custDataLst>
              <p:tags r:id="rId7"/>
            </p:custDataLst>
          </p:nvPr>
        </p:nvSpPr>
        <p:spPr bwMode="auto">
          <a:xfrm>
            <a:off x="538802" y="363446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For More Info…</a:t>
            </a:r>
            <a:endParaRPr lang="en-US" dirty="0">
              <a:solidFill>
                <a:srgbClr val="000000"/>
              </a:solidFill>
            </a:endParaRPr>
          </a:p>
        </p:txBody>
      </p:sp>
      <p:sp>
        <p:nvSpPr>
          <p:cNvPr id="15" name="Text Box 4">
            <a:hlinkClick r:id="rId17" action="ppaction://hlinksldjump"/>
          </p:cNvPr>
          <p:cNvSpPr txBox="1">
            <a:spLocks noChangeArrowheads="1"/>
          </p:cNvSpPr>
          <p:nvPr>
            <p:custDataLst>
              <p:tags r:id="rId8"/>
            </p:custDataLst>
          </p:nvPr>
        </p:nvSpPr>
        <p:spPr bwMode="auto">
          <a:xfrm>
            <a:off x="538802" y="408677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Chapter Quiz</a:t>
            </a:r>
            <a:endParaRPr lang="en-US" dirty="0">
              <a:solidFill>
                <a:srgbClr val="000000"/>
              </a:solidFill>
            </a:endParaRPr>
          </a:p>
        </p:txBody>
      </p:sp>
    </p:spTree>
    <p:custDataLst>
      <p:tags r:id="rId1"/>
    </p:custDataLst>
    <p:extLst>
      <p:ext uri="{BB962C8B-B14F-4D97-AF65-F5344CB8AC3E}">
        <p14:creationId xmlns:p14="http://schemas.microsoft.com/office/powerpoint/2010/main" val="2128511827"/>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049332"/>
            <a:ext cx="3406514" cy="4518845"/>
          </a:xfrm>
          <a:prstGeom prst="rect">
            <a:avLst/>
          </a:prstGeom>
          <a:noFill/>
          <a:ln w="12700">
            <a:solidFill>
              <a:schemeClr val="tx1"/>
            </a:solidFill>
            <a:miter lim="800000"/>
            <a:headEnd/>
            <a:tailEnd/>
          </a:ln>
          <a:effectLst>
            <a:outerShdw blurRad="50800" dist="88900" dir="2700000" algn="ctr" rotWithShape="0">
              <a:schemeClr val="tx1">
                <a:alpha val="49000"/>
              </a:schemeClr>
            </a:outerShdw>
          </a:effectLst>
          <a:extLst>
            <a:ext uri="{909E8E84-426E-40DD-AFC4-6F175D3DCCD1}">
              <a14:hiddenFill xmlns:a14="http://schemas.microsoft.com/office/drawing/2010/main">
                <a:solidFill>
                  <a:schemeClr val="accent1"/>
                </a:solidFill>
              </a14:hiddenFill>
            </a:ext>
          </a:extLst>
        </p:spPr>
      </p:pic>
      <p:sp>
        <p:nvSpPr>
          <p:cNvPr id="19458" name="Rectangle 2"/>
          <p:cNvSpPr>
            <a:spLocks noGrp="1" noChangeArrowheads="1"/>
          </p:cNvSpPr>
          <p:nvPr>
            <p:ph type="title"/>
          </p:nvPr>
        </p:nvSpPr>
        <p:spPr/>
        <p:txBody>
          <a:bodyPr/>
          <a:lstStyle/>
          <a:p>
            <a:r>
              <a:rPr lang="en-US" smtClean="0"/>
              <a:t>Built-in Debug Tools (UIA &amp; ROV) – Intro</a:t>
            </a:r>
          </a:p>
        </p:txBody>
      </p:sp>
      <p:sp>
        <p:nvSpPr>
          <p:cNvPr id="6" name="Rounded Rectangle 5"/>
          <p:cNvSpPr/>
          <p:nvPr/>
        </p:nvSpPr>
        <p:spPr bwMode="auto">
          <a:xfrm>
            <a:off x="381000" y="4226624"/>
            <a:ext cx="2590800" cy="1295401"/>
          </a:xfrm>
          <a:prstGeom prst="round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8" name="TextBox 7"/>
          <p:cNvSpPr txBox="1"/>
          <p:nvPr/>
        </p:nvSpPr>
        <p:spPr>
          <a:xfrm>
            <a:off x="3962400" y="762000"/>
            <a:ext cx="5105400" cy="5232202"/>
          </a:xfrm>
          <a:prstGeom prst="rect">
            <a:avLst/>
          </a:prstGeom>
          <a:noFill/>
        </p:spPr>
        <p:txBody>
          <a:bodyPr wrap="square" rtlCol="0" anchor="t" anchorCtr="0">
            <a:spAutoFit/>
          </a:bodyPr>
          <a:lstStyle/>
          <a:p>
            <a:pPr marL="342900" indent="-342900">
              <a:buClr>
                <a:schemeClr val="tx2"/>
              </a:buClr>
              <a:buSzPct val="75000"/>
              <a:buFont typeface="Wingdings"/>
              <a:buChar char=""/>
            </a:pPr>
            <a:r>
              <a:rPr lang="en-US" sz="2800" smtClean="0">
                <a:solidFill>
                  <a:srgbClr val="FF0000"/>
                </a:solidFill>
                <a:latin typeface="Calibri" pitchFamily="34" charset="0"/>
                <a:cs typeface="Calibri" pitchFamily="34" charset="0"/>
              </a:rPr>
              <a:t>UIA - </a:t>
            </a:r>
            <a:r>
              <a:rPr lang="en-US" sz="2800" b="0" smtClean="0">
                <a:solidFill>
                  <a:srgbClr val="FF0000"/>
                </a:solidFill>
                <a:effectLst/>
                <a:latin typeface="Calibri" pitchFamily="34" charset="0"/>
                <a:cs typeface="Calibri" pitchFamily="34" charset="0"/>
              </a:rPr>
              <a:t>Unified </a:t>
            </a:r>
            <a:r>
              <a:rPr lang="en-US" sz="2800" b="0" smtClean="0">
                <a:solidFill>
                  <a:srgbClr val="FF0000"/>
                </a:solidFill>
                <a:effectLst/>
                <a:latin typeface="Calibri" pitchFamily="34" charset="0"/>
                <a:cs typeface="Calibri" pitchFamily="34" charset="0"/>
              </a:rPr>
              <a:t>Instrumentation Architecture </a:t>
            </a:r>
            <a:r>
              <a:rPr lang="en-US" sz="2800" b="0" smtClean="0">
                <a:solidFill>
                  <a:schemeClr val="dk1"/>
                </a:solidFill>
                <a:effectLst/>
                <a:latin typeface="Calibri" pitchFamily="34" charset="0"/>
                <a:cs typeface="Calibri" pitchFamily="34" charset="0"/>
              </a:rPr>
              <a:t>tools provide </a:t>
            </a:r>
            <a:r>
              <a:rPr lang="en-US" sz="2800" b="0" i="1" smtClean="0">
                <a:solidFill>
                  <a:schemeClr val="tx2"/>
                </a:solidFill>
                <a:effectLst/>
                <a:latin typeface="Calibri" pitchFamily="34" charset="0"/>
                <a:cs typeface="Calibri" pitchFamily="34" charset="0"/>
              </a:rPr>
              <a:t>visibility</a:t>
            </a:r>
            <a:r>
              <a:rPr lang="en-US" sz="2800" b="0" smtClean="0">
                <a:solidFill>
                  <a:schemeClr val="dk1"/>
                </a:solidFill>
                <a:effectLst/>
                <a:latin typeface="Calibri" pitchFamily="34" charset="0"/>
                <a:cs typeface="Calibri" pitchFamily="34" charset="0"/>
              </a:rPr>
              <a:t> into what is going on in your system:</a:t>
            </a:r>
          </a:p>
          <a:p>
            <a:pPr marL="688975" lvl="1" indent="-285750">
              <a:buSzPct val="100000"/>
              <a:buFont typeface="Arial" pitchFamily="34" charset="0"/>
              <a:buChar char="•"/>
            </a:pPr>
            <a:r>
              <a:rPr lang="en-US" b="0" smtClean="0">
                <a:solidFill>
                  <a:schemeClr val="dk1"/>
                </a:solidFill>
                <a:latin typeface="Calibri" pitchFamily="34" charset="0"/>
                <a:cs typeface="Calibri" pitchFamily="34" charset="0"/>
              </a:rPr>
              <a:t>Logging – “printf()-lite”</a:t>
            </a:r>
          </a:p>
          <a:p>
            <a:pPr marL="688975" lvl="1" indent="-285750">
              <a:buSzPct val="100000"/>
              <a:buFont typeface="Arial" pitchFamily="34" charset="0"/>
              <a:buChar char="•"/>
            </a:pPr>
            <a:r>
              <a:rPr lang="en-US" b="0" smtClean="0">
                <a:solidFill>
                  <a:schemeClr val="dk1"/>
                </a:solidFill>
                <a:effectLst/>
                <a:latin typeface="Calibri" pitchFamily="34" charset="0"/>
                <a:cs typeface="Calibri" pitchFamily="34" charset="0"/>
              </a:rPr>
              <a:t>Execution Graph – software “logic analyzer”</a:t>
            </a:r>
          </a:p>
          <a:p>
            <a:pPr marL="688975" lvl="1" indent="-285750">
              <a:buSzPct val="100000"/>
              <a:buFont typeface="Arial" pitchFamily="34" charset="0"/>
              <a:buChar char="•"/>
            </a:pPr>
            <a:r>
              <a:rPr lang="en-US" b="0" smtClean="0">
                <a:solidFill>
                  <a:schemeClr val="dk1"/>
                </a:solidFill>
                <a:latin typeface="Calibri" pitchFamily="34" charset="0"/>
                <a:cs typeface="Calibri" pitchFamily="34" charset="0"/>
              </a:rPr>
              <a:t>Load – CPU/Thread loading</a:t>
            </a:r>
          </a:p>
          <a:p>
            <a:pPr marL="688975" lvl="1" indent="-285750">
              <a:buSzPct val="100000"/>
              <a:buFont typeface="Arial" pitchFamily="34" charset="0"/>
              <a:buChar char="•"/>
            </a:pPr>
            <a:r>
              <a:rPr lang="en-US" b="0" smtClean="0">
                <a:solidFill>
                  <a:schemeClr val="dk1"/>
                </a:solidFill>
                <a:latin typeface="Calibri" pitchFamily="34" charset="0"/>
                <a:cs typeface="Calibri" pitchFamily="34" charset="0"/>
              </a:rPr>
              <a:t>UIA replaces the older RTA tools – requires “LoggingSetup”</a:t>
            </a:r>
          </a:p>
          <a:p>
            <a:pPr marL="342900" indent="-342900">
              <a:buClr>
                <a:schemeClr val="tx2"/>
              </a:buClr>
              <a:buSzPct val="75000"/>
              <a:buFont typeface="Wingdings"/>
              <a:buChar char=""/>
            </a:pPr>
            <a:r>
              <a:rPr lang="en-US" sz="2800" smtClean="0">
                <a:solidFill>
                  <a:schemeClr val="tx2"/>
                </a:solidFill>
                <a:latin typeface="Calibri" pitchFamily="34" charset="0"/>
                <a:cs typeface="Calibri" pitchFamily="34" charset="0"/>
              </a:rPr>
              <a:t>ROV</a:t>
            </a:r>
            <a:r>
              <a:rPr lang="en-US" sz="2800" b="0" smtClean="0">
                <a:solidFill>
                  <a:schemeClr val="dk1"/>
                </a:solidFill>
                <a:latin typeface="Calibri" pitchFamily="34" charset="0"/>
                <a:cs typeface="Calibri" pitchFamily="34" charset="0"/>
              </a:rPr>
              <a:t> – RTOS Object Viewer – see status of BIOS objects in your system (when halted)</a:t>
            </a:r>
            <a:endParaRPr lang="en-US" sz="2800" b="0" smtClean="0">
              <a:solidFill>
                <a:schemeClr val="dk1"/>
              </a:solidFill>
              <a:effectLst/>
              <a:latin typeface="Calibri" pitchFamily="34" charset="0"/>
              <a:cs typeface="Calibri" pitchFamily="34" charset="0"/>
            </a:endParaRPr>
          </a:p>
        </p:txBody>
      </p:sp>
      <p:sp>
        <p:nvSpPr>
          <p:cNvPr id="9" name="Leading Question"/>
          <p:cNvSpPr txBox="1"/>
          <p:nvPr/>
        </p:nvSpPr>
        <p:spPr>
          <a:xfrm>
            <a:off x="3503570" y="6333934"/>
            <a:ext cx="5317161" cy="295466"/>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b="0" smtClean="0">
                <a:solidFill>
                  <a:schemeClr val="tx2"/>
                </a:solidFill>
                <a:effectLst/>
                <a:latin typeface="Arial Narrow"/>
                <a:cs typeface="Calibri" pitchFamily="34" charset="0"/>
              </a:rPr>
              <a:t>Let's look at what these tools look like in CCS...</a:t>
            </a:r>
          </a:p>
        </p:txBody>
      </p:sp>
      <p:pic>
        <p:nvPicPr>
          <p:cNvPr id="13"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Tree>
    <p:custDataLst>
      <p:tags r:id="rId1"/>
    </p:custDataLst>
    <p:extLst>
      <p:ext uri="{BB962C8B-B14F-4D97-AF65-F5344CB8AC3E}">
        <p14:creationId xmlns:p14="http://schemas.microsoft.com/office/powerpoint/2010/main" val="40757443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P spid="9"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a:bodyPr>
          <a:lstStyle/>
          <a:p>
            <a:r>
              <a:rPr lang="en-US" smtClean="0"/>
              <a:t>ROV and UIA – Visibility/Debug Tools</a:t>
            </a:r>
          </a:p>
        </p:txBody>
      </p:sp>
      <p:sp>
        <p:nvSpPr>
          <p:cNvPr id="19459" name="Text Box 3"/>
          <p:cNvSpPr txBox="1">
            <a:spLocks noChangeArrowheads="1"/>
          </p:cNvSpPr>
          <p:nvPr/>
        </p:nvSpPr>
        <p:spPr bwMode="auto">
          <a:xfrm>
            <a:off x="2514600" y="654217"/>
            <a:ext cx="5486400" cy="1538883"/>
          </a:xfrm>
          <a:prstGeom prst="rect">
            <a:avLst/>
          </a:prstGeom>
          <a:solidFill>
            <a:schemeClr val="accent1">
              <a:lumMod val="90000"/>
            </a:schemeClr>
          </a:solidFill>
          <a:ln w="12700">
            <a:noFill/>
            <a:miter lim="800000"/>
            <a:headEnd type="none" w="sm" len="sm"/>
            <a:tailEnd type="none" w="sm" len="sm"/>
          </a:ln>
        </p:spPr>
        <p:txBody>
          <a:bodyPr wrap="square" bIns="137160">
            <a:spAutoFit/>
          </a:bodyPr>
          <a:lstStyle/>
          <a:p>
            <a:pPr marL="342900" indent="-342900">
              <a:lnSpc>
                <a:spcPct val="110000"/>
              </a:lnSpc>
              <a:spcBef>
                <a:spcPct val="0"/>
              </a:spcBef>
              <a:buClr>
                <a:schemeClr val="tx2"/>
              </a:buClr>
              <a:buSzPct val="75000"/>
              <a:buFont typeface="Wingdings" pitchFamily="2" charset="2"/>
              <a:buChar char=""/>
              <a:tabLst>
                <a:tab pos="7264400" algn="r"/>
              </a:tabLst>
            </a:pPr>
            <a:r>
              <a:rPr lang="en-US" sz="2000" b="0" dirty="0" smtClean="0">
                <a:latin typeface="Calibri" pitchFamily="34" charset="0"/>
                <a:cs typeface="Calibri" pitchFamily="34" charset="0"/>
              </a:rPr>
              <a:t>Gather </a:t>
            </a:r>
            <a:r>
              <a:rPr lang="en-US" sz="2000" b="0" dirty="0">
                <a:latin typeface="Calibri" pitchFamily="34" charset="0"/>
                <a:cs typeface="Calibri" pitchFamily="34" charset="0"/>
              </a:rPr>
              <a:t>data on </a:t>
            </a:r>
            <a:r>
              <a:rPr lang="en-US" sz="2000" b="0" dirty="0" smtClean="0">
                <a:latin typeface="Calibri" pitchFamily="34" charset="0"/>
                <a:cs typeface="Calibri" pitchFamily="34" charset="0"/>
              </a:rPr>
              <a:t>target  (30-40 </a:t>
            </a:r>
            <a:r>
              <a:rPr lang="en-US" sz="2000" b="0" dirty="0">
                <a:latin typeface="Calibri" pitchFamily="34" charset="0"/>
                <a:cs typeface="Calibri" pitchFamily="34" charset="0"/>
              </a:rPr>
              <a:t>CPU cycles</a:t>
            </a:r>
            <a:r>
              <a:rPr lang="en-US" sz="2000" b="0" dirty="0" smtClean="0">
                <a:latin typeface="Calibri" pitchFamily="34" charset="0"/>
                <a:cs typeface="Calibri" pitchFamily="34" charset="0"/>
              </a:rPr>
              <a:t>)</a:t>
            </a:r>
            <a:endParaRPr lang="en-US" sz="2000" b="0" dirty="0">
              <a:latin typeface="Calibri" pitchFamily="34" charset="0"/>
              <a:cs typeface="Calibri" pitchFamily="34" charset="0"/>
            </a:endParaRPr>
          </a:p>
          <a:p>
            <a:pPr marL="342900" indent="-342900">
              <a:lnSpc>
                <a:spcPct val="110000"/>
              </a:lnSpc>
              <a:spcBef>
                <a:spcPct val="0"/>
              </a:spcBef>
              <a:buClr>
                <a:schemeClr val="tx2"/>
              </a:buClr>
              <a:buSzPct val="75000"/>
              <a:buFont typeface="Wingdings" pitchFamily="2" charset="2"/>
              <a:buChar char=""/>
              <a:tabLst>
                <a:tab pos="7264400" algn="r"/>
              </a:tabLst>
            </a:pPr>
            <a:r>
              <a:rPr lang="en-US" sz="2000" b="0" dirty="0" smtClean="0">
                <a:latin typeface="Calibri" pitchFamily="34" charset="0"/>
                <a:cs typeface="Calibri" pitchFamily="34" charset="0"/>
              </a:rPr>
              <a:t>Format </a:t>
            </a:r>
            <a:r>
              <a:rPr lang="en-US" sz="2000" b="0" dirty="0">
                <a:latin typeface="Calibri" pitchFamily="34" charset="0"/>
                <a:cs typeface="Calibri" pitchFamily="34" charset="0"/>
              </a:rPr>
              <a:t>data on </a:t>
            </a:r>
            <a:r>
              <a:rPr lang="en-US" sz="2000" b="0" dirty="0" smtClean="0">
                <a:latin typeface="Calibri" pitchFamily="34" charset="0"/>
                <a:cs typeface="Calibri" pitchFamily="34" charset="0"/>
              </a:rPr>
              <a:t>host  (1000s </a:t>
            </a:r>
            <a:r>
              <a:rPr lang="en-US" sz="2000" b="0" dirty="0">
                <a:latin typeface="Calibri" pitchFamily="34" charset="0"/>
                <a:cs typeface="Calibri" pitchFamily="34" charset="0"/>
              </a:rPr>
              <a:t>of host PC cycles)</a:t>
            </a:r>
          </a:p>
          <a:p>
            <a:pPr marL="342900" indent="-342900">
              <a:lnSpc>
                <a:spcPct val="110000"/>
              </a:lnSpc>
              <a:spcBef>
                <a:spcPct val="0"/>
              </a:spcBef>
              <a:buClr>
                <a:schemeClr val="tx2"/>
              </a:buClr>
              <a:buSzPct val="75000"/>
              <a:buFont typeface="Wingdings" pitchFamily="2" charset="2"/>
              <a:buChar char=""/>
              <a:tabLst>
                <a:tab pos="7264400" algn="r"/>
              </a:tabLst>
            </a:pPr>
            <a:r>
              <a:rPr lang="en-US" sz="2000" b="0" dirty="0" smtClean="0">
                <a:latin typeface="Calibri" pitchFamily="34" charset="0"/>
                <a:cs typeface="Calibri" pitchFamily="34" charset="0"/>
              </a:rPr>
              <a:t>Data </a:t>
            </a:r>
            <a:r>
              <a:rPr lang="en-US" sz="2000" b="0" dirty="0">
                <a:latin typeface="Calibri" pitchFamily="34" charset="0"/>
                <a:cs typeface="Calibri" pitchFamily="34" charset="0"/>
              </a:rPr>
              <a:t>gathering does NOT stop target </a:t>
            </a:r>
            <a:r>
              <a:rPr lang="en-US" sz="2000" b="0" dirty="0" smtClean="0">
                <a:latin typeface="Calibri" pitchFamily="34" charset="0"/>
                <a:cs typeface="Calibri" pitchFamily="34" charset="0"/>
              </a:rPr>
              <a:t>CPU</a:t>
            </a:r>
          </a:p>
          <a:p>
            <a:pPr marL="342900" indent="-342900">
              <a:lnSpc>
                <a:spcPct val="110000"/>
              </a:lnSpc>
              <a:spcBef>
                <a:spcPct val="0"/>
              </a:spcBef>
              <a:buClr>
                <a:schemeClr val="tx2"/>
              </a:buClr>
              <a:buSzPct val="75000"/>
              <a:buFont typeface="Wingdings" pitchFamily="2" charset="2"/>
              <a:buChar char=""/>
              <a:tabLst>
                <a:tab pos="7264400" algn="r"/>
              </a:tabLst>
            </a:pPr>
            <a:r>
              <a:rPr lang="en-US" sz="2000" b="0" dirty="0" smtClean="0">
                <a:latin typeface="Calibri" pitchFamily="34" charset="0"/>
                <a:cs typeface="Calibri" pitchFamily="34" charset="0"/>
              </a:rPr>
              <a:t>Halt CPU to see results (stop-time debug)</a:t>
            </a:r>
            <a:endParaRPr lang="en-US" sz="2000" b="0" dirty="0">
              <a:latin typeface="Calibri" pitchFamily="34" charset="0"/>
              <a:cs typeface="Calibri" pitchFamily="34" charset="0"/>
            </a:endParaRPr>
          </a:p>
        </p:txBody>
      </p:sp>
      <p:sp>
        <p:nvSpPr>
          <p:cNvPr id="19460" name="Text Box 6"/>
          <p:cNvSpPr txBox="1">
            <a:spLocks noChangeArrowheads="1"/>
          </p:cNvSpPr>
          <p:nvPr/>
        </p:nvSpPr>
        <p:spPr bwMode="auto">
          <a:xfrm>
            <a:off x="5646738" y="5483910"/>
            <a:ext cx="2485937" cy="646331"/>
          </a:xfrm>
          <a:prstGeom prst="rect">
            <a:avLst/>
          </a:prstGeom>
          <a:noFill/>
          <a:ln w="12700">
            <a:noFill/>
            <a:miter lim="800000"/>
            <a:headEnd type="none" w="sm" len="sm"/>
            <a:tailEnd type="none" w="sm" len="sm"/>
          </a:ln>
        </p:spPr>
        <p:txBody>
          <a:bodyPr wrap="none" anchor="ctr">
            <a:spAutoFit/>
          </a:bodyPr>
          <a:lstStyle/>
          <a:p>
            <a:pPr marL="342900" indent="-342900">
              <a:lnSpc>
                <a:spcPct val="90000"/>
              </a:lnSpc>
              <a:spcBef>
                <a:spcPct val="0"/>
              </a:spcBef>
              <a:buClr>
                <a:schemeClr val="tx2"/>
              </a:buClr>
              <a:buSzPct val="75000"/>
              <a:buFont typeface="Wingdings" pitchFamily="2" charset="2"/>
              <a:buChar char=""/>
            </a:pPr>
            <a:r>
              <a:rPr lang="en-US" sz="2000" b="0" smtClean="0">
                <a:latin typeface="Calibri" pitchFamily="34" charset="0"/>
                <a:cs typeface="Calibri" pitchFamily="34" charset="0"/>
              </a:rPr>
              <a:t>Analyze </a:t>
            </a:r>
            <a:r>
              <a:rPr lang="en-US" sz="2000" b="0" dirty="0">
                <a:latin typeface="Calibri" pitchFamily="34" charset="0"/>
                <a:cs typeface="Calibri" pitchFamily="34" charset="0"/>
              </a:rPr>
              <a:t>time NOT </a:t>
            </a:r>
            <a:r>
              <a:rPr lang="en-US" sz="2000" b="0">
                <a:latin typeface="Calibri" pitchFamily="34" charset="0"/>
                <a:cs typeface="Calibri" pitchFamily="34" charset="0"/>
              </a:rPr>
              <a:t/>
            </a:r>
            <a:br>
              <a:rPr lang="en-US" sz="2000" b="0">
                <a:latin typeface="Calibri" pitchFamily="34" charset="0"/>
                <a:cs typeface="Calibri" pitchFamily="34" charset="0"/>
              </a:rPr>
            </a:br>
            <a:r>
              <a:rPr lang="en-US" sz="2000" b="0" smtClean="0">
                <a:latin typeface="Calibri" pitchFamily="34" charset="0"/>
                <a:cs typeface="Calibri" pitchFamily="34" charset="0"/>
              </a:rPr>
              <a:t>spent </a:t>
            </a:r>
            <a:r>
              <a:rPr lang="en-US" sz="2000" b="0" dirty="0">
                <a:latin typeface="Calibri" pitchFamily="34" charset="0"/>
                <a:cs typeface="Calibri" pitchFamily="34" charset="0"/>
              </a:rPr>
              <a:t>in </a:t>
            </a:r>
            <a:r>
              <a:rPr lang="en-US" sz="2000" b="0" dirty="0" smtClean="0">
                <a:latin typeface="Calibri" pitchFamily="34" charset="0"/>
                <a:cs typeface="Calibri" pitchFamily="34" charset="0"/>
              </a:rPr>
              <a:t>Idle</a:t>
            </a:r>
            <a:endParaRPr lang="en-US" sz="2000" b="0" dirty="0">
              <a:latin typeface="Calibri" pitchFamily="34" charset="0"/>
              <a:cs typeface="Calibri" pitchFamily="34" charset="0"/>
            </a:endParaRPr>
          </a:p>
        </p:txBody>
      </p:sp>
      <p:sp>
        <p:nvSpPr>
          <p:cNvPr id="19461" name="Text Box 7"/>
          <p:cNvSpPr txBox="1">
            <a:spLocks noChangeArrowheads="1"/>
          </p:cNvSpPr>
          <p:nvPr/>
        </p:nvSpPr>
        <p:spPr bwMode="auto">
          <a:xfrm>
            <a:off x="5575300" y="5036785"/>
            <a:ext cx="3600666" cy="480131"/>
          </a:xfrm>
          <a:prstGeom prst="rect">
            <a:avLst/>
          </a:prstGeom>
          <a:noFill/>
          <a:ln w="12700">
            <a:noFill/>
            <a:miter lim="800000"/>
            <a:headEnd type="none" w="sm" len="sm"/>
            <a:tailEnd type="none" w="sm" len="sm"/>
          </a:ln>
        </p:spPr>
        <p:txBody>
          <a:bodyPr wrap="none" anchor="ctr">
            <a:spAutoFit/>
          </a:bodyPr>
          <a:lstStyle/>
          <a:p>
            <a:pPr>
              <a:lnSpc>
                <a:spcPct val="90000"/>
              </a:lnSpc>
              <a:spcBef>
                <a:spcPct val="0"/>
              </a:spcBef>
            </a:pPr>
            <a:r>
              <a:rPr lang="en-US" sz="2800" dirty="0" smtClean="0">
                <a:solidFill>
                  <a:schemeClr val="tx2"/>
                </a:solidFill>
                <a:latin typeface="Arial Narrow" pitchFamily="34" charset="0"/>
              </a:rPr>
              <a:t>CPU/Thread </a:t>
            </a:r>
            <a:r>
              <a:rPr lang="en-US" sz="2800" dirty="0">
                <a:solidFill>
                  <a:schemeClr val="tx2"/>
                </a:solidFill>
                <a:latin typeface="Arial Narrow" pitchFamily="34" charset="0"/>
              </a:rPr>
              <a:t>Load Graph</a:t>
            </a:r>
          </a:p>
        </p:txBody>
      </p:sp>
      <p:sp>
        <p:nvSpPr>
          <p:cNvPr id="19462" name="Text Box 10"/>
          <p:cNvSpPr txBox="1">
            <a:spLocks noChangeArrowheads="1"/>
          </p:cNvSpPr>
          <p:nvPr/>
        </p:nvSpPr>
        <p:spPr bwMode="auto">
          <a:xfrm>
            <a:off x="5499100" y="2485673"/>
            <a:ext cx="3523722" cy="480131"/>
          </a:xfrm>
          <a:prstGeom prst="rect">
            <a:avLst/>
          </a:prstGeom>
          <a:noFill/>
          <a:ln w="12700">
            <a:noFill/>
            <a:miter lim="800000"/>
            <a:headEnd type="none" w="sm" len="sm"/>
            <a:tailEnd type="none" w="sm" len="sm"/>
          </a:ln>
        </p:spPr>
        <p:txBody>
          <a:bodyPr wrap="none" anchor="ctr">
            <a:spAutoFit/>
          </a:bodyPr>
          <a:lstStyle/>
          <a:p>
            <a:pPr>
              <a:lnSpc>
                <a:spcPct val="90000"/>
              </a:lnSpc>
              <a:spcBef>
                <a:spcPct val="0"/>
              </a:spcBef>
            </a:pPr>
            <a:r>
              <a:rPr lang="en-US" sz="2800" dirty="0" smtClean="0">
                <a:solidFill>
                  <a:schemeClr val="tx2"/>
                </a:solidFill>
                <a:latin typeface="Arial Narrow" pitchFamily="34" charset="0"/>
              </a:rPr>
              <a:t>RTOS </a:t>
            </a:r>
            <a:r>
              <a:rPr lang="en-US" sz="2800" dirty="0" err="1">
                <a:solidFill>
                  <a:schemeClr val="tx2"/>
                </a:solidFill>
                <a:latin typeface="Arial Narrow" pitchFamily="34" charset="0"/>
              </a:rPr>
              <a:t>Obj</a:t>
            </a:r>
            <a:r>
              <a:rPr lang="en-US" sz="2800" dirty="0">
                <a:solidFill>
                  <a:schemeClr val="tx2"/>
                </a:solidFill>
                <a:latin typeface="Arial Narrow" pitchFamily="34" charset="0"/>
              </a:rPr>
              <a:t> </a:t>
            </a:r>
            <a:r>
              <a:rPr lang="en-US" sz="2800" dirty="0" smtClean="0">
                <a:solidFill>
                  <a:schemeClr val="tx2"/>
                </a:solidFill>
                <a:latin typeface="Arial Narrow" pitchFamily="34" charset="0"/>
              </a:rPr>
              <a:t>Viewer </a:t>
            </a:r>
            <a:r>
              <a:rPr lang="en-US" sz="2800" dirty="0">
                <a:solidFill>
                  <a:schemeClr val="tx2"/>
                </a:solidFill>
                <a:latin typeface="Arial Narrow" pitchFamily="34" charset="0"/>
              </a:rPr>
              <a:t>(ROV)</a:t>
            </a:r>
          </a:p>
        </p:txBody>
      </p:sp>
      <p:sp>
        <p:nvSpPr>
          <p:cNvPr id="19463" name="Text Box 11"/>
          <p:cNvSpPr txBox="1">
            <a:spLocks noChangeArrowheads="1"/>
          </p:cNvSpPr>
          <p:nvPr/>
        </p:nvSpPr>
        <p:spPr bwMode="auto">
          <a:xfrm>
            <a:off x="5575300" y="2954338"/>
            <a:ext cx="3276600" cy="1008062"/>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30000"/>
              </a:spcBef>
              <a:buClr>
                <a:schemeClr val="tx2"/>
              </a:buClr>
              <a:buSzPct val="75000"/>
              <a:buFont typeface="Wingdings" pitchFamily="2" charset="2"/>
              <a:buChar char=""/>
            </a:pPr>
            <a:r>
              <a:rPr lang="en-US" sz="2000" b="0">
                <a:latin typeface="Calibri" pitchFamily="34" charset="0"/>
                <a:cs typeface="Calibri" pitchFamily="34" charset="0"/>
              </a:rPr>
              <a:t>Halt to see results</a:t>
            </a:r>
          </a:p>
          <a:p>
            <a:pPr marL="342900" indent="-342900">
              <a:lnSpc>
                <a:spcPct val="90000"/>
              </a:lnSpc>
              <a:spcBef>
                <a:spcPct val="30000"/>
              </a:spcBef>
              <a:buClr>
                <a:schemeClr val="tx2"/>
              </a:buClr>
              <a:buSzPct val="75000"/>
              <a:buFont typeface="Wingdings" pitchFamily="2" charset="2"/>
              <a:buChar char=""/>
            </a:pPr>
            <a:r>
              <a:rPr lang="en-US" sz="2000" b="0">
                <a:latin typeface="Calibri" pitchFamily="34" charset="0"/>
                <a:cs typeface="Calibri" pitchFamily="34" charset="0"/>
              </a:rPr>
              <a:t>Displays stats about all threads in system</a:t>
            </a:r>
            <a:endParaRPr lang="en-US" b="0">
              <a:latin typeface="Calibri" pitchFamily="34" charset="0"/>
              <a:cs typeface="Calibri" pitchFamily="34" charset="0"/>
            </a:endParaRPr>
          </a:p>
        </p:txBody>
      </p:sp>
      <p:pic>
        <p:nvPicPr>
          <p:cNvPr id="388134" name="Picture 38" descr="CPU_LOAD"/>
          <p:cNvPicPr>
            <a:picLocks noChangeAspect="1" noChangeArrowheads="1"/>
          </p:cNvPicPr>
          <p:nvPr/>
        </p:nvPicPr>
        <p:blipFill>
          <a:blip r:embed="rId3" cstate="print"/>
          <a:srcRect/>
          <a:stretch>
            <a:fillRect/>
          </a:stretch>
        </p:blipFill>
        <p:spPr bwMode="auto">
          <a:xfrm>
            <a:off x="914400" y="4452938"/>
            <a:ext cx="4114800" cy="2247900"/>
          </a:xfrm>
          <a:prstGeom prst="rect">
            <a:avLst/>
          </a:prstGeom>
          <a:noFill/>
          <a:ln w="19050">
            <a:solidFill>
              <a:schemeClr val="tx1"/>
            </a:solidFill>
            <a:miter lim="800000"/>
            <a:headEnd/>
            <a:tailEnd/>
          </a:ln>
          <a:effectLst>
            <a:outerShdw dist="107763" dir="2700000" algn="ctr" rotWithShape="0">
              <a:srgbClr val="808080">
                <a:alpha val="50000"/>
              </a:srgbClr>
            </a:outerShdw>
          </a:effectLst>
        </p:spPr>
      </p:pic>
      <p:sp>
        <p:nvSpPr>
          <p:cNvPr id="3" name="TextBox 2"/>
          <p:cNvSpPr txBox="1"/>
          <p:nvPr/>
        </p:nvSpPr>
        <p:spPr>
          <a:xfrm>
            <a:off x="378951" y="1161800"/>
            <a:ext cx="2217402" cy="437043"/>
          </a:xfrm>
          <a:prstGeom prst="rect">
            <a:avLst/>
          </a:prstGeom>
          <a:solidFill>
            <a:schemeClr val="accent1">
              <a:lumMod val="90000"/>
            </a:schemeClr>
          </a:solidFill>
        </p:spPr>
        <p:txBody>
          <a:bodyPr wrap="none" rtlCol="0" anchor="t" anchorCtr="0">
            <a:spAutoFit/>
          </a:bodyPr>
          <a:lstStyle/>
          <a:p>
            <a:r>
              <a:rPr lang="en-US" sz="2800" b="0" smtClean="0">
                <a:solidFill>
                  <a:schemeClr val="dk1"/>
                </a:solidFill>
                <a:effectLst/>
                <a:latin typeface="Calibri" pitchFamily="34" charset="0"/>
                <a:cs typeface="Calibri" pitchFamily="34" charset="0"/>
              </a:rPr>
              <a:t>Real-time is… </a:t>
            </a:r>
          </a:p>
        </p:txBody>
      </p:sp>
      <p:pic>
        <p:nvPicPr>
          <p:cNvPr id="1026" name="Picture 2" descr="C:\Users\a0159877\AppData\Local\Temp\SNAGHTML16fd38b.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504" y="2428874"/>
            <a:ext cx="5473431" cy="183832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592641591"/>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t>ROV and UIA – Visibility/Debug Tools</a:t>
            </a:r>
            <a:endParaRPr lang="en-US" smtClean="0"/>
          </a:p>
        </p:txBody>
      </p:sp>
      <p:sp>
        <p:nvSpPr>
          <p:cNvPr id="389129" name="Rectangle 9"/>
          <p:cNvSpPr>
            <a:spLocks noChangeArrowheads="1"/>
          </p:cNvSpPr>
          <p:nvPr/>
        </p:nvSpPr>
        <p:spPr bwMode="auto">
          <a:xfrm>
            <a:off x="3340608" y="2975253"/>
            <a:ext cx="5569538" cy="369332"/>
          </a:xfrm>
          <a:prstGeom prst="rect">
            <a:avLst/>
          </a:prstGeom>
          <a:solidFill>
            <a:schemeClr val="accent2"/>
          </a:solidFill>
          <a:ln w="19050">
            <a:solidFill>
              <a:schemeClr val="tx1"/>
            </a:solidFill>
            <a:miter lim="800000"/>
            <a:headEnd type="none" w="sm" len="sm"/>
            <a:tailEnd type="none" w="sm" len="sm"/>
          </a:ln>
          <a:effectLst>
            <a:outerShdw dist="107763" dir="2700000" algn="ctr" rotWithShape="0">
              <a:schemeClr val="bg2">
                <a:alpha val="50000"/>
              </a:schemeClr>
            </a:outerShdw>
          </a:effectLst>
        </p:spPr>
        <p:txBody>
          <a:bodyPr wrap="none" anchor="ctr">
            <a:spAutoFit/>
          </a:bodyPr>
          <a:lstStyle/>
          <a:p>
            <a:pPr algn="ctr">
              <a:lnSpc>
                <a:spcPct val="90000"/>
              </a:lnSpc>
              <a:spcBef>
                <a:spcPct val="0"/>
              </a:spcBef>
              <a:defRPr/>
            </a:pPr>
            <a:r>
              <a:rPr lang="en-US" sz="2000" b="0" smtClean="0">
                <a:solidFill>
                  <a:srgbClr val="000000"/>
                </a:solidFill>
              </a:rPr>
              <a:t>Log_info1(“LED TOGGLED </a:t>
            </a:r>
            <a:r>
              <a:rPr lang="en-US" sz="2000" b="0" dirty="0" smtClean="0">
                <a:solidFill>
                  <a:srgbClr val="000000"/>
                </a:solidFill>
              </a:rPr>
              <a:t>[%u] times”, count);</a:t>
            </a:r>
            <a:endParaRPr lang="en-US" sz="2000" b="0" dirty="0">
              <a:solidFill>
                <a:srgbClr val="000000"/>
              </a:solidFill>
            </a:endParaRPr>
          </a:p>
        </p:txBody>
      </p:sp>
      <p:sp>
        <p:nvSpPr>
          <p:cNvPr id="20484" name="Text Box 12"/>
          <p:cNvSpPr txBox="1">
            <a:spLocks noChangeArrowheads="1"/>
          </p:cNvSpPr>
          <p:nvPr/>
        </p:nvSpPr>
        <p:spPr bwMode="auto">
          <a:xfrm>
            <a:off x="76200" y="1058270"/>
            <a:ext cx="3064365" cy="2223686"/>
          </a:xfrm>
          <a:prstGeom prst="rect">
            <a:avLst/>
          </a:prstGeom>
          <a:noFill/>
          <a:ln w="12700">
            <a:noFill/>
            <a:miter lim="800000"/>
            <a:headEnd type="none" w="sm" len="sm"/>
            <a:tailEnd type="none" w="sm" len="sm"/>
          </a:ln>
        </p:spPr>
        <p:txBody>
          <a:bodyPr wrap="none" anchor="ctr">
            <a:spAutoFit/>
          </a:bodyPr>
          <a:lstStyle/>
          <a:p>
            <a:pPr marL="342900" indent="-342900">
              <a:spcBef>
                <a:spcPts val="300"/>
              </a:spcBef>
              <a:spcAft>
                <a:spcPct val="30000"/>
              </a:spcAft>
              <a:buClr>
                <a:srgbClr val="0066FF"/>
              </a:buClr>
              <a:buSzPct val="75000"/>
              <a:buFont typeface="Wingdings" pitchFamily="2" charset="2"/>
              <a:buChar char=""/>
            </a:pPr>
            <a:r>
              <a:rPr lang="en-US" sz="2000" b="0" dirty="0">
                <a:solidFill>
                  <a:srgbClr val="000000"/>
                </a:solidFill>
                <a:latin typeface="Calibri" pitchFamily="34" charset="0"/>
                <a:cs typeface="Calibri" pitchFamily="34" charset="0"/>
              </a:rPr>
              <a:t>Send </a:t>
            </a:r>
            <a:r>
              <a:rPr lang="en-US" sz="2000" b="0" dirty="0" smtClean="0">
                <a:solidFill>
                  <a:srgbClr val="000000"/>
                </a:solidFill>
                <a:latin typeface="Calibri" pitchFamily="34" charset="0"/>
                <a:cs typeface="Calibri" pitchFamily="34" charset="0"/>
              </a:rPr>
              <a:t>DBG </a:t>
            </a:r>
            <a:r>
              <a:rPr lang="en-US" sz="2000" b="0" dirty="0" err="1">
                <a:solidFill>
                  <a:srgbClr val="000000"/>
                </a:solidFill>
                <a:latin typeface="Calibri" pitchFamily="34" charset="0"/>
                <a:cs typeface="Calibri" pitchFamily="34" charset="0"/>
              </a:rPr>
              <a:t>Msgs</a:t>
            </a:r>
            <a:r>
              <a:rPr lang="en-US" sz="2000" b="0" dirty="0">
                <a:solidFill>
                  <a:srgbClr val="000000"/>
                </a:solidFill>
                <a:latin typeface="Calibri" pitchFamily="34" charset="0"/>
                <a:cs typeface="Calibri" pitchFamily="34" charset="0"/>
              </a:rPr>
              <a:t> to PC</a:t>
            </a:r>
          </a:p>
          <a:p>
            <a:pPr marL="342900" indent="-342900">
              <a:spcBef>
                <a:spcPts val="300"/>
              </a:spcBef>
              <a:spcAft>
                <a:spcPct val="30000"/>
              </a:spcAft>
              <a:buClr>
                <a:srgbClr val="0066FF"/>
              </a:buClr>
              <a:buSzPct val="75000"/>
              <a:buFont typeface="Wingdings" pitchFamily="2" charset="2"/>
              <a:buChar char=""/>
            </a:pPr>
            <a:r>
              <a:rPr lang="en-US" sz="2000" b="0" dirty="0">
                <a:solidFill>
                  <a:srgbClr val="000000"/>
                </a:solidFill>
                <a:latin typeface="Calibri" pitchFamily="34" charset="0"/>
                <a:cs typeface="Calibri" pitchFamily="34" charset="0"/>
              </a:rPr>
              <a:t>Data displayed during</a:t>
            </a:r>
            <a:br>
              <a:rPr lang="en-US" sz="2000" b="0" dirty="0">
                <a:solidFill>
                  <a:srgbClr val="000000"/>
                </a:solidFill>
                <a:latin typeface="Calibri" pitchFamily="34" charset="0"/>
                <a:cs typeface="Calibri" pitchFamily="34" charset="0"/>
              </a:rPr>
            </a:br>
            <a:r>
              <a:rPr lang="en-US" sz="2000" b="0" dirty="0" smtClean="0">
                <a:solidFill>
                  <a:srgbClr val="000000"/>
                </a:solidFill>
                <a:latin typeface="Calibri" pitchFamily="34" charset="0"/>
                <a:cs typeface="Calibri" pitchFamily="34" charset="0"/>
              </a:rPr>
              <a:t>stop-time</a:t>
            </a:r>
            <a:endParaRPr lang="en-US" sz="2000" b="0" dirty="0">
              <a:solidFill>
                <a:srgbClr val="000000"/>
              </a:solidFill>
              <a:latin typeface="Calibri" pitchFamily="34" charset="0"/>
              <a:cs typeface="Calibri" pitchFamily="34" charset="0"/>
            </a:endParaRPr>
          </a:p>
          <a:p>
            <a:pPr marL="342900" indent="-342900">
              <a:spcBef>
                <a:spcPts val="300"/>
              </a:spcBef>
              <a:spcAft>
                <a:spcPct val="30000"/>
              </a:spcAft>
              <a:buClr>
                <a:srgbClr val="0066FF"/>
              </a:buClr>
              <a:buSzPct val="75000"/>
              <a:buFont typeface="Wingdings" pitchFamily="2" charset="2"/>
              <a:buChar char=""/>
            </a:pPr>
            <a:r>
              <a:rPr lang="en-US" sz="2000" b="0" dirty="0">
                <a:solidFill>
                  <a:srgbClr val="000000"/>
                </a:solidFill>
                <a:latin typeface="Calibri" pitchFamily="34" charset="0"/>
                <a:cs typeface="Calibri" pitchFamily="34" charset="0"/>
              </a:rPr>
              <a:t>Deterministic, low </a:t>
            </a:r>
            <a:r>
              <a:rPr lang="en-US" sz="2000" b="0" dirty="0" smtClean="0">
                <a:solidFill>
                  <a:srgbClr val="000000"/>
                </a:solidFill>
                <a:latin typeface="Calibri" pitchFamily="34" charset="0"/>
                <a:cs typeface="Calibri" pitchFamily="34" charset="0"/>
              </a:rPr>
              <a:t>CPU</a:t>
            </a:r>
            <a:r>
              <a:rPr lang="en-US" sz="2000" b="0" dirty="0">
                <a:solidFill>
                  <a:srgbClr val="000000"/>
                </a:solidFill>
                <a:latin typeface="Calibri" pitchFamily="34" charset="0"/>
                <a:cs typeface="Calibri" pitchFamily="34" charset="0"/>
              </a:rPr>
              <a:t/>
            </a:r>
            <a:br>
              <a:rPr lang="en-US" sz="2000" b="0" dirty="0">
                <a:solidFill>
                  <a:srgbClr val="000000"/>
                </a:solidFill>
                <a:latin typeface="Calibri" pitchFamily="34" charset="0"/>
                <a:cs typeface="Calibri" pitchFamily="34" charset="0"/>
              </a:rPr>
            </a:br>
            <a:r>
              <a:rPr lang="en-US" sz="2000" b="0" dirty="0">
                <a:solidFill>
                  <a:srgbClr val="000000"/>
                </a:solidFill>
                <a:latin typeface="Calibri" pitchFamily="34" charset="0"/>
                <a:cs typeface="Calibri" pitchFamily="34" charset="0"/>
              </a:rPr>
              <a:t>cycle count</a:t>
            </a:r>
          </a:p>
          <a:p>
            <a:pPr marL="342900" indent="-342900">
              <a:spcBef>
                <a:spcPts val="300"/>
              </a:spcBef>
              <a:spcAft>
                <a:spcPct val="30000"/>
              </a:spcAft>
              <a:buClr>
                <a:srgbClr val="0066FF"/>
              </a:buClr>
              <a:buSzPct val="75000"/>
              <a:buFont typeface="Wingdings" pitchFamily="2" charset="2"/>
              <a:buChar char=""/>
            </a:pPr>
            <a:r>
              <a:rPr lang="en-US" sz="2000" b="0" dirty="0">
                <a:solidFill>
                  <a:srgbClr val="000000"/>
                </a:solidFill>
                <a:latin typeface="Calibri" pitchFamily="34" charset="0"/>
                <a:cs typeface="Calibri" pitchFamily="34" charset="0"/>
              </a:rPr>
              <a:t>WAY more efficient than</a:t>
            </a:r>
            <a:br>
              <a:rPr lang="en-US" sz="2000" b="0" dirty="0">
                <a:solidFill>
                  <a:srgbClr val="000000"/>
                </a:solidFill>
                <a:latin typeface="Calibri" pitchFamily="34" charset="0"/>
                <a:cs typeface="Calibri" pitchFamily="34" charset="0"/>
              </a:rPr>
            </a:br>
            <a:r>
              <a:rPr lang="en-US" sz="2000" b="0" dirty="0">
                <a:solidFill>
                  <a:srgbClr val="000000"/>
                </a:solidFill>
                <a:latin typeface="Calibri" pitchFamily="34" charset="0"/>
                <a:cs typeface="Calibri" pitchFamily="34" charset="0"/>
              </a:rPr>
              <a:t>traditional </a:t>
            </a:r>
            <a:r>
              <a:rPr lang="en-US" sz="2000" b="0" dirty="0" err="1">
                <a:solidFill>
                  <a:srgbClr val="000000"/>
                </a:solidFill>
                <a:latin typeface="Courier New" pitchFamily="49" charset="0"/>
                <a:cs typeface="Courier New" pitchFamily="49" charset="0"/>
              </a:rPr>
              <a:t>printf</a:t>
            </a:r>
            <a:r>
              <a:rPr lang="en-US" sz="2000" b="0" dirty="0">
                <a:solidFill>
                  <a:srgbClr val="000000"/>
                </a:solidFill>
                <a:latin typeface="Courier New" pitchFamily="49" charset="0"/>
                <a:cs typeface="Courier New" pitchFamily="49" charset="0"/>
              </a:rPr>
              <a:t>()</a:t>
            </a:r>
          </a:p>
        </p:txBody>
      </p:sp>
      <p:sp>
        <p:nvSpPr>
          <p:cNvPr id="20485" name="Text Box 13"/>
          <p:cNvSpPr txBox="1">
            <a:spLocks noChangeArrowheads="1"/>
          </p:cNvSpPr>
          <p:nvPr/>
        </p:nvSpPr>
        <p:spPr bwMode="auto">
          <a:xfrm>
            <a:off x="76200" y="656079"/>
            <a:ext cx="841897" cy="480131"/>
          </a:xfrm>
          <a:prstGeom prst="rect">
            <a:avLst/>
          </a:prstGeom>
          <a:noFill/>
          <a:ln w="12700">
            <a:noFill/>
            <a:miter lim="800000"/>
            <a:headEnd type="none" w="sm" len="sm"/>
            <a:tailEnd type="none" w="sm" len="sm"/>
          </a:ln>
        </p:spPr>
        <p:txBody>
          <a:bodyPr wrap="none" anchor="ctr">
            <a:spAutoFit/>
          </a:bodyPr>
          <a:lstStyle/>
          <a:p>
            <a:pPr>
              <a:lnSpc>
                <a:spcPct val="90000"/>
              </a:lnSpc>
              <a:spcBef>
                <a:spcPct val="0"/>
              </a:spcBef>
            </a:pPr>
            <a:r>
              <a:rPr lang="en-US" sz="2800" dirty="0" smtClean="0">
                <a:solidFill>
                  <a:srgbClr val="0066FF"/>
                </a:solidFill>
                <a:latin typeface="Calibri" pitchFamily="34" charset="0"/>
                <a:cs typeface="Calibri" pitchFamily="34" charset="0"/>
              </a:rPr>
              <a:t>Logs</a:t>
            </a:r>
            <a:endParaRPr lang="en-US" sz="2800" dirty="0">
              <a:solidFill>
                <a:srgbClr val="0066FF"/>
              </a:solidFill>
              <a:latin typeface="Calibri" pitchFamily="34" charset="0"/>
              <a:cs typeface="Calibri" pitchFamily="34" charset="0"/>
            </a:endParaRPr>
          </a:p>
        </p:txBody>
      </p:sp>
      <p:sp>
        <p:nvSpPr>
          <p:cNvPr id="20488" name="Text Box 45"/>
          <p:cNvSpPr txBox="1">
            <a:spLocks noChangeArrowheads="1"/>
          </p:cNvSpPr>
          <p:nvPr/>
        </p:nvSpPr>
        <p:spPr bwMode="auto">
          <a:xfrm>
            <a:off x="76200" y="4202875"/>
            <a:ext cx="3287951" cy="929485"/>
          </a:xfrm>
          <a:prstGeom prst="rect">
            <a:avLst/>
          </a:prstGeom>
          <a:noFill/>
          <a:ln w="12700">
            <a:noFill/>
            <a:miter lim="800000"/>
            <a:headEnd type="none" w="sm" len="sm"/>
            <a:tailEnd type="none" w="sm" len="sm"/>
          </a:ln>
        </p:spPr>
        <p:txBody>
          <a:bodyPr wrap="none" anchor="ctr">
            <a:spAutoFit/>
          </a:bodyPr>
          <a:lstStyle/>
          <a:p>
            <a:pPr marL="342900" indent="-342900">
              <a:spcBef>
                <a:spcPct val="0"/>
              </a:spcBef>
              <a:spcAft>
                <a:spcPct val="30000"/>
              </a:spcAft>
              <a:buClr>
                <a:srgbClr val="0066FF"/>
              </a:buClr>
              <a:buSzPct val="75000"/>
              <a:buFont typeface="Wingdings" pitchFamily="2" charset="2"/>
              <a:buChar char=""/>
            </a:pPr>
            <a:r>
              <a:rPr lang="en-US" sz="2000" b="0" dirty="0" smtClean="0">
                <a:solidFill>
                  <a:srgbClr val="000000"/>
                </a:solidFill>
                <a:latin typeface="Calibri" pitchFamily="34" charset="0"/>
                <a:cs typeface="Calibri" pitchFamily="34" charset="0"/>
              </a:rPr>
              <a:t>View system events down</a:t>
            </a:r>
            <a:br>
              <a:rPr lang="en-US" sz="2000" b="0" dirty="0" smtClean="0">
                <a:solidFill>
                  <a:srgbClr val="000000"/>
                </a:solidFill>
                <a:latin typeface="Calibri" pitchFamily="34" charset="0"/>
                <a:cs typeface="Calibri" pitchFamily="34" charset="0"/>
              </a:rPr>
            </a:br>
            <a:r>
              <a:rPr lang="en-US" sz="2000" b="0" dirty="0" smtClean="0">
                <a:solidFill>
                  <a:srgbClr val="000000"/>
                </a:solidFill>
                <a:latin typeface="Calibri" pitchFamily="34" charset="0"/>
                <a:cs typeface="Calibri" pitchFamily="34" charset="0"/>
              </a:rPr>
              <a:t>to the CPU cycle…</a:t>
            </a:r>
            <a:endParaRPr lang="en-US" sz="2000" b="0" dirty="0">
              <a:solidFill>
                <a:srgbClr val="000000"/>
              </a:solidFill>
              <a:latin typeface="Calibri" pitchFamily="34" charset="0"/>
              <a:cs typeface="Calibri" pitchFamily="34" charset="0"/>
            </a:endParaRPr>
          </a:p>
          <a:p>
            <a:pPr marL="342900" indent="-342900">
              <a:spcBef>
                <a:spcPct val="0"/>
              </a:spcBef>
              <a:spcAft>
                <a:spcPct val="30000"/>
              </a:spcAft>
              <a:buClr>
                <a:srgbClr val="0066FF"/>
              </a:buClr>
              <a:buSzPct val="75000"/>
              <a:buFont typeface="Wingdings" pitchFamily="2" charset="2"/>
              <a:buChar char=""/>
            </a:pPr>
            <a:r>
              <a:rPr lang="en-US" sz="2000" b="0" dirty="0" smtClean="0">
                <a:solidFill>
                  <a:srgbClr val="000000"/>
                </a:solidFill>
                <a:latin typeface="Calibri" pitchFamily="34" charset="0"/>
                <a:cs typeface="Calibri" pitchFamily="34" charset="0"/>
              </a:rPr>
              <a:t>Calculate benchmarks</a:t>
            </a:r>
            <a:endParaRPr lang="en-US" sz="2000" b="0" dirty="0">
              <a:solidFill>
                <a:srgbClr val="000000"/>
              </a:solidFill>
              <a:latin typeface="Calibri" pitchFamily="34" charset="0"/>
              <a:cs typeface="Calibri" pitchFamily="34" charset="0"/>
            </a:endParaRPr>
          </a:p>
        </p:txBody>
      </p:sp>
      <p:sp>
        <p:nvSpPr>
          <p:cNvPr id="20489" name="Text Box 46"/>
          <p:cNvSpPr txBox="1">
            <a:spLocks noChangeArrowheads="1"/>
          </p:cNvSpPr>
          <p:nvPr/>
        </p:nvSpPr>
        <p:spPr bwMode="auto">
          <a:xfrm>
            <a:off x="76200" y="3704079"/>
            <a:ext cx="2632003" cy="480131"/>
          </a:xfrm>
          <a:prstGeom prst="rect">
            <a:avLst/>
          </a:prstGeom>
          <a:noFill/>
          <a:ln w="12700">
            <a:noFill/>
            <a:miter lim="800000"/>
            <a:headEnd type="none" w="sm" len="sm"/>
            <a:tailEnd type="none" w="sm" len="sm"/>
          </a:ln>
        </p:spPr>
        <p:txBody>
          <a:bodyPr wrap="none" anchor="ctr">
            <a:spAutoFit/>
          </a:bodyPr>
          <a:lstStyle/>
          <a:p>
            <a:pPr>
              <a:lnSpc>
                <a:spcPct val="90000"/>
              </a:lnSpc>
              <a:spcBef>
                <a:spcPct val="0"/>
              </a:spcBef>
            </a:pPr>
            <a:r>
              <a:rPr lang="en-US" sz="2800" dirty="0" smtClean="0">
                <a:solidFill>
                  <a:srgbClr val="0066FF"/>
                </a:solidFill>
                <a:latin typeface="Calibri" pitchFamily="34" charset="0"/>
                <a:cs typeface="Calibri" pitchFamily="34" charset="0"/>
              </a:rPr>
              <a:t>Execution Graph</a:t>
            </a:r>
            <a:endParaRPr lang="en-US" sz="2800" dirty="0">
              <a:solidFill>
                <a:srgbClr val="0066FF"/>
              </a:solidFill>
              <a:latin typeface="Calibri" pitchFamily="34" charset="0"/>
              <a:cs typeface="Calibri" pitchFamily="34" charset="0"/>
            </a:endParaRPr>
          </a:p>
        </p:txBody>
      </p:sp>
      <p:sp>
        <p:nvSpPr>
          <p:cNvPr id="3" name="TextBox 2"/>
          <p:cNvSpPr txBox="1"/>
          <p:nvPr/>
        </p:nvSpPr>
        <p:spPr>
          <a:xfrm>
            <a:off x="204850" y="5410200"/>
            <a:ext cx="3465252" cy="762645"/>
          </a:xfrm>
          <a:prstGeom prst="rect">
            <a:avLst/>
          </a:prstGeom>
          <a:noFill/>
        </p:spPr>
        <p:txBody>
          <a:bodyPr wrap="square" rtlCol="0" anchor="t" anchorCtr="0">
            <a:spAutoFit/>
          </a:bodyPr>
          <a:lstStyle/>
          <a:p>
            <a:r>
              <a:rPr lang="en-US" sz="1800" b="0" i="1" smtClean="0">
                <a:solidFill>
                  <a:schemeClr val="dk1"/>
                </a:solidFill>
                <a:effectLst/>
                <a:latin typeface="Calibri" pitchFamily="34" charset="0"/>
                <a:cs typeface="Calibri" pitchFamily="34" charset="0"/>
              </a:rPr>
              <a:t>Note:  more details on how to configure these tools in the next chapter…</a:t>
            </a:r>
          </a:p>
        </p:txBody>
      </p:sp>
      <p:pic>
        <p:nvPicPr>
          <p:cNvPr id="17"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pic>
        <p:nvPicPr>
          <p:cNvPr id="2050" name="Picture 2" descr="C:\Users\a0159877\AppData\Local\Temp\SNAGHTML175258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799" y="3810000"/>
            <a:ext cx="5734211" cy="284072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703831" y="6201539"/>
            <a:ext cx="928459" cy="249299"/>
          </a:xfrm>
          <a:prstGeom prst="rect">
            <a:avLst/>
          </a:prstGeom>
          <a:noFill/>
        </p:spPr>
        <p:txBody>
          <a:bodyPr wrap="none" rtlCol="0" anchor="ctr" anchorCtr="0">
            <a:spAutoFit/>
          </a:bodyPr>
          <a:lstStyle/>
          <a:p>
            <a:r>
              <a:rPr lang="en-US" sz="1200" b="0" smtClean="0">
                <a:solidFill>
                  <a:schemeClr val="dk1"/>
                </a:solidFill>
                <a:effectLst/>
                <a:latin typeface="Courier New" pitchFamily="49" charset="0"/>
                <a:cs typeface="Courier New" pitchFamily="49" charset="0"/>
              </a:rPr>
              <a:t>time(ms)</a:t>
            </a:r>
            <a:endParaRPr lang="en-US" sz="1200" b="0" dirty="0" smtClean="0">
              <a:solidFill>
                <a:schemeClr val="dk1"/>
              </a:solidFill>
              <a:effectLst/>
              <a:latin typeface="Courier New" pitchFamily="49" charset="0"/>
              <a:cs typeface="Courier New" pitchFamily="49" charset="0"/>
            </a:endParaRPr>
          </a:p>
        </p:txBody>
      </p:sp>
      <p:pic>
        <p:nvPicPr>
          <p:cNvPr id="2054" name="Picture 6" descr="C:\Users\a0159877\AppData\Local\Temp\SNAGHTML179cde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29619" y="656078"/>
            <a:ext cx="5761981" cy="223952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129145515"/>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533400" y="1219200"/>
            <a:ext cx="5105400" cy="4324922"/>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0"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11" action="ppaction://hlinksldjump"/>
          </p:cNvPr>
          <p:cNvSpPr txBox="1">
            <a:spLocks noChangeArrowheads="1"/>
          </p:cNvSpPr>
          <p:nvPr>
            <p:custDataLst>
              <p:tags r:id="rId2"/>
            </p:custDataLst>
          </p:nvPr>
        </p:nvSpPr>
        <p:spPr bwMode="auto">
          <a:xfrm>
            <a:off x="538802" y="137289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What is the TI-RTOS Kernel?</a:t>
            </a:r>
            <a:endParaRPr lang="en-US" dirty="0">
              <a:solidFill>
                <a:srgbClr val="000000"/>
              </a:solidFill>
            </a:endParaRPr>
          </a:p>
        </p:txBody>
      </p:sp>
      <p:sp>
        <p:nvSpPr>
          <p:cNvPr id="10" name="Text Box 4">
            <a:hlinkClick r:id="rId12" action="ppaction://hlinksldjump"/>
          </p:cNvPr>
          <p:cNvSpPr txBox="1">
            <a:spLocks noChangeArrowheads="1"/>
          </p:cNvSpPr>
          <p:nvPr>
            <p:custDataLst>
              <p:tags r:id="rId3"/>
            </p:custDataLst>
          </p:nvPr>
        </p:nvSpPr>
        <p:spPr bwMode="auto">
          <a:xfrm>
            <a:off x="538802" y="182520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Scheduler</a:t>
            </a:r>
            <a:endParaRPr lang="en-US" dirty="0">
              <a:solidFill>
                <a:srgbClr val="000000"/>
              </a:solidFill>
            </a:endParaRPr>
          </a:p>
        </p:txBody>
      </p:sp>
      <p:sp>
        <p:nvSpPr>
          <p:cNvPr id="11" name="Text Box 4">
            <a:hlinkClick r:id="rId13" action="ppaction://hlinksldjump"/>
          </p:cNvPr>
          <p:cNvSpPr txBox="1">
            <a:spLocks noChangeArrowheads="1"/>
          </p:cNvSpPr>
          <p:nvPr>
            <p:custDataLst>
              <p:tags r:id="rId4"/>
            </p:custDataLst>
          </p:nvPr>
        </p:nvSpPr>
        <p:spPr bwMode="auto">
          <a:xfrm>
            <a:off x="538802" y="2277520"/>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Adding Tasks…</a:t>
            </a:r>
            <a:endParaRPr lang="en-US" dirty="0">
              <a:solidFill>
                <a:srgbClr val="000000"/>
              </a:solidFill>
            </a:endParaRPr>
          </a:p>
        </p:txBody>
      </p:sp>
      <p:sp>
        <p:nvSpPr>
          <p:cNvPr id="12" name="Text Box 4">
            <a:hlinkClick r:id="rId14" action="ppaction://hlinksldjump"/>
          </p:cNvPr>
          <p:cNvSpPr txBox="1">
            <a:spLocks noChangeArrowheads="1"/>
          </p:cNvSpPr>
          <p:nvPr>
            <p:custDataLst>
              <p:tags r:id="rId5"/>
            </p:custDataLst>
          </p:nvPr>
        </p:nvSpPr>
        <p:spPr bwMode="auto">
          <a:xfrm>
            <a:off x="538802" y="2729834"/>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Environment</a:t>
            </a:r>
            <a:endParaRPr lang="en-US" dirty="0">
              <a:solidFill>
                <a:srgbClr val="000000"/>
              </a:solidFill>
            </a:endParaRPr>
          </a:p>
        </p:txBody>
      </p:sp>
      <p:sp>
        <p:nvSpPr>
          <p:cNvPr id="13" name="Text Box 4">
            <a:hlinkClick r:id="rId15" action="ppaction://hlinksldjump"/>
          </p:cNvPr>
          <p:cNvSpPr txBox="1">
            <a:spLocks noChangeArrowheads="1"/>
          </p:cNvSpPr>
          <p:nvPr>
            <p:custDataLst>
              <p:tags r:id="rId6"/>
            </p:custDataLst>
          </p:nvPr>
        </p:nvSpPr>
        <p:spPr bwMode="auto">
          <a:xfrm>
            <a:off x="538802" y="3182148"/>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Debugging Tools</a:t>
            </a:r>
            <a:endParaRPr lang="en-US" dirty="0">
              <a:solidFill>
                <a:srgbClr val="000000"/>
              </a:solidFill>
            </a:endParaRPr>
          </a:p>
        </p:txBody>
      </p:sp>
      <p:sp>
        <p:nvSpPr>
          <p:cNvPr id="14" name="Text Box 3">
            <a:hlinkClick r:id="rId16" action="ppaction://hlinksldjump"/>
          </p:cNvPr>
          <p:cNvSpPr txBox="1">
            <a:spLocks noChangeArrowheads="1"/>
          </p:cNvSpPr>
          <p:nvPr>
            <p:custDataLst>
              <p:tags r:id="rId7"/>
            </p:custDataLst>
          </p:nvPr>
        </p:nvSpPr>
        <p:spPr bwMode="auto">
          <a:xfrm>
            <a:off x="533400" y="3634462"/>
            <a:ext cx="5105400" cy="387798"/>
          </a:xfrm>
          <a:prstGeom prst="rect">
            <a:avLst/>
          </a:prstGeom>
          <a:solidFill>
            <a:schemeClr val="bg1"/>
          </a:solidFill>
          <a:ln w="19050">
            <a:solidFill>
              <a:schemeClr val="tx1"/>
            </a:solid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For More Info…</a:t>
            </a:r>
            <a:endParaRPr lang="en-US" dirty="0">
              <a:solidFill>
                <a:srgbClr val="000000"/>
              </a:solidFill>
            </a:endParaRPr>
          </a:p>
        </p:txBody>
      </p:sp>
      <p:sp>
        <p:nvSpPr>
          <p:cNvPr id="15" name="Text Box 4">
            <a:hlinkClick r:id="rId17" action="ppaction://hlinksldjump"/>
          </p:cNvPr>
          <p:cNvSpPr txBox="1">
            <a:spLocks noChangeArrowheads="1"/>
          </p:cNvSpPr>
          <p:nvPr>
            <p:custDataLst>
              <p:tags r:id="rId8"/>
            </p:custDataLst>
          </p:nvPr>
        </p:nvSpPr>
        <p:spPr bwMode="auto">
          <a:xfrm>
            <a:off x="538802" y="408677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Chapter Quiz</a:t>
            </a:r>
            <a:endParaRPr lang="en-US" dirty="0">
              <a:solidFill>
                <a:srgbClr val="000000"/>
              </a:solidFill>
            </a:endParaRPr>
          </a:p>
        </p:txBody>
      </p:sp>
    </p:spTree>
    <p:custDataLst>
      <p:tags r:id="rId1"/>
    </p:custDataLst>
    <p:extLst>
      <p:ext uri="{BB962C8B-B14F-4D97-AF65-F5344CB8AC3E}">
        <p14:creationId xmlns:p14="http://schemas.microsoft.com/office/powerpoint/2010/main" val="194457336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dirty="0" smtClean="0"/>
              <a:t>For More Information</a:t>
            </a:r>
          </a:p>
        </p:txBody>
      </p:sp>
      <p:sp>
        <p:nvSpPr>
          <p:cNvPr id="34822" name="TextBox 22"/>
          <p:cNvSpPr txBox="1">
            <a:spLocks noChangeArrowheads="1"/>
          </p:cNvSpPr>
          <p:nvPr/>
        </p:nvSpPr>
        <p:spPr bwMode="auto">
          <a:xfrm>
            <a:off x="76200" y="734500"/>
            <a:ext cx="8638134" cy="461665"/>
          </a:xfrm>
          <a:prstGeom prst="rect">
            <a:avLst/>
          </a:prstGeom>
          <a:noFill/>
          <a:ln w="9525">
            <a:noFill/>
            <a:miter lim="800000"/>
            <a:headEnd/>
            <a:tailEnd/>
          </a:ln>
        </p:spPr>
        <p:txBody>
          <a:bodyPr wrap="none">
            <a:spAutoFit/>
          </a:bodyPr>
          <a:lstStyle/>
          <a:p>
            <a:pPr marL="342900" indent="-342900" eaLnBrk="1" hangingPunct="1">
              <a:lnSpc>
                <a:spcPct val="100000"/>
              </a:lnSpc>
              <a:spcBef>
                <a:spcPct val="0"/>
              </a:spcBef>
              <a:buClr>
                <a:srgbClr val="0066FF"/>
              </a:buClr>
              <a:buSzPct val="75000"/>
              <a:buFont typeface="Wingdings" pitchFamily="2" charset="2"/>
              <a:buChar char=""/>
            </a:pPr>
            <a:r>
              <a:rPr lang="en-US" smtClean="0">
                <a:solidFill>
                  <a:schemeClr val="tx2"/>
                </a:solidFill>
                <a:latin typeface="Arial" pitchFamily="34" charset="0"/>
              </a:rPr>
              <a:t>TI-RTOS Kernel </a:t>
            </a:r>
            <a:r>
              <a:rPr lang="en-US" dirty="0" smtClean="0">
                <a:solidFill>
                  <a:schemeClr val="tx2"/>
                </a:solidFill>
                <a:latin typeface="Arial" pitchFamily="34" charset="0"/>
              </a:rPr>
              <a:t>Product Page </a:t>
            </a:r>
            <a:r>
              <a:rPr lang="en-US" dirty="0" smtClean="0">
                <a:solidFill>
                  <a:schemeClr val="tx2"/>
                </a:solidFill>
                <a:latin typeface="Courier New" pitchFamily="49" charset="0"/>
                <a:cs typeface="Courier New" pitchFamily="49" charset="0"/>
              </a:rPr>
              <a:t>(</a:t>
            </a:r>
            <a:r>
              <a:rPr lang="en-US" smtClean="0">
                <a:solidFill>
                  <a:schemeClr val="tx2"/>
                </a:solidFill>
                <a:latin typeface="Courier New" pitchFamily="49" charset="0"/>
                <a:cs typeface="Courier New" pitchFamily="49" charset="0"/>
              </a:rPr>
              <a:t>www.ti.com/sysbios)</a:t>
            </a:r>
            <a:endParaRPr lang="en-US" dirty="0">
              <a:solidFill>
                <a:srgbClr val="0066FF"/>
              </a:solidFill>
              <a:latin typeface="Courier New" pitchFamily="49" charset="0"/>
              <a:cs typeface="Courier New" pitchFamily="49" charset="0"/>
            </a:endParaRPr>
          </a:p>
        </p:txBody>
      </p:sp>
      <p:pic>
        <p:nvPicPr>
          <p:cNvPr id="9"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pic>
        <p:nvPicPr>
          <p:cNvPr id="2" name="Picture 2" descr="C:\Users\a0159877\AppData\Local\Temp\SNAGHTML1eb589.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1295400"/>
            <a:ext cx="8852538" cy="46482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dirty="0" smtClean="0"/>
              <a:t>For More Information (2)</a:t>
            </a:r>
          </a:p>
        </p:txBody>
      </p:sp>
      <p:sp>
        <p:nvSpPr>
          <p:cNvPr id="34822" name="TextBox 22"/>
          <p:cNvSpPr txBox="1">
            <a:spLocks noChangeArrowheads="1"/>
          </p:cNvSpPr>
          <p:nvPr/>
        </p:nvSpPr>
        <p:spPr bwMode="auto">
          <a:xfrm>
            <a:off x="76200" y="609600"/>
            <a:ext cx="3352200" cy="461665"/>
          </a:xfrm>
          <a:prstGeom prst="rect">
            <a:avLst/>
          </a:prstGeom>
          <a:noFill/>
          <a:ln w="9525">
            <a:noFill/>
            <a:miter lim="800000"/>
            <a:headEnd/>
            <a:tailEnd/>
          </a:ln>
        </p:spPr>
        <p:txBody>
          <a:bodyPr wrap="none">
            <a:spAutoFit/>
          </a:bodyPr>
          <a:lstStyle/>
          <a:p>
            <a:pPr marL="342900" indent="-342900" eaLnBrk="1" hangingPunct="1">
              <a:lnSpc>
                <a:spcPct val="100000"/>
              </a:lnSpc>
              <a:spcBef>
                <a:spcPct val="0"/>
              </a:spcBef>
              <a:buClr>
                <a:srgbClr val="0066FF"/>
              </a:buClr>
              <a:buSzPct val="75000"/>
              <a:buFont typeface="Wingdings" pitchFamily="2" charset="2"/>
              <a:buChar char=""/>
            </a:pPr>
            <a:r>
              <a:rPr lang="en-US" dirty="0" smtClean="0">
                <a:solidFill>
                  <a:schemeClr val="tx2"/>
                </a:solidFill>
                <a:latin typeface="Arial" pitchFamily="34" charset="0"/>
              </a:rPr>
              <a:t>CCS Help Contents</a:t>
            </a:r>
            <a:endParaRPr lang="en-US" dirty="0">
              <a:solidFill>
                <a:schemeClr val="tx2"/>
              </a:solidFill>
              <a:latin typeface="Arial" pitchFamily="34" charset="0"/>
            </a:endParaRPr>
          </a:p>
        </p:txBody>
      </p:sp>
      <p:pic>
        <p:nvPicPr>
          <p:cNvPr id="2050" name="Picture 2" descr="C:\Documents and Settings\a0159877\Desktop\SYSBIOS Snaps\extra\ccs_help.png"/>
          <p:cNvPicPr>
            <a:picLocks noChangeAspect="1" noChangeArrowheads="1"/>
          </p:cNvPicPr>
          <p:nvPr/>
        </p:nvPicPr>
        <p:blipFill>
          <a:blip r:embed="rId4" cstate="print"/>
          <a:srcRect/>
          <a:stretch>
            <a:fillRect/>
          </a:stretch>
        </p:blipFill>
        <p:spPr bwMode="auto">
          <a:xfrm>
            <a:off x="609600" y="1143000"/>
            <a:ext cx="2743200" cy="3359514"/>
          </a:xfrm>
          <a:prstGeom prst="rect">
            <a:avLst/>
          </a:prstGeom>
          <a:noFill/>
          <a:ln w="28575">
            <a:solidFill>
              <a:schemeClr val="tx1"/>
            </a:solidFill>
          </a:ln>
          <a:effectLst>
            <a:outerShdw blurRad="50800" dist="88900" dir="2700000" algn="tl" rotWithShape="0">
              <a:prstClr val="black">
                <a:alpha val="40000"/>
              </a:prstClr>
            </a:outerShdw>
          </a:effectLst>
        </p:spPr>
      </p:pic>
      <p:pic>
        <p:nvPicPr>
          <p:cNvPr id="2051" name="Picture 3" descr="C:\Documents and Settings\a0159877\Desktop\SYSBIOS Snaps\extra\help_APIs.png"/>
          <p:cNvPicPr>
            <a:picLocks noChangeAspect="1" noChangeArrowheads="1"/>
          </p:cNvPicPr>
          <p:nvPr/>
        </p:nvPicPr>
        <p:blipFill>
          <a:blip r:embed="rId5" cstate="print"/>
          <a:srcRect/>
          <a:stretch>
            <a:fillRect/>
          </a:stretch>
        </p:blipFill>
        <p:spPr bwMode="auto">
          <a:xfrm>
            <a:off x="3581400" y="762000"/>
            <a:ext cx="5334000" cy="5733787"/>
          </a:xfrm>
          <a:prstGeom prst="rect">
            <a:avLst/>
          </a:prstGeom>
          <a:noFill/>
          <a:ln w="28575">
            <a:solidFill>
              <a:schemeClr val="tx1"/>
            </a:solidFill>
          </a:ln>
          <a:effectLst>
            <a:outerShdw blurRad="50800" dist="76200" dir="2700000" algn="tl" rotWithShape="0">
              <a:prstClr val="black">
                <a:alpha val="40000"/>
              </a:prstClr>
            </a:outerShdw>
          </a:effectLst>
        </p:spPr>
      </p:pic>
      <p:sp>
        <p:nvSpPr>
          <p:cNvPr id="9" name="TextBox 8"/>
          <p:cNvSpPr txBox="1"/>
          <p:nvPr/>
        </p:nvSpPr>
        <p:spPr>
          <a:xfrm>
            <a:off x="685800" y="4683456"/>
            <a:ext cx="2600392" cy="738664"/>
          </a:xfrm>
          <a:prstGeom prst="rect">
            <a:avLst/>
          </a:prstGeom>
          <a:noFill/>
        </p:spPr>
        <p:txBody>
          <a:bodyPr wrap="none" rtlCol="0">
            <a:spAutoFit/>
          </a:bodyPr>
          <a:lstStyle/>
          <a:p>
            <a:pPr marL="177800" indent="-177800">
              <a:buFont typeface="Arial" pitchFamily="34" charset="0"/>
              <a:buChar char="•"/>
            </a:pPr>
            <a:r>
              <a:rPr lang="en-US" sz="2000" b="0" dirty="0" smtClean="0"/>
              <a:t>User Guides</a:t>
            </a:r>
          </a:p>
          <a:p>
            <a:pPr marL="177800" indent="-177800">
              <a:buFont typeface="Arial" pitchFamily="34" charset="0"/>
              <a:buChar char="•"/>
            </a:pPr>
            <a:r>
              <a:rPr lang="en-US" sz="2000" b="0" dirty="0" smtClean="0"/>
              <a:t>API Reference (</a:t>
            </a:r>
            <a:r>
              <a:rPr lang="en-US" sz="2000" b="0" dirty="0" err="1" smtClean="0"/>
              <a:t>knl</a:t>
            </a:r>
            <a:r>
              <a:rPr lang="en-US" sz="2000" b="0" dirty="0" smtClean="0"/>
              <a:t>)</a:t>
            </a:r>
            <a:endParaRPr lang="en-US" sz="2000" b="0" dirty="0"/>
          </a:p>
        </p:txBody>
      </p:sp>
      <p:cxnSp>
        <p:nvCxnSpPr>
          <p:cNvPr id="12" name="Straight Arrow Connector 11"/>
          <p:cNvCxnSpPr/>
          <p:nvPr/>
        </p:nvCxnSpPr>
        <p:spPr bwMode="auto">
          <a:xfrm rot="5400000" flipH="1" flipV="1">
            <a:off x="1981200" y="2057400"/>
            <a:ext cx="2057400" cy="2057400"/>
          </a:xfrm>
          <a:prstGeom prst="straightConnector1">
            <a:avLst/>
          </a:prstGeom>
          <a:solidFill>
            <a:schemeClr val="accent1"/>
          </a:solidFill>
          <a:ln w="28575" cap="flat" cmpd="sng" algn="ctr">
            <a:solidFill>
              <a:schemeClr val="tx1"/>
            </a:solidFill>
            <a:prstDash val="solid"/>
            <a:round/>
            <a:headEnd type="none" w="sm" len="sm"/>
            <a:tailEnd type="arrow"/>
          </a:ln>
          <a:effectLst/>
        </p:spPr>
      </p:cxnSp>
      <p:pic>
        <p:nvPicPr>
          <p:cNvPr id="13" name="Animated Logo" descr="tilogo_color_twoline.png"/>
          <p:cNvPicPr>
            <a:picLocks noChangeAspect="1"/>
          </p:cNvPicPr>
          <p:nvPr/>
        </p:nvPicPr>
        <p:blipFill>
          <a:blip r:embed="rId6" cstate="print"/>
          <a:stretch>
            <a:fillRect/>
          </a:stretch>
        </p:blipFill>
        <p:spPr>
          <a:xfrm>
            <a:off x="50800" y="6477000"/>
            <a:ext cx="1438537" cy="347443"/>
          </a:xfrm>
          <a:prstGeom prst="rect">
            <a:avLst/>
          </a:prstGeom>
        </p:spPr>
      </p:pic>
    </p:spTree>
    <p:custDataLst>
      <p:tags r:id="rId1"/>
    </p:custData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chemeClr val="accent2"/>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dirty="0" smtClean="0"/>
              <a:t>Download Latest Tools</a:t>
            </a:r>
          </a:p>
        </p:txBody>
      </p:sp>
      <p:sp>
        <p:nvSpPr>
          <p:cNvPr id="34822" name="TextBox 22"/>
          <p:cNvSpPr txBox="1">
            <a:spLocks noChangeArrowheads="1"/>
          </p:cNvSpPr>
          <p:nvPr/>
        </p:nvSpPr>
        <p:spPr bwMode="auto">
          <a:xfrm>
            <a:off x="304800" y="533400"/>
            <a:ext cx="4249497" cy="461665"/>
          </a:xfrm>
          <a:prstGeom prst="rect">
            <a:avLst/>
          </a:prstGeom>
          <a:noFill/>
          <a:ln w="9525">
            <a:noFill/>
            <a:miter lim="800000"/>
            <a:headEnd/>
            <a:tailEnd/>
          </a:ln>
        </p:spPr>
        <p:txBody>
          <a:bodyPr wrap="none">
            <a:spAutoFit/>
          </a:bodyPr>
          <a:lstStyle/>
          <a:p>
            <a:pPr marL="342900" indent="-342900" eaLnBrk="1" hangingPunct="1">
              <a:lnSpc>
                <a:spcPct val="100000"/>
              </a:lnSpc>
              <a:spcBef>
                <a:spcPct val="0"/>
              </a:spcBef>
              <a:buClr>
                <a:srgbClr val="0066FF"/>
              </a:buClr>
              <a:buSzPct val="75000"/>
              <a:buFont typeface="Wingdings" pitchFamily="2" charset="2"/>
              <a:buChar char=""/>
            </a:pPr>
            <a:r>
              <a:rPr lang="en-US" dirty="0" smtClean="0">
                <a:solidFill>
                  <a:schemeClr val="tx2"/>
                </a:solidFill>
                <a:latin typeface="Arial" pitchFamily="34" charset="0"/>
              </a:rPr>
              <a:t>Download Target Content</a:t>
            </a:r>
            <a:endParaRPr lang="en-US" dirty="0">
              <a:solidFill>
                <a:schemeClr val="tx2"/>
              </a:solidFill>
              <a:latin typeface="Arial" pitchFamily="34" charset="0"/>
            </a:endParaRPr>
          </a:p>
        </p:txBody>
      </p:sp>
      <p:sp>
        <p:nvSpPr>
          <p:cNvPr id="9" name="TextBox 8"/>
          <p:cNvSpPr txBox="1"/>
          <p:nvPr/>
        </p:nvSpPr>
        <p:spPr>
          <a:xfrm>
            <a:off x="6211601" y="2214265"/>
            <a:ext cx="1983235" cy="3268587"/>
          </a:xfrm>
          <a:prstGeom prst="rect">
            <a:avLst/>
          </a:prstGeom>
          <a:noFill/>
        </p:spPr>
        <p:txBody>
          <a:bodyPr wrap="none" rtlCol="0">
            <a:spAutoFit/>
          </a:bodyPr>
          <a:lstStyle/>
          <a:p>
            <a:pPr marL="342900" indent="-342900">
              <a:buClr>
                <a:schemeClr val="tx2"/>
              </a:buClr>
              <a:buSzPct val="75000"/>
              <a:buFont typeface="Wingdings"/>
              <a:buChar char=""/>
            </a:pPr>
            <a:r>
              <a:rPr lang="en-US" b="0" dirty="0" smtClean="0"/>
              <a:t>DSP/BIOS</a:t>
            </a:r>
          </a:p>
          <a:p>
            <a:pPr marL="342900" indent="-342900">
              <a:buClr>
                <a:schemeClr val="tx2"/>
              </a:buClr>
              <a:buSzPct val="75000"/>
              <a:buFont typeface="Wingdings"/>
              <a:buChar char=""/>
            </a:pPr>
            <a:r>
              <a:rPr lang="en-US" b="0" dirty="0" smtClean="0"/>
              <a:t>SYS/BIOS</a:t>
            </a:r>
          </a:p>
          <a:p>
            <a:pPr marL="342900" indent="-342900">
              <a:buClr>
                <a:schemeClr val="tx2"/>
              </a:buClr>
              <a:buSzPct val="75000"/>
              <a:buFont typeface="Wingdings"/>
              <a:buChar char=""/>
            </a:pPr>
            <a:r>
              <a:rPr lang="en-US" b="0" dirty="0" smtClean="0"/>
              <a:t>Utilities</a:t>
            </a:r>
          </a:p>
          <a:p>
            <a:pPr marL="342900" indent="-342900">
              <a:buClr>
                <a:schemeClr val="tx2"/>
              </a:buClr>
              <a:buSzPct val="75000"/>
              <a:buFont typeface="Wingdings"/>
              <a:buChar char=""/>
            </a:pPr>
            <a:r>
              <a:rPr lang="en-US" b="0" dirty="0" err="1" smtClean="0"/>
              <a:t>SysLink</a:t>
            </a:r>
            <a:endParaRPr lang="en-US" b="0" dirty="0" smtClean="0"/>
          </a:p>
          <a:p>
            <a:pPr marL="342900" indent="-342900">
              <a:buClr>
                <a:schemeClr val="tx2"/>
              </a:buClr>
              <a:buSzPct val="75000"/>
              <a:buFont typeface="Wingdings"/>
              <a:buChar char=""/>
            </a:pPr>
            <a:r>
              <a:rPr lang="en-US" b="0" dirty="0" smtClean="0"/>
              <a:t>DSP Link</a:t>
            </a:r>
          </a:p>
          <a:p>
            <a:pPr marL="342900" indent="-342900">
              <a:buClr>
                <a:schemeClr val="tx2"/>
              </a:buClr>
              <a:buSzPct val="75000"/>
              <a:buFont typeface="Wingdings"/>
              <a:buChar char=""/>
            </a:pPr>
            <a:r>
              <a:rPr lang="en-US" b="0" dirty="0" smtClean="0"/>
              <a:t>IPC</a:t>
            </a:r>
          </a:p>
          <a:p>
            <a:pPr marL="342900" indent="-342900">
              <a:buClr>
                <a:schemeClr val="tx2"/>
              </a:buClr>
              <a:buSzPct val="75000"/>
              <a:buFont typeface="Wingdings"/>
              <a:buChar char=""/>
            </a:pPr>
            <a:r>
              <a:rPr lang="en-US" b="0" dirty="0" smtClean="0"/>
              <a:t>Etc.</a:t>
            </a:r>
          </a:p>
        </p:txBody>
      </p:sp>
      <p:pic>
        <p:nvPicPr>
          <p:cNvPr id="4098" name="Picture 2" descr="C:\Documents and Settings\a0159877\Desktop\SYSBIOS Snaps\extra\Target_content.png"/>
          <p:cNvPicPr>
            <a:picLocks noChangeAspect="1" noChangeArrowheads="1"/>
          </p:cNvPicPr>
          <p:nvPr/>
        </p:nvPicPr>
        <p:blipFill>
          <a:blip r:embed="rId4" cstate="print"/>
          <a:srcRect/>
          <a:stretch>
            <a:fillRect/>
          </a:stretch>
        </p:blipFill>
        <p:spPr bwMode="auto">
          <a:xfrm>
            <a:off x="1639600" y="1454201"/>
            <a:ext cx="4380199" cy="5160056"/>
          </a:xfrm>
          <a:prstGeom prst="rect">
            <a:avLst/>
          </a:prstGeom>
          <a:noFill/>
          <a:ln w="28575">
            <a:solidFill>
              <a:schemeClr val="tx1"/>
            </a:solidFill>
          </a:ln>
          <a:effectLst>
            <a:outerShdw blurRad="50800" dist="88900" dir="2700000" algn="tl" rotWithShape="0">
              <a:prstClr val="black">
                <a:alpha val="40000"/>
              </a:prstClr>
            </a:outerShdw>
          </a:effectLst>
        </p:spPr>
      </p:pic>
      <p:sp>
        <p:nvSpPr>
          <p:cNvPr id="14" name="TextBox 13"/>
          <p:cNvSpPr txBox="1"/>
          <p:nvPr/>
        </p:nvSpPr>
        <p:spPr>
          <a:xfrm>
            <a:off x="787753" y="1003025"/>
            <a:ext cx="6481261" cy="338554"/>
          </a:xfrm>
          <a:prstGeom prst="rect">
            <a:avLst/>
          </a:prstGeom>
          <a:solidFill>
            <a:schemeClr val="accent1">
              <a:lumMod val="90000"/>
            </a:schemeClr>
          </a:solidFill>
        </p:spPr>
        <p:txBody>
          <a:bodyPr wrap="none" rtlCol="0">
            <a:spAutoFit/>
          </a:bodyPr>
          <a:lstStyle/>
          <a:p>
            <a:r>
              <a:rPr lang="en-US" sz="2000" b="0" dirty="0" smtClean="0">
                <a:latin typeface="Arial Narrow" pitchFamily="34" charset="0"/>
              </a:rPr>
              <a:t>http://software-dl.ti.com/dsps/dsps_public_sw/sdo_sb/targetcontent/</a:t>
            </a:r>
            <a:endParaRPr lang="en-US" sz="2000" b="0" dirty="0">
              <a:latin typeface="Arial Narrow" pitchFamily="34" charset="0"/>
            </a:endParaRPr>
          </a:p>
        </p:txBody>
      </p:sp>
      <p:pic>
        <p:nvPicPr>
          <p:cNvPr id="11" name="Animated Logo" descr="tilogo_color_twoline.png"/>
          <p:cNvPicPr>
            <a:picLocks noChangeAspect="1"/>
          </p:cNvPicPr>
          <p:nvPr/>
        </p:nvPicPr>
        <p:blipFill>
          <a:blip r:embed="rId5" cstate="print"/>
          <a:stretch>
            <a:fillRect/>
          </a:stretch>
        </p:blipFill>
        <p:spPr>
          <a:xfrm>
            <a:off x="50800" y="6477000"/>
            <a:ext cx="1438537" cy="347443"/>
          </a:xfrm>
          <a:prstGeom prst="rect">
            <a:avLst/>
          </a:prstGeom>
        </p:spPr>
      </p:pic>
    </p:spTree>
    <p:custDataLst>
      <p:tags r:id="rId1"/>
    </p:custData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533400" y="1219200"/>
            <a:ext cx="5105400" cy="4324922"/>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0"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11" action="ppaction://hlinksldjump"/>
          </p:cNvPr>
          <p:cNvSpPr txBox="1">
            <a:spLocks noChangeArrowheads="1"/>
          </p:cNvSpPr>
          <p:nvPr>
            <p:custDataLst>
              <p:tags r:id="rId2"/>
            </p:custDataLst>
          </p:nvPr>
        </p:nvSpPr>
        <p:spPr bwMode="auto">
          <a:xfrm>
            <a:off x="538802" y="137289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What is the TI-RTOS Kernel?</a:t>
            </a:r>
            <a:endParaRPr lang="en-US" dirty="0">
              <a:solidFill>
                <a:srgbClr val="000000"/>
              </a:solidFill>
            </a:endParaRPr>
          </a:p>
        </p:txBody>
      </p:sp>
      <p:sp>
        <p:nvSpPr>
          <p:cNvPr id="10" name="Text Box 4">
            <a:hlinkClick r:id="rId12" action="ppaction://hlinksldjump"/>
          </p:cNvPr>
          <p:cNvSpPr txBox="1">
            <a:spLocks noChangeArrowheads="1"/>
          </p:cNvSpPr>
          <p:nvPr>
            <p:custDataLst>
              <p:tags r:id="rId3"/>
            </p:custDataLst>
          </p:nvPr>
        </p:nvSpPr>
        <p:spPr bwMode="auto">
          <a:xfrm>
            <a:off x="538802" y="1825206"/>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Scheduler</a:t>
            </a:r>
            <a:endParaRPr lang="en-US" dirty="0">
              <a:solidFill>
                <a:srgbClr val="000000"/>
              </a:solidFill>
            </a:endParaRPr>
          </a:p>
        </p:txBody>
      </p:sp>
      <p:sp>
        <p:nvSpPr>
          <p:cNvPr id="11" name="Text Box 4">
            <a:hlinkClick r:id="rId13" action="ppaction://hlinksldjump"/>
          </p:cNvPr>
          <p:cNvSpPr txBox="1">
            <a:spLocks noChangeArrowheads="1"/>
          </p:cNvSpPr>
          <p:nvPr>
            <p:custDataLst>
              <p:tags r:id="rId4"/>
            </p:custDataLst>
          </p:nvPr>
        </p:nvSpPr>
        <p:spPr bwMode="auto">
          <a:xfrm>
            <a:off x="538802" y="2277520"/>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Adding Tasks…</a:t>
            </a:r>
            <a:endParaRPr lang="en-US" dirty="0">
              <a:solidFill>
                <a:srgbClr val="000000"/>
              </a:solidFill>
            </a:endParaRPr>
          </a:p>
        </p:txBody>
      </p:sp>
      <p:sp>
        <p:nvSpPr>
          <p:cNvPr id="12" name="Text Box 4">
            <a:hlinkClick r:id="rId14" action="ppaction://hlinksldjump"/>
          </p:cNvPr>
          <p:cNvSpPr txBox="1">
            <a:spLocks noChangeArrowheads="1"/>
          </p:cNvSpPr>
          <p:nvPr>
            <p:custDataLst>
              <p:tags r:id="rId5"/>
            </p:custDataLst>
          </p:nvPr>
        </p:nvSpPr>
        <p:spPr bwMode="auto">
          <a:xfrm>
            <a:off x="538802" y="2729834"/>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Environment</a:t>
            </a:r>
            <a:endParaRPr lang="en-US" dirty="0">
              <a:solidFill>
                <a:srgbClr val="000000"/>
              </a:solidFill>
            </a:endParaRPr>
          </a:p>
        </p:txBody>
      </p:sp>
      <p:sp>
        <p:nvSpPr>
          <p:cNvPr id="13" name="Text Box 4">
            <a:hlinkClick r:id="rId15" action="ppaction://hlinksldjump"/>
          </p:cNvPr>
          <p:cNvSpPr txBox="1">
            <a:spLocks noChangeArrowheads="1"/>
          </p:cNvSpPr>
          <p:nvPr>
            <p:custDataLst>
              <p:tags r:id="rId6"/>
            </p:custDataLst>
          </p:nvPr>
        </p:nvSpPr>
        <p:spPr bwMode="auto">
          <a:xfrm>
            <a:off x="538802" y="3182148"/>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BIOS Debugging Tools</a:t>
            </a:r>
            <a:endParaRPr lang="en-US" dirty="0">
              <a:solidFill>
                <a:srgbClr val="000000"/>
              </a:solidFill>
            </a:endParaRPr>
          </a:p>
        </p:txBody>
      </p:sp>
      <p:sp>
        <p:nvSpPr>
          <p:cNvPr id="14" name="Text Box 4">
            <a:hlinkClick r:id="rId16" action="ppaction://hlinksldjump"/>
          </p:cNvPr>
          <p:cNvSpPr txBox="1">
            <a:spLocks noChangeArrowheads="1"/>
          </p:cNvSpPr>
          <p:nvPr>
            <p:custDataLst>
              <p:tags r:id="rId7"/>
            </p:custDataLst>
          </p:nvPr>
        </p:nvSpPr>
        <p:spPr bwMode="auto">
          <a:xfrm>
            <a:off x="538802" y="3634462"/>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For More Info…</a:t>
            </a:r>
            <a:endParaRPr lang="en-US" dirty="0">
              <a:solidFill>
                <a:srgbClr val="000000"/>
              </a:solidFill>
            </a:endParaRPr>
          </a:p>
        </p:txBody>
      </p:sp>
      <p:sp>
        <p:nvSpPr>
          <p:cNvPr id="15" name="Text Box 3">
            <a:hlinkClick r:id="rId17" action="ppaction://hlinksldjump"/>
          </p:cNvPr>
          <p:cNvSpPr txBox="1">
            <a:spLocks noChangeArrowheads="1"/>
          </p:cNvSpPr>
          <p:nvPr>
            <p:custDataLst>
              <p:tags r:id="rId8"/>
            </p:custDataLst>
          </p:nvPr>
        </p:nvSpPr>
        <p:spPr bwMode="auto">
          <a:xfrm>
            <a:off x="533400" y="4086776"/>
            <a:ext cx="5105400" cy="387798"/>
          </a:xfrm>
          <a:prstGeom prst="rect">
            <a:avLst/>
          </a:prstGeom>
          <a:solidFill>
            <a:schemeClr val="bg1"/>
          </a:solidFill>
          <a:ln w="19050">
            <a:solidFill>
              <a:schemeClr val="tx1"/>
            </a:solid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Chapter Quiz</a:t>
            </a:r>
            <a:endParaRPr lang="en-US" dirty="0">
              <a:solidFill>
                <a:srgbClr val="000000"/>
              </a:solidFill>
            </a:endParaRPr>
          </a:p>
        </p:txBody>
      </p:sp>
    </p:spTree>
    <p:custDataLst>
      <p:tags r:id="rId1"/>
    </p:custDataLst>
    <p:extLst>
      <p:ext uri="{BB962C8B-B14F-4D97-AF65-F5344CB8AC3E}">
        <p14:creationId xmlns:p14="http://schemas.microsoft.com/office/powerpoint/2010/main" val="7370066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p:txBody>
          <a:bodyPr/>
          <a:lstStyle/>
          <a:p>
            <a:r>
              <a:rPr lang="en-US" smtClean="0"/>
              <a:t>Quiz – Block Diagram</a:t>
            </a:r>
            <a:endParaRPr lang="en-US" dirty="0" smtClean="0"/>
          </a:p>
        </p:txBody>
      </p:sp>
      <p:sp>
        <p:nvSpPr>
          <p:cNvPr id="2" name="Rectangle 1"/>
          <p:cNvSpPr/>
          <p:nvPr/>
        </p:nvSpPr>
        <p:spPr bwMode="auto">
          <a:xfrm>
            <a:off x="1170296" y="838200"/>
            <a:ext cx="2971800" cy="3726874"/>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lang="en-US" sz="2800" b="0">
              <a:solidFill>
                <a:schemeClr val="dk1"/>
              </a:solidFill>
              <a:latin typeface="Calibri" pitchFamily="34" charset="0"/>
              <a:cs typeface="Calibri" pitchFamily="34" charset="0"/>
            </a:endParaRPr>
          </a:p>
        </p:txBody>
      </p:sp>
      <p:sp>
        <p:nvSpPr>
          <p:cNvPr id="17" name="TextBox 16"/>
          <p:cNvSpPr txBox="1"/>
          <p:nvPr/>
        </p:nvSpPr>
        <p:spPr>
          <a:xfrm>
            <a:off x="3099573" y="1247775"/>
            <a:ext cx="1042523" cy="398979"/>
          </a:xfrm>
          <a:prstGeom prst="rect">
            <a:avLst/>
          </a:prstGeom>
          <a:solidFill>
            <a:schemeClr val="accent3">
              <a:lumMod val="20000"/>
              <a:lumOff val="80000"/>
            </a:schemeClr>
          </a:solidFill>
          <a:ln>
            <a:solidFill>
              <a:schemeClr val="tx1"/>
            </a:solidFill>
          </a:ln>
        </p:spPr>
        <p:txBody>
          <a:bodyPr wrap="square" rtlCol="0" anchor="ctr" anchorCtr="1">
            <a:noAutofit/>
          </a:bodyPr>
          <a:lstStyle/>
          <a:p>
            <a:pPr algn="ctr"/>
            <a:r>
              <a:rPr lang="en-US" sz="1800" b="0" smtClean="0">
                <a:solidFill>
                  <a:schemeClr val="dk1"/>
                </a:solidFill>
                <a:effectLst/>
              </a:rPr>
              <a:t>PWM P</a:t>
            </a:r>
          </a:p>
        </p:txBody>
      </p:sp>
      <p:sp>
        <p:nvSpPr>
          <p:cNvPr id="5" name="TextBox 4"/>
          <p:cNvSpPr txBox="1"/>
          <p:nvPr/>
        </p:nvSpPr>
        <p:spPr>
          <a:xfrm>
            <a:off x="2156686" y="878029"/>
            <a:ext cx="942887" cy="437043"/>
          </a:xfrm>
          <a:prstGeom prst="rect">
            <a:avLst/>
          </a:prstGeom>
          <a:noFill/>
        </p:spPr>
        <p:txBody>
          <a:bodyPr wrap="none" rtlCol="0" anchor="ctr" anchorCtr="0">
            <a:spAutoFit/>
          </a:bodyPr>
          <a:lstStyle/>
          <a:p>
            <a:r>
              <a:rPr lang="en-US" sz="2800" smtClean="0">
                <a:solidFill>
                  <a:schemeClr val="dk1"/>
                </a:solidFill>
                <a:effectLst/>
              </a:rPr>
              <a:t>CPU</a:t>
            </a:r>
            <a:endParaRPr lang="en-US" sz="2800" dirty="0" smtClean="0">
              <a:solidFill>
                <a:schemeClr val="dk1"/>
              </a:solidFill>
              <a:effectLst/>
            </a:endParaRPr>
          </a:p>
        </p:txBody>
      </p:sp>
      <p:sp>
        <p:nvSpPr>
          <p:cNvPr id="6" name="TextBox 5"/>
          <p:cNvSpPr txBox="1"/>
          <p:nvPr/>
        </p:nvSpPr>
        <p:spPr>
          <a:xfrm>
            <a:off x="0" y="1483082"/>
            <a:ext cx="899605" cy="1938992"/>
          </a:xfrm>
          <a:prstGeom prst="rect">
            <a:avLst/>
          </a:prstGeom>
          <a:noFill/>
        </p:spPr>
        <p:txBody>
          <a:bodyPr wrap="none" rtlCol="0" anchor="ctr" anchorCtr="0">
            <a:spAutoFit/>
          </a:bodyPr>
          <a:lstStyle/>
          <a:p>
            <a:pPr algn="r"/>
            <a:r>
              <a:rPr lang="en-US" sz="2000" b="0" smtClean="0">
                <a:solidFill>
                  <a:schemeClr val="dk1"/>
                </a:solidFill>
                <a:effectLst/>
                <a:latin typeface="Arial Narrow" pitchFamily="34" charset="0"/>
              </a:rPr>
              <a:t>Keypad</a:t>
            </a:r>
          </a:p>
          <a:p>
            <a:pPr algn="r"/>
            <a:endParaRPr lang="en-US" sz="2000" b="0">
              <a:solidFill>
                <a:schemeClr val="dk1"/>
              </a:solidFill>
              <a:latin typeface="Arial Narrow" pitchFamily="34" charset="0"/>
            </a:endParaRPr>
          </a:p>
          <a:p>
            <a:pPr algn="r"/>
            <a:r>
              <a:rPr lang="en-US" sz="2000" b="0" smtClean="0">
                <a:solidFill>
                  <a:schemeClr val="dk1"/>
                </a:solidFill>
                <a:effectLst/>
                <a:latin typeface="Arial Narrow" pitchFamily="34" charset="0"/>
              </a:rPr>
              <a:t>Host</a:t>
            </a:r>
          </a:p>
          <a:p>
            <a:pPr algn="r"/>
            <a:endParaRPr lang="en-US" sz="2000" b="0">
              <a:solidFill>
                <a:schemeClr val="dk1"/>
              </a:solidFill>
              <a:latin typeface="Arial Narrow" pitchFamily="34" charset="0"/>
            </a:endParaRPr>
          </a:p>
          <a:p>
            <a:pPr algn="r"/>
            <a:r>
              <a:rPr lang="en-US" sz="2000" b="0" smtClean="0">
                <a:solidFill>
                  <a:schemeClr val="dk1"/>
                </a:solidFill>
                <a:effectLst/>
                <a:latin typeface="Arial Narrow" pitchFamily="34" charset="0"/>
              </a:rPr>
              <a:t>LED</a:t>
            </a:r>
            <a:endParaRPr lang="en-US" sz="2000" b="0" dirty="0" smtClean="0">
              <a:solidFill>
                <a:schemeClr val="dk1"/>
              </a:solidFill>
              <a:effectLst/>
              <a:latin typeface="Arial Narrow" pitchFamily="34" charset="0"/>
            </a:endParaRPr>
          </a:p>
        </p:txBody>
      </p:sp>
      <p:cxnSp>
        <p:nvCxnSpPr>
          <p:cNvPr id="8" name="Straight Arrow Connector 7"/>
          <p:cNvCxnSpPr/>
          <p:nvPr/>
        </p:nvCxnSpPr>
        <p:spPr bwMode="auto">
          <a:xfrm>
            <a:off x="899605" y="1650026"/>
            <a:ext cx="278651" cy="0"/>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cxnSp>
        <p:nvCxnSpPr>
          <p:cNvPr id="23" name="Straight Arrow Connector 22"/>
          <p:cNvCxnSpPr/>
          <p:nvPr/>
        </p:nvCxnSpPr>
        <p:spPr bwMode="auto">
          <a:xfrm>
            <a:off x="899605" y="2452578"/>
            <a:ext cx="278651" cy="0"/>
          </a:xfrm>
          <a:prstGeom prst="straightConnector1">
            <a:avLst/>
          </a:prstGeom>
          <a:solidFill>
            <a:schemeClr val="accent1"/>
          </a:solidFill>
          <a:ln w="28575" cap="flat" cmpd="sng" algn="ctr">
            <a:solidFill>
              <a:schemeClr val="tx1"/>
            </a:solidFill>
            <a:prstDash val="solid"/>
            <a:round/>
            <a:headEnd type="triangle" w="med" len="med"/>
            <a:tailEnd type="triangle" w="med" len="med"/>
          </a:ln>
          <a:effectLst/>
        </p:spPr>
      </p:cxnSp>
      <p:cxnSp>
        <p:nvCxnSpPr>
          <p:cNvPr id="24" name="Straight Arrow Connector 23"/>
          <p:cNvCxnSpPr/>
          <p:nvPr/>
        </p:nvCxnSpPr>
        <p:spPr bwMode="auto">
          <a:xfrm>
            <a:off x="899605" y="3220770"/>
            <a:ext cx="278651" cy="0"/>
          </a:xfrm>
          <a:prstGeom prst="straightConnector1">
            <a:avLst/>
          </a:prstGeom>
          <a:solidFill>
            <a:schemeClr val="accent1"/>
          </a:solidFill>
          <a:ln w="28575" cap="flat" cmpd="sng" algn="ctr">
            <a:solidFill>
              <a:schemeClr val="tx1"/>
            </a:solidFill>
            <a:prstDash val="solid"/>
            <a:round/>
            <a:headEnd type="triangle" w="med" len="med"/>
            <a:tailEnd type="none" w="med" len="med"/>
          </a:ln>
          <a:effectLst/>
        </p:spPr>
      </p:cxnSp>
      <p:sp>
        <p:nvSpPr>
          <p:cNvPr id="9" name="Flowchart: Direct Access Storage 8"/>
          <p:cNvSpPr/>
          <p:nvPr/>
        </p:nvSpPr>
        <p:spPr bwMode="auto">
          <a:xfrm>
            <a:off x="6580496" y="2402423"/>
            <a:ext cx="1600200" cy="714851"/>
          </a:xfrm>
          <a:prstGeom prst="flowChartMagneticDrum">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2000" b="1" i="0" u="none" strike="noStrike" cap="none" normalizeH="0" baseline="0" smtClean="0">
                <a:ln>
                  <a:noFill/>
                </a:ln>
                <a:solidFill>
                  <a:schemeClr val="dk1"/>
                </a:solidFill>
                <a:effectLst/>
                <a:latin typeface="Arial Narrow" pitchFamily="34" charset="0"/>
              </a:rPr>
              <a:t>Motor</a:t>
            </a:r>
            <a:endParaRPr kumimoji="0" lang="en-US" sz="2000" b="1" i="0" u="none" strike="noStrike" cap="none" normalizeH="0" baseline="0" dirty="0" smtClean="0">
              <a:ln>
                <a:noFill/>
              </a:ln>
              <a:solidFill>
                <a:schemeClr val="dk1"/>
              </a:solidFill>
              <a:effectLst/>
              <a:latin typeface="Arial Narrow" pitchFamily="34" charset="0"/>
            </a:endParaRPr>
          </a:p>
        </p:txBody>
      </p:sp>
      <p:sp>
        <p:nvSpPr>
          <p:cNvPr id="10" name="Pentagon 9"/>
          <p:cNvSpPr/>
          <p:nvPr/>
        </p:nvSpPr>
        <p:spPr bwMode="auto">
          <a:xfrm>
            <a:off x="4751696" y="1337378"/>
            <a:ext cx="1104900" cy="609600"/>
          </a:xfrm>
          <a:prstGeom prst="homePlate">
            <a:avLst/>
          </a:prstGeom>
          <a:solidFill>
            <a:schemeClr val="accent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2000" b="0" i="0" u="none" strike="noStrike" cap="none" normalizeH="0" baseline="0" smtClean="0">
                <a:ln>
                  <a:noFill/>
                </a:ln>
                <a:solidFill>
                  <a:schemeClr val="dk1"/>
                </a:solidFill>
                <a:effectLst/>
                <a:latin typeface="Arial Narrow" pitchFamily="34" charset="0"/>
              </a:rPr>
              <a:t>Bridge</a:t>
            </a:r>
            <a:endParaRPr kumimoji="0" lang="en-US" sz="2000" b="0" i="0" u="none" strike="noStrike" cap="none" normalizeH="0" baseline="0" dirty="0" smtClean="0">
              <a:ln>
                <a:noFill/>
              </a:ln>
              <a:solidFill>
                <a:schemeClr val="dk1"/>
              </a:solidFill>
              <a:effectLst/>
              <a:latin typeface="Arial Narrow" pitchFamily="34" charset="0"/>
            </a:endParaRPr>
          </a:p>
        </p:txBody>
      </p:sp>
      <p:sp>
        <p:nvSpPr>
          <p:cNvPr id="13" name="Rounded Rectangle 12"/>
          <p:cNvSpPr/>
          <p:nvPr/>
        </p:nvSpPr>
        <p:spPr bwMode="auto">
          <a:xfrm>
            <a:off x="4751696" y="3578113"/>
            <a:ext cx="1028700" cy="609600"/>
          </a:xfrm>
          <a:prstGeom prst="roundRect">
            <a:avLst/>
          </a:prstGeom>
          <a:solidFill>
            <a:schemeClr val="accent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2000" b="0" i="0" u="none" strike="noStrike" cap="none" normalizeH="0" baseline="0" smtClean="0">
                <a:ln>
                  <a:noFill/>
                </a:ln>
                <a:solidFill>
                  <a:schemeClr val="dk1"/>
                </a:solidFill>
                <a:effectLst/>
                <a:latin typeface="Arial Narrow" pitchFamily="34" charset="0"/>
              </a:rPr>
              <a:t>Sensors</a:t>
            </a:r>
            <a:endParaRPr kumimoji="0" lang="en-US" sz="2000" b="0" i="0" u="none" strike="noStrike" cap="none" normalizeH="0" baseline="0" dirty="0" smtClean="0">
              <a:ln>
                <a:noFill/>
              </a:ln>
              <a:solidFill>
                <a:schemeClr val="dk1"/>
              </a:solidFill>
              <a:effectLst/>
              <a:latin typeface="Arial Narrow" pitchFamily="34" charset="0"/>
            </a:endParaRPr>
          </a:p>
        </p:txBody>
      </p:sp>
      <p:cxnSp>
        <p:nvCxnSpPr>
          <p:cNvPr id="7181" name="Straight Connector 7180"/>
          <p:cNvCxnSpPr/>
          <p:nvPr/>
        </p:nvCxnSpPr>
        <p:spPr bwMode="auto">
          <a:xfrm>
            <a:off x="5780396" y="1487220"/>
            <a:ext cx="1714500" cy="0"/>
          </a:xfrm>
          <a:prstGeom prst="line">
            <a:avLst/>
          </a:prstGeom>
          <a:solidFill>
            <a:schemeClr val="accent1"/>
          </a:solidFill>
          <a:ln w="28575" cap="flat" cmpd="sng" algn="ctr">
            <a:solidFill>
              <a:schemeClr val="tx1"/>
            </a:solidFill>
            <a:prstDash val="solid"/>
            <a:round/>
            <a:headEnd type="none" w="sm" len="sm"/>
            <a:tailEnd type="none" w="sm" len="sm"/>
          </a:ln>
          <a:effectLst/>
        </p:spPr>
      </p:cxnSp>
      <p:cxnSp>
        <p:nvCxnSpPr>
          <p:cNvPr id="7183" name="Straight Connector 7182"/>
          <p:cNvCxnSpPr/>
          <p:nvPr/>
        </p:nvCxnSpPr>
        <p:spPr bwMode="auto">
          <a:xfrm>
            <a:off x="7494896" y="1486923"/>
            <a:ext cx="0" cy="915500"/>
          </a:xfrm>
          <a:prstGeom prst="line">
            <a:avLst/>
          </a:prstGeom>
          <a:solidFill>
            <a:schemeClr val="accent1"/>
          </a:solidFill>
          <a:ln w="28575" cap="flat" cmpd="sng" algn="ctr">
            <a:solidFill>
              <a:schemeClr val="tx1"/>
            </a:solidFill>
            <a:prstDash val="solid"/>
            <a:round/>
            <a:headEnd type="none" w="med" len="med"/>
            <a:tailEnd type="triangle" w="med" len="med"/>
          </a:ln>
          <a:effectLst/>
        </p:spPr>
      </p:cxnSp>
      <p:cxnSp>
        <p:nvCxnSpPr>
          <p:cNvPr id="51" name="Straight Connector 50"/>
          <p:cNvCxnSpPr/>
          <p:nvPr/>
        </p:nvCxnSpPr>
        <p:spPr bwMode="auto">
          <a:xfrm>
            <a:off x="5780396" y="1826012"/>
            <a:ext cx="1333500" cy="0"/>
          </a:xfrm>
          <a:prstGeom prst="line">
            <a:avLst/>
          </a:prstGeom>
          <a:solidFill>
            <a:schemeClr val="accent1"/>
          </a:solidFill>
          <a:ln w="28575" cap="flat" cmpd="sng" algn="ctr">
            <a:solidFill>
              <a:schemeClr val="tx1"/>
            </a:solidFill>
            <a:prstDash val="solid"/>
            <a:round/>
            <a:headEnd type="none" w="sm" len="sm"/>
            <a:tailEnd type="none" w="sm" len="sm"/>
          </a:ln>
          <a:effectLst/>
        </p:spPr>
      </p:cxnSp>
      <p:cxnSp>
        <p:nvCxnSpPr>
          <p:cNvPr id="53" name="Straight Connector 52"/>
          <p:cNvCxnSpPr/>
          <p:nvPr/>
        </p:nvCxnSpPr>
        <p:spPr bwMode="auto">
          <a:xfrm>
            <a:off x="7116326" y="1821874"/>
            <a:ext cx="0" cy="580549"/>
          </a:xfrm>
          <a:prstGeom prst="line">
            <a:avLst/>
          </a:prstGeom>
          <a:solidFill>
            <a:schemeClr val="accent1"/>
          </a:solidFill>
          <a:ln w="28575" cap="flat" cmpd="sng" algn="ctr">
            <a:solidFill>
              <a:schemeClr val="tx1"/>
            </a:solidFill>
            <a:prstDash val="solid"/>
            <a:round/>
            <a:headEnd type="none" w="med" len="med"/>
            <a:tailEnd type="triangle" w="med" len="med"/>
          </a:ln>
          <a:effectLst/>
        </p:spPr>
      </p:cxnSp>
      <p:sp>
        <p:nvSpPr>
          <p:cNvPr id="7187" name="TextBox 7186"/>
          <p:cNvSpPr txBox="1"/>
          <p:nvPr/>
        </p:nvSpPr>
        <p:spPr>
          <a:xfrm>
            <a:off x="5993931" y="1222907"/>
            <a:ext cx="859531" cy="313932"/>
          </a:xfrm>
          <a:prstGeom prst="rect">
            <a:avLst/>
          </a:prstGeom>
          <a:noFill/>
        </p:spPr>
        <p:txBody>
          <a:bodyPr wrap="none" rtlCol="0" anchor="ctr" anchorCtr="0">
            <a:spAutoFit/>
          </a:bodyPr>
          <a:lstStyle/>
          <a:p>
            <a:r>
              <a:rPr lang="en-US" sz="1800" b="0" i="1" smtClean="0">
                <a:solidFill>
                  <a:schemeClr val="dk1"/>
                </a:solidFill>
                <a:effectLst/>
                <a:latin typeface="Arial Narrow" pitchFamily="34" charset="0"/>
              </a:rPr>
              <a:t>Position</a:t>
            </a:r>
            <a:endParaRPr lang="en-US" sz="1800" b="0" i="1" dirty="0" smtClean="0">
              <a:solidFill>
                <a:schemeClr val="dk1"/>
              </a:solidFill>
              <a:effectLst/>
              <a:latin typeface="Arial Narrow" pitchFamily="34" charset="0"/>
            </a:endParaRPr>
          </a:p>
        </p:txBody>
      </p:sp>
      <p:sp>
        <p:nvSpPr>
          <p:cNvPr id="56" name="TextBox 55"/>
          <p:cNvSpPr txBox="1"/>
          <p:nvPr/>
        </p:nvSpPr>
        <p:spPr>
          <a:xfrm>
            <a:off x="5993931" y="1821874"/>
            <a:ext cx="734496" cy="313932"/>
          </a:xfrm>
          <a:prstGeom prst="rect">
            <a:avLst/>
          </a:prstGeom>
          <a:noFill/>
        </p:spPr>
        <p:txBody>
          <a:bodyPr wrap="none" rtlCol="0" anchor="ctr" anchorCtr="0">
            <a:spAutoFit/>
          </a:bodyPr>
          <a:lstStyle/>
          <a:p>
            <a:r>
              <a:rPr lang="en-US" sz="1800" b="0" i="1" smtClean="0">
                <a:solidFill>
                  <a:schemeClr val="dk1"/>
                </a:solidFill>
                <a:latin typeface="Arial Narrow" pitchFamily="34" charset="0"/>
              </a:rPr>
              <a:t>Speed</a:t>
            </a:r>
            <a:endParaRPr lang="en-US" sz="1800" b="0" i="1" dirty="0" smtClean="0">
              <a:solidFill>
                <a:schemeClr val="dk1"/>
              </a:solidFill>
              <a:effectLst/>
              <a:latin typeface="Arial Narrow" pitchFamily="34" charset="0"/>
            </a:endParaRPr>
          </a:p>
        </p:txBody>
      </p:sp>
      <p:cxnSp>
        <p:nvCxnSpPr>
          <p:cNvPr id="57" name="Straight Connector 56"/>
          <p:cNvCxnSpPr/>
          <p:nvPr/>
        </p:nvCxnSpPr>
        <p:spPr bwMode="auto">
          <a:xfrm>
            <a:off x="5780396" y="3722347"/>
            <a:ext cx="1333500" cy="0"/>
          </a:xfrm>
          <a:prstGeom prst="line">
            <a:avLst/>
          </a:prstGeom>
          <a:solidFill>
            <a:schemeClr val="accent1"/>
          </a:solidFill>
          <a:ln w="28575" cap="flat" cmpd="sng" algn="ctr">
            <a:solidFill>
              <a:schemeClr val="tx1"/>
            </a:solidFill>
            <a:prstDash val="solid"/>
            <a:round/>
            <a:headEnd type="triangle" w="med" len="med"/>
            <a:tailEnd type="none" w="med" len="med"/>
          </a:ln>
          <a:effectLst/>
        </p:spPr>
      </p:cxnSp>
      <p:cxnSp>
        <p:nvCxnSpPr>
          <p:cNvPr id="58" name="Straight Connector 57"/>
          <p:cNvCxnSpPr/>
          <p:nvPr/>
        </p:nvCxnSpPr>
        <p:spPr bwMode="auto">
          <a:xfrm>
            <a:off x="7116326" y="3104964"/>
            <a:ext cx="0" cy="62191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9" name="Straight Connector 58"/>
          <p:cNvCxnSpPr/>
          <p:nvPr/>
        </p:nvCxnSpPr>
        <p:spPr bwMode="auto">
          <a:xfrm>
            <a:off x="7490369" y="3104964"/>
            <a:ext cx="0" cy="9155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60" name="Straight Connector 59"/>
          <p:cNvCxnSpPr/>
          <p:nvPr/>
        </p:nvCxnSpPr>
        <p:spPr bwMode="auto">
          <a:xfrm>
            <a:off x="5780396" y="4026841"/>
            <a:ext cx="1714500" cy="0"/>
          </a:xfrm>
          <a:prstGeom prst="line">
            <a:avLst/>
          </a:prstGeom>
          <a:solidFill>
            <a:schemeClr val="accent1"/>
          </a:solidFill>
          <a:ln w="28575" cap="flat" cmpd="sng" algn="ctr">
            <a:solidFill>
              <a:schemeClr val="tx1"/>
            </a:solidFill>
            <a:prstDash val="solid"/>
            <a:round/>
            <a:headEnd type="triangle" w="med" len="med"/>
            <a:tailEnd type="none" w="med" len="med"/>
          </a:ln>
          <a:effectLst/>
        </p:spPr>
      </p:cxnSp>
      <p:cxnSp>
        <p:nvCxnSpPr>
          <p:cNvPr id="62" name="Straight Connector 61"/>
          <p:cNvCxnSpPr/>
          <p:nvPr/>
        </p:nvCxnSpPr>
        <p:spPr bwMode="auto">
          <a:xfrm>
            <a:off x="4142096" y="3722347"/>
            <a:ext cx="609600" cy="0"/>
          </a:xfrm>
          <a:prstGeom prst="line">
            <a:avLst/>
          </a:prstGeom>
          <a:solidFill>
            <a:schemeClr val="accent1"/>
          </a:solidFill>
          <a:ln w="28575" cap="flat" cmpd="sng" algn="ctr">
            <a:solidFill>
              <a:schemeClr val="tx1"/>
            </a:solidFill>
            <a:prstDash val="solid"/>
            <a:round/>
            <a:headEnd type="triangle" w="med" len="med"/>
            <a:tailEnd type="none" w="med" len="med"/>
          </a:ln>
          <a:effectLst/>
        </p:spPr>
      </p:cxnSp>
      <p:cxnSp>
        <p:nvCxnSpPr>
          <p:cNvPr id="63" name="Straight Connector 62"/>
          <p:cNvCxnSpPr/>
          <p:nvPr/>
        </p:nvCxnSpPr>
        <p:spPr bwMode="auto">
          <a:xfrm>
            <a:off x="4142096" y="4026841"/>
            <a:ext cx="609600" cy="0"/>
          </a:xfrm>
          <a:prstGeom prst="line">
            <a:avLst/>
          </a:prstGeom>
          <a:solidFill>
            <a:schemeClr val="accent1"/>
          </a:solidFill>
          <a:ln w="28575" cap="flat" cmpd="sng" algn="ctr">
            <a:solidFill>
              <a:schemeClr val="tx1"/>
            </a:solidFill>
            <a:prstDash val="solid"/>
            <a:round/>
            <a:headEnd type="triangle" w="med" len="med"/>
            <a:tailEnd type="none" w="med" len="med"/>
          </a:ln>
          <a:effectLst/>
        </p:spPr>
      </p:cxnSp>
      <p:cxnSp>
        <p:nvCxnSpPr>
          <p:cNvPr id="66" name="Straight Connector 65"/>
          <p:cNvCxnSpPr/>
          <p:nvPr/>
        </p:nvCxnSpPr>
        <p:spPr bwMode="auto">
          <a:xfrm>
            <a:off x="4142096" y="1499095"/>
            <a:ext cx="609600" cy="0"/>
          </a:xfrm>
          <a:prstGeom prst="line">
            <a:avLst/>
          </a:prstGeom>
          <a:solidFill>
            <a:schemeClr val="accent1"/>
          </a:solidFill>
          <a:ln w="28575" cap="flat" cmpd="sng" algn="ctr">
            <a:solidFill>
              <a:schemeClr val="tx1"/>
            </a:solidFill>
            <a:prstDash val="solid"/>
            <a:round/>
            <a:headEnd type="none" w="med" len="med"/>
            <a:tailEnd type="triangle" w="med" len="med"/>
          </a:ln>
          <a:effectLst/>
        </p:spPr>
      </p:cxnSp>
      <p:cxnSp>
        <p:nvCxnSpPr>
          <p:cNvPr id="67" name="Straight Connector 66"/>
          <p:cNvCxnSpPr/>
          <p:nvPr/>
        </p:nvCxnSpPr>
        <p:spPr bwMode="auto">
          <a:xfrm>
            <a:off x="4142096" y="1803589"/>
            <a:ext cx="609600" cy="0"/>
          </a:xfrm>
          <a:prstGeom prst="line">
            <a:avLst/>
          </a:prstGeom>
          <a:solidFill>
            <a:schemeClr val="accent1"/>
          </a:solidFill>
          <a:ln w="28575" cap="flat" cmpd="sng" algn="ctr">
            <a:solidFill>
              <a:schemeClr val="tx1"/>
            </a:solidFill>
            <a:prstDash val="solid"/>
            <a:round/>
            <a:headEnd type="none" w="med" len="med"/>
            <a:tailEnd type="triangle" w="med" len="med"/>
          </a:ln>
          <a:effectLst/>
        </p:spPr>
      </p:cxnSp>
      <p:sp>
        <p:nvSpPr>
          <p:cNvPr id="69" name="Oval 68"/>
          <p:cNvSpPr/>
          <p:nvPr/>
        </p:nvSpPr>
        <p:spPr bwMode="auto">
          <a:xfrm>
            <a:off x="1469121" y="3619864"/>
            <a:ext cx="1066800" cy="838200"/>
          </a:xfrm>
          <a:prstGeom prst="ellipse">
            <a:avLst/>
          </a:prstGeom>
          <a:solidFill>
            <a:schemeClr val="accent5">
              <a:lumMod val="20000"/>
              <a:lumOff val="80000"/>
            </a:schemeClr>
          </a:solidFill>
          <a:ln w="12700" cap="flat" cmpd="sng" algn="ctr">
            <a:solidFill>
              <a:schemeClr val="tx1"/>
            </a:solidFill>
            <a:prstDash val="dash"/>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sz="2000" b="0" i="0" u="none" strike="noStrike" cap="none" normalizeH="0" baseline="0" smtClean="0">
                <a:ln>
                  <a:noFill/>
                </a:ln>
                <a:solidFill>
                  <a:schemeClr val="dk1"/>
                </a:solidFill>
                <a:effectLst/>
                <a:latin typeface="Arial Narrow" pitchFamily="34" charset="0"/>
              </a:rPr>
              <a:t>Sys</a:t>
            </a:r>
            <a:br>
              <a:rPr kumimoji="0" lang="en-US" sz="2000" b="0" i="0" u="none" strike="noStrike" cap="none" normalizeH="0" baseline="0" smtClean="0">
                <a:ln>
                  <a:noFill/>
                </a:ln>
                <a:solidFill>
                  <a:schemeClr val="dk1"/>
                </a:solidFill>
                <a:effectLst/>
                <a:latin typeface="Arial Narrow" pitchFamily="34" charset="0"/>
              </a:rPr>
            </a:br>
            <a:r>
              <a:rPr kumimoji="0" lang="en-US" sz="2000" b="0" i="0" u="none" strike="noStrike" cap="none" normalizeH="0" baseline="0" smtClean="0">
                <a:ln>
                  <a:noFill/>
                </a:ln>
                <a:solidFill>
                  <a:schemeClr val="dk1"/>
                </a:solidFill>
                <a:effectLst/>
                <a:latin typeface="Arial Narrow" pitchFamily="34" charset="0"/>
              </a:rPr>
              <a:t>Maint</a:t>
            </a:r>
            <a:endParaRPr kumimoji="0" lang="en-US" sz="2000" b="0" i="0" u="none" strike="noStrike" cap="none" normalizeH="0" baseline="0" dirty="0" smtClean="0">
              <a:ln>
                <a:noFill/>
              </a:ln>
              <a:solidFill>
                <a:schemeClr val="dk1"/>
              </a:solidFill>
              <a:effectLst/>
              <a:latin typeface="Arial Narrow" pitchFamily="34" charset="0"/>
            </a:endParaRPr>
          </a:p>
        </p:txBody>
      </p:sp>
      <p:sp>
        <p:nvSpPr>
          <p:cNvPr id="7192" name="TextBox 7191"/>
          <p:cNvSpPr txBox="1"/>
          <p:nvPr/>
        </p:nvSpPr>
        <p:spPr>
          <a:xfrm>
            <a:off x="153401" y="4806936"/>
            <a:ext cx="4494799" cy="1926681"/>
          </a:xfrm>
          <a:prstGeom prst="rect">
            <a:avLst/>
          </a:prstGeom>
          <a:noFill/>
        </p:spPr>
        <p:txBody>
          <a:bodyPr wrap="square" rtlCol="0" anchor="ctr" anchorCtr="0">
            <a:spAutoFit/>
          </a:bodyPr>
          <a:lstStyle/>
          <a:p>
            <a:pPr>
              <a:buClr>
                <a:schemeClr val="tx2"/>
              </a:buClr>
              <a:buSzPct val="75000"/>
            </a:pPr>
            <a:r>
              <a:rPr lang="en-US" smtClean="0">
                <a:solidFill>
                  <a:schemeClr val="dk1"/>
                </a:solidFill>
                <a:effectLst/>
                <a:latin typeface="Calibri" pitchFamily="34" charset="0"/>
                <a:cs typeface="Calibri" pitchFamily="34" charset="0"/>
              </a:rPr>
              <a:t>Basic Motor Control System</a:t>
            </a:r>
          </a:p>
          <a:p>
            <a:pPr marL="342900" indent="-342900">
              <a:buClr>
                <a:schemeClr val="tx2"/>
              </a:buClr>
              <a:buSzPct val="75000"/>
              <a:buFont typeface="Wingdings"/>
              <a:buChar char=""/>
            </a:pPr>
            <a:r>
              <a:rPr lang="en-US" sz="2000" b="0" smtClean="0">
                <a:solidFill>
                  <a:schemeClr val="dk1"/>
                </a:solidFill>
                <a:latin typeface="Calibri" pitchFamily="34" charset="0"/>
                <a:cs typeface="Calibri" pitchFamily="34" charset="0"/>
              </a:rPr>
              <a:t>Goal – Control motor speed/position via PID algo based on ADC info and output control to PWM</a:t>
            </a:r>
          </a:p>
          <a:p>
            <a:pPr marL="342900" indent="-342900">
              <a:buClr>
                <a:schemeClr val="tx2"/>
              </a:buClr>
              <a:buSzPct val="75000"/>
              <a:buFont typeface="Wingdings"/>
              <a:buChar char=""/>
            </a:pPr>
            <a:r>
              <a:rPr lang="en-US" sz="2000" b="0" smtClean="0">
                <a:solidFill>
                  <a:schemeClr val="dk1"/>
                </a:solidFill>
                <a:effectLst/>
                <a:latin typeface="Calibri" pitchFamily="34" charset="0"/>
                <a:cs typeface="Calibri" pitchFamily="34" charset="0"/>
              </a:rPr>
              <a:t>Other services include: </a:t>
            </a:r>
            <a:r>
              <a:rPr lang="en-US" sz="2000" b="0" i="1" smtClean="0">
                <a:solidFill>
                  <a:schemeClr val="dk1"/>
                </a:solidFill>
                <a:effectLst/>
                <a:latin typeface="Calibri" pitchFamily="34" charset="0"/>
                <a:cs typeface="Calibri" pitchFamily="34" charset="0"/>
              </a:rPr>
              <a:t>Keypad, LED, Host, System Maintenance</a:t>
            </a:r>
            <a:endParaRPr lang="en-US" sz="2000" b="0" i="1" dirty="0" smtClean="0">
              <a:solidFill>
                <a:schemeClr val="dk1"/>
              </a:solidFill>
              <a:effectLst/>
              <a:latin typeface="Calibri" pitchFamily="34" charset="0"/>
              <a:cs typeface="Calibri" pitchFamily="34" charset="0"/>
            </a:endParaRPr>
          </a:p>
        </p:txBody>
      </p:sp>
      <p:sp>
        <p:nvSpPr>
          <p:cNvPr id="72" name="TextBox 71"/>
          <p:cNvSpPr txBox="1"/>
          <p:nvPr/>
        </p:nvSpPr>
        <p:spPr>
          <a:xfrm>
            <a:off x="4573001" y="4800600"/>
            <a:ext cx="4494799" cy="1926681"/>
          </a:xfrm>
          <a:prstGeom prst="rect">
            <a:avLst/>
          </a:prstGeom>
          <a:noFill/>
        </p:spPr>
        <p:txBody>
          <a:bodyPr wrap="square" rtlCol="0" anchor="ctr" anchorCtr="0">
            <a:spAutoFit/>
          </a:bodyPr>
          <a:lstStyle/>
          <a:p>
            <a:pPr>
              <a:buClr>
                <a:schemeClr val="tx2"/>
              </a:buClr>
              <a:buSzPct val="75000"/>
            </a:pPr>
            <a:r>
              <a:rPr lang="en-US" smtClean="0">
                <a:solidFill>
                  <a:schemeClr val="dk1"/>
                </a:solidFill>
                <a:effectLst/>
                <a:latin typeface="Calibri" pitchFamily="34" charset="0"/>
                <a:cs typeface="Calibri" pitchFamily="34" charset="0"/>
              </a:rPr>
              <a:t>Quiz</a:t>
            </a:r>
          </a:p>
          <a:p>
            <a:pPr marL="342900" indent="-342900">
              <a:buClr>
                <a:schemeClr val="tx2"/>
              </a:buClr>
              <a:buSzPct val="75000"/>
              <a:buFont typeface="Wingdings"/>
              <a:buChar char=""/>
            </a:pPr>
            <a:r>
              <a:rPr lang="en-US" sz="2000" b="0" smtClean="0">
                <a:solidFill>
                  <a:schemeClr val="dk1"/>
                </a:solidFill>
                <a:latin typeface="Calibri" pitchFamily="34" charset="0"/>
                <a:cs typeface="Calibri" pitchFamily="34" charset="0"/>
              </a:rPr>
              <a:t>Fill in the missing info in the tables (next page) regarding HOW to schedule the threads in the system</a:t>
            </a:r>
          </a:p>
          <a:p>
            <a:pPr marL="342900" indent="-342900">
              <a:buClr>
                <a:schemeClr val="tx2"/>
              </a:buClr>
              <a:buSzPct val="75000"/>
              <a:buFont typeface="Wingdings"/>
              <a:buChar char=""/>
            </a:pPr>
            <a:r>
              <a:rPr lang="en-US" sz="2000" b="0" smtClean="0">
                <a:solidFill>
                  <a:schemeClr val="dk1"/>
                </a:solidFill>
                <a:latin typeface="Calibri" pitchFamily="34" charset="0"/>
                <a:cs typeface="Calibri" pitchFamily="34" charset="0"/>
              </a:rPr>
              <a:t>Think about </a:t>
            </a:r>
            <a:r>
              <a:rPr lang="en-US" sz="2000" smtClean="0">
                <a:solidFill>
                  <a:srgbClr val="FF0000"/>
                </a:solidFill>
                <a:latin typeface="Calibri" pitchFamily="34" charset="0"/>
                <a:cs typeface="Calibri" pitchFamily="34" charset="0"/>
              </a:rPr>
              <a:t>Priority</a:t>
            </a:r>
            <a:r>
              <a:rPr lang="en-US" sz="2000" b="0" smtClean="0">
                <a:solidFill>
                  <a:schemeClr val="dk1"/>
                </a:solidFill>
                <a:latin typeface="Calibri" pitchFamily="34" charset="0"/>
                <a:cs typeface="Calibri" pitchFamily="34" charset="0"/>
              </a:rPr>
              <a:t> and the </a:t>
            </a:r>
            <a:r>
              <a:rPr lang="en-US" sz="2000" smtClean="0">
                <a:solidFill>
                  <a:srgbClr val="FF0000"/>
                </a:solidFill>
                <a:latin typeface="Calibri" pitchFamily="34" charset="0"/>
                <a:cs typeface="Calibri" pitchFamily="34" charset="0"/>
              </a:rPr>
              <a:t>TYPE</a:t>
            </a:r>
            <a:r>
              <a:rPr lang="en-US" sz="2000" b="0" smtClean="0">
                <a:solidFill>
                  <a:schemeClr val="dk1"/>
                </a:solidFill>
                <a:latin typeface="Calibri" pitchFamily="34" charset="0"/>
                <a:cs typeface="Calibri" pitchFamily="34" charset="0"/>
              </a:rPr>
              <a:t> of BIOS thread you would assign to each</a:t>
            </a:r>
          </a:p>
        </p:txBody>
      </p:sp>
      <p:sp>
        <p:nvSpPr>
          <p:cNvPr id="74" name="Oval 73"/>
          <p:cNvSpPr/>
          <p:nvPr/>
        </p:nvSpPr>
        <p:spPr bwMode="auto">
          <a:xfrm>
            <a:off x="8001000" y="1102425"/>
            <a:ext cx="861950" cy="553189"/>
          </a:xfrm>
          <a:prstGeom prst="ellipse">
            <a:avLst/>
          </a:prstGeom>
          <a:solidFill>
            <a:schemeClr val="accent5">
              <a:lumMod val="20000"/>
              <a:lumOff val="80000"/>
            </a:schemeClr>
          </a:solidFill>
          <a:ln w="12700" cap="flat" cmpd="sng" algn="ctr">
            <a:solidFill>
              <a:schemeClr val="tx1"/>
            </a:solidFill>
            <a:prstDash val="dash"/>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sz="2000" b="0" i="0" u="none" strike="noStrike" cap="none" normalizeH="0" baseline="0" smtClean="0">
                <a:ln>
                  <a:noFill/>
                </a:ln>
                <a:solidFill>
                  <a:schemeClr val="dk1"/>
                </a:solidFill>
                <a:effectLst/>
                <a:latin typeface="Arial Narrow" pitchFamily="34" charset="0"/>
              </a:rPr>
              <a:t>S/W</a:t>
            </a:r>
          </a:p>
        </p:txBody>
      </p:sp>
      <p:sp>
        <p:nvSpPr>
          <p:cNvPr id="75" name="TextBox 74"/>
          <p:cNvSpPr txBox="1"/>
          <p:nvPr/>
        </p:nvSpPr>
        <p:spPr>
          <a:xfrm>
            <a:off x="8024750" y="591077"/>
            <a:ext cx="838200" cy="399524"/>
          </a:xfrm>
          <a:prstGeom prst="rect">
            <a:avLst/>
          </a:prstGeom>
          <a:solidFill>
            <a:schemeClr val="accent3">
              <a:lumMod val="20000"/>
              <a:lumOff val="80000"/>
            </a:schemeClr>
          </a:solidFill>
          <a:ln>
            <a:solidFill>
              <a:schemeClr val="tx1"/>
            </a:solidFill>
          </a:ln>
        </p:spPr>
        <p:txBody>
          <a:bodyPr wrap="square" rtlCol="0" anchor="ctr" anchorCtr="1">
            <a:noAutofit/>
          </a:bodyPr>
          <a:lstStyle/>
          <a:p>
            <a:pPr algn="ctr"/>
            <a:r>
              <a:rPr lang="en-US" sz="2000" b="0" smtClean="0">
                <a:solidFill>
                  <a:schemeClr val="dk1"/>
                </a:solidFill>
                <a:effectLst/>
              </a:rPr>
              <a:t>H/W</a:t>
            </a:r>
          </a:p>
        </p:txBody>
      </p:sp>
      <p:sp>
        <p:nvSpPr>
          <p:cNvPr id="35" name="TextBox 34"/>
          <p:cNvSpPr txBox="1"/>
          <p:nvPr/>
        </p:nvSpPr>
        <p:spPr>
          <a:xfrm>
            <a:off x="3099573" y="1646754"/>
            <a:ext cx="1042523" cy="398979"/>
          </a:xfrm>
          <a:prstGeom prst="rect">
            <a:avLst/>
          </a:prstGeom>
          <a:solidFill>
            <a:schemeClr val="accent3">
              <a:lumMod val="20000"/>
              <a:lumOff val="80000"/>
            </a:schemeClr>
          </a:solidFill>
          <a:ln>
            <a:solidFill>
              <a:schemeClr val="tx1"/>
            </a:solidFill>
          </a:ln>
        </p:spPr>
        <p:txBody>
          <a:bodyPr wrap="square" rtlCol="0" anchor="ctr" anchorCtr="1">
            <a:noAutofit/>
          </a:bodyPr>
          <a:lstStyle/>
          <a:p>
            <a:pPr algn="ctr"/>
            <a:r>
              <a:rPr lang="en-US" sz="1800" b="0" smtClean="0">
                <a:solidFill>
                  <a:schemeClr val="dk1"/>
                </a:solidFill>
                <a:effectLst/>
              </a:rPr>
              <a:t>PWM S</a:t>
            </a:r>
          </a:p>
        </p:txBody>
      </p:sp>
      <p:sp>
        <p:nvSpPr>
          <p:cNvPr id="36" name="TextBox 35"/>
          <p:cNvSpPr txBox="1"/>
          <p:nvPr/>
        </p:nvSpPr>
        <p:spPr>
          <a:xfrm>
            <a:off x="3099573" y="3483934"/>
            <a:ext cx="1042523" cy="398979"/>
          </a:xfrm>
          <a:prstGeom prst="rect">
            <a:avLst/>
          </a:prstGeom>
          <a:solidFill>
            <a:schemeClr val="accent3">
              <a:lumMod val="20000"/>
              <a:lumOff val="80000"/>
            </a:schemeClr>
          </a:solidFill>
          <a:ln>
            <a:solidFill>
              <a:schemeClr val="tx1"/>
            </a:solidFill>
          </a:ln>
        </p:spPr>
        <p:txBody>
          <a:bodyPr wrap="square" rtlCol="0" anchor="ctr" anchorCtr="1">
            <a:noAutofit/>
          </a:bodyPr>
          <a:lstStyle/>
          <a:p>
            <a:pPr algn="ctr"/>
            <a:r>
              <a:rPr lang="en-US" sz="1800" b="0" smtClean="0">
                <a:solidFill>
                  <a:schemeClr val="dk1"/>
                </a:solidFill>
                <a:effectLst/>
              </a:rPr>
              <a:t>ADC S</a:t>
            </a:r>
          </a:p>
        </p:txBody>
      </p:sp>
      <p:sp>
        <p:nvSpPr>
          <p:cNvPr id="37" name="TextBox 36"/>
          <p:cNvSpPr txBox="1"/>
          <p:nvPr/>
        </p:nvSpPr>
        <p:spPr>
          <a:xfrm>
            <a:off x="3099573" y="3882913"/>
            <a:ext cx="1042523" cy="398979"/>
          </a:xfrm>
          <a:prstGeom prst="rect">
            <a:avLst/>
          </a:prstGeom>
          <a:solidFill>
            <a:schemeClr val="accent3">
              <a:lumMod val="20000"/>
              <a:lumOff val="80000"/>
            </a:schemeClr>
          </a:solidFill>
          <a:ln>
            <a:solidFill>
              <a:schemeClr val="tx1"/>
            </a:solidFill>
          </a:ln>
        </p:spPr>
        <p:txBody>
          <a:bodyPr wrap="square" rtlCol="0" anchor="ctr" anchorCtr="1">
            <a:noAutofit/>
          </a:bodyPr>
          <a:lstStyle/>
          <a:p>
            <a:pPr algn="ctr"/>
            <a:r>
              <a:rPr lang="en-US" sz="1800" b="0" smtClean="0">
                <a:solidFill>
                  <a:schemeClr val="dk1"/>
                </a:solidFill>
                <a:effectLst/>
              </a:rPr>
              <a:t>ADC P</a:t>
            </a:r>
          </a:p>
        </p:txBody>
      </p:sp>
      <p:sp>
        <p:nvSpPr>
          <p:cNvPr id="38" name="TextBox 37"/>
          <p:cNvSpPr txBox="1"/>
          <p:nvPr/>
        </p:nvSpPr>
        <p:spPr>
          <a:xfrm>
            <a:off x="1170297" y="2248971"/>
            <a:ext cx="734704" cy="398979"/>
          </a:xfrm>
          <a:prstGeom prst="rect">
            <a:avLst/>
          </a:prstGeom>
          <a:solidFill>
            <a:schemeClr val="accent3">
              <a:lumMod val="20000"/>
              <a:lumOff val="80000"/>
            </a:schemeClr>
          </a:solidFill>
          <a:ln>
            <a:solidFill>
              <a:schemeClr val="tx1"/>
            </a:solidFill>
          </a:ln>
        </p:spPr>
        <p:txBody>
          <a:bodyPr wrap="square" rtlCol="0" anchor="ctr" anchorCtr="1">
            <a:noAutofit/>
          </a:bodyPr>
          <a:lstStyle/>
          <a:p>
            <a:pPr algn="ctr"/>
            <a:r>
              <a:rPr lang="en-US" sz="1800" b="0" smtClean="0">
                <a:solidFill>
                  <a:schemeClr val="dk1"/>
                </a:solidFill>
              </a:rPr>
              <a:t>I2C</a:t>
            </a:r>
            <a:endParaRPr lang="en-US" sz="1800" b="0" smtClean="0">
              <a:solidFill>
                <a:schemeClr val="dk1"/>
              </a:solidFill>
              <a:effectLst/>
            </a:endParaRPr>
          </a:p>
        </p:txBody>
      </p:sp>
      <p:sp>
        <p:nvSpPr>
          <p:cNvPr id="40" name="TextBox 39"/>
          <p:cNvSpPr txBox="1"/>
          <p:nvPr/>
        </p:nvSpPr>
        <p:spPr>
          <a:xfrm>
            <a:off x="1170297" y="1442688"/>
            <a:ext cx="734704" cy="398979"/>
          </a:xfrm>
          <a:prstGeom prst="rect">
            <a:avLst/>
          </a:prstGeom>
          <a:solidFill>
            <a:schemeClr val="accent3">
              <a:lumMod val="20000"/>
              <a:lumOff val="80000"/>
            </a:schemeClr>
          </a:solidFill>
          <a:ln>
            <a:solidFill>
              <a:schemeClr val="tx1"/>
            </a:solidFill>
          </a:ln>
        </p:spPr>
        <p:txBody>
          <a:bodyPr wrap="square" rtlCol="0" anchor="ctr" anchorCtr="1">
            <a:noAutofit/>
          </a:bodyPr>
          <a:lstStyle/>
          <a:p>
            <a:pPr algn="ctr"/>
            <a:r>
              <a:rPr lang="en-US" sz="1800" b="0" smtClean="0">
                <a:solidFill>
                  <a:schemeClr val="dk1"/>
                </a:solidFill>
              </a:rPr>
              <a:t>I2C</a:t>
            </a:r>
            <a:endParaRPr lang="en-US" sz="1800" b="0" smtClean="0">
              <a:solidFill>
                <a:schemeClr val="dk1"/>
              </a:solidFill>
              <a:effectLst/>
            </a:endParaRPr>
          </a:p>
        </p:txBody>
      </p:sp>
      <p:sp>
        <p:nvSpPr>
          <p:cNvPr id="41" name="TextBox 40"/>
          <p:cNvSpPr txBox="1"/>
          <p:nvPr/>
        </p:nvSpPr>
        <p:spPr>
          <a:xfrm>
            <a:off x="1170297" y="3023095"/>
            <a:ext cx="832224" cy="398979"/>
          </a:xfrm>
          <a:prstGeom prst="rect">
            <a:avLst/>
          </a:prstGeom>
          <a:solidFill>
            <a:schemeClr val="accent3">
              <a:lumMod val="20000"/>
              <a:lumOff val="80000"/>
            </a:schemeClr>
          </a:solidFill>
          <a:ln>
            <a:solidFill>
              <a:schemeClr val="tx1"/>
            </a:solidFill>
          </a:ln>
        </p:spPr>
        <p:txBody>
          <a:bodyPr wrap="square" rtlCol="0" anchor="ctr" anchorCtr="1">
            <a:noAutofit/>
          </a:bodyPr>
          <a:lstStyle/>
          <a:p>
            <a:pPr algn="ctr"/>
            <a:r>
              <a:rPr lang="en-US" sz="1800" b="0" smtClean="0">
                <a:solidFill>
                  <a:schemeClr val="dk1"/>
                </a:solidFill>
              </a:rPr>
              <a:t>GPIO</a:t>
            </a:r>
            <a:endParaRPr lang="en-US" sz="1800" b="0" smtClean="0">
              <a:solidFill>
                <a:schemeClr val="dk1"/>
              </a:solidFill>
              <a:effectLst/>
            </a:endParaRPr>
          </a:p>
        </p:txBody>
      </p:sp>
      <p:cxnSp>
        <p:nvCxnSpPr>
          <p:cNvPr id="7" name="Straight Arrow Connector 6"/>
          <p:cNvCxnSpPr/>
          <p:nvPr/>
        </p:nvCxnSpPr>
        <p:spPr bwMode="auto">
          <a:xfrm flipV="1">
            <a:off x="3525138" y="2045733"/>
            <a:ext cx="0" cy="1438201"/>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sp>
        <p:nvSpPr>
          <p:cNvPr id="7191" name="Oval 7190"/>
          <p:cNvSpPr/>
          <p:nvPr/>
        </p:nvSpPr>
        <p:spPr bwMode="auto">
          <a:xfrm>
            <a:off x="2999096" y="2340748"/>
            <a:ext cx="1066800" cy="838200"/>
          </a:xfrm>
          <a:prstGeom prst="ellipse">
            <a:avLst/>
          </a:prstGeom>
          <a:solidFill>
            <a:schemeClr val="accent5">
              <a:lumMod val="20000"/>
              <a:lumOff val="80000"/>
            </a:schemeClr>
          </a:solidFill>
          <a:ln w="12700" cap="flat" cmpd="sng" algn="ctr">
            <a:solidFill>
              <a:schemeClr val="tx1"/>
            </a:solidFill>
            <a:prstDash val="dash"/>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lang="en-US" sz="2000" b="0" smtClean="0">
                <a:solidFill>
                  <a:schemeClr val="dk1"/>
                </a:solidFill>
                <a:latin typeface="Arial Narrow" pitchFamily="34" charset="0"/>
              </a:rPr>
              <a:t>PIDx2</a:t>
            </a:r>
            <a:endParaRPr kumimoji="0" lang="en-US" sz="2000" b="0" i="0" u="none" strike="noStrike" cap="none" normalizeH="0" baseline="0" dirty="0" smtClean="0">
              <a:ln>
                <a:noFill/>
              </a:ln>
              <a:solidFill>
                <a:schemeClr val="dk1"/>
              </a:solidFill>
              <a:effectLst/>
              <a:latin typeface="Arial Narrow" pitchFamily="34" charset="0"/>
            </a:endParaRPr>
          </a:p>
        </p:txBody>
      </p:sp>
    </p:spTree>
    <p:custDataLst>
      <p:tags r:id="rId1"/>
    </p:custDataLst>
    <p:extLst>
      <p:ext uri="{BB962C8B-B14F-4D97-AF65-F5344CB8AC3E}">
        <p14:creationId xmlns:p14="http://schemas.microsoft.com/office/powerpoint/2010/main" val="2275179899"/>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p:txBody>
          <a:bodyPr/>
          <a:lstStyle/>
          <a:p>
            <a:r>
              <a:rPr lang="en-US" smtClean="0"/>
              <a:t>Quiz – Fill in the missing pieces…</a:t>
            </a:r>
            <a:endParaRPr lang="en-US" dirty="0" smtClean="0"/>
          </a:p>
        </p:txBody>
      </p:sp>
      <p:graphicFrame>
        <p:nvGraphicFramePr>
          <p:cNvPr id="4" name="Table 3"/>
          <p:cNvGraphicFramePr>
            <a:graphicFrameLocks noGrp="1"/>
          </p:cNvGraphicFramePr>
          <p:nvPr>
            <p:extLst>
              <p:ext uri="{D42A27DB-BD31-4B8C-83A1-F6EECF244321}">
                <p14:modId xmlns:p14="http://schemas.microsoft.com/office/powerpoint/2010/main" val="2348253451"/>
              </p:ext>
            </p:extLst>
          </p:nvPr>
        </p:nvGraphicFramePr>
        <p:xfrm>
          <a:off x="304800" y="1012043"/>
          <a:ext cx="7238999" cy="2973390"/>
        </p:xfrm>
        <a:graphic>
          <a:graphicData uri="http://schemas.openxmlformats.org/drawingml/2006/table">
            <a:tbl>
              <a:tblPr firstRow="1" bandRow="1">
                <a:tableStyleId>{5C22544A-7EE6-4342-B048-85BDC9FD1C3A}</a:tableStyleId>
              </a:tblPr>
              <a:tblGrid>
                <a:gridCol w="1676399"/>
                <a:gridCol w="1943100"/>
                <a:gridCol w="1967119"/>
                <a:gridCol w="1652381"/>
              </a:tblGrid>
              <a:tr h="424770">
                <a:tc>
                  <a:txBody>
                    <a:bodyPr/>
                    <a:lstStyle/>
                    <a:p>
                      <a:r>
                        <a:rPr lang="en-US" smtClean="0">
                          <a:solidFill>
                            <a:schemeClr val="tx1"/>
                          </a:solidFill>
                          <a:latin typeface="Calibri" pitchFamily="34" charset="0"/>
                          <a:cs typeface="Calibri" pitchFamily="34" charset="0"/>
                        </a:rPr>
                        <a:t>Hwi’s</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mtClean="0">
                          <a:solidFill>
                            <a:schemeClr val="tx1"/>
                          </a:solidFill>
                          <a:latin typeface="Calibri" pitchFamily="34" charset="0"/>
                          <a:cs typeface="Calibri" pitchFamily="34" charset="0"/>
                        </a:rPr>
                        <a:t>S/W</a:t>
                      </a:r>
                      <a:r>
                        <a:rPr lang="en-US" baseline="0" smtClean="0">
                          <a:solidFill>
                            <a:schemeClr val="tx1"/>
                          </a:solidFill>
                          <a:latin typeface="Calibri" pitchFamily="34" charset="0"/>
                          <a:cs typeface="Calibri" pitchFamily="34" charset="0"/>
                        </a:rPr>
                        <a:t> function</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mtClean="0">
                          <a:solidFill>
                            <a:schemeClr val="tx1"/>
                          </a:solidFill>
                          <a:latin typeface="Calibri" pitchFamily="34" charset="0"/>
                          <a:cs typeface="Calibri" pitchFamily="34" charset="0"/>
                        </a:rPr>
                        <a:t>BIOS</a:t>
                      </a:r>
                      <a:r>
                        <a:rPr lang="en-US" baseline="0" smtClean="0">
                          <a:solidFill>
                            <a:schemeClr val="tx1"/>
                          </a:solidFill>
                          <a:latin typeface="Calibri" pitchFamily="34" charset="0"/>
                          <a:cs typeface="Calibri" pitchFamily="34" charset="0"/>
                        </a:rPr>
                        <a:t> Thread Type</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mtClean="0">
                          <a:solidFill>
                            <a:schemeClr val="tx1"/>
                          </a:solidFill>
                          <a:latin typeface="Calibri" pitchFamily="34" charset="0"/>
                          <a:cs typeface="Calibri" pitchFamily="34" charset="0"/>
                        </a:rPr>
                        <a:t>S/W Priority?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r>
              <a:tr h="424770">
                <a:tc>
                  <a:txBody>
                    <a:bodyPr/>
                    <a:lstStyle/>
                    <a:p>
                      <a:r>
                        <a:rPr lang="en-US" smtClean="0">
                          <a:latin typeface="Calibri" pitchFamily="34" charset="0"/>
                          <a:cs typeface="Calibri" pitchFamily="34" charset="0"/>
                        </a:rPr>
                        <a:t>ADC_P_ISR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latin typeface="Calibri" pitchFamily="34" charset="0"/>
                          <a:cs typeface="Calibri" pitchFamily="34" charset="0"/>
                        </a:rPr>
                        <a:t>PID_Position</a:t>
                      </a:r>
                      <a:endParaRPr lang="en-US">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latin typeface="Calibri" pitchFamily="34" charset="0"/>
                          <a:cs typeface="Calibri" pitchFamily="34" charset="0"/>
                        </a:rPr>
                        <a:t>High -</a:t>
                      </a:r>
                      <a:endParaRPr lang="en-US">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4770">
                <a:tc>
                  <a:txBody>
                    <a:bodyPr/>
                    <a:lstStyle/>
                    <a:p>
                      <a:r>
                        <a:rPr lang="en-US" smtClean="0">
                          <a:solidFill>
                            <a:schemeClr val="tx1"/>
                          </a:solidFill>
                          <a:latin typeface="Calibri" pitchFamily="34" charset="0"/>
                          <a:cs typeface="Calibri" pitchFamily="34" charset="0"/>
                        </a:rPr>
                        <a:t>ADC_S_ISR</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chemeClr val="tx1"/>
                          </a:solidFill>
                          <a:latin typeface="Calibri" pitchFamily="34" charset="0"/>
                          <a:cs typeface="Calibri" pitchFamily="34" charset="0"/>
                        </a:rPr>
                        <a:t>PID_Speed</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chemeClr val="tx1"/>
                          </a:solidFill>
                          <a:latin typeface="Calibri" pitchFamily="34" charset="0"/>
                          <a:cs typeface="Calibri" pitchFamily="34" charset="0"/>
                        </a:rPr>
                        <a:t> </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4770">
                <a:tc>
                  <a:txBody>
                    <a:bodyPr/>
                    <a:lstStyle/>
                    <a:p>
                      <a:r>
                        <a:rPr lang="en-US" smtClean="0">
                          <a:solidFill>
                            <a:schemeClr val="tx1"/>
                          </a:solidFill>
                          <a:latin typeface="Calibri" pitchFamily="34" charset="0"/>
                          <a:cs typeface="Calibri" pitchFamily="34" charset="0"/>
                        </a:rPr>
                        <a:t>Host_ISR</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chemeClr val="tx1"/>
                          </a:solidFill>
                          <a:latin typeface="Calibri" pitchFamily="34" charset="0"/>
                          <a:cs typeface="Calibri" pitchFamily="34" charset="0"/>
                        </a:rPr>
                        <a:t>Host_Cmd_Proc</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chemeClr val="tx1"/>
                          </a:solidFill>
                          <a:latin typeface="Calibri" pitchFamily="34" charset="0"/>
                          <a:cs typeface="Calibri" pitchFamily="34" charset="0"/>
                        </a:rPr>
                        <a:t>Med - </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4770">
                <a:tc>
                  <a:txBody>
                    <a:bodyPr/>
                    <a:lstStyle/>
                    <a:p>
                      <a:r>
                        <a:rPr lang="en-US" smtClean="0">
                          <a:solidFill>
                            <a:schemeClr val="tx1"/>
                          </a:solidFill>
                          <a:latin typeface="Calibri" pitchFamily="34" charset="0"/>
                          <a:cs typeface="Calibri" pitchFamily="34" charset="0"/>
                        </a:rPr>
                        <a:t>Keypad_ISR</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chemeClr val="tx1"/>
                          </a:solidFill>
                          <a:latin typeface="Calibri" pitchFamily="34" charset="0"/>
                          <a:cs typeface="Calibri" pitchFamily="34" charset="0"/>
                        </a:rPr>
                        <a:t>Keypad_Read</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chemeClr val="tx1"/>
                          </a:solidFill>
                          <a:latin typeface="Calibri" pitchFamily="34" charset="0"/>
                          <a:cs typeface="Calibri" pitchFamily="34" charset="0"/>
                        </a:rPr>
                        <a:t>Low -</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4770">
                <a:tc>
                  <a:txBody>
                    <a:bodyPr/>
                    <a:lstStyle/>
                    <a:p>
                      <a:r>
                        <a:rPr lang="en-US" smtClean="0">
                          <a:solidFill>
                            <a:schemeClr val="tx1"/>
                          </a:solidFill>
                          <a:latin typeface="Calibri" pitchFamily="34" charset="0"/>
                          <a:cs typeface="Calibri" pitchFamily="34" charset="0"/>
                        </a:rPr>
                        <a:t>LED_blink_ISR</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chemeClr val="tx1"/>
                          </a:solidFill>
                          <a:latin typeface="Calibri" pitchFamily="34" charset="0"/>
                          <a:cs typeface="Calibri" pitchFamily="34" charset="0"/>
                        </a:rPr>
                        <a:t>LED_toggle</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4770">
                <a:tc>
                  <a:txBody>
                    <a:bodyPr/>
                    <a:lstStyle/>
                    <a:p>
                      <a:endParaRPr lang="en-US">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latin typeface="Calibri" pitchFamily="34" charset="0"/>
                          <a:cs typeface="Calibri" pitchFamily="34" charset="0"/>
                        </a:rPr>
                        <a:t>Sys_maint</a:t>
                      </a:r>
                      <a:endParaRPr lang="en-US">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latin typeface="Calibri" pitchFamily="34" charset="0"/>
                          <a:cs typeface="Calibri" pitchFamily="34" charset="0"/>
                        </a:rPr>
                        <a:t>Lowest - </a:t>
                      </a:r>
                      <a:endParaRPr lang="en-US">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7" name="TextBox 6"/>
          <p:cNvSpPr txBox="1"/>
          <p:nvPr/>
        </p:nvSpPr>
        <p:spPr>
          <a:xfrm>
            <a:off x="228600" y="632635"/>
            <a:ext cx="2563522" cy="387798"/>
          </a:xfrm>
          <a:prstGeom prst="rect">
            <a:avLst/>
          </a:prstGeom>
          <a:noFill/>
        </p:spPr>
        <p:txBody>
          <a:bodyPr wrap="none" rtlCol="0" anchor="ctr" anchorCtr="0">
            <a:spAutoFit/>
          </a:bodyPr>
          <a:lstStyle/>
          <a:p>
            <a:r>
              <a:rPr lang="en-US" smtClean="0">
                <a:solidFill>
                  <a:schemeClr val="tx2"/>
                </a:solidFill>
              </a:rPr>
              <a:t>System</a:t>
            </a:r>
            <a:r>
              <a:rPr lang="en-US" smtClean="0">
                <a:solidFill>
                  <a:schemeClr val="tx2"/>
                </a:solidFill>
                <a:effectLst/>
              </a:rPr>
              <a:t> Threads</a:t>
            </a:r>
            <a:endParaRPr lang="en-US" dirty="0" smtClean="0">
              <a:solidFill>
                <a:schemeClr val="tx2"/>
              </a:solidFill>
              <a:effectLst/>
            </a:endParaRPr>
          </a:p>
        </p:txBody>
      </p:sp>
      <p:sp>
        <p:nvSpPr>
          <p:cNvPr id="2" name="TextBox 1"/>
          <p:cNvSpPr txBox="1"/>
          <p:nvPr/>
        </p:nvSpPr>
        <p:spPr>
          <a:xfrm>
            <a:off x="457200" y="4093941"/>
            <a:ext cx="7177478" cy="1394228"/>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sz="1800" smtClean="0">
                <a:solidFill>
                  <a:schemeClr val="dk1"/>
                </a:solidFill>
                <a:effectLst/>
                <a:latin typeface="Calibri" pitchFamily="34" charset="0"/>
                <a:cs typeface="Calibri" pitchFamily="34" charset="0"/>
              </a:rPr>
              <a:t>Hwi’s</a:t>
            </a:r>
            <a:r>
              <a:rPr lang="en-US" sz="1800" b="0" smtClean="0">
                <a:solidFill>
                  <a:schemeClr val="dk1"/>
                </a:solidFill>
                <a:effectLst/>
                <a:latin typeface="Calibri" pitchFamily="34" charset="0"/>
                <a:cs typeface="Calibri" pitchFamily="34" charset="0"/>
              </a:rPr>
              <a:t>:  triggered by interrupt, ISR called via BIOS Hwi. </a:t>
            </a:r>
          </a:p>
          <a:p>
            <a:pPr marL="342900" indent="-342900">
              <a:buClr>
                <a:schemeClr val="tx2"/>
              </a:buClr>
              <a:buSzPct val="75000"/>
              <a:buFont typeface="Wingdings"/>
              <a:buChar char=""/>
            </a:pPr>
            <a:r>
              <a:rPr lang="en-US" sz="1800" smtClean="0">
                <a:solidFill>
                  <a:schemeClr val="dk1"/>
                </a:solidFill>
                <a:latin typeface="Calibri" pitchFamily="34" charset="0"/>
                <a:cs typeface="Calibri" pitchFamily="34" charset="0"/>
              </a:rPr>
              <a:t>S/W function</a:t>
            </a:r>
            <a:r>
              <a:rPr lang="en-US" sz="1800" b="0" smtClean="0">
                <a:solidFill>
                  <a:schemeClr val="dk1"/>
                </a:solidFill>
                <a:latin typeface="Calibri" pitchFamily="34" charset="0"/>
                <a:cs typeface="Calibri" pitchFamily="34" charset="0"/>
              </a:rPr>
              <a:t>:  called by “BIOS Thread Type” (</a:t>
            </a:r>
            <a:r>
              <a:rPr lang="en-US" sz="1600" b="0" i="1" smtClean="0">
                <a:solidFill>
                  <a:schemeClr val="dk1"/>
                </a:solidFill>
                <a:latin typeface="Calibri" pitchFamily="34" charset="0"/>
                <a:cs typeface="Calibri" pitchFamily="34" charset="0"/>
              </a:rPr>
              <a:t>e.g. Swi 5 calls PID_Position</a:t>
            </a:r>
            <a:r>
              <a:rPr lang="en-US" sz="1800" b="0" smtClean="0">
                <a:solidFill>
                  <a:schemeClr val="dk1"/>
                </a:solidFill>
                <a:latin typeface="Calibri" pitchFamily="34" charset="0"/>
                <a:cs typeface="Calibri" pitchFamily="34" charset="0"/>
              </a:rPr>
              <a:t>)</a:t>
            </a:r>
          </a:p>
          <a:p>
            <a:pPr marL="342900" indent="-342900">
              <a:buClr>
                <a:schemeClr val="tx2"/>
              </a:buClr>
              <a:buSzPct val="75000"/>
              <a:buFont typeface="Wingdings"/>
              <a:buChar char=""/>
            </a:pPr>
            <a:r>
              <a:rPr lang="en-US" sz="1800" smtClean="0">
                <a:solidFill>
                  <a:schemeClr val="dk1"/>
                </a:solidFill>
                <a:effectLst/>
                <a:latin typeface="Calibri" pitchFamily="34" charset="0"/>
                <a:cs typeface="Calibri" pitchFamily="34" charset="0"/>
              </a:rPr>
              <a:t>BIOS Thread Type</a:t>
            </a:r>
            <a:r>
              <a:rPr lang="en-US" sz="1800" b="0" smtClean="0">
                <a:solidFill>
                  <a:schemeClr val="dk1"/>
                </a:solidFill>
                <a:effectLst/>
                <a:latin typeface="Calibri" pitchFamily="34" charset="0"/>
                <a:cs typeface="Calibri" pitchFamily="34" charset="0"/>
              </a:rPr>
              <a:t>:  choices are – Hwi, Swi, Task, Idle</a:t>
            </a:r>
          </a:p>
          <a:p>
            <a:pPr marL="342900" indent="-342900">
              <a:buClr>
                <a:schemeClr val="tx2"/>
              </a:buClr>
              <a:buSzPct val="75000"/>
              <a:buFont typeface="Wingdings"/>
              <a:buChar char=""/>
            </a:pPr>
            <a:r>
              <a:rPr lang="en-US" sz="1800" smtClean="0">
                <a:solidFill>
                  <a:schemeClr val="dk1"/>
                </a:solidFill>
                <a:latin typeface="Calibri" pitchFamily="34" charset="0"/>
                <a:cs typeface="Calibri" pitchFamily="34" charset="0"/>
              </a:rPr>
              <a:t>S/W Priority</a:t>
            </a:r>
            <a:r>
              <a:rPr lang="en-US" sz="1800" b="0" smtClean="0">
                <a:solidFill>
                  <a:schemeClr val="dk1"/>
                </a:solidFill>
                <a:latin typeface="Calibri" pitchFamily="34" charset="0"/>
                <a:cs typeface="Calibri" pitchFamily="34" charset="0"/>
              </a:rPr>
              <a:t>:  Swi (0-15/31), Task (0-15/31), Idle (0)</a:t>
            </a:r>
          </a:p>
        </p:txBody>
      </p:sp>
      <p:sp>
        <p:nvSpPr>
          <p:cNvPr id="12" name="TextBox 11"/>
          <p:cNvSpPr txBox="1"/>
          <p:nvPr/>
        </p:nvSpPr>
        <p:spPr>
          <a:xfrm>
            <a:off x="228600" y="5566138"/>
            <a:ext cx="2558714" cy="387798"/>
          </a:xfrm>
          <a:prstGeom prst="rect">
            <a:avLst/>
          </a:prstGeom>
          <a:noFill/>
        </p:spPr>
        <p:txBody>
          <a:bodyPr wrap="none" rtlCol="0" anchor="ctr" anchorCtr="0">
            <a:spAutoFit/>
          </a:bodyPr>
          <a:lstStyle/>
          <a:p>
            <a:r>
              <a:rPr lang="en-US" smtClean="0">
                <a:solidFill>
                  <a:schemeClr val="tx2"/>
                </a:solidFill>
              </a:rPr>
              <a:t>Bonus Question</a:t>
            </a:r>
            <a:endParaRPr lang="en-US" dirty="0" smtClean="0">
              <a:solidFill>
                <a:schemeClr val="tx2"/>
              </a:solidFill>
              <a:effectLst/>
            </a:endParaRPr>
          </a:p>
        </p:txBody>
      </p:sp>
      <p:sp>
        <p:nvSpPr>
          <p:cNvPr id="3" name="TextBox 2"/>
          <p:cNvSpPr txBox="1"/>
          <p:nvPr/>
        </p:nvSpPr>
        <p:spPr>
          <a:xfrm>
            <a:off x="239233" y="5904606"/>
            <a:ext cx="7710380" cy="535531"/>
          </a:xfrm>
          <a:prstGeom prst="rect">
            <a:avLst/>
          </a:prstGeom>
          <a:noFill/>
        </p:spPr>
        <p:txBody>
          <a:bodyPr wrap="none" rtlCol="0" anchor="ctr" anchorCtr="0">
            <a:spAutoFit/>
          </a:bodyPr>
          <a:lstStyle/>
          <a:p>
            <a:r>
              <a:rPr lang="en-US" sz="1800" b="0" smtClean="0">
                <a:solidFill>
                  <a:schemeClr val="dk1"/>
                </a:solidFill>
                <a:effectLst/>
                <a:latin typeface="Calibri" pitchFamily="34" charset="0"/>
                <a:cs typeface="Calibri" pitchFamily="34" charset="0"/>
              </a:rPr>
              <a:t>If you had ONE timer and needed to run 5 different threads based off that timer,</a:t>
            </a:r>
            <a:br>
              <a:rPr lang="en-US" sz="1800" b="0" smtClean="0">
                <a:solidFill>
                  <a:schemeClr val="dk1"/>
                </a:solidFill>
                <a:effectLst/>
                <a:latin typeface="Calibri" pitchFamily="34" charset="0"/>
                <a:cs typeface="Calibri" pitchFamily="34" charset="0"/>
              </a:rPr>
            </a:br>
            <a:r>
              <a:rPr lang="en-US" sz="1800" b="0" smtClean="0">
                <a:solidFill>
                  <a:schemeClr val="dk1"/>
                </a:solidFill>
                <a:effectLst/>
                <a:latin typeface="Calibri" pitchFamily="34" charset="0"/>
                <a:cs typeface="Calibri" pitchFamily="34" charset="0"/>
              </a:rPr>
              <a:t>how would you accomplish this?</a:t>
            </a:r>
            <a:endParaRPr lang="en-US" sz="1800" b="0" dirty="0" smtClean="0">
              <a:solidFill>
                <a:schemeClr val="dk1"/>
              </a:solidFill>
              <a:effectLst/>
              <a:latin typeface="Calibri" pitchFamily="34" charset="0"/>
              <a:cs typeface="Calibri" pitchFamily="34" charset="0"/>
            </a:endParaRPr>
          </a:p>
        </p:txBody>
      </p:sp>
      <p:sp>
        <p:nvSpPr>
          <p:cNvPr id="5" name="Leading Question"/>
          <p:cNvSpPr txBox="1"/>
          <p:nvPr/>
        </p:nvSpPr>
        <p:spPr>
          <a:xfrm>
            <a:off x="6400800" y="6488178"/>
            <a:ext cx="2189766" cy="246221"/>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2000" b="0" smtClean="0">
                <a:solidFill>
                  <a:schemeClr val="tx2"/>
                </a:solidFill>
                <a:effectLst/>
                <a:latin typeface="Arial Narrow"/>
              </a:rPr>
              <a:t>Click for ALL answers...</a:t>
            </a:r>
            <a:endParaRPr lang="en-US" sz="2000" b="0" dirty="0" smtClean="0">
              <a:solidFill>
                <a:schemeClr val="tx2"/>
              </a:solidFill>
              <a:effectLst/>
              <a:latin typeface="Arial Narrow"/>
            </a:endParaRPr>
          </a:p>
        </p:txBody>
      </p:sp>
    </p:spTree>
    <p:custDataLst>
      <p:tags r:id="rId1"/>
    </p:custDataLst>
    <p:extLst>
      <p:ext uri="{BB962C8B-B14F-4D97-AF65-F5344CB8AC3E}">
        <p14:creationId xmlns:p14="http://schemas.microsoft.com/office/powerpoint/2010/main" val="25309211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p:txBody>
          <a:bodyPr/>
          <a:lstStyle/>
          <a:p>
            <a:r>
              <a:rPr lang="en-US" smtClean="0"/>
              <a:t>Quiz – One “Solution”</a:t>
            </a:r>
            <a:endParaRPr lang="en-US" dirty="0" smtClean="0"/>
          </a:p>
        </p:txBody>
      </p:sp>
      <p:graphicFrame>
        <p:nvGraphicFramePr>
          <p:cNvPr id="4" name="Table 3"/>
          <p:cNvGraphicFramePr>
            <a:graphicFrameLocks noGrp="1"/>
          </p:cNvGraphicFramePr>
          <p:nvPr>
            <p:extLst>
              <p:ext uri="{D42A27DB-BD31-4B8C-83A1-F6EECF244321}">
                <p14:modId xmlns:p14="http://schemas.microsoft.com/office/powerpoint/2010/main" val="3420802126"/>
              </p:ext>
            </p:extLst>
          </p:nvPr>
        </p:nvGraphicFramePr>
        <p:xfrm>
          <a:off x="304800" y="1012043"/>
          <a:ext cx="7238999" cy="2973390"/>
        </p:xfrm>
        <a:graphic>
          <a:graphicData uri="http://schemas.openxmlformats.org/drawingml/2006/table">
            <a:tbl>
              <a:tblPr firstRow="1" bandRow="1">
                <a:tableStyleId>{5C22544A-7EE6-4342-B048-85BDC9FD1C3A}</a:tableStyleId>
              </a:tblPr>
              <a:tblGrid>
                <a:gridCol w="1676399"/>
                <a:gridCol w="1943100"/>
                <a:gridCol w="1967119"/>
                <a:gridCol w="1652381"/>
              </a:tblGrid>
              <a:tr h="424770">
                <a:tc>
                  <a:txBody>
                    <a:bodyPr/>
                    <a:lstStyle/>
                    <a:p>
                      <a:r>
                        <a:rPr lang="en-US" smtClean="0">
                          <a:solidFill>
                            <a:schemeClr val="tx1"/>
                          </a:solidFill>
                          <a:latin typeface="Calibri" pitchFamily="34" charset="0"/>
                          <a:cs typeface="Calibri" pitchFamily="34" charset="0"/>
                        </a:rPr>
                        <a:t>Hwi’s</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mtClean="0">
                          <a:solidFill>
                            <a:schemeClr val="tx1"/>
                          </a:solidFill>
                          <a:latin typeface="Calibri" pitchFamily="34" charset="0"/>
                          <a:cs typeface="Calibri" pitchFamily="34" charset="0"/>
                        </a:rPr>
                        <a:t>S/W</a:t>
                      </a:r>
                      <a:r>
                        <a:rPr lang="en-US" baseline="0" smtClean="0">
                          <a:solidFill>
                            <a:schemeClr val="tx1"/>
                          </a:solidFill>
                          <a:latin typeface="Calibri" pitchFamily="34" charset="0"/>
                          <a:cs typeface="Calibri" pitchFamily="34" charset="0"/>
                        </a:rPr>
                        <a:t> function</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mtClean="0">
                          <a:solidFill>
                            <a:schemeClr val="tx1"/>
                          </a:solidFill>
                          <a:latin typeface="Calibri" pitchFamily="34" charset="0"/>
                          <a:cs typeface="Calibri" pitchFamily="34" charset="0"/>
                        </a:rPr>
                        <a:t>BIOS</a:t>
                      </a:r>
                      <a:r>
                        <a:rPr lang="en-US" baseline="0" smtClean="0">
                          <a:solidFill>
                            <a:schemeClr val="tx1"/>
                          </a:solidFill>
                          <a:latin typeface="Calibri" pitchFamily="34" charset="0"/>
                          <a:cs typeface="Calibri" pitchFamily="34" charset="0"/>
                        </a:rPr>
                        <a:t> Thread Type</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mtClean="0">
                          <a:solidFill>
                            <a:schemeClr val="tx1"/>
                          </a:solidFill>
                          <a:latin typeface="Calibri" pitchFamily="34" charset="0"/>
                          <a:cs typeface="Calibri" pitchFamily="34" charset="0"/>
                        </a:rPr>
                        <a:t>S/W Priority?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r>
              <a:tr h="424770">
                <a:tc>
                  <a:txBody>
                    <a:bodyPr/>
                    <a:lstStyle/>
                    <a:p>
                      <a:r>
                        <a:rPr lang="en-US" smtClean="0">
                          <a:latin typeface="Calibri" pitchFamily="34" charset="0"/>
                          <a:cs typeface="Calibri" pitchFamily="34" charset="0"/>
                        </a:rPr>
                        <a:t>ADC_P_ISR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latin typeface="Calibri" pitchFamily="34" charset="0"/>
                          <a:cs typeface="Calibri" pitchFamily="34" charset="0"/>
                        </a:rPr>
                        <a:t>PID_Position</a:t>
                      </a:r>
                      <a:endParaRPr lang="en-US">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rgbClr val="FF0000"/>
                          </a:solidFill>
                          <a:latin typeface="Calibri" pitchFamily="34" charset="0"/>
                          <a:cs typeface="Calibri" pitchFamily="34" charset="0"/>
                        </a:rPr>
                        <a:t>Swi</a:t>
                      </a:r>
                      <a:endParaRPr lang="en-US">
                        <a:solidFill>
                          <a:srgbClr val="FF0000"/>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latin typeface="Calibri" pitchFamily="34" charset="0"/>
                          <a:cs typeface="Calibri" pitchFamily="34" charset="0"/>
                        </a:rPr>
                        <a:t>High – </a:t>
                      </a:r>
                      <a:r>
                        <a:rPr lang="en-US" smtClean="0">
                          <a:solidFill>
                            <a:srgbClr val="FF0000"/>
                          </a:solidFill>
                          <a:latin typeface="Calibri" pitchFamily="34" charset="0"/>
                          <a:cs typeface="Calibri" pitchFamily="34" charset="0"/>
                        </a:rPr>
                        <a:t>Swi 5</a:t>
                      </a:r>
                      <a:endParaRPr lang="en-US">
                        <a:solidFill>
                          <a:srgbClr val="FF0000"/>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4770">
                <a:tc>
                  <a:txBody>
                    <a:bodyPr/>
                    <a:lstStyle/>
                    <a:p>
                      <a:r>
                        <a:rPr lang="en-US" smtClean="0">
                          <a:solidFill>
                            <a:schemeClr val="tx1"/>
                          </a:solidFill>
                          <a:latin typeface="Calibri" pitchFamily="34" charset="0"/>
                          <a:cs typeface="Calibri" pitchFamily="34" charset="0"/>
                        </a:rPr>
                        <a:t>ADC_S_ISR</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chemeClr val="tx1"/>
                          </a:solidFill>
                          <a:latin typeface="Calibri" pitchFamily="34" charset="0"/>
                          <a:cs typeface="Calibri" pitchFamily="34" charset="0"/>
                        </a:rPr>
                        <a:t>PID_Speed</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rgbClr val="FF0000"/>
                          </a:solidFill>
                          <a:latin typeface="Calibri" pitchFamily="34" charset="0"/>
                          <a:cs typeface="Calibri" pitchFamily="34" charset="0"/>
                        </a:rPr>
                        <a:t>Swi</a:t>
                      </a:r>
                      <a:endParaRPr lang="en-US">
                        <a:solidFill>
                          <a:srgbClr val="FF0000"/>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rgbClr val="FF0000"/>
                          </a:solidFill>
                          <a:latin typeface="Calibri" pitchFamily="34" charset="0"/>
                          <a:cs typeface="Calibri" pitchFamily="34" charset="0"/>
                        </a:rPr>
                        <a:t>Swi</a:t>
                      </a:r>
                      <a:r>
                        <a:rPr lang="en-US" baseline="0" smtClean="0">
                          <a:solidFill>
                            <a:srgbClr val="FF0000"/>
                          </a:solidFill>
                          <a:latin typeface="Calibri" pitchFamily="34" charset="0"/>
                          <a:cs typeface="Calibri" pitchFamily="34" charset="0"/>
                        </a:rPr>
                        <a:t> 3</a:t>
                      </a:r>
                      <a:endParaRPr lang="en-US">
                        <a:solidFill>
                          <a:srgbClr val="FF0000"/>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4770">
                <a:tc>
                  <a:txBody>
                    <a:bodyPr/>
                    <a:lstStyle/>
                    <a:p>
                      <a:r>
                        <a:rPr lang="en-US" smtClean="0">
                          <a:solidFill>
                            <a:schemeClr val="tx1"/>
                          </a:solidFill>
                          <a:latin typeface="Calibri" pitchFamily="34" charset="0"/>
                          <a:cs typeface="Calibri" pitchFamily="34" charset="0"/>
                        </a:rPr>
                        <a:t>Host_ISR</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chemeClr val="tx1"/>
                          </a:solidFill>
                          <a:latin typeface="Calibri" pitchFamily="34" charset="0"/>
                          <a:cs typeface="Calibri" pitchFamily="34" charset="0"/>
                        </a:rPr>
                        <a:t>Host_Cmd_Proc</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rgbClr val="FF0000"/>
                          </a:solidFill>
                          <a:latin typeface="Calibri" pitchFamily="34" charset="0"/>
                          <a:cs typeface="Calibri" pitchFamily="34" charset="0"/>
                        </a:rPr>
                        <a:t>Task</a:t>
                      </a:r>
                      <a:endParaRPr lang="en-US">
                        <a:solidFill>
                          <a:srgbClr val="FF0000"/>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chemeClr val="tx1"/>
                          </a:solidFill>
                          <a:latin typeface="Calibri" pitchFamily="34" charset="0"/>
                          <a:cs typeface="Calibri" pitchFamily="34" charset="0"/>
                        </a:rPr>
                        <a:t>Med – </a:t>
                      </a:r>
                      <a:r>
                        <a:rPr lang="en-US" smtClean="0">
                          <a:solidFill>
                            <a:srgbClr val="FF0000"/>
                          </a:solidFill>
                          <a:latin typeface="Calibri" pitchFamily="34" charset="0"/>
                          <a:cs typeface="Calibri" pitchFamily="34" charset="0"/>
                        </a:rPr>
                        <a:t>Task 5</a:t>
                      </a:r>
                      <a:endParaRPr lang="en-US">
                        <a:solidFill>
                          <a:srgbClr val="FF0000"/>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4770">
                <a:tc>
                  <a:txBody>
                    <a:bodyPr/>
                    <a:lstStyle/>
                    <a:p>
                      <a:r>
                        <a:rPr lang="en-US" smtClean="0">
                          <a:solidFill>
                            <a:schemeClr val="tx1"/>
                          </a:solidFill>
                          <a:latin typeface="Calibri" pitchFamily="34" charset="0"/>
                          <a:cs typeface="Calibri" pitchFamily="34" charset="0"/>
                        </a:rPr>
                        <a:t>Keypad_ISR</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chemeClr val="tx1"/>
                          </a:solidFill>
                          <a:latin typeface="Calibri" pitchFamily="34" charset="0"/>
                          <a:cs typeface="Calibri" pitchFamily="34" charset="0"/>
                        </a:rPr>
                        <a:t>Keypad_Read</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rgbClr val="FF0000"/>
                          </a:solidFill>
                          <a:latin typeface="Calibri" pitchFamily="34" charset="0"/>
                          <a:cs typeface="Calibri" pitchFamily="34" charset="0"/>
                        </a:rPr>
                        <a:t>Task</a:t>
                      </a:r>
                      <a:endParaRPr lang="en-US">
                        <a:solidFill>
                          <a:srgbClr val="FF0000"/>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chemeClr val="tx1"/>
                          </a:solidFill>
                          <a:latin typeface="Calibri" pitchFamily="34" charset="0"/>
                          <a:cs typeface="Calibri" pitchFamily="34" charset="0"/>
                        </a:rPr>
                        <a:t>Low – </a:t>
                      </a:r>
                      <a:r>
                        <a:rPr lang="en-US" smtClean="0">
                          <a:solidFill>
                            <a:srgbClr val="FF0000"/>
                          </a:solidFill>
                          <a:latin typeface="Calibri" pitchFamily="34" charset="0"/>
                          <a:cs typeface="Calibri" pitchFamily="34" charset="0"/>
                        </a:rPr>
                        <a:t>Task 3</a:t>
                      </a:r>
                      <a:endParaRPr lang="en-US">
                        <a:solidFill>
                          <a:srgbClr val="FF0000"/>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4770">
                <a:tc>
                  <a:txBody>
                    <a:bodyPr/>
                    <a:lstStyle/>
                    <a:p>
                      <a:r>
                        <a:rPr lang="en-US" smtClean="0">
                          <a:solidFill>
                            <a:schemeClr val="tx1"/>
                          </a:solidFill>
                          <a:latin typeface="Calibri" pitchFamily="34" charset="0"/>
                          <a:cs typeface="Calibri" pitchFamily="34" charset="0"/>
                        </a:rPr>
                        <a:t>LED_blink_ISR</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chemeClr val="tx1"/>
                          </a:solidFill>
                          <a:latin typeface="Calibri" pitchFamily="34" charset="0"/>
                          <a:cs typeface="Calibri" pitchFamily="34" charset="0"/>
                        </a:rPr>
                        <a:t>LED_toggle</a:t>
                      </a:r>
                      <a:endParaRPr lang="en-US">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rgbClr val="FF0000"/>
                          </a:solidFill>
                          <a:latin typeface="Calibri" pitchFamily="34" charset="0"/>
                          <a:cs typeface="Calibri" pitchFamily="34" charset="0"/>
                        </a:rPr>
                        <a:t>Task</a:t>
                      </a:r>
                      <a:endParaRPr lang="en-US">
                        <a:solidFill>
                          <a:srgbClr val="FF0000"/>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rgbClr val="FF0000"/>
                          </a:solidFill>
                          <a:latin typeface="Calibri" pitchFamily="34" charset="0"/>
                          <a:cs typeface="Calibri" pitchFamily="34" charset="0"/>
                        </a:rPr>
                        <a:t>Task 2</a:t>
                      </a:r>
                      <a:endParaRPr lang="en-US">
                        <a:solidFill>
                          <a:srgbClr val="FF0000"/>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4770">
                <a:tc>
                  <a:txBody>
                    <a:bodyPr/>
                    <a:lstStyle/>
                    <a:p>
                      <a:endParaRPr lang="en-US">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latin typeface="Calibri" pitchFamily="34" charset="0"/>
                          <a:cs typeface="Calibri" pitchFamily="34" charset="0"/>
                        </a:rPr>
                        <a:t>Sys_maint</a:t>
                      </a:r>
                      <a:endParaRPr lang="en-US">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solidFill>
                            <a:srgbClr val="FF0000"/>
                          </a:solidFill>
                          <a:latin typeface="Calibri" pitchFamily="34" charset="0"/>
                          <a:cs typeface="Calibri" pitchFamily="34" charset="0"/>
                        </a:rPr>
                        <a:t>Idle</a:t>
                      </a:r>
                      <a:endParaRPr lang="en-US">
                        <a:solidFill>
                          <a:srgbClr val="FF0000"/>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latin typeface="Calibri" pitchFamily="34" charset="0"/>
                          <a:cs typeface="Calibri" pitchFamily="34" charset="0"/>
                        </a:rPr>
                        <a:t>Lowest – </a:t>
                      </a:r>
                      <a:r>
                        <a:rPr lang="en-US" smtClean="0">
                          <a:solidFill>
                            <a:srgbClr val="FF0000"/>
                          </a:solidFill>
                          <a:latin typeface="Calibri" pitchFamily="34" charset="0"/>
                          <a:cs typeface="Calibri" pitchFamily="34" charset="0"/>
                        </a:rPr>
                        <a:t>Idle </a:t>
                      </a:r>
                      <a:endParaRPr lang="en-US">
                        <a:solidFill>
                          <a:srgbClr val="FF0000"/>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7" name="TextBox 6"/>
          <p:cNvSpPr txBox="1"/>
          <p:nvPr/>
        </p:nvSpPr>
        <p:spPr>
          <a:xfrm>
            <a:off x="228600" y="632635"/>
            <a:ext cx="2563522" cy="387798"/>
          </a:xfrm>
          <a:prstGeom prst="rect">
            <a:avLst/>
          </a:prstGeom>
          <a:noFill/>
        </p:spPr>
        <p:txBody>
          <a:bodyPr wrap="none" rtlCol="0" anchor="ctr" anchorCtr="0">
            <a:spAutoFit/>
          </a:bodyPr>
          <a:lstStyle/>
          <a:p>
            <a:r>
              <a:rPr lang="en-US" smtClean="0">
                <a:solidFill>
                  <a:schemeClr val="tx2"/>
                </a:solidFill>
              </a:rPr>
              <a:t>System</a:t>
            </a:r>
            <a:r>
              <a:rPr lang="en-US" smtClean="0">
                <a:solidFill>
                  <a:schemeClr val="tx2"/>
                </a:solidFill>
                <a:effectLst/>
              </a:rPr>
              <a:t> Threads</a:t>
            </a:r>
            <a:endParaRPr lang="en-US" dirty="0" smtClean="0">
              <a:solidFill>
                <a:schemeClr val="tx2"/>
              </a:solidFill>
              <a:effectLst/>
            </a:endParaRPr>
          </a:p>
        </p:txBody>
      </p:sp>
      <p:sp>
        <p:nvSpPr>
          <p:cNvPr id="2" name="TextBox 1"/>
          <p:cNvSpPr txBox="1"/>
          <p:nvPr/>
        </p:nvSpPr>
        <p:spPr>
          <a:xfrm>
            <a:off x="457200" y="4093941"/>
            <a:ext cx="7177478" cy="1394228"/>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sz="1800" smtClean="0">
                <a:solidFill>
                  <a:schemeClr val="dk1"/>
                </a:solidFill>
                <a:effectLst/>
                <a:latin typeface="Calibri" pitchFamily="34" charset="0"/>
                <a:cs typeface="Calibri" pitchFamily="34" charset="0"/>
              </a:rPr>
              <a:t>Hwi’s</a:t>
            </a:r>
            <a:r>
              <a:rPr lang="en-US" sz="1800" b="0" smtClean="0">
                <a:solidFill>
                  <a:schemeClr val="dk1"/>
                </a:solidFill>
                <a:effectLst/>
                <a:latin typeface="Calibri" pitchFamily="34" charset="0"/>
                <a:cs typeface="Calibri" pitchFamily="34" charset="0"/>
              </a:rPr>
              <a:t>:  triggered by interrupt, ISR called via BIOS Hwi. </a:t>
            </a:r>
          </a:p>
          <a:p>
            <a:pPr marL="342900" indent="-342900">
              <a:buClr>
                <a:schemeClr val="tx2"/>
              </a:buClr>
              <a:buSzPct val="75000"/>
              <a:buFont typeface="Wingdings"/>
              <a:buChar char=""/>
            </a:pPr>
            <a:r>
              <a:rPr lang="en-US" sz="1800" smtClean="0">
                <a:solidFill>
                  <a:schemeClr val="dk1"/>
                </a:solidFill>
                <a:latin typeface="Calibri" pitchFamily="34" charset="0"/>
                <a:cs typeface="Calibri" pitchFamily="34" charset="0"/>
              </a:rPr>
              <a:t>S/W function</a:t>
            </a:r>
            <a:r>
              <a:rPr lang="en-US" sz="1800" b="0" smtClean="0">
                <a:solidFill>
                  <a:schemeClr val="dk1"/>
                </a:solidFill>
                <a:latin typeface="Calibri" pitchFamily="34" charset="0"/>
                <a:cs typeface="Calibri" pitchFamily="34" charset="0"/>
              </a:rPr>
              <a:t>:  called by “BIOS Thread Type” (</a:t>
            </a:r>
            <a:r>
              <a:rPr lang="en-US" sz="1600" b="0" i="1" smtClean="0">
                <a:solidFill>
                  <a:schemeClr val="dk1"/>
                </a:solidFill>
                <a:latin typeface="Calibri" pitchFamily="34" charset="0"/>
                <a:cs typeface="Calibri" pitchFamily="34" charset="0"/>
              </a:rPr>
              <a:t>e.g. Swi 5 calls PID_Position</a:t>
            </a:r>
            <a:r>
              <a:rPr lang="en-US" sz="1800" b="0" smtClean="0">
                <a:solidFill>
                  <a:schemeClr val="dk1"/>
                </a:solidFill>
                <a:latin typeface="Calibri" pitchFamily="34" charset="0"/>
                <a:cs typeface="Calibri" pitchFamily="34" charset="0"/>
              </a:rPr>
              <a:t>)</a:t>
            </a:r>
          </a:p>
          <a:p>
            <a:pPr marL="342900" indent="-342900">
              <a:buClr>
                <a:schemeClr val="tx2"/>
              </a:buClr>
              <a:buSzPct val="75000"/>
              <a:buFont typeface="Wingdings"/>
              <a:buChar char=""/>
            </a:pPr>
            <a:r>
              <a:rPr lang="en-US" sz="1800" smtClean="0">
                <a:solidFill>
                  <a:schemeClr val="dk1"/>
                </a:solidFill>
                <a:effectLst/>
                <a:latin typeface="Calibri" pitchFamily="34" charset="0"/>
                <a:cs typeface="Calibri" pitchFamily="34" charset="0"/>
              </a:rPr>
              <a:t>BIOS Thread Type</a:t>
            </a:r>
            <a:r>
              <a:rPr lang="en-US" sz="1800" b="0" smtClean="0">
                <a:solidFill>
                  <a:schemeClr val="dk1"/>
                </a:solidFill>
                <a:effectLst/>
                <a:latin typeface="Calibri" pitchFamily="34" charset="0"/>
                <a:cs typeface="Calibri" pitchFamily="34" charset="0"/>
              </a:rPr>
              <a:t>:  choices are – Hwi, Swi, Task, Idle</a:t>
            </a:r>
          </a:p>
          <a:p>
            <a:pPr marL="342900" indent="-342900">
              <a:buClr>
                <a:schemeClr val="tx2"/>
              </a:buClr>
              <a:buSzPct val="75000"/>
              <a:buFont typeface="Wingdings"/>
              <a:buChar char=""/>
            </a:pPr>
            <a:r>
              <a:rPr lang="en-US" sz="1800" smtClean="0">
                <a:solidFill>
                  <a:schemeClr val="dk1"/>
                </a:solidFill>
                <a:latin typeface="Calibri" pitchFamily="34" charset="0"/>
                <a:cs typeface="Calibri" pitchFamily="34" charset="0"/>
              </a:rPr>
              <a:t>S/W Priority</a:t>
            </a:r>
            <a:r>
              <a:rPr lang="en-US" sz="1800" b="0" smtClean="0">
                <a:solidFill>
                  <a:schemeClr val="dk1"/>
                </a:solidFill>
                <a:latin typeface="Calibri" pitchFamily="34" charset="0"/>
                <a:cs typeface="Calibri" pitchFamily="34" charset="0"/>
              </a:rPr>
              <a:t>:  Swi (0-15/31), Task (0-15/31), Idle (0)</a:t>
            </a:r>
          </a:p>
        </p:txBody>
      </p:sp>
      <p:sp>
        <p:nvSpPr>
          <p:cNvPr id="12" name="TextBox 11"/>
          <p:cNvSpPr txBox="1"/>
          <p:nvPr/>
        </p:nvSpPr>
        <p:spPr>
          <a:xfrm>
            <a:off x="228600" y="5566138"/>
            <a:ext cx="2558714" cy="387798"/>
          </a:xfrm>
          <a:prstGeom prst="rect">
            <a:avLst/>
          </a:prstGeom>
          <a:noFill/>
        </p:spPr>
        <p:txBody>
          <a:bodyPr wrap="none" rtlCol="0" anchor="ctr" anchorCtr="0">
            <a:spAutoFit/>
          </a:bodyPr>
          <a:lstStyle/>
          <a:p>
            <a:r>
              <a:rPr lang="en-US" smtClean="0">
                <a:solidFill>
                  <a:schemeClr val="tx2"/>
                </a:solidFill>
              </a:rPr>
              <a:t>Bonus Question</a:t>
            </a:r>
            <a:endParaRPr lang="en-US" dirty="0" smtClean="0">
              <a:solidFill>
                <a:schemeClr val="tx2"/>
              </a:solidFill>
              <a:effectLst/>
            </a:endParaRPr>
          </a:p>
        </p:txBody>
      </p:sp>
      <p:sp>
        <p:nvSpPr>
          <p:cNvPr id="3" name="TextBox 2"/>
          <p:cNvSpPr txBox="1"/>
          <p:nvPr/>
        </p:nvSpPr>
        <p:spPr>
          <a:xfrm>
            <a:off x="239233" y="5901849"/>
            <a:ext cx="7710380" cy="541046"/>
          </a:xfrm>
          <a:prstGeom prst="rect">
            <a:avLst/>
          </a:prstGeom>
          <a:noFill/>
        </p:spPr>
        <p:txBody>
          <a:bodyPr wrap="none" rtlCol="0" anchor="ctr" anchorCtr="0">
            <a:spAutoFit/>
          </a:bodyPr>
          <a:lstStyle/>
          <a:p>
            <a:r>
              <a:rPr lang="en-US" sz="1800" b="0" smtClean="0">
                <a:solidFill>
                  <a:schemeClr val="dk1"/>
                </a:solidFill>
                <a:effectLst/>
                <a:latin typeface="Calibri" pitchFamily="34" charset="0"/>
                <a:cs typeface="Calibri" pitchFamily="34" charset="0"/>
              </a:rPr>
              <a:t>If you had ONE timer and needed to run 5 different threads based off that timer,</a:t>
            </a:r>
            <a:br>
              <a:rPr lang="en-US" sz="1800" b="0" smtClean="0">
                <a:solidFill>
                  <a:schemeClr val="dk1"/>
                </a:solidFill>
                <a:effectLst/>
                <a:latin typeface="Calibri" pitchFamily="34" charset="0"/>
                <a:cs typeface="Calibri" pitchFamily="34" charset="0"/>
              </a:rPr>
            </a:br>
            <a:r>
              <a:rPr lang="en-US" sz="1800" b="0" smtClean="0">
                <a:solidFill>
                  <a:schemeClr val="dk1"/>
                </a:solidFill>
                <a:effectLst/>
                <a:latin typeface="Calibri" pitchFamily="34" charset="0"/>
                <a:cs typeface="Calibri" pitchFamily="34" charset="0"/>
              </a:rPr>
              <a:t>how would you accomplish this?  </a:t>
            </a:r>
            <a:r>
              <a:rPr lang="en-US" sz="1800" b="0" smtClean="0">
                <a:solidFill>
                  <a:srgbClr val="FF0000"/>
                </a:solidFill>
                <a:effectLst/>
                <a:latin typeface="Calibri" pitchFamily="34" charset="0"/>
                <a:cs typeface="Calibri" pitchFamily="34" charset="0"/>
              </a:rPr>
              <a:t>Use BIOS Clock Functions.</a:t>
            </a:r>
            <a:endParaRPr lang="en-US" sz="1800" b="0" dirty="0" smtClean="0">
              <a:solidFill>
                <a:srgbClr val="FF0000"/>
              </a:solidFill>
              <a:effectLst/>
              <a:latin typeface="Calibri" pitchFamily="34" charset="0"/>
              <a:cs typeface="Calibri" pitchFamily="34" charset="0"/>
            </a:endParaRPr>
          </a:p>
        </p:txBody>
      </p:sp>
    </p:spTree>
    <p:custDataLst>
      <p:tags r:id="rId1"/>
    </p:custDataLst>
    <p:extLst>
      <p:ext uri="{BB962C8B-B14F-4D97-AF65-F5344CB8AC3E}">
        <p14:creationId xmlns:p14="http://schemas.microsoft.com/office/powerpoint/2010/main" val="2440047412"/>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ChangeArrowheads="1"/>
          </p:cNvSpPr>
          <p:nvPr/>
        </p:nvSpPr>
        <p:spPr bwMode="auto">
          <a:xfrm>
            <a:off x="0" y="0"/>
            <a:ext cx="9144000" cy="6858000"/>
          </a:xfrm>
          <a:prstGeom prst="rect">
            <a:avLst/>
          </a:prstGeom>
          <a:solidFill>
            <a:srgbClr val="FFFFFF">
              <a:alpha val="50000"/>
            </a:srgbClr>
          </a:solidFill>
          <a:ln w="12700">
            <a:solidFill>
              <a:schemeClr val="tx1"/>
            </a:solidFill>
            <a:miter lim="800000"/>
            <a:headEnd type="none" w="sm" len="sm"/>
            <a:tailEnd type="none" w="sm" len="sm"/>
          </a:ln>
          <a:effectLst/>
        </p:spPr>
        <p:txBody>
          <a:bodyPr wrap="none" anchor="ctr"/>
          <a:lstStyle/>
          <a:p>
            <a:pPr eaLnBrk="1" hangingPunct="1">
              <a:lnSpc>
                <a:spcPct val="100000"/>
              </a:lnSpc>
              <a:spcBef>
                <a:spcPct val="0"/>
              </a:spcBef>
              <a:defRPr/>
            </a:pPr>
            <a:endParaRPr lang="en-US">
              <a:solidFill>
                <a:srgbClr val="000000"/>
              </a:solidFill>
              <a:effectLst>
                <a:outerShdw blurRad="38100" dist="38100" dir="2700000" algn="tl">
                  <a:srgbClr val="000000">
                    <a:alpha val="43137"/>
                  </a:srgbClr>
                </a:outerShdw>
              </a:effectLst>
              <a:latin typeface="Arial" pitchFamily="34" charset="0"/>
            </a:endParaRPr>
          </a:p>
        </p:txBody>
      </p:sp>
      <p:pic>
        <p:nvPicPr>
          <p:cNvPr id="6" name="Picture 2" descr="ti_stk_2c_pos_rgb_jpg"/>
          <p:cNvPicPr>
            <a:picLocks noChangeAspect="1" noChangeArrowheads="1"/>
          </p:cNvPicPr>
          <p:nvPr/>
        </p:nvPicPr>
        <p:blipFill>
          <a:blip r:embed="rId4" cstate="print"/>
          <a:srcRect/>
          <a:stretch>
            <a:fillRect/>
          </a:stretch>
        </p:blipFill>
        <p:spPr bwMode="auto">
          <a:xfrm>
            <a:off x="159325" y="1752600"/>
            <a:ext cx="8839200" cy="3101975"/>
          </a:xfrm>
          <a:prstGeom prst="rect">
            <a:avLst/>
          </a:prstGeom>
          <a:noFill/>
          <a:ln w="9525">
            <a:noFill/>
            <a:miter lim="800000"/>
            <a:headEnd/>
            <a:tailEnd/>
          </a:ln>
        </p:spPr>
      </p:pic>
      <p:pic>
        <p:nvPicPr>
          <p:cNvPr id="9" name="Animated Logo" descr="tilogo_color_twoline.png"/>
          <p:cNvPicPr>
            <a:picLocks noChangeAspect="1"/>
          </p:cNvPicPr>
          <p:nvPr/>
        </p:nvPicPr>
        <p:blipFill>
          <a:blip r:embed="rId5" cstate="print"/>
          <a:stretch>
            <a:fillRect/>
          </a:stretch>
        </p:blipFill>
        <p:spPr>
          <a:xfrm>
            <a:off x="50800" y="6477000"/>
            <a:ext cx="1438537" cy="347443"/>
          </a:xfrm>
          <a:prstGeom prst="rect">
            <a:avLst/>
          </a:prstGeom>
        </p:spPr>
      </p:pic>
    </p:spTree>
    <p:custDataLst>
      <p:tags r:id="rId1"/>
    </p:custData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dirty="0" err="1" smtClean="0"/>
              <a:t>Swi’s</a:t>
            </a:r>
            <a:r>
              <a:rPr lang="en-US" dirty="0" smtClean="0"/>
              <a:t> and Tasks</a:t>
            </a:r>
          </a:p>
        </p:txBody>
      </p:sp>
      <p:sp>
        <p:nvSpPr>
          <p:cNvPr id="13315" name="Text Box 3"/>
          <p:cNvSpPr txBox="1">
            <a:spLocks noChangeArrowheads="1"/>
          </p:cNvSpPr>
          <p:nvPr/>
        </p:nvSpPr>
        <p:spPr bwMode="auto">
          <a:xfrm>
            <a:off x="457200" y="4594896"/>
            <a:ext cx="3962400" cy="1729704"/>
          </a:xfrm>
          <a:prstGeom prst="rect">
            <a:avLst/>
          </a:prstGeom>
          <a:noFill/>
          <a:ln w="12700">
            <a:noFill/>
            <a:miter lim="800000"/>
            <a:headEnd type="none" w="sm" len="sm"/>
            <a:tailEnd type="none" w="sm" len="sm"/>
          </a:ln>
        </p:spPr>
        <p:txBody>
          <a:bodyPr>
            <a:spAutoFit/>
          </a:bodyPr>
          <a:lstStyle/>
          <a:p>
            <a:pPr marL="230188" indent="-230188">
              <a:spcBef>
                <a:spcPts val="600"/>
              </a:spcBef>
              <a:buClr>
                <a:srgbClr val="0066FF"/>
              </a:buClr>
              <a:buFont typeface="Wingdings" pitchFamily="2" charset="2"/>
              <a:buChar char="w"/>
            </a:pPr>
            <a:r>
              <a:rPr lang="en-US" sz="2000" b="0" dirty="0">
                <a:solidFill>
                  <a:srgbClr val="000000"/>
                </a:solidFill>
                <a:latin typeface="Calibri" pitchFamily="34" charset="0"/>
                <a:cs typeface="Calibri" pitchFamily="34" charset="0"/>
              </a:rPr>
              <a:t>Similar to hardware interrupt, but triggered when posted</a:t>
            </a:r>
          </a:p>
          <a:p>
            <a:pPr marL="230188" indent="-230188">
              <a:spcBef>
                <a:spcPts val="600"/>
              </a:spcBef>
              <a:buClr>
                <a:srgbClr val="0066FF"/>
              </a:buClr>
              <a:buFont typeface="Wingdings" pitchFamily="2" charset="2"/>
              <a:buChar char="w"/>
            </a:pPr>
            <a:r>
              <a:rPr lang="en-US" sz="2000" b="0" dirty="0">
                <a:solidFill>
                  <a:srgbClr val="000000"/>
                </a:solidFill>
                <a:latin typeface="Calibri" pitchFamily="34" charset="0"/>
                <a:cs typeface="Calibri" pitchFamily="34" charset="0"/>
              </a:rPr>
              <a:t>All </a:t>
            </a:r>
            <a:r>
              <a:rPr lang="en-US" sz="2000" b="0" dirty="0" err="1" smtClean="0">
                <a:solidFill>
                  <a:srgbClr val="000000"/>
                </a:solidFill>
                <a:latin typeface="Calibri" pitchFamily="34" charset="0"/>
                <a:cs typeface="Calibri" pitchFamily="34" charset="0"/>
              </a:rPr>
              <a:t>Swi’s</a:t>
            </a:r>
            <a:r>
              <a:rPr lang="en-US" sz="2000" b="0" dirty="0" smtClean="0">
                <a:solidFill>
                  <a:srgbClr val="000000"/>
                </a:solidFill>
                <a:latin typeface="Calibri" pitchFamily="34" charset="0"/>
                <a:cs typeface="Calibri" pitchFamily="34" charset="0"/>
              </a:rPr>
              <a:t> </a:t>
            </a:r>
            <a:r>
              <a:rPr lang="en-US" sz="2000" b="0" dirty="0">
                <a:solidFill>
                  <a:srgbClr val="000000"/>
                </a:solidFill>
                <a:latin typeface="Calibri" pitchFamily="34" charset="0"/>
                <a:cs typeface="Calibri" pitchFamily="34" charset="0"/>
              </a:rPr>
              <a:t>share system software </a:t>
            </a:r>
            <a:r>
              <a:rPr lang="en-US" sz="2000" b="0" dirty="0" smtClean="0">
                <a:solidFill>
                  <a:srgbClr val="000000"/>
                </a:solidFill>
                <a:latin typeface="Calibri" pitchFamily="34" charset="0"/>
                <a:cs typeface="Calibri" pitchFamily="34" charset="0"/>
              </a:rPr>
              <a:t>stack </a:t>
            </a:r>
            <a:r>
              <a:rPr lang="en-US" sz="2000" b="0" smtClean="0">
                <a:solidFill>
                  <a:srgbClr val="000000"/>
                </a:solidFill>
                <a:latin typeface="Calibri" pitchFamily="34" charset="0"/>
                <a:cs typeface="Calibri" pitchFamily="34" charset="0"/>
              </a:rPr>
              <a:t>with Hwi’s</a:t>
            </a:r>
          </a:p>
          <a:p>
            <a:pPr marL="230188" indent="-230188">
              <a:spcBef>
                <a:spcPts val="600"/>
              </a:spcBef>
              <a:buClr>
                <a:srgbClr val="0066FF"/>
              </a:buClr>
              <a:buFont typeface="Wingdings" pitchFamily="2" charset="2"/>
              <a:buChar char="w"/>
            </a:pPr>
            <a:r>
              <a:rPr lang="en-US" sz="2000" b="0" smtClean="0">
                <a:solidFill>
                  <a:srgbClr val="000000"/>
                </a:solidFill>
                <a:latin typeface="Calibri" pitchFamily="34" charset="0"/>
                <a:cs typeface="Calibri" pitchFamily="34" charset="0"/>
              </a:rPr>
              <a:t>Context (init code at start) is not preserved between calls</a:t>
            </a:r>
            <a:endParaRPr lang="en-US" sz="2000" b="0" dirty="0">
              <a:solidFill>
                <a:srgbClr val="000000"/>
              </a:solidFill>
              <a:latin typeface="Calibri" pitchFamily="34" charset="0"/>
              <a:cs typeface="Calibri" pitchFamily="34" charset="0"/>
            </a:endParaRPr>
          </a:p>
        </p:txBody>
      </p:sp>
      <p:sp>
        <p:nvSpPr>
          <p:cNvPr id="13316" name="Text Box 4"/>
          <p:cNvSpPr txBox="1">
            <a:spLocks noChangeArrowheads="1"/>
          </p:cNvSpPr>
          <p:nvPr/>
        </p:nvSpPr>
        <p:spPr bwMode="auto">
          <a:xfrm>
            <a:off x="457200" y="838200"/>
            <a:ext cx="782009" cy="496161"/>
          </a:xfrm>
          <a:prstGeom prst="rect">
            <a:avLst/>
          </a:prstGeom>
          <a:noFill/>
          <a:ln w="12700">
            <a:noFill/>
            <a:miter lim="800000"/>
            <a:headEnd type="none" w="sm" len="sm"/>
            <a:tailEnd type="none" w="sm" len="sm"/>
          </a:ln>
        </p:spPr>
        <p:txBody>
          <a:bodyPr wrap="none">
            <a:spAutoFit/>
          </a:bodyPr>
          <a:lstStyle/>
          <a:p>
            <a:r>
              <a:rPr lang="en-US" sz="3200" dirty="0" err="1" smtClean="0">
                <a:solidFill>
                  <a:schemeClr val="tx2"/>
                </a:solidFill>
                <a:latin typeface="Calibri" pitchFamily="34" charset="0"/>
                <a:cs typeface="Calibri" pitchFamily="34" charset="0"/>
              </a:rPr>
              <a:t>Swi</a:t>
            </a:r>
            <a:endParaRPr lang="en-US" sz="3600" dirty="0">
              <a:solidFill>
                <a:schemeClr val="tx2"/>
              </a:solidFill>
              <a:latin typeface="Calibri" pitchFamily="34" charset="0"/>
              <a:cs typeface="Calibri" pitchFamily="34" charset="0"/>
            </a:endParaRPr>
          </a:p>
        </p:txBody>
      </p:sp>
      <p:sp>
        <p:nvSpPr>
          <p:cNvPr id="13317" name="Text Box 5"/>
          <p:cNvSpPr txBox="1">
            <a:spLocks noChangeArrowheads="1"/>
          </p:cNvSpPr>
          <p:nvPr/>
        </p:nvSpPr>
        <p:spPr bwMode="auto">
          <a:xfrm>
            <a:off x="2286000" y="794984"/>
            <a:ext cx="1752600" cy="338554"/>
          </a:xfrm>
          <a:prstGeom prst="rect">
            <a:avLst/>
          </a:prstGeom>
          <a:solidFill>
            <a:schemeClr val="bg1">
              <a:lumMod val="95000"/>
            </a:schemeClr>
          </a:solidFill>
          <a:ln w="12700">
            <a:solidFill>
              <a:schemeClr val="tx1"/>
            </a:solidFill>
            <a:miter lim="800000"/>
            <a:headEnd type="none" w="sm" len="sm"/>
            <a:tailEnd type="none" w="sm" len="sm"/>
          </a:ln>
        </p:spPr>
        <p:txBody>
          <a:bodyPr wrap="square">
            <a:spAutoFit/>
          </a:bodyPr>
          <a:lstStyle/>
          <a:p>
            <a:r>
              <a:rPr lang="en-US" sz="2000" dirty="0" err="1" smtClean="0">
                <a:solidFill>
                  <a:srgbClr val="000000"/>
                </a:solidFill>
                <a:latin typeface="Arial Narrow" pitchFamily="34" charset="0"/>
              </a:rPr>
              <a:t>Swi_post</a:t>
            </a:r>
            <a:r>
              <a:rPr lang="en-US" sz="2000" dirty="0" smtClean="0">
                <a:solidFill>
                  <a:srgbClr val="000000"/>
                </a:solidFill>
                <a:latin typeface="Arial Narrow" pitchFamily="34" charset="0"/>
              </a:rPr>
              <a:t> (</a:t>
            </a:r>
            <a:r>
              <a:rPr lang="en-US" sz="2000" dirty="0" err="1">
                <a:solidFill>
                  <a:srgbClr val="000000"/>
                </a:solidFill>
                <a:latin typeface="Arial Narrow" pitchFamily="34" charset="0"/>
              </a:rPr>
              <a:t>S</a:t>
            </a:r>
            <a:r>
              <a:rPr lang="en-US" sz="2000" dirty="0" err="1" smtClean="0">
                <a:solidFill>
                  <a:srgbClr val="000000"/>
                </a:solidFill>
                <a:latin typeface="Arial Narrow" pitchFamily="34" charset="0"/>
              </a:rPr>
              <a:t>wi</a:t>
            </a:r>
            <a:r>
              <a:rPr lang="en-US" sz="2000" dirty="0" smtClean="0">
                <a:solidFill>
                  <a:srgbClr val="000000"/>
                </a:solidFill>
                <a:latin typeface="Arial Narrow" pitchFamily="34" charset="0"/>
              </a:rPr>
              <a:t>);</a:t>
            </a:r>
            <a:endParaRPr lang="en-US" dirty="0">
              <a:solidFill>
                <a:srgbClr val="000000"/>
              </a:solidFill>
              <a:latin typeface="Arial Narrow" pitchFamily="34" charset="0"/>
            </a:endParaRPr>
          </a:p>
        </p:txBody>
      </p:sp>
      <p:sp>
        <p:nvSpPr>
          <p:cNvPr id="374790" name="Rectangle 6"/>
          <p:cNvSpPr>
            <a:spLocks noChangeArrowheads="1"/>
          </p:cNvSpPr>
          <p:nvPr/>
        </p:nvSpPr>
        <p:spPr bwMode="auto">
          <a:xfrm>
            <a:off x="533400" y="1247775"/>
            <a:ext cx="3276600" cy="3124200"/>
          </a:xfrm>
          <a:prstGeom prst="rect">
            <a:avLst/>
          </a:prstGeom>
          <a:solidFill>
            <a:schemeClr val="accent5">
              <a:lumMod val="20000"/>
              <a:lumOff val="80000"/>
            </a:schemeClr>
          </a:solidFill>
          <a:ln w="12700">
            <a:solidFill>
              <a:schemeClr val="tx1"/>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74791" name="Line 7"/>
          <p:cNvSpPr>
            <a:spLocks noChangeShapeType="1"/>
          </p:cNvSpPr>
          <p:nvPr/>
        </p:nvSpPr>
        <p:spPr bwMode="auto">
          <a:xfrm flipH="1">
            <a:off x="1828800" y="1412875"/>
            <a:ext cx="1588" cy="2854325"/>
          </a:xfrm>
          <a:prstGeom prst="line">
            <a:avLst/>
          </a:prstGeom>
          <a:noFill/>
          <a:ln w="28575">
            <a:solidFill>
              <a:schemeClr val="tx1"/>
            </a:solidFill>
            <a:round/>
            <a:headEnd type="none" w="sm" len="sm"/>
            <a:tailEnd type="triangle" w="med" len="me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13320" name="Text Box 8"/>
          <p:cNvSpPr txBox="1">
            <a:spLocks noChangeArrowheads="1"/>
          </p:cNvSpPr>
          <p:nvPr/>
        </p:nvSpPr>
        <p:spPr bwMode="auto">
          <a:xfrm>
            <a:off x="2057400" y="1354138"/>
            <a:ext cx="846138" cy="384175"/>
          </a:xfrm>
          <a:prstGeom prst="rect">
            <a:avLst/>
          </a:prstGeom>
          <a:noFill/>
          <a:ln w="12700">
            <a:noFill/>
            <a:miter lim="800000"/>
            <a:headEnd type="none" w="sm" len="sm"/>
            <a:tailEnd type="none" w="sm" len="sm"/>
          </a:ln>
        </p:spPr>
        <p:txBody>
          <a:bodyPr wrap="none">
            <a:spAutoFit/>
          </a:bodyPr>
          <a:lstStyle/>
          <a:p>
            <a:r>
              <a:rPr lang="en-US" dirty="0">
                <a:solidFill>
                  <a:schemeClr val="tx2"/>
                </a:solidFill>
              </a:rPr>
              <a:t>start</a:t>
            </a:r>
            <a:endParaRPr lang="en-US" sz="2800" dirty="0">
              <a:solidFill>
                <a:schemeClr val="tx2"/>
              </a:solidFill>
              <a:latin typeface="Times New Roman" pitchFamily="18" charset="0"/>
            </a:endParaRPr>
          </a:p>
        </p:txBody>
      </p:sp>
      <p:sp>
        <p:nvSpPr>
          <p:cNvPr id="13321" name="Text Box 9"/>
          <p:cNvSpPr txBox="1">
            <a:spLocks noChangeArrowheads="1"/>
          </p:cNvSpPr>
          <p:nvPr/>
        </p:nvSpPr>
        <p:spPr bwMode="auto">
          <a:xfrm>
            <a:off x="2057400" y="3959225"/>
            <a:ext cx="725488" cy="384175"/>
          </a:xfrm>
          <a:prstGeom prst="rect">
            <a:avLst/>
          </a:prstGeom>
          <a:noFill/>
          <a:ln w="12700">
            <a:noFill/>
            <a:miter lim="800000"/>
            <a:headEnd type="none" w="sm" len="sm"/>
            <a:tailEnd type="none" w="sm" len="sm"/>
          </a:ln>
        </p:spPr>
        <p:txBody>
          <a:bodyPr wrap="none">
            <a:spAutoFit/>
          </a:bodyPr>
          <a:lstStyle/>
          <a:p>
            <a:r>
              <a:rPr lang="en-US">
                <a:solidFill>
                  <a:schemeClr val="tx2"/>
                </a:solidFill>
              </a:rPr>
              <a:t>end</a:t>
            </a:r>
            <a:endParaRPr lang="en-US" sz="2800">
              <a:solidFill>
                <a:schemeClr val="tx2"/>
              </a:solidFill>
              <a:latin typeface="Times New Roman" pitchFamily="18" charset="0"/>
            </a:endParaRPr>
          </a:p>
        </p:txBody>
      </p:sp>
      <p:sp>
        <p:nvSpPr>
          <p:cNvPr id="13322" name="Text Box 10"/>
          <p:cNvSpPr txBox="1">
            <a:spLocks noChangeArrowheads="1"/>
          </p:cNvSpPr>
          <p:nvPr/>
        </p:nvSpPr>
        <p:spPr bwMode="auto">
          <a:xfrm>
            <a:off x="2209800" y="2417763"/>
            <a:ext cx="1665288" cy="733425"/>
          </a:xfrm>
          <a:prstGeom prst="rect">
            <a:avLst/>
          </a:prstGeom>
          <a:noFill/>
          <a:ln w="12700">
            <a:noFill/>
            <a:miter lim="800000"/>
            <a:headEnd type="none" w="sm" len="sm"/>
            <a:tailEnd type="none" w="sm" len="sm"/>
          </a:ln>
        </p:spPr>
        <p:txBody>
          <a:bodyPr wrap="none">
            <a:spAutoFit/>
          </a:bodyPr>
          <a:lstStyle/>
          <a:p>
            <a:r>
              <a:rPr lang="en-US" sz="2000">
                <a:solidFill>
                  <a:srgbClr val="000000"/>
                </a:solidFill>
              </a:rPr>
              <a:t>“run to</a:t>
            </a:r>
          </a:p>
          <a:p>
            <a:r>
              <a:rPr lang="en-US" sz="2000">
                <a:solidFill>
                  <a:srgbClr val="000000"/>
                </a:solidFill>
              </a:rPr>
              <a:t>completion”</a:t>
            </a:r>
            <a:endParaRPr lang="en-US" sz="2800">
              <a:solidFill>
                <a:srgbClr val="000000"/>
              </a:solidFill>
              <a:latin typeface="Times New Roman" pitchFamily="18" charset="0"/>
            </a:endParaRPr>
          </a:p>
        </p:txBody>
      </p:sp>
      <p:sp>
        <p:nvSpPr>
          <p:cNvPr id="13324" name="Text Box 12"/>
          <p:cNvSpPr txBox="1">
            <a:spLocks noChangeArrowheads="1"/>
          </p:cNvSpPr>
          <p:nvPr/>
        </p:nvSpPr>
        <p:spPr bwMode="auto">
          <a:xfrm>
            <a:off x="4719638" y="4572000"/>
            <a:ext cx="4500562" cy="1754326"/>
          </a:xfrm>
          <a:prstGeom prst="rect">
            <a:avLst/>
          </a:prstGeom>
          <a:noFill/>
          <a:ln w="12700">
            <a:noFill/>
            <a:miter lim="800000"/>
            <a:headEnd type="none" w="sm" len="sm"/>
            <a:tailEnd type="none" w="sm" len="sm"/>
          </a:ln>
        </p:spPr>
        <p:txBody>
          <a:bodyPr wrap="square">
            <a:spAutoFit/>
          </a:bodyPr>
          <a:lstStyle/>
          <a:p>
            <a:pPr marL="230188" indent="-230188">
              <a:lnSpc>
                <a:spcPct val="90000"/>
              </a:lnSpc>
              <a:spcBef>
                <a:spcPct val="30000"/>
              </a:spcBef>
              <a:buClr>
                <a:srgbClr val="0066FF"/>
              </a:buClr>
              <a:buFont typeface="Wingdings" pitchFamily="2" charset="2"/>
              <a:buChar char="w"/>
            </a:pPr>
            <a:r>
              <a:rPr lang="en-US" sz="2000" b="0" smtClean="0">
                <a:solidFill>
                  <a:srgbClr val="000000"/>
                </a:solidFill>
                <a:latin typeface="Calibri" pitchFamily="34" charset="0"/>
                <a:cs typeface="Calibri" pitchFamily="34" charset="0"/>
              </a:rPr>
              <a:t>Designed to run concurrently</a:t>
            </a:r>
          </a:p>
          <a:p>
            <a:pPr marL="230188" indent="-230188">
              <a:lnSpc>
                <a:spcPct val="90000"/>
              </a:lnSpc>
              <a:spcBef>
                <a:spcPct val="30000"/>
              </a:spcBef>
              <a:buClr>
                <a:srgbClr val="0066FF"/>
              </a:buClr>
              <a:buFont typeface="Wingdings" pitchFamily="2" charset="2"/>
              <a:buChar char="w"/>
            </a:pPr>
            <a:r>
              <a:rPr lang="en-US" sz="2000" b="0" smtClean="0">
                <a:solidFill>
                  <a:srgbClr val="000000"/>
                </a:solidFill>
                <a:latin typeface="Calibri" pitchFamily="34" charset="0"/>
                <a:cs typeface="Calibri" pitchFamily="34" charset="0"/>
              </a:rPr>
              <a:t>Unblocking (via flag) triggers execution</a:t>
            </a:r>
            <a:endParaRPr lang="en-US" sz="2000" b="0" dirty="0">
              <a:solidFill>
                <a:srgbClr val="000000"/>
              </a:solidFill>
              <a:latin typeface="Calibri" pitchFamily="34" charset="0"/>
              <a:cs typeface="Calibri" pitchFamily="34" charset="0"/>
            </a:endParaRPr>
          </a:p>
          <a:p>
            <a:pPr marL="230188" indent="-230188">
              <a:lnSpc>
                <a:spcPct val="90000"/>
              </a:lnSpc>
              <a:spcBef>
                <a:spcPct val="30000"/>
              </a:spcBef>
              <a:buClr>
                <a:srgbClr val="0066FF"/>
              </a:buClr>
              <a:buFont typeface="Wingdings" pitchFamily="2" charset="2"/>
              <a:buChar char="w"/>
            </a:pPr>
            <a:r>
              <a:rPr lang="en-US" sz="2000" b="0" dirty="0">
                <a:solidFill>
                  <a:srgbClr val="000000"/>
                </a:solidFill>
                <a:latin typeface="Calibri" pitchFamily="34" charset="0"/>
                <a:cs typeface="Calibri" pitchFamily="34" charset="0"/>
              </a:rPr>
              <a:t>Each </a:t>
            </a:r>
            <a:r>
              <a:rPr lang="en-US" sz="2000" b="0" u="sng" dirty="0" smtClean="0">
                <a:solidFill>
                  <a:srgbClr val="000000"/>
                </a:solidFill>
                <a:latin typeface="Calibri" pitchFamily="34" charset="0"/>
                <a:cs typeface="Calibri" pitchFamily="34" charset="0"/>
              </a:rPr>
              <a:t>Task</a:t>
            </a:r>
            <a:r>
              <a:rPr lang="en-US" sz="2000" b="0" dirty="0" smtClean="0">
                <a:solidFill>
                  <a:srgbClr val="000000"/>
                </a:solidFill>
                <a:latin typeface="Calibri" pitchFamily="34" charset="0"/>
                <a:cs typeface="Calibri" pitchFamily="34" charset="0"/>
              </a:rPr>
              <a:t> </a:t>
            </a:r>
            <a:r>
              <a:rPr lang="en-US" sz="2000" b="0" dirty="0">
                <a:solidFill>
                  <a:srgbClr val="000000"/>
                </a:solidFill>
                <a:latin typeface="Calibri" pitchFamily="34" charset="0"/>
                <a:cs typeface="Calibri" pitchFamily="34" charset="0"/>
              </a:rPr>
              <a:t>has its own stack, which allows them to pause (i.e. block)</a:t>
            </a:r>
          </a:p>
          <a:p>
            <a:pPr marL="230188" indent="-230188">
              <a:lnSpc>
                <a:spcPct val="90000"/>
              </a:lnSpc>
              <a:spcBef>
                <a:spcPct val="30000"/>
              </a:spcBef>
              <a:buClr>
                <a:srgbClr val="0066FF"/>
              </a:buClr>
              <a:buFont typeface="Wingdings" pitchFamily="2" charset="2"/>
              <a:buChar char="w"/>
            </a:pPr>
            <a:r>
              <a:rPr lang="en-US" sz="2000" b="0" dirty="0">
                <a:solidFill>
                  <a:schemeClr val="tx2"/>
                </a:solidFill>
                <a:latin typeface="Calibri" pitchFamily="34" charset="0"/>
                <a:cs typeface="Calibri" pitchFamily="34" charset="0"/>
              </a:rPr>
              <a:t>Topology: prologue</a:t>
            </a:r>
            <a:r>
              <a:rPr lang="en-US" sz="2000" b="0">
                <a:solidFill>
                  <a:schemeClr val="tx2"/>
                </a:solidFill>
                <a:latin typeface="Calibri" pitchFamily="34" charset="0"/>
                <a:cs typeface="Calibri" pitchFamily="34" charset="0"/>
              </a:rPr>
              <a:t>, </a:t>
            </a:r>
            <a:r>
              <a:rPr lang="en-US" sz="2000" b="0" smtClean="0">
                <a:solidFill>
                  <a:schemeClr val="tx2"/>
                </a:solidFill>
                <a:latin typeface="Calibri" pitchFamily="34" charset="0"/>
                <a:cs typeface="Calibri" pitchFamily="34" charset="0"/>
              </a:rPr>
              <a:t>loop, epilogue</a:t>
            </a:r>
            <a:r>
              <a:rPr lang="en-US" sz="2000" b="0" dirty="0">
                <a:solidFill>
                  <a:schemeClr val="tx2"/>
                </a:solidFill>
                <a:latin typeface="Calibri" pitchFamily="34" charset="0"/>
                <a:cs typeface="Calibri" pitchFamily="34" charset="0"/>
              </a:rPr>
              <a:t>…</a:t>
            </a:r>
          </a:p>
        </p:txBody>
      </p:sp>
      <p:sp>
        <p:nvSpPr>
          <p:cNvPr id="374797" name="Rectangle 13"/>
          <p:cNvSpPr>
            <a:spLocks noChangeArrowheads="1"/>
          </p:cNvSpPr>
          <p:nvPr/>
        </p:nvSpPr>
        <p:spPr bwMode="auto">
          <a:xfrm>
            <a:off x="6400800" y="2057400"/>
            <a:ext cx="304800" cy="304800"/>
          </a:xfrm>
          <a:prstGeom prst="rect">
            <a:avLst/>
          </a:prstGeom>
          <a:solidFill>
            <a:schemeClr val="accent1"/>
          </a:solidFill>
          <a:ln w="12700">
            <a:no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74798" name="Rectangle 14"/>
          <p:cNvSpPr>
            <a:spLocks noChangeArrowheads="1"/>
          </p:cNvSpPr>
          <p:nvPr/>
        </p:nvSpPr>
        <p:spPr bwMode="auto">
          <a:xfrm>
            <a:off x="4800600" y="1247775"/>
            <a:ext cx="3886200" cy="3140075"/>
          </a:xfrm>
          <a:prstGeom prst="rect">
            <a:avLst/>
          </a:prstGeom>
          <a:solidFill>
            <a:schemeClr val="accent4">
              <a:lumMod val="20000"/>
              <a:lumOff val="80000"/>
            </a:schemeClr>
          </a:solidFill>
          <a:ln w="12700">
            <a:solidFill>
              <a:schemeClr val="tx1"/>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13327" name="Text Box 15"/>
          <p:cNvSpPr txBox="1">
            <a:spLocks noChangeArrowheads="1"/>
          </p:cNvSpPr>
          <p:nvPr/>
        </p:nvSpPr>
        <p:spPr bwMode="auto">
          <a:xfrm>
            <a:off x="4712525" y="838200"/>
            <a:ext cx="919867" cy="496161"/>
          </a:xfrm>
          <a:prstGeom prst="rect">
            <a:avLst/>
          </a:prstGeom>
          <a:noFill/>
          <a:ln w="12700">
            <a:noFill/>
            <a:miter lim="800000"/>
            <a:headEnd type="none" w="sm" len="sm"/>
            <a:tailEnd type="none" w="sm" len="sm"/>
          </a:ln>
        </p:spPr>
        <p:txBody>
          <a:bodyPr wrap="none">
            <a:spAutoFit/>
          </a:bodyPr>
          <a:lstStyle/>
          <a:p>
            <a:r>
              <a:rPr lang="en-US" sz="3200" dirty="0" smtClean="0">
                <a:solidFill>
                  <a:schemeClr val="tx2"/>
                </a:solidFill>
                <a:latin typeface="Calibri" pitchFamily="34" charset="0"/>
                <a:cs typeface="Calibri" pitchFamily="34" charset="0"/>
              </a:rPr>
              <a:t>Task</a:t>
            </a:r>
            <a:endParaRPr lang="en-US" sz="3600" dirty="0">
              <a:solidFill>
                <a:schemeClr val="tx2"/>
              </a:solidFill>
              <a:latin typeface="Calibri" pitchFamily="34" charset="0"/>
              <a:cs typeface="Calibri" pitchFamily="34" charset="0"/>
            </a:endParaRPr>
          </a:p>
        </p:txBody>
      </p:sp>
      <p:grpSp>
        <p:nvGrpSpPr>
          <p:cNvPr id="2" name="Group 16"/>
          <p:cNvGrpSpPr>
            <a:grpSpLocks/>
          </p:cNvGrpSpPr>
          <p:nvPr/>
        </p:nvGrpSpPr>
        <p:grpSpPr bwMode="auto">
          <a:xfrm>
            <a:off x="4953000" y="1503363"/>
            <a:ext cx="1143000" cy="2743200"/>
            <a:chOff x="3312" y="1008"/>
            <a:chExt cx="720" cy="2160"/>
          </a:xfrm>
        </p:grpSpPr>
        <p:sp>
          <p:nvSpPr>
            <p:cNvPr id="374801" name="Line 17"/>
            <p:cNvSpPr>
              <a:spLocks noChangeShapeType="1"/>
            </p:cNvSpPr>
            <p:nvPr/>
          </p:nvSpPr>
          <p:spPr bwMode="auto">
            <a:xfrm>
              <a:off x="4032" y="1921"/>
              <a:ext cx="0" cy="1250"/>
            </a:xfrm>
            <a:prstGeom prst="line">
              <a:avLst/>
            </a:prstGeom>
            <a:noFill/>
            <a:ln w="28575">
              <a:solidFill>
                <a:schemeClr val="tx1"/>
              </a:solidFill>
              <a:round/>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74802" name="Line 18"/>
            <p:cNvSpPr>
              <a:spLocks noChangeShapeType="1"/>
            </p:cNvSpPr>
            <p:nvPr/>
          </p:nvSpPr>
          <p:spPr bwMode="auto">
            <a:xfrm flipH="1">
              <a:off x="3312" y="3168"/>
              <a:ext cx="720" cy="0"/>
            </a:xfrm>
            <a:prstGeom prst="line">
              <a:avLst/>
            </a:prstGeom>
            <a:noFill/>
            <a:ln w="28575">
              <a:solidFill>
                <a:schemeClr val="tx1"/>
              </a:solidFill>
              <a:round/>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74803" name="Line 19"/>
            <p:cNvSpPr>
              <a:spLocks noChangeShapeType="1"/>
            </p:cNvSpPr>
            <p:nvPr/>
          </p:nvSpPr>
          <p:spPr bwMode="auto">
            <a:xfrm flipV="1">
              <a:off x="3312" y="1008"/>
              <a:ext cx="0" cy="2160"/>
            </a:xfrm>
            <a:prstGeom prst="line">
              <a:avLst/>
            </a:prstGeom>
            <a:noFill/>
            <a:ln w="28575">
              <a:solidFill>
                <a:schemeClr val="tx1"/>
              </a:solidFill>
              <a:round/>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74804" name="Line 20"/>
            <p:cNvSpPr>
              <a:spLocks noChangeShapeType="1"/>
            </p:cNvSpPr>
            <p:nvPr/>
          </p:nvSpPr>
          <p:spPr bwMode="auto">
            <a:xfrm>
              <a:off x="3312" y="1008"/>
              <a:ext cx="720" cy="0"/>
            </a:xfrm>
            <a:prstGeom prst="line">
              <a:avLst/>
            </a:prstGeom>
            <a:noFill/>
            <a:ln w="28575">
              <a:solidFill>
                <a:schemeClr val="tx1"/>
              </a:solidFill>
              <a:round/>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74805" name="Line 21"/>
            <p:cNvSpPr>
              <a:spLocks noChangeShapeType="1"/>
            </p:cNvSpPr>
            <p:nvPr/>
          </p:nvSpPr>
          <p:spPr bwMode="auto">
            <a:xfrm>
              <a:off x="4032" y="1008"/>
              <a:ext cx="0" cy="193"/>
            </a:xfrm>
            <a:prstGeom prst="line">
              <a:avLst/>
            </a:prstGeom>
            <a:noFill/>
            <a:ln w="28575">
              <a:solidFill>
                <a:schemeClr val="tx1"/>
              </a:solidFill>
              <a:round/>
              <a:headEnd type="none" w="sm" len="sm"/>
              <a:tailEnd type="triangle" w="med" len="me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grpSp>
      <p:sp>
        <p:nvSpPr>
          <p:cNvPr id="13329" name="Text Box 22"/>
          <p:cNvSpPr txBox="1">
            <a:spLocks noChangeArrowheads="1"/>
          </p:cNvSpPr>
          <p:nvPr/>
        </p:nvSpPr>
        <p:spPr bwMode="auto">
          <a:xfrm>
            <a:off x="6156325" y="2917825"/>
            <a:ext cx="846138" cy="384175"/>
          </a:xfrm>
          <a:prstGeom prst="rect">
            <a:avLst/>
          </a:prstGeom>
          <a:noFill/>
          <a:ln w="12700">
            <a:noFill/>
            <a:miter lim="800000"/>
            <a:headEnd type="none" w="sm" len="sm"/>
            <a:tailEnd type="none" w="sm" len="sm"/>
          </a:ln>
        </p:spPr>
        <p:txBody>
          <a:bodyPr wrap="none">
            <a:spAutoFit/>
          </a:bodyPr>
          <a:lstStyle/>
          <a:p>
            <a:r>
              <a:rPr lang="en-US">
                <a:solidFill>
                  <a:schemeClr val="tx2"/>
                </a:solidFill>
              </a:rPr>
              <a:t>start</a:t>
            </a:r>
            <a:endParaRPr lang="en-US" sz="2800">
              <a:solidFill>
                <a:schemeClr val="tx2"/>
              </a:solidFill>
              <a:latin typeface="Times New Roman" pitchFamily="18" charset="0"/>
            </a:endParaRPr>
          </a:p>
        </p:txBody>
      </p:sp>
      <p:sp>
        <p:nvSpPr>
          <p:cNvPr id="13330" name="Text Box 23"/>
          <p:cNvSpPr txBox="1">
            <a:spLocks noChangeArrowheads="1"/>
          </p:cNvSpPr>
          <p:nvPr/>
        </p:nvSpPr>
        <p:spPr bwMode="auto">
          <a:xfrm>
            <a:off x="6132513" y="3862388"/>
            <a:ext cx="725487" cy="384175"/>
          </a:xfrm>
          <a:prstGeom prst="rect">
            <a:avLst/>
          </a:prstGeom>
          <a:noFill/>
          <a:ln w="12700">
            <a:noFill/>
            <a:miter lim="800000"/>
            <a:headEnd type="none" w="sm" len="sm"/>
            <a:tailEnd type="none" w="sm" len="sm"/>
          </a:ln>
        </p:spPr>
        <p:txBody>
          <a:bodyPr wrap="none">
            <a:spAutoFit/>
          </a:bodyPr>
          <a:lstStyle/>
          <a:p>
            <a:r>
              <a:rPr lang="en-US">
                <a:solidFill>
                  <a:schemeClr val="tx2"/>
                </a:solidFill>
              </a:rPr>
              <a:t>end</a:t>
            </a:r>
            <a:endParaRPr lang="en-US" sz="2800">
              <a:solidFill>
                <a:schemeClr val="tx2"/>
              </a:solidFill>
              <a:latin typeface="Times New Roman" pitchFamily="18" charset="0"/>
            </a:endParaRPr>
          </a:p>
        </p:txBody>
      </p:sp>
      <p:sp>
        <p:nvSpPr>
          <p:cNvPr id="13331" name="Text Box 24"/>
          <p:cNvSpPr txBox="1">
            <a:spLocks noChangeArrowheads="1"/>
          </p:cNvSpPr>
          <p:nvPr/>
        </p:nvSpPr>
        <p:spPr bwMode="auto">
          <a:xfrm>
            <a:off x="7491412" y="2210417"/>
            <a:ext cx="933450" cy="336550"/>
          </a:xfrm>
          <a:prstGeom prst="rect">
            <a:avLst/>
          </a:prstGeom>
          <a:noFill/>
          <a:ln w="12700">
            <a:noFill/>
            <a:miter lim="800000"/>
            <a:headEnd type="none" w="sm" len="sm"/>
            <a:tailEnd type="none" w="sm" len="sm"/>
          </a:ln>
        </p:spPr>
        <p:txBody>
          <a:bodyPr wrap="none">
            <a:spAutoFit/>
          </a:bodyPr>
          <a:lstStyle/>
          <a:p>
            <a:pPr algn="ctr"/>
            <a:r>
              <a:rPr lang="en-US" sz="2000">
                <a:solidFill>
                  <a:schemeClr val="tx2"/>
                </a:solidFill>
              </a:rPr>
              <a:t>Pause</a:t>
            </a:r>
            <a:endParaRPr lang="en-US">
              <a:solidFill>
                <a:schemeClr val="tx2"/>
              </a:solidFill>
              <a:latin typeface="Times New Roman" pitchFamily="18" charset="0"/>
            </a:endParaRPr>
          </a:p>
        </p:txBody>
      </p:sp>
      <p:sp>
        <p:nvSpPr>
          <p:cNvPr id="13332" name="Text Box 25"/>
          <p:cNvSpPr txBox="1">
            <a:spLocks noChangeArrowheads="1"/>
          </p:cNvSpPr>
          <p:nvPr/>
        </p:nvSpPr>
        <p:spPr bwMode="auto">
          <a:xfrm>
            <a:off x="5995920" y="801805"/>
            <a:ext cx="2614680" cy="338554"/>
          </a:xfrm>
          <a:prstGeom prst="rect">
            <a:avLst/>
          </a:prstGeom>
          <a:solidFill>
            <a:schemeClr val="bg1">
              <a:lumMod val="95000"/>
            </a:schemeClr>
          </a:solidFill>
          <a:ln w="12700">
            <a:solidFill>
              <a:schemeClr val="tx1"/>
            </a:solidFill>
            <a:miter lim="800000"/>
            <a:headEnd type="none" w="sm" len="sm"/>
            <a:tailEnd type="none" w="sm" len="sm"/>
          </a:ln>
        </p:spPr>
        <p:txBody>
          <a:bodyPr wrap="square">
            <a:spAutoFit/>
          </a:bodyPr>
          <a:lstStyle/>
          <a:p>
            <a:r>
              <a:rPr lang="en-US" sz="2000" dirty="0" err="1" smtClean="0">
                <a:solidFill>
                  <a:srgbClr val="000000"/>
                </a:solidFill>
                <a:latin typeface="Arial Narrow" pitchFamily="34" charset="0"/>
              </a:rPr>
              <a:t>Semaphore_post</a:t>
            </a:r>
            <a:r>
              <a:rPr lang="en-US" sz="2000" dirty="0" smtClean="0">
                <a:solidFill>
                  <a:srgbClr val="000000"/>
                </a:solidFill>
                <a:latin typeface="Arial Narrow" pitchFamily="34" charset="0"/>
              </a:rPr>
              <a:t> (</a:t>
            </a:r>
            <a:r>
              <a:rPr lang="en-US" sz="2000" dirty="0" err="1" smtClean="0">
                <a:solidFill>
                  <a:srgbClr val="000000"/>
                </a:solidFill>
                <a:latin typeface="Arial Narrow" pitchFamily="34" charset="0"/>
              </a:rPr>
              <a:t>Sem</a:t>
            </a:r>
            <a:r>
              <a:rPr lang="en-US" sz="2000" dirty="0" smtClean="0">
                <a:solidFill>
                  <a:srgbClr val="000000"/>
                </a:solidFill>
                <a:latin typeface="Arial Narrow" pitchFamily="34" charset="0"/>
              </a:rPr>
              <a:t>);</a:t>
            </a:r>
            <a:endParaRPr lang="en-US" dirty="0">
              <a:solidFill>
                <a:srgbClr val="000000"/>
              </a:solidFill>
              <a:latin typeface="Arial Narrow" pitchFamily="34" charset="0"/>
            </a:endParaRPr>
          </a:p>
        </p:txBody>
      </p:sp>
      <p:cxnSp>
        <p:nvCxnSpPr>
          <p:cNvPr id="13333" name="AutoShape 26"/>
          <p:cNvCxnSpPr>
            <a:cxnSpLocks noChangeShapeType="1"/>
            <a:stCxn id="13332" idx="2"/>
          </p:cNvCxnSpPr>
          <p:nvPr/>
        </p:nvCxnSpPr>
        <p:spPr bwMode="auto">
          <a:xfrm rot="5400000">
            <a:off x="6525625" y="1167938"/>
            <a:ext cx="805215" cy="750057"/>
          </a:xfrm>
          <a:prstGeom prst="curvedConnector3">
            <a:avLst>
              <a:gd name="adj1" fmla="val 50000"/>
            </a:avLst>
          </a:prstGeom>
          <a:noFill/>
          <a:ln w="28575">
            <a:solidFill>
              <a:schemeClr val="tx2"/>
            </a:solidFill>
            <a:round/>
            <a:headEnd type="none" w="med" len="med"/>
            <a:tailEnd type="arrow" w="med" len="med"/>
          </a:ln>
        </p:spPr>
      </p:cxnSp>
      <p:cxnSp>
        <p:nvCxnSpPr>
          <p:cNvPr id="13334" name="AutoShape 27"/>
          <p:cNvCxnSpPr>
            <a:cxnSpLocks noChangeShapeType="1"/>
            <a:endCxn id="13331" idx="1"/>
          </p:cNvCxnSpPr>
          <p:nvPr/>
        </p:nvCxnSpPr>
        <p:spPr bwMode="auto">
          <a:xfrm>
            <a:off x="7180262" y="2378692"/>
            <a:ext cx="311150" cy="0"/>
          </a:xfrm>
          <a:prstGeom prst="straightConnector1">
            <a:avLst/>
          </a:prstGeom>
          <a:noFill/>
          <a:ln w="12700">
            <a:solidFill>
              <a:schemeClr val="tx1"/>
            </a:solidFill>
            <a:round/>
            <a:headEnd type="none" w="sm" len="sm"/>
            <a:tailEnd type="triangle" w="sm" len="sm"/>
          </a:ln>
        </p:spPr>
      </p:cxnSp>
      <p:sp>
        <p:nvSpPr>
          <p:cNvPr id="13335" name="Text Box 28"/>
          <p:cNvSpPr txBox="1">
            <a:spLocks noChangeArrowheads="1"/>
          </p:cNvSpPr>
          <p:nvPr/>
        </p:nvSpPr>
        <p:spPr bwMode="auto">
          <a:xfrm>
            <a:off x="7304087" y="2546967"/>
            <a:ext cx="1306513" cy="581025"/>
          </a:xfrm>
          <a:prstGeom prst="rect">
            <a:avLst/>
          </a:prstGeom>
          <a:noFill/>
          <a:ln w="12700">
            <a:noFill/>
            <a:miter lim="800000"/>
            <a:headEnd type="none" w="sm" len="sm"/>
            <a:tailEnd type="none" w="sm" len="sm"/>
          </a:ln>
        </p:spPr>
        <p:txBody>
          <a:bodyPr wrap="none">
            <a:spAutoFit/>
          </a:bodyPr>
          <a:lstStyle/>
          <a:p>
            <a:pPr algn="ctr"/>
            <a:r>
              <a:rPr lang="en-US" sz="2000" b="0">
                <a:solidFill>
                  <a:srgbClr val="000000"/>
                </a:solidFill>
              </a:rPr>
              <a:t>(blocked</a:t>
            </a:r>
            <a:br>
              <a:rPr lang="en-US" sz="2000" b="0">
                <a:solidFill>
                  <a:srgbClr val="000000"/>
                </a:solidFill>
              </a:rPr>
            </a:br>
            <a:r>
              <a:rPr lang="en-US" sz="2000" b="0">
                <a:solidFill>
                  <a:srgbClr val="000000"/>
                </a:solidFill>
              </a:rPr>
              <a:t>       state)</a:t>
            </a:r>
            <a:endParaRPr lang="en-US" sz="2000" b="0">
              <a:solidFill>
                <a:srgbClr val="000000"/>
              </a:solidFill>
              <a:latin typeface="Times New Roman" pitchFamily="18" charset="0"/>
            </a:endParaRPr>
          </a:p>
        </p:txBody>
      </p:sp>
      <p:sp>
        <p:nvSpPr>
          <p:cNvPr id="13336" name="AutoShape 29"/>
          <p:cNvSpPr>
            <a:spLocks noChangeArrowheads="1"/>
          </p:cNvSpPr>
          <p:nvPr/>
        </p:nvSpPr>
        <p:spPr bwMode="auto">
          <a:xfrm>
            <a:off x="5072416" y="1752600"/>
            <a:ext cx="2057400" cy="1219200"/>
          </a:xfrm>
          <a:prstGeom prst="flowChartDecision">
            <a:avLst/>
          </a:prstGeom>
          <a:solidFill>
            <a:schemeClr val="accent6"/>
          </a:solidFill>
          <a:ln w="12700">
            <a:solidFill>
              <a:schemeClr val="tx1"/>
            </a:solidFill>
            <a:miter lim="800000"/>
            <a:headEnd type="none" w="sm" len="sm"/>
            <a:tailEnd type="none" w="sm" len="sm"/>
          </a:ln>
        </p:spPr>
        <p:txBody>
          <a:bodyPr wrap="none" anchor="ctr"/>
          <a:lstStyle/>
          <a:p>
            <a:pPr algn="ctr"/>
            <a:r>
              <a:rPr lang="en-US" sz="1800" dirty="0" err="1" smtClean="0">
                <a:solidFill>
                  <a:srgbClr val="000000"/>
                </a:solidFill>
                <a:latin typeface="Arial Narrow" pitchFamily="34" charset="0"/>
              </a:rPr>
              <a:t>Semaphore_pend</a:t>
            </a:r>
            <a:endParaRPr lang="en-US" sz="1800" dirty="0">
              <a:solidFill>
                <a:srgbClr val="000000"/>
              </a:solidFill>
              <a:latin typeface="Arial Narrow" pitchFamily="34" charset="0"/>
            </a:endParaRPr>
          </a:p>
        </p:txBody>
      </p:sp>
      <p:cxnSp>
        <p:nvCxnSpPr>
          <p:cNvPr id="36" name="Straight Arrow Connector 35"/>
          <p:cNvCxnSpPr>
            <a:endCxn id="13320" idx="3"/>
          </p:cNvCxnSpPr>
          <p:nvPr/>
        </p:nvCxnSpPr>
        <p:spPr bwMode="auto">
          <a:xfrm rot="5400000">
            <a:off x="2850356" y="1196182"/>
            <a:ext cx="403226" cy="296862"/>
          </a:xfrm>
          <a:prstGeom prst="straightConnector1">
            <a:avLst/>
          </a:prstGeom>
          <a:solidFill>
            <a:schemeClr val="accent1"/>
          </a:solidFill>
          <a:ln w="28575" cap="flat" cmpd="sng" algn="ctr">
            <a:solidFill>
              <a:schemeClr val="tx2"/>
            </a:solidFill>
            <a:prstDash val="solid"/>
            <a:round/>
            <a:headEnd type="none" w="sm" len="sm"/>
            <a:tailEnd type="arrow"/>
          </a:ln>
          <a:effectLst/>
        </p:spPr>
      </p:cxnSp>
      <p:sp>
        <p:nvSpPr>
          <p:cNvPr id="32" name="Rectangle 31"/>
          <p:cNvSpPr/>
          <p:nvPr/>
        </p:nvSpPr>
        <p:spPr bwMode="auto">
          <a:xfrm>
            <a:off x="228600" y="2209800"/>
            <a:ext cx="1295400" cy="1600200"/>
          </a:xfrm>
          <a:prstGeom prst="rect">
            <a:avLst/>
          </a:prstGeom>
          <a:solidFill>
            <a:schemeClr val="accent3">
              <a:lumMod val="60000"/>
              <a:lumOff val="40000"/>
            </a:schemeClr>
          </a:solidFill>
          <a:ln w="19050" cap="flat" cmpd="sng" algn="ctr">
            <a:solidFill>
              <a:schemeClr val="tx1"/>
            </a:solidFill>
            <a:prstDash val="solid"/>
            <a:round/>
            <a:headEnd type="none" w="sm" len="sm"/>
            <a:tailEnd type="none" w="sm" len="sm"/>
          </a:ln>
          <a:effectLst>
            <a:outerShdw blurRad="50800" dist="762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a:r>
              <a:rPr lang="en-US" b="0" dirty="0" smtClean="0">
                <a:solidFill>
                  <a:srgbClr val="000000"/>
                </a:solidFill>
                <a:latin typeface="Arial Narrow" pitchFamily="34" charset="0"/>
              </a:rPr>
              <a:t>System</a:t>
            </a:r>
            <a:br>
              <a:rPr lang="en-US" b="0" dirty="0" smtClean="0">
                <a:solidFill>
                  <a:srgbClr val="000000"/>
                </a:solidFill>
                <a:latin typeface="Arial Narrow" pitchFamily="34" charset="0"/>
              </a:rPr>
            </a:br>
            <a:r>
              <a:rPr lang="en-US" b="0" dirty="0" smtClean="0">
                <a:solidFill>
                  <a:srgbClr val="000000"/>
                </a:solidFill>
                <a:latin typeface="Arial Narrow" pitchFamily="34" charset="0"/>
              </a:rPr>
              <a:t>Stack</a:t>
            </a:r>
          </a:p>
          <a:p>
            <a:pPr algn="ctr"/>
            <a:r>
              <a:rPr lang="en-US" b="0" dirty="0" smtClean="0">
                <a:solidFill>
                  <a:srgbClr val="000000"/>
                </a:solidFill>
                <a:latin typeface="Arial Narrow" pitchFamily="34" charset="0"/>
              </a:rPr>
              <a:t>(</a:t>
            </a:r>
            <a:r>
              <a:rPr lang="en-US" b="0" dirty="0" err="1" smtClean="0">
                <a:solidFill>
                  <a:srgbClr val="000000"/>
                </a:solidFill>
                <a:latin typeface="Arial Narrow" pitchFamily="34" charset="0"/>
              </a:rPr>
              <a:t>Hwi</a:t>
            </a:r>
            <a:r>
              <a:rPr lang="en-US" b="0" dirty="0" smtClean="0">
                <a:solidFill>
                  <a:srgbClr val="000000"/>
                </a:solidFill>
                <a:latin typeface="Arial Narrow" pitchFamily="34" charset="0"/>
              </a:rPr>
              <a:t>/</a:t>
            </a:r>
            <a:r>
              <a:rPr lang="en-US" b="0" dirty="0" err="1" smtClean="0">
                <a:solidFill>
                  <a:srgbClr val="000000"/>
                </a:solidFill>
                <a:latin typeface="Arial Narrow" pitchFamily="34" charset="0"/>
              </a:rPr>
              <a:t>Swi</a:t>
            </a:r>
            <a:r>
              <a:rPr lang="en-US" b="0" dirty="0" smtClean="0">
                <a:solidFill>
                  <a:srgbClr val="000000"/>
                </a:solidFill>
                <a:latin typeface="Arial Narrow" pitchFamily="34" charset="0"/>
              </a:rPr>
              <a:t>)</a:t>
            </a:r>
          </a:p>
        </p:txBody>
      </p:sp>
      <p:sp>
        <p:nvSpPr>
          <p:cNvPr id="35" name="Rectangle 34"/>
          <p:cNvSpPr/>
          <p:nvPr/>
        </p:nvSpPr>
        <p:spPr bwMode="auto">
          <a:xfrm>
            <a:off x="7799696" y="3200400"/>
            <a:ext cx="1143000" cy="1295400"/>
          </a:xfrm>
          <a:prstGeom prst="rect">
            <a:avLst/>
          </a:prstGeom>
          <a:solidFill>
            <a:schemeClr val="accent3">
              <a:lumMod val="60000"/>
              <a:lumOff val="40000"/>
            </a:schemeClr>
          </a:solidFill>
          <a:ln w="19050" cap="flat" cmpd="sng" algn="ctr">
            <a:solidFill>
              <a:schemeClr val="tx1"/>
            </a:solidFill>
            <a:prstDash val="solid"/>
            <a:round/>
            <a:headEnd type="none" w="sm" len="sm"/>
            <a:tailEnd type="none" w="sm" len="sm"/>
          </a:ln>
          <a:effectLst>
            <a:outerShdw blurRad="50800" dist="762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a:r>
              <a:rPr lang="en-US" b="0" dirty="0" smtClean="0">
                <a:solidFill>
                  <a:srgbClr val="000000"/>
                </a:solidFill>
                <a:latin typeface="Arial Narrow" pitchFamily="34" charset="0"/>
              </a:rPr>
              <a:t>Private</a:t>
            </a:r>
            <a:br>
              <a:rPr lang="en-US" b="0" dirty="0" smtClean="0">
                <a:solidFill>
                  <a:srgbClr val="000000"/>
                </a:solidFill>
                <a:latin typeface="Arial Narrow" pitchFamily="34" charset="0"/>
              </a:rPr>
            </a:br>
            <a:r>
              <a:rPr lang="en-US" b="0" dirty="0" smtClean="0">
                <a:solidFill>
                  <a:srgbClr val="000000"/>
                </a:solidFill>
                <a:latin typeface="Arial Narrow" pitchFamily="34" charset="0"/>
              </a:rPr>
              <a:t>Stack</a:t>
            </a:r>
          </a:p>
          <a:p>
            <a:pPr algn="ctr"/>
            <a:r>
              <a:rPr lang="en-US" b="0" dirty="0" smtClean="0">
                <a:solidFill>
                  <a:srgbClr val="000000"/>
                </a:solidFill>
                <a:latin typeface="Arial Narrow" pitchFamily="34" charset="0"/>
              </a:rPr>
              <a:t>(Task)</a:t>
            </a:r>
          </a:p>
        </p:txBody>
      </p:sp>
      <p:pic>
        <p:nvPicPr>
          <p:cNvPr id="39"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Tree>
    <p:custDataLst>
      <p:tags r:id="rId1"/>
    </p:custDataLst>
    <p:extLst>
      <p:ext uri="{BB962C8B-B14F-4D97-AF65-F5344CB8AC3E}">
        <p14:creationId xmlns:p14="http://schemas.microsoft.com/office/powerpoint/2010/main" val="4026089196"/>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p:txBody>
          <a:bodyPr/>
          <a:lstStyle/>
          <a:p>
            <a:r>
              <a:rPr lang="en-US" dirty="0" smtClean="0"/>
              <a:t>Thread Preemption Example</a:t>
            </a:r>
          </a:p>
        </p:txBody>
      </p:sp>
      <p:sp>
        <p:nvSpPr>
          <p:cNvPr id="285" name="TextBox 284"/>
          <p:cNvSpPr txBox="1"/>
          <p:nvPr/>
        </p:nvSpPr>
        <p:spPr>
          <a:xfrm>
            <a:off x="1034528" y="6184386"/>
            <a:ext cx="7118872" cy="313932"/>
          </a:xfrm>
          <a:prstGeom prst="rect">
            <a:avLst/>
          </a:prstGeom>
          <a:noFill/>
        </p:spPr>
        <p:txBody>
          <a:bodyPr wrap="none" rtlCol="0" anchor="ctr" anchorCtr="0">
            <a:spAutoFit/>
          </a:bodyPr>
          <a:lstStyle/>
          <a:p>
            <a:r>
              <a:rPr lang="en-US" sz="1800" b="0" i="1" smtClean="0">
                <a:solidFill>
                  <a:srgbClr val="000000"/>
                </a:solidFill>
                <a:latin typeface="Calibri" pitchFamily="34" charset="0"/>
                <a:cs typeface="Calibri" pitchFamily="34" charset="0"/>
              </a:rPr>
              <a:t>Note: Tasks run when Scheduler starts and are always pre-empted by Swi’s</a:t>
            </a:r>
            <a:endParaRPr lang="en-US" sz="1800" b="0" i="1" dirty="0" smtClean="0">
              <a:solidFill>
                <a:srgbClr val="000000"/>
              </a:solidFill>
              <a:latin typeface="Calibri" pitchFamily="34" charset="0"/>
              <a:cs typeface="Calibri" pitchFamily="34" charset="0"/>
            </a:endParaRPr>
          </a:p>
        </p:txBody>
      </p:sp>
      <p:grpSp>
        <p:nvGrpSpPr>
          <p:cNvPr id="6" name="Group 5"/>
          <p:cNvGrpSpPr/>
          <p:nvPr/>
        </p:nvGrpSpPr>
        <p:grpSpPr>
          <a:xfrm>
            <a:off x="895350" y="742949"/>
            <a:ext cx="7334250" cy="5344567"/>
            <a:chOff x="57150" y="685799"/>
            <a:chExt cx="7334250" cy="5344567"/>
          </a:xfrm>
        </p:grpSpPr>
        <p:sp>
          <p:nvSpPr>
            <p:cNvPr id="351234" name="Rectangle 2"/>
            <p:cNvSpPr>
              <a:spLocks noChangeArrowheads="1"/>
            </p:cNvSpPr>
            <p:nvPr/>
          </p:nvSpPr>
          <p:spPr bwMode="auto">
            <a:xfrm>
              <a:off x="57150" y="685799"/>
              <a:ext cx="7334250" cy="5344567"/>
            </a:xfrm>
            <a:prstGeom prst="rect">
              <a:avLst/>
            </a:prstGeom>
            <a:solidFill>
              <a:schemeClr val="bg1">
                <a:lumMod val="75000"/>
              </a:schemeClr>
            </a:solidFill>
            <a:ln w="19050">
              <a:solidFill>
                <a:srgbClr val="111111"/>
              </a:solidFill>
              <a:miter lim="800000"/>
              <a:headEnd type="none" w="sm" len="sm"/>
              <a:tailEnd type="none" w="sm" len="sm"/>
            </a:ln>
            <a:effectLst/>
          </p:spPr>
          <p:txBody>
            <a:bodyPr wrap="none" anchor="ctr"/>
            <a:lstStyle/>
            <a:p>
              <a:pPr algn="ctr">
                <a:defRPr/>
              </a:pPr>
              <a:endParaRPr lang="en-US" sz="2800">
                <a:solidFill>
                  <a:srgbClr val="000000"/>
                </a:solidFill>
                <a:effectLst>
                  <a:outerShdw blurRad="38100" dist="38100" dir="2700000" algn="tl">
                    <a:srgbClr val="FFFFFF"/>
                  </a:outerShdw>
                </a:effectLst>
                <a:latin typeface="Times New Roman" pitchFamily="18" charset="0"/>
              </a:endParaRPr>
            </a:p>
          </p:txBody>
        </p:sp>
        <p:sp>
          <p:nvSpPr>
            <p:cNvPr id="351235" name="Rectangle 3"/>
            <p:cNvSpPr>
              <a:spLocks noChangeArrowheads="1"/>
            </p:cNvSpPr>
            <p:nvPr/>
          </p:nvSpPr>
          <p:spPr bwMode="auto">
            <a:xfrm>
              <a:off x="1447800" y="838200"/>
              <a:ext cx="5715000" cy="4876800"/>
            </a:xfrm>
            <a:prstGeom prst="rect">
              <a:avLst/>
            </a:prstGeom>
            <a:solidFill>
              <a:srgbClr val="F8F8F8"/>
            </a:solidFill>
            <a:ln w="19050">
              <a:solidFill>
                <a:srgbClr val="111111"/>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9221" name="Text Box 5"/>
            <p:cNvSpPr txBox="1">
              <a:spLocks noChangeArrowheads="1"/>
            </p:cNvSpPr>
            <p:nvPr/>
          </p:nvSpPr>
          <p:spPr bwMode="auto">
            <a:xfrm>
              <a:off x="688400" y="1247775"/>
              <a:ext cx="683200" cy="387798"/>
            </a:xfrm>
            <a:prstGeom prst="rect">
              <a:avLst/>
            </a:prstGeom>
            <a:noFill/>
            <a:ln w="12700">
              <a:noFill/>
              <a:miter lim="800000"/>
              <a:headEnd type="none" w="sm" len="sm"/>
              <a:tailEnd type="none" w="sm" len="sm"/>
            </a:ln>
          </p:spPr>
          <p:txBody>
            <a:bodyPr wrap="none">
              <a:spAutoFit/>
            </a:bodyPr>
            <a:lstStyle/>
            <a:p>
              <a:r>
                <a:rPr lang="en-US" dirty="0" err="1" smtClean="0">
                  <a:solidFill>
                    <a:srgbClr val="111111"/>
                  </a:solidFill>
                  <a:latin typeface="Calibri" pitchFamily="34" charset="0"/>
                  <a:cs typeface="Calibri" pitchFamily="34" charset="0"/>
                </a:rPr>
                <a:t>Hwi</a:t>
              </a:r>
              <a:endParaRPr lang="en-US" dirty="0">
                <a:solidFill>
                  <a:srgbClr val="111111"/>
                </a:solidFill>
                <a:latin typeface="Calibri" pitchFamily="34" charset="0"/>
                <a:cs typeface="Calibri" pitchFamily="34" charset="0"/>
              </a:endParaRPr>
            </a:p>
          </p:txBody>
        </p:sp>
        <p:sp>
          <p:nvSpPr>
            <p:cNvPr id="9222" name="Text Box 6"/>
            <p:cNvSpPr txBox="1">
              <a:spLocks noChangeArrowheads="1"/>
            </p:cNvSpPr>
            <p:nvPr/>
          </p:nvSpPr>
          <p:spPr bwMode="auto">
            <a:xfrm>
              <a:off x="533400" y="1870075"/>
              <a:ext cx="856645" cy="387798"/>
            </a:xfrm>
            <a:prstGeom prst="rect">
              <a:avLst/>
            </a:prstGeom>
            <a:noFill/>
            <a:ln w="12700">
              <a:noFill/>
              <a:miter lim="800000"/>
              <a:headEnd type="none" w="sm" len="sm"/>
              <a:tailEnd type="none" w="sm" len="sm"/>
            </a:ln>
          </p:spPr>
          <p:txBody>
            <a:bodyPr wrap="none">
              <a:spAutoFit/>
            </a:bodyPr>
            <a:lstStyle/>
            <a:p>
              <a:r>
                <a:rPr lang="en-US" dirty="0" err="1" smtClean="0">
                  <a:solidFill>
                    <a:srgbClr val="111111"/>
                  </a:solidFill>
                  <a:latin typeface="Calibri" pitchFamily="34" charset="0"/>
                  <a:cs typeface="Calibri" pitchFamily="34" charset="0"/>
                </a:rPr>
                <a:t>Swi</a:t>
              </a:r>
              <a:r>
                <a:rPr lang="en-US" dirty="0" smtClean="0">
                  <a:solidFill>
                    <a:srgbClr val="111111"/>
                  </a:solidFill>
                  <a:latin typeface="Calibri" pitchFamily="34" charset="0"/>
                  <a:cs typeface="Calibri" pitchFamily="34" charset="0"/>
                </a:rPr>
                <a:t> </a:t>
              </a:r>
              <a:r>
                <a:rPr lang="en-US" dirty="0">
                  <a:solidFill>
                    <a:srgbClr val="111111"/>
                  </a:solidFill>
                  <a:latin typeface="Calibri" pitchFamily="34" charset="0"/>
                  <a:cs typeface="Calibri" pitchFamily="34" charset="0"/>
                </a:rPr>
                <a:t>2</a:t>
              </a:r>
            </a:p>
          </p:txBody>
        </p:sp>
        <p:sp>
          <p:nvSpPr>
            <p:cNvPr id="9223" name="Text Box 7"/>
            <p:cNvSpPr txBox="1">
              <a:spLocks noChangeArrowheads="1"/>
            </p:cNvSpPr>
            <p:nvPr/>
          </p:nvSpPr>
          <p:spPr bwMode="auto">
            <a:xfrm>
              <a:off x="533400" y="2460625"/>
              <a:ext cx="856645" cy="387798"/>
            </a:xfrm>
            <a:prstGeom prst="rect">
              <a:avLst/>
            </a:prstGeom>
            <a:noFill/>
            <a:ln w="12700">
              <a:noFill/>
              <a:miter lim="800000"/>
              <a:headEnd type="none" w="sm" len="sm"/>
              <a:tailEnd type="none" w="sm" len="sm"/>
            </a:ln>
          </p:spPr>
          <p:txBody>
            <a:bodyPr wrap="none">
              <a:spAutoFit/>
            </a:bodyPr>
            <a:lstStyle/>
            <a:p>
              <a:r>
                <a:rPr lang="en-US" dirty="0" err="1" smtClean="0">
                  <a:solidFill>
                    <a:srgbClr val="111111"/>
                  </a:solidFill>
                  <a:latin typeface="Calibri" pitchFamily="34" charset="0"/>
                  <a:cs typeface="Calibri" pitchFamily="34" charset="0"/>
                </a:rPr>
                <a:t>Swi</a:t>
              </a:r>
              <a:r>
                <a:rPr lang="en-US" dirty="0" smtClean="0">
                  <a:solidFill>
                    <a:srgbClr val="111111"/>
                  </a:solidFill>
                  <a:latin typeface="Calibri" pitchFamily="34" charset="0"/>
                  <a:cs typeface="Calibri" pitchFamily="34" charset="0"/>
                </a:rPr>
                <a:t> </a:t>
              </a:r>
              <a:r>
                <a:rPr lang="en-US" dirty="0">
                  <a:solidFill>
                    <a:srgbClr val="111111"/>
                  </a:solidFill>
                  <a:latin typeface="Calibri" pitchFamily="34" charset="0"/>
                  <a:cs typeface="Calibri" pitchFamily="34" charset="0"/>
                </a:rPr>
                <a:t>1</a:t>
              </a:r>
            </a:p>
          </p:txBody>
        </p:sp>
        <p:sp>
          <p:nvSpPr>
            <p:cNvPr id="9224" name="Text Box 8"/>
            <p:cNvSpPr txBox="1">
              <a:spLocks noChangeArrowheads="1"/>
            </p:cNvSpPr>
            <p:nvPr/>
          </p:nvSpPr>
          <p:spPr bwMode="auto">
            <a:xfrm>
              <a:off x="785439" y="4908550"/>
              <a:ext cx="662361" cy="387798"/>
            </a:xfrm>
            <a:prstGeom prst="rect">
              <a:avLst/>
            </a:prstGeom>
            <a:noFill/>
            <a:ln w="12700">
              <a:noFill/>
              <a:miter lim="800000"/>
              <a:headEnd type="none" w="sm" len="sm"/>
              <a:tailEnd type="none" w="sm" len="sm"/>
            </a:ln>
          </p:spPr>
          <p:txBody>
            <a:bodyPr wrap="none">
              <a:spAutoFit/>
            </a:bodyPr>
            <a:lstStyle/>
            <a:p>
              <a:r>
                <a:rPr lang="en-US" dirty="0" smtClean="0">
                  <a:solidFill>
                    <a:srgbClr val="111111"/>
                  </a:solidFill>
                  <a:latin typeface="Calibri" pitchFamily="34" charset="0"/>
                  <a:cs typeface="Calibri" pitchFamily="34" charset="0"/>
                </a:rPr>
                <a:t>Idle</a:t>
              </a:r>
              <a:endParaRPr lang="en-US" dirty="0">
                <a:solidFill>
                  <a:srgbClr val="111111"/>
                </a:solidFill>
                <a:latin typeface="Calibri" pitchFamily="34" charset="0"/>
                <a:cs typeface="Calibri" pitchFamily="34" charset="0"/>
              </a:endParaRPr>
            </a:p>
          </p:txBody>
        </p:sp>
        <p:sp>
          <p:nvSpPr>
            <p:cNvPr id="9225" name="Text Box 9"/>
            <p:cNvSpPr txBox="1">
              <a:spLocks noChangeArrowheads="1"/>
            </p:cNvSpPr>
            <p:nvPr/>
          </p:nvSpPr>
          <p:spPr bwMode="auto">
            <a:xfrm>
              <a:off x="533400" y="3067050"/>
              <a:ext cx="961289" cy="387798"/>
            </a:xfrm>
            <a:prstGeom prst="rect">
              <a:avLst/>
            </a:prstGeom>
            <a:noFill/>
            <a:ln w="12700">
              <a:noFill/>
              <a:miter lim="800000"/>
              <a:headEnd type="none" w="sm" len="sm"/>
              <a:tailEnd type="none" w="sm" len="sm"/>
            </a:ln>
          </p:spPr>
          <p:txBody>
            <a:bodyPr wrap="none">
              <a:spAutoFit/>
            </a:bodyPr>
            <a:lstStyle/>
            <a:p>
              <a:r>
                <a:rPr lang="en-US" dirty="0" smtClean="0">
                  <a:solidFill>
                    <a:srgbClr val="111111"/>
                  </a:solidFill>
                  <a:latin typeface="Calibri" pitchFamily="34" charset="0"/>
                  <a:cs typeface="Calibri" pitchFamily="34" charset="0"/>
                </a:rPr>
                <a:t>Task </a:t>
              </a:r>
              <a:r>
                <a:rPr lang="en-US" dirty="0">
                  <a:solidFill>
                    <a:srgbClr val="111111"/>
                  </a:solidFill>
                  <a:latin typeface="Calibri" pitchFamily="34" charset="0"/>
                  <a:cs typeface="Calibri" pitchFamily="34" charset="0"/>
                </a:rPr>
                <a:t>2</a:t>
              </a:r>
            </a:p>
          </p:txBody>
        </p:sp>
        <p:sp>
          <p:nvSpPr>
            <p:cNvPr id="9226" name="Text Box 10"/>
            <p:cNvSpPr txBox="1">
              <a:spLocks noChangeArrowheads="1"/>
            </p:cNvSpPr>
            <p:nvPr/>
          </p:nvSpPr>
          <p:spPr bwMode="auto">
            <a:xfrm>
              <a:off x="533400" y="3689350"/>
              <a:ext cx="961289" cy="387798"/>
            </a:xfrm>
            <a:prstGeom prst="rect">
              <a:avLst/>
            </a:prstGeom>
            <a:noFill/>
            <a:ln w="12700">
              <a:noFill/>
              <a:miter lim="800000"/>
              <a:headEnd type="none" w="sm" len="sm"/>
              <a:tailEnd type="none" w="sm" len="sm"/>
            </a:ln>
          </p:spPr>
          <p:txBody>
            <a:bodyPr wrap="none">
              <a:spAutoFit/>
            </a:bodyPr>
            <a:lstStyle/>
            <a:p>
              <a:r>
                <a:rPr lang="en-US" dirty="0" smtClean="0">
                  <a:solidFill>
                    <a:srgbClr val="111111"/>
                  </a:solidFill>
                  <a:latin typeface="Calibri" pitchFamily="34" charset="0"/>
                  <a:cs typeface="Calibri" pitchFamily="34" charset="0"/>
                </a:rPr>
                <a:t>Task </a:t>
              </a:r>
              <a:r>
                <a:rPr lang="en-US" dirty="0">
                  <a:solidFill>
                    <a:srgbClr val="111111"/>
                  </a:solidFill>
                  <a:latin typeface="Calibri" pitchFamily="34" charset="0"/>
                  <a:cs typeface="Calibri" pitchFamily="34" charset="0"/>
                </a:rPr>
                <a:t>1</a:t>
              </a:r>
            </a:p>
          </p:txBody>
        </p:sp>
        <p:sp>
          <p:nvSpPr>
            <p:cNvPr id="351244" name="Rectangle 12"/>
            <p:cNvSpPr>
              <a:spLocks noChangeArrowheads="1"/>
            </p:cNvSpPr>
            <p:nvPr/>
          </p:nvSpPr>
          <p:spPr bwMode="auto">
            <a:xfrm>
              <a:off x="2057400" y="3189716"/>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45" name="Rectangle 13"/>
            <p:cNvSpPr>
              <a:spLocks noChangeArrowheads="1"/>
            </p:cNvSpPr>
            <p:nvPr/>
          </p:nvSpPr>
          <p:spPr bwMode="auto">
            <a:xfrm>
              <a:off x="20574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46" name="Rectangle 14"/>
            <p:cNvSpPr>
              <a:spLocks noChangeArrowheads="1"/>
            </p:cNvSpPr>
            <p:nvPr/>
          </p:nvSpPr>
          <p:spPr bwMode="auto">
            <a:xfrm>
              <a:off x="20574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48" name="Rectangle 16"/>
            <p:cNvSpPr>
              <a:spLocks noChangeArrowheads="1"/>
            </p:cNvSpPr>
            <p:nvPr/>
          </p:nvSpPr>
          <p:spPr bwMode="auto">
            <a:xfrm>
              <a:off x="2362200" y="13716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49" name="Rectangle 17"/>
            <p:cNvSpPr>
              <a:spLocks noChangeArrowheads="1"/>
            </p:cNvSpPr>
            <p:nvPr/>
          </p:nvSpPr>
          <p:spPr bwMode="auto">
            <a:xfrm>
              <a:off x="2362200" y="380365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50" name="Rectangle 18"/>
            <p:cNvSpPr>
              <a:spLocks noChangeArrowheads="1"/>
            </p:cNvSpPr>
            <p:nvPr/>
          </p:nvSpPr>
          <p:spPr bwMode="auto">
            <a:xfrm>
              <a:off x="23622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52" name="Rectangle 20"/>
            <p:cNvSpPr>
              <a:spLocks noChangeArrowheads="1"/>
            </p:cNvSpPr>
            <p:nvPr/>
          </p:nvSpPr>
          <p:spPr bwMode="auto">
            <a:xfrm>
              <a:off x="2667000" y="13716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53" name="Rectangle 21"/>
            <p:cNvSpPr>
              <a:spLocks noChangeArrowheads="1"/>
            </p:cNvSpPr>
            <p:nvPr/>
          </p:nvSpPr>
          <p:spPr bwMode="auto">
            <a:xfrm>
              <a:off x="2667000" y="25844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54" name="Rectangle 22"/>
            <p:cNvSpPr>
              <a:spLocks noChangeArrowheads="1"/>
            </p:cNvSpPr>
            <p:nvPr/>
          </p:nvSpPr>
          <p:spPr bwMode="auto">
            <a:xfrm>
              <a:off x="26670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55" name="Rectangle 23"/>
            <p:cNvSpPr>
              <a:spLocks noChangeArrowheads="1"/>
            </p:cNvSpPr>
            <p:nvPr/>
          </p:nvSpPr>
          <p:spPr bwMode="auto">
            <a:xfrm>
              <a:off x="26670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57" name="Rectangle 25"/>
            <p:cNvSpPr>
              <a:spLocks noChangeArrowheads="1"/>
            </p:cNvSpPr>
            <p:nvPr/>
          </p:nvSpPr>
          <p:spPr bwMode="auto">
            <a:xfrm>
              <a:off x="2819400" y="13716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58" name="Rectangle 26"/>
            <p:cNvSpPr>
              <a:spLocks noChangeArrowheads="1"/>
            </p:cNvSpPr>
            <p:nvPr/>
          </p:nvSpPr>
          <p:spPr bwMode="auto">
            <a:xfrm>
              <a:off x="2819400" y="25844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59" name="Rectangle 27"/>
            <p:cNvSpPr>
              <a:spLocks noChangeArrowheads="1"/>
            </p:cNvSpPr>
            <p:nvPr/>
          </p:nvSpPr>
          <p:spPr bwMode="auto">
            <a:xfrm>
              <a:off x="28194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60" name="Rectangle 28"/>
            <p:cNvSpPr>
              <a:spLocks noChangeArrowheads="1"/>
            </p:cNvSpPr>
            <p:nvPr/>
          </p:nvSpPr>
          <p:spPr bwMode="auto">
            <a:xfrm>
              <a:off x="28194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62" name="Rectangle 30"/>
            <p:cNvSpPr>
              <a:spLocks noChangeArrowheads="1"/>
            </p:cNvSpPr>
            <p:nvPr/>
          </p:nvSpPr>
          <p:spPr bwMode="auto">
            <a:xfrm>
              <a:off x="3124200" y="13716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63" name="Rectangle 31"/>
            <p:cNvSpPr>
              <a:spLocks noChangeArrowheads="1"/>
            </p:cNvSpPr>
            <p:nvPr/>
          </p:nvSpPr>
          <p:spPr bwMode="auto">
            <a:xfrm>
              <a:off x="3124200" y="258445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64" name="Rectangle 32"/>
            <p:cNvSpPr>
              <a:spLocks noChangeArrowheads="1"/>
            </p:cNvSpPr>
            <p:nvPr/>
          </p:nvSpPr>
          <p:spPr bwMode="auto">
            <a:xfrm>
              <a:off x="31242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65" name="Rectangle 33"/>
            <p:cNvSpPr>
              <a:spLocks noChangeArrowheads="1"/>
            </p:cNvSpPr>
            <p:nvPr/>
          </p:nvSpPr>
          <p:spPr bwMode="auto">
            <a:xfrm>
              <a:off x="31242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67" name="Rectangle 35"/>
            <p:cNvSpPr>
              <a:spLocks noChangeArrowheads="1"/>
            </p:cNvSpPr>
            <p:nvPr/>
          </p:nvSpPr>
          <p:spPr bwMode="auto">
            <a:xfrm>
              <a:off x="3429000" y="13716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68" name="Rectangle 36"/>
            <p:cNvSpPr>
              <a:spLocks noChangeArrowheads="1"/>
            </p:cNvSpPr>
            <p:nvPr/>
          </p:nvSpPr>
          <p:spPr bwMode="auto">
            <a:xfrm>
              <a:off x="3429000" y="1981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69" name="Rectangle 37"/>
            <p:cNvSpPr>
              <a:spLocks noChangeArrowheads="1"/>
            </p:cNvSpPr>
            <p:nvPr/>
          </p:nvSpPr>
          <p:spPr bwMode="auto">
            <a:xfrm>
              <a:off x="3429000" y="25844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70" name="Rectangle 38"/>
            <p:cNvSpPr>
              <a:spLocks noChangeArrowheads="1"/>
            </p:cNvSpPr>
            <p:nvPr/>
          </p:nvSpPr>
          <p:spPr bwMode="auto">
            <a:xfrm>
              <a:off x="34290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71" name="Rectangle 39"/>
            <p:cNvSpPr>
              <a:spLocks noChangeArrowheads="1"/>
            </p:cNvSpPr>
            <p:nvPr/>
          </p:nvSpPr>
          <p:spPr bwMode="auto">
            <a:xfrm>
              <a:off x="34290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73" name="Rectangle 41"/>
            <p:cNvSpPr>
              <a:spLocks noChangeArrowheads="1"/>
            </p:cNvSpPr>
            <p:nvPr/>
          </p:nvSpPr>
          <p:spPr bwMode="auto">
            <a:xfrm>
              <a:off x="3581400" y="13716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74" name="Rectangle 42"/>
            <p:cNvSpPr>
              <a:spLocks noChangeArrowheads="1"/>
            </p:cNvSpPr>
            <p:nvPr/>
          </p:nvSpPr>
          <p:spPr bwMode="auto">
            <a:xfrm>
              <a:off x="3581400" y="1981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75" name="Rectangle 43"/>
            <p:cNvSpPr>
              <a:spLocks noChangeArrowheads="1"/>
            </p:cNvSpPr>
            <p:nvPr/>
          </p:nvSpPr>
          <p:spPr bwMode="auto">
            <a:xfrm>
              <a:off x="3581400" y="25844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76" name="Rectangle 44"/>
            <p:cNvSpPr>
              <a:spLocks noChangeArrowheads="1"/>
            </p:cNvSpPr>
            <p:nvPr/>
          </p:nvSpPr>
          <p:spPr bwMode="auto">
            <a:xfrm>
              <a:off x="35814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77" name="Rectangle 45"/>
            <p:cNvSpPr>
              <a:spLocks noChangeArrowheads="1"/>
            </p:cNvSpPr>
            <p:nvPr/>
          </p:nvSpPr>
          <p:spPr bwMode="auto">
            <a:xfrm>
              <a:off x="35814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79" name="Rectangle 47"/>
            <p:cNvSpPr>
              <a:spLocks noChangeArrowheads="1"/>
            </p:cNvSpPr>
            <p:nvPr/>
          </p:nvSpPr>
          <p:spPr bwMode="auto">
            <a:xfrm>
              <a:off x="3886200" y="19812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80" name="Rectangle 48"/>
            <p:cNvSpPr>
              <a:spLocks noChangeArrowheads="1"/>
            </p:cNvSpPr>
            <p:nvPr/>
          </p:nvSpPr>
          <p:spPr bwMode="auto">
            <a:xfrm>
              <a:off x="3886200" y="25844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81" name="Rectangle 49"/>
            <p:cNvSpPr>
              <a:spLocks noChangeArrowheads="1"/>
            </p:cNvSpPr>
            <p:nvPr/>
          </p:nvSpPr>
          <p:spPr bwMode="auto">
            <a:xfrm>
              <a:off x="38862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82" name="Rectangle 50"/>
            <p:cNvSpPr>
              <a:spLocks noChangeArrowheads="1"/>
            </p:cNvSpPr>
            <p:nvPr/>
          </p:nvSpPr>
          <p:spPr bwMode="auto">
            <a:xfrm>
              <a:off x="38862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84" name="Rectangle 52"/>
            <p:cNvSpPr>
              <a:spLocks noChangeArrowheads="1"/>
            </p:cNvSpPr>
            <p:nvPr/>
          </p:nvSpPr>
          <p:spPr bwMode="auto">
            <a:xfrm>
              <a:off x="4038600" y="19812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85" name="Rectangle 53"/>
            <p:cNvSpPr>
              <a:spLocks noChangeArrowheads="1"/>
            </p:cNvSpPr>
            <p:nvPr/>
          </p:nvSpPr>
          <p:spPr bwMode="auto">
            <a:xfrm>
              <a:off x="4038600" y="25844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86" name="Rectangle 54"/>
            <p:cNvSpPr>
              <a:spLocks noChangeArrowheads="1"/>
            </p:cNvSpPr>
            <p:nvPr/>
          </p:nvSpPr>
          <p:spPr bwMode="auto">
            <a:xfrm>
              <a:off x="40386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87" name="Rectangle 55"/>
            <p:cNvSpPr>
              <a:spLocks noChangeArrowheads="1"/>
            </p:cNvSpPr>
            <p:nvPr/>
          </p:nvSpPr>
          <p:spPr bwMode="auto">
            <a:xfrm>
              <a:off x="40386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89" name="Rectangle 57"/>
            <p:cNvSpPr>
              <a:spLocks noChangeArrowheads="1"/>
            </p:cNvSpPr>
            <p:nvPr/>
          </p:nvSpPr>
          <p:spPr bwMode="auto">
            <a:xfrm>
              <a:off x="4343400" y="258445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90" name="Rectangle 58"/>
            <p:cNvSpPr>
              <a:spLocks noChangeArrowheads="1"/>
            </p:cNvSpPr>
            <p:nvPr/>
          </p:nvSpPr>
          <p:spPr bwMode="auto">
            <a:xfrm>
              <a:off x="43434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91" name="Rectangle 59"/>
            <p:cNvSpPr>
              <a:spLocks noChangeArrowheads="1"/>
            </p:cNvSpPr>
            <p:nvPr/>
          </p:nvSpPr>
          <p:spPr bwMode="auto">
            <a:xfrm>
              <a:off x="43434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93" name="Rectangle 61"/>
            <p:cNvSpPr>
              <a:spLocks noChangeArrowheads="1"/>
            </p:cNvSpPr>
            <p:nvPr/>
          </p:nvSpPr>
          <p:spPr bwMode="auto">
            <a:xfrm>
              <a:off x="4648200" y="380365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94" name="Rectangle 62"/>
            <p:cNvSpPr>
              <a:spLocks noChangeArrowheads="1"/>
            </p:cNvSpPr>
            <p:nvPr/>
          </p:nvSpPr>
          <p:spPr bwMode="auto">
            <a:xfrm>
              <a:off x="46482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96" name="Rectangle 64"/>
            <p:cNvSpPr>
              <a:spLocks noChangeArrowheads="1"/>
            </p:cNvSpPr>
            <p:nvPr/>
          </p:nvSpPr>
          <p:spPr bwMode="auto">
            <a:xfrm>
              <a:off x="4800600" y="13716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97" name="Rectangle 65"/>
            <p:cNvSpPr>
              <a:spLocks noChangeArrowheads="1"/>
            </p:cNvSpPr>
            <p:nvPr/>
          </p:nvSpPr>
          <p:spPr bwMode="auto">
            <a:xfrm>
              <a:off x="4800600" y="380365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298" name="Rectangle 66"/>
            <p:cNvSpPr>
              <a:spLocks noChangeArrowheads="1"/>
            </p:cNvSpPr>
            <p:nvPr/>
          </p:nvSpPr>
          <p:spPr bwMode="auto">
            <a:xfrm>
              <a:off x="48006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00" name="Rectangle 68"/>
            <p:cNvSpPr>
              <a:spLocks noChangeArrowheads="1"/>
            </p:cNvSpPr>
            <p:nvPr/>
          </p:nvSpPr>
          <p:spPr bwMode="auto">
            <a:xfrm>
              <a:off x="5105400" y="13716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01" name="Rectangle 69"/>
            <p:cNvSpPr>
              <a:spLocks noChangeArrowheads="1"/>
            </p:cNvSpPr>
            <p:nvPr/>
          </p:nvSpPr>
          <p:spPr bwMode="auto">
            <a:xfrm>
              <a:off x="5105400" y="31940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02" name="Rectangle 70"/>
            <p:cNvSpPr>
              <a:spLocks noChangeArrowheads="1"/>
            </p:cNvSpPr>
            <p:nvPr/>
          </p:nvSpPr>
          <p:spPr bwMode="auto">
            <a:xfrm>
              <a:off x="51054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03" name="Rectangle 71"/>
            <p:cNvSpPr>
              <a:spLocks noChangeArrowheads="1"/>
            </p:cNvSpPr>
            <p:nvPr/>
          </p:nvSpPr>
          <p:spPr bwMode="auto">
            <a:xfrm>
              <a:off x="51054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05" name="Rectangle 73"/>
            <p:cNvSpPr>
              <a:spLocks noChangeArrowheads="1"/>
            </p:cNvSpPr>
            <p:nvPr/>
          </p:nvSpPr>
          <p:spPr bwMode="auto">
            <a:xfrm>
              <a:off x="5257800" y="13716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06" name="Rectangle 74"/>
            <p:cNvSpPr>
              <a:spLocks noChangeArrowheads="1"/>
            </p:cNvSpPr>
            <p:nvPr/>
          </p:nvSpPr>
          <p:spPr bwMode="auto">
            <a:xfrm>
              <a:off x="5257800" y="31940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07" name="Rectangle 75"/>
            <p:cNvSpPr>
              <a:spLocks noChangeArrowheads="1"/>
            </p:cNvSpPr>
            <p:nvPr/>
          </p:nvSpPr>
          <p:spPr bwMode="auto">
            <a:xfrm>
              <a:off x="52578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08" name="Rectangle 76"/>
            <p:cNvSpPr>
              <a:spLocks noChangeArrowheads="1"/>
            </p:cNvSpPr>
            <p:nvPr/>
          </p:nvSpPr>
          <p:spPr bwMode="auto">
            <a:xfrm>
              <a:off x="52578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10" name="Rectangle 78"/>
            <p:cNvSpPr>
              <a:spLocks noChangeArrowheads="1"/>
            </p:cNvSpPr>
            <p:nvPr/>
          </p:nvSpPr>
          <p:spPr bwMode="auto">
            <a:xfrm>
              <a:off x="5562600" y="319405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11" name="Rectangle 79"/>
            <p:cNvSpPr>
              <a:spLocks noChangeArrowheads="1"/>
            </p:cNvSpPr>
            <p:nvPr/>
          </p:nvSpPr>
          <p:spPr bwMode="auto">
            <a:xfrm>
              <a:off x="55626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12" name="Rectangle 80"/>
            <p:cNvSpPr>
              <a:spLocks noChangeArrowheads="1"/>
            </p:cNvSpPr>
            <p:nvPr/>
          </p:nvSpPr>
          <p:spPr bwMode="auto">
            <a:xfrm>
              <a:off x="55626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14" name="Rectangle 82"/>
            <p:cNvSpPr>
              <a:spLocks noChangeArrowheads="1"/>
            </p:cNvSpPr>
            <p:nvPr/>
          </p:nvSpPr>
          <p:spPr bwMode="auto">
            <a:xfrm>
              <a:off x="5715000" y="319405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15" name="Rectangle 83"/>
            <p:cNvSpPr>
              <a:spLocks noChangeArrowheads="1"/>
            </p:cNvSpPr>
            <p:nvPr/>
          </p:nvSpPr>
          <p:spPr bwMode="auto">
            <a:xfrm>
              <a:off x="57150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16" name="Rectangle 84"/>
            <p:cNvSpPr>
              <a:spLocks noChangeArrowheads="1"/>
            </p:cNvSpPr>
            <p:nvPr/>
          </p:nvSpPr>
          <p:spPr bwMode="auto">
            <a:xfrm>
              <a:off x="57150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18" name="Rectangle 86"/>
            <p:cNvSpPr>
              <a:spLocks noChangeArrowheads="1"/>
            </p:cNvSpPr>
            <p:nvPr/>
          </p:nvSpPr>
          <p:spPr bwMode="auto">
            <a:xfrm>
              <a:off x="6019800" y="380365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19" name="Rectangle 87"/>
            <p:cNvSpPr>
              <a:spLocks noChangeArrowheads="1"/>
            </p:cNvSpPr>
            <p:nvPr/>
          </p:nvSpPr>
          <p:spPr bwMode="auto">
            <a:xfrm>
              <a:off x="60198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22" name="Rectangle 90"/>
            <p:cNvSpPr>
              <a:spLocks noChangeArrowheads="1"/>
            </p:cNvSpPr>
            <p:nvPr/>
          </p:nvSpPr>
          <p:spPr bwMode="auto">
            <a:xfrm>
              <a:off x="6324600" y="50292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23" name="Rectangle 91"/>
            <p:cNvSpPr>
              <a:spLocks noChangeArrowheads="1"/>
            </p:cNvSpPr>
            <p:nvPr/>
          </p:nvSpPr>
          <p:spPr bwMode="auto">
            <a:xfrm>
              <a:off x="6477000" y="50292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27" name="Rectangle 95"/>
            <p:cNvSpPr>
              <a:spLocks noChangeArrowheads="1"/>
            </p:cNvSpPr>
            <p:nvPr/>
          </p:nvSpPr>
          <p:spPr bwMode="auto">
            <a:xfrm>
              <a:off x="6781800" y="50292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55" name="Rectangle 123"/>
            <p:cNvSpPr>
              <a:spLocks noChangeArrowheads="1"/>
            </p:cNvSpPr>
            <p:nvPr/>
          </p:nvSpPr>
          <p:spPr bwMode="auto">
            <a:xfrm>
              <a:off x="2209800" y="380365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56" name="Rectangle 124"/>
            <p:cNvSpPr>
              <a:spLocks noChangeArrowheads="1"/>
            </p:cNvSpPr>
            <p:nvPr/>
          </p:nvSpPr>
          <p:spPr bwMode="auto">
            <a:xfrm>
              <a:off x="22098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57" name="Line 125"/>
            <p:cNvSpPr>
              <a:spLocks noChangeShapeType="1"/>
            </p:cNvSpPr>
            <p:nvPr/>
          </p:nvSpPr>
          <p:spPr bwMode="auto">
            <a:xfrm>
              <a:off x="2209800" y="3352800"/>
              <a:ext cx="0" cy="457200"/>
            </a:xfrm>
            <a:prstGeom prst="line">
              <a:avLst/>
            </a:prstGeom>
            <a:noFill/>
            <a:ln w="12700">
              <a:solidFill>
                <a:srgbClr val="080808"/>
              </a:solidFill>
              <a:round/>
              <a:headEnd/>
              <a:tailEn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59" name="Rectangle 127"/>
            <p:cNvSpPr>
              <a:spLocks noChangeArrowheads="1"/>
            </p:cNvSpPr>
            <p:nvPr/>
          </p:nvSpPr>
          <p:spPr bwMode="auto">
            <a:xfrm>
              <a:off x="2514600" y="13716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60" name="Rectangle 128"/>
            <p:cNvSpPr>
              <a:spLocks noChangeArrowheads="1"/>
            </p:cNvSpPr>
            <p:nvPr/>
          </p:nvSpPr>
          <p:spPr bwMode="auto">
            <a:xfrm>
              <a:off x="25146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61" name="Rectangle 129"/>
            <p:cNvSpPr>
              <a:spLocks noChangeArrowheads="1"/>
            </p:cNvSpPr>
            <p:nvPr/>
          </p:nvSpPr>
          <p:spPr bwMode="auto">
            <a:xfrm>
              <a:off x="25146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62" name="Line 130"/>
            <p:cNvSpPr>
              <a:spLocks noChangeShapeType="1"/>
            </p:cNvSpPr>
            <p:nvPr/>
          </p:nvSpPr>
          <p:spPr bwMode="auto">
            <a:xfrm>
              <a:off x="2514600" y="1524000"/>
              <a:ext cx="0" cy="2286000"/>
            </a:xfrm>
            <a:prstGeom prst="line">
              <a:avLst/>
            </a:prstGeom>
            <a:noFill/>
            <a:ln w="12700">
              <a:solidFill>
                <a:srgbClr val="080808"/>
              </a:solidFill>
              <a:round/>
              <a:headEnd/>
              <a:tailEn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64" name="Rectangle 132"/>
            <p:cNvSpPr>
              <a:spLocks noChangeArrowheads="1"/>
            </p:cNvSpPr>
            <p:nvPr/>
          </p:nvSpPr>
          <p:spPr bwMode="auto">
            <a:xfrm>
              <a:off x="2971800" y="258445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65" name="Rectangle 133"/>
            <p:cNvSpPr>
              <a:spLocks noChangeArrowheads="1"/>
            </p:cNvSpPr>
            <p:nvPr/>
          </p:nvSpPr>
          <p:spPr bwMode="auto">
            <a:xfrm>
              <a:off x="29718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66" name="Rectangle 134"/>
            <p:cNvSpPr>
              <a:spLocks noChangeArrowheads="1"/>
            </p:cNvSpPr>
            <p:nvPr/>
          </p:nvSpPr>
          <p:spPr bwMode="auto">
            <a:xfrm>
              <a:off x="29718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67" name="Line 135"/>
            <p:cNvSpPr>
              <a:spLocks noChangeShapeType="1"/>
            </p:cNvSpPr>
            <p:nvPr/>
          </p:nvSpPr>
          <p:spPr bwMode="auto">
            <a:xfrm>
              <a:off x="2971800" y="1524000"/>
              <a:ext cx="0" cy="1066800"/>
            </a:xfrm>
            <a:prstGeom prst="line">
              <a:avLst/>
            </a:prstGeom>
            <a:noFill/>
            <a:ln w="12700">
              <a:solidFill>
                <a:srgbClr val="080808"/>
              </a:solidFill>
              <a:round/>
              <a:headEnd/>
              <a:tailEn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69" name="Rectangle 137"/>
            <p:cNvSpPr>
              <a:spLocks noChangeArrowheads="1"/>
            </p:cNvSpPr>
            <p:nvPr/>
          </p:nvSpPr>
          <p:spPr bwMode="auto">
            <a:xfrm>
              <a:off x="3276600" y="13716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70" name="Rectangle 138"/>
            <p:cNvSpPr>
              <a:spLocks noChangeArrowheads="1"/>
            </p:cNvSpPr>
            <p:nvPr/>
          </p:nvSpPr>
          <p:spPr bwMode="auto">
            <a:xfrm>
              <a:off x="3276600" y="25844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71" name="Rectangle 139"/>
            <p:cNvSpPr>
              <a:spLocks noChangeArrowheads="1"/>
            </p:cNvSpPr>
            <p:nvPr/>
          </p:nvSpPr>
          <p:spPr bwMode="auto">
            <a:xfrm>
              <a:off x="32766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72" name="Rectangle 140"/>
            <p:cNvSpPr>
              <a:spLocks noChangeArrowheads="1"/>
            </p:cNvSpPr>
            <p:nvPr/>
          </p:nvSpPr>
          <p:spPr bwMode="auto">
            <a:xfrm>
              <a:off x="32766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73" name="Line 141"/>
            <p:cNvSpPr>
              <a:spLocks noChangeShapeType="1"/>
            </p:cNvSpPr>
            <p:nvPr/>
          </p:nvSpPr>
          <p:spPr bwMode="auto">
            <a:xfrm>
              <a:off x="3276600" y="1524000"/>
              <a:ext cx="0" cy="1066800"/>
            </a:xfrm>
            <a:prstGeom prst="line">
              <a:avLst/>
            </a:prstGeom>
            <a:noFill/>
            <a:ln w="12700">
              <a:solidFill>
                <a:srgbClr val="080808"/>
              </a:solidFill>
              <a:round/>
              <a:headEnd/>
              <a:tailEn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75" name="Rectangle 143"/>
            <p:cNvSpPr>
              <a:spLocks noChangeArrowheads="1"/>
            </p:cNvSpPr>
            <p:nvPr/>
          </p:nvSpPr>
          <p:spPr bwMode="auto">
            <a:xfrm>
              <a:off x="3733800" y="19812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76" name="Rectangle 144"/>
            <p:cNvSpPr>
              <a:spLocks noChangeArrowheads="1"/>
            </p:cNvSpPr>
            <p:nvPr/>
          </p:nvSpPr>
          <p:spPr bwMode="auto">
            <a:xfrm>
              <a:off x="3733800" y="25844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77" name="Rectangle 145"/>
            <p:cNvSpPr>
              <a:spLocks noChangeArrowheads="1"/>
            </p:cNvSpPr>
            <p:nvPr/>
          </p:nvSpPr>
          <p:spPr bwMode="auto">
            <a:xfrm>
              <a:off x="37338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78" name="Rectangle 146"/>
            <p:cNvSpPr>
              <a:spLocks noChangeArrowheads="1"/>
            </p:cNvSpPr>
            <p:nvPr/>
          </p:nvSpPr>
          <p:spPr bwMode="auto">
            <a:xfrm>
              <a:off x="37338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79" name="Line 147"/>
            <p:cNvSpPr>
              <a:spLocks noChangeShapeType="1"/>
            </p:cNvSpPr>
            <p:nvPr/>
          </p:nvSpPr>
          <p:spPr bwMode="auto">
            <a:xfrm>
              <a:off x="3733800" y="1524000"/>
              <a:ext cx="0" cy="457200"/>
            </a:xfrm>
            <a:prstGeom prst="line">
              <a:avLst/>
            </a:prstGeom>
            <a:noFill/>
            <a:ln w="12700">
              <a:solidFill>
                <a:srgbClr val="080808"/>
              </a:solidFill>
              <a:round/>
              <a:headEnd/>
              <a:tailEn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81" name="Rectangle 149"/>
            <p:cNvSpPr>
              <a:spLocks noChangeArrowheads="1"/>
            </p:cNvSpPr>
            <p:nvPr/>
          </p:nvSpPr>
          <p:spPr bwMode="auto">
            <a:xfrm>
              <a:off x="4191000" y="258445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82" name="Rectangle 150"/>
            <p:cNvSpPr>
              <a:spLocks noChangeArrowheads="1"/>
            </p:cNvSpPr>
            <p:nvPr/>
          </p:nvSpPr>
          <p:spPr bwMode="auto">
            <a:xfrm>
              <a:off x="41910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83" name="Rectangle 151"/>
            <p:cNvSpPr>
              <a:spLocks noChangeArrowheads="1"/>
            </p:cNvSpPr>
            <p:nvPr/>
          </p:nvSpPr>
          <p:spPr bwMode="auto">
            <a:xfrm>
              <a:off x="41910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84" name="Line 152"/>
            <p:cNvSpPr>
              <a:spLocks noChangeShapeType="1"/>
            </p:cNvSpPr>
            <p:nvPr/>
          </p:nvSpPr>
          <p:spPr bwMode="auto">
            <a:xfrm>
              <a:off x="4191000" y="2133600"/>
              <a:ext cx="0" cy="457200"/>
            </a:xfrm>
            <a:prstGeom prst="line">
              <a:avLst/>
            </a:prstGeom>
            <a:noFill/>
            <a:ln w="12700">
              <a:solidFill>
                <a:srgbClr val="080808"/>
              </a:solidFill>
              <a:round/>
              <a:headEnd/>
              <a:tailEn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86" name="Rectangle 154"/>
            <p:cNvSpPr>
              <a:spLocks noChangeArrowheads="1"/>
            </p:cNvSpPr>
            <p:nvPr/>
          </p:nvSpPr>
          <p:spPr bwMode="auto">
            <a:xfrm>
              <a:off x="4495800" y="380365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87" name="Rectangle 155"/>
            <p:cNvSpPr>
              <a:spLocks noChangeArrowheads="1"/>
            </p:cNvSpPr>
            <p:nvPr/>
          </p:nvSpPr>
          <p:spPr bwMode="auto">
            <a:xfrm>
              <a:off x="44958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88" name="Line 156"/>
            <p:cNvSpPr>
              <a:spLocks noChangeShapeType="1"/>
            </p:cNvSpPr>
            <p:nvPr/>
          </p:nvSpPr>
          <p:spPr bwMode="auto">
            <a:xfrm>
              <a:off x="4495800" y="2743200"/>
              <a:ext cx="0" cy="1066800"/>
            </a:xfrm>
            <a:prstGeom prst="line">
              <a:avLst/>
            </a:prstGeom>
            <a:noFill/>
            <a:ln w="12700">
              <a:solidFill>
                <a:srgbClr val="080808"/>
              </a:solidFill>
              <a:round/>
              <a:headEnd/>
              <a:tailEn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90" name="Rectangle 158"/>
            <p:cNvSpPr>
              <a:spLocks noChangeArrowheads="1"/>
            </p:cNvSpPr>
            <p:nvPr/>
          </p:nvSpPr>
          <p:spPr bwMode="auto">
            <a:xfrm>
              <a:off x="4953000" y="13716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91" name="Rectangle 159"/>
            <p:cNvSpPr>
              <a:spLocks noChangeArrowheads="1"/>
            </p:cNvSpPr>
            <p:nvPr/>
          </p:nvSpPr>
          <p:spPr bwMode="auto">
            <a:xfrm>
              <a:off x="49530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92" name="Rectangle 160"/>
            <p:cNvSpPr>
              <a:spLocks noChangeArrowheads="1"/>
            </p:cNvSpPr>
            <p:nvPr/>
          </p:nvSpPr>
          <p:spPr bwMode="auto">
            <a:xfrm>
              <a:off x="49530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93" name="Line 161"/>
            <p:cNvSpPr>
              <a:spLocks noChangeShapeType="1"/>
            </p:cNvSpPr>
            <p:nvPr/>
          </p:nvSpPr>
          <p:spPr bwMode="auto">
            <a:xfrm>
              <a:off x="4953000" y="1524000"/>
              <a:ext cx="0" cy="2286000"/>
            </a:xfrm>
            <a:prstGeom prst="line">
              <a:avLst/>
            </a:prstGeom>
            <a:noFill/>
            <a:ln w="12700">
              <a:solidFill>
                <a:srgbClr val="080808"/>
              </a:solidFill>
              <a:round/>
              <a:headEnd/>
              <a:tailEn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95" name="Rectangle 163"/>
            <p:cNvSpPr>
              <a:spLocks noChangeArrowheads="1"/>
            </p:cNvSpPr>
            <p:nvPr/>
          </p:nvSpPr>
          <p:spPr bwMode="auto">
            <a:xfrm>
              <a:off x="5410200" y="319405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96" name="Rectangle 164"/>
            <p:cNvSpPr>
              <a:spLocks noChangeArrowheads="1"/>
            </p:cNvSpPr>
            <p:nvPr/>
          </p:nvSpPr>
          <p:spPr bwMode="auto">
            <a:xfrm>
              <a:off x="54102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97" name="Rectangle 165"/>
            <p:cNvSpPr>
              <a:spLocks noChangeArrowheads="1"/>
            </p:cNvSpPr>
            <p:nvPr/>
          </p:nvSpPr>
          <p:spPr bwMode="auto">
            <a:xfrm>
              <a:off x="54102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398" name="Line 166"/>
            <p:cNvSpPr>
              <a:spLocks noChangeShapeType="1"/>
            </p:cNvSpPr>
            <p:nvPr/>
          </p:nvSpPr>
          <p:spPr bwMode="auto">
            <a:xfrm>
              <a:off x="5410200" y="1524000"/>
              <a:ext cx="0" cy="1676400"/>
            </a:xfrm>
            <a:prstGeom prst="line">
              <a:avLst/>
            </a:prstGeom>
            <a:noFill/>
            <a:ln w="12700">
              <a:solidFill>
                <a:srgbClr val="080808"/>
              </a:solidFill>
              <a:round/>
              <a:headEnd/>
              <a:tailEn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400" name="Rectangle 168"/>
            <p:cNvSpPr>
              <a:spLocks noChangeArrowheads="1"/>
            </p:cNvSpPr>
            <p:nvPr/>
          </p:nvSpPr>
          <p:spPr bwMode="auto">
            <a:xfrm>
              <a:off x="5867400" y="380365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401" name="Rectangle 169"/>
            <p:cNvSpPr>
              <a:spLocks noChangeArrowheads="1"/>
            </p:cNvSpPr>
            <p:nvPr/>
          </p:nvSpPr>
          <p:spPr bwMode="auto">
            <a:xfrm>
              <a:off x="5867400" y="502920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402" name="Line 170"/>
            <p:cNvSpPr>
              <a:spLocks noChangeShapeType="1"/>
            </p:cNvSpPr>
            <p:nvPr/>
          </p:nvSpPr>
          <p:spPr bwMode="auto">
            <a:xfrm>
              <a:off x="5867400" y="3352800"/>
              <a:ext cx="0" cy="457200"/>
            </a:xfrm>
            <a:prstGeom prst="line">
              <a:avLst/>
            </a:prstGeom>
            <a:noFill/>
            <a:ln w="12700">
              <a:solidFill>
                <a:srgbClr val="080808"/>
              </a:solidFill>
              <a:round/>
              <a:headEnd/>
              <a:tailEn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404" name="Rectangle 172"/>
            <p:cNvSpPr>
              <a:spLocks noChangeArrowheads="1"/>
            </p:cNvSpPr>
            <p:nvPr/>
          </p:nvSpPr>
          <p:spPr bwMode="auto">
            <a:xfrm>
              <a:off x="6172200" y="50292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405" name="Line 173"/>
            <p:cNvSpPr>
              <a:spLocks noChangeShapeType="1"/>
            </p:cNvSpPr>
            <p:nvPr/>
          </p:nvSpPr>
          <p:spPr bwMode="auto">
            <a:xfrm>
              <a:off x="6172200" y="3962400"/>
              <a:ext cx="0" cy="1066800"/>
            </a:xfrm>
            <a:prstGeom prst="line">
              <a:avLst/>
            </a:prstGeom>
            <a:noFill/>
            <a:ln w="12700">
              <a:solidFill>
                <a:srgbClr val="080808"/>
              </a:solidFill>
              <a:round/>
              <a:headEnd/>
              <a:tailEn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9363" name="Text Box 193"/>
            <p:cNvSpPr txBox="1">
              <a:spLocks noChangeArrowheads="1"/>
            </p:cNvSpPr>
            <p:nvPr/>
          </p:nvSpPr>
          <p:spPr bwMode="auto">
            <a:xfrm>
              <a:off x="1981200" y="4114800"/>
              <a:ext cx="839788" cy="265113"/>
            </a:xfrm>
            <a:prstGeom prst="rect">
              <a:avLst/>
            </a:prstGeom>
            <a:noFill/>
            <a:ln w="12700">
              <a:noFill/>
              <a:miter lim="800000"/>
              <a:headEnd type="none" w="sm" len="sm"/>
              <a:tailEnd type="none" w="sm" len="sm"/>
            </a:ln>
          </p:spPr>
          <p:txBody>
            <a:bodyPr wrap="none">
              <a:spAutoFit/>
            </a:bodyPr>
            <a:lstStyle/>
            <a:p>
              <a:r>
                <a:rPr lang="en-US" sz="1400" b="0">
                  <a:solidFill>
                    <a:srgbClr val="111111"/>
                  </a:solidFill>
                </a:rPr>
                <a:t>interrupt</a:t>
              </a:r>
              <a:endParaRPr lang="en-US" sz="1800">
                <a:solidFill>
                  <a:srgbClr val="111111"/>
                </a:solidFill>
                <a:latin typeface="Times New Roman" pitchFamily="18" charset="0"/>
              </a:endParaRPr>
            </a:p>
          </p:txBody>
        </p:sp>
        <p:cxnSp>
          <p:nvCxnSpPr>
            <p:cNvPr id="9364" name="AutoShape 194"/>
            <p:cNvCxnSpPr>
              <a:cxnSpLocks noChangeShapeType="1"/>
              <a:stCxn id="9363" idx="0"/>
              <a:endCxn id="351249" idx="2"/>
            </p:cNvCxnSpPr>
            <p:nvPr/>
          </p:nvCxnSpPr>
          <p:spPr bwMode="auto">
            <a:xfrm rot="5400000" flipH="1" flipV="1">
              <a:off x="2339975" y="4016375"/>
              <a:ext cx="158750" cy="36513"/>
            </a:xfrm>
            <a:prstGeom prst="straightConnector1">
              <a:avLst/>
            </a:prstGeom>
            <a:noFill/>
            <a:ln w="19050">
              <a:solidFill>
                <a:srgbClr val="080808"/>
              </a:solidFill>
              <a:round/>
              <a:headEnd/>
              <a:tailEnd/>
            </a:ln>
          </p:spPr>
        </p:cxnSp>
        <p:sp>
          <p:nvSpPr>
            <p:cNvPr id="9361" name="Text Box 196"/>
            <p:cNvSpPr txBox="1">
              <a:spLocks noChangeArrowheads="1"/>
            </p:cNvSpPr>
            <p:nvPr/>
          </p:nvSpPr>
          <p:spPr bwMode="auto">
            <a:xfrm>
              <a:off x="1676400" y="2667006"/>
              <a:ext cx="685800" cy="344488"/>
            </a:xfrm>
            <a:prstGeom prst="rect">
              <a:avLst/>
            </a:prstGeom>
            <a:noFill/>
            <a:ln w="12700">
              <a:noFill/>
              <a:miter lim="800000"/>
              <a:headEnd type="none" w="sm" len="sm"/>
              <a:tailEnd type="none" w="sm" len="sm"/>
            </a:ln>
          </p:spPr>
          <p:txBody>
            <a:bodyPr lIns="0" tIns="0" rIns="0" bIns="0">
              <a:spAutoFit/>
            </a:bodyPr>
            <a:lstStyle/>
            <a:p>
              <a:pPr algn="ctr"/>
              <a:r>
                <a:rPr lang="en-US" sz="1400" b="0" dirty="0" err="1">
                  <a:solidFill>
                    <a:srgbClr val="111111"/>
                  </a:solidFill>
                </a:rPr>
                <a:t>pend</a:t>
              </a:r>
              <a:r>
                <a:rPr lang="en-US" sz="1400" b="0" dirty="0">
                  <a:solidFill>
                    <a:srgbClr val="111111"/>
                  </a:solidFill>
                </a:rPr>
                <a:t> sem2</a:t>
              </a:r>
              <a:endParaRPr lang="en-US" sz="1800" dirty="0">
                <a:solidFill>
                  <a:srgbClr val="111111"/>
                </a:solidFill>
                <a:latin typeface="Times New Roman" pitchFamily="18" charset="0"/>
              </a:endParaRPr>
            </a:p>
          </p:txBody>
        </p:sp>
        <p:cxnSp>
          <p:nvCxnSpPr>
            <p:cNvPr id="9362" name="AutoShape 197"/>
            <p:cNvCxnSpPr>
              <a:cxnSpLocks noChangeShapeType="1"/>
              <a:stCxn id="351244" idx="0"/>
              <a:endCxn id="9361" idx="2"/>
            </p:cNvCxnSpPr>
            <p:nvPr/>
          </p:nvCxnSpPr>
          <p:spPr bwMode="auto">
            <a:xfrm flipH="1" flipV="1">
              <a:off x="2019300" y="3011494"/>
              <a:ext cx="114300" cy="178222"/>
            </a:xfrm>
            <a:prstGeom prst="straightConnector1">
              <a:avLst/>
            </a:prstGeom>
            <a:noFill/>
            <a:ln w="19050">
              <a:solidFill>
                <a:srgbClr val="080808"/>
              </a:solidFill>
              <a:round/>
              <a:headEnd/>
              <a:tailEnd/>
            </a:ln>
          </p:spPr>
        </p:cxnSp>
        <p:sp>
          <p:nvSpPr>
            <p:cNvPr id="9359" name="Text Box 199"/>
            <p:cNvSpPr txBox="1">
              <a:spLocks noChangeArrowheads="1"/>
            </p:cNvSpPr>
            <p:nvPr/>
          </p:nvSpPr>
          <p:spPr bwMode="auto">
            <a:xfrm>
              <a:off x="2747963" y="2895600"/>
              <a:ext cx="839787" cy="265113"/>
            </a:xfrm>
            <a:prstGeom prst="rect">
              <a:avLst/>
            </a:prstGeom>
            <a:noFill/>
            <a:ln w="12700">
              <a:noFill/>
              <a:miter lim="800000"/>
              <a:headEnd type="none" w="sm" len="sm"/>
              <a:tailEnd type="none" w="sm" len="sm"/>
            </a:ln>
          </p:spPr>
          <p:txBody>
            <a:bodyPr wrap="none">
              <a:spAutoFit/>
            </a:bodyPr>
            <a:lstStyle/>
            <a:p>
              <a:r>
                <a:rPr lang="en-US" sz="1400" b="0">
                  <a:solidFill>
                    <a:srgbClr val="111111"/>
                  </a:solidFill>
                </a:rPr>
                <a:t>interrupt</a:t>
              </a:r>
              <a:endParaRPr lang="en-US" sz="1800">
                <a:solidFill>
                  <a:srgbClr val="111111"/>
                </a:solidFill>
                <a:latin typeface="Times New Roman" pitchFamily="18" charset="0"/>
              </a:endParaRPr>
            </a:p>
          </p:txBody>
        </p:sp>
        <p:cxnSp>
          <p:nvCxnSpPr>
            <p:cNvPr id="9360" name="AutoShape 200"/>
            <p:cNvCxnSpPr>
              <a:cxnSpLocks noChangeShapeType="1"/>
              <a:stCxn id="9359" idx="0"/>
              <a:endCxn id="351263" idx="2"/>
            </p:cNvCxnSpPr>
            <p:nvPr/>
          </p:nvCxnSpPr>
          <p:spPr bwMode="auto">
            <a:xfrm rot="5400000" flipH="1" flipV="1">
              <a:off x="3105150" y="2800350"/>
              <a:ext cx="158750" cy="31750"/>
            </a:xfrm>
            <a:prstGeom prst="straightConnector1">
              <a:avLst/>
            </a:prstGeom>
            <a:noFill/>
            <a:ln w="19050">
              <a:solidFill>
                <a:srgbClr val="080808"/>
              </a:solidFill>
              <a:round/>
              <a:headEnd/>
              <a:tailEnd/>
            </a:ln>
          </p:spPr>
        </p:cxnSp>
        <p:sp>
          <p:nvSpPr>
            <p:cNvPr id="9357" name="Text Box 202"/>
            <p:cNvSpPr txBox="1">
              <a:spLocks noChangeArrowheads="1"/>
            </p:cNvSpPr>
            <p:nvPr/>
          </p:nvSpPr>
          <p:spPr bwMode="auto">
            <a:xfrm>
              <a:off x="4419600" y="4114800"/>
              <a:ext cx="833438" cy="17303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interrupt</a:t>
              </a:r>
            </a:p>
          </p:txBody>
        </p:sp>
        <p:cxnSp>
          <p:nvCxnSpPr>
            <p:cNvPr id="9358" name="AutoShape 203"/>
            <p:cNvCxnSpPr>
              <a:cxnSpLocks noChangeShapeType="1"/>
              <a:stCxn id="9357" idx="0"/>
              <a:endCxn id="351297" idx="2"/>
            </p:cNvCxnSpPr>
            <p:nvPr/>
          </p:nvCxnSpPr>
          <p:spPr bwMode="auto">
            <a:xfrm rot="5400000" flipH="1" flipV="1">
              <a:off x="4776788" y="4014788"/>
              <a:ext cx="158750" cy="39688"/>
            </a:xfrm>
            <a:prstGeom prst="straightConnector1">
              <a:avLst/>
            </a:prstGeom>
            <a:noFill/>
            <a:ln w="19050">
              <a:solidFill>
                <a:srgbClr val="080808"/>
              </a:solidFill>
              <a:round/>
              <a:headEnd/>
              <a:tailEnd/>
            </a:ln>
          </p:spPr>
        </p:cxnSp>
        <p:sp>
          <p:nvSpPr>
            <p:cNvPr id="9355" name="Text Box 205"/>
            <p:cNvSpPr txBox="1">
              <a:spLocks noChangeArrowheads="1"/>
            </p:cNvSpPr>
            <p:nvPr/>
          </p:nvSpPr>
          <p:spPr bwMode="auto">
            <a:xfrm>
              <a:off x="5486400" y="2667000"/>
              <a:ext cx="685800" cy="34448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pend sem2</a:t>
              </a:r>
            </a:p>
          </p:txBody>
        </p:sp>
        <p:cxnSp>
          <p:nvCxnSpPr>
            <p:cNvPr id="9356" name="AutoShape 206"/>
            <p:cNvCxnSpPr>
              <a:cxnSpLocks noChangeShapeType="1"/>
              <a:stCxn id="351314" idx="0"/>
              <a:endCxn id="9355" idx="2"/>
            </p:cNvCxnSpPr>
            <p:nvPr/>
          </p:nvCxnSpPr>
          <p:spPr bwMode="auto">
            <a:xfrm rot="5400000" flipH="1" flipV="1">
              <a:off x="5719763" y="3084513"/>
              <a:ext cx="182563" cy="38100"/>
            </a:xfrm>
            <a:prstGeom prst="straightConnector1">
              <a:avLst/>
            </a:prstGeom>
            <a:noFill/>
            <a:ln w="19050">
              <a:solidFill>
                <a:srgbClr val="080808"/>
              </a:solidFill>
              <a:round/>
              <a:headEnd/>
              <a:tailEnd/>
            </a:ln>
          </p:spPr>
        </p:cxnSp>
        <p:sp>
          <p:nvSpPr>
            <p:cNvPr id="9353" name="Text Box 208"/>
            <p:cNvSpPr txBox="1">
              <a:spLocks noChangeArrowheads="1"/>
            </p:cNvSpPr>
            <p:nvPr/>
          </p:nvSpPr>
          <p:spPr bwMode="auto">
            <a:xfrm>
              <a:off x="5791200" y="3276600"/>
              <a:ext cx="685800" cy="34448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pend sem1</a:t>
              </a:r>
            </a:p>
          </p:txBody>
        </p:sp>
        <p:cxnSp>
          <p:nvCxnSpPr>
            <p:cNvPr id="9354" name="AutoShape 209"/>
            <p:cNvCxnSpPr>
              <a:cxnSpLocks noChangeShapeType="1"/>
              <a:stCxn id="351318" idx="0"/>
              <a:endCxn id="9353" idx="2"/>
            </p:cNvCxnSpPr>
            <p:nvPr/>
          </p:nvCxnSpPr>
          <p:spPr bwMode="auto">
            <a:xfrm rot="5400000" flipH="1" flipV="1">
              <a:off x="6024563" y="3694113"/>
              <a:ext cx="182563" cy="38100"/>
            </a:xfrm>
            <a:prstGeom prst="straightConnector1">
              <a:avLst/>
            </a:prstGeom>
            <a:noFill/>
            <a:ln w="19050">
              <a:solidFill>
                <a:srgbClr val="080808"/>
              </a:solidFill>
              <a:round/>
              <a:headEnd/>
              <a:tailEnd/>
            </a:ln>
          </p:spPr>
        </p:cxnSp>
        <p:sp>
          <p:nvSpPr>
            <p:cNvPr id="9349" name="Text Box 214"/>
            <p:cNvSpPr txBox="1">
              <a:spLocks noChangeArrowheads="1"/>
            </p:cNvSpPr>
            <p:nvPr/>
          </p:nvSpPr>
          <p:spPr bwMode="auto">
            <a:xfrm>
              <a:off x="4114800" y="2209800"/>
              <a:ext cx="646113" cy="17303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return</a:t>
              </a:r>
            </a:p>
          </p:txBody>
        </p:sp>
        <p:cxnSp>
          <p:nvCxnSpPr>
            <p:cNvPr id="9350" name="AutoShape 215"/>
            <p:cNvCxnSpPr>
              <a:cxnSpLocks noChangeShapeType="1"/>
              <a:stCxn id="351289" idx="0"/>
              <a:endCxn id="9349" idx="2"/>
            </p:cNvCxnSpPr>
            <p:nvPr/>
          </p:nvCxnSpPr>
          <p:spPr bwMode="auto">
            <a:xfrm rot="5400000" flipH="1" flipV="1">
              <a:off x="4327525" y="2474912"/>
              <a:ext cx="201613" cy="19050"/>
            </a:xfrm>
            <a:prstGeom prst="straightConnector1">
              <a:avLst/>
            </a:prstGeom>
            <a:noFill/>
            <a:ln w="19050">
              <a:solidFill>
                <a:srgbClr val="080808"/>
              </a:solidFill>
              <a:round/>
              <a:headEnd/>
              <a:tailEnd/>
            </a:ln>
          </p:spPr>
        </p:cxnSp>
        <p:sp>
          <p:nvSpPr>
            <p:cNvPr id="9347" name="Text Box 217"/>
            <p:cNvSpPr txBox="1">
              <a:spLocks noChangeArrowheads="1"/>
            </p:cNvSpPr>
            <p:nvPr/>
          </p:nvSpPr>
          <p:spPr bwMode="auto">
            <a:xfrm>
              <a:off x="3810000" y="1600200"/>
              <a:ext cx="646113" cy="173038"/>
            </a:xfrm>
            <a:prstGeom prst="rect">
              <a:avLst/>
            </a:prstGeom>
            <a:noFill/>
            <a:ln w="12700">
              <a:noFill/>
              <a:miter lim="800000"/>
              <a:headEnd type="none" w="sm" len="sm"/>
              <a:tailEnd type="none" w="sm" len="sm"/>
            </a:ln>
          </p:spPr>
          <p:txBody>
            <a:bodyPr lIns="0" tIns="0" rIns="0" bIns="0">
              <a:spAutoFit/>
            </a:bodyPr>
            <a:lstStyle/>
            <a:p>
              <a:pPr algn="ctr"/>
              <a:r>
                <a:rPr lang="en-US" sz="1400" b="0" dirty="0">
                  <a:solidFill>
                    <a:srgbClr val="111111"/>
                  </a:solidFill>
                </a:rPr>
                <a:t>return</a:t>
              </a:r>
            </a:p>
          </p:txBody>
        </p:sp>
        <p:cxnSp>
          <p:nvCxnSpPr>
            <p:cNvPr id="9348" name="AutoShape 218"/>
            <p:cNvCxnSpPr>
              <a:cxnSpLocks noChangeShapeType="1"/>
              <a:stCxn id="351284" idx="0"/>
              <a:endCxn id="9347" idx="2"/>
            </p:cNvCxnSpPr>
            <p:nvPr/>
          </p:nvCxnSpPr>
          <p:spPr bwMode="auto">
            <a:xfrm rot="5400000" flipH="1" flipV="1">
              <a:off x="4019550" y="1868487"/>
              <a:ext cx="207963" cy="19050"/>
            </a:xfrm>
            <a:prstGeom prst="straightConnector1">
              <a:avLst/>
            </a:prstGeom>
            <a:noFill/>
            <a:ln w="19050">
              <a:solidFill>
                <a:srgbClr val="080808"/>
              </a:solidFill>
              <a:round/>
              <a:headEnd/>
              <a:tailEnd/>
            </a:ln>
          </p:spPr>
        </p:cxnSp>
        <p:sp>
          <p:nvSpPr>
            <p:cNvPr id="9345" name="Text Box 220"/>
            <p:cNvSpPr txBox="1">
              <a:spLocks noChangeArrowheads="1"/>
            </p:cNvSpPr>
            <p:nvPr/>
          </p:nvSpPr>
          <p:spPr bwMode="auto">
            <a:xfrm>
              <a:off x="2133600" y="879475"/>
              <a:ext cx="685800" cy="34448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post swi1</a:t>
              </a:r>
            </a:p>
          </p:txBody>
        </p:sp>
        <p:cxnSp>
          <p:nvCxnSpPr>
            <p:cNvPr id="9346" name="AutoShape 221"/>
            <p:cNvCxnSpPr>
              <a:cxnSpLocks noChangeShapeType="1"/>
              <a:stCxn id="351252" idx="0"/>
              <a:endCxn id="9345" idx="2"/>
            </p:cNvCxnSpPr>
            <p:nvPr/>
          </p:nvCxnSpPr>
          <p:spPr bwMode="auto">
            <a:xfrm rot="16200000" flipV="1">
              <a:off x="2536825" y="1165225"/>
              <a:ext cx="147638" cy="266700"/>
            </a:xfrm>
            <a:prstGeom prst="straightConnector1">
              <a:avLst/>
            </a:prstGeom>
            <a:noFill/>
            <a:ln w="19050">
              <a:solidFill>
                <a:srgbClr val="080808"/>
              </a:solidFill>
              <a:round/>
              <a:headEnd/>
              <a:tailEnd/>
            </a:ln>
          </p:spPr>
        </p:cxnSp>
        <p:sp>
          <p:nvSpPr>
            <p:cNvPr id="9343" name="Text Box 223"/>
            <p:cNvSpPr txBox="1">
              <a:spLocks noChangeArrowheads="1"/>
            </p:cNvSpPr>
            <p:nvPr/>
          </p:nvSpPr>
          <p:spPr bwMode="auto">
            <a:xfrm>
              <a:off x="2630488" y="973138"/>
              <a:ext cx="646112" cy="17303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return</a:t>
              </a:r>
            </a:p>
          </p:txBody>
        </p:sp>
        <p:cxnSp>
          <p:nvCxnSpPr>
            <p:cNvPr id="9344" name="AutoShape 224"/>
            <p:cNvCxnSpPr>
              <a:cxnSpLocks noChangeShapeType="1"/>
              <a:stCxn id="351257" idx="0"/>
              <a:endCxn id="9343" idx="2"/>
            </p:cNvCxnSpPr>
            <p:nvPr/>
          </p:nvCxnSpPr>
          <p:spPr bwMode="auto">
            <a:xfrm rot="5400000" flipH="1" flipV="1">
              <a:off x="2811463" y="1230313"/>
              <a:ext cx="225425" cy="58737"/>
            </a:xfrm>
            <a:prstGeom prst="straightConnector1">
              <a:avLst/>
            </a:prstGeom>
            <a:noFill/>
            <a:ln w="19050">
              <a:solidFill>
                <a:srgbClr val="080808"/>
              </a:solidFill>
              <a:round/>
              <a:headEnd/>
              <a:tailEnd/>
            </a:ln>
          </p:spPr>
        </p:cxnSp>
        <p:sp>
          <p:nvSpPr>
            <p:cNvPr id="9341" name="Text Box 226"/>
            <p:cNvSpPr txBox="1">
              <a:spLocks noChangeArrowheads="1"/>
            </p:cNvSpPr>
            <p:nvPr/>
          </p:nvSpPr>
          <p:spPr bwMode="auto">
            <a:xfrm>
              <a:off x="3087688" y="879475"/>
              <a:ext cx="685800" cy="34448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post swi2</a:t>
              </a:r>
            </a:p>
          </p:txBody>
        </p:sp>
        <p:cxnSp>
          <p:nvCxnSpPr>
            <p:cNvPr id="9342" name="AutoShape 227"/>
            <p:cNvCxnSpPr>
              <a:cxnSpLocks noChangeShapeType="1"/>
              <a:stCxn id="351267" idx="0"/>
              <a:endCxn id="9341" idx="2"/>
            </p:cNvCxnSpPr>
            <p:nvPr/>
          </p:nvCxnSpPr>
          <p:spPr bwMode="auto">
            <a:xfrm rot="16200000" flipV="1">
              <a:off x="3394076" y="1260475"/>
              <a:ext cx="147638" cy="74613"/>
            </a:xfrm>
            <a:prstGeom prst="straightConnector1">
              <a:avLst/>
            </a:prstGeom>
            <a:noFill/>
            <a:ln w="19050">
              <a:solidFill>
                <a:srgbClr val="080808"/>
              </a:solidFill>
              <a:round/>
              <a:headEnd/>
              <a:tailEnd/>
            </a:ln>
          </p:spPr>
        </p:cxnSp>
        <p:sp>
          <p:nvSpPr>
            <p:cNvPr id="9339" name="Text Box 229"/>
            <p:cNvSpPr txBox="1">
              <a:spLocks noChangeArrowheads="1"/>
            </p:cNvSpPr>
            <p:nvPr/>
          </p:nvSpPr>
          <p:spPr bwMode="auto">
            <a:xfrm>
              <a:off x="3581400" y="973138"/>
              <a:ext cx="646113" cy="173037"/>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return</a:t>
              </a:r>
            </a:p>
          </p:txBody>
        </p:sp>
        <p:cxnSp>
          <p:nvCxnSpPr>
            <p:cNvPr id="9340" name="AutoShape 230"/>
            <p:cNvCxnSpPr>
              <a:cxnSpLocks noChangeShapeType="1"/>
              <a:stCxn id="351273" idx="0"/>
              <a:endCxn id="9339" idx="2"/>
            </p:cNvCxnSpPr>
            <p:nvPr/>
          </p:nvCxnSpPr>
          <p:spPr bwMode="auto">
            <a:xfrm rot="5400000" flipH="1" flipV="1">
              <a:off x="3668713" y="1135063"/>
              <a:ext cx="225425" cy="247650"/>
            </a:xfrm>
            <a:prstGeom prst="straightConnector1">
              <a:avLst/>
            </a:prstGeom>
            <a:noFill/>
            <a:ln w="19050">
              <a:solidFill>
                <a:srgbClr val="080808"/>
              </a:solidFill>
              <a:round/>
              <a:headEnd/>
              <a:tailEnd/>
            </a:ln>
          </p:spPr>
        </p:cxnSp>
        <p:sp>
          <p:nvSpPr>
            <p:cNvPr id="9337" name="Text Box 232"/>
            <p:cNvSpPr txBox="1">
              <a:spLocks noChangeArrowheads="1"/>
            </p:cNvSpPr>
            <p:nvPr/>
          </p:nvSpPr>
          <p:spPr bwMode="auto">
            <a:xfrm>
              <a:off x="4687888" y="889000"/>
              <a:ext cx="685800" cy="34448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post sem2</a:t>
              </a:r>
            </a:p>
          </p:txBody>
        </p:sp>
        <p:cxnSp>
          <p:nvCxnSpPr>
            <p:cNvPr id="9338" name="AutoShape 233"/>
            <p:cNvCxnSpPr>
              <a:cxnSpLocks noChangeShapeType="1"/>
              <a:stCxn id="351300" idx="0"/>
              <a:endCxn id="9337" idx="2"/>
            </p:cNvCxnSpPr>
            <p:nvPr/>
          </p:nvCxnSpPr>
          <p:spPr bwMode="auto">
            <a:xfrm rot="16200000" flipV="1">
              <a:off x="5037138" y="1227138"/>
              <a:ext cx="138113" cy="150813"/>
            </a:xfrm>
            <a:prstGeom prst="straightConnector1">
              <a:avLst/>
            </a:prstGeom>
            <a:noFill/>
            <a:ln w="19050">
              <a:solidFill>
                <a:srgbClr val="080808"/>
              </a:solidFill>
              <a:round/>
              <a:headEnd/>
              <a:tailEnd/>
            </a:ln>
          </p:spPr>
        </p:cxnSp>
        <p:sp>
          <p:nvSpPr>
            <p:cNvPr id="9335" name="Text Box 235"/>
            <p:cNvSpPr txBox="1">
              <a:spLocks noChangeArrowheads="1"/>
            </p:cNvSpPr>
            <p:nvPr/>
          </p:nvSpPr>
          <p:spPr bwMode="auto">
            <a:xfrm>
              <a:off x="5221288" y="973138"/>
              <a:ext cx="646112" cy="17303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return</a:t>
              </a:r>
            </a:p>
          </p:txBody>
        </p:sp>
        <p:cxnSp>
          <p:nvCxnSpPr>
            <p:cNvPr id="9336" name="AutoShape 236"/>
            <p:cNvCxnSpPr>
              <a:cxnSpLocks noChangeShapeType="1"/>
              <a:stCxn id="351305" idx="0"/>
              <a:endCxn id="9335" idx="2"/>
            </p:cNvCxnSpPr>
            <p:nvPr/>
          </p:nvCxnSpPr>
          <p:spPr bwMode="auto">
            <a:xfrm rot="5400000" flipH="1" flipV="1">
              <a:off x="5326063" y="1154113"/>
              <a:ext cx="225425" cy="211137"/>
            </a:xfrm>
            <a:prstGeom prst="straightConnector1">
              <a:avLst/>
            </a:prstGeom>
            <a:noFill/>
            <a:ln w="19050">
              <a:solidFill>
                <a:srgbClr val="080808"/>
              </a:solidFill>
              <a:round/>
              <a:headEnd/>
              <a:tailEnd/>
            </a:ln>
          </p:spPr>
        </p:cxnSp>
        <p:sp>
          <p:nvSpPr>
            <p:cNvPr id="351492" name="Rectangle 260"/>
            <p:cNvSpPr>
              <a:spLocks noChangeArrowheads="1"/>
            </p:cNvSpPr>
            <p:nvPr/>
          </p:nvSpPr>
          <p:spPr bwMode="auto">
            <a:xfrm>
              <a:off x="6629400" y="50292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496" name="Line 264"/>
            <p:cNvSpPr>
              <a:spLocks noChangeShapeType="1"/>
            </p:cNvSpPr>
            <p:nvPr/>
          </p:nvSpPr>
          <p:spPr bwMode="auto">
            <a:xfrm>
              <a:off x="1447800" y="5867400"/>
              <a:ext cx="1916292" cy="0"/>
            </a:xfrm>
            <a:prstGeom prst="line">
              <a:avLst/>
            </a:prstGeom>
            <a:noFill/>
            <a:ln w="12700">
              <a:solidFill>
                <a:schemeClr val="tx1"/>
              </a:solidFill>
              <a:round/>
              <a:headEnd/>
              <a:tailEn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497" name="Line 265"/>
            <p:cNvSpPr>
              <a:spLocks noChangeShapeType="1"/>
            </p:cNvSpPr>
            <p:nvPr/>
          </p:nvSpPr>
          <p:spPr bwMode="auto">
            <a:xfrm>
              <a:off x="5105400" y="5867400"/>
              <a:ext cx="2057400" cy="0"/>
            </a:xfrm>
            <a:prstGeom prst="line">
              <a:avLst/>
            </a:prstGeom>
            <a:noFill/>
            <a:ln w="12700">
              <a:solidFill>
                <a:schemeClr val="tx1"/>
              </a:solidFill>
              <a:round/>
              <a:headEnd/>
              <a:tailEnd type="triangle" w="med" len="me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499" name="Rectangle 267"/>
            <p:cNvSpPr>
              <a:spLocks noChangeArrowheads="1"/>
            </p:cNvSpPr>
            <p:nvPr/>
          </p:nvSpPr>
          <p:spPr bwMode="auto">
            <a:xfrm>
              <a:off x="1905000" y="3190875"/>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501" name="Rectangle 269"/>
            <p:cNvSpPr>
              <a:spLocks noChangeArrowheads="1"/>
            </p:cNvSpPr>
            <p:nvPr/>
          </p:nvSpPr>
          <p:spPr bwMode="auto">
            <a:xfrm>
              <a:off x="1905000" y="5030359"/>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503" name="Rectangle 271"/>
            <p:cNvSpPr>
              <a:spLocks noChangeArrowheads="1"/>
            </p:cNvSpPr>
            <p:nvPr/>
          </p:nvSpPr>
          <p:spPr bwMode="auto">
            <a:xfrm>
              <a:off x="1752600" y="3190875"/>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505" name="Rectangle 273"/>
            <p:cNvSpPr>
              <a:spLocks noChangeArrowheads="1"/>
            </p:cNvSpPr>
            <p:nvPr/>
          </p:nvSpPr>
          <p:spPr bwMode="auto">
            <a:xfrm>
              <a:off x="1752600" y="5030359"/>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51507" name="Rectangle 275"/>
            <p:cNvSpPr>
              <a:spLocks noChangeArrowheads="1"/>
            </p:cNvSpPr>
            <p:nvPr/>
          </p:nvSpPr>
          <p:spPr bwMode="auto">
            <a:xfrm>
              <a:off x="1600200" y="318928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217" name="Rectangle 279"/>
            <p:cNvSpPr>
              <a:spLocks noChangeArrowheads="1"/>
            </p:cNvSpPr>
            <p:nvPr/>
          </p:nvSpPr>
          <p:spPr bwMode="auto">
            <a:xfrm>
              <a:off x="1447800" y="4419600"/>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219" name="Text Box 10"/>
            <p:cNvSpPr txBox="1">
              <a:spLocks noChangeArrowheads="1"/>
            </p:cNvSpPr>
            <p:nvPr/>
          </p:nvSpPr>
          <p:spPr bwMode="auto">
            <a:xfrm>
              <a:off x="57150" y="4324350"/>
              <a:ext cx="1472904" cy="344710"/>
            </a:xfrm>
            <a:prstGeom prst="rect">
              <a:avLst/>
            </a:prstGeom>
            <a:noFill/>
            <a:ln w="12700">
              <a:noFill/>
              <a:miter lim="800000"/>
              <a:headEnd type="none" w="sm" len="sm"/>
              <a:tailEnd type="none" w="sm" len="sm"/>
            </a:ln>
          </p:spPr>
          <p:txBody>
            <a:bodyPr wrap="none">
              <a:spAutoFit/>
            </a:bodyPr>
            <a:lstStyle/>
            <a:p>
              <a:r>
                <a:rPr lang="en-US" sz="2000" smtClean="0">
                  <a:solidFill>
                    <a:srgbClr val="111111"/>
                  </a:solidFill>
                  <a:latin typeface="Calibri" pitchFamily="34" charset="0"/>
                  <a:cs typeface="Calibri" pitchFamily="34" charset="0"/>
                </a:rPr>
                <a:t>BIOS_start()</a:t>
              </a:r>
              <a:endParaRPr lang="en-US" sz="2000" dirty="0">
                <a:solidFill>
                  <a:srgbClr val="111111"/>
                </a:solidFill>
                <a:latin typeface="Calibri" pitchFamily="34" charset="0"/>
                <a:cs typeface="Calibri" pitchFamily="34" charset="0"/>
              </a:endParaRPr>
            </a:p>
          </p:txBody>
        </p:sp>
        <p:sp>
          <p:nvSpPr>
            <p:cNvPr id="220" name="Line 125"/>
            <p:cNvSpPr>
              <a:spLocks noChangeShapeType="1"/>
            </p:cNvSpPr>
            <p:nvPr/>
          </p:nvSpPr>
          <p:spPr bwMode="auto">
            <a:xfrm>
              <a:off x="1600200" y="3352800"/>
              <a:ext cx="0" cy="1143000"/>
            </a:xfrm>
            <a:prstGeom prst="line">
              <a:avLst/>
            </a:prstGeom>
            <a:noFill/>
            <a:ln w="12700">
              <a:solidFill>
                <a:srgbClr val="080808"/>
              </a:solidFill>
              <a:prstDash val="dash"/>
              <a:round/>
              <a:headEnd/>
              <a:tailEn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9290" name="Text Box 263"/>
            <p:cNvSpPr txBox="1">
              <a:spLocks noChangeArrowheads="1"/>
            </p:cNvSpPr>
            <p:nvPr/>
          </p:nvSpPr>
          <p:spPr bwMode="auto">
            <a:xfrm>
              <a:off x="3415848" y="5736183"/>
              <a:ext cx="1602875" cy="294183"/>
            </a:xfrm>
            <a:prstGeom prst="rect">
              <a:avLst/>
            </a:prstGeom>
            <a:noFill/>
            <a:ln w="12700">
              <a:noFill/>
              <a:miter lim="800000"/>
              <a:headEnd/>
              <a:tailEnd/>
            </a:ln>
          </p:spPr>
          <p:txBody>
            <a:bodyPr wrap="none" anchor="ctr">
              <a:spAutoFit/>
            </a:bodyPr>
            <a:lstStyle/>
            <a:p>
              <a:pPr algn="ctr"/>
              <a:r>
                <a:rPr lang="en-US" sz="1600">
                  <a:solidFill>
                    <a:srgbClr val="000000"/>
                  </a:solidFill>
                  <a:latin typeface="Calibri" pitchFamily="34" charset="0"/>
                  <a:cs typeface="Calibri" pitchFamily="34" charset="0"/>
                </a:rPr>
                <a:t>Events over time</a:t>
              </a:r>
              <a:endParaRPr lang="en-US" sz="2000">
                <a:solidFill>
                  <a:srgbClr val="000000"/>
                </a:solidFill>
                <a:latin typeface="Calibri" pitchFamily="34" charset="0"/>
                <a:cs typeface="Calibri" pitchFamily="34" charset="0"/>
              </a:endParaRPr>
            </a:p>
          </p:txBody>
        </p:sp>
        <p:sp>
          <p:nvSpPr>
            <p:cNvPr id="221" name="Rectangle 269"/>
            <p:cNvSpPr>
              <a:spLocks noChangeArrowheads="1"/>
            </p:cNvSpPr>
            <p:nvPr/>
          </p:nvSpPr>
          <p:spPr bwMode="auto">
            <a:xfrm>
              <a:off x="1600200" y="5030359"/>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222" name="Rectangle 273"/>
            <p:cNvSpPr>
              <a:spLocks noChangeArrowheads="1"/>
            </p:cNvSpPr>
            <p:nvPr/>
          </p:nvSpPr>
          <p:spPr bwMode="auto">
            <a:xfrm>
              <a:off x="1447800" y="5030359"/>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226" name="Rectangle 13"/>
            <p:cNvSpPr>
              <a:spLocks noChangeArrowheads="1"/>
            </p:cNvSpPr>
            <p:nvPr/>
          </p:nvSpPr>
          <p:spPr bwMode="auto">
            <a:xfrm>
              <a:off x="19050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227" name="Rectangle 13"/>
            <p:cNvSpPr>
              <a:spLocks noChangeArrowheads="1"/>
            </p:cNvSpPr>
            <p:nvPr/>
          </p:nvSpPr>
          <p:spPr bwMode="auto">
            <a:xfrm>
              <a:off x="17526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228" name="Rectangle 13"/>
            <p:cNvSpPr>
              <a:spLocks noChangeArrowheads="1"/>
            </p:cNvSpPr>
            <p:nvPr/>
          </p:nvSpPr>
          <p:spPr bwMode="auto">
            <a:xfrm>
              <a:off x="1600200" y="3803650"/>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grpSp>
      <p:pic>
        <p:nvPicPr>
          <p:cNvPr id="165"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Tree>
    <p:extLst>
      <p:ext uri="{BB962C8B-B14F-4D97-AF65-F5344CB8AC3E}">
        <p14:creationId xmlns:p14="http://schemas.microsoft.com/office/powerpoint/2010/main" val="3692921811"/>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a:bodyPr>
          <a:lstStyle/>
          <a:p>
            <a:r>
              <a:rPr lang="en-US" sz="3200" dirty="0" smtClean="0"/>
              <a:t>“Thread” vs. Function</a:t>
            </a:r>
          </a:p>
        </p:txBody>
      </p:sp>
      <p:sp>
        <p:nvSpPr>
          <p:cNvPr id="9" name="Rectangle 8"/>
          <p:cNvSpPr/>
          <p:nvPr/>
        </p:nvSpPr>
        <p:spPr bwMode="auto">
          <a:xfrm>
            <a:off x="3429000" y="762000"/>
            <a:ext cx="5524500" cy="890269"/>
          </a:xfrm>
          <a:prstGeom prst="rect">
            <a:avLst/>
          </a:prstGeom>
          <a:solidFill>
            <a:schemeClr val="accent1"/>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b="0" dirty="0" smtClean="0">
                <a:solidFill>
                  <a:srgbClr val="000000"/>
                </a:solidFill>
                <a:latin typeface="Calibri" pitchFamily="34" charset="0"/>
                <a:cs typeface="Calibri" pitchFamily="34" charset="0"/>
              </a:rPr>
              <a:t>A </a:t>
            </a:r>
            <a:r>
              <a:rPr lang="en-US" i="1" dirty="0" smtClean="0">
                <a:solidFill>
                  <a:srgbClr val="0066FF"/>
                </a:solidFill>
                <a:latin typeface="Calibri" pitchFamily="34" charset="0"/>
                <a:cs typeface="Calibri" pitchFamily="34" charset="0"/>
              </a:rPr>
              <a:t>function</a:t>
            </a:r>
            <a:r>
              <a:rPr lang="en-US" b="0" dirty="0" smtClean="0">
                <a:solidFill>
                  <a:srgbClr val="000000"/>
                </a:solidFill>
                <a:latin typeface="Calibri" pitchFamily="34" charset="0"/>
                <a:cs typeface="Calibri" pitchFamily="34" charset="0"/>
              </a:rPr>
              <a:t> is a set of program instructions that produce a given result.</a:t>
            </a:r>
            <a:endParaRPr lang="en-US" b="0" dirty="0">
              <a:solidFill>
                <a:srgbClr val="000000"/>
              </a:solidFill>
              <a:latin typeface="Calibri" pitchFamily="34" charset="0"/>
              <a:cs typeface="Calibri" pitchFamily="34" charset="0"/>
            </a:endParaRPr>
          </a:p>
        </p:txBody>
      </p:sp>
      <p:sp>
        <p:nvSpPr>
          <p:cNvPr id="10" name="TextBox 9"/>
          <p:cNvSpPr txBox="1"/>
          <p:nvPr/>
        </p:nvSpPr>
        <p:spPr>
          <a:xfrm>
            <a:off x="3482710" y="1752600"/>
            <a:ext cx="4899290" cy="690638"/>
          </a:xfrm>
          <a:prstGeom prst="rect">
            <a:avLst/>
          </a:prstGeom>
          <a:noFill/>
        </p:spPr>
        <p:txBody>
          <a:bodyPr wrap="none" rtlCol="0" anchor="ctr" anchorCtr="0">
            <a:spAutoFit/>
          </a:bodyPr>
          <a:lstStyle/>
          <a:p>
            <a:pPr marL="342900" indent="-342900">
              <a:spcBef>
                <a:spcPts val="1200"/>
              </a:spcBef>
              <a:buClr>
                <a:srgbClr val="0066FF"/>
              </a:buClr>
              <a:buSzPct val="75000"/>
              <a:buFont typeface="Wingdings"/>
              <a:buChar char=""/>
            </a:pPr>
            <a:r>
              <a:rPr lang="en-US" b="0" dirty="0" smtClean="0">
                <a:solidFill>
                  <a:srgbClr val="000000"/>
                </a:solidFill>
                <a:latin typeface="Calibri" pitchFamily="34" charset="0"/>
                <a:cs typeface="Calibri" pitchFamily="34" charset="0"/>
              </a:rPr>
              <a:t>If you look at this function, can you</a:t>
            </a:r>
            <a:br>
              <a:rPr lang="en-US" b="0" dirty="0" smtClean="0">
                <a:solidFill>
                  <a:srgbClr val="000000"/>
                </a:solidFill>
                <a:latin typeface="Calibri" pitchFamily="34" charset="0"/>
                <a:cs typeface="Calibri" pitchFamily="34" charset="0"/>
              </a:rPr>
            </a:br>
            <a:r>
              <a:rPr lang="en-US" b="0" dirty="0" smtClean="0">
                <a:solidFill>
                  <a:srgbClr val="000000"/>
                </a:solidFill>
                <a:latin typeface="Calibri" pitchFamily="34" charset="0"/>
                <a:cs typeface="Calibri" pitchFamily="34" charset="0"/>
              </a:rPr>
              <a:t>tell what priority it is running at?</a:t>
            </a:r>
          </a:p>
        </p:txBody>
      </p:sp>
      <p:grpSp>
        <p:nvGrpSpPr>
          <p:cNvPr id="21" name="Group 20"/>
          <p:cNvGrpSpPr/>
          <p:nvPr/>
        </p:nvGrpSpPr>
        <p:grpSpPr>
          <a:xfrm>
            <a:off x="76200" y="3999772"/>
            <a:ext cx="8839200" cy="2020028"/>
            <a:chOff x="76200" y="3999772"/>
            <a:chExt cx="8839200" cy="2020028"/>
          </a:xfrm>
        </p:grpSpPr>
        <p:sp>
          <p:nvSpPr>
            <p:cNvPr id="12" name="TextBox 11"/>
            <p:cNvSpPr txBox="1"/>
            <p:nvPr/>
          </p:nvSpPr>
          <p:spPr>
            <a:xfrm>
              <a:off x="76200" y="3999772"/>
              <a:ext cx="8692508" cy="844527"/>
            </a:xfrm>
            <a:prstGeom prst="rect">
              <a:avLst/>
            </a:prstGeom>
            <a:noFill/>
          </p:spPr>
          <p:txBody>
            <a:bodyPr wrap="none" rtlCol="0" anchor="ctr" anchorCtr="0">
              <a:spAutoFit/>
            </a:bodyPr>
            <a:lstStyle/>
            <a:p>
              <a:pPr marL="342900" indent="-342900">
                <a:spcBef>
                  <a:spcPts val="1200"/>
                </a:spcBef>
                <a:buClr>
                  <a:srgbClr val="0066FF"/>
                </a:buClr>
                <a:buSzPct val="75000"/>
                <a:buFont typeface="Wingdings"/>
                <a:buChar char=""/>
              </a:pPr>
              <a:r>
                <a:rPr lang="en-US" b="0" dirty="0" err="1">
                  <a:solidFill>
                    <a:srgbClr val="000000"/>
                  </a:solidFill>
                  <a:latin typeface="Courier New" pitchFamily="49" charset="0"/>
                  <a:cs typeface="Courier New" pitchFamily="49" charset="0"/>
                </a:rPr>
                <a:t>m</a:t>
              </a:r>
              <a:r>
                <a:rPr lang="en-US" b="0" dirty="0" err="1" smtClean="0">
                  <a:solidFill>
                    <a:srgbClr val="000000"/>
                  </a:solidFill>
                  <a:latin typeface="Courier New" pitchFamily="49" charset="0"/>
                  <a:cs typeface="Courier New" pitchFamily="49" charset="0"/>
                </a:rPr>
                <a:t>y_fxn</a:t>
              </a:r>
              <a:r>
                <a:rPr lang="en-US" b="0" dirty="0" smtClean="0">
                  <a:solidFill>
                    <a:srgbClr val="000000"/>
                  </a:solidFill>
                  <a:latin typeface="Courier New" pitchFamily="49" charset="0"/>
                  <a:cs typeface="Courier New" pitchFamily="49" charset="0"/>
                </a:rPr>
                <a:t>()</a:t>
              </a:r>
              <a:r>
                <a:rPr lang="en-US" b="0" dirty="0" smtClean="0">
                  <a:solidFill>
                    <a:srgbClr val="000000"/>
                  </a:solidFill>
                  <a:latin typeface="Calibri" pitchFamily="34" charset="0"/>
                  <a:cs typeface="Calibri" pitchFamily="34" charset="0"/>
                </a:rPr>
                <a:t> could run as ANY thread type</a:t>
              </a:r>
            </a:p>
            <a:p>
              <a:pPr marL="342900" indent="-342900">
                <a:spcBef>
                  <a:spcPts val="1200"/>
                </a:spcBef>
                <a:buClr>
                  <a:srgbClr val="0066FF"/>
                </a:buClr>
                <a:buSzPct val="75000"/>
                <a:buFont typeface="Wingdings"/>
                <a:buChar char=""/>
              </a:pPr>
              <a:r>
                <a:rPr lang="en-US" b="0" dirty="0" smtClean="0">
                  <a:solidFill>
                    <a:srgbClr val="000000"/>
                  </a:solidFill>
                  <a:latin typeface="Calibri" pitchFamily="34" charset="0"/>
                  <a:cs typeface="Calibri" pitchFamily="34" charset="0"/>
                </a:rPr>
                <a:t>User selects thread GROUP (and PRI w/in group), BIOS executes it</a:t>
              </a:r>
            </a:p>
          </p:txBody>
        </p:sp>
        <p:sp>
          <p:nvSpPr>
            <p:cNvPr id="13" name="Rectangle 12"/>
            <p:cNvSpPr/>
            <p:nvPr/>
          </p:nvSpPr>
          <p:spPr bwMode="auto">
            <a:xfrm>
              <a:off x="152400" y="5012812"/>
              <a:ext cx="2057402" cy="1006987"/>
            </a:xfrm>
            <a:prstGeom prst="rect">
              <a:avLst/>
            </a:prstGeom>
            <a:solidFill>
              <a:schemeClr val="accent1">
                <a:lumMod val="5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spcBef>
                  <a:spcPts val="600"/>
                </a:spcBef>
              </a:pPr>
              <a:r>
                <a:rPr lang="en-US" dirty="0" err="1" smtClean="0">
                  <a:solidFill>
                    <a:srgbClr val="000000"/>
                  </a:solidFill>
                  <a:latin typeface="Calibri" pitchFamily="34" charset="0"/>
                  <a:cs typeface="Calibri" pitchFamily="34" charset="0"/>
                </a:rPr>
                <a:t>Hwi</a:t>
              </a:r>
              <a:endParaRPr lang="en-US" dirty="0" smtClean="0">
                <a:solidFill>
                  <a:srgbClr val="000000"/>
                </a:solidFill>
                <a:latin typeface="Calibri" pitchFamily="34" charset="0"/>
                <a:cs typeface="Calibri" pitchFamily="34" charset="0"/>
              </a:endParaRPr>
            </a:p>
            <a:p>
              <a:pPr marL="287338" indent="-169863">
                <a:lnSpc>
                  <a:spcPct val="70000"/>
                </a:lnSpc>
                <a:spcBef>
                  <a:spcPts val="600"/>
                </a:spcBef>
                <a:buFont typeface="Arial" pitchFamily="34" charset="0"/>
                <a:buChar char="•"/>
              </a:pPr>
              <a:r>
                <a:rPr lang="en-US" sz="1800" b="0" i="1" dirty="0" smtClean="0">
                  <a:solidFill>
                    <a:srgbClr val="000000"/>
                  </a:solidFill>
                  <a:latin typeface="Calibri" pitchFamily="34" charset="0"/>
                  <a:cs typeface="Calibri" pitchFamily="34" charset="0"/>
                </a:rPr>
                <a:t>High Priority ISR</a:t>
              </a:r>
            </a:p>
            <a:p>
              <a:pPr marL="287338" indent="-169863">
                <a:lnSpc>
                  <a:spcPct val="70000"/>
                </a:lnSpc>
                <a:spcBef>
                  <a:spcPts val="600"/>
                </a:spcBef>
                <a:buFont typeface="Arial" pitchFamily="34" charset="0"/>
                <a:buChar char="•"/>
              </a:pPr>
              <a:r>
                <a:rPr lang="en-US" sz="1800" b="0" i="1" dirty="0" smtClean="0">
                  <a:solidFill>
                    <a:srgbClr val="000000"/>
                  </a:solidFill>
                  <a:latin typeface="Calibri" pitchFamily="34" charset="0"/>
                  <a:cs typeface="Calibri" pitchFamily="34" charset="0"/>
                </a:rPr>
                <a:t>Calls </a:t>
              </a:r>
              <a:r>
                <a:rPr lang="en-US" sz="1800" b="0" i="1" dirty="0" err="1" smtClean="0">
                  <a:solidFill>
                    <a:srgbClr val="000000"/>
                  </a:solidFill>
                  <a:latin typeface="Calibri" pitchFamily="34" charset="0"/>
                  <a:cs typeface="Calibri" pitchFamily="34" charset="0"/>
                </a:rPr>
                <a:t>my_fxn</a:t>
              </a:r>
              <a:r>
                <a:rPr lang="en-US" sz="1800" b="0" i="1" dirty="0" smtClean="0">
                  <a:solidFill>
                    <a:srgbClr val="000000"/>
                  </a:solidFill>
                  <a:latin typeface="Calibri" pitchFamily="34" charset="0"/>
                  <a:cs typeface="Calibri" pitchFamily="34" charset="0"/>
                </a:rPr>
                <a:t>()</a:t>
              </a:r>
            </a:p>
          </p:txBody>
        </p:sp>
        <p:sp>
          <p:nvSpPr>
            <p:cNvPr id="14" name="Rectangle 13"/>
            <p:cNvSpPr/>
            <p:nvPr/>
          </p:nvSpPr>
          <p:spPr bwMode="auto">
            <a:xfrm>
              <a:off x="2368465" y="5019419"/>
              <a:ext cx="2163630" cy="1000380"/>
            </a:xfrm>
            <a:prstGeom prst="rect">
              <a:avLst/>
            </a:prstGeom>
            <a:solidFill>
              <a:schemeClr val="accent6">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spcBef>
                  <a:spcPts val="600"/>
                </a:spcBef>
              </a:pPr>
              <a:r>
                <a:rPr lang="en-US" dirty="0" err="1" smtClean="0">
                  <a:solidFill>
                    <a:srgbClr val="000000"/>
                  </a:solidFill>
                  <a:latin typeface="Calibri" pitchFamily="34" charset="0"/>
                  <a:cs typeface="Calibri" pitchFamily="34" charset="0"/>
                </a:rPr>
                <a:t>Swi</a:t>
              </a:r>
              <a:endParaRPr lang="en-US" dirty="0" smtClean="0">
                <a:solidFill>
                  <a:srgbClr val="000000"/>
                </a:solidFill>
                <a:latin typeface="Calibri" pitchFamily="34" charset="0"/>
                <a:cs typeface="Calibri" pitchFamily="34" charset="0"/>
              </a:endParaRPr>
            </a:p>
            <a:p>
              <a:pPr marL="287338" indent="-169863">
                <a:lnSpc>
                  <a:spcPct val="70000"/>
                </a:lnSpc>
                <a:spcBef>
                  <a:spcPts val="600"/>
                </a:spcBef>
                <a:buFont typeface="Arial" pitchFamily="34" charset="0"/>
                <a:buChar char="•"/>
              </a:pPr>
              <a:r>
                <a:rPr lang="en-US" sz="1800" b="0" i="1" dirty="0" smtClean="0">
                  <a:solidFill>
                    <a:srgbClr val="000000"/>
                  </a:solidFill>
                  <a:latin typeface="Calibri" pitchFamily="34" charset="0"/>
                  <a:cs typeface="Calibri" pitchFamily="34" charset="0"/>
                </a:rPr>
                <a:t>Follow-up to </a:t>
              </a:r>
              <a:r>
                <a:rPr lang="en-US" sz="1800" b="0" i="1" dirty="0" err="1" smtClean="0">
                  <a:solidFill>
                    <a:srgbClr val="000000"/>
                  </a:solidFill>
                  <a:latin typeface="Calibri" pitchFamily="34" charset="0"/>
                  <a:cs typeface="Calibri" pitchFamily="34" charset="0"/>
                </a:rPr>
                <a:t>Hwi</a:t>
              </a:r>
              <a:endParaRPr lang="en-US" sz="1800" b="0" i="1" dirty="0" smtClean="0">
                <a:solidFill>
                  <a:srgbClr val="000000"/>
                </a:solidFill>
                <a:latin typeface="Calibri" pitchFamily="34" charset="0"/>
                <a:cs typeface="Calibri" pitchFamily="34" charset="0"/>
              </a:endParaRPr>
            </a:p>
            <a:p>
              <a:pPr marL="287338" indent="-169863">
                <a:lnSpc>
                  <a:spcPct val="70000"/>
                </a:lnSpc>
                <a:spcBef>
                  <a:spcPts val="600"/>
                </a:spcBef>
                <a:buFont typeface="Arial" pitchFamily="34" charset="0"/>
                <a:buChar char="•"/>
              </a:pPr>
              <a:r>
                <a:rPr lang="en-US" sz="1800" b="0" i="1" dirty="0" smtClean="0">
                  <a:solidFill>
                    <a:srgbClr val="000000"/>
                  </a:solidFill>
                  <a:latin typeface="Calibri" pitchFamily="34" charset="0"/>
                  <a:cs typeface="Calibri" pitchFamily="34" charset="0"/>
                </a:rPr>
                <a:t>Calls </a:t>
              </a:r>
              <a:r>
                <a:rPr lang="en-US" sz="1800" b="0" i="1" dirty="0" err="1" smtClean="0">
                  <a:solidFill>
                    <a:srgbClr val="000000"/>
                  </a:solidFill>
                  <a:latin typeface="Calibri" pitchFamily="34" charset="0"/>
                  <a:cs typeface="Calibri" pitchFamily="34" charset="0"/>
                </a:rPr>
                <a:t>my_fxn</a:t>
              </a:r>
              <a:r>
                <a:rPr lang="en-US" sz="1800" b="0" i="1" dirty="0" smtClean="0">
                  <a:solidFill>
                    <a:srgbClr val="000000"/>
                  </a:solidFill>
                  <a:latin typeface="Calibri" pitchFamily="34" charset="0"/>
                  <a:cs typeface="Calibri" pitchFamily="34" charset="0"/>
                </a:rPr>
                <a:t>()</a:t>
              </a:r>
            </a:p>
          </p:txBody>
        </p:sp>
        <p:sp>
          <p:nvSpPr>
            <p:cNvPr id="15" name="Rectangle 14"/>
            <p:cNvSpPr/>
            <p:nvPr/>
          </p:nvSpPr>
          <p:spPr bwMode="auto">
            <a:xfrm>
              <a:off x="4690758" y="5012811"/>
              <a:ext cx="2199080" cy="1006988"/>
            </a:xfrm>
            <a:prstGeom prst="rect">
              <a:avLst/>
            </a:prstGeom>
            <a:solidFill>
              <a:schemeClr val="accent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spcBef>
                  <a:spcPts val="600"/>
                </a:spcBef>
              </a:pPr>
              <a:r>
                <a:rPr lang="en-US" dirty="0" smtClean="0">
                  <a:solidFill>
                    <a:srgbClr val="000000"/>
                  </a:solidFill>
                  <a:latin typeface="Calibri" pitchFamily="34" charset="0"/>
                  <a:cs typeface="Calibri" pitchFamily="34" charset="0"/>
                </a:rPr>
                <a:t>Task</a:t>
              </a:r>
            </a:p>
            <a:p>
              <a:pPr marL="287338" indent="-169863">
                <a:lnSpc>
                  <a:spcPct val="70000"/>
                </a:lnSpc>
                <a:spcBef>
                  <a:spcPts val="600"/>
                </a:spcBef>
                <a:buFont typeface="Arial" pitchFamily="34" charset="0"/>
                <a:buChar char="•"/>
              </a:pPr>
              <a:r>
                <a:rPr lang="en-US" sz="1800" b="0" i="1" dirty="0" smtClean="0">
                  <a:solidFill>
                    <a:srgbClr val="000000"/>
                  </a:solidFill>
                  <a:latin typeface="Calibri" pitchFamily="34" charset="0"/>
                  <a:cs typeface="Calibri" pitchFamily="34" charset="0"/>
                </a:rPr>
                <a:t>“Blocking” thread</a:t>
              </a:r>
            </a:p>
            <a:p>
              <a:pPr marL="287338" indent="-169863">
                <a:lnSpc>
                  <a:spcPct val="70000"/>
                </a:lnSpc>
                <a:spcBef>
                  <a:spcPts val="600"/>
                </a:spcBef>
                <a:buFont typeface="Arial" pitchFamily="34" charset="0"/>
                <a:buChar char="•"/>
              </a:pPr>
              <a:r>
                <a:rPr lang="en-US" sz="1800" b="0" i="1" dirty="0" smtClean="0">
                  <a:solidFill>
                    <a:srgbClr val="000000"/>
                  </a:solidFill>
                  <a:latin typeface="Calibri" pitchFamily="34" charset="0"/>
                  <a:cs typeface="Calibri" pitchFamily="34" charset="0"/>
                </a:rPr>
                <a:t>Calls </a:t>
              </a:r>
              <a:r>
                <a:rPr lang="en-US" sz="1800" b="0" i="1" dirty="0" err="1" smtClean="0">
                  <a:solidFill>
                    <a:srgbClr val="000000"/>
                  </a:solidFill>
                  <a:latin typeface="Calibri" pitchFamily="34" charset="0"/>
                  <a:cs typeface="Calibri" pitchFamily="34" charset="0"/>
                </a:rPr>
                <a:t>my_fxn</a:t>
              </a:r>
              <a:r>
                <a:rPr lang="en-US" sz="1800" b="0" i="1" dirty="0" smtClean="0">
                  <a:solidFill>
                    <a:srgbClr val="000000"/>
                  </a:solidFill>
                  <a:latin typeface="Calibri" pitchFamily="34" charset="0"/>
                  <a:cs typeface="Calibri" pitchFamily="34" charset="0"/>
                </a:rPr>
                <a:t>()</a:t>
              </a:r>
            </a:p>
          </p:txBody>
        </p:sp>
        <p:sp>
          <p:nvSpPr>
            <p:cNvPr id="16" name="Rectangle 15"/>
            <p:cNvSpPr/>
            <p:nvPr/>
          </p:nvSpPr>
          <p:spPr bwMode="auto">
            <a:xfrm>
              <a:off x="7048500" y="5019420"/>
              <a:ext cx="1866900" cy="1000380"/>
            </a:xfrm>
            <a:prstGeom prst="rect">
              <a:avLst/>
            </a:prstGeom>
            <a:solidFill>
              <a:schemeClr val="bg1">
                <a:lumMod val="85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spcBef>
                  <a:spcPts val="600"/>
                </a:spcBef>
              </a:pPr>
              <a:r>
                <a:rPr lang="en-US" dirty="0" smtClean="0">
                  <a:solidFill>
                    <a:srgbClr val="000000"/>
                  </a:solidFill>
                  <a:latin typeface="Calibri" pitchFamily="34" charset="0"/>
                  <a:cs typeface="Calibri" pitchFamily="34" charset="0"/>
                </a:rPr>
                <a:t>Idle</a:t>
              </a:r>
            </a:p>
            <a:p>
              <a:pPr marL="287338" indent="-169863">
                <a:lnSpc>
                  <a:spcPct val="70000"/>
                </a:lnSpc>
                <a:spcBef>
                  <a:spcPts val="600"/>
                </a:spcBef>
                <a:buFont typeface="Arial" pitchFamily="34" charset="0"/>
                <a:buChar char="•"/>
              </a:pPr>
              <a:r>
                <a:rPr lang="en-US" sz="1800" b="0" i="1" dirty="0" smtClean="0">
                  <a:solidFill>
                    <a:srgbClr val="000000"/>
                  </a:solidFill>
                  <a:latin typeface="Calibri" pitchFamily="34" charset="0"/>
                  <a:cs typeface="Calibri" pitchFamily="34" charset="0"/>
                </a:rPr>
                <a:t>Lowest PRI</a:t>
              </a:r>
            </a:p>
            <a:p>
              <a:pPr marL="287338" indent="-169863">
                <a:lnSpc>
                  <a:spcPct val="70000"/>
                </a:lnSpc>
                <a:spcBef>
                  <a:spcPts val="600"/>
                </a:spcBef>
                <a:buFont typeface="Arial" pitchFamily="34" charset="0"/>
                <a:buChar char="•"/>
              </a:pPr>
              <a:r>
                <a:rPr lang="en-US" sz="1800" b="0" i="1" dirty="0" smtClean="0">
                  <a:solidFill>
                    <a:srgbClr val="000000"/>
                  </a:solidFill>
                  <a:latin typeface="Calibri" pitchFamily="34" charset="0"/>
                  <a:cs typeface="Calibri" pitchFamily="34" charset="0"/>
                </a:rPr>
                <a:t>Calls </a:t>
              </a:r>
              <a:r>
                <a:rPr lang="en-US" sz="1800" b="0" i="1" dirty="0" err="1" smtClean="0">
                  <a:solidFill>
                    <a:srgbClr val="000000"/>
                  </a:solidFill>
                  <a:latin typeface="Calibri" pitchFamily="34" charset="0"/>
                  <a:cs typeface="Calibri" pitchFamily="34" charset="0"/>
                </a:rPr>
                <a:t>my_fxn</a:t>
              </a:r>
              <a:r>
                <a:rPr lang="en-US" sz="1800" b="0" i="1" dirty="0" smtClean="0">
                  <a:solidFill>
                    <a:srgbClr val="000000"/>
                  </a:solidFill>
                  <a:latin typeface="Calibri" pitchFamily="34" charset="0"/>
                  <a:cs typeface="Calibri" pitchFamily="34" charset="0"/>
                </a:rPr>
                <a:t>()</a:t>
              </a:r>
            </a:p>
          </p:txBody>
        </p:sp>
        <p:pic>
          <p:nvPicPr>
            <p:cNvPr id="1026" name="Picture 2" descr="C:\Users\a0159877\Desktop\arrow_loop.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32800" y="5049710"/>
              <a:ext cx="431800" cy="4318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Users\a0159877\Desktop\arrow_loop.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24600" y="5049710"/>
              <a:ext cx="431800" cy="431800"/>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Rectangle 7"/>
          <p:cNvSpPr/>
          <p:nvPr/>
        </p:nvSpPr>
        <p:spPr bwMode="auto">
          <a:xfrm>
            <a:off x="381000" y="999461"/>
            <a:ext cx="2362201" cy="2438401"/>
          </a:xfrm>
          <a:prstGeom prst="rect">
            <a:avLst/>
          </a:prstGeom>
          <a:solidFill>
            <a:schemeClr val="accent6">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nSpc>
                <a:spcPct val="60000"/>
              </a:lnSpc>
              <a:spcBef>
                <a:spcPts val="600"/>
              </a:spcBef>
            </a:pPr>
            <a:r>
              <a:rPr lang="en-US" sz="1800" b="0">
                <a:solidFill>
                  <a:srgbClr val="000000"/>
                </a:solidFill>
                <a:latin typeface="Courier New" pitchFamily="49" charset="0"/>
                <a:cs typeface="Courier New" pitchFamily="49" charset="0"/>
              </a:rPr>
              <a:t>void my_fxn()</a:t>
            </a:r>
          </a:p>
          <a:p>
            <a:pPr>
              <a:lnSpc>
                <a:spcPct val="60000"/>
              </a:lnSpc>
              <a:spcBef>
                <a:spcPts val="600"/>
              </a:spcBef>
            </a:pPr>
            <a:r>
              <a:rPr lang="en-US" sz="1800" b="0">
                <a:solidFill>
                  <a:srgbClr val="000000"/>
                </a:solidFill>
                <a:latin typeface="Courier New" pitchFamily="49" charset="0"/>
                <a:cs typeface="Courier New" pitchFamily="49" charset="0"/>
              </a:rPr>
              <a:t>{</a:t>
            </a:r>
          </a:p>
          <a:p>
            <a:pPr>
              <a:lnSpc>
                <a:spcPct val="60000"/>
              </a:lnSpc>
              <a:spcBef>
                <a:spcPts val="600"/>
              </a:spcBef>
            </a:pPr>
            <a:r>
              <a:rPr lang="en-US" sz="1800" b="0">
                <a:solidFill>
                  <a:srgbClr val="000000"/>
                </a:solidFill>
                <a:latin typeface="Courier New" pitchFamily="49" charset="0"/>
                <a:cs typeface="Courier New" pitchFamily="49" charset="0"/>
              </a:rPr>
              <a:t>  int m, x, b;</a:t>
            </a:r>
          </a:p>
          <a:p>
            <a:pPr>
              <a:lnSpc>
                <a:spcPct val="60000"/>
              </a:lnSpc>
              <a:spcBef>
                <a:spcPts val="600"/>
              </a:spcBef>
            </a:pPr>
            <a:r>
              <a:rPr lang="en-US" sz="1800" b="0">
                <a:solidFill>
                  <a:srgbClr val="000000"/>
                </a:solidFill>
                <a:latin typeface="Courier New" pitchFamily="49" charset="0"/>
                <a:cs typeface="Courier New" pitchFamily="49" charset="0"/>
              </a:rPr>
              <a:t>  int y;</a:t>
            </a:r>
          </a:p>
          <a:p>
            <a:pPr>
              <a:lnSpc>
                <a:spcPct val="60000"/>
              </a:lnSpc>
              <a:spcBef>
                <a:spcPts val="600"/>
              </a:spcBef>
            </a:pPr>
            <a:endParaRPr lang="en-US" sz="1800" b="0">
              <a:solidFill>
                <a:srgbClr val="000000"/>
              </a:solidFill>
              <a:latin typeface="Courier New" pitchFamily="49" charset="0"/>
              <a:cs typeface="Courier New" pitchFamily="49" charset="0"/>
            </a:endParaRPr>
          </a:p>
          <a:p>
            <a:pPr>
              <a:lnSpc>
                <a:spcPct val="60000"/>
              </a:lnSpc>
              <a:spcBef>
                <a:spcPts val="600"/>
              </a:spcBef>
            </a:pPr>
            <a:r>
              <a:rPr lang="en-US" sz="1800" b="0">
                <a:solidFill>
                  <a:srgbClr val="000000"/>
                </a:solidFill>
                <a:latin typeface="Courier New" pitchFamily="49" charset="0"/>
                <a:cs typeface="Courier New" pitchFamily="49" charset="0"/>
              </a:rPr>
              <a:t>  y = m*x + b;</a:t>
            </a:r>
          </a:p>
          <a:p>
            <a:pPr>
              <a:lnSpc>
                <a:spcPct val="60000"/>
              </a:lnSpc>
              <a:spcBef>
                <a:spcPts val="600"/>
              </a:spcBef>
            </a:pPr>
            <a:r>
              <a:rPr lang="en-US" sz="1800" b="0">
                <a:solidFill>
                  <a:srgbClr val="000000"/>
                </a:solidFill>
                <a:latin typeface="Courier New" pitchFamily="49" charset="0"/>
                <a:cs typeface="Courier New" pitchFamily="49" charset="0"/>
              </a:rPr>
              <a:t>  serial = y;</a:t>
            </a:r>
          </a:p>
          <a:p>
            <a:pPr>
              <a:lnSpc>
                <a:spcPct val="60000"/>
              </a:lnSpc>
              <a:spcBef>
                <a:spcPts val="600"/>
              </a:spcBef>
            </a:pPr>
            <a:r>
              <a:rPr lang="en-US" sz="1800" b="0">
                <a:solidFill>
                  <a:srgbClr val="000000"/>
                </a:solidFill>
                <a:latin typeface="Courier New" pitchFamily="49" charset="0"/>
                <a:cs typeface="Courier New" pitchFamily="49" charset="0"/>
              </a:rPr>
              <a:t>  results += 1;</a:t>
            </a:r>
          </a:p>
          <a:p>
            <a:pPr>
              <a:lnSpc>
                <a:spcPct val="60000"/>
              </a:lnSpc>
              <a:spcBef>
                <a:spcPts val="600"/>
              </a:spcBef>
            </a:pPr>
            <a:r>
              <a:rPr lang="en-US" sz="1800" b="0">
                <a:solidFill>
                  <a:srgbClr val="000000"/>
                </a:solidFill>
                <a:latin typeface="Courier New" pitchFamily="49" charset="0"/>
                <a:cs typeface="Courier New" pitchFamily="49" charset="0"/>
              </a:rPr>
              <a:t>}</a:t>
            </a:r>
            <a:endParaRPr lang="en-US" sz="1800" b="0" dirty="0">
              <a:solidFill>
                <a:srgbClr val="000000"/>
              </a:solidFill>
              <a:latin typeface="Courier New" pitchFamily="49" charset="0"/>
              <a:cs typeface="Courier New" pitchFamily="49" charset="0"/>
            </a:endParaRPr>
          </a:p>
        </p:txBody>
      </p:sp>
      <p:grpSp>
        <p:nvGrpSpPr>
          <p:cNvPr id="18" name="Group 17"/>
          <p:cNvGrpSpPr/>
          <p:nvPr/>
        </p:nvGrpSpPr>
        <p:grpSpPr>
          <a:xfrm>
            <a:off x="381000" y="629094"/>
            <a:ext cx="8572500" cy="3180906"/>
            <a:chOff x="381000" y="629094"/>
            <a:chExt cx="8572500" cy="3180906"/>
          </a:xfrm>
        </p:grpSpPr>
        <p:sp>
          <p:nvSpPr>
            <p:cNvPr id="11" name="Rectangle 10"/>
            <p:cNvSpPr/>
            <p:nvPr/>
          </p:nvSpPr>
          <p:spPr bwMode="auto">
            <a:xfrm>
              <a:off x="3429000" y="2767331"/>
              <a:ext cx="5524500" cy="890269"/>
            </a:xfrm>
            <a:prstGeom prst="rect">
              <a:avLst/>
            </a:prstGeom>
            <a:solidFill>
              <a:schemeClr val="accent3"/>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b="0" dirty="0" smtClean="0">
                  <a:solidFill>
                    <a:srgbClr val="000000"/>
                  </a:solidFill>
                  <a:latin typeface="Calibri" pitchFamily="34" charset="0"/>
                  <a:cs typeface="Calibri" pitchFamily="34" charset="0"/>
                </a:rPr>
                <a:t>A </a:t>
              </a:r>
              <a:r>
                <a:rPr lang="en-US" i="1" dirty="0" smtClean="0">
                  <a:solidFill>
                    <a:srgbClr val="0066FF"/>
                  </a:solidFill>
                  <a:latin typeface="Calibri" pitchFamily="34" charset="0"/>
                  <a:cs typeface="Calibri" pitchFamily="34" charset="0"/>
                </a:rPr>
                <a:t>thread</a:t>
              </a:r>
              <a:r>
                <a:rPr lang="en-US" b="0" dirty="0" smtClean="0">
                  <a:solidFill>
                    <a:srgbClr val="000000"/>
                  </a:solidFill>
                  <a:latin typeface="Calibri" pitchFamily="34" charset="0"/>
                  <a:cs typeface="Calibri" pitchFamily="34" charset="0"/>
                </a:rPr>
                <a:t> is a function that runs within a specific context (PRIORITY, stack,  etc.) </a:t>
              </a:r>
              <a:endParaRPr lang="en-US" b="0" dirty="0">
                <a:solidFill>
                  <a:srgbClr val="000000"/>
                </a:solidFill>
                <a:latin typeface="Calibri" pitchFamily="34" charset="0"/>
                <a:cs typeface="Calibri" pitchFamily="34" charset="0"/>
              </a:endParaRPr>
            </a:p>
          </p:txBody>
        </p:sp>
        <p:sp>
          <p:nvSpPr>
            <p:cNvPr id="23" name="Rectangle 22"/>
            <p:cNvSpPr/>
            <p:nvPr/>
          </p:nvSpPr>
          <p:spPr bwMode="auto">
            <a:xfrm>
              <a:off x="381000" y="629094"/>
              <a:ext cx="2362201" cy="370367"/>
            </a:xfrm>
            <a:prstGeom prst="rect">
              <a:avLst/>
            </a:prstGeom>
            <a:solidFill>
              <a:schemeClr val="accent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a:lnSpc>
                  <a:spcPct val="60000"/>
                </a:lnSpc>
                <a:spcBef>
                  <a:spcPts val="600"/>
                </a:spcBef>
              </a:pPr>
              <a:r>
                <a:rPr lang="en-US" sz="1800" b="0" smtClean="0">
                  <a:solidFill>
                    <a:srgbClr val="000000"/>
                  </a:solidFill>
                  <a:latin typeface="Calibri" pitchFamily="34" charset="0"/>
                  <a:cs typeface="Calibri" pitchFamily="34" charset="0"/>
                </a:rPr>
                <a:t>Thread wrapper (C/S)</a:t>
              </a:r>
              <a:endParaRPr lang="en-US" sz="1800" b="0" dirty="0">
                <a:solidFill>
                  <a:srgbClr val="000000"/>
                </a:solidFill>
                <a:latin typeface="Calibri" pitchFamily="34" charset="0"/>
                <a:cs typeface="Calibri" pitchFamily="34" charset="0"/>
              </a:endParaRPr>
            </a:p>
          </p:txBody>
        </p:sp>
        <p:sp>
          <p:nvSpPr>
            <p:cNvPr id="24" name="Rectangle 23"/>
            <p:cNvSpPr/>
            <p:nvPr/>
          </p:nvSpPr>
          <p:spPr bwMode="auto">
            <a:xfrm>
              <a:off x="381000" y="3439633"/>
              <a:ext cx="2362201" cy="370367"/>
            </a:xfrm>
            <a:prstGeom prst="rect">
              <a:avLst/>
            </a:prstGeom>
            <a:solidFill>
              <a:schemeClr val="accent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a:lnSpc>
                  <a:spcPct val="60000"/>
                </a:lnSpc>
                <a:spcBef>
                  <a:spcPts val="600"/>
                </a:spcBef>
              </a:pPr>
              <a:r>
                <a:rPr lang="en-US" sz="1800" b="0" smtClean="0">
                  <a:solidFill>
                    <a:srgbClr val="000000"/>
                  </a:solidFill>
                  <a:latin typeface="Calibri" pitchFamily="34" charset="0"/>
                  <a:cs typeface="Calibri" pitchFamily="34" charset="0"/>
                </a:rPr>
                <a:t>Thread wrapper (C/R)</a:t>
              </a:r>
              <a:endParaRPr lang="en-US" sz="1800" b="0" dirty="0">
                <a:solidFill>
                  <a:srgbClr val="000000"/>
                </a:solidFill>
                <a:latin typeface="Calibri" pitchFamily="34" charset="0"/>
                <a:cs typeface="Calibri" pitchFamily="34" charset="0"/>
              </a:endParaRPr>
            </a:p>
          </p:txBody>
        </p:sp>
      </p:grpSp>
      <p:pic>
        <p:nvPicPr>
          <p:cNvPr id="26" name="Animated Logo" descr="tilogo_color_twoline.png"/>
          <p:cNvPicPr>
            <a:picLocks noChangeAspect="1"/>
          </p:cNvPicPr>
          <p:nvPr/>
        </p:nvPicPr>
        <p:blipFill>
          <a:blip r:embed="rId5" cstate="print"/>
          <a:stretch>
            <a:fillRect/>
          </a:stretch>
        </p:blipFill>
        <p:spPr>
          <a:xfrm>
            <a:off x="50800" y="6477000"/>
            <a:ext cx="1438537" cy="347443"/>
          </a:xfrm>
          <a:prstGeom prst="rect">
            <a:avLst/>
          </a:prstGeom>
        </p:spPr>
      </p:pic>
    </p:spTree>
    <p:custDataLst>
      <p:tags r:id="rId1"/>
    </p:custDataLst>
    <p:extLst>
      <p:ext uri="{BB962C8B-B14F-4D97-AF65-F5344CB8AC3E}">
        <p14:creationId xmlns:p14="http://schemas.microsoft.com/office/powerpoint/2010/main" val="1337814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49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533400" y="1219200"/>
            <a:ext cx="5105400" cy="4324922"/>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41988" name="Text Box 3"/>
          <p:cNvSpPr txBox="1">
            <a:spLocks noChangeArrowheads="1"/>
          </p:cNvSpPr>
          <p:nvPr>
            <p:custDataLst>
              <p:tags r:id="rId2"/>
            </p:custDataLst>
          </p:nvPr>
        </p:nvSpPr>
        <p:spPr bwMode="auto">
          <a:xfrm>
            <a:off x="533400" y="1329815"/>
            <a:ext cx="5105400" cy="387798"/>
          </a:xfrm>
          <a:prstGeom prst="rect">
            <a:avLst/>
          </a:prstGeom>
          <a:solidFill>
            <a:schemeClr val="bg1"/>
          </a:solidFill>
          <a:ln w="19050">
            <a:solidFill>
              <a:schemeClr val="tx1"/>
            </a:solid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dirty="0" err="1">
                <a:solidFill>
                  <a:srgbClr val="000000"/>
                </a:solidFill>
              </a:rPr>
              <a:t>MainHighlight</a:t>
            </a:r>
            <a:endParaRPr lang="en-US" dirty="0">
              <a:solidFill>
                <a:srgbClr val="000000"/>
              </a:solidFill>
            </a:endParaRPr>
          </a:p>
        </p:txBody>
      </p:sp>
      <p:sp>
        <p:nvSpPr>
          <p:cNvPr id="41989" name="Text Box 4"/>
          <p:cNvSpPr txBox="1">
            <a:spLocks noChangeArrowheads="1"/>
          </p:cNvSpPr>
          <p:nvPr>
            <p:custDataLst>
              <p:tags r:id="rId3"/>
            </p:custDataLst>
          </p:nvPr>
        </p:nvSpPr>
        <p:spPr bwMode="auto">
          <a:xfrm>
            <a:off x="538802" y="1760690"/>
            <a:ext cx="5099998" cy="387798"/>
          </a:xfrm>
          <a:prstGeom prst="rect">
            <a:avLst/>
          </a:prstGeom>
          <a:noFill/>
          <a:ln w="12700">
            <a:noFill/>
            <a:miter lim="800000"/>
            <a:headEnd type="none" w="sm" len="sm"/>
            <a:tailEnd type="none" w="sm" len="sm"/>
          </a:ln>
        </p:spPr>
        <p:txBody>
          <a:bodyPr wrap="square"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dirty="0" err="1">
                <a:solidFill>
                  <a:srgbClr val="000000"/>
                </a:solidFill>
              </a:rPr>
              <a:t>MainNormal</a:t>
            </a:r>
            <a:endParaRPr lang="en-US" dirty="0">
              <a:solidFill>
                <a:srgbClr val="000000"/>
              </a:solidFill>
            </a:endParaRPr>
          </a:p>
        </p:txBody>
      </p:sp>
      <p:sp>
        <p:nvSpPr>
          <p:cNvPr id="41990" name="Text Box 5"/>
          <p:cNvSpPr txBox="1">
            <a:spLocks noChangeArrowheads="1"/>
          </p:cNvSpPr>
          <p:nvPr>
            <p:custDataLst>
              <p:tags r:id="rId4"/>
            </p:custDataLst>
          </p:nvPr>
        </p:nvSpPr>
        <p:spPr bwMode="auto">
          <a:xfrm>
            <a:off x="1051873" y="2147248"/>
            <a:ext cx="4053527" cy="369332"/>
          </a:xfrm>
          <a:prstGeom prst="rect">
            <a:avLst/>
          </a:prstGeom>
          <a:solidFill>
            <a:schemeClr val="bg1"/>
          </a:solidFill>
          <a:ln w="19050">
            <a:solidFill>
              <a:schemeClr val="tx1"/>
            </a:solidFill>
            <a:miter lim="800000"/>
            <a:headEnd type="none" w="sm" len="sm"/>
            <a:tailEnd type="none" w="sm" len="sm"/>
          </a:ln>
        </p:spPr>
        <p:txBody>
          <a:bodyPr wrap="square"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000" dirty="0" err="1">
                <a:solidFill>
                  <a:srgbClr val="000000"/>
                </a:solidFill>
              </a:rPr>
              <a:t>SubHighlight</a:t>
            </a:r>
            <a:endParaRPr lang="en-US" sz="2000" dirty="0">
              <a:solidFill>
                <a:srgbClr val="000000"/>
              </a:solidFill>
            </a:endParaRPr>
          </a:p>
        </p:txBody>
      </p:sp>
      <p:sp>
        <p:nvSpPr>
          <p:cNvPr id="41991" name="Text Box 6"/>
          <p:cNvSpPr txBox="1">
            <a:spLocks noChangeArrowheads="1"/>
          </p:cNvSpPr>
          <p:nvPr>
            <p:custDataLst>
              <p:tags r:id="rId5"/>
            </p:custDataLst>
          </p:nvPr>
        </p:nvSpPr>
        <p:spPr bwMode="auto">
          <a:xfrm>
            <a:off x="1047750" y="2528248"/>
            <a:ext cx="4667250" cy="313932"/>
          </a:xfrm>
          <a:prstGeom prst="rect">
            <a:avLst/>
          </a:prstGeom>
          <a:noFill/>
          <a:ln w="12700">
            <a:noFill/>
            <a:miter lim="800000"/>
            <a:headEnd type="none" w="sm" len="sm"/>
            <a:tailEnd type="none" w="sm" len="sm"/>
          </a:ln>
        </p:spPr>
        <p:txBody>
          <a:bodyPr tIns="18288" bIns="18288"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000" dirty="0" err="1">
                <a:solidFill>
                  <a:srgbClr val="000000"/>
                </a:solidFill>
              </a:rPr>
              <a:t>SubNormal</a:t>
            </a:r>
            <a:endParaRPr lang="en-US" sz="2000" dirty="0">
              <a:solidFill>
                <a:srgbClr val="000000"/>
              </a:solidFill>
            </a:endParaRPr>
          </a:p>
        </p:txBody>
      </p:sp>
      <p:pic>
        <p:nvPicPr>
          <p:cNvPr id="72706" name="Picture 2" descr="C:\Documents and Settings\a0159877\Desktop\250px-Operating_system_placement.svg.png"/>
          <p:cNvPicPr>
            <a:picLocks noChangeAspect="1" noChangeArrowheads="1"/>
          </p:cNvPicPr>
          <p:nvPr/>
        </p:nvPicPr>
        <p:blipFill>
          <a:blip r:embed="rId7" cstate="print"/>
          <a:srcRect/>
          <a:stretch>
            <a:fillRect/>
          </a:stretch>
        </p:blipFill>
        <p:spPr bwMode="auto">
          <a:xfrm>
            <a:off x="6160824" y="1316817"/>
            <a:ext cx="2819400" cy="4172713"/>
          </a:xfrm>
          <a:prstGeom prst="rect">
            <a:avLst/>
          </a:prstGeom>
          <a:noFill/>
        </p:spPr>
      </p:pic>
    </p:spTree>
    <p:custDataLst>
      <p:tags r:id="rId1"/>
    </p:custData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NO LOGOS" val="true"/>
</p:tagLst>
</file>

<file path=ppt/tags/tag2.xml><?xml version="1.0" encoding="utf-8"?>
<p:tagLst xmlns:a="http://schemas.openxmlformats.org/drawingml/2006/main" xmlns:r="http://schemas.openxmlformats.org/officeDocument/2006/relationships" xmlns:p="http://schemas.openxmlformats.org/presentationml/2006/main">
  <p:tag name="NO LOGOS" val="true"/>
  <p:tag name="ADMINISTRATIVESLIDE" val="True"/>
</p:tagLst>
</file>

<file path=ppt/tags/tag3.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NO LOGOS" val="true"/>
  <p:tag name="ADMINISTRATIVESLIDE" val="True"/>
  <p:tag name="MILESTONESLIDE" val="True"/>
  <p:tag name="MILESTATUS" val="PresentationStyle"/>
  <p:tag name="MILESTONELEVEL" val="1"/>
</p:tagLst>
</file>

<file path=ppt/tags/tag4.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5.xml><?xml version="1.0" encoding="utf-8"?>
<p:tagLst xmlns:a="http://schemas.openxmlformats.org/drawingml/2006/main" xmlns:r="http://schemas.openxmlformats.org/officeDocument/2006/relationships" xmlns:p="http://schemas.openxmlformats.org/presentationml/2006/main">
  <p:tag name="MILELISTITEM" val=""/>
</p:tagLst>
</file>

<file path=ppt/tags/tag6.xml><?xml version="1.0" encoding="utf-8"?>
<p:tagLst xmlns:a="http://schemas.openxmlformats.org/drawingml/2006/main" xmlns:r="http://schemas.openxmlformats.org/officeDocument/2006/relationships" xmlns:p="http://schemas.openxmlformats.org/presentationml/2006/main">
  <p:tag name="MILELISTITEM" val=""/>
</p:tagLst>
</file>

<file path=ppt/tags/tag7.xml><?xml version="1.0" encoding="utf-8"?>
<p:tagLst xmlns:a="http://schemas.openxmlformats.org/drawingml/2006/main" xmlns:r="http://schemas.openxmlformats.org/officeDocument/2006/relationships" xmlns:p="http://schemas.openxmlformats.org/presentationml/2006/main">
  <p:tag name="MILELISTITEM" val=""/>
</p:tagLst>
</file>

<file path=ppt/tags/tag8.xml><?xml version="1.0" encoding="utf-8"?>
<p:tagLst xmlns:a="http://schemas.openxmlformats.org/drawingml/2006/main" xmlns:r="http://schemas.openxmlformats.org/officeDocument/2006/relationships" xmlns:p="http://schemas.openxmlformats.org/presentationml/2006/main">
  <p:tag name="MILELISTITEM" val=""/>
</p:tagLst>
</file>

<file path=ppt/tags/tag9.xml><?xml version="1.0" encoding="utf-8"?>
<p:tagLst xmlns:a="http://schemas.openxmlformats.org/drawingml/2006/main" xmlns:r="http://schemas.openxmlformats.org/officeDocument/2006/relationships" xmlns:p="http://schemas.openxmlformats.org/presentationml/2006/main">
  <p:tag name="MILELISTITEM" val=""/>
</p:tagLst>
</file>

<file path=ppt/tags/tag10.xml><?xml version="1.0" encoding="utf-8"?>
<p:tagLst xmlns:a="http://schemas.openxmlformats.org/drawingml/2006/main" xmlns:r="http://schemas.openxmlformats.org/officeDocument/2006/relationships" xmlns:p="http://schemas.openxmlformats.org/presentationml/2006/main">
  <p:tag name="MILELISTITEM" val=""/>
</p:tagLst>
</file>

<file path=ppt/tags/tag11.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NO LOGOS" val="true"/>
  <p:tag name="ADMINISTRATIVESLIDE" val="True"/>
  <p:tag name="MILESTONESLIDE" val="True"/>
  <p:tag name="MILESTATUS" val="PresentationStyle"/>
  <p:tag name="MILESTONELEVEL" val="1"/>
</p:tagLst>
</file>

<file path=ppt/tags/tag12.xml><?xml version="1.0" encoding="utf-8"?>
<p:tagLst xmlns:a="http://schemas.openxmlformats.org/drawingml/2006/main" xmlns:r="http://schemas.openxmlformats.org/officeDocument/2006/relationships" xmlns:p="http://schemas.openxmlformats.org/presentationml/2006/main">
  <p:tag name="MILELISTITEM" val=""/>
</p:tagLst>
</file>

<file path=ppt/tags/tag13.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14.xml><?xml version="1.0" encoding="utf-8"?>
<p:tagLst xmlns:a="http://schemas.openxmlformats.org/drawingml/2006/main" xmlns:r="http://schemas.openxmlformats.org/officeDocument/2006/relationships" xmlns:p="http://schemas.openxmlformats.org/presentationml/2006/main">
  <p:tag name="MILELISTITEM" val=""/>
</p:tagLst>
</file>

<file path=ppt/tags/tag15.xml><?xml version="1.0" encoding="utf-8"?>
<p:tagLst xmlns:a="http://schemas.openxmlformats.org/drawingml/2006/main" xmlns:r="http://schemas.openxmlformats.org/officeDocument/2006/relationships" xmlns:p="http://schemas.openxmlformats.org/presentationml/2006/main">
  <p:tag name="MILELISTITEM" val=""/>
</p:tagLst>
</file>

<file path=ppt/tags/tag16.xml><?xml version="1.0" encoding="utf-8"?>
<p:tagLst xmlns:a="http://schemas.openxmlformats.org/drawingml/2006/main" xmlns:r="http://schemas.openxmlformats.org/officeDocument/2006/relationships" xmlns:p="http://schemas.openxmlformats.org/presentationml/2006/main">
  <p:tag name="MILELISTITEM" val=""/>
</p:tagLst>
</file>

<file path=ppt/tags/tag17.xml><?xml version="1.0" encoding="utf-8"?>
<p:tagLst xmlns:a="http://schemas.openxmlformats.org/drawingml/2006/main" xmlns:r="http://schemas.openxmlformats.org/officeDocument/2006/relationships" xmlns:p="http://schemas.openxmlformats.org/presentationml/2006/main">
  <p:tag name="MILELISTITEM" val=""/>
</p:tagLst>
</file>

<file path=ppt/tags/tag18.xml><?xml version="1.0" encoding="utf-8"?>
<p:tagLst xmlns:a="http://schemas.openxmlformats.org/drawingml/2006/main" xmlns:r="http://schemas.openxmlformats.org/officeDocument/2006/relationships" xmlns:p="http://schemas.openxmlformats.org/presentationml/2006/main">
  <p:tag name="MILELISTITEM" val=""/>
</p:tagLst>
</file>

<file path=ppt/tags/tag19.xml><?xml version="1.0" encoding="utf-8"?>
<p:tagLst xmlns:a="http://schemas.openxmlformats.org/drawingml/2006/main" xmlns:r="http://schemas.openxmlformats.org/officeDocument/2006/relationships" xmlns:p="http://schemas.openxmlformats.org/presentationml/2006/main">
  <p:tag name="MILELISTITEM" val=""/>
</p:tagLst>
</file>

<file path=ppt/tags/tag20.xml><?xml version="1.0" encoding="utf-8"?>
<p:tagLst xmlns:a="http://schemas.openxmlformats.org/drawingml/2006/main" xmlns:r="http://schemas.openxmlformats.org/officeDocument/2006/relationships" xmlns:p="http://schemas.openxmlformats.org/presentationml/2006/main">
  <p:tag name="MILELISTITEM" val=""/>
</p:tagLst>
</file>

<file path=ppt/tags/tag21.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NO LOGOS" val="true"/>
  <p:tag name="ADMINISTRATIVESLIDE" val="True"/>
  <p:tag name="MILESTONESLIDE" val="True"/>
  <p:tag name="MILESTATUS" val="PresentationStyle"/>
  <p:tag name="MILESTONELEVEL" val="2"/>
</p:tagLst>
</file>

<file path=ppt/tags/tag22.xml><?xml version="1.0" encoding="utf-8"?>
<p:tagLst xmlns:a="http://schemas.openxmlformats.org/drawingml/2006/main" xmlns:r="http://schemas.openxmlformats.org/officeDocument/2006/relationships" xmlns:p="http://schemas.openxmlformats.org/presentationml/2006/main">
  <p:tag name="MILELISTITEM" val=""/>
</p:tagLst>
</file>

<file path=ppt/tags/tag23.xml><?xml version="1.0" encoding="utf-8"?>
<p:tagLst xmlns:a="http://schemas.openxmlformats.org/drawingml/2006/main" xmlns:r="http://schemas.openxmlformats.org/officeDocument/2006/relationships" xmlns:p="http://schemas.openxmlformats.org/presentationml/2006/main">
  <p:tag name="MILELISTITEM" val=""/>
</p:tagLst>
</file>

<file path=ppt/tags/tag24.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25.xml><?xml version="1.0" encoding="utf-8"?>
<p:tagLst xmlns:a="http://schemas.openxmlformats.org/drawingml/2006/main" xmlns:r="http://schemas.openxmlformats.org/officeDocument/2006/relationships" xmlns:p="http://schemas.openxmlformats.org/presentationml/2006/main">
  <p:tag name="MILELISTITEM" val=""/>
</p:tagLst>
</file>

<file path=ppt/tags/tag26.xml><?xml version="1.0" encoding="utf-8"?>
<p:tagLst xmlns:a="http://schemas.openxmlformats.org/drawingml/2006/main" xmlns:r="http://schemas.openxmlformats.org/officeDocument/2006/relationships" xmlns:p="http://schemas.openxmlformats.org/presentationml/2006/main">
  <p:tag name="MILELISTITEM" val=""/>
</p:tagLst>
</file>

<file path=ppt/tags/tag27.xml><?xml version="1.0" encoding="utf-8"?>
<p:tagLst xmlns:a="http://schemas.openxmlformats.org/drawingml/2006/main" xmlns:r="http://schemas.openxmlformats.org/officeDocument/2006/relationships" xmlns:p="http://schemas.openxmlformats.org/presentationml/2006/main">
  <p:tag name="MILELISTITEM" val=""/>
</p:tagLst>
</file>

<file path=ppt/tags/tag28.xml><?xml version="1.0" encoding="utf-8"?>
<p:tagLst xmlns:a="http://schemas.openxmlformats.org/drawingml/2006/main" xmlns:r="http://schemas.openxmlformats.org/officeDocument/2006/relationships" xmlns:p="http://schemas.openxmlformats.org/presentationml/2006/main">
  <p:tag name="MILELISTITEM" val=""/>
</p:tagLst>
</file>

<file path=ppt/tags/tag29.xml><?xml version="1.0" encoding="utf-8"?>
<p:tagLst xmlns:a="http://schemas.openxmlformats.org/drawingml/2006/main" xmlns:r="http://schemas.openxmlformats.org/officeDocument/2006/relationships" xmlns:p="http://schemas.openxmlformats.org/presentationml/2006/main">
  <p:tag name="MILELISTITEM" val=""/>
</p:tagLst>
</file>

<file path=ppt/tags/tag30.xml><?xml version="1.0" encoding="utf-8"?>
<p:tagLst xmlns:a="http://schemas.openxmlformats.org/drawingml/2006/main" xmlns:r="http://schemas.openxmlformats.org/officeDocument/2006/relationships" xmlns:p="http://schemas.openxmlformats.org/presentationml/2006/main">
  <p:tag name="MILELISTITEM" val=""/>
</p:tagLst>
</file>

<file path=ppt/tags/tag31.xml><?xml version="1.0" encoding="utf-8"?>
<p:tagLst xmlns:a="http://schemas.openxmlformats.org/drawingml/2006/main" xmlns:r="http://schemas.openxmlformats.org/officeDocument/2006/relationships" xmlns:p="http://schemas.openxmlformats.org/presentationml/2006/main">
  <p:tag name="COLORSCHEMEINDEX" val="4"/>
</p:tagLst>
</file>

<file path=ppt/tags/tag32.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NO LOGOS" val="true"/>
  <p:tag name="ADMINISTRATIVESLIDE" val="True"/>
  <p:tag name="MILESTONESLIDE" val="True"/>
  <p:tag name="MILESTATUS" val="PresentationStyle"/>
  <p:tag name="MILESTONELEVEL" val="2"/>
</p:tagLst>
</file>

<file path=ppt/tags/tag33.xml><?xml version="1.0" encoding="utf-8"?>
<p:tagLst xmlns:a="http://schemas.openxmlformats.org/drawingml/2006/main" xmlns:r="http://schemas.openxmlformats.org/officeDocument/2006/relationships" xmlns:p="http://schemas.openxmlformats.org/presentationml/2006/main">
  <p:tag name="MILELISTITEM" val=""/>
</p:tagLst>
</file>

<file path=ppt/tags/tag34.xml><?xml version="1.0" encoding="utf-8"?>
<p:tagLst xmlns:a="http://schemas.openxmlformats.org/drawingml/2006/main" xmlns:r="http://schemas.openxmlformats.org/officeDocument/2006/relationships" xmlns:p="http://schemas.openxmlformats.org/presentationml/2006/main">
  <p:tag name="MILELISTITEM" val=""/>
</p:tagLst>
</file>

<file path=ppt/tags/tag35.xml><?xml version="1.0" encoding="utf-8"?>
<p:tagLst xmlns:a="http://schemas.openxmlformats.org/drawingml/2006/main" xmlns:r="http://schemas.openxmlformats.org/officeDocument/2006/relationships" xmlns:p="http://schemas.openxmlformats.org/presentationml/2006/main">
  <p:tag name="MILELISTITEM" val=""/>
</p:tagLst>
</file>

<file path=ppt/tags/tag36.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37.xml><?xml version="1.0" encoding="utf-8"?>
<p:tagLst xmlns:a="http://schemas.openxmlformats.org/drawingml/2006/main" xmlns:r="http://schemas.openxmlformats.org/officeDocument/2006/relationships" xmlns:p="http://schemas.openxmlformats.org/presentationml/2006/main">
  <p:tag name="MILELISTITEM" val=""/>
</p:tagLst>
</file>

<file path=ppt/tags/tag38.xml><?xml version="1.0" encoding="utf-8"?>
<p:tagLst xmlns:a="http://schemas.openxmlformats.org/drawingml/2006/main" xmlns:r="http://schemas.openxmlformats.org/officeDocument/2006/relationships" xmlns:p="http://schemas.openxmlformats.org/presentationml/2006/main">
  <p:tag name="MILELISTITEM" val=""/>
</p:tagLst>
</file>

<file path=ppt/tags/tag39.xml><?xml version="1.0" encoding="utf-8"?>
<p:tagLst xmlns:a="http://schemas.openxmlformats.org/drawingml/2006/main" xmlns:r="http://schemas.openxmlformats.org/officeDocument/2006/relationships" xmlns:p="http://schemas.openxmlformats.org/presentationml/2006/main">
  <p:tag name="MILELISTITEM" val=""/>
</p:tagLst>
</file>

<file path=ppt/tags/tag40.xml><?xml version="1.0" encoding="utf-8"?>
<p:tagLst xmlns:a="http://schemas.openxmlformats.org/drawingml/2006/main" xmlns:r="http://schemas.openxmlformats.org/officeDocument/2006/relationships" xmlns:p="http://schemas.openxmlformats.org/presentationml/2006/main">
  <p:tag name="MILELISTITEM" val=""/>
</p:tagLst>
</file>

<file path=ppt/tags/tag41.xml><?xml version="1.0" encoding="utf-8"?>
<p:tagLst xmlns:a="http://schemas.openxmlformats.org/drawingml/2006/main" xmlns:r="http://schemas.openxmlformats.org/officeDocument/2006/relationships" xmlns:p="http://schemas.openxmlformats.org/presentationml/2006/main">
  <p:tag name="MILELISTITEM" val=""/>
</p:tagLst>
</file>

<file path=ppt/tags/tag42.xml><?xml version="1.0" encoding="utf-8"?>
<p:tagLst xmlns:a="http://schemas.openxmlformats.org/drawingml/2006/main" xmlns:r="http://schemas.openxmlformats.org/officeDocument/2006/relationships" xmlns:p="http://schemas.openxmlformats.org/presentationml/2006/main">
  <p:tag name="COLORSCHEMEINDEX" val="4"/>
</p:tagLst>
</file>

<file path=ppt/tags/tag43.xml><?xml version="1.0" encoding="utf-8"?>
<p:tagLst xmlns:a="http://schemas.openxmlformats.org/drawingml/2006/main" xmlns:r="http://schemas.openxmlformats.org/officeDocument/2006/relationships" xmlns:p="http://schemas.openxmlformats.org/presentationml/2006/main">
  <p:tag name="COLORSCHEMEINDEX" val="4"/>
</p:tagLst>
</file>

<file path=ppt/tags/tag44.xml><?xml version="1.0" encoding="utf-8"?>
<p:tagLst xmlns:a="http://schemas.openxmlformats.org/drawingml/2006/main" xmlns:r="http://schemas.openxmlformats.org/officeDocument/2006/relationships" xmlns:p="http://schemas.openxmlformats.org/presentationml/2006/main">
  <p:tag name="COLORSCHEMEINDEX" val="4"/>
</p:tagLst>
</file>

<file path=ppt/tags/tag45.xml><?xml version="1.0" encoding="utf-8"?>
<p:tagLst xmlns:a="http://schemas.openxmlformats.org/drawingml/2006/main" xmlns:r="http://schemas.openxmlformats.org/officeDocument/2006/relationships" xmlns:p="http://schemas.openxmlformats.org/presentationml/2006/main">
  <p:tag name="COLORSCHEMEINDEX" val="4"/>
</p:tagLst>
</file>

<file path=ppt/tags/tag46.xml><?xml version="1.0" encoding="utf-8"?>
<p:tagLst xmlns:a="http://schemas.openxmlformats.org/drawingml/2006/main" xmlns:r="http://schemas.openxmlformats.org/officeDocument/2006/relationships" xmlns:p="http://schemas.openxmlformats.org/presentationml/2006/main">
  <p:tag name="COLORSCHEMEINDEX" val="4"/>
</p:tagLst>
</file>

<file path=ppt/tags/tag47.xml><?xml version="1.0" encoding="utf-8"?>
<p:tagLst xmlns:a="http://schemas.openxmlformats.org/drawingml/2006/main" xmlns:r="http://schemas.openxmlformats.org/officeDocument/2006/relationships" xmlns:p="http://schemas.openxmlformats.org/presentationml/2006/main">
  <p:tag name="COLORSCHEMEINDEX" val="4"/>
</p:tagLst>
</file>

<file path=ppt/tags/tag48.xml><?xml version="1.0" encoding="utf-8"?>
<p:tagLst xmlns:a="http://schemas.openxmlformats.org/drawingml/2006/main" xmlns:r="http://schemas.openxmlformats.org/officeDocument/2006/relationships" xmlns:p="http://schemas.openxmlformats.org/presentationml/2006/main">
  <p:tag name="COLORSCHEMEINDEX" val="4"/>
</p:tagLst>
</file>

<file path=ppt/tags/tag49.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NO LOGOS" val="true"/>
  <p:tag name="ADMINISTRATIVESLIDE" val="True"/>
  <p:tag name="MILESTONESLIDE" val="True"/>
  <p:tag name="MILESTATUS" val="PresentationStyle"/>
  <p:tag name="MILESTONELEVEL" val="1"/>
</p:tagLst>
</file>

<file path=ppt/tags/tag50.xml><?xml version="1.0" encoding="utf-8"?>
<p:tagLst xmlns:a="http://schemas.openxmlformats.org/drawingml/2006/main" xmlns:r="http://schemas.openxmlformats.org/officeDocument/2006/relationships" xmlns:p="http://schemas.openxmlformats.org/presentationml/2006/main">
  <p:tag name="MILELISTITEM" val=""/>
</p:tagLst>
</file>

<file path=ppt/tags/tag51.xml><?xml version="1.0" encoding="utf-8"?>
<p:tagLst xmlns:a="http://schemas.openxmlformats.org/drawingml/2006/main" xmlns:r="http://schemas.openxmlformats.org/officeDocument/2006/relationships" xmlns:p="http://schemas.openxmlformats.org/presentationml/2006/main">
  <p:tag name="MILELISTITEM" val=""/>
</p:tagLst>
</file>

<file path=ppt/tags/tag52.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53.xml><?xml version="1.0" encoding="utf-8"?>
<p:tagLst xmlns:a="http://schemas.openxmlformats.org/drawingml/2006/main" xmlns:r="http://schemas.openxmlformats.org/officeDocument/2006/relationships" xmlns:p="http://schemas.openxmlformats.org/presentationml/2006/main">
  <p:tag name="MILELISTITEM" val=""/>
</p:tagLst>
</file>

<file path=ppt/tags/tag54.xml><?xml version="1.0" encoding="utf-8"?>
<p:tagLst xmlns:a="http://schemas.openxmlformats.org/drawingml/2006/main" xmlns:r="http://schemas.openxmlformats.org/officeDocument/2006/relationships" xmlns:p="http://schemas.openxmlformats.org/presentationml/2006/main">
  <p:tag name="MILELISTITEM" val=""/>
</p:tagLst>
</file>

<file path=ppt/tags/tag55.xml><?xml version="1.0" encoding="utf-8"?>
<p:tagLst xmlns:a="http://schemas.openxmlformats.org/drawingml/2006/main" xmlns:r="http://schemas.openxmlformats.org/officeDocument/2006/relationships" xmlns:p="http://schemas.openxmlformats.org/presentationml/2006/main">
  <p:tag name="MILELISTITEM" val=""/>
</p:tagLst>
</file>

<file path=ppt/tags/tag56.xml><?xml version="1.0" encoding="utf-8"?>
<p:tagLst xmlns:a="http://schemas.openxmlformats.org/drawingml/2006/main" xmlns:r="http://schemas.openxmlformats.org/officeDocument/2006/relationships" xmlns:p="http://schemas.openxmlformats.org/presentationml/2006/main">
  <p:tag name="MILELISTITEM" val=""/>
</p:tagLst>
</file>

<file path=ppt/tags/tag57.xml><?xml version="1.0" encoding="utf-8"?>
<p:tagLst xmlns:a="http://schemas.openxmlformats.org/drawingml/2006/main" xmlns:r="http://schemas.openxmlformats.org/officeDocument/2006/relationships" xmlns:p="http://schemas.openxmlformats.org/presentationml/2006/main">
  <p:tag name="COLORSCHEMEINDEX" val="4"/>
</p:tagLst>
</file>

<file path=ppt/tags/tag58.xml><?xml version="1.0" encoding="utf-8"?>
<p:tagLst xmlns:a="http://schemas.openxmlformats.org/drawingml/2006/main" xmlns:r="http://schemas.openxmlformats.org/officeDocument/2006/relationships" xmlns:p="http://schemas.openxmlformats.org/presentationml/2006/main">
  <p:tag name="COLORSCHEMEINDEX" val="4"/>
</p:tagLst>
</file>

<file path=ppt/tags/tag59.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NO LOGOS" val="true"/>
  <p:tag name="ADMINISTRATIVESLIDE" val="True"/>
  <p:tag name="MILESTONESLIDE" val="True"/>
  <p:tag name="MILESTATUS" val="PresentationStyle"/>
  <p:tag name="MILESTONELEVEL" val="1"/>
</p:tagLst>
</file>

<file path=ppt/tags/tag60.xml><?xml version="1.0" encoding="utf-8"?>
<p:tagLst xmlns:a="http://schemas.openxmlformats.org/drawingml/2006/main" xmlns:r="http://schemas.openxmlformats.org/officeDocument/2006/relationships" xmlns:p="http://schemas.openxmlformats.org/presentationml/2006/main">
  <p:tag name="MILELISTITEM" val=""/>
</p:tagLst>
</file>

<file path=ppt/tags/tag61.xml><?xml version="1.0" encoding="utf-8"?>
<p:tagLst xmlns:a="http://schemas.openxmlformats.org/drawingml/2006/main" xmlns:r="http://schemas.openxmlformats.org/officeDocument/2006/relationships" xmlns:p="http://schemas.openxmlformats.org/presentationml/2006/main">
  <p:tag name="MILELISTITEM" val=""/>
</p:tagLst>
</file>

<file path=ppt/tags/tag62.xml><?xml version="1.0" encoding="utf-8"?>
<p:tagLst xmlns:a="http://schemas.openxmlformats.org/drawingml/2006/main" xmlns:r="http://schemas.openxmlformats.org/officeDocument/2006/relationships" xmlns:p="http://schemas.openxmlformats.org/presentationml/2006/main">
  <p:tag name="MILELISTITEM" val=""/>
</p:tagLst>
</file>

<file path=ppt/tags/tag63.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64.xml><?xml version="1.0" encoding="utf-8"?>
<p:tagLst xmlns:a="http://schemas.openxmlformats.org/drawingml/2006/main" xmlns:r="http://schemas.openxmlformats.org/officeDocument/2006/relationships" xmlns:p="http://schemas.openxmlformats.org/presentationml/2006/main">
  <p:tag name="MILELISTITEM" val=""/>
</p:tagLst>
</file>

<file path=ppt/tags/tag65.xml><?xml version="1.0" encoding="utf-8"?>
<p:tagLst xmlns:a="http://schemas.openxmlformats.org/drawingml/2006/main" xmlns:r="http://schemas.openxmlformats.org/officeDocument/2006/relationships" xmlns:p="http://schemas.openxmlformats.org/presentationml/2006/main">
  <p:tag name="MILELISTITEM" val=""/>
</p:tagLst>
</file>

<file path=ppt/tags/tag66.xml><?xml version="1.0" encoding="utf-8"?>
<p:tagLst xmlns:a="http://schemas.openxmlformats.org/drawingml/2006/main" xmlns:r="http://schemas.openxmlformats.org/officeDocument/2006/relationships" xmlns:p="http://schemas.openxmlformats.org/presentationml/2006/main">
  <p:tag name="MILELISTITEM" val=""/>
</p:tagLst>
</file>

<file path=ppt/tags/tag67.xml><?xml version="1.0" encoding="utf-8"?>
<p:tagLst xmlns:a="http://schemas.openxmlformats.org/drawingml/2006/main" xmlns:r="http://schemas.openxmlformats.org/officeDocument/2006/relationships" xmlns:p="http://schemas.openxmlformats.org/presentationml/2006/main">
  <p:tag name="COLORSCHEMEINDEX" val="4"/>
</p:tagLst>
</file>

<file path=ppt/tags/tag68.xml><?xml version="1.0" encoding="utf-8"?>
<p:tagLst xmlns:a="http://schemas.openxmlformats.org/drawingml/2006/main" xmlns:r="http://schemas.openxmlformats.org/officeDocument/2006/relationships" xmlns:p="http://schemas.openxmlformats.org/presentationml/2006/main">
  <p:tag name="COLORSCHEMEINDEX" val="4"/>
  <p:tag name="NO LOGOS" val="true"/>
</p:tagLst>
</file>

<file path=ppt/tags/tag69.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NO LOGOS" val="true"/>
  <p:tag name="ADMINISTRATIVESLIDE" val="True"/>
  <p:tag name="MILESTONESLIDE" val="True"/>
  <p:tag name="MILESTATUS" val="PresentationStyle"/>
  <p:tag name="MILESTONELEVEL" val="1"/>
</p:tagLst>
</file>

<file path=ppt/tags/tag70.xml><?xml version="1.0" encoding="utf-8"?>
<p:tagLst xmlns:a="http://schemas.openxmlformats.org/drawingml/2006/main" xmlns:r="http://schemas.openxmlformats.org/officeDocument/2006/relationships" xmlns:p="http://schemas.openxmlformats.org/presentationml/2006/main">
  <p:tag name="MILELISTITEM" val=""/>
</p:tagLst>
</file>

<file path=ppt/tags/tag71.xml><?xml version="1.0" encoding="utf-8"?>
<p:tagLst xmlns:a="http://schemas.openxmlformats.org/drawingml/2006/main" xmlns:r="http://schemas.openxmlformats.org/officeDocument/2006/relationships" xmlns:p="http://schemas.openxmlformats.org/presentationml/2006/main">
  <p:tag name="MILELISTITEM" val=""/>
</p:tagLst>
</file>

<file path=ppt/tags/tag72.xml><?xml version="1.0" encoding="utf-8"?>
<p:tagLst xmlns:a="http://schemas.openxmlformats.org/drawingml/2006/main" xmlns:r="http://schemas.openxmlformats.org/officeDocument/2006/relationships" xmlns:p="http://schemas.openxmlformats.org/presentationml/2006/main">
  <p:tag name="MILELISTITEM" val=""/>
</p:tagLst>
</file>

<file path=ppt/tags/tag73.xml><?xml version="1.0" encoding="utf-8"?>
<p:tagLst xmlns:a="http://schemas.openxmlformats.org/drawingml/2006/main" xmlns:r="http://schemas.openxmlformats.org/officeDocument/2006/relationships" xmlns:p="http://schemas.openxmlformats.org/presentationml/2006/main">
  <p:tag name="MILELISTITEM" val=""/>
</p:tagLst>
</file>

<file path=ppt/tags/tag74.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75.xml><?xml version="1.0" encoding="utf-8"?>
<p:tagLst xmlns:a="http://schemas.openxmlformats.org/drawingml/2006/main" xmlns:r="http://schemas.openxmlformats.org/officeDocument/2006/relationships" xmlns:p="http://schemas.openxmlformats.org/presentationml/2006/main">
  <p:tag name="MILELISTITEM" val=""/>
</p:tagLst>
</file>

<file path=ppt/tags/tag76.xml><?xml version="1.0" encoding="utf-8"?>
<p:tagLst xmlns:a="http://schemas.openxmlformats.org/drawingml/2006/main" xmlns:r="http://schemas.openxmlformats.org/officeDocument/2006/relationships" xmlns:p="http://schemas.openxmlformats.org/presentationml/2006/main">
  <p:tag name="MILELISTITEM" val=""/>
</p:tagLst>
</file>

<file path=ppt/tags/tag77.xml><?xml version="1.0" encoding="utf-8"?>
<p:tagLst xmlns:a="http://schemas.openxmlformats.org/drawingml/2006/main" xmlns:r="http://schemas.openxmlformats.org/officeDocument/2006/relationships" xmlns:p="http://schemas.openxmlformats.org/presentationml/2006/main">
  <p:tag name="COLORSCHEMEINDEX" val="4"/>
</p:tagLst>
</file>

<file path=ppt/tags/tag78.xml><?xml version="1.0" encoding="utf-8"?>
<p:tagLst xmlns:a="http://schemas.openxmlformats.org/drawingml/2006/main" xmlns:r="http://schemas.openxmlformats.org/officeDocument/2006/relationships" xmlns:p="http://schemas.openxmlformats.org/presentationml/2006/main">
  <p:tag name="COLORSCHEMEINDEX" val="4"/>
  <p:tag name="NO LOGOS" val="true"/>
</p:tagLst>
</file>

<file path=ppt/tags/tag79.xml><?xml version="1.0" encoding="utf-8"?>
<p:tagLst xmlns:a="http://schemas.openxmlformats.org/drawingml/2006/main" xmlns:r="http://schemas.openxmlformats.org/officeDocument/2006/relationships" xmlns:p="http://schemas.openxmlformats.org/presentationml/2006/main">
  <p:tag name="COLORSCHEMEINDEX" val="4"/>
</p:tagLst>
</file>

<file path=ppt/tags/tag80.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NO LOGOS" val="true"/>
  <p:tag name="ADMINISTRATIVESLIDE" val="True"/>
  <p:tag name="MILESTONESLIDE" val="True"/>
  <p:tag name="MILESTATUS" val="PresentationStyle"/>
  <p:tag name="MILESTONELEVEL" val="1"/>
</p:tagLst>
</file>

<file path=ppt/tags/tag81.xml><?xml version="1.0" encoding="utf-8"?>
<p:tagLst xmlns:a="http://schemas.openxmlformats.org/drawingml/2006/main" xmlns:r="http://schemas.openxmlformats.org/officeDocument/2006/relationships" xmlns:p="http://schemas.openxmlformats.org/presentationml/2006/main">
  <p:tag name="MILELISTITEM" val=""/>
</p:tagLst>
</file>

<file path=ppt/tags/tag82.xml><?xml version="1.0" encoding="utf-8"?>
<p:tagLst xmlns:a="http://schemas.openxmlformats.org/drawingml/2006/main" xmlns:r="http://schemas.openxmlformats.org/officeDocument/2006/relationships" xmlns:p="http://schemas.openxmlformats.org/presentationml/2006/main">
  <p:tag name="MILELISTITEM" val=""/>
</p:tagLst>
</file>

<file path=ppt/tags/tag83.xml><?xml version="1.0" encoding="utf-8"?>
<p:tagLst xmlns:a="http://schemas.openxmlformats.org/drawingml/2006/main" xmlns:r="http://schemas.openxmlformats.org/officeDocument/2006/relationships" xmlns:p="http://schemas.openxmlformats.org/presentationml/2006/main">
  <p:tag name="MILELISTITEM" val=""/>
</p:tagLst>
</file>

<file path=ppt/tags/tag84.xml><?xml version="1.0" encoding="utf-8"?>
<p:tagLst xmlns:a="http://schemas.openxmlformats.org/drawingml/2006/main" xmlns:r="http://schemas.openxmlformats.org/officeDocument/2006/relationships" xmlns:p="http://schemas.openxmlformats.org/presentationml/2006/main">
  <p:tag name="MILELISTITEM" val=""/>
</p:tagLst>
</file>

<file path=ppt/tags/tag85.xml><?xml version="1.0" encoding="utf-8"?>
<p:tagLst xmlns:a="http://schemas.openxmlformats.org/drawingml/2006/main" xmlns:r="http://schemas.openxmlformats.org/officeDocument/2006/relationships" xmlns:p="http://schemas.openxmlformats.org/presentationml/2006/main">
  <p:tag name="MILELISTITEM" val=""/>
</p:tagLst>
</file>

<file path=ppt/tags/tag86.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87.xml><?xml version="1.0" encoding="utf-8"?>
<p:tagLst xmlns:a="http://schemas.openxmlformats.org/drawingml/2006/main" xmlns:r="http://schemas.openxmlformats.org/officeDocument/2006/relationships" xmlns:p="http://schemas.openxmlformats.org/presentationml/2006/main">
  <p:tag name="MILELISTITEM" val=""/>
</p:tagLst>
</file>

<file path=ppt/tags/tag88.xml><?xml version="1.0" encoding="utf-8"?>
<p:tagLst xmlns:a="http://schemas.openxmlformats.org/drawingml/2006/main" xmlns:r="http://schemas.openxmlformats.org/officeDocument/2006/relationships" xmlns:p="http://schemas.openxmlformats.org/presentationml/2006/main">
  <p:tag name="COLORSCHEMEINDEX" val="4"/>
</p:tagLst>
</file>

<file path=ppt/tags/tag89.xml><?xml version="1.0" encoding="utf-8"?>
<p:tagLst xmlns:a="http://schemas.openxmlformats.org/drawingml/2006/main" xmlns:r="http://schemas.openxmlformats.org/officeDocument/2006/relationships" xmlns:p="http://schemas.openxmlformats.org/presentationml/2006/main">
  <p:tag name="COLORSCHEMEINDEX" val="4"/>
</p:tagLst>
</file>

<file path=ppt/tags/tag90.xml><?xml version="1.0" encoding="utf-8"?>
<p:tagLst xmlns:a="http://schemas.openxmlformats.org/drawingml/2006/main" xmlns:r="http://schemas.openxmlformats.org/officeDocument/2006/relationships" xmlns:p="http://schemas.openxmlformats.org/presentationml/2006/main">
  <p:tag name="COLORSCHEMEINDEX" val="4"/>
</p:tagLst>
</file>

<file path=ppt/tags/tag91.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NO LOGOS" val="true"/>
  <p:tag name="ADMINISTRATIVESLIDE" val="True"/>
  <p:tag name="MILESTONESLIDE" val="True"/>
  <p:tag name="MILESTATUS" val="PresentationStyle"/>
  <p:tag name="MILESTONELEVEL" val="1"/>
</p:tagLst>
</file>

<file path=ppt/tags/tag92.xml><?xml version="1.0" encoding="utf-8"?>
<p:tagLst xmlns:a="http://schemas.openxmlformats.org/drawingml/2006/main" xmlns:r="http://schemas.openxmlformats.org/officeDocument/2006/relationships" xmlns:p="http://schemas.openxmlformats.org/presentationml/2006/main">
  <p:tag name="MILELISTITEM" val=""/>
</p:tagLst>
</file>

<file path=ppt/tags/tag93.xml><?xml version="1.0" encoding="utf-8"?>
<p:tagLst xmlns:a="http://schemas.openxmlformats.org/drawingml/2006/main" xmlns:r="http://schemas.openxmlformats.org/officeDocument/2006/relationships" xmlns:p="http://schemas.openxmlformats.org/presentationml/2006/main">
  <p:tag name="MILELISTITEM" val=""/>
</p:tagLst>
</file>

<file path=ppt/tags/tag94.xml><?xml version="1.0" encoding="utf-8"?>
<p:tagLst xmlns:a="http://schemas.openxmlformats.org/drawingml/2006/main" xmlns:r="http://schemas.openxmlformats.org/officeDocument/2006/relationships" xmlns:p="http://schemas.openxmlformats.org/presentationml/2006/main">
  <p:tag name="MILELISTITEM" val=""/>
</p:tagLst>
</file>

<file path=ppt/tags/tag95.xml><?xml version="1.0" encoding="utf-8"?>
<p:tagLst xmlns:a="http://schemas.openxmlformats.org/drawingml/2006/main" xmlns:r="http://schemas.openxmlformats.org/officeDocument/2006/relationships" xmlns:p="http://schemas.openxmlformats.org/presentationml/2006/main">
  <p:tag name="MILELISTITEM" val=""/>
</p:tagLst>
</file>

<file path=ppt/tags/tag96.xml><?xml version="1.0" encoding="utf-8"?>
<p:tagLst xmlns:a="http://schemas.openxmlformats.org/drawingml/2006/main" xmlns:r="http://schemas.openxmlformats.org/officeDocument/2006/relationships" xmlns:p="http://schemas.openxmlformats.org/presentationml/2006/main">
  <p:tag name="MILELISTITEM" val=""/>
</p:tagLst>
</file>

<file path=ppt/tags/tag97.xml><?xml version="1.0" encoding="utf-8"?>
<p:tagLst xmlns:a="http://schemas.openxmlformats.org/drawingml/2006/main" xmlns:r="http://schemas.openxmlformats.org/officeDocument/2006/relationships" xmlns:p="http://schemas.openxmlformats.org/presentationml/2006/main">
  <p:tag name="MILELISTITEM" val=""/>
</p:tagLst>
</file>

<file path=ppt/tags/tag98.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99.xml><?xml version="1.0" encoding="utf-8"?>
<p:tagLst xmlns:a="http://schemas.openxmlformats.org/drawingml/2006/main" xmlns:r="http://schemas.openxmlformats.org/officeDocument/2006/relationships" xmlns:p="http://schemas.openxmlformats.org/presentationml/2006/main">
  <p:tag name="COLORSCHEMEINDEX" val="4"/>
  <p:tag name="NO LOGOS" val="true"/>
</p:tagLst>
</file>

<file path=ppt/tags/tag100.xml><?xml version="1.0" encoding="utf-8"?>
<p:tagLst xmlns:a="http://schemas.openxmlformats.org/drawingml/2006/main" xmlns:r="http://schemas.openxmlformats.org/officeDocument/2006/relationships" xmlns:p="http://schemas.openxmlformats.org/presentationml/2006/main">
  <p:tag name="COLORSCHEMEINDEX" val="4"/>
  <p:tag name="NO LOGOS" val="true"/>
</p:tagLst>
</file>

<file path=ppt/tags/tag101.xml><?xml version="1.0" encoding="utf-8"?>
<p:tagLst xmlns:a="http://schemas.openxmlformats.org/drawingml/2006/main" xmlns:r="http://schemas.openxmlformats.org/officeDocument/2006/relationships" xmlns:p="http://schemas.openxmlformats.org/presentationml/2006/main">
  <p:tag name="COLORSCHEMEINDEX" val="4"/>
  <p:tag name="NO LOGOS" val="true"/>
</p:tagLst>
</file>

<file path=ppt/tags/tag102.xml><?xml version="1.0" encoding="utf-8"?>
<p:tagLst xmlns:a="http://schemas.openxmlformats.org/drawingml/2006/main" xmlns:r="http://schemas.openxmlformats.org/officeDocument/2006/relationships" xmlns:p="http://schemas.openxmlformats.org/presentationml/2006/main">
  <p:tag name="ADMINISTRATIVESLIDE" val="True"/>
</p:tagLst>
</file>

<file path=ppt/tags/tag103.xml><?xml version="1.0" encoding="utf-8"?>
<p:tagLst xmlns:a="http://schemas.openxmlformats.org/drawingml/2006/main" xmlns:r="http://schemas.openxmlformats.org/officeDocument/2006/relationships" xmlns:p="http://schemas.openxmlformats.org/presentationml/2006/main">
  <p:tag name="COLORSCHEMEINDEX" val="4"/>
</p:tagLst>
</file>

<file path=ppt/tags/tag104.xml><?xml version="1.0" encoding="utf-8"?>
<p:tagLst xmlns:a="http://schemas.openxmlformats.org/drawingml/2006/main" xmlns:r="http://schemas.openxmlformats.org/officeDocument/2006/relationships" xmlns:p="http://schemas.openxmlformats.org/presentationml/2006/main">
  <p:tag name="COLORSCHEMEINDEX" val="4"/>
</p:tagLst>
</file>

<file path=ppt/tags/tag105.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NO LOGOS" val="true"/>
  <p:tag name="ADMINISTRATIVESLIDE" val="True"/>
</p:tagLst>
</file>

<file path=ppt/tags/tag106.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107.xml><?xml version="1.0" encoding="utf-8"?>
<p:tagLst xmlns:a="http://schemas.openxmlformats.org/drawingml/2006/main" xmlns:r="http://schemas.openxmlformats.org/officeDocument/2006/relationships" xmlns:p="http://schemas.openxmlformats.org/presentationml/2006/main">
  <p:tag name="MILELISTITEM" val="Level_1_Normal"/>
</p:tagLst>
</file>

<file path=ppt/tags/tag108.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109.xml><?xml version="1.0" encoding="utf-8"?>
<p:tagLst xmlns:a="http://schemas.openxmlformats.org/drawingml/2006/main" xmlns:r="http://schemas.openxmlformats.org/officeDocument/2006/relationships" xmlns:p="http://schemas.openxmlformats.org/presentationml/2006/main">
  <p:tag name="MILELISTITEM" val="Level_2_Normal"/>
</p:tagLst>
</file>

<file path=ppt/theme/theme1.xml><?xml version="1.0" encoding="utf-8"?>
<a:theme xmlns:a="http://schemas.openxmlformats.org/drawingml/2006/main" name="ttoTheme">
  <a:themeElements>
    <a:clrScheme name="TTO standard">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C7C7C7"/>
      </a:hlink>
      <a:folHlink>
        <a:srgbClr val="6699FF"/>
      </a:folHlink>
    </a:clrScheme>
    <a:fontScheme name="tt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rtlCol="0" anchor="ctr"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sz="2800" b="1" i="0" u="none" strike="noStrike" cap="none" normalizeH="0" baseline="0" dirty="0" smtClean="0">
            <a:ln>
              <a:noFill/>
            </a:ln>
            <a:solidFill>
              <a:schemeClr val="dk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lang="en-US" sz="2800" b="1" i="0" u="none" strike="noStrike" cap="none" normalizeH="0" baseline="0" smtClean="0">
            <a:ln>
              <a:noFill/>
            </a:ln>
            <a:solidFill>
              <a:schemeClr val="tx1"/>
            </a:solidFill>
            <a:effectLst>
              <a:outerShdw blurRad="38100" dist="38100" dir="2700000" algn="tl">
                <a:srgbClr val="000000">
                  <a:alpha val="43137"/>
                </a:srgbClr>
              </a:outerShdw>
            </a:effectLst>
            <a:latin typeface="Arial Narrow" pitchFamily="34" charset="0"/>
          </a:defRPr>
        </a:defPPr>
      </a:lstStyle>
    </a:lnDef>
    <a:txDef>
      <a:spPr>
        <a:noFill/>
      </a:spPr>
      <a:bodyPr wrap="square" rtlCol="0" anchor="ctr" anchorCtr="0">
        <a:spAutoFit/>
      </a:bodyPr>
      <a:lstStyle>
        <a:defPPr>
          <a:defRPr dirty="0" smtClean="0">
            <a:solidFill>
              <a:schemeClr val="dk1"/>
            </a:solidFill>
            <a:effectLst/>
          </a:defRPr>
        </a:defPPr>
      </a:lstStyle>
    </a:txDef>
  </a:objectDefaults>
  <a:extraClrSchemeLst>
    <a:extraClrScheme>
      <a:clrScheme name="TTO standard">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C7C7C7"/>
        </a:hlink>
        <a:folHlink>
          <a:srgbClr val="6699FF"/>
        </a:folHlink>
      </a:clrScheme>
      <a:clrMap bg1="lt1" tx1="dk1" bg2="lt2" tx2="dk2" accent1="accent1" accent2="accent2" accent3="accent3" accent4="accent4" accent5="accent5" accent6="accent6" hlink="hlink" folHlink="folHlink"/>
    </a:extraClrScheme>
    <a:extraClrScheme>
      <a:clrScheme name="TI standard">
        <a:dk1>
          <a:srgbClr val="000000"/>
        </a:dk1>
        <a:lt1>
          <a:srgbClr val="FFFFFF"/>
        </a:lt1>
        <a:dk2>
          <a:srgbClr val="DE0000"/>
        </a:dk2>
        <a:lt2>
          <a:srgbClr val="808080"/>
        </a:lt2>
        <a:accent1>
          <a:srgbClr val="DE0000"/>
        </a:accent1>
        <a:accent2>
          <a:srgbClr val="AEAEAE"/>
        </a:accent2>
        <a:accent3>
          <a:srgbClr val="117788"/>
        </a:accent3>
        <a:accent4>
          <a:srgbClr val="404040"/>
        </a:accent4>
        <a:accent5>
          <a:srgbClr val="7F7F7F"/>
        </a:accent5>
        <a:accent6>
          <a:srgbClr val="32B4CE"/>
        </a:accent6>
        <a:hlink>
          <a:srgbClr val="DE0000"/>
        </a:hlink>
        <a:folHlink>
          <a:srgbClr val="AAAAAA"/>
        </a:folHlink>
      </a:clrScheme>
      <a:clrMap bg1="lt1" tx1="dk1" bg2="lt2" tx2="dk2" accent1="accent1" accent2="accent2" accent3="accent3" accent4="accent4" accent5="accent5" accent6="accent6" hlink="hlink" folHlink="folHlink"/>
    </a:extraClrScheme>
    <a:extraClrScheme>
      <a:clrScheme name="tto 1">
        <a:dk1>
          <a:srgbClr val="000000"/>
        </a:dk1>
        <a:lt1>
          <a:srgbClr val="FEFFFF"/>
        </a:lt1>
        <a:dk2>
          <a:srgbClr val="000000"/>
        </a:dk2>
        <a:lt2>
          <a:srgbClr val="FEFFFF"/>
        </a:lt2>
        <a:accent1>
          <a:srgbClr val="F6F6F6"/>
        </a:accent1>
        <a:accent2>
          <a:srgbClr val="AFAFAF"/>
        </a:accent2>
        <a:accent3>
          <a:srgbClr val="DEDEDE"/>
        </a:accent3>
        <a:accent4>
          <a:srgbClr val="C3C3C3"/>
        </a:accent4>
        <a:accent5>
          <a:srgbClr val="FAFAFA"/>
        </a:accent5>
        <a:accent6>
          <a:srgbClr val="9E9E9E"/>
        </a:accent6>
        <a:hlink>
          <a:srgbClr val="DEDEDE"/>
        </a:hlink>
        <a:folHlink>
          <a:srgbClr val="C3C3C3"/>
        </a:folHlink>
      </a:clrScheme>
      <a:clrMap bg1="lt1" tx1="dk1" bg2="lt2" tx2="dk2" accent1="accent1" accent2="accent2" accent3="accent3" accent4="accent4" accent5="accent5" accent6="accent6" hlink="hlink" folHlink="folHlink"/>
    </a:extraClrScheme>
    <a:extraClrScheme>
      <a:clrScheme name="tto 2">
        <a:dk1>
          <a:srgbClr val="2181B7"/>
        </a:dk1>
        <a:lt1>
          <a:srgbClr val="FFFFFF"/>
        </a:lt1>
        <a:dk2>
          <a:srgbClr val="2181B7"/>
        </a:dk2>
        <a:lt2>
          <a:srgbClr val="FFFF99"/>
        </a:lt2>
        <a:accent1>
          <a:srgbClr val="003399"/>
        </a:accent1>
        <a:accent2>
          <a:srgbClr val="01B0FF"/>
        </a:accent2>
        <a:accent3>
          <a:srgbClr val="6666FF"/>
        </a:accent3>
        <a:accent4>
          <a:srgbClr val="1C6D9A"/>
        </a:accent4>
        <a:accent5>
          <a:srgbClr val="474B72"/>
        </a:accent5>
        <a:accent6>
          <a:srgbClr val="7030A0"/>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tto 3">
        <a:dk1>
          <a:srgbClr val="042AA4"/>
        </a:dk1>
        <a:lt1>
          <a:srgbClr val="FFFFFF"/>
        </a:lt1>
        <a:dk2>
          <a:srgbClr val="042AA4"/>
        </a:dk2>
        <a:lt2>
          <a:srgbClr val="FE9B03"/>
        </a:lt2>
        <a:accent1>
          <a:srgbClr val="000F40"/>
        </a:accent1>
        <a:accent2>
          <a:srgbClr val="603900"/>
        </a:accent2>
        <a:accent3>
          <a:srgbClr val="005C00"/>
        </a:accent3>
        <a:accent4>
          <a:srgbClr val="0249FC"/>
        </a:accent4>
        <a:accent5>
          <a:srgbClr val="7030A0"/>
        </a:accent5>
        <a:accent6>
          <a:srgbClr val="000000"/>
        </a:accent6>
        <a:hlink>
          <a:srgbClr val="005C00"/>
        </a:hlink>
        <a:folHlink>
          <a:srgbClr val="0249FC"/>
        </a:folHlink>
      </a:clrScheme>
      <a:clrMap bg1="dk2" tx1="lt1" bg2="dk1" tx2="lt2" accent1="accent1" accent2="accent2" accent3="accent3" accent4="accent4" accent5="accent5" accent6="accent6" hlink="hlink" folHlink="folHlink"/>
    </a:extraClrScheme>
    <a:extraClrScheme>
      <a:clrScheme name="tto 4">
        <a:dk1>
          <a:srgbClr val="000000"/>
        </a:dk1>
        <a:lt1>
          <a:srgbClr val="FFFFFF"/>
        </a:lt1>
        <a:dk2>
          <a:srgbClr val="4282E0"/>
        </a:dk2>
        <a:lt2>
          <a:srgbClr val="FFFFFF"/>
        </a:lt2>
        <a:accent1>
          <a:srgbClr val="C0F6F5"/>
        </a:accent1>
        <a:accent2>
          <a:srgbClr val="FAFEDA"/>
        </a:accent2>
        <a:accent3>
          <a:srgbClr val="FFCCFF"/>
        </a:accent3>
        <a:accent4>
          <a:srgbClr val="B4FCB2"/>
        </a:accent4>
        <a:accent5>
          <a:srgbClr val="FFFF99"/>
        </a:accent5>
        <a:accent6>
          <a:srgbClr val="5DD3FF"/>
        </a:accent6>
        <a:hlink>
          <a:srgbClr val="FFCCFF"/>
        </a:hlink>
        <a:folHlink>
          <a:srgbClr val="B4FCB2"/>
        </a:folHlink>
      </a:clrScheme>
      <a:clrMap bg1="lt1" tx1="dk1" bg2="lt2" tx2="dk2" accent1="accent1" accent2="accent2" accent3="accent3" accent4="accent4" accent5="accent5" accent6="accent6" hlink="hlink" folHlink="folHlink"/>
    </a:extraClrScheme>
    <a:extraClrScheme>
      <a:clrScheme name="tto 5">
        <a:dk1>
          <a:srgbClr val="000000"/>
        </a:dk1>
        <a:lt1>
          <a:srgbClr val="FFFFFF"/>
        </a:lt1>
        <a:dk2>
          <a:srgbClr val="0066FF"/>
        </a:dk2>
        <a:lt2>
          <a:srgbClr val="FFFFFF"/>
        </a:lt2>
        <a:accent1>
          <a:srgbClr val="FFFFCC"/>
        </a:accent1>
        <a:accent2>
          <a:srgbClr val="B5E0E3"/>
        </a:accent2>
        <a:accent3>
          <a:srgbClr val="E5D093"/>
        </a:accent3>
        <a:accent4>
          <a:srgbClr val="CCB374"/>
        </a:accent4>
        <a:accent5>
          <a:srgbClr val="C7A2E3"/>
        </a:accent5>
        <a:accent6>
          <a:srgbClr val="5DD3FF"/>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tto 6">
        <a:dk1>
          <a:srgbClr val="000000"/>
        </a:dk1>
        <a:lt1>
          <a:srgbClr val="FFFFFF"/>
        </a:lt1>
        <a:dk2>
          <a:srgbClr val="FF0000"/>
        </a:dk2>
        <a:lt2>
          <a:srgbClr val="FFFFFF"/>
        </a:lt2>
        <a:accent1>
          <a:srgbClr val="FFFF66"/>
        </a:accent1>
        <a:accent2>
          <a:srgbClr val="99FF66"/>
        </a:accent2>
        <a:accent3>
          <a:srgbClr val="99FFCC"/>
        </a:accent3>
        <a:accent4>
          <a:srgbClr val="FF99FF"/>
        </a:accent4>
        <a:accent5>
          <a:srgbClr val="93E2FF"/>
        </a:accent5>
        <a:accent6>
          <a:srgbClr val="FFE599"/>
        </a:accent6>
        <a:hlink>
          <a:srgbClr val="99FFCC"/>
        </a:hlink>
        <a:folHlink>
          <a:srgbClr val="FF99FF"/>
        </a:folHlink>
      </a:clrScheme>
      <a:clrMap bg1="lt1" tx1="dk1" bg2="lt2" tx2="dk2" accent1="accent1" accent2="accent2" accent3="accent3" accent4="accent4" accent5="accent5" accent6="accent6" hlink="hlink" folHlink="folHlink"/>
    </a:extraClrScheme>
    <a:extraClrScheme>
      <a:clrScheme name="tto 7">
        <a:dk1>
          <a:srgbClr val="FEFFFF"/>
        </a:dk1>
        <a:lt1>
          <a:srgbClr val="000000"/>
        </a:lt1>
        <a:dk2>
          <a:srgbClr val="FEFFFF"/>
        </a:dk2>
        <a:lt2>
          <a:srgbClr val="000000"/>
        </a:lt2>
        <a:accent1>
          <a:srgbClr val="F6F6F6"/>
        </a:accent1>
        <a:accent2>
          <a:srgbClr val="AFAFAF"/>
        </a:accent2>
        <a:accent3>
          <a:srgbClr val="DEDEDE"/>
        </a:accent3>
        <a:accent4>
          <a:srgbClr val="C3C3C3"/>
        </a:accent4>
        <a:accent5>
          <a:srgbClr val="FAFAFA"/>
        </a:accent5>
        <a:accent6>
          <a:srgbClr val="000000"/>
        </a:accent6>
        <a:hlink>
          <a:srgbClr val="DEDEDE"/>
        </a:hlink>
        <a:folHlink>
          <a:srgbClr val="C3C3C3"/>
        </a:folHlink>
      </a:clrScheme>
      <a:clrMap bg1="dk2" tx1="lt1" bg2="dk1" tx2="lt2" accent1="accent1" accent2="accent2" accent3="accent3" accent4="accent4" accent5="accent5" accent6="accent6" hlink="hlink" folHlink="folHlink"/>
    </a:extraClrScheme>
    <a:extraClrScheme>
      <a:clrScheme name="tto 8">
        <a:dk1>
          <a:srgbClr val="FFFFFF"/>
        </a:dk1>
        <a:lt1>
          <a:srgbClr val="000000"/>
        </a:lt1>
        <a:dk2>
          <a:srgbClr val="FFFFFF"/>
        </a:dk2>
        <a:lt2>
          <a:srgbClr val="FF0000"/>
        </a:lt2>
        <a:accent1>
          <a:srgbClr val="00CCFF"/>
        </a:accent1>
        <a:accent2>
          <a:srgbClr val="CC9900"/>
        </a:accent2>
        <a:accent3>
          <a:srgbClr val="00CC66"/>
        </a:accent3>
        <a:accent4>
          <a:srgbClr val="FFFF99"/>
        </a:accent4>
        <a:accent5>
          <a:srgbClr val="FF99CC"/>
        </a:accent5>
        <a:accent6>
          <a:srgbClr val="000000"/>
        </a:accent6>
        <a:hlink>
          <a:srgbClr val="00CC66"/>
        </a:hlink>
        <a:folHlink>
          <a:srgbClr val="FFFF99"/>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ttoTheme</Template>
  <TotalTime>22349</TotalTime>
  <Pages>3</Pages>
  <Words>2989</Words>
  <Application>Microsoft Office PowerPoint</Application>
  <PresentationFormat>On-screen Show (4:3)</PresentationFormat>
  <Paragraphs>676</Paragraphs>
  <Slides>40</Slides>
  <Notes>23</Notes>
  <HiddenSlides>5</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ttoTheme</vt:lpstr>
      <vt:lpstr>PowerPoint Presentation</vt:lpstr>
      <vt:lpstr>Objectives</vt:lpstr>
      <vt:lpstr>Outline</vt:lpstr>
      <vt:lpstr>TI-RTOS Kernel Services</vt:lpstr>
      <vt:lpstr>TI-RTOS Kernel – Characteristics </vt:lpstr>
      <vt:lpstr>Outline</vt:lpstr>
      <vt:lpstr>Outline</vt:lpstr>
      <vt:lpstr>Scheduling Problem – Two Threads</vt:lpstr>
      <vt:lpstr>Outline</vt:lpstr>
      <vt:lpstr>Solution #1 – Super Loop</vt:lpstr>
      <vt:lpstr>Solution #2 – Timer-based INTs</vt:lpstr>
      <vt:lpstr>Solution #3 – Nested INTs</vt:lpstr>
      <vt:lpstr>Solution #4 ? – Separate Process &amp; ISR</vt:lpstr>
      <vt:lpstr>Solution #4 – BIOS Scheduler</vt:lpstr>
      <vt:lpstr>“Thread” vs. Function</vt:lpstr>
      <vt:lpstr>BIOS – Priority Based Scheduling</vt:lpstr>
      <vt:lpstr>Outline</vt:lpstr>
      <vt:lpstr>SYS/BIOS Thread Types (including Tasks)</vt:lpstr>
      <vt:lpstr>How Tasks Work…</vt:lpstr>
      <vt:lpstr>TI-RTOS Kernel Services – Summary</vt:lpstr>
      <vt:lpstr>Outline</vt:lpstr>
      <vt:lpstr>Kernel APIs, Objects and Handles</vt:lpstr>
      <vt:lpstr>Thread (Object) Creation in TI-RTOS</vt:lpstr>
      <vt:lpstr>Outline</vt:lpstr>
      <vt:lpstr>Built-in Debug Tools (UIA &amp; ROV) – Intro</vt:lpstr>
      <vt:lpstr>ROV and UIA – Visibility/Debug Tools</vt:lpstr>
      <vt:lpstr>ROV and UIA – Visibility/Debug Tools</vt:lpstr>
      <vt:lpstr>Outline</vt:lpstr>
      <vt:lpstr>For More Information</vt:lpstr>
      <vt:lpstr>For More Information (2)</vt:lpstr>
      <vt:lpstr>Download Latest Tools</vt:lpstr>
      <vt:lpstr>Outline</vt:lpstr>
      <vt:lpstr>Quiz – Block Diagram</vt:lpstr>
      <vt:lpstr>Quiz – Fill in the missing pieces…</vt:lpstr>
      <vt:lpstr>Quiz – One “Solution”</vt:lpstr>
      <vt:lpstr>PowerPoint Presentation</vt:lpstr>
      <vt:lpstr>Swi’s and Tasks</vt:lpstr>
      <vt:lpstr>Thread Preemption Example</vt:lpstr>
      <vt:lpstr>“Thread” vs. Function</vt:lpstr>
      <vt:lpstr>Outline</vt:lpstr>
    </vt:vector>
  </TitlesOfParts>
  <Company>SC Sales &amp; Marketing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TI-RTOS Kernel Workshop</dc:title>
  <dc:subject/>
  <dc:creator>ericw@ti.com</dc:creator>
  <cp:keywords/>
  <dc:description/>
  <cp:lastModifiedBy>Eric Wilbur</cp:lastModifiedBy>
  <cp:revision>616</cp:revision>
  <cp:lastPrinted>1601-01-01T00:00:00Z</cp:lastPrinted>
  <dcterms:created xsi:type="dcterms:W3CDTF">2001-09-20T20:19:44Z</dcterms:created>
  <dcterms:modified xsi:type="dcterms:W3CDTF">2014-06-24T19:12:57Z</dcterms:modified>
</cp:coreProperties>
</file>