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3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70" r:id="rId2"/>
  </p:sldMasterIdLst>
  <p:notesMasterIdLst>
    <p:notesMasterId r:id="rId94"/>
  </p:notesMasterIdLst>
  <p:handoutMasterIdLst>
    <p:handoutMasterId r:id="rId95"/>
  </p:handoutMasterIdLst>
  <p:sldIdLst>
    <p:sldId id="668" r:id="rId3"/>
    <p:sldId id="823" r:id="rId4"/>
    <p:sldId id="718" r:id="rId5"/>
    <p:sldId id="719" r:id="rId6"/>
    <p:sldId id="722" r:id="rId7"/>
    <p:sldId id="911" r:id="rId8"/>
    <p:sldId id="693" r:id="rId9"/>
    <p:sldId id="803" r:id="rId10"/>
    <p:sldId id="696" r:id="rId11"/>
    <p:sldId id="697" r:id="rId12"/>
    <p:sldId id="698" r:id="rId13"/>
    <p:sldId id="700" r:id="rId14"/>
    <p:sldId id="701" r:id="rId15"/>
    <p:sldId id="702" r:id="rId16"/>
    <p:sldId id="703" r:id="rId17"/>
    <p:sldId id="705" r:id="rId18"/>
    <p:sldId id="740" r:id="rId19"/>
    <p:sldId id="848" r:id="rId20"/>
    <p:sldId id="912" r:id="rId21"/>
    <p:sldId id="861" r:id="rId22"/>
    <p:sldId id="897" r:id="rId23"/>
    <p:sldId id="893" r:id="rId24"/>
    <p:sldId id="876" r:id="rId25"/>
    <p:sldId id="863" r:id="rId26"/>
    <p:sldId id="878" r:id="rId27"/>
    <p:sldId id="916" r:id="rId28"/>
    <p:sldId id="862" r:id="rId29"/>
    <p:sldId id="875" r:id="rId30"/>
    <p:sldId id="881" r:id="rId31"/>
    <p:sldId id="894" r:id="rId32"/>
    <p:sldId id="867" r:id="rId33"/>
    <p:sldId id="869" r:id="rId34"/>
    <p:sldId id="913" r:id="rId35"/>
    <p:sldId id="849" r:id="rId36"/>
    <p:sldId id="850" r:id="rId37"/>
    <p:sldId id="882" r:id="rId38"/>
    <p:sldId id="884" r:id="rId39"/>
    <p:sldId id="885" r:id="rId40"/>
    <p:sldId id="852" r:id="rId41"/>
    <p:sldId id="888" r:id="rId42"/>
    <p:sldId id="853" r:id="rId43"/>
    <p:sldId id="854" r:id="rId44"/>
    <p:sldId id="856" r:id="rId45"/>
    <p:sldId id="855" r:id="rId46"/>
    <p:sldId id="889" r:id="rId47"/>
    <p:sldId id="890" r:id="rId48"/>
    <p:sldId id="891" r:id="rId49"/>
    <p:sldId id="892" r:id="rId50"/>
    <p:sldId id="860" r:id="rId51"/>
    <p:sldId id="914" r:id="rId52"/>
    <p:sldId id="783" r:id="rId53"/>
    <p:sldId id="788" r:id="rId54"/>
    <p:sldId id="895" r:id="rId55"/>
    <p:sldId id="785" r:id="rId56"/>
    <p:sldId id="802" r:id="rId57"/>
    <p:sldId id="787" r:id="rId58"/>
    <p:sldId id="800" r:id="rId59"/>
    <p:sldId id="717" r:id="rId60"/>
    <p:sldId id="915" r:id="rId61"/>
    <p:sldId id="904" r:id="rId62"/>
    <p:sldId id="905" r:id="rId63"/>
    <p:sldId id="906" r:id="rId64"/>
    <p:sldId id="907" r:id="rId65"/>
    <p:sldId id="909" r:id="rId66"/>
    <p:sldId id="908" r:id="rId67"/>
    <p:sldId id="910" r:id="rId68"/>
    <p:sldId id="903" r:id="rId69"/>
    <p:sldId id="824" r:id="rId70"/>
    <p:sldId id="896" r:id="rId71"/>
    <p:sldId id="826" r:id="rId72"/>
    <p:sldId id="827" r:id="rId73"/>
    <p:sldId id="828" r:id="rId74"/>
    <p:sldId id="829" r:id="rId75"/>
    <p:sldId id="830" r:id="rId76"/>
    <p:sldId id="831" r:id="rId77"/>
    <p:sldId id="832" r:id="rId78"/>
    <p:sldId id="833" r:id="rId79"/>
    <p:sldId id="834" r:id="rId80"/>
    <p:sldId id="917" r:id="rId81"/>
    <p:sldId id="918" r:id="rId82"/>
    <p:sldId id="835" r:id="rId83"/>
    <p:sldId id="836" r:id="rId84"/>
    <p:sldId id="837" r:id="rId85"/>
    <p:sldId id="838" r:id="rId86"/>
    <p:sldId id="841" r:id="rId87"/>
    <p:sldId id="899" r:id="rId88"/>
    <p:sldId id="900" r:id="rId89"/>
    <p:sldId id="845" r:id="rId90"/>
    <p:sldId id="844" r:id="rId91"/>
    <p:sldId id="839" r:id="rId92"/>
    <p:sldId id="840" r:id="rId93"/>
  </p:sldIdLst>
  <p:sldSz cx="9144000" cy="6858000" type="screen4x3"/>
  <p:notesSz cx="7019925" cy="9305925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E Stevenson" initials="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00"/>
    <a:srgbClr val="3333CC"/>
    <a:srgbClr val="CCFFFF"/>
    <a:srgbClr val="009900"/>
    <a:srgbClr val="00CC66"/>
    <a:srgbClr val="FFCC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2047" autoAdjust="0"/>
  </p:normalViewPr>
  <p:slideViewPr>
    <p:cSldViewPr>
      <p:cViewPr varScale="1">
        <p:scale>
          <a:sx n="105" d="100"/>
          <a:sy n="105" d="100"/>
        </p:scale>
        <p:origin x="-184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38BE6DA8-F9AA-4E16-BD0A-11E55F01C1C3}" type="datetimeFigureOut">
              <a:rPr lang="en-US" smtClean="0"/>
              <a:t>2/24/2015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12FCAADB-FCA2-47DA-8540-E1D3EF1CD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38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333" y="0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 smtClean="0"/>
              <a:t>Click to edit Master text styles</a:t>
            </a:r>
          </a:p>
          <a:p>
            <a:pPr lvl="1"/>
            <a:r>
              <a:rPr lang="en-CA" noProof="0" smtClean="0"/>
              <a:t>Second level</a:t>
            </a:r>
          </a:p>
          <a:p>
            <a:pPr lvl="2"/>
            <a:r>
              <a:rPr lang="en-CA" noProof="0" smtClean="0"/>
              <a:t>Third level</a:t>
            </a:r>
          </a:p>
          <a:p>
            <a:pPr lvl="3"/>
            <a:r>
              <a:rPr lang="en-CA" noProof="0" smtClean="0"/>
              <a:t>Fourth level</a:t>
            </a:r>
          </a:p>
          <a:p>
            <a:pPr lvl="4"/>
            <a:r>
              <a:rPr lang="en-CA" noProof="0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469AE50-A58A-4637-90F6-E825CB6E16D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8096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178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96E92F-F83D-47BA-9CDA-6C76DA3AA189}" type="slidenum">
              <a:rPr lang="en-CA" smtClean="0">
                <a:solidFill>
                  <a:prstClr val="black"/>
                </a:solidFill>
              </a:rPr>
              <a:pPr/>
              <a:t>2</a:t>
            </a:fld>
            <a:endParaRPr lang="en-CA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69AE50-A58A-4637-90F6-E825CB6E16DD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045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0996" tIns="45499" rIns="90996" bIns="45499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5"/>
            <a:ext cx="3041969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996" tIns="45499" rIns="90996" bIns="45499" anchor="b"/>
          <a:lstStyle/>
          <a:p>
            <a:pPr algn="r" defTabSz="909219"/>
            <a:fld id="{639669E7-3BDD-43E3-8183-46F1CD659182}" type="slidenum">
              <a:rPr lang="en-CA" sz="1200"/>
              <a:pPr algn="r" defTabSz="909219"/>
              <a:t>5</a:t>
            </a:fld>
            <a:endParaRPr lang="en-CA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7</a:t>
            </a:fld>
            <a:endParaRPr lang="en-CA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13" tIns="45756" rIns="91513" bIns="45756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13" tIns="45756" rIns="91513" bIns="45756" anchor="b"/>
          <a:lstStyle/>
          <a:p>
            <a:pPr algn="r" defTabSz="914374"/>
            <a:fld id="{639669E7-3BDD-43E3-8183-46F1CD659182}" type="slidenum">
              <a:rPr lang="en-CA" sz="1200"/>
              <a:pPr algn="r" defTabSz="914374"/>
              <a:t>8</a:t>
            </a:fld>
            <a:endParaRPr lang="en-CA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93187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816C8707-6189-4FEC-A1F9-D1C7F7C78BC4}" type="slidenum">
              <a:rPr lang="en-CA" sz="1200"/>
              <a:pPr algn="r" defTabSz="923153"/>
              <a:t>16</a:t>
            </a:fld>
            <a:endParaRPr lang="en-CA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0137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C11B5187-6269-485D-8ED7-E811ACEB85C2}" type="slidenum">
              <a:rPr lang="en-CA" sz="1200"/>
              <a:pPr algn="r" defTabSz="914467"/>
              <a:t>17</a:t>
            </a:fld>
            <a:endParaRPr lang="en-CA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39669E7-3BDD-43E3-8183-46F1CD659182}" type="slidenum">
              <a:rPr lang="en-CA" sz="1200"/>
              <a:pPr algn="r" defTabSz="914467"/>
              <a:t>18</a:t>
            </a:fld>
            <a:endParaRPr lang="en-CA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20</a:t>
            </a:fld>
            <a:endParaRPr lang="en-CA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13" tIns="45756" rIns="91513" bIns="45756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13" tIns="45756" rIns="91513" bIns="45756" anchor="b"/>
          <a:lstStyle/>
          <a:p>
            <a:pPr algn="r" defTabSz="914374"/>
            <a:fld id="{639669E7-3BDD-43E3-8183-46F1CD659182}" type="slidenum">
              <a:rPr lang="en-CA" sz="1200"/>
              <a:pPr algn="r" defTabSz="914374"/>
              <a:t>21</a:t>
            </a:fld>
            <a:endParaRPr lang="en-CA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36195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04885381-EA95-46CD-88E6-47D8519DFD95}" type="slidenum">
              <a:rPr lang="en-CA" sz="1200"/>
              <a:pPr algn="r" defTabSz="914467"/>
              <a:t>22</a:t>
            </a:fld>
            <a:endParaRPr lang="en-CA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33A79-B249-446A-B43B-A5FD9477DFF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9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33A79-B249-446A-B43B-A5FD9477DFF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9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33A79-B249-446A-B43B-A5FD9477DFF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9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36195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04885381-EA95-46CD-88E6-47D8519DFD95}" type="slidenum">
              <a:rPr lang="en-CA" sz="1200"/>
              <a:pPr algn="r" defTabSz="914467"/>
              <a:t>30</a:t>
            </a:fld>
            <a:endParaRPr lang="en-CA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39669E7-3BDD-43E3-8183-46F1CD659182}" type="slidenum">
              <a:rPr lang="en-CA" sz="1200"/>
              <a:pPr algn="r" defTabSz="914467"/>
              <a:t>32</a:t>
            </a:fld>
            <a:endParaRPr lang="en-CA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34</a:t>
            </a:fld>
            <a:endParaRPr lang="en-CA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dirty="0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39669E7-3BDD-43E3-8183-46F1CD659182}" type="slidenum">
              <a:rPr lang="en-CA" sz="1200"/>
              <a:pPr algn="r" defTabSz="914467"/>
              <a:t>35</a:t>
            </a:fld>
            <a:endParaRPr lang="en-CA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0137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C11B5187-6269-485D-8ED7-E811ACEB85C2}" type="slidenum">
              <a:rPr lang="en-CA" sz="1200"/>
              <a:pPr algn="r" defTabSz="914467"/>
              <a:t>37</a:t>
            </a:fld>
            <a:endParaRPr lang="en-CA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3427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2766B76F-2E9C-4447-9067-3908F79B5F6F}" type="slidenum">
              <a:rPr lang="en-CA" sz="1200"/>
              <a:pPr algn="r" defTabSz="920884"/>
              <a:t>38</a:t>
            </a:fld>
            <a:endParaRPr lang="en-CA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3427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2766B76F-2E9C-4447-9067-3908F79B5F6F}" type="slidenum">
              <a:rPr lang="en-CA" sz="1200"/>
              <a:pPr algn="r" defTabSz="920884"/>
              <a:t>39</a:t>
            </a:fld>
            <a:endParaRPr lang="en-CA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3427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2766B76F-2E9C-4447-9067-3908F79B5F6F}" type="slidenum">
              <a:rPr lang="en-CA" sz="1200"/>
              <a:pPr algn="r" defTabSz="920884"/>
              <a:t>40</a:t>
            </a:fld>
            <a:endParaRPr lang="en-CA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dirty="0" smtClean="0"/>
          </a:p>
        </p:txBody>
      </p:sp>
      <p:sp>
        <p:nvSpPr>
          <p:cNvPr id="136195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04885381-EA95-46CD-88E6-47D8519DFD95}" type="slidenum">
              <a:rPr lang="en-CA" sz="1200"/>
              <a:pPr algn="r" defTabSz="914467"/>
              <a:t>41</a:t>
            </a:fld>
            <a:endParaRPr lang="en-CA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7523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E2F8C8D1-C07B-486C-A4C6-C3D38AD33BF8}" type="slidenum">
              <a:rPr lang="en-CA" sz="1200"/>
              <a:pPr algn="r" defTabSz="920884"/>
              <a:t>42</a:t>
            </a:fld>
            <a:endParaRPr lang="en-CA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7523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E2F8C8D1-C07B-486C-A4C6-C3D38AD33BF8}" type="slidenum">
              <a:rPr lang="en-CA" sz="1200"/>
              <a:pPr algn="r" defTabSz="920884"/>
              <a:t>43</a:t>
            </a:fld>
            <a:endParaRPr lang="en-CA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7523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E2F8C8D1-C07B-486C-A4C6-C3D38AD33BF8}" type="slidenum">
              <a:rPr lang="en-CA" sz="1200"/>
              <a:pPr algn="r" defTabSz="920884"/>
              <a:t>45</a:t>
            </a:fld>
            <a:endParaRPr lang="en-CA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116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8DD6EBB8-8148-4060-A37F-A2028607D6CC}" type="slidenum">
              <a:rPr lang="en-CA" sz="1200"/>
              <a:pPr algn="r" defTabSz="914467"/>
              <a:t>46</a:t>
            </a:fld>
            <a:endParaRPr lang="en-CA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113667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228B858-26F4-45C4-A783-EF135284EEAD}" type="slidenum">
              <a:rPr lang="en-CA" sz="1200"/>
              <a:pPr algn="r" defTabSz="914467"/>
              <a:t>47</a:t>
            </a:fld>
            <a:endParaRPr lang="en-CA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39669E7-3BDD-43E3-8183-46F1CD659182}" type="slidenum">
              <a:rPr lang="en-CA" sz="1200"/>
              <a:pPr algn="r" defTabSz="914467"/>
              <a:t>49</a:t>
            </a:fld>
            <a:endParaRPr lang="en-CA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51</a:t>
            </a:fld>
            <a:endParaRPr lang="en-CA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22" tIns="45761" rIns="91522" bIns="45761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22" tIns="45761" rIns="91522" bIns="45761" anchor="b"/>
          <a:lstStyle/>
          <a:p>
            <a:pPr algn="r" defTabSz="914467"/>
            <a:fld id="{639669E7-3BDD-43E3-8183-46F1CD659182}" type="slidenum">
              <a:rPr lang="en-CA" sz="1200"/>
              <a:pPr algn="r" defTabSz="914467"/>
              <a:t>52</a:t>
            </a:fld>
            <a:endParaRPr lang="en-CA" sz="12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86" tIns="46193" rIns="92386" bIns="46193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86" tIns="46193" rIns="92386" bIns="46193" anchor="b"/>
          <a:lstStyle/>
          <a:p>
            <a:pPr algn="r" defTabSz="923102"/>
            <a:fld id="{639669E7-3BDD-43E3-8183-46F1CD659182}" type="slidenum">
              <a:rPr lang="en-CA" sz="1200"/>
              <a:pPr algn="r" defTabSz="923102"/>
              <a:t>58</a:t>
            </a:fld>
            <a:endParaRPr lang="en-CA" sz="120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60</a:t>
            </a:fld>
            <a:endParaRPr lang="en-CA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82" tIns="46192" rIns="92382" bIns="46192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82" tIns="46192" rIns="92382" bIns="46192" anchor="b"/>
          <a:lstStyle/>
          <a:p>
            <a:pPr algn="r" defTabSz="923064"/>
            <a:fld id="{639669E7-3BDD-43E3-8183-46F1CD659182}" type="slidenum">
              <a:rPr lang="en-CA" sz="1300"/>
              <a:pPr algn="r" defTabSz="923064"/>
              <a:t>61</a:t>
            </a:fld>
            <a:endParaRPr lang="en-CA" sz="130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91" tIns="46196" rIns="92391" bIns="46196"/>
          <a:lstStyle/>
          <a:p>
            <a:endParaRPr lang="en-US" smtClean="0"/>
          </a:p>
        </p:txBody>
      </p:sp>
      <p:sp>
        <p:nvSpPr>
          <p:cNvPr id="145411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91" tIns="46196" rIns="92391" bIns="46196" anchor="b"/>
          <a:lstStyle/>
          <a:p>
            <a:pPr algn="r" defTabSz="923153"/>
            <a:fld id="{1BDE100F-9A78-49DF-8723-1D86E5C0A57F}" type="slidenum">
              <a:rPr lang="en-CA" sz="1200"/>
              <a:pPr algn="r" defTabSz="923153"/>
              <a:t>68</a:t>
            </a:fld>
            <a:endParaRPr lang="en-CA" sz="12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513" tIns="45756" rIns="91513" bIns="45756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13" tIns="45756" rIns="91513" bIns="45756" anchor="b"/>
          <a:lstStyle/>
          <a:p>
            <a:pPr algn="r" defTabSz="914374"/>
            <a:fld id="{639669E7-3BDD-43E3-8183-46F1CD659182}" type="slidenum">
              <a:rPr lang="en-CA" sz="1200"/>
              <a:pPr algn="r" defTabSz="914374"/>
              <a:t>69</a:t>
            </a:fld>
            <a:endParaRPr lang="en-CA" sz="12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376A2-1078-4B62-BA99-BB9B43631400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4772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69AE50-A58A-4637-90F6-E825CB6E16DD}" type="slidenum">
              <a:rPr lang="en-CA" smtClean="0"/>
              <a:pPr>
                <a:defRPr/>
              </a:pPr>
              <a:t>79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1259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69AE50-A58A-4637-90F6-E825CB6E16DD}" type="slidenum">
              <a:rPr lang="en-CA" smtClean="0"/>
              <a:pPr>
                <a:defRPr/>
              </a:pPr>
              <a:t>80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1259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4275" y="696913"/>
            <a:ext cx="4654550" cy="3490912"/>
          </a:xfrm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132" tIns="46066" rIns="92132" bIns="46066"/>
          <a:lstStyle/>
          <a:p>
            <a:endParaRPr lang="en-US" smtClean="0"/>
          </a:p>
        </p:txBody>
      </p:sp>
      <p:sp>
        <p:nvSpPr>
          <p:cNvPr id="107523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32" tIns="46066" rIns="92132" bIns="46066" anchor="b"/>
          <a:lstStyle/>
          <a:p>
            <a:pPr algn="r" defTabSz="920884"/>
            <a:fld id="{E2F8C8D1-C07B-486C-A4C6-C3D38AD33BF8}" type="slidenum">
              <a:rPr lang="en-CA" sz="1200"/>
              <a:pPr algn="r" defTabSz="920884"/>
              <a:t>88</a:t>
            </a:fld>
            <a:endParaRPr lang="en-CA" sz="12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2386" tIns="46193" rIns="92386" bIns="46193"/>
          <a:lstStyle/>
          <a:p>
            <a:endParaRPr lang="en-US" smtClean="0"/>
          </a:p>
        </p:txBody>
      </p:sp>
      <p:sp>
        <p:nvSpPr>
          <p:cNvPr id="60419" name="Slide Number Placeholder 3"/>
          <p:cNvSpPr txBox="1">
            <a:spLocks noGrp="1"/>
          </p:cNvSpPr>
          <p:nvPr/>
        </p:nvSpPr>
        <p:spPr bwMode="auto">
          <a:xfrm>
            <a:off x="3976334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86" tIns="46193" rIns="92386" bIns="46193" anchor="b"/>
          <a:lstStyle/>
          <a:p>
            <a:pPr algn="r" defTabSz="923102"/>
            <a:fld id="{639669E7-3BDD-43E3-8183-46F1CD659182}" type="slidenum">
              <a:rPr lang="en-CA" sz="1200"/>
              <a:pPr algn="r" defTabSz="923102"/>
              <a:t>91</a:t>
            </a:fld>
            <a:endParaRPr lang="en-CA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42900" y="4248150"/>
            <a:ext cx="8462963" cy="636588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8" descr="1c_revBlack_rgb_powerpoi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1325" y="4386263"/>
            <a:ext cx="1408113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2628900"/>
            <a:ext cx="8458200" cy="1470025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5006975"/>
            <a:ext cx="8458200" cy="1485900"/>
          </a:xfrm>
          <a:ln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c_revBlack_rgb_powerpoi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38925" y="6427788"/>
            <a:ext cx="1119188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38138" y="6330950"/>
            <a:ext cx="8462962" cy="46196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38138" y="6330950"/>
            <a:ext cx="8462962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" name="Picture 9" descr="ti_stk_2c_pos_r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6418263"/>
            <a:ext cx="1136650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42900" y="2463031"/>
            <a:ext cx="8458200" cy="1470025"/>
          </a:xfrm>
        </p:spPr>
        <p:txBody>
          <a:bodyPr/>
          <a:lstStyle>
            <a:lvl1pPr algn="ctr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CA" dirty="0"/>
              <a:t>Click to edit Master title style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DAB73-76A1-47D0-B9ED-FA8B2326868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142875"/>
            <a:ext cx="8458200" cy="814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467725" cy="469265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DF17E-77BF-4D70-9A92-CBFD8ED452E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142875"/>
            <a:ext cx="8458200" cy="814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467725" cy="4692650"/>
          </a:xfrm>
        </p:spPr>
        <p:txBody>
          <a:bodyPr/>
          <a:lstStyle>
            <a:lvl1pPr>
              <a:defRPr b="0">
                <a:solidFill>
                  <a:srgbClr val="0070C0"/>
                </a:solidFill>
              </a:defRPr>
            </a:lvl1pPr>
            <a:lvl2pPr>
              <a:defRPr>
                <a:solidFill>
                  <a:srgbClr val="0070C0"/>
                </a:solidFill>
              </a:defRPr>
            </a:lvl2pPr>
            <a:lvl3pPr>
              <a:defRPr>
                <a:solidFill>
                  <a:srgbClr val="0070C0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DF17E-77BF-4D70-9A92-CBFD8ED452E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03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b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142875"/>
            <a:ext cx="8458200" cy="814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467725" cy="4692650"/>
          </a:xfrm>
        </p:spPr>
        <p:txBody>
          <a:bodyPr/>
          <a:lstStyle>
            <a:lvl1pPr marL="457200" indent="-457200">
              <a:buFont typeface="+mj-lt"/>
              <a:buAutoNum type="arabicPeriod"/>
              <a:defRPr b="0"/>
            </a:lvl1pPr>
            <a:lvl2pPr marL="682625" indent="-219075">
              <a:defRPr/>
            </a:lvl2pPr>
            <a:lvl3pPr marL="914400" indent="-225425">
              <a:defRPr/>
            </a:lvl3pPr>
            <a:lvl4pPr marL="1146175" indent="-231775">
              <a:defRPr/>
            </a:lvl4pPr>
            <a:lvl5pPr marL="1377950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DF17E-77BF-4D70-9A92-CBFD8ED452E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09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1185863"/>
            <a:ext cx="4157663" cy="4692650"/>
          </a:xfrm>
        </p:spPr>
        <p:txBody>
          <a:bodyPr/>
          <a:lstStyle>
            <a:lvl1pPr>
              <a:defRPr sz="2000" b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185863"/>
            <a:ext cx="4157662" cy="4692650"/>
          </a:xfrm>
        </p:spPr>
        <p:txBody>
          <a:bodyPr/>
          <a:lstStyle>
            <a:lvl1pPr>
              <a:defRPr sz="2000" b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DEBB6-2E2D-482B-9F8D-418B7E1DC75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9DC24-09D9-4E84-AAEE-D1BDE8BFE61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36EC3-BB8B-42D1-B807-03EE157ADD7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140968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8264A-3939-4EBC-B8E3-8AF48681069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42900" y="4248150"/>
            <a:ext cx="8462963" cy="636588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8" descr="1c_revBlack_rgb_powerpoi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1325" y="4386263"/>
            <a:ext cx="1408113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2628900"/>
            <a:ext cx="8458200" cy="1470025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5006975"/>
            <a:ext cx="8458200" cy="1485900"/>
          </a:xfrm>
          <a:ln/>
        </p:spPr>
        <p:txBody>
          <a:bodyPr/>
          <a:lstStyle>
            <a:lvl1pPr marL="0" indent="0">
              <a:buFontTx/>
              <a:buNone/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5600" y="6638925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474913" y="6638925"/>
            <a:ext cx="4164012" cy="2047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42100" y="6638925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39327-9D4C-4740-91D5-CA9F932361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142875"/>
            <a:ext cx="8458200" cy="814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467725" cy="469265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DF17E-77BF-4D70-9A92-CBFD8ED452E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486025" y="6078538"/>
            <a:ext cx="4152900" cy="2508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9DC24-09D9-4E84-AAEE-D1BDE8BFE61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356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143000"/>
            <a:ext cx="3733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143000"/>
            <a:ext cx="3733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023CF-8D31-41D2-B83E-1E976F0AC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49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140968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8264A-3939-4EBC-B8E3-8AF48681069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42875"/>
            <a:ext cx="8458200" cy="81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dirty="0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5" y="1185863"/>
            <a:ext cx="8467725" cy="4692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42100" y="6078538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Arial" charset="0"/>
              </a:defRPr>
            </a:lvl1pPr>
          </a:lstStyle>
          <a:p>
            <a:pPr>
              <a:defRPr/>
            </a:pPr>
            <a:fld id="{9A4A3DC3-F575-4F34-81D3-9D0A869A6BD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38138" y="6330950"/>
            <a:ext cx="8462962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7" descr="ti_stk_2c_pos_rgb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629400" y="6418263"/>
            <a:ext cx="1136650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 rot="5400000">
            <a:off x="8131969" y="5863432"/>
            <a:ext cx="1773237" cy="2159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8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CCS APPS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56" r:id="rId3"/>
    <p:sldLayoutId id="2147483668" r:id="rId4"/>
    <p:sldLayoutId id="2147483669" r:id="rId5"/>
    <p:sldLayoutId id="2147483658" r:id="rId6"/>
    <p:sldLayoutId id="2147483663" r:id="rId7"/>
    <p:sldLayoutId id="2147483657" r:id="rId8"/>
    <p:sldLayoutId id="2147483676" r:id="rId9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227013" indent="-227013" algn="l" rtl="0" eaLnBrk="0" fontAlgn="base" hangingPunct="0">
        <a:spcBef>
          <a:spcPct val="65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33363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854075" indent="-165100" algn="l" rtl="0" eaLnBrk="0" fontAlgn="base" hangingPunct="0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201738" indent="-233363" algn="l" rtl="0" eaLnBrk="0" fontAlgn="base" hangingPunct="0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489075" indent="-173038" algn="l" rtl="0" eaLnBrk="0" fontAlgn="base" hangingPunct="0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9462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4034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28606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317875" indent="-173038" algn="l" rtl="0" fontAlgn="base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3375" y="0"/>
            <a:ext cx="845820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5" y="1185863"/>
            <a:ext cx="8467725" cy="469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5600" y="6038850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89200" y="6038850"/>
            <a:ext cx="4144963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42100" y="6038850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A4A3DC3-F575-4F34-81D3-9D0A869A6BD8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38138" y="6330950"/>
            <a:ext cx="8462962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2" name="Picture 8" descr="ti_stk_2c_pos_rgb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6418263"/>
            <a:ext cx="1136650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35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processors.wiki.ti.com/index.php/Debug_versus_Optimization_Tradeoff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jpe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hyperlink" Target="http://processors.wiki.ti.com/index.php/Memory_ma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22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54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0.png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9.png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.png"/><Relationship Id="rId5" Type="http://schemas.openxmlformats.org/officeDocument/2006/relationships/image" Target="../media/image22.png"/><Relationship Id="rId4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rtsc.eclipse.org/docs-tip/RTSC_Object_Viewer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7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.com/litv/pdf/spruhd4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processors.wiki.ti.com/index.php?title=Category:SYSBIOS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7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6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8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6.jpeg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9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"/>
          <p:cNvSpPr>
            <a:spLocks noGrp="1"/>
          </p:cNvSpPr>
          <p:nvPr>
            <p:ph type="ctrTitle"/>
          </p:nvPr>
        </p:nvSpPr>
        <p:spPr>
          <a:xfrm>
            <a:off x="228600" y="2111375"/>
            <a:ext cx="8458200" cy="1965697"/>
          </a:xfrm>
        </p:spPr>
        <p:txBody>
          <a:bodyPr/>
          <a:lstStyle/>
          <a:p>
            <a:r>
              <a:rPr lang="en-US" sz="4400" dirty="0" smtClean="0"/>
              <a:t>CCSv6 Fundamentals Workshop for CC2650</a:t>
            </a:r>
            <a:br>
              <a:rPr lang="en-US" sz="4400" dirty="0" smtClean="0"/>
            </a:br>
            <a:endParaRPr lang="en-US" baseline="30000" dirty="0" smtClean="0"/>
          </a:p>
        </p:txBody>
      </p:sp>
      <p:sp>
        <p:nvSpPr>
          <p:cNvPr id="11267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Handbook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524000"/>
            <a:ext cx="2540529" cy="266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031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67725" cy="4953000"/>
          </a:xfrm>
        </p:spPr>
        <p:txBody>
          <a:bodyPr/>
          <a:lstStyle/>
          <a:p>
            <a:r>
              <a:rPr lang="en-US" dirty="0" smtClean="0"/>
              <a:t>Lab Requirements and Setup</a:t>
            </a:r>
            <a:endParaRPr lang="en-US" sz="2000" dirty="0" smtClean="0"/>
          </a:p>
          <a:p>
            <a:r>
              <a:rPr lang="en-US" sz="2000" dirty="0" smtClean="0"/>
              <a:t>Lab 1A: </a:t>
            </a:r>
            <a:r>
              <a:rPr lang="en-CA" dirty="0"/>
              <a:t>Getting Started: </a:t>
            </a:r>
            <a:r>
              <a:rPr lang="en-US" dirty="0"/>
              <a:t>LCD SmartRF06EB Example </a:t>
            </a:r>
            <a:r>
              <a:rPr lang="en-US" sz="2000" dirty="0" smtClean="0"/>
              <a:t>	</a:t>
            </a:r>
          </a:p>
          <a:p>
            <a:r>
              <a:rPr lang="en-US" dirty="0" smtClean="0"/>
              <a:t>Lab 1B: </a:t>
            </a:r>
            <a:r>
              <a:rPr lang="en-CA" dirty="0" smtClean="0"/>
              <a:t>More Basics</a:t>
            </a:r>
            <a:r>
              <a:rPr lang="en-CA" dirty="0"/>
              <a:t>: </a:t>
            </a:r>
            <a:r>
              <a:rPr lang="en-US" dirty="0" smtClean="0"/>
              <a:t>LCD </a:t>
            </a:r>
            <a:r>
              <a:rPr lang="en-US" dirty="0"/>
              <a:t>SmartRF06EB Example</a:t>
            </a:r>
            <a:r>
              <a:rPr lang="en-US" dirty="0" smtClean="0"/>
              <a:t> </a:t>
            </a:r>
            <a:endParaRPr lang="en-US" sz="2000" dirty="0" smtClean="0"/>
          </a:p>
          <a:p>
            <a:r>
              <a:rPr lang="en-US" dirty="0" smtClean="0"/>
              <a:t>Lab 2: </a:t>
            </a:r>
            <a:r>
              <a:rPr lang="en-CA" dirty="0" smtClean="0"/>
              <a:t>Basic Debug: </a:t>
            </a:r>
            <a:r>
              <a:rPr lang="en-US" dirty="0" smtClean="0"/>
              <a:t>Pin </a:t>
            </a:r>
            <a:r>
              <a:rPr lang="en-US" dirty="0"/>
              <a:t>Interrupt </a:t>
            </a:r>
            <a:r>
              <a:rPr lang="en-US" dirty="0" smtClean="0"/>
              <a:t>Example</a:t>
            </a:r>
            <a:endParaRPr lang="en-US" sz="1800" dirty="0" smtClean="0"/>
          </a:p>
          <a:p>
            <a:r>
              <a:rPr lang="en-US" sz="2000" dirty="0" smtClean="0"/>
              <a:t>Lab 3A: </a:t>
            </a:r>
            <a:r>
              <a:rPr lang="en-CA" dirty="0" smtClean="0"/>
              <a:t>Real-time Debug: </a:t>
            </a:r>
            <a:r>
              <a:rPr lang="en-US" dirty="0" smtClean="0"/>
              <a:t>LCD </a:t>
            </a:r>
            <a:r>
              <a:rPr lang="en-US" dirty="0"/>
              <a:t>SmartRF06EB </a:t>
            </a:r>
            <a:r>
              <a:rPr lang="en-US" dirty="0" smtClean="0"/>
              <a:t>Example </a:t>
            </a:r>
          </a:p>
          <a:p>
            <a:r>
              <a:rPr lang="en-US" dirty="0"/>
              <a:t>Lab </a:t>
            </a:r>
            <a:r>
              <a:rPr lang="en-US" dirty="0" smtClean="0"/>
              <a:t>3B: </a:t>
            </a:r>
            <a:r>
              <a:rPr lang="en-CA" dirty="0" smtClean="0"/>
              <a:t>ROV: </a:t>
            </a:r>
            <a:r>
              <a:rPr lang="en-US" dirty="0"/>
              <a:t>LCD SmartRF06EB Example </a:t>
            </a:r>
            <a:endParaRPr lang="en-US" dirty="0" smtClean="0"/>
          </a:p>
          <a:p>
            <a:r>
              <a:rPr lang="en-US" dirty="0" smtClean="0"/>
              <a:t>Lab 4: </a:t>
            </a:r>
            <a:r>
              <a:rPr lang="en-CA" dirty="0"/>
              <a:t>M</a:t>
            </a:r>
            <a:r>
              <a:rPr lang="en-CA" dirty="0" smtClean="0"/>
              <a:t>ulti-target Debug</a:t>
            </a:r>
            <a:r>
              <a:rPr lang="en-CA" dirty="0"/>
              <a:t>: Per Test Example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33613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a0389327\Dropbox\Work\lprf\ss\boar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780928"/>
            <a:ext cx="3938650" cy="324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2"/>
            <a:ext cx="8467725" cy="5123457"/>
          </a:xfrm>
        </p:spPr>
        <p:txBody>
          <a:bodyPr/>
          <a:lstStyle/>
          <a:p>
            <a:r>
              <a:rPr lang="en-US" dirty="0" smtClean="0"/>
              <a:t>Software:</a:t>
            </a:r>
          </a:p>
          <a:p>
            <a:pPr lvl="1"/>
            <a:r>
              <a:rPr lang="en-US" dirty="0"/>
              <a:t>Code Composer Studio </a:t>
            </a:r>
            <a:r>
              <a:rPr lang="en-US" dirty="0" smtClean="0"/>
              <a:t>v6.1.0 or greater</a:t>
            </a:r>
            <a:endParaRPr lang="en-US" dirty="0"/>
          </a:p>
          <a:p>
            <a:pPr lvl="2"/>
            <a:r>
              <a:rPr lang="en-US" dirty="0" smtClean="0"/>
              <a:t>With </a:t>
            </a:r>
            <a:r>
              <a:rPr lang="en-US" dirty="0"/>
              <a:t>all </a:t>
            </a:r>
            <a:r>
              <a:rPr lang="en-US" dirty="0" smtClean="0"/>
              <a:t>Wireless Connectivity components installed</a:t>
            </a:r>
          </a:p>
          <a:p>
            <a:pPr lvl="1"/>
            <a:r>
              <a:rPr lang="en-US" dirty="0"/>
              <a:t>TI-RTOS for </a:t>
            </a:r>
            <a:r>
              <a:rPr lang="en-US" dirty="0" err="1"/>
              <a:t>SimpleLink</a:t>
            </a:r>
            <a:r>
              <a:rPr lang="en-US" dirty="0"/>
              <a:t> Wireless MCUs</a:t>
            </a:r>
          </a:p>
          <a:p>
            <a:pPr lvl="1"/>
            <a:r>
              <a:rPr lang="en-US" dirty="0" smtClean="0"/>
              <a:t>Per Test package</a:t>
            </a:r>
          </a:p>
          <a:p>
            <a:r>
              <a:rPr lang="en-US" dirty="0" smtClean="0"/>
              <a:t>Hardware:</a:t>
            </a:r>
          </a:p>
          <a:p>
            <a:pPr lvl="1"/>
            <a:r>
              <a:rPr lang="en-US" dirty="0" smtClean="0"/>
              <a:t>CC2650EM-7ID with SmartRF06EB</a:t>
            </a:r>
          </a:p>
          <a:p>
            <a:pPr lvl="2"/>
            <a:r>
              <a:rPr lang="en-US" dirty="0" smtClean="0"/>
              <a:t>Device rev PG 2.2+</a:t>
            </a:r>
          </a:p>
          <a:p>
            <a:pPr lvl="2"/>
            <a:r>
              <a:rPr lang="en-US" dirty="0" smtClean="0"/>
              <a:t>Lab 4 requires </a:t>
            </a:r>
            <a:r>
              <a:rPr lang="en-US" b="1" dirty="0" smtClean="0"/>
              <a:t>two</a:t>
            </a:r>
            <a:r>
              <a:rPr lang="en-US" dirty="0" smtClean="0"/>
              <a:t> such targets!</a:t>
            </a:r>
          </a:p>
          <a:p>
            <a:pPr lvl="2"/>
            <a:endParaRPr lang="en-US" dirty="0" smtClean="0"/>
          </a:p>
        </p:txBody>
      </p:sp>
      <p:pic>
        <p:nvPicPr>
          <p:cNvPr id="4" name="Picture 6" descr="j039850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24224" y="4701956"/>
            <a:ext cx="18192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811150" y="5155465"/>
            <a:ext cx="3236655" cy="338554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169863"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 dirty="0" smtClean="0"/>
              <a:t>USB JTAG Connection</a:t>
            </a:r>
            <a:endParaRPr lang="en-US" sz="2000" b="1" dirty="0"/>
          </a:p>
        </p:txBody>
      </p:sp>
      <p:sp>
        <p:nvSpPr>
          <p:cNvPr id="6" name="Left-Right Arrow 5"/>
          <p:cNvSpPr/>
          <p:nvPr/>
        </p:nvSpPr>
        <p:spPr>
          <a:xfrm>
            <a:off x="1925451" y="5517232"/>
            <a:ext cx="3008055" cy="457200"/>
          </a:xfrm>
          <a:prstGeom prst="leftRightArrow">
            <a:avLst/>
          </a:prstGeom>
          <a:solidFill>
            <a:srgbClr val="00B050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8"/>
          <p:cNvSpPr>
            <a:spLocks noChangeArrowheads="1"/>
          </p:cNvSpPr>
          <p:nvPr/>
        </p:nvSpPr>
        <p:spPr bwMode="auto">
          <a:xfrm>
            <a:off x="4283968" y="4361437"/>
            <a:ext cx="1070434" cy="306467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200" b="1" dirty="0" smtClean="0">
                <a:latin typeface="Arial Narrow" pitchFamily="34" charset="0"/>
              </a:rPr>
              <a:t>Power Switch</a:t>
            </a:r>
            <a:endParaRPr lang="en-CA" sz="1200" b="1" dirty="0">
              <a:latin typeface="Arial Narrow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364088" y="4403923"/>
            <a:ext cx="360040" cy="249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24128" y="4361437"/>
            <a:ext cx="288032" cy="291699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8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LAB Material Notes</a:t>
            </a:r>
          </a:p>
        </p:txBody>
      </p:sp>
      <p:sp>
        <p:nvSpPr>
          <p:cNvPr id="316418" name="Content Placeholder 2"/>
          <p:cNvSpPr>
            <a:spLocks noGrp="1"/>
          </p:cNvSpPr>
          <p:nvPr>
            <p:ph idx="4294967295"/>
          </p:nvPr>
        </p:nvSpPr>
        <p:spPr>
          <a:xfrm>
            <a:off x="323528" y="1185863"/>
            <a:ext cx="8144197" cy="4692650"/>
          </a:xfrm>
        </p:spPr>
        <p:txBody>
          <a:bodyPr/>
          <a:lstStyle/>
          <a:p>
            <a:r>
              <a:rPr lang="en-US" b="0" dirty="0" smtClean="0"/>
              <a:t>It is assumed the main workshop directory is located in </a:t>
            </a:r>
            <a:r>
              <a:rPr lang="en-US" b="0" i="1" dirty="0" smtClean="0"/>
              <a:t>C:\ccsv6_workshop\cc2650\workspace</a:t>
            </a:r>
          </a:p>
          <a:p>
            <a:r>
              <a:rPr lang="en-US" b="0" dirty="0" smtClean="0"/>
              <a:t>It </a:t>
            </a:r>
            <a:r>
              <a:rPr lang="en-US" b="0" dirty="0"/>
              <a:t>is assumed that that </a:t>
            </a:r>
            <a:r>
              <a:rPr lang="en-US" b="0" dirty="0" smtClean="0"/>
              <a:t>Per Test is installed in </a:t>
            </a:r>
            <a:r>
              <a:rPr lang="en-US" b="0" i="1" dirty="0"/>
              <a:t>C:\</a:t>
            </a:r>
            <a:r>
              <a:rPr lang="en-US" b="0" i="1" dirty="0" smtClean="0"/>
              <a:t>ccsv6_workshop\cc2650\per_test</a:t>
            </a:r>
          </a:p>
          <a:p>
            <a:r>
              <a:rPr lang="en-US" b="0" dirty="0" smtClean="0"/>
              <a:t>The lab material will make references to these directory</a:t>
            </a:r>
          </a:p>
          <a:p>
            <a:r>
              <a:rPr lang="en-US" b="0" dirty="0" smtClean="0"/>
              <a:t>If the lab material is located in a different location, please update the path to reflect your environment </a:t>
            </a:r>
          </a:p>
          <a:p>
            <a:pPr lvl="1"/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34501390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>
          <a:xfrm>
            <a:off x="231774" y="142875"/>
            <a:ext cx="8912225" cy="814388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Conventions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980728"/>
            <a:ext cx="8467725" cy="5267473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0066FF"/>
                </a:solidFill>
              </a:rPr>
              <a:t>Before starting, it is important to review some lab conventions that will ease your work…</a:t>
            </a:r>
          </a:p>
          <a:p>
            <a:r>
              <a:rPr lang="en-CA" dirty="0">
                <a:solidFill>
                  <a:srgbClr val="0066FF"/>
                </a:solidFill>
              </a:rPr>
              <a:t>Lab steps are in </a:t>
            </a:r>
            <a:r>
              <a:rPr lang="en-CA" dirty="0"/>
              <a:t>black</a:t>
            </a:r>
            <a:r>
              <a:rPr lang="en-CA" dirty="0">
                <a:solidFill>
                  <a:srgbClr val="0066FF"/>
                </a:solidFill>
              </a:rPr>
              <a:t> and numbered for easier reference</a:t>
            </a:r>
          </a:p>
          <a:p>
            <a:pPr marL="684212" lvl="1" indent="-342900">
              <a:buFont typeface="+mj-lt"/>
              <a:buAutoNum type="arabicPeriod"/>
            </a:pPr>
            <a:r>
              <a:rPr lang="en-CA" dirty="0" smtClean="0"/>
              <a:t>…</a:t>
            </a:r>
          </a:p>
          <a:p>
            <a:pPr marL="684212" lvl="1" indent="-342900">
              <a:buFont typeface="+mj-lt"/>
              <a:buAutoNum type="arabicPeriod"/>
            </a:pPr>
            <a:r>
              <a:rPr lang="en-CA" dirty="0" smtClean="0"/>
              <a:t>…</a:t>
            </a:r>
          </a:p>
          <a:p>
            <a:endParaRPr lang="en-CA" dirty="0" smtClean="0"/>
          </a:p>
          <a:p>
            <a:r>
              <a:rPr lang="en-CA" dirty="0" smtClean="0"/>
              <a:t>Explanations, notes, warnings are written in </a:t>
            </a:r>
            <a:r>
              <a:rPr lang="en-CA" dirty="0" smtClean="0">
                <a:solidFill>
                  <a:srgbClr val="0066FF"/>
                </a:solidFill>
              </a:rPr>
              <a:t>blue</a:t>
            </a:r>
          </a:p>
          <a:p>
            <a:pPr lvl="1">
              <a:lnSpc>
                <a:spcPct val="150000"/>
              </a:lnSpc>
            </a:pPr>
            <a:r>
              <a:rPr lang="en-CA" dirty="0" smtClean="0">
                <a:solidFill>
                  <a:srgbClr val="0066FF"/>
                </a:solidFill>
              </a:rPr>
              <a:t>Warnings are shown with  </a:t>
            </a:r>
          </a:p>
          <a:p>
            <a:pPr lvl="1">
              <a:lnSpc>
                <a:spcPct val="150000"/>
              </a:lnSpc>
            </a:pPr>
            <a:r>
              <a:rPr lang="en-CA" dirty="0" smtClean="0">
                <a:solidFill>
                  <a:srgbClr val="0066FF"/>
                </a:solidFill>
              </a:rPr>
              <a:t>Information is marked with </a:t>
            </a:r>
          </a:p>
          <a:p>
            <a:pPr lvl="1">
              <a:lnSpc>
                <a:spcPct val="150000"/>
              </a:lnSpc>
            </a:pPr>
            <a:r>
              <a:rPr lang="en-CA" dirty="0" smtClean="0">
                <a:solidFill>
                  <a:srgbClr val="0066FF"/>
                </a:solidFill>
              </a:rPr>
              <a:t>Tips and answers are marked with </a:t>
            </a:r>
          </a:p>
          <a:p>
            <a:pPr lvl="1">
              <a:lnSpc>
                <a:spcPct val="150000"/>
              </a:lnSpc>
            </a:pPr>
            <a:r>
              <a:rPr lang="en-CA" dirty="0" smtClean="0">
                <a:solidFill>
                  <a:srgbClr val="0066FF"/>
                </a:solidFill>
              </a:rPr>
              <a:t>Questions are marked with </a:t>
            </a:r>
          </a:p>
        </p:txBody>
      </p:sp>
      <p:pic>
        <p:nvPicPr>
          <p:cNvPr id="4" name="Picture 3" descr="C:\Users\a0356111.ENT\AppData\Local\Microsoft\Windows\Temporary Internet Files\Low\Content.IE5\UCVU48Z8\MC90043475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8594" y="3933024"/>
            <a:ext cx="288000" cy="288000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69" y="4437112"/>
            <a:ext cx="288000" cy="28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664" y="4869128"/>
            <a:ext cx="288000" cy="28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67" y="5301208"/>
            <a:ext cx="420155" cy="42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2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3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755576" y="242088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1A: Getting Started: </a:t>
            </a:r>
            <a:r>
              <a:rPr lang="en-US" dirty="0" smtClean="0"/>
              <a:t>LCD </a:t>
            </a:r>
            <a:r>
              <a:rPr lang="en-US" dirty="0"/>
              <a:t>SmartRF06EB </a:t>
            </a:r>
            <a:r>
              <a:rPr lang="en-US" dirty="0" smtClean="0"/>
              <a:t>Example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 smtClean="0"/>
              <a:t>15 minutes</a:t>
            </a:r>
            <a:endParaRPr lang="en-CA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>
          <a:xfrm>
            <a:off x="231774" y="142875"/>
            <a:ext cx="8912225" cy="814388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1A: Exercise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836712"/>
            <a:ext cx="8467725" cy="5411489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Key Objectives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Import and build the </a:t>
            </a:r>
            <a:r>
              <a:rPr lang="en-US" b="1" dirty="0" smtClean="0">
                <a:solidFill>
                  <a:srgbClr val="0066FF"/>
                </a:solidFill>
              </a:rPr>
              <a:t>LCD SmartRF06EB </a:t>
            </a:r>
            <a:r>
              <a:rPr lang="en-CA" dirty="0" smtClean="0">
                <a:solidFill>
                  <a:srgbClr val="0066FF"/>
                </a:solidFill>
              </a:rPr>
              <a:t>example program 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Start a debug session and load/flash the program to the </a:t>
            </a:r>
            <a:r>
              <a:rPr lang="en-US" dirty="0" smtClean="0">
                <a:solidFill>
                  <a:srgbClr val="0066FF"/>
                </a:solidFill>
              </a:rPr>
              <a:t>target</a:t>
            </a:r>
            <a:endParaRPr lang="en-CA" dirty="0" smtClean="0">
              <a:solidFill>
                <a:srgbClr val="0066FF"/>
              </a:solidFill>
            </a:endParaRP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Run the program</a:t>
            </a:r>
          </a:p>
          <a:p>
            <a:r>
              <a:rPr lang="en-CA" dirty="0" smtClean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CA" b="1" dirty="0" smtClean="0">
                <a:solidFill>
                  <a:srgbClr val="0066FF"/>
                </a:solidFill>
              </a:rPr>
              <a:t>Workspace</a:t>
            </a:r>
          </a:p>
          <a:p>
            <a:pPr lvl="1"/>
            <a:r>
              <a:rPr lang="en-CA" b="1" dirty="0" smtClean="0">
                <a:solidFill>
                  <a:srgbClr val="0066FF"/>
                </a:solidFill>
              </a:rPr>
              <a:t>Resource Explorer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Building example </a:t>
            </a:r>
            <a:r>
              <a:rPr lang="en-CA" dirty="0">
                <a:solidFill>
                  <a:srgbClr val="0066FF"/>
                </a:solidFill>
              </a:rPr>
              <a:t>p</a:t>
            </a:r>
            <a:r>
              <a:rPr lang="en-CA" dirty="0" smtClean="0">
                <a:solidFill>
                  <a:srgbClr val="0066FF"/>
                </a:solidFill>
              </a:rPr>
              <a:t>rojects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Running example projects</a:t>
            </a:r>
          </a:p>
        </p:txBody>
      </p:sp>
    </p:spTree>
    <p:extLst>
      <p:ext uri="{BB962C8B-B14F-4D97-AF65-F5344CB8AC3E}">
        <p14:creationId xmlns:p14="http://schemas.microsoft.com/office/powerpoint/2010/main" val="404055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CCS and Open Resource Explorer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Double click on the Code Composer Studio desktop icon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Specify </a:t>
            </a:r>
            <a:r>
              <a:rPr lang="en-US" i="1" dirty="0"/>
              <a:t>C:\</a:t>
            </a:r>
            <a:r>
              <a:rPr lang="en-US" i="1" dirty="0" smtClean="0"/>
              <a:t>ccsv6_workshop\cc2650\workspace </a:t>
            </a:r>
            <a:r>
              <a:rPr lang="en-US" dirty="0" smtClean="0"/>
              <a:t>as the workspace location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Select </a:t>
            </a:r>
            <a:r>
              <a:rPr lang="en-US" b="1" dirty="0" smtClean="0"/>
              <a:t>Browse Examples</a:t>
            </a:r>
            <a:r>
              <a:rPr lang="en-US" dirty="0" smtClean="0"/>
              <a:t> in the </a:t>
            </a:r>
            <a:r>
              <a:rPr lang="en-US" b="1" dirty="0" smtClean="0"/>
              <a:t>Getting Started</a:t>
            </a:r>
            <a:r>
              <a:rPr lang="en-US" dirty="0" smtClean="0"/>
              <a:t> page</a:t>
            </a:r>
          </a:p>
          <a:p>
            <a:endParaRPr lang="en-US" sz="2200" dirty="0" smtClean="0"/>
          </a:p>
          <a:p>
            <a:pPr lvl="1"/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628800"/>
            <a:ext cx="800212" cy="905001"/>
          </a:xfrm>
          <a:prstGeom prst="rect">
            <a:avLst/>
          </a:prstGeom>
        </p:spPr>
      </p:pic>
      <p:pic>
        <p:nvPicPr>
          <p:cNvPr id="1026" name="Picture 2" descr="E:\WORK\lprf\ss\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62" y="3933056"/>
            <a:ext cx="3744777" cy="216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11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i="1" dirty="0" smtClean="0"/>
              <a:t>Resource Explorer</a:t>
            </a:r>
            <a:r>
              <a:rPr lang="en-CA" dirty="0" smtClean="0"/>
              <a:t>: Examples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8400802" cy="2486149"/>
          </a:xfrm>
        </p:spPr>
        <p:txBody>
          <a:bodyPr/>
          <a:lstStyle/>
          <a:p>
            <a:r>
              <a:rPr lang="en-US" b="0" dirty="0" smtClean="0">
                <a:solidFill>
                  <a:srgbClr val="0066FF"/>
                </a:solidFill>
              </a:rPr>
              <a:t>Displays all example projects discovered by the </a:t>
            </a:r>
            <a:r>
              <a:rPr lang="en-US" b="1" dirty="0" smtClean="0">
                <a:solidFill>
                  <a:srgbClr val="0066FF"/>
                </a:solidFill>
              </a:rPr>
              <a:t>Resource Explorer</a:t>
            </a:r>
          </a:p>
          <a:p>
            <a:r>
              <a:rPr lang="en-US" b="0" dirty="0" smtClean="0">
                <a:solidFill>
                  <a:srgbClr val="0066FF"/>
                </a:solidFill>
              </a:rPr>
              <a:t>Step by step instructions on how to build/run the examples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 smtClean="0"/>
              <a:t>Select the </a:t>
            </a:r>
            <a:r>
              <a:rPr lang="en-US" b="1" dirty="0" smtClean="0"/>
              <a:t>LCD SmartRF06EB </a:t>
            </a:r>
            <a:r>
              <a:rPr lang="en-US" dirty="0" smtClean="0"/>
              <a:t>example </a:t>
            </a:r>
            <a:r>
              <a:rPr lang="en-US" b="0" dirty="0" smtClean="0"/>
              <a:t>under </a:t>
            </a:r>
            <a:r>
              <a:rPr lang="en-US" b="1" i="1" dirty="0" smtClean="0"/>
              <a:t>TI-RTOS for </a:t>
            </a:r>
            <a:r>
              <a:rPr lang="en-US" b="1" i="1" dirty="0" err="1" smtClean="0"/>
              <a:t>SimpleLink</a:t>
            </a:r>
            <a:r>
              <a:rPr lang="en-US" b="1" i="1" dirty="0" smtClean="0"/>
              <a:t> Wireless MCUs </a:t>
            </a:r>
            <a:r>
              <a:rPr lang="en-US" i="1" dirty="0"/>
              <a:t>-&gt; </a:t>
            </a:r>
            <a:r>
              <a:rPr lang="en-US" i="1" dirty="0" err="1" smtClean="0"/>
              <a:t>SimpleLink</a:t>
            </a:r>
            <a:r>
              <a:rPr lang="en-US" i="1" dirty="0" smtClean="0"/>
              <a:t> Wireless MCU  </a:t>
            </a:r>
            <a:r>
              <a:rPr lang="en-US" i="1" dirty="0"/>
              <a:t>-&gt; </a:t>
            </a:r>
            <a:r>
              <a:rPr lang="en-US" i="1" dirty="0" smtClean="0"/>
              <a:t>CC2650F128 –&gt; Driver Examples </a:t>
            </a:r>
            <a:r>
              <a:rPr lang="en-US" i="1" dirty="0"/>
              <a:t>-&gt; </a:t>
            </a:r>
            <a:r>
              <a:rPr lang="en-US" i="1" dirty="0" smtClean="0"/>
              <a:t>TI Target Examples -&gt; LCD Examples</a:t>
            </a:r>
            <a:endParaRPr lang="en-US" b="0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96752"/>
            <a:ext cx="288000" cy="28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36" y="1700808"/>
            <a:ext cx="288000" cy="288000"/>
          </a:xfrm>
          <a:prstGeom prst="rect">
            <a:avLst/>
          </a:prstGeom>
        </p:spPr>
      </p:pic>
      <p:pic>
        <p:nvPicPr>
          <p:cNvPr id="1026" name="Picture 2" descr="C:\Apps\CCSTraining\WORKSHOP\CC2650\ss\2650lab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130007"/>
            <a:ext cx="6624736" cy="318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6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Step 1: Import </a:t>
            </a:r>
            <a:r>
              <a:rPr lang="en-US" i="1" dirty="0"/>
              <a:t>LCD SmartRF06RB </a:t>
            </a:r>
            <a:r>
              <a:rPr lang="en-CA" dirty="0" smtClean="0"/>
              <a:t>Project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33374" y="1185863"/>
            <a:ext cx="8343081" cy="469265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0" dirty="0" smtClean="0"/>
              <a:t>Follow </a:t>
            </a:r>
            <a:r>
              <a:rPr lang="en-US" b="1" dirty="0" smtClean="0"/>
              <a:t>Step 1</a:t>
            </a:r>
            <a:r>
              <a:rPr lang="en-US" b="0" dirty="0" smtClean="0"/>
              <a:t> and import </a:t>
            </a:r>
            <a:br>
              <a:rPr lang="en-US" b="0" dirty="0" smtClean="0"/>
            </a:br>
            <a:r>
              <a:rPr lang="en-US" b="0" dirty="0" smtClean="0"/>
              <a:t>the </a:t>
            </a:r>
            <a:r>
              <a:rPr lang="en-US" b="1" dirty="0" smtClean="0"/>
              <a:t>LCD SmartRF06RB</a:t>
            </a:r>
            <a:br>
              <a:rPr lang="en-US" b="1" dirty="0" smtClean="0"/>
            </a:br>
            <a:r>
              <a:rPr lang="en-US" b="0" dirty="0" smtClean="0"/>
              <a:t>project into the CCS </a:t>
            </a:r>
            <a:br>
              <a:rPr lang="en-US" b="0" dirty="0" smtClean="0"/>
            </a:br>
            <a:r>
              <a:rPr lang="en-US" b="0" dirty="0" smtClean="0"/>
              <a:t>Workspace by clicking on</a:t>
            </a:r>
            <a:br>
              <a:rPr lang="en-US" b="0" dirty="0" smtClean="0"/>
            </a:br>
            <a:r>
              <a:rPr lang="en-US" b="0" dirty="0" smtClean="0"/>
              <a:t>the </a:t>
            </a:r>
            <a:r>
              <a:rPr lang="en-US" b="1" dirty="0" smtClean="0"/>
              <a:t>Import the example </a:t>
            </a:r>
            <a:br>
              <a:rPr lang="en-US" b="1" dirty="0" smtClean="0"/>
            </a:br>
            <a:r>
              <a:rPr lang="en-US" b="1" dirty="0" smtClean="0"/>
              <a:t>project into CCS </a:t>
            </a:r>
            <a:r>
              <a:rPr lang="en-US" b="0" dirty="0" smtClean="0"/>
              <a:t>link</a:t>
            </a:r>
          </a:p>
          <a:p>
            <a:endParaRPr lang="en-US" sz="1400" b="0" dirty="0" smtClean="0"/>
          </a:p>
          <a:p>
            <a:endParaRPr lang="en-US" sz="1600" b="0" dirty="0" smtClean="0"/>
          </a:p>
        </p:txBody>
      </p:sp>
      <p:pic>
        <p:nvPicPr>
          <p:cNvPr id="2050" name="Picture 2" descr="C:\Apps\CCSTraining\WORKSHOP\CC2650\ss\2650lab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286082"/>
            <a:ext cx="51911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47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Step 1: Import </a:t>
            </a:r>
            <a:r>
              <a:rPr lang="en-US" i="1" dirty="0"/>
              <a:t>LCD SmartRF06RB </a:t>
            </a:r>
            <a:r>
              <a:rPr lang="en-CA" dirty="0" smtClean="0"/>
              <a:t>Project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33374" y="1185863"/>
            <a:ext cx="8283517" cy="4763417"/>
          </a:xfrm>
        </p:spPr>
        <p:txBody>
          <a:bodyPr/>
          <a:lstStyle/>
          <a:p>
            <a:r>
              <a:rPr lang="en-US" b="0" dirty="0" smtClean="0">
                <a:solidFill>
                  <a:srgbClr val="0066FF"/>
                </a:solidFill>
              </a:rPr>
              <a:t>The project will appear in the </a:t>
            </a:r>
            <a:r>
              <a:rPr lang="en-US" b="1" dirty="0" smtClean="0">
                <a:solidFill>
                  <a:srgbClr val="0066FF"/>
                </a:solidFill>
              </a:rPr>
              <a:t>Project Explorer</a:t>
            </a:r>
            <a:r>
              <a:rPr lang="en-US" b="0" dirty="0" smtClean="0">
                <a:solidFill>
                  <a:srgbClr val="0066FF"/>
                </a:solidFill>
              </a:rPr>
              <a:t> if the import is successful and a green checkmark will appear next to the link to indicate success</a:t>
            </a:r>
          </a:p>
          <a:p>
            <a:endParaRPr lang="en-US" sz="1400" b="0" dirty="0" smtClean="0"/>
          </a:p>
          <a:p>
            <a:endParaRPr lang="en-US" sz="1600" b="0" dirty="0" smtClean="0"/>
          </a:p>
        </p:txBody>
      </p:sp>
      <p:pic>
        <p:nvPicPr>
          <p:cNvPr id="3075" name="Picture 3" descr="C:\Apps\CCS4Training\GREE\pics\greenchec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1885350"/>
            <a:ext cx="360040" cy="352539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05" y="1181157"/>
            <a:ext cx="288000" cy="288000"/>
          </a:xfrm>
          <a:prstGeom prst="rect">
            <a:avLst/>
          </a:prstGeom>
        </p:spPr>
      </p:pic>
      <p:pic>
        <p:nvPicPr>
          <p:cNvPr id="3074" name="Picture 2" descr="C:\Apps\CCSTraining\WORKSHOP\CC2650\ss\2650lab0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71195"/>
            <a:ext cx="8830239" cy="375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2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Step 2: Build </a:t>
            </a:r>
            <a:r>
              <a:rPr lang="en-US" i="1" dirty="0"/>
              <a:t>LCD SmartRF06RB </a:t>
            </a:r>
            <a:r>
              <a:rPr lang="en-CA" dirty="0" smtClean="0"/>
              <a:t>Project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33374" y="1185863"/>
            <a:ext cx="8487097" cy="4692650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0" dirty="0" smtClean="0"/>
              <a:t>Follow </a:t>
            </a:r>
            <a:r>
              <a:rPr lang="en-US" b="1" dirty="0" smtClean="0"/>
              <a:t>Step 2</a:t>
            </a:r>
            <a:r>
              <a:rPr lang="en-US" b="0" dirty="0" smtClean="0"/>
              <a:t> and build the </a:t>
            </a:r>
            <a:r>
              <a:rPr lang="en-US" b="1" dirty="0"/>
              <a:t>LCD SmartRF06RB </a:t>
            </a:r>
            <a:r>
              <a:rPr lang="en-US" b="0" dirty="0" smtClean="0"/>
              <a:t>project by clicking on the </a:t>
            </a:r>
            <a:r>
              <a:rPr lang="en-US" b="1" dirty="0" smtClean="0"/>
              <a:t>Build the imported project </a:t>
            </a:r>
            <a:r>
              <a:rPr lang="en-US" dirty="0" smtClean="0"/>
              <a:t>link</a:t>
            </a:r>
          </a:p>
          <a:p>
            <a:r>
              <a:rPr lang="en-US" b="0" dirty="0" smtClean="0">
                <a:solidFill>
                  <a:srgbClr val="0066FF"/>
                </a:solidFill>
              </a:rPr>
              <a:t>The build </a:t>
            </a:r>
            <a:r>
              <a:rPr lang="en-US" b="1" dirty="0" smtClean="0">
                <a:solidFill>
                  <a:srgbClr val="0066FF"/>
                </a:solidFill>
              </a:rPr>
              <a:t>Console</a:t>
            </a:r>
            <a:r>
              <a:rPr lang="en-US" b="0" dirty="0" smtClean="0">
                <a:solidFill>
                  <a:srgbClr val="0066FF"/>
                </a:solidFill>
              </a:rPr>
              <a:t> view will appear along the bottom with build messages as the project builds</a:t>
            </a:r>
          </a:p>
          <a:p>
            <a:r>
              <a:rPr lang="en-US" b="0" dirty="0" smtClean="0">
                <a:solidFill>
                  <a:srgbClr val="0066FF"/>
                </a:solidFill>
              </a:rPr>
              <a:t>If the build is successful, a green checkmark will appear next to the link to indicate success</a:t>
            </a:r>
          </a:p>
          <a:p>
            <a:endParaRPr lang="en-US" sz="1600" b="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1" y="2058196"/>
            <a:ext cx="288000" cy="2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21" y="2866399"/>
            <a:ext cx="288000" cy="288000"/>
          </a:xfrm>
          <a:prstGeom prst="rect">
            <a:avLst/>
          </a:prstGeom>
        </p:spPr>
      </p:pic>
      <p:pic>
        <p:nvPicPr>
          <p:cNvPr id="4098" name="Picture 2" descr="C:\Apps\CCSTraining\WORKSHOP\CC2650\ss\2650lab0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486233"/>
            <a:ext cx="6480720" cy="27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29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Step 3: Specify </a:t>
            </a:r>
            <a:r>
              <a:rPr lang="en-CA" i="1" dirty="0" smtClean="0"/>
              <a:t>Debugger Configuration</a:t>
            </a:r>
            <a:endParaRPr lang="en-US" i="1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33374" y="1185863"/>
            <a:ext cx="8353426" cy="4571053"/>
          </a:xfrm>
        </p:spPr>
        <p:txBody>
          <a:bodyPr/>
          <a:lstStyle/>
          <a:p>
            <a:r>
              <a:rPr lang="en-US" b="0" dirty="0" smtClean="0">
                <a:solidFill>
                  <a:srgbClr val="0066FF"/>
                </a:solidFill>
              </a:rPr>
              <a:t>Note </a:t>
            </a:r>
            <a:r>
              <a:rPr lang="en-US" dirty="0">
                <a:solidFill>
                  <a:srgbClr val="0066FF"/>
                </a:solidFill>
              </a:rPr>
              <a:t>that a green </a:t>
            </a:r>
            <a:r>
              <a:rPr lang="en-US" dirty="0" smtClean="0">
                <a:solidFill>
                  <a:srgbClr val="0066FF"/>
                </a:solidFill>
              </a:rPr>
              <a:t>checkmark exists for </a:t>
            </a:r>
            <a:r>
              <a:rPr lang="en-US" b="1" dirty="0" smtClean="0">
                <a:solidFill>
                  <a:srgbClr val="0066FF"/>
                </a:solidFill>
              </a:rPr>
              <a:t>Step 3</a:t>
            </a:r>
            <a:r>
              <a:rPr lang="en-US" dirty="0" smtClean="0">
                <a:solidFill>
                  <a:srgbClr val="0066FF"/>
                </a:solidFill>
              </a:rPr>
              <a:t> since </a:t>
            </a:r>
            <a:r>
              <a:rPr lang="en-US" b="0" dirty="0" smtClean="0">
                <a:solidFill>
                  <a:srgbClr val="0066FF"/>
                </a:solidFill>
              </a:rPr>
              <a:t>the </a:t>
            </a:r>
            <a:r>
              <a:rPr lang="en-US" b="1" dirty="0" smtClean="0">
                <a:solidFill>
                  <a:srgbClr val="0066FF"/>
                </a:solidFill>
              </a:rPr>
              <a:t>Connection</a:t>
            </a:r>
            <a:r>
              <a:rPr lang="en-US" b="0" dirty="0" smtClean="0">
                <a:solidFill>
                  <a:srgbClr val="0066FF"/>
                </a:solidFill>
              </a:rPr>
              <a:t> type is already defined 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The emulator connection is already specified in the project properties and a target configuration was generated on project import (</a:t>
            </a:r>
            <a:r>
              <a:rPr lang="en-US" b="1" dirty="0" smtClean="0">
                <a:solidFill>
                  <a:srgbClr val="0066FF"/>
                </a:solidFill>
              </a:rPr>
              <a:t>Step 1</a:t>
            </a:r>
            <a:r>
              <a:rPr lang="en-US" dirty="0" smtClean="0">
                <a:solidFill>
                  <a:srgbClr val="0066FF"/>
                </a:solidFill>
              </a:rPr>
              <a:t>)</a:t>
            </a:r>
            <a:endParaRPr lang="en-US" sz="1600" b="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96752"/>
            <a:ext cx="288000" cy="288000"/>
          </a:xfrm>
          <a:prstGeom prst="rect">
            <a:avLst/>
          </a:prstGeom>
        </p:spPr>
      </p:pic>
      <p:pic>
        <p:nvPicPr>
          <p:cNvPr id="5122" name="Picture 2" descr="C:\Apps\CCSTraining\WORKSHOP\CC2650\ss\2650lab0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2708920"/>
            <a:ext cx="5267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33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Step 4: Debug </a:t>
            </a:r>
            <a:r>
              <a:rPr lang="en-US" i="1" dirty="0"/>
              <a:t>LCD SmartRF06RB </a:t>
            </a:r>
            <a:r>
              <a:rPr lang="en-CA" dirty="0" smtClean="0"/>
              <a:t>Project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33375" y="1185863"/>
            <a:ext cx="8464674" cy="5036244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0" dirty="0" smtClean="0"/>
              <a:t>Follow </a:t>
            </a:r>
            <a:r>
              <a:rPr lang="en-US" b="1" dirty="0" smtClean="0"/>
              <a:t>Step 4</a:t>
            </a:r>
            <a:r>
              <a:rPr lang="en-US" b="0" dirty="0" smtClean="0"/>
              <a:t> and debug the project by clicking on the </a:t>
            </a:r>
            <a:r>
              <a:rPr lang="en-US" b="1" dirty="0" smtClean="0"/>
              <a:t>Debug the imported project</a:t>
            </a:r>
            <a:r>
              <a:rPr lang="en-US" b="0" i="1" dirty="0" smtClean="0"/>
              <a:t> </a:t>
            </a:r>
            <a:r>
              <a:rPr lang="en-US" b="0" dirty="0" smtClean="0"/>
              <a:t>link</a:t>
            </a:r>
          </a:p>
          <a:p>
            <a:r>
              <a:rPr lang="en-CA" b="0" dirty="0" smtClean="0">
                <a:solidFill>
                  <a:srgbClr val="0066FF"/>
                </a:solidFill>
              </a:rPr>
              <a:t>Several actions are done automatically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Prompt to save source files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Build the project (incrementally)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Start the debugger (CCS will switch to the </a:t>
            </a:r>
            <a:r>
              <a:rPr lang="en-CA" b="1" dirty="0" smtClean="0">
                <a:solidFill>
                  <a:srgbClr val="0066FF"/>
                </a:solidFill>
              </a:rPr>
              <a:t>CCS Debug </a:t>
            </a:r>
            <a:r>
              <a:rPr lang="en-CA" dirty="0" smtClean="0">
                <a:solidFill>
                  <a:srgbClr val="0066FF"/>
                </a:solidFill>
              </a:rPr>
              <a:t>perspective)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Connect CCS to the target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Load (flash) the program on the </a:t>
            </a:r>
            <a:br>
              <a:rPr lang="en-CA" dirty="0" smtClean="0">
                <a:solidFill>
                  <a:srgbClr val="0066FF"/>
                </a:solidFill>
              </a:rPr>
            </a:br>
            <a:r>
              <a:rPr lang="en-CA" dirty="0" smtClean="0">
                <a:solidFill>
                  <a:srgbClr val="0066FF"/>
                </a:solidFill>
              </a:rPr>
              <a:t>target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Run to </a:t>
            </a:r>
            <a:r>
              <a:rPr lang="en-CA" b="1" dirty="0" smtClean="0">
                <a:solidFill>
                  <a:srgbClr val="0066FF"/>
                </a:solidFill>
              </a:rPr>
              <a:t>main</a:t>
            </a:r>
          </a:p>
          <a:p>
            <a:r>
              <a:rPr lang="en-CA" b="0" dirty="0" smtClean="0">
                <a:solidFill>
                  <a:srgbClr val="0066FF"/>
                </a:solidFill>
              </a:rPr>
              <a:t>Don’t want it to do all of the </a:t>
            </a:r>
            <a:br>
              <a:rPr lang="en-CA" b="0" dirty="0" smtClean="0">
                <a:solidFill>
                  <a:srgbClr val="0066FF"/>
                </a:solidFill>
              </a:rPr>
            </a:br>
            <a:r>
              <a:rPr lang="en-CA" b="0" dirty="0" smtClean="0">
                <a:solidFill>
                  <a:srgbClr val="0066FF"/>
                </a:solidFill>
              </a:rPr>
              <a:t>above at once? You can </a:t>
            </a:r>
            <a:br>
              <a:rPr lang="en-CA" b="0" dirty="0" smtClean="0">
                <a:solidFill>
                  <a:srgbClr val="0066FF"/>
                </a:solidFill>
              </a:rPr>
            </a:br>
            <a:r>
              <a:rPr lang="en-CA" b="0" dirty="0" smtClean="0">
                <a:solidFill>
                  <a:srgbClr val="0066FF"/>
                </a:solidFill>
              </a:rPr>
              <a:t>configure it to skip some steps (</a:t>
            </a:r>
            <a:r>
              <a:rPr lang="en-CA" b="1" dirty="0" smtClean="0">
                <a:solidFill>
                  <a:srgbClr val="0066FF"/>
                </a:solidFill>
              </a:rPr>
              <a:t>Debugger Options</a:t>
            </a:r>
            <a:r>
              <a:rPr lang="en-CA" b="0" dirty="0" smtClean="0">
                <a:solidFill>
                  <a:srgbClr val="0066FF"/>
                </a:solidFill>
              </a:rPr>
              <a:t>)</a:t>
            </a:r>
          </a:p>
          <a:p>
            <a:endParaRPr lang="en-US" sz="1800" b="0" dirty="0" smtClean="0"/>
          </a:p>
          <a:p>
            <a:endParaRPr lang="en-US" sz="1800" b="0" dirty="0" smtClean="0"/>
          </a:p>
          <a:p>
            <a:endParaRPr lang="en-US" sz="1600" b="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82" y="2049000"/>
            <a:ext cx="288000" cy="2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82" y="4741509"/>
            <a:ext cx="288000" cy="288000"/>
          </a:xfrm>
          <a:prstGeom prst="rect">
            <a:avLst/>
          </a:prstGeom>
        </p:spPr>
      </p:pic>
      <p:pic>
        <p:nvPicPr>
          <p:cNvPr id="6146" name="Picture 2" descr="C:\Apps\CCSTraining\WORKSHOP\CC2650\ss\2650lab0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013" y="3501008"/>
            <a:ext cx="471487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98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Apps\CCSTraining\WORKSHOP\CC2650\ss\2650lab0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08" y="908719"/>
            <a:ext cx="8459663" cy="534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39549" y="1412776"/>
            <a:ext cx="8208915" cy="2589324"/>
            <a:chOff x="992444" y="1325822"/>
            <a:chExt cx="7638840" cy="2470687"/>
          </a:xfrm>
        </p:grpSpPr>
        <p:sp>
          <p:nvSpPr>
            <p:cNvPr id="92164" name="Rounded Rectangle 5"/>
            <p:cNvSpPr>
              <a:spLocks noChangeArrowheads="1"/>
            </p:cNvSpPr>
            <p:nvPr/>
          </p:nvSpPr>
          <p:spPr bwMode="auto">
            <a:xfrm>
              <a:off x="2268537" y="3471592"/>
              <a:ext cx="1940262" cy="324917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CA" sz="1400" dirty="0">
                  <a:latin typeface="Arial Narrow" panose="020B0606020202030204" pitchFamily="34" charset="0"/>
                </a:rPr>
                <a:t>Program counter at </a:t>
              </a:r>
              <a:r>
                <a:rPr lang="en-CA" sz="1400" b="1" dirty="0" smtClean="0">
                  <a:latin typeface="Arial Narrow" panose="020B0606020202030204" pitchFamily="34" charset="0"/>
                </a:rPr>
                <a:t>main</a:t>
              </a:r>
              <a:endParaRPr lang="en-CA" sz="1000" dirty="0">
                <a:latin typeface="Arial Narrow" panose="020B0606020202030204" pitchFamily="34" charset="0"/>
              </a:endParaRPr>
            </a:p>
          </p:txBody>
        </p:sp>
        <p:sp>
          <p:nvSpPr>
            <p:cNvPr id="92169" name="Line 12"/>
            <p:cNvSpPr>
              <a:spLocks noChangeShapeType="1"/>
            </p:cNvSpPr>
            <p:nvPr/>
          </p:nvSpPr>
          <p:spPr bwMode="auto">
            <a:xfrm flipH="1" flipV="1">
              <a:off x="992444" y="3471592"/>
              <a:ext cx="1276092" cy="2158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171" name="Rounded Rectangle 5"/>
            <p:cNvSpPr>
              <a:spLocks noChangeArrowheads="1"/>
            </p:cNvSpPr>
            <p:nvPr/>
          </p:nvSpPr>
          <p:spPr bwMode="auto">
            <a:xfrm>
              <a:off x="6843407" y="1919701"/>
              <a:ext cx="1787877" cy="552359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CA" sz="1400" dirty="0">
                  <a:latin typeface="Arial Narrow" panose="020B0606020202030204" pitchFamily="34" charset="0"/>
                </a:rPr>
                <a:t>Switched to </a:t>
              </a:r>
              <a:r>
                <a:rPr lang="en-CA" sz="1400" b="1" dirty="0" smtClean="0">
                  <a:latin typeface="Arial Narrow" panose="020B0606020202030204" pitchFamily="34" charset="0"/>
                </a:rPr>
                <a:t>CCS Debug</a:t>
              </a:r>
              <a:r>
                <a:rPr lang="en-CA" sz="1400" dirty="0" smtClean="0">
                  <a:latin typeface="Arial Narrow" panose="020B0606020202030204" pitchFamily="34" charset="0"/>
                </a:rPr>
                <a:t> perspective</a:t>
              </a:r>
              <a:endParaRPr lang="en-CA" sz="1400" dirty="0">
                <a:latin typeface="Arial Narrow" panose="020B0606020202030204" pitchFamily="34" charset="0"/>
              </a:endParaRPr>
            </a:p>
          </p:txBody>
        </p:sp>
        <p:sp>
          <p:nvSpPr>
            <p:cNvPr id="92172" name="Line 15"/>
            <p:cNvSpPr>
              <a:spLocks noChangeShapeType="1"/>
            </p:cNvSpPr>
            <p:nvPr/>
          </p:nvSpPr>
          <p:spPr bwMode="auto">
            <a:xfrm flipH="1" flipV="1">
              <a:off x="8162233" y="1325822"/>
              <a:ext cx="0" cy="5938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5496" y="142875"/>
            <a:ext cx="9108504" cy="814388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Debug Session for </a:t>
            </a:r>
            <a:r>
              <a:rPr lang="en-US" i="1" dirty="0"/>
              <a:t>LCD SmartRF06RB</a:t>
            </a:r>
            <a:r>
              <a:rPr lang="en-US" dirty="0"/>
              <a:t> </a:t>
            </a:r>
            <a:r>
              <a:rPr lang="en-CA" dirty="0" smtClean="0"/>
              <a:t>Project</a:t>
            </a:r>
            <a:endParaRPr lang="en-US" dirty="0"/>
          </a:p>
        </p:txBody>
      </p:sp>
      <p:sp>
        <p:nvSpPr>
          <p:cNvPr id="10" name="Rounded Rectangle 5"/>
          <p:cNvSpPr>
            <a:spLocks noChangeArrowheads="1"/>
          </p:cNvSpPr>
          <p:nvPr/>
        </p:nvSpPr>
        <p:spPr bwMode="auto">
          <a:xfrm>
            <a:off x="2627785" y="2614054"/>
            <a:ext cx="1962854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Debug</a:t>
            </a:r>
            <a:r>
              <a:rPr lang="en-CA" sz="1400" dirty="0" smtClean="0">
                <a:latin typeface="Arial Narrow" panose="020B0606020202030204" pitchFamily="34" charset="0"/>
              </a:rPr>
              <a:t> view for project being debugger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cxnSp>
        <p:nvCxnSpPr>
          <p:cNvPr id="5" name="Straight Arrow Connector 4"/>
          <p:cNvCxnSpPr>
            <a:stCxn id="10" idx="0"/>
          </p:cNvCxnSpPr>
          <p:nvPr/>
        </p:nvCxnSpPr>
        <p:spPr>
          <a:xfrm flipH="1" flipV="1">
            <a:off x="3419874" y="2324614"/>
            <a:ext cx="189338" cy="28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225211" y="1268760"/>
            <a:ext cx="3130765" cy="2160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5"/>
          <p:cNvSpPr>
            <a:spLocks noChangeArrowheads="1"/>
          </p:cNvSpPr>
          <p:nvPr/>
        </p:nvSpPr>
        <p:spPr bwMode="auto">
          <a:xfrm>
            <a:off x="4707022" y="1087331"/>
            <a:ext cx="2025218" cy="340519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Target execution toolbar</a:t>
            </a:r>
            <a:endParaRPr lang="en-CA" sz="1400" dirty="0">
              <a:latin typeface="Arial Narrow" panose="020B0606020202030204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355976" y="1257590"/>
            <a:ext cx="351046" cy="1191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5"/>
          <p:cNvSpPr>
            <a:spLocks noChangeArrowheads="1"/>
          </p:cNvSpPr>
          <p:nvPr/>
        </p:nvSpPr>
        <p:spPr bwMode="auto">
          <a:xfrm>
            <a:off x="1629040" y="4360877"/>
            <a:ext cx="1939719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Debug messages in the </a:t>
            </a:r>
            <a:r>
              <a:rPr lang="en-CA" sz="1400" b="1" dirty="0" smtClean="0">
                <a:latin typeface="Arial Narrow" panose="020B0606020202030204" pitchFamily="34" charset="0"/>
              </a:rPr>
              <a:t>Console</a:t>
            </a:r>
            <a:r>
              <a:rPr lang="en-CA" sz="1400" dirty="0" smtClean="0">
                <a:latin typeface="Arial Narrow" panose="020B0606020202030204" pitchFamily="34" charset="0"/>
              </a:rPr>
              <a:t> view</a:t>
            </a:r>
            <a:endParaRPr lang="en-CA" sz="1400" dirty="0">
              <a:latin typeface="Arial Narrow" panose="020B0606020202030204" pitchFamily="34" charset="0"/>
            </a:endParaRPr>
          </a:p>
        </p:txBody>
      </p:sp>
      <p:cxnSp>
        <p:nvCxnSpPr>
          <p:cNvPr id="8" name="Straight Arrow Connector 7"/>
          <p:cNvCxnSpPr>
            <a:stCxn id="16" idx="1"/>
          </p:cNvCxnSpPr>
          <p:nvPr/>
        </p:nvCxnSpPr>
        <p:spPr>
          <a:xfrm flipH="1">
            <a:off x="1066481" y="4650318"/>
            <a:ext cx="562559" cy="3628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95536" y="5013176"/>
            <a:ext cx="8352928" cy="10081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>
              <a:defRPr/>
            </a:pPr>
            <a:r>
              <a:rPr lang="en-C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Run 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LCD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SmartRF06RB </a:t>
            </a:r>
            <a:r>
              <a:rPr lang="en-C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Program</a:t>
            </a:r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CA" dirty="0" smtClean="0"/>
              <a:t>Press the </a:t>
            </a:r>
            <a:r>
              <a:rPr lang="en-CA" b="1" dirty="0" smtClean="0"/>
              <a:t>Resume </a:t>
            </a:r>
            <a:r>
              <a:rPr lang="en-CA" dirty="0" smtClean="0"/>
              <a:t>button      (in the target execution toolbar) to run the program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Program will run and text will be displayed to the LCD</a:t>
            </a:r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36550" indent="-342900">
              <a:buFont typeface="+mj-lt"/>
              <a:buAutoNum type="arabicPeriod"/>
            </a:pPr>
            <a:r>
              <a:rPr lang="en-CA" dirty="0"/>
              <a:t>Press the </a:t>
            </a:r>
            <a:r>
              <a:rPr lang="en-CA" b="1" dirty="0" smtClean="0"/>
              <a:t>Suspend</a:t>
            </a:r>
            <a:r>
              <a:rPr lang="en-CA" dirty="0" smtClean="0"/>
              <a:t> button     to halt the target </a:t>
            </a:r>
          </a:p>
          <a:p>
            <a:pPr marL="336550" indent="-342900">
              <a:buFont typeface="+mj-lt"/>
              <a:buAutoNum type="arabicPeriod"/>
            </a:pPr>
            <a:r>
              <a:rPr lang="en-CA" dirty="0" smtClean="0"/>
              <a:t>Press the </a:t>
            </a:r>
            <a:r>
              <a:rPr lang="en-CA" b="1" dirty="0" smtClean="0"/>
              <a:t>Terminate</a:t>
            </a:r>
            <a:r>
              <a:rPr lang="en-CA" dirty="0" smtClean="0"/>
              <a:t> </a:t>
            </a:r>
            <a:r>
              <a:rPr lang="en-CA" dirty="0"/>
              <a:t>button     to terminate the debugger</a:t>
            </a:r>
            <a:endParaRPr lang="en-CA" dirty="0">
              <a:solidFill>
                <a:srgbClr val="0066FF"/>
              </a:solidFill>
            </a:endParaRPr>
          </a:p>
          <a:p>
            <a:pPr marL="633412" lvl="1" indent="-285750"/>
            <a:r>
              <a:rPr lang="en-CA" dirty="0">
                <a:solidFill>
                  <a:srgbClr val="0066FF"/>
                </a:solidFill>
              </a:rPr>
              <a:t>This will terminate the debug session and switch back to the </a:t>
            </a:r>
            <a:r>
              <a:rPr lang="en-CA" b="1" dirty="0">
                <a:solidFill>
                  <a:srgbClr val="0066FF"/>
                </a:solidFill>
              </a:rPr>
              <a:t>CCS Edit</a:t>
            </a:r>
            <a:r>
              <a:rPr lang="en-CA" dirty="0">
                <a:solidFill>
                  <a:srgbClr val="0066FF"/>
                </a:solidFill>
              </a:rPr>
              <a:t> perspective</a:t>
            </a:r>
          </a:p>
          <a:p>
            <a:pPr marL="341312" lvl="1" indent="0">
              <a:buNone/>
            </a:pPr>
            <a:endParaRPr lang="en-CA" sz="1600" dirty="0" smtClean="0"/>
          </a:p>
          <a:p>
            <a:pPr marL="347662" lvl="1" indent="0">
              <a:buNone/>
            </a:pPr>
            <a:endParaRPr lang="en-CA" dirty="0" smtClean="0"/>
          </a:p>
        </p:txBody>
      </p:sp>
      <p:pic>
        <p:nvPicPr>
          <p:cNvPr id="100355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8879" y="1270234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9" y="1852586"/>
            <a:ext cx="288000" cy="288000"/>
          </a:xfrm>
          <a:prstGeom prst="rect">
            <a:avLst/>
          </a:prstGeom>
        </p:spPr>
      </p:pic>
      <p:pic>
        <p:nvPicPr>
          <p:cNvPr id="8195" name="Picture 3" descr="C:\Apps\CCSTraining\WORKSHOP\CC2650\ss\20150209_232728_sm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65" y="2243251"/>
            <a:ext cx="3212331" cy="24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95" y="5229200"/>
            <a:ext cx="1905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65" y="5589240"/>
            <a:ext cx="288000" cy="2880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195" y="4797152"/>
            <a:ext cx="2095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07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LAB1A</a:t>
            </a:r>
            <a:r>
              <a:rPr lang="en-CA" dirty="0" smtClean="0"/>
              <a:t>: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1196752"/>
            <a:ext cx="8467725" cy="4968552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In this lab we completed the following: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Used the Resource Explorer to import build and debug the </a:t>
            </a:r>
            <a:r>
              <a:rPr lang="en-US" b="1" dirty="0" smtClean="0">
                <a:solidFill>
                  <a:srgbClr val="0066FF"/>
                </a:solidFill>
              </a:rPr>
              <a:t>LCD </a:t>
            </a:r>
            <a:r>
              <a:rPr lang="en-US" b="1" dirty="0">
                <a:solidFill>
                  <a:srgbClr val="0066FF"/>
                </a:solidFill>
              </a:rPr>
              <a:t>SmartRF06EB</a:t>
            </a:r>
            <a:r>
              <a:rPr lang="en-CA" dirty="0" smtClean="0">
                <a:solidFill>
                  <a:srgbClr val="0066FF"/>
                </a:solidFill>
              </a:rPr>
              <a:t> example</a:t>
            </a:r>
          </a:p>
          <a:p>
            <a:pPr lvl="1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15947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3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755576" y="242088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1B: More basics: </a:t>
            </a:r>
            <a:br>
              <a:rPr lang="en-CA" dirty="0" smtClean="0"/>
            </a:br>
            <a:r>
              <a:rPr lang="en-US" dirty="0" smtClean="0"/>
              <a:t>LCD </a:t>
            </a:r>
            <a:r>
              <a:rPr lang="en-US" dirty="0"/>
              <a:t>SmartRF06EB </a:t>
            </a:r>
            <a:r>
              <a:rPr lang="en-US" dirty="0" smtClean="0"/>
              <a:t>Example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 smtClean="0"/>
              <a:t>15 minutes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304967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>
          <a:xfrm>
            <a:off x="231774" y="142875"/>
            <a:ext cx="8912225" cy="814388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1B: Exercise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836712"/>
            <a:ext cx="8467725" cy="5411489"/>
          </a:xfrm>
        </p:spPr>
        <p:txBody>
          <a:bodyPr/>
          <a:lstStyle/>
          <a:p>
            <a:r>
              <a:rPr lang="en-CA" dirty="0">
                <a:solidFill>
                  <a:srgbClr val="0066FF"/>
                </a:solidFill>
              </a:rPr>
              <a:t>Key Objectives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Use the </a:t>
            </a:r>
            <a:r>
              <a:rPr lang="en-US" b="1" dirty="0" smtClean="0">
                <a:solidFill>
                  <a:srgbClr val="0066FF"/>
                </a:solidFill>
              </a:rPr>
              <a:t>Memory </a:t>
            </a:r>
            <a:r>
              <a:rPr lang="en-US" b="1" dirty="0">
                <a:solidFill>
                  <a:srgbClr val="0066FF"/>
                </a:solidFill>
              </a:rPr>
              <a:t>Allocation </a:t>
            </a:r>
            <a:r>
              <a:rPr lang="en-US" dirty="0" smtClean="0">
                <a:solidFill>
                  <a:srgbClr val="0066FF"/>
                </a:solidFill>
              </a:rPr>
              <a:t>view to determine code size usage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Analyze the advice from the </a:t>
            </a:r>
            <a:r>
              <a:rPr lang="en-US" b="1" dirty="0" smtClean="0">
                <a:solidFill>
                  <a:srgbClr val="0066FF"/>
                </a:solidFill>
              </a:rPr>
              <a:t>Optimizer Assistant</a:t>
            </a:r>
            <a:r>
              <a:rPr lang="en-US" dirty="0" smtClean="0">
                <a:solidFill>
                  <a:srgbClr val="0066FF"/>
                </a:solidFill>
              </a:rPr>
              <a:t> in the </a:t>
            </a:r>
            <a:r>
              <a:rPr lang="en-US" b="1" dirty="0" smtClean="0">
                <a:solidFill>
                  <a:srgbClr val="0066FF"/>
                </a:solidFill>
              </a:rPr>
              <a:t>Advice</a:t>
            </a:r>
            <a:r>
              <a:rPr lang="en-US" dirty="0" smtClean="0">
                <a:solidFill>
                  <a:srgbClr val="0066FF"/>
                </a:solidFill>
              </a:rPr>
              <a:t> view</a:t>
            </a:r>
            <a:endParaRPr lang="en-US" dirty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Enable optimization in the </a:t>
            </a:r>
            <a:r>
              <a:rPr lang="en-US" b="1" dirty="0" smtClean="0">
                <a:solidFill>
                  <a:srgbClr val="0066FF"/>
                </a:solidFill>
              </a:rPr>
              <a:t>Project </a:t>
            </a:r>
            <a:r>
              <a:rPr lang="en-US" b="1" dirty="0">
                <a:solidFill>
                  <a:srgbClr val="0066FF"/>
                </a:solidFill>
              </a:rPr>
              <a:t>Properties</a:t>
            </a:r>
          </a:p>
          <a:p>
            <a:pPr lvl="1"/>
            <a:r>
              <a:rPr lang="en-CA" dirty="0">
                <a:solidFill>
                  <a:srgbClr val="0066FF"/>
                </a:solidFill>
              </a:rPr>
              <a:t>Get familiar with </a:t>
            </a:r>
            <a:r>
              <a:rPr lang="en-CA" b="1" dirty="0">
                <a:solidFill>
                  <a:srgbClr val="0066FF"/>
                </a:solidFill>
              </a:rPr>
              <a:t>Simple Mode</a:t>
            </a:r>
          </a:p>
          <a:p>
            <a:r>
              <a:rPr lang="en-CA" dirty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CA" b="1" dirty="0">
                <a:solidFill>
                  <a:srgbClr val="0066FF"/>
                </a:solidFill>
              </a:rPr>
              <a:t>Memory Allocation </a:t>
            </a:r>
            <a:r>
              <a:rPr lang="en-CA" dirty="0" smtClean="0">
                <a:solidFill>
                  <a:srgbClr val="0066FF"/>
                </a:solidFill>
              </a:rPr>
              <a:t>view</a:t>
            </a:r>
          </a:p>
          <a:p>
            <a:pPr lvl="1"/>
            <a:r>
              <a:rPr lang="en-CA" b="1" dirty="0" smtClean="0">
                <a:solidFill>
                  <a:srgbClr val="0066FF"/>
                </a:solidFill>
              </a:rPr>
              <a:t>Optimizer Assistant</a:t>
            </a:r>
          </a:p>
          <a:p>
            <a:pPr lvl="1"/>
            <a:r>
              <a:rPr lang="en-CA" b="1" dirty="0" smtClean="0">
                <a:solidFill>
                  <a:srgbClr val="0066FF"/>
                </a:solidFill>
              </a:rPr>
              <a:t>Advice</a:t>
            </a:r>
            <a:r>
              <a:rPr lang="en-CA" dirty="0" smtClean="0">
                <a:solidFill>
                  <a:srgbClr val="0066FF"/>
                </a:solidFill>
              </a:rPr>
              <a:t> view</a:t>
            </a:r>
            <a:endParaRPr lang="en-CA" dirty="0">
              <a:solidFill>
                <a:srgbClr val="0066FF"/>
              </a:solidFill>
            </a:endParaRPr>
          </a:p>
          <a:p>
            <a:pPr lvl="1"/>
            <a:r>
              <a:rPr lang="en-CA" b="1" dirty="0">
                <a:solidFill>
                  <a:srgbClr val="0066FF"/>
                </a:solidFill>
              </a:rPr>
              <a:t>Project Properties</a:t>
            </a:r>
          </a:p>
          <a:p>
            <a:pPr lvl="1"/>
            <a:r>
              <a:rPr lang="en-CA" b="1" dirty="0">
                <a:solidFill>
                  <a:srgbClr val="0066FF"/>
                </a:solidFill>
              </a:rPr>
              <a:t>Simple Mode</a:t>
            </a:r>
          </a:p>
        </p:txBody>
      </p:sp>
    </p:spTree>
    <p:extLst>
      <p:ext uri="{BB962C8B-B14F-4D97-AF65-F5344CB8AC3E}">
        <p14:creationId xmlns:p14="http://schemas.microsoft.com/office/powerpoint/2010/main" val="100884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 smtClean="0"/>
              <a:t>Open the </a:t>
            </a:r>
            <a:r>
              <a:rPr lang="en-CA" b="1" dirty="0" smtClean="0"/>
              <a:t>Memory Allocation</a:t>
            </a:r>
            <a:r>
              <a:rPr lang="en-CA" dirty="0" smtClean="0"/>
              <a:t> view via </a:t>
            </a:r>
            <a:r>
              <a:rPr lang="en-CA" i="1" dirty="0" smtClean="0"/>
              <a:t>View -&gt; Memory Allocation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The </a:t>
            </a:r>
            <a:r>
              <a:rPr lang="en-CA" b="1" dirty="0" smtClean="0">
                <a:solidFill>
                  <a:srgbClr val="0066FF"/>
                </a:solidFill>
              </a:rPr>
              <a:t>Memory Allocation</a:t>
            </a:r>
            <a:r>
              <a:rPr lang="en-CA" dirty="0" smtClean="0">
                <a:solidFill>
                  <a:srgbClr val="0066FF"/>
                </a:solidFill>
              </a:rPr>
              <a:t> view is a graphical display of the memory allocation of the program</a:t>
            </a:r>
          </a:p>
          <a:p>
            <a:pPr lvl="1"/>
            <a:endParaRPr lang="en-CA" dirty="0">
              <a:solidFill>
                <a:srgbClr val="0066FF"/>
              </a:solidFill>
            </a:endParaRP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pPr lvl="1"/>
            <a:endParaRPr lang="en-CA" dirty="0">
              <a:solidFill>
                <a:srgbClr val="0066FF"/>
              </a:solidFill>
            </a:endParaRP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pPr lvl="1"/>
            <a:endParaRPr lang="en-CA" dirty="0">
              <a:solidFill>
                <a:srgbClr val="0066FF"/>
              </a:solidFill>
            </a:endParaRP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pPr lvl="1"/>
            <a:endParaRPr lang="en-CA" dirty="0">
              <a:solidFill>
                <a:srgbClr val="0066FF"/>
              </a:solidFill>
            </a:endParaRP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Note the total allocation size in </a:t>
            </a:r>
            <a:r>
              <a:rPr lang="en-CA" dirty="0" smtClean="0">
                <a:solidFill>
                  <a:srgbClr val="0066FF"/>
                </a:solidFill>
              </a:rPr>
              <a:t>FLASH </a:t>
            </a:r>
            <a:endParaRPr lang="en-CA" sz="2200" i="1" dirty="0" smtClean="0"/>
          </a:p>
          <a:p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r>
              <a:rPr lang="en-CA" dirty="0" smtClean="0"/>
              <a:t/>
            </a:r>
            <a:br>
              <a:rPr lang="en-CA" dirty="0" smtClean="0"/>
            </a:br>
            <a:endParaRPr lang="en-CA" dirty="0" smtClean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View: </a:t>
            </a:r>
            <a:r>
              <a:rPr lang="en-CA" i="1" dirty="0" smtClean="0"/>
              <a:t>Memory Allocation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6" y="1594987"/>
            <a:ext cx="288000" cy="288000"/>
          </a:xfrm>
          <a:prstGeom prst="rect">
            <a:avLst/>
          </a:prstGeom>
        </p:spPr>
      </p:pic>
      <p:pic>
        <p:nvPicPr>
          <p:cNvPr id="1026" name="Picture 2" descr="C:\Apps\CCSTraining\WORKSHOP\CC2650\ss\2650lab13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09" y="2348880"/>
            <a:ext cx="7754590" cy="248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6" y="4830240"/>
            <a:ext cx="288000" cy="288000"/>
          </a:xfrm>
          <a:prstGeom prst="rect">
            <a:avLst/>
          </a:prstGeom>
        </p:spPr>
      </p:pic>
      <p:sp>
        <p:nvSpPr>
          <p:cNvPr id="8" name="Rounded Rectangle 5"/>
          <p:cNvSpPr>
            <a:spLocks noChangeArrowheads="1"/>
          </p:cNvSpPr>
          <p:nvPr/>
        </p:nvSpPr>
        <p:spPr bwMode="auto">
          <a:xfrm>
            <a:off x="5508104" y="3300119"/>
            <a:ext cx="2160240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Numbers may vary slightly in your environment</a:t>
            </a:r>
            <a:endParaRPr lang="en-CA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0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0"/>
            <a:ext cx="8458200" cy="814388"/>
          </a:xfrm>
        </p:spPr>
        <p:txBody>
          <a:bodyPr/>
          <a:lstStyle/>
          <a:p>
            <a:r>
              <a:rPr lang="en-US" dirty="0" smtClean="0">
                <a:cs typeface="Calibri" pitchFamily="34" charset="0"/>
              </a:rPr>
              <a:t>Advice View</a:t>
            </a:r>
            <a:endParaRPr lang="en-US" i="1" dirty="0"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467725" cy="4987925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 smtClean="0">
                <a:ea typeface="Calibri" pitchFamily="34" charset="0"/>
                <a:cs typeface="Arial" pitchFamily="34" charset="0"/>
              </a:rPr>
              <a:t>Maximize the </a:t>
            </a:r>
            <a:r>
              <a:rPr lang="en-US" b="1" dirty="0" smtClean="0">
                <a:ea typeface="Calibri" pitchFamily="34" charset="0"/>
                <a:cs typeface="Arial" pitchFamily="34" charset="0"/>
              </a:rPr>
              <a:t>Advice</a:t>
            </a:r>
            <a:r>
              <a:rPr lang="en-US" dirty="0" smtClean="0">
                <a:ea typeface="Calibri" pitchFamily="34" charset="0"/>
                <a:cs typeface="Arial" pitchFamily="34" charset="0"/>
              </a:rPr>
              <a:t> view in the lower right corner by double-clicking on the tab for the window</a:t>
            </a:r>
          </a:p>
          <a:p>
            <a:pPr marL="804862" lvl="1" indent="-457200"/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The </a:t>
            </a:r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Advice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view provides</a:t>
            </a:r>
            <a:r>
              <a:rPr lang="en-US" dirty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advice on how </a:t>
            </a:r>
            <a:b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</a:b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to better optimize the code for </a:t>
            </a:r>
            <a:b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</a:b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size/performance/power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>
                <a:ea typeface="Calibri" pitchFamily="34" charset="0"/>
                <a:cs typeface="Arial" pitchFamily="34" charset="0"/>
              </a:rPr>
              <a:t>Expand the </a:t>
            </a:r>
            <a:r>
              <a:rPr lang="en-US" b="1" dirty="0" smtClean="0">
                <a:ea typeface="Calibri" pitchFamily="34" charset="0"/>
                <a:cs typeface="Arial" pitchFamily="34" charset="0"/>
              </a:rPr>
              <a:t>Optimization Advice</a:t>
            </a:r>
            <a:r>
              <a:rPr lang="en-US" dirty="0" smtClean="0">
                <a:ea typeface="Calibri" pitchFamily="34" charset="0"/>
                <a:cs typeface="Arial" pitchFamily="34" charset="0"/>
              </a:rPr>
              <a:t> node</a:t>
            </a:r>
            <a:br>
              <a:rPr lang="en-US" dirty="0" smtClean="0">
                <a:ea typeface="Calibri" pitchFamily="34" charset="0"/>
                <a:cs typeface="Arial" pitchFamily="34" charset="0"/>
              </a:rPr>
            </a:br>
            <a:r>
              <a:rPr lang="en-US" dirty="0" smtClean="0">
                <a:ea typeface="Calibri" pitchFamily="34" charset="0"/>
                <a:cs typeface="Arial" pitchFamily="34" charset="0"/>
              </a:rPr>
              <a:t>and resize the </a:t>
            </a:r>
            <a:r>
              <a:rPr lang="en-US" b="1" dirty="0" smtClean="0">
                <a:ea typeface="Calibri" pitchFamily="34" charset="0"/>
                <a:cs typeface="Arial" pitchFamily="34" charset="0"/>
              </a:rPr>
              <a:t>Description</a:t>
            </a:r>
            <a:r>
              <a:rPr lang="en-US" dirty="0" smtClean="0">
                <a:ea typeface="Calibri" pitchFamily="34" charset="0"/>
                <a:cs typeface="Arial" pitchFamily="34" charset="0"/>
              </a:rPr>
              <a:t> column so </a:t>
            </a:r>
            <a:br>
              <a:rPr lang="en-US" dirty="0" smtClean="0">
                <a:ea typeface="Calibri" pitchFamily="34" charset="0"/>
                <a:cs typeface="Arial" pitchFamily="34" charset="0"/>
              </a:rPr>
            </a:br>
            <a:r>
              <a:rPr lang="en-US" dirty="0" smtClean="0">
                <a:ea typeface="Calibri" pitchFamily="34" charset="0"/>
                <a:cs typeface="Arial" pitchFamily="34" charset="0"/>
              </a:rPr>
              <a:t>that the advice is more visible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ea typeface="Calibri" pitchFamily="34" charset="0"/>
                <a:cs typeface="Arial" pitchFamily="34" charset="0"/>
              </a:rPr>
              <a:t>Note the third advice, on how optimization is disabled and level 3 optimization is recommended, and double-click on it </a:t>
            </a:r>
          </a:p>
          <a:p>
            <a:pPr marL="804862" lvl="1" indent="-457200"/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Double-click on the advice itself and not on the hyperlink (#27007-D)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000" i="1" dirty="0" smtClean="0">
              <a:ea typeface="Calibri" pitchFamily="34" charset="0"/>
              <a:cs typeface="Arial" pitchFamily="34" charset="0"/>
            </a:endParaRPr>
          </a:p>
          <a:p>
            <a:pPr marL="0" lvl="0" indent="0">
              <a:buNone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0" lvl="0" indent="0">
              <a:buNone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0" lvl="0" indent="0">
              <a:buNone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5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5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5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342900" indent="-342900">
              <a:buNone/>
            </a:pPr>
            <a:r>
              <a:rPr lang="en-US" sz="1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>
              <a:buNone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sz="1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24"/>
          <p:cNvSpPr txBox="1">
            <a:spLocks noChangeArrowheads="1"/>
          </p:cNvSpPr>
          <p:nvPr/>
        </p:nvSpPr>
        <p:spPr bwMode="auto">
          <a:xfrm>
            <a:off x="3733800" y="6477000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9F5DD2B-4A0F-41BF-9D2A-EA7699283C86}" type="slidenum">
              <a:rPr lang="en-US" sz="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pPr algn="ctr"/>
              <a:t>23</a:t>
            </a:fld>
            <a:endParaRPr lang="en-US" sz="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7" name="Picture 3" descr="C:\Apps\CCSTraining\WORKSHOP\CC2650\ss\2650lab1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196752"/>
            <a:ext cx="3456384" cy="190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56792"/>
            <a:ext cx="288000" cy="288000"/>
          </a:xfrm>
          <a:prstGeom prst="rect">
            <a:avLst/>
          </a:prstGeom>
        </p:spPr>
      </p:pic>
      <p:pic>
        <p:nvPicPr>
          <p:cNvPr id="1028" name="Picture 4" descr="C:\Apps\CCSTraining\WORKSHOP\CC2650\ss\2650lab13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653136"/>
            <a:ext cx="6264713" cy="1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a0356111.ENT\AppData\Local\Microsoft\Windows\Temporary Internet Files\Low\Content.IE5\UCVU48Z8\MC900434750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4365136"/>
            <a:ext cx="288000" cy="28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300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Apps\CCSTraining\WORKSHOP\CC2650\ss\2650lab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972118"/>
            <a:ext cx="5724749" cy="269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Project Properties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The </a:t>
            </a:r>
            <a:r>
              <a:rPr lang="en-US" b="1" dirty="0" smtClean="0">
                <a:solidFill>
                  <a:srgbClr val="0066FF"/>
                </a:solidFill>
              </a:rPr>
              <a:t>Project Properties </a:t>
            </a:r>
            <a:r>
              <a:rPr lang="en-US" dirty="0" smtClean="0">
                <a:solidFill>
                  <a:srgbClr val="0066FF"/>
                </a:solidFill>
              </a:rPr>
              <a:t>dialog will be opened to the compiler optimization settings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Options such as compiler/linker settings, pre/post build steps, and project dependencies can be set from this dialog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The dialog can also be opened by right-clicking on a project in the </a:t>
            </a:r>
            <a:r>
              <a:rPr lang="en-US" b="1" dirty="0" smtClean="0">
                <a:solidFill>
                  <a:srgbClr val="0066FF"/>
                </a:solidFill>
              </a:rPr>
              <a:t>Project</a:t>
            </a:r>
            <a:br>
              <a:rPr lang="en-US" b="1" dirty="0" smtClean="0">
                <a:solidFill>
                  <a:srgbClr val="0066FF"/>
                </a:solidFill>
              </a:rPr>
            </a:br>
            <a:r>
              <a:rPr lang="en-US" b="1" dirty="0" smtClean="0">
                <a:solidFill>
                  <a:srgbClr val="0066FF"/>
                </a:solidFill>
              </a:rPr>
              <a:t>Explorer</a:t>
            </a:r>
            <a:r>
              <a:rPr lang="en-US" dirty="0" smtClean="0">
                <a:solidFill>
                  <a:srgbClr val="0066FF"/>
                </a:solidFill>
              </a:rPr>
              <a:t> view and selecting </a:t>
            </a:r>
            <a:r>
              <a:rPr lang="en-US" b="1" dirty="0" smtClean="0">
                <a:solidFill>
                  <a:srgbClr val="0066FF"/>
                </a:solidFill>
              </a:rPr>
              <a:t>Properties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149510" name="Rounded Rectangle 7"/>
          <p:cNvSpPr>
            <a:spLocks noChangeArrowheads="1"/>
          </p:cNvSpPr>
          <p:nvPr/>
        </p:nvSpPr>
        <p:spPr bwMode="auto">
          <a:xfrm>
            <a:off x="290177" y="4033970"/>
            <a:ext cx="2016125" cy="340519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>
                <a:latin typeface="Arial Narrow" pitchFamily="34" charset="0"/>
              </a:rPr>
              <a:t>Compiler Options</a:t>
            </a:r>
          </a:p>
        </p:txBody>
      </p:sp>
      <p:sp>
        <p:nvSpPr>
          <p:cNvPr id="149511" name="Rounded Rectangle 8"/>
          <p:cNvSpPr>
            <a:spLocks noChangeArrowheads="1"/>
          </p:cNvSpPr>
          <p:nvPr/>
        </p:nvSpPr>
        <p:spPr bwMode="auto">
          <a:xfrm>
            <a:off x="290176" y="4462292"/>
            <a:ext cx="2016125" cy="340519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>
                <a:latin typeface="Arial Narrow" pitchFamily="34" charset="0"/>
              </a:rPr>
              <a:t>Linker Options</a:t>
            </a:r>
          </a:p>
        </p:txBody>
      </p:sp>
      <p:sp>
        <p:nvSpPr>
          <p:cNvPr id="149513" name="Line 17"/>
          <p:cNvSpPr>
            <a:spLocks noChangeShapeType="1"/>
          </p:cNvSpPr>
          <p:nvPr/>
        </p:nvSpPr>
        <p:spPr bwMode="auto">
          <a:xfrm flipV="1">
            <a:off x="2306078" y="4632551"/>
            <a:ext cx="12965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9512" name="Line 17"/>
          <p:cNvSpPr>
            <a:spLocks noChangeShapeType="1"/>
          </p:cNvSpPr>
          <p:nvPr/>
        </p:nvSpPr>
        <p:spPr bwMode="auto">
          <a:xfrm flipV="1">
            <a:off x="2306302" y="3795418"/>
            <a:ext cx="1296368" cy="408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9509" name="Line 17"/>
          <p:cNvSpPr>
            <a:spLocks noChangeShapeType="1"/>
          </p:cNvSpPr>
          <p:nvPr/>
        </p:nvSpPr>
        <p:spPr bwMode="auto">
          <a:xfrm flipV="1">
            <a:off x="2676299" y="3549768"/>
            <a:ext cx="926371" cy="63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9508" name="Rounded Rectangle 5"/>
          <p:cNvSpPr>
            <a:spLocks noChangeArrowheads="1"/>
          </p:cNvSpPr>
          <p:nvPr/>
        </p:nvSpPr>
        <p:spPr bwMode="auto">
          <a:xfrm>
            <a:off x="322038" y="3379509"/>
            <a:ext cx="2387711" cy="340519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>
                <a:latin typeface="Arial Narrow" pitchFamily="34" charset="0"/>
              </a:rPr>
              <a:t>Device and high level settings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38" y="115505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3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Project Properties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 smtClean="0"/>
              <a:t>Change the </a:t>
            </a:r>
            <a:r>
              <a:rPr lang="en-US" b="1" dirty="0" smtClean="0"/>
              <a:t>Optimization level</a:t>
            </a:r>
            <a:r>
              <a:rPr lang="en-US" dirty="0" smtClean="0"/>
              <a:t> to </a:t>
            </a:r>
            <a:r>
              <a:rPr lang="en-US" b="1" dirty="0" smtClean="0"/>
              <a:t>3</a:t>
            </a:r>
          </a:p>
          <a:p>
            <a:pPr marL="457200" indent="-457200">
              <a:buFont typeface="+mj-lt"/>
              <a:buAutoNum type="arabicPeriod" startAt="4"/>
            </a:pPr>
            <a:endParaRPr lang="en-US" b="1" dirty="0"/>
          </a:p>
          <a:p>
            <a:pPr marL="457200" indent="-457200">
              <a:buFont typeface="+mj-lt"/>
              <a:buAutoNum type="arabicPeriod" startAt="4"/>
            </a:pPr>
            <a:endParaRPr lang="en-US" b="1" dirty="0" smtClean="0"/>
          </a:p>
          <a:p>
            <a:pPr marL="457200" indent="-457200">
              <a:buFont typeface="+mj-lt"/>
              <a:buAutoNum type="arabicPeriod" startAt="4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Press </a:t>
            </a:r>
            <a:r>
              <a:rPr lang="en-US" b="1" dirty="0" smtClean="0"/>
              <a:t>OK</a:t>
            </a:r>
            <a:r>
              <a:rPr lang="en-US" dirty="0" smtClean="0"/>
              <a:t> to apply the changes and exit the dialog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Double-click on the </a:t>
            </a:r>
            <a:r>
              <a:rPr lang="en-US" b="1" dirty="0" smtClean="0"/>
              <a:t>Advice</a:t>
            </a:r>
            <a:r>
              <a:rPr lang="en-US" dirty="0" smtClean="0"/>
              <a:t> window tab to restore the </a:t>
            </a:r>
            <a:r>
              <a:rPr lang="en-US" b="1" dirty="0" smtClean="0"/>
              <a:t>Advice</a:t>
            </a:r>
            <a:r>
              <a:rPr lang="en-US" dirty="0" smtClean="0"/>
              <a:t> window back to the original size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098" name="Picture 2" descr="C:\Apps\CCSTraining\WORKSHOP\CC2650\ss\2650lab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09120"/>
            <a:ext cx="2632599" cy="157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Apps\CCSTraining\WORKSHOP\CC2650\ss\2650lab1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89" y="1484782"/>
            <a:ext cx="5675773" cy="20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5"/>
          <p:cNvSpPr>
            <a:spLocks noChangeArrowheads="1"/>
          </p:cNvSpPr>
          <p:nvPr/>
        </p:nvSpPr>
        <p:spPr bwMode="auto">
          <a:xfrm>
            <a:off x="6631065" y="2780928"/>
            <a:ext cx="2387711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itchFamily="34" charset="0"/>
              </a:rPr>
              <a:t>Note optimization ‘speed vs size trade-off’ setting favors smaller code size</a:t>
            </a:r>
            <a:endParaRPr lang="en-CA" sz="1400" b="1" dirty="0">
              <a:latin typeface="Arial Narrow" pitchFamily="34" charset="0"/>
            </a:endParaRPr>
          </a:p>
        </p:txBody>
      </p:sp>
      <p:cxnSp>
        <p:nvCxnSpPr>
          <p:cNvPr id="4" name="Straight Arrow Connector 3"/>
          <p:cNvCxnSpPr>
            <a:stCxn id="7" idx="1"/>
          </p:cNvCxnSpPr>
          <p:nvPr/>
        </p:nvCxnSpPr>
        <p:spPr>
          <a:xfrm flipH="1" flipV="1">
            <a:off x="4716016" y="3068960"/>
            <a:ext cx="1915049" cy="12059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82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Debug vs Optimization Tradeoff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59" cy="5256584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The higher the level of optimization (speed/size/power), the greater the negative impact in debug visibility/experience</a:t>
            </a:r>
          </a:p>
          <a:p>
            <a:r>
              <a:rPr lang="en-US" dirty="0" smtClean="0">
                <a:solidFill>
                  <a:srgbClr val="0066FF"/>
                </a:solidFill>
              </a:rPr>
              <a:t>Trade-off </a:t>
            </a:r>
            <a:r>
              <a:rPr lang="en-US" dirty="0">
                <a:solidFill>
                  <a:srgbClr val="0066FF"/>
                </a:solidFill>
              </a:rPr>
              <a:t>between the ease of debugging and the effectiveness of compiler </a:t>
            </a:r>
            <a:r>
              <a:rPr lang="en-US" dirty="0" smtClean="0">
                <a:solidFill>
                  <a:srgbClr val="0066FF"/>
                </a:solidFill>
              </a:rPr>
              <a:t>optimization</a:t>
            </a:r>
          </a:p>
          <a:p>
            <a:r>
              <a:rPr lang="en-US" dirty="0" smtClean="0">
                <a:solidFill>
                  <a:srgbClr val="0066FF"/>
                </a:solidFill>
              </a:rPr>
              <a:t>Best trade-off point depends on user preference… but usually the lowest </a:t>
            </a:r>
            <a:r>
              <a:rPr lang="en-US" dirty="0">
                <a:solidFill>
                  <a:srgbClr val="0066FF"/>
                </a:solidFill>
              </a:rPr>
              <a:t>level of optimization which meets your system </a:t>
            </a:r>
            <a:r>
              <a:rPr lang="en-US" dirty="0" smtClean="0">
                <a:solidFill>
                  <a:srgbClr val="0066FF"/>
                </a:solidFill>
              </a:rPr>
              <a:t>constraints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Use the lowest optimization setting if debug visibility is the highest priority (debugging difficult bugs in application behavior)</a:t>
            </a:r>
          </a:p>
          <a:p>
            <a:r>
              <a:rPr lang="en-US" dirty="0" smtClean="0">
                <a:solidFill>
                  <a:srgbClr val="0066FF"/>
                </a:solidFill>
              </a:rPr>
              <a:t>Some impact on the debug experience for highly optimized code: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Source-line setting is erratic </a:t>
            </a:r>
            <a:r>
              <a:rPr lang="en-US" dirty="0">
                <a:solidFill>
                  <a:srgbClr val="0066FF"/>
                </a:solidFill>
              </a:rPr>
              <a:t>(code has been removed/rearranged)</a:t>
            </a:r>
            <a:endParaRPr lang="en-US" dirty="0" smtClean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Unable to set source-line breakpoints (code has been removed/rearranged)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Unable to view certain variables (variables optimized out)</a:t>
            </a:r>
          </a:p>
          <a:p>
            <a:r>
              <a:rPr lang="en-US" dirty="0" smtClean="0">
                <a:solidFill>
                  <a:srgbClr val="0066FF"/>
                </a:solidFill>
              </a:rPr>
              <a:t>For more details: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  <a:hlinkClick r:id="rId3"/>
              </a:rPr>
              <a:t>http</a:t>
            </a:r>
            <a:r>
              <a:rPr lang="en-US" dirty="0">
                <a:solidFill>
                  <a:srgbClr val="0066FF"/>
                </a:solidFill>
                <a:hlinkClick r:id="rId3"/>
              </a:rPr>
              <a:t>://</a:t>
            </a:r>
            <a:r>
              <a:rPr lang="en-US" dirty="0" smtClean="0">
                <a:solidFill>
                  <a:srgbClr val="0066FF"/>
                </a:solidFill>
                <a:hlinkClick r:id="rId3"/>
              </a:rPr>
              <a:t>processors.wiki.ti.com/index.php/Debug_versus_Optimization_Tradeoff</a:t>
            </a:r>
            <a:endParaRPr lang="en-US" dirty="0" smtClean="0">
              <a:solidFill>
                <a:srgbClr val="0066FF"/>
              </a:solidFill>
            </a:endParaRPr>
          </a:p>
          <a:p>
            <a:endParaRPr lang="en-US" dirty="0" smtClean="0">
              <a:solidFill>
                <a:srgbClr val="0066FF"/>
              </a:solidFill>
            </a:endParaRPr>
          </a:p>
          <a:p>
            <a:pPr lvl="2"/>
            <a:endParaRPr lang="en-US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8" y="969526"/>
            <a:ext cx="288000" cy="28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9" y="1772832"/>
            <a:ext cx="288000" cy="2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9" y="2564920"/>
            <a:ext cx="288000" cy="2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9" y="3933072"/>
            <a:ext cx="288000" cy="28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55" y="544522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0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0"/>
            <a:ext cx="8458200" cy="814388"/>
          </a:xfrm>
        </p:spPr>
        <p:txBody>
          <a:bodyPr/>
          <a:lstStyle/>
          <a:p>
            <a:r>
              <a:rPr lang="en-US" dirty="0" smtClean="0">
                <a:cs typeface="Calibri" pitchFamily="34" charset="0"/>
              </a:rPr>
              <a:t>Switch to </a:t>
            </a:r>
            <a:r>
              <a:rPr lang="en-US" i="1" dirty="0" smtClean="0">
                <a:cs typeface="Calibri" pitchFamily="34" charset="0"/>
              </a:rPr>
              <a:t>Simple Mode</a:t>
            </a:r>
            <a:endParaRPr lang="en-US" i="1" dirty="0"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467725" cy="4987925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 smtClean="0">
                <a:ea typeface="Calibri" pitchFamily="34" charset="0"/>
                <a:cs typeface="Arial" pitchFamily="34" charset="0"/>
              </a:rPr>
              <a:t>Select the option to enable </a:t>
            </a:r>
            <a:r>
              <a:rPr lang="en-US" sz="2000" b="1" dirty="0" smtClean="0">
                <a:ea typeface="Calibri" pitchFamily="34" charset="0"/>
                <a:cs typeface="Arial" pitchFamily="34" charset="0"/>
              </a:rPr>
              <a:t>Simple Mode</a:t>
            </a:r>
            <a:r>
              <a:rPr lang="en-US" sz="2000" dirty="0" smtClean="0">
                <a:ea typeface="Calibri" pitchFamily="34" charset="0"/>
                <a:cs typeface="Arial" pitchFamily="34" charset="0"/>
              </a:rPr>
              <a:t> in the </a:t>
            </a:r>
            <a:r>
              <a:rPr lang="en-US" sz="2000" b="1" dirty="0" smtClean="0">
                <a:ea typeface="Calibri" pitchFamily="34" charset="0"/>
                <a:cs typeface="Arial" pitchFamily="34" charset="0"/>
              </a:rPr>
              <a:t>Getting Started</a:t>
            </a:r>
            <a:r>
              <a:rPr lang="en-US" sz="2000" dirty="0" smtClean="0">
                <a:ea typeface="Calibri" pitchFamily="34" charset="0"/>
                <a:cs typeface="Arial" pitchFamily="34" charset="0"/>
              </a:rPr>
              <a:t> page </a:t>
            </a:r>
            <a:r>
              <a:rPr lang="en-US" dirty="0" smtClean="0">
                <a:ea typeface="Calibri" pitchFamily="34" charset="0"/>
                <a:cs typeface="Arial" pitchFamily="34" charset="0"/>
              </a:rPr>
              <a:t>(</a:t>
            </a:r>
            <a:r>
              <a:rPr lang="en-US" i="1" dirty="0" smtClean="0">
                <a:ea typeface="Calibri" pitchFamily="34" charset="0"/>
                <a:cs typeface="Arial" pitchFamily="34" charset="0"/>
              </a:rPr>
              <a:t>V</a:t>
            </a:r>
            <a:r>
              <a:rPr lang="en-US" sz="2000" i="1" dirty="0" smtClean="0">
                <a:ea typeface="Calibri" pitchFamily="34" charset="0"/>
                <a:cs typeface="Arial" pitchFamily="34" charset="0"/>
              </a:rPr>
              <a:t>iew -&gt; Getting Started</a:t>
            </a:r>
            <a:r>
              <a:rPr lang="en-US" sz="2000" dirty="0" smtClean="0">
                <a:ea typeface="Calibri" pitchFamily="34" charset="0"/>
                <a:cs typeface="Arial" pitchFamily="34" charset="0"/>
              </a:rPr>
              <a:t>) </a:t>
            </a:r>
          </a:p>
          <a:p>
            <a:pPr marL="457200" lvl="0" indent="-457200">
              <a:buFont typeface="+mj-lt"/>
              <a:buAutoNum type="arabicPeriod"/>
            </a:pPr>
            <a:endParaRPr lang="en-US" i="1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000" i="1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000" i="1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endParaRPr lang="en-US" sz="2000" i="1" dirty="0" smtClean="0">
              <a:ea typeface="Calibri" pitchFamily="34" charset="0"/>
              <a:cs typeface="Arial" pitchFamily="34" charset="0"/>
            </a:endParaRPr>
          </a:p>
          <a:p>
            <a:r>
              <a:rPr lang="en-US" sz="2000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This will switch the perspective to the </a:t>
            </a:r>
            <a:r>
              <a:rPr lang="en-US" sz="2000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CCS Simple </a:t>
            </a:r>
            <a:r>
              <a:rPr lang="en-US" sz="2000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perspective</a:t>
            </a: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342900" indent="-342900">
              <a:buNone/>
            </a:pPr>
            <a:r>
              <a:rPr lang="en-US" sz="1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>
              <a:buNone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sz="1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24"/>
          <p:cNvSpPr txBox="1">
            <a:spLocks noChangeArrowheads="1"/>
          </p:cNvSpPr>
          <p:nvPr/>
        </p:nvSpPr>
        <p:spPr bwMode="auto">
          <a:xfrm>
            <a:off x="3733800" y="6477000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9F5DD2B-4A0F-41BF-9D2A-EA7699283C86}" type="slidenum">
              <a:rPr lang="en-US" sz="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pPr algn="ctr"/>
              <a:t>27</a:t>
            </a:fld>
            <a:endParaRPr lang="en-US" sz="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2" name="Picture 2" descr="E:\WORK\lprf\ss\1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96199"/>
            <a:ext cx="5210795" cy="181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293096"/>
            <a:ext cx="39528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>
          <a:xfrm>
            <a:off x="3504456" y="4773725"/>
            <a:ext cx="1296144" cy="28803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34" y="3717032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5" y="0"/>
            <a:ext cx="8458200" cy="814388"/>
          </a:xfrm>
        </p:spPr>
        <p:txBody>
          <a:bodyPr/>
          <a:lstStyle/>
          <a:p>
            <a:r>
              <a:rPr lang="en-US" i="1" dirty="0" smtClean="0">
                <a:cs typeface="Calibri" pitchFamily="34" charset="0"/>
              </a:rPr>
              <a:t>Simple Mode</a:t>
            </a:r>
            <a:endParaRPr lang="en-US" i="1" dirty="0"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467725" cy="4987925"/>
          </a:xfrm>
        </p:spPr>
        <p:txBody>
          <a:bodyPr/>
          <a:lstStyle/>
          <a:p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Simple Mode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is a simplified </a:t>
            </a:r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Perspectiv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e that combines the key views and menus of the </a:t>
            </a:r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CCS Edit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and </a:t>
            </a:r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CCS Debug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perspectives into one view for those that want a simpler interface and wish to avoid the constant </a:t>
            </a:r>
            <a:r>
              <a:rPr lang="en-US" b="1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Perspective</a:t>
            </a:r>
            <a:r>
              <a:rPr lang="en-US" dirty="0" smtClean="0">
                <a:solidFill>
                  <a:srgbClr val="0066FF"/>
                </a:solidFill>
                <a:ea typeface="Calibri" pitchFamily="34" charset="0"/>
                <a:cs typeface="Arial" pitchFamily="34" charset="0"/>
              </a:rPr>
              <a:t> switching</a:t>
            </a: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 smtClean="0">
              <a:ea typeface="Calibri" pitchFamily="34" charset="0"/>
              <a:cs typeface="Arial" pitchFamily="34" charset="0"/>
            </a:endParaRPr>
          </a:p>
          <a:p>
            <a:pPr marL="457200" lvl="0" indent="-457200">
              <a:buFont typeface="+mj-lt"/>
              <a:buAutoNum type="arabicPeriod" startAt="2"/>
            </a:pPr>
            <a:endParaRPr lang="en-US" sz="2000" dirty="0">
              <a:ea typeface="Calibri" pitchFamily="34" charset="0"/>
              <a:cs typeface="Arial" pitchFamily="34" charset="0"/>
            </a:endParaRPr>
          </a:p>
          <a:p>
            <a:pPr marL="342900" indent="-342900">
              <a:buNone/>
            </a:pPr>
            <a:r>
              <a:rPr lang="en-US" sz="1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>
              <a:buNone/>
            </a:pPr>
            <a:endParaRPr lang="en-US" sz="1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sz="1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24"/>
          <p:cNvSpPr txBox="1">
            <a:spLocks noChangeArrowheads="1"/>
          </p:cNvSpPr>
          <p:nvPr/>
        </p:nvSpPr>
        <p:spPr bwMode="auto">
          <a:xfrm>
            <a:off x="3733800" y="6477000"/>
            <a:ext cx="213360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9F5DD2B-4A0F-41BF-9D2A-EA7699283C86}" type="slidenum">
              <a:rPr lang="en-US" sz="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pPr algn="ctr"/>
              <a:t>28</a:t>
            </a:fld>
            <a:endParaRPr lang="en-US" sz="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5" y="908720"/>
            <a:ext cx="288000" cy="288000"/>
          </a:xfrm>
          <a:prstGeom prst="rect">
            <a:avLst/>
          </a:prstGeom>
        </p:spPr>
      </p:pic>
      <p:pic>
        <p:nvPicPr>
          <p:cNvPr id="5122" name="Picture 2" descr="C:\Apps\CCSTraining\WORKSHOP\CC2650\ss\2650lab1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7" y="2132857"/>
            <a:ext cx="6329924" cy="415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5"/>
          <p:cNvSpPr>
            <a:spLocks noChangeArrowheads="1"/>
          </p:cNvSpPr>
          <p:nvPr/>
        </p:nvSpPr>
        <p:spPr bwMode="auto">
          <a:xfrm>
            <a:off x="830518" y="3055355"/>
            <a:ext cx="1221201" cy="340519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Debug</a:t>
            </a:r>
            <a:r>
              <a:rPr lang="en-CA" sz="1400" dirty="0" smtClean="0">
                <a:latin typeface="Arial Narrow" panose="020B0606020202030204" pitchFamily="34" charset="0"/>
              </a:rPr>
              <a:t> view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sp>
        <p:nvSpPr>
          <p:cNvPr id="10" name="Rounded Rectangle 5"/>
          <p:cNvSpPr>
            <a:spLocks noChangeArrowheads="1"/>
          </p:cNvSpPr>
          <p:nvPr/>
        </p:nvSpPr>
        <p:spPr bwMode="auto">
          <a:xfrm>
            <a:off x="683568" y="5229200"/>
            <a:ext cx="1656184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Project</a:t>
            </a:r>
            <a:r>
              <a:rPr lang="en-CA" sz="1400" dirty="0" smtClean="0">
                <a:latin typeface="Arial Narrow" panose="020B0606020202030204" pitchFamily="34" charset="0"/>
              </a:rPr>
              <a:t> </a:t>
            </a:r>
            <a:r>
              <a:rPr lang="en-CA" sz="1400" b="1" dirty="0" smtClean="0">
                <a:latin typeface="Arial Narrow" panose="020B0606020202030204" pitchFamily="34" charset="0"/>
              </a:rPr>
              <a:t>Explorer</a:t>
            </a:r>
            <a:r>
              <a:rPr lang="en-CA" sz="1400" dirty="0" smtClean="0">
                <a:latin typeface="Arial Narrow" panose="020B0606020202030204" pitchFamily="34" charset="0"/>
              </a:rPr>
              <a:t> view</a:t>
            </a:r>
            <a:endParaRPr lang="en-CA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63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Debugging in </a:t>
            </a:r>
            <a:r>
              <a:rPr lang="en-US" i="1" dirty="0" smtClean="0"/>
              <a:t>Simple Mode</a:t>
            </a:r>
            <a:endParaRPr lang="en-US" i="1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8457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the </a:t>
            </a:r>
            <a:r>
              <a:rPr lang="en-US" b="1" dirty="0" smtClean="0"/>
              <a:t>Debug</a:t>
            </a:r>
            <a:r>
              <a:rPr lang="en-US" dirty="0" smtClean="0"/>
              <a:t> button    to rebuild, load and run the program to </a:t>
            </a:r>
            <a:r>
              <a:rPr lang="en-US" b="1" dirty="0" smtClean="0"/>
              <a:t>main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CA" dirty="0" smtClean="0"/>
              <a:t>  Press </a:t>
            </a:r>
            <a:r>
              <a:rPr lang="en-CA" dirty="0"/>
              <a:t>the </a:t>
            </a:r>
            <a:r>
              <a:rPr lang="en-CA" b="1" dirty="0" smtClean="0"/>
              <a:t>Resume </a:t>
            </a:r>
            <a:r>
              <a:rPr lang="en-CA" dirty="0" smtClean="0"/>
              <a:t>button      </a:t>
            </a:r>
            <a:r>
              <a:rPr lang="en-CA" dirty="0"/>
              <a:t>to run the </a:t>
            </a:r>
            <a:r>
              <a:rPr lang="en-CA" dirty="0" smtClean="0"/>
              <a:t>program</a:t>
            </a:r>
          </a:p>
          <a:p>
            <a:pPr marL="690562" lvl="1" indent="-342900"/>
            <a:r>
              <a:rPr lang="en-CA" dirty="0" smtClean="0">
                <a:solidFill>
                  <a:srgbClr val="0066FF"/>
                </a:solidFill>
              </a:rPr>
              <a:t>Check LCD on target to confirm program is running correctly</a:t>
            </a:r>
            <a:endParaRPr lang="en-CA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0" indent="0">
              <a:buNone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124744"/>
            <a:ext cx="228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C:\Apps\CCSTraining\WORKSHOP\CC2650\ss\2650lab1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74976"/>
            <a:ext cx="7000140" cy="401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5"/>
          <p:cNvSpPr>
            <a:spLocks noChangeArrowheads="1"/>
          </p:cNvSpPr>
          <p:nvPr/>
        </p:nvSpPr>
        <p:spPr bwMode="auto">
          <a:xfrm>
            <a:off x="3995936" y="2996952"/>
            <a:ext cx="2376264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Note that there is no perspective switch in </a:t>
            </a:r>
            <a:r>
              <a:rPr lang="en-CA" sz="1400" b="1" dirty="0" smtClean="0">
                <a:latin typeface="Arial Narrow" panose="020B0606020202030204" pitchFamily="34" charset="0"/>
              </a:rPr>
              <a:t>Simple Mode </a:t>
            </a:r>
            <a:endParaRPr lang="en-CA" sz="1400" b="1" dirty="0">
              <a:latin typeface="Arial Narrow" panose="020B0606020202030204" pitchFamily="34" charset="0"/>
            </a:endParaRPr>
          </a:p>
        </p:txBody>
      </p:sp>
      <p:pic>
        <p:nvPicPr>
          <p:cNvPr id="10" name="Picture 10" descr="runButt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86398" y="5662829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495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 smtClean="0"/>
              <a:t>Open the </a:t>
            </a:r>
            <a:r>
              <a:rPr lang="en-CA" b="1" dirty="0" smtClean="0"/>
              <a:t>Memory Allocation</a:t>
            </a:r>
            <a:r>
              <a:rPr lang="en-CA" dirty="0" smtClean="0"/>
              <a:t> view via </a:t>
            </a:r>
            <a:r>
              <a:rPr lang="en-CA" i="1" dirty="0" smtClean="0"/>
              <a:t>View -&gt; Other… -&gt; Code Composer Studio -&gt; Memory Allocation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The </a:t>
            </a:r>
            <a:r>
              <a:rPr lang="en-CA" b="1" dirty="0" smtClean="0">
                <a:solidFill>
                  <a:srgbClr val="0066FF"/>
                </a:solidFill>
              </a:rPr>
              <a:t>Memory Allocation</a:t>
            </a:r>
            <a:r>
              <a:rPr lang="en-CA" dirty="0" smtClean="0">
                <a:solidFill>
                  <a:srgbClr val="0066FF"/>
                </a:solidFill>
              </a:rPr>
              <a:t> view is hidden in the default </a:t>
            </a:r>
            <a:r>
              <a:rPr lang="en-CA" b="1" dirty="0" smtClean="0">
                <a:solidFill>
                  <a:srgbClr val="0066FF"/>
                </a:solidFill>
              </a:rPr>
              <a:t>Simple Mode </a:t>
            </a:r>
            <a:r>
              <a:rPr lang="en-CA" dirty="0" smtClean="0">
                <a:solidFill>
                  <a:srgbClr val="0066FF"/>
                </a:solidFill>
              </a:rPr>
              <a:t>perspective, hence the need to go to </a:t>
            </a:r>
            <a:r>
              <a:rPr lang="en-CA" i="1" dirty="0" smtClean="0">
                <a:solidFill>
                  <a:srgbClr val="0066FF"/>
                </a:solidFill>
              </a:rPr>
              <a:t>View -&gt; Other…</a:t>
            </a:r>
          </a:p>
          <a:p>
            <a:pPr lvl="1"/>
            <a:endParaRPr lang="en-CA" dirty="0">
              <a:solidFill>
                <a:srgbClr val="0066FF"/>
              </a:solidFill>
            </a:endParaRPr>
          </a:p>
          <a:p>
            <a:pPr marL="341312" lvl="1" indent="0">
              <a:buNone/>
            </a:pPr>
            <a:endParaRPr lang="en-CA" dirty="0">
              <a:solidFill>
                <a:srgbClr val="0066FF"/>
              </a:solidFill>
            </a:endParaRPr>
          </a:p>
          <a:p>
            <a:pPr marL="341312" lvl="1" indent="0">
              <a:buNone/>
            </a:pPr>
            <a:endParaRPr lang="en-CA" dirty="0">
              <a:solidFill>
                <a:srgbClr val="0066FF"/>
              </a:solidFill>
            </a:endParaRP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r>
              <a:rPr lang="en-CA" dirty="0" smtClean="0">
                <a:solidFill>
                  <a:srgbClr val="0066FF"/>
                </a:solidFill>
              </a:rPr>
              <a:t>Note the total allocation size in </a:t>
            </a:r>
            <a:r>
              <a:rPr lang="en-CA" dirty="0" smtClean="0">
                <a:solidFill>
                  <a:srgbClr val="0066FF"/>
                </a:solidFill>
              </a:rPr>
              <a:t>FLASH</a:t>
            </a:r>
            <a:endParaRPr lang="en-CA" dirty="0" smtClean="0">
              <a:solidFill>
                <a:srgbClr val="0066FF"/>
              </a:solidFill>
            </a:endParaRP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Code size for FLASH decreased </a:t>
            </a:r>
            <a:r>
              <a:rPr lang="en-CA" dirty="0" smtClean="0">
                <a:solidFill>
                  <a:srgbClr val="0066FF"/>
                </a:solidFill>
              </a:rPr>
              <a:t>after optimization is enabled</a:t>
            </a:r>
            <a:endParaRPr lang="en-CA" sz="2200" i="1" dirty="0" smtClean="0"/>
          </a:p>
          <a:p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r>
              <a:rPr lang="en-CA" dirty="0" smtClean="0"/>
              <a:t/>
            </a:r>
            <a:br>
              <a:rPr lang="en-CA" dirty="0" smtClean="0"/>
            </a:br>
            <a:endParaRPr lang="en-CA" dirty="0" smtClean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View: </a:t>
            </a:r>
            <a:r>
              <a:rPr lang="en-CA" i="1" dirty="0" smtClean="0"/>
              <a:t>Memory Allocation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6" y="1915251"/>
            <a:ext cx="288000" cy="2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83" y="3933056"/>
            <a:ext cx="288000" cy="288000"/>
          </a:xfrm>
          <a:prstGeom prst="rect">
            <a:avLst/>
          </a:prstGeom>
        </p:spPr>
      </p:pic>
      <p:pic>
        <p:nvPicPr>
          <p:cNvPr id="3074" name="Picture 2" descr="C:\Apps\CCSTraining\WORKSHOP\CC2650\ss\2650lab19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13" y="2564904"/>
            <a:ext cx="8005553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5"/>
          <p:cNvSpPr>
            <a:spLocks noChangeArrowheads="1"/>
          </p:cNvSpPr>
          <p:nvPr/>
        </p:nvSpPr>
        <p:spPr bwMode="auto">
          <a:xfrm>
            <a:off x="5076056" y="3330748"/>
            <a:ext cx="2160240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Numbers may vary slightly in your environment</a:t>
            </a:r>
            <a:endParaRPr lang="en-CA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07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Clean Up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Press the </a:t>
            </a:r>
            <a:r>
              <a:rPr lang="en-CA" b="1" dirty="0"/>
              <a:t>Suspend</a:t>
            </a:r>
            <a:r>
              <a:rPr lang="en-CA" dirty="0"/>
              <a:t> button     to halt </a:t>
            </a:r>
            <a:r>
              <a:rPr lang="en-CA" dirty="0" smtClean="0"/>
              <a:t>execution</a:t>
            </a:r>
            <a:endParaRPr lang="en-US" dirty="0" smtClean="0"/>
          </a:p>
          <a:p>
            <a:pPr marL="457200" lvl="0" indent="-457200">
              <a:buFont typeface="+mj-lt"/>
              <a:buAutoNum type="arabicPeriod"/>
            </a:pPr>
            <a:r>
              <a:rPr lang="en-US" b="1" dirty="0" smtClean="0"/>
              <a:t>Terminate</a:t>
            </a:r>
            <a:r>
              <a:rPr lang="en-US" dirty="0" smtClean="0"/>
              <a:t>     the Debug Session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Disable </a:t>
            </a:r>
            <a:r>
              <a:rPr lang="en-US" b="1" dirty="0" smtClean="0"/>
              <a:t>Simple Mode </a:t>
            </a:r>
            <a:r>
              <a:rPr lang="en-US" dirty="0">
                <a:ea typeface="Calibri" pitchFamily="34" charset="0"/>
                <a:cs typeface="Arial" pitchFamily="34" charset="0"/>
              </a:rPr>
              <a:t>in the </a:t>
            </a:r>
            <a:r>
              <a:rPr lang="en-US" b="1" dirty="0">
                <a:ea typeface="Calibri" pitchFamily="34" charset="0"/>
                <a:cs typeface="Arial" pitchFamily="34" charset="0"/>
              </a:rPr>
              <a:t>Getting Started</a:t>
            </a:r>
            <a:r>
              <a:rPr lang="en-US" dirty="0">
                <a:ea typeface="Calibri" pitchFamily="34" charset="0"/>
                <a:cs typeface="Arial" pitchFamily="34" charset="0"/>
              </a:rPr>
              <a:t> page (</a:t>
            </a:r>
            <a:r>
              <a:rPr lang="en-US" i="1" dirty="0">
                <a:ea typeface="Calibri" pitchFamily="34" charset="0"/>
                <a:cs typeface="Arial" pitchFamily="34" charset="0"/>
              </a:rPr>
              <a:t>View -&gt; Getting Started</a:t>
            </a:r>
            <a:r>
              <a:rPr lang="en-US" dirty="0">
                <a:ea typeface="Calibri" pitchFamily="34" charset="0"/>
                <a:cs typeface="Arial" pitchFamily="34" charset="0"/>
              </a:rPr>
              <a:t>) </a:t>
            </a:r>
            <a:endParaRPr lang="en-US" b="1" dirty="0"/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The rest of the workshop will not use </a:t>
            </a:r>
            <a:r>
              <a:rPr lang="en-CA" b="1" dirty="0" smtClean="0">
                <a:solidFill>
                  <a:srgbClr val="0066FF"/>
                </a:solidFill>
              </a:rPr>
              <a:t>Simple Mode</a:t>
            </a:r>
            <a:r>
              <a:rPr lang="en-CA" dirty="0" smtClean="0">
                <a:solidFill>
                  <a:srgbClr val="0066FF"/>
                </a:solidFill>
              </a:rPr>
              <a:t> but instead use the default </a:t>
            </a:r>
            <a:r>
              <a:rPr lang="en-CA" b="1" dirty="0" smtClean="0">
                <a:solidFill>
                  <a:srgbClr val="0066FF"/>
                </a:solidFill>
              </a:rPr>
              <a:t>CCS Edit</a:t>
            </a:r>
            <a:r>
              <a:rPr lang="en-CA" dirty="0" smtClean="0">
                <a:solidFill>
                  <a:srgbClr val="0066FF"/>
                </a:solidFill>
              </a:rPr>
              <a:t> and </a:t>
            </a:r>
            <a:r>
              <a:rPr lang="en-CA" b="1" dirty="0" smtClean="0">
                <a:solidFill>
                  <a:srgbClr val="0066FF"/>
                </a:solidFill>
              </a:rPr>
              <a:t>CCS Debug</a:t>
            </a:r>
            <a:r>
              <a:rPr lang="en-CA" dirty="0" smtClean="0">
                <a:solidFill>
                  <a:srgbClr val="0066FF"/>
                </a:solidFill>
              </a:rPr>
              <a:t> perspectives</a:t>
            </a:r>
            <a:endParaRPr lang="en-CA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80928"/>
            <a:ext cx="288000" cy="2880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124744"/>
            <a:ext cx="180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916" y="1634860"/>
            <a:ext cx="1905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974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LAB 1B: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1196752"/>
            <a:ext cx="8467725" cy="4968552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In this lab we completed the following: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Became familiar with the </a:t>
            </a:r>
            <a:r>
              <a:rPr lang="en-CA" b="1" dirty="0" smtClean="0">
                <a:solidFill>
                  <a:srgbClr val="0066FF"/>
                </a:solidFill>
              </a:rPr>
              <a:t>Memory Allocation</a:t>
            </a:r>
            <a:r>
              <a:rPr lang="en-CA" dirty="0" smtClean="0">
                <a:solidFill>
                  <a:srgbClr val="0066FF"/>
                </a:solidFill>
              </a:rPr>
              <a:t> view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Used </a:t>
            </a:r>
            <a:r>
              <a:rPr lang="en-CA" b="1" dirty="0" smtClean="0">
                <a:solidFill>
                  <a:srgbClr val="0066FF"/>
                </a:solidFill>
              </a:rPr>
              <a:t>Optimizer Assistant</a:t>
            </a:r>
            <a:r>
              <a:rPr lang="en-CA" dirty="0" smtClean="0">
                <a:solidFill>
                  <a:srgbClr val="0066FF"/>
                </a:solidFill>
              </a:rPr>
              <a:t> and the </a:t>
            </a:r>
            <a:r>
              <a:rPr lang="en-CA" b="1" dirty="0" smtClean="0">
                <a:solidFill>
                  <a:srgbClr val="0066FF"/>
                </a:solidFill>
              </a:rPr>
              <a:t>Advice</a:t>
            </a:r>
            <a:r>
              <a:rPr lang="en-CA" dirty="0">
                <a:solidFill>
                  <a:srgbClr val="0066FF"/>
                </a:solidFill>
              </a:rPr>
              <a:t> </a:t>
            </a:r>
            <a:r>
              <a:rPr lang="en-CA" dirty="0" smtClean="0">
                <a:solidFill>
                  <a:srgbClr val="0066FF"/>
                </a:solidFill>
              </a:rPr>
              <a:t>view to help optimize the program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Became familiar with </a:t>
            </a:r>
            <a:r>
              <a:rPr lang="en-CA" b="1" dirty="0" smtClean="0">
                <a:solidFill>
                  <a:srgbClr val="0066FF"/>
                </a:solidFill>
              </a:rPr>
              <a:t>Project Properties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Became familiar with </a:t>
            </a:r>
            <a:r>
              <a:rPr lang="en-CA" b="1" dirty="0" smtClean="0">
                <a:solidFill>
                  <a:srgbClr val="0066FF"/>
                </a:solidFill>
              </a:rPr>
              <a:t>Simple Mode</a:t>
            </a:r>
          </a:p>
          <a:p>
            <a:pPr lvl="1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49969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1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755576" y="242088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2: basic debug:</a:t>
            </a:r>
            <a:br>
              <a:rPr lang="en-CA" dirty="0" smtClean="0"/>
            </a:br>
            <a:r>
              <a:rPr lang="en-US" dirty="0" smtClean="0"/>
              <a:t>Pin Interrupt Example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/>
              <a:t>3</a:t>
            </a:r>
            <a:r>
              <a:rPr lang="en-CA" sz="2800" dirty="0" smtClean="0"/>
              <a:t>0 minutes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815780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LAB 2: Exercise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1268760"/>
            <a:ext cx="8467725" cy="4680520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Key Objectives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Debug the </a:t>
            </a:r>
            <a:r>
              <a:rPr lang="en-CA" b="1" dirty="0" smtClean="0">
                <a:solidFill>
                  <a:srgbClr val="0066FF"/>
                </a:solidFill>
              </a:rPr>
              <a:t>Pin Interrupt </a:t>
            </a:r>
            <a:r>
              <a:rPr lang="en-CA" dirty="0" smtClean="0">
                <a:solidFill>
                  <a:srgbClr val="0066FF"/>
                </a:solidFill>
              </a:rPr>
              <a:t>example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Basic Profiling</a:t>
            </a:r>
          </a:p>
          <a:p>
            <a:pPr lvl="1"/>
            <a:endParaRPr lang="en-CA" dirty="0" smtClean="0">
              <a:solidFill>
                <a:srgbClr val="0066FF"/>
              </a:solidFill>
            </a:endParaRPr>
          </a:p>
          <a:p>
            <a:r>
              <a:rPr lang="en-CA" dirty="0" smtClean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Basic Debug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Breakpoints/</a:t>
            </a:r>
            <a:r>
              <a:rPr lang="en-CA" dirty="0" err="1" smtClean="0">
                <a:solidFill>
                  <a:srgbClr val="0066FF"/>
                </a:solidFill>
              </a:rPr>
              <a:t>Watchpoints</a:t>
            </a:r>
            <a:endParaRPr lang="en-CA" dirty="0" smtClean="0">
              <a:solidFill>
                <a:srgbClr val="0066FF"/>
              </a:solidFill>
            </a:endParaRP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Event Counters</a:t>
            </a:r>
          </a:p>
          <a:p>
            <a:pPr lvl="1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16579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i="1" dirty="0" smtClean="0"/>
              <a:t>Resource Explorer</a:t>
            </a:r>
            <a:r>
              <a:rPr lang="en-CA" dirty="0" smtClean="0"/>
              <a:t>: </a:t>
            </a:r>
            <a:r>
              <a:rPr lang="en-CA" i="1" dirty="0" smtClean="0"/>
              <a:t>Pin Interrupt Example</a:t>
            </a:r>
            <a:endParaRPr lang="en-US" i="1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5808514" cy="500642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0" dirty="0" smtClean="0"/>
              <a:t>Open </a:t>
            </a:r>
            <a:r>
              <a:rPr lang="en-US" b="1" dirty="0" smtClean="0"/>
              <a:t>Resource Explorer</a:t>
            </a:r>
            <a:r>
              <a:rPr lang="en-US" b="0" dirty="0" smtClean="0"/>
              <a:t> via </a:t>
            </a:r>
            <a:r>
              <a:rPr lang="en-US" b="0" i="1" dirty="0" smtClean="0"/>
              <a:t>View -&gt; Resource Explorer (Examples)</a:t>
            </a:r>
            <a:r>
              <a:rPr lang="en-US" b="0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the </a:t>
            </a:r>
            <a:r>
              <a:rPr lang="en-US" b="1" dirty="0" smtClean="0"/>
              <a:t>Pin Interrupt </a:t>
            </a:r>
            <a:r>
              <a:rPr lang="en-US" dirty="0" smtClean="0"/>
              <a:t>example </a:t>
            </a:r>
            <a:r>
              <a:rPr lang="en-US" dirty="0"/>
              <a:t>under </a:t>
            </a:r>
            <a:r>
              <a:rPr lang="en-US" b="1" i="1" dirty="0"/>
              <a:t>TI-RTOS for </a:t>
            </a:r>
            <a:r>
              <a:rPr lang="en-US" b="1" i="1" dirty="0" err="1"/>
              <a:t>SimpleLink</a:t>
            </a:r>
            <a:r>
              <a:rPr lang="en-US" b="1" i="1" dirty="0"/>
              <a:t> Wireless MCUs </a:t>
            </a:r>
            <a:r>
              <a:rPr lang="en-US" i="1" dirty="0"/>
              <a:t>-&gt; </a:t>
            </a:r>
            <a:r>
              <a:rPr lang="en-US" i="1" dirty="0" err="1"/>
              <a:t>SimpleLink</a:t>
            </a:r>
            <a:r>
              <a:rPr lang="en-US" i="1" dirty="0"/>
              <a:t> Wireless MCU  -&gt; CC2650F128 –&gt; Driver Examples -&gt; TI Target Examples -&gt; </a:t>
            </a:r>
            <a:r>
              <a:rPr lang="en-US" i="1" dirty="0" smtClean="0"/>
              <a:t>PIN </a:t>
            </a:r>
            <a:r>
              <a:rPr lang="en-US" i="1" dirty="0"/>
              <a:t>Examples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Follow the steps to import, build and debug the project</a:t>
            </a:r>
          </a:p>
        </p:txBody>
      </p:sp>
      <p:pic>
        <p:nvPicPr>
          <p:cNvPr id="7170" name="Picture 2" descr="C:\Apps\CCSTraining\WORKSHOP\CC2650\ss\2650lab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744" y="1340768"/>
            <a:ext cx="278130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62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>
              <a:defRPr/>
            </a:pPr>
            <a:r>
              <a:rPr lang="en-C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Run 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Pin Interrupt </a:t>
            </a:r>
            <a:r>
              <a:rPr lang="en-C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Program</a:t>
            </a:r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CA" dirty="0" smtClean="0"/>
              <a:t>Press the </a:t>
            </a:r>
            <a:r>
              <a:rPr lang="en-CA" b="1" dirty="0" smtClean="0"/>
              <a:t>Resume </a:t>
            </a:r>
            <a:r>
              <a:rPr lang="en-CA" dirty="0" smtClean="0"/>
              <a:t>button      to run the program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This </a:t>
            </a:r>
            <a:r>
              <a:rPr lang="en-US" dirty="0" smtClean="0">
                <a:solidFill>
                  <a:srgbClr val="0066FF"/>
                </a:solidFill>
              </a:rPr>
              <a:t>example uses </a:t>
            </a:r>
            <a:r>
              <a:rPr lang="en-US" dirty="0">
                <a:solidFill>
                  <a:srgbClr val="0066FF"/>
                </a:solidFill>
              </a:rPr>
              <a:t>interrupts to </a:t>
            </a:r>
            <a:r>
              <a:rPr lang="en-US" dirty="0" smtClean="0">
                <a:solidFill>
                  <a:srgbClr val="0066FF"/>
                </a:solidFill>
              </a:rPr>
              <a:t>toggle LEDs 1-4 when one of the directional (or SELECT) button(s) are pressed</a:t>
            </a:r>
          </a:p>
          <a:p>
            <a:pPr lvl="1"/>
            <a:endParaRPr lang="en-US" sz="1600" dirty="0">
              <a:solidFill>
                <a:srgbClr val="0066FF"/>
              </a:solidFill>
            </a:endParaRPr>
          </a:p>
          <a:p>
            <a:pPr lvl="1"/>
            <a:endParaRPr lang="en-US" sz="1600" dirty="0" smtClean="0">
              <a:solidFill>
                <a:srgbClr val="0066FF"/>
              </a:solidFill>
            </a:endParaRPr>
          </a:p>
          <a:p>
            <a:pPr lvl="1"/>
            <a:endParaRPr lang="en-US" sz="1600" dirty="0">
              <a:solidFill>
                <a:srgbClr val="0066FF"/>
              </a:solidFill>
            </a:endParaRPr>
          </a:p>
          <a:p>
            <a:pPr lvl="1"/>
            <a:endParaRPr lang="en-US" sz="1600" dirty="0" smtClean="0">
              <a:solidFill>
                <a:srgbClr val="0066FF"/>
              </a:solidFill>
            </a:endParaRPr>
          </a:p>
          <a:p>
            <a:pPr lvl="1"/>
            <a:endParaRPr lang="en-US" sz="1600" dirty="0">
              <a:solidFill>
                <a:srgbClr val="0066FF"/>
              </a:solidFill>
            </a:endParaRPr>
          </a:p>
          <a:p>
            <a:pPr lvl="1"/>
            <a:endParaRPr lang="en-US" sz="1600" dirty="0" smtClean="0">
              <a:solidFill>
                <a:srgbClr val="0066FF"/>
              </a:solidFill>
            </a:endParaRPr>
          </a:p>
          <a:p>
            <a:pPr lvl="1"/>
            <a:endParaRPr lang="en-US" sz="1600" dirty="0">
              <a:solidFill>
                <a:srgbClr val="0066FF"/>
              </a:solidFill>
            </a:endParaRPr>
          </a:p>
          <a:p>
            <a:pPr lvl="1"/>
            <a:endParaRPr lang="en-US" sz="1600" dirty="0" smtClean="0">
              <a:solidFill>
                <a:srgbClr val="0066FF"/>
              </a:solidFill>
            </a:endParaRPr>
          </a:p>
          <a:p>
            <a:pPr lvl="1"/>
            <a:endParaRPr lang="en-US" sz="1600" dirty="0">
              <a:solidFill>
                <a:srgbClr val="0066FF"/>
              </a:solidFill>
            </a:endParaRPr>
          </a:p>
          <a:p>
            <a:pPr lvl="1"/>
            <a:endParaRPr lang="en-US" sz="1600" dirty="0" smtClean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dirty="0" smtClean="0"/>
              <a:t>Play with the example by pressing the directional/SELECT buttons and observe the behavior of the LEDs</a:t>
            </a:r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 smtClean="0"/>
          </a:p>
          <a:p>
            <a:pPr marL="341312" lvl="1" indent="0">
              <a:buNone/>
            </a:pPr>
            <a:endParaRPr lang="en-CA" sz="1600" dirty="0" smtClean="0"/>
          </a:p>
          <a:p>
            <a:pPr marL="347662" lvl="1" indent="0">
              <a:buNone/>
            </a:pPr>
            <a:endParaRPr lang="en-CA" dirty="0" smtClean="0"/>
          </a:p>
        </p:txBody>
      </p:sp>
      <p:pic>
        <p:nvPicPr>
          <p:cNvPr id="100355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8879" y="1270234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9" y="1564586"/>
            <a:ext cx="288000" cy="288000"/>
          </a:xfrm>
          <a:prstGeom prst="rect">
            <a:avLst/>
          </a:prstGeom>
        </p:spPr>
      </p:pic>
      <p:pic>
        <p:nvPicPr>
          <p:cNvPr id="8194" name="Picture 2" descr="C:\Apps\CCSTraining\WORKSHOP\CC2650\ss\20150210_22430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348880"/>
            <a:ext cx="34563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51720" y="3645024"/>
            <a:ext cx="360040" cy="2160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71800" y="4149080"/>
            <a:ext cx="648072" cy="64807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6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Debugging: Using Breakpoints</a:t>
            </a:r>
            <a:endParaRPr lang="en-US" dirty="0" smtClean="0"/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>
          <a:xfrm>
            <a:off x="333375" y="980728"/>
            <a:ext cx="8487097" cy="532859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Press the </a:t>
            </a:r>
            <a:r>
              <a:rPr lang="en-CA" b="1" dirty="0"/>
              <a:t>Suspend</a:t>
            </a:r>
            <a:r>
              <a:rPr lang="en-CA" dirty="0"/>
              <a:t> button     to halt </a:t>
            </a:r>
            <a:r>
              <a:rPr lang="en-CA" dirty="0" smtClean="0"/>
              <a:t>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dirty="0"/>
              <a:t>a breakpoint on </a:t>
            </a:r>
            <a:r>
              <a:rPr lang="en-US" b="1" dirty="0"/>
              <a:t>line </a:t>
            </a:r>
            <a:r>
              <a:rPr lang="en-US" b="1" dirty="0" smtClean="0"/>
              <a:t>102</a:t>
            </a:r>
            <a:r>
              <a:rPr lang="en-US" dirty="0" smtClean="0"/>
              <a:t> </a:t>
            </a:r>
            <a:r>
              <a:rPr lang="en-US" dirty="0"/>
              <a:t>of</a:t>
            </a:r>
            <a:r>
              <a:rPr lang="en-US" b="1" dirty="0"/>
              <a:t> </a:t>
            </a:r>
            <a:r>
              <a:rPr lang="en-US" b="1" dirty="0" err="1" smtClean="0"/>
              <a:t>pinInterrupt.c</a:t>
            </a:r>
            <a:r>
              <a:rPr lang="en-US" dirty="0" smtClean="0"/>
              <a:t> </a:t>
            </a:r>
            <a:r>
              <a:rPr lang="en-US" dirty="0"/>
              <a:t>by double-clicking in the editor </a:t>
            </a:r>
            <a:r>
              <a:rPr lang="en-US" dirty="0" smtClean="0"/>
              <a:t>margin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n-CA" dirty="0"/>
              <a:t>Press the </a:t>
            </a:r>
            <a:r>
              <a:rPr lang="en-CA" b="1" dirty="0"/>
              <a:t>Resume </a:t>
            </a:r>
            <a:r>
              <a:rPr lang="en-CA" dirty="0"/>
              <a:t>button      to run the </a:t>
            </a:r>
            <a:r>
              <a:rPr lang="en-CA" dirty="0" smtClean="0"/>
              <a:t>program again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CA" dirty="0" smtClean="0"/>
              <a:t>  Press any of the directional (or SELECT) button 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CA" dirty="0" smtClean="0"/>
              <a:t>  Note that the target will be halted at the breakpoint location</a:t>
            </a:r>
          </a:p>
          <a:p>
            <a:pPr marL="342900" indent="-342900">
              <a:buFont typeface="+mj-lt"/>
              <a:buAutoNum type="arabicPeriod" startAt="3"/>
            </a:pPr>
            <a:endParaRPr lang="en-CA" dirty="0"/>
          </a:p>
          <a:p>
            <a:pPr marL="342900" indent="-342900">
              <a:buFont typeface="+mj-lt"/>
              <a:buAutoNum type="arabicPeriod" startAt="3"/>
            </a:pPr>
            <a:r>
              <a:rPr lang="en-CA" dirty="0" smtClean="0"/>
              <a:t>  Double-click on the breakpoint to remove it</a:t>
            </a: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865" y="1052736"/>
            <a:ext cx="180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C:\Apps\CCSTraining\WORKSHOP\CC2650\ss\2650lab2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377" y="1945585"/>
            <a:ext cx="4824536" cy="181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runButt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94884" y="3912696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 descr="C:\Apps\CCSTraining\WORKSHOP\CC2650\ss\2650lab2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238190"/>
            <a:ext cx="40671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5"/>
          <p:cNvSpPr>
            <a:spLocks noChangeArrowheads="1"/>
          </p:cNvSpPr>
          <p:nvPr/>
        </p:nvSpPr>
        <p:spPr bwMode="auto">
          <a:xfrm>
            <a:off x="720866" y="2246842"/>
            <a:ext cx="3426974" cy="1293971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The default behavior is to use a software breakpoint unless the program address is in a memory region known to the debugger as read-only memory (as in this case) by the debugger </a:t>
            </a:r>
            <a:r>
              <a:rPr lang="en-CA" sz="1400" b="1" dirty="0" smtClean="0">
                <a:latin typeface="Arial Narrow" panose="020B0606020202030204" pitchFamily="34" charset="0"/>
                <a:hlinkClick r:id="rId7"/>
              </a:rPr>
              <a:t>memory map</a:t>
            </a:r>
            <a:endParaRPr lang="en-CA" sz="1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8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Debugging: Using </a:t>
            </a:r>
            <a:r>
              <a:rPr lang="en-CA" dirty="0" err="1" smtClean="0"/>
              <a:t>Watchpoints</a:t>
            </a:r>
            <a:endParaRPr lang="en-US" dirty="0" smtClean="0"/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>
          <a:xfrm>
            <a:off x="333375" y="980728"/>
            <a:ext cx="8487097" cy="5328592"/>
          </a:xfrm>
        </p:spPr>
        <p:txBody>
          <a:bodyPr/>
          <a:lstStyle/>
          <a:p>
            <a:r>
              <a:rPr lang="pt-BR" dirty="0" smtClean="0">
                <a:solidFill>
                  <a:srgbClr val="0066FF"/>
                </a:solidFill>
              </a:rPr>
              <a:t>A </a:t>
            </a:r>
            <a:r>
              <a:rPr lang="pt-BR" b="1" dirty="0" smtClean="0">
                <a:solidFill>
                  <a:srgbClr val="0066FF"/>
                </a:solidFill>
              </a:rPr>
              <a:t>Watchpoint</a:t>
            </a:r>
            <a:r>
              <a:rPr lang="pt-BR" dirty="0" smtClean="0">
                <a:solidFill>
                  <a:srgbClr val="0066FF"/>
                </a:solidFill>
              </a:rPr>
              <a:t> is a type of breakpoint that monitors activity at a memory address</a:t>
            </a:r>
          </a:p>
          <a:p>
            <a:r>
              <a:rPr lang="pt-BR" dirty="0" smtClean="0">
                <a:solidFill>
                  <a:srgbClr val="0066FF"/>
                </a:solidFill>
              </a:rPr>
              <a:t>In</a:t>
            </a:r>
            <a:r>
              <a:rPr lang="pt-BR" b="0" dirty="0" smtClean="0">
                <a:solidFill>
                  <a:srgbClr val="0066FF"/>
                </a:solidFill>
              </a:rPr>
              <a:t> this step we will </a:t>
            </a:r>
            <a:r>
              <a:rPr lang="pt-BR" dirty="0" smtClean="0">
                <a:solidFill>
                  <a:srgbClr val="0066FF"/>
                </a:solidFill>
              </a:rPr>
              <a:t>halt the CPU only when the LEFT button is pressed by setting a watchpoint to halt the CPU</a:t>
            </a:r>
            <a:endParaRPr lang="en-US" b="0" dirty="0" smtClean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Hover your mouse cursor over the </a:t>
            </a:r>
            <a:r>
              <a:rPr lang="en-US" b="1" dirty="0" err="1" smtClean="0"/>
              <a:t>Board_KEY_LEFT</a:t>
            </a:r>
            <a:r>
              <a:rPr lang="en-US" b="1" dirty="0" smtClean="0"/>
              <a:t>  </a:t>
            </a:r>
            <a:r>
              <a:rPr lang="en-US" dirty="0" smtClean="0"/>
              <a:t>macro on </a:t>
            </a:r>
            <a:r>
              <a:rPr lang="en-US" b="1" dirty="0" smtClean="0"/>
              <a:t>line 103</a:t>
            </a:r>
            <a:r>
              <a:rPr lang="en-US" dirty="0" smtClean="0"/>
              <a:t> an wait for the tool tip pop-up to get the value of the macro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r>
              <a:rPr lang="en-US" dirty="0" smtClean="0">
                <a:solidFill>
                  <a:srgbClr val="0066FF"/>
                </a:solidFill>
              </a:rPr>
              <a:t>If the tool tip pop-up is not appearing, try double-clicking the macro to highlight it and hover over it again</a:t>
            </a:r>
            <a:endParaRPr lang="en-US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66" y="1024958"/>
            <a:ext cx="288000" cy="2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66" y="1809053"/>
            <a:ext cx="288000" cy="288000"/>
          </a:xfrm>
          <a:prstGeom prst="rect">
            <a:avLst/>
          </a:prstGeom>
        </p:spPr>
      </p:pic>
      <p:pic>
        <p:nvPicPr>
          <p:cNvPr id="2050" name="Picture 2" descr="C:\Apps\CCSTraining\WORKSHOP\CC2650\ss\2650lab2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34290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27" y="5517232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Debugging: Using </a:t>
            </a:r>
            <a:r>
              <a:rPr lang="en-CA" dirty="0" err="1" smtClean="0"/>
              <a:t>Watchpoints</a:t>
            </a:r>
            <a:endParaRPr lang="en-US" dirty="0" smtClean="0"/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>
          <a:xfrm>
            <a:off x="333375" y="980728"/>
            <a:ext cx="8487097" cy="5328592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/>
              <a:t>Highlight </a:t>
            </a:r>
            <a:r>
              <a:rPr lang="en-US" b="1" dirty="0" err="1" smtClean="0"/>
              <a:t>pinId</a:t>
            </a:r>
            <a:r>
              <a:rPr lang="en-US" dirty="0" smtClean="0"/>
              <a:t>, right-click and select </a:t>
            </a:r>
            <a:r>
              <a:rPr lang="en-US" i="1" dirty="0" smtClean="0"/>
              <a:t>Breakpoint -&gt; Hardware </a:t>
            </a:r>
            <a:r>
              <a:rPr lang="en-US" i="1" dirty="0" err="1" smtClean="0"/>
              <a:t>Watchpoint</a:t>
            </a:r>
            <a:r>
              <a:rPr lang="en-US" i="1" dirty="0" smtClean="0"/>
              <a:t> </a:t>
            </a:r>
            <a:r>
              <a:rPr lang="en-US" dirty="0" smtClean="0"/>
              <a:t>in the context menu</a:t>
            </a:r>
            <a:endParaRPr lang="en-US" i="1" dirty="0" smtClean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endParaRPr lang="en-US" dirty="0" smtClean="0"/>
          </a:p>
          <a:p>
            <a:pPr marL="457200" indent="-457200">
              <a:buFont typeface="+mj-lt"/>
              <a:buAutoNum type="arabicPeriod" startAt="2"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3074" name="Picture 2" descr="C:\Apps\CCSTraining\WORKSHOP\CC2650\ss\2650lab2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92" y="1860320"/>
            <a:ext cx="7440613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Apps\CCSTraining\WORKSHOP\CC2650\ss\2650lab2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92" y="3626782"/>
            <a:ext cx="6507162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own Arrow 13"/>
          <p:cNvSpPr/>
          <p:nvPr/>
        </p:nvSpPr>
        <p:spPr>
          <a:xfrm>
            <a:off x="4355976" y="2996952"/>
            <a:ext cx="648072" cy="72008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2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CA" dirty="0" smtClean="0"/>
              <a:t>Right-click on the </a:t>
            </a:r>
            <a:r>
              <a:rPr lang="en-CA" dirty="0" err="1" smtClean="0"/>
              <a:t>watchpoint</a:t>
            </a:r>
            <a:r>
              <a:rPr lang="en-CA" dirty="0" smtClean="0"/>
              <a:t> in the </a:t>
            </a:r>
            <a:r>
              <a:rPr lang="en-CA" b="1" dirty="0" smtClean="0"/>
              <a:t>Breakpoints</a:t>
            </a:r>
            <a:r>
              <a:rPr lang="en-CA" dirty="0" smtClean="0"/>
              <a:t> view and select </a:t>
            </a:r>
            <a:r>
              <a:rPr lang="en-CA" b="1" dirty="0" smtClean="0"/>
              <a:t>Breakpoint Properties</a:t>
            </a:r>
            <a:r>
              <a:rPr lang="en-CA" dirty="0" smtClean="0"/>
              <a:t> in the context menu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CA" dirty="0" smtClean="0"/>
              <a:t>Modify the properties to match the settings in the screenshot below</a:t>
            </a:r>
          </a:p>
          <a:p>
            <a:pPr marL="457200" indent="-457200">
              <a:buFont typeface="+mj-lt"/>
              <a:buAutoNum type="arabicPeriod" startAt="3"/>
            </a:pP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CA" dirty="0" smtClean="0"/>
          </a:p>
          <a:p>
            <a:pPr marL="457200" indent="-457200">
              <a:buFont typeface="+mj-lt"/>
              <a:buAutoNum type="arabicPeriod" startAt="3"/>
            </a:pP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CA" dirty="0" smtClean="0"/>
          </a:p>
          <a:p>
            <a:pPr marL="457200" indent="-457200">
              <a:buFont typeface="+mj-lt"/>
              <a:buAutoNum type="arabicPeriod" startAt="3"/>
            </a:pPr>
            <a:endParaRPr lang="en-CA" dirty="0"/>
          </a:p>
          <a:p>
            <a:pPr marL="457200" indent="-457200">
              <a:buFont typeface="+mj-lt"/>
              <a:buAutoNum type="arabicPeriod" startAt="3"/>
            </a:pPr>
            <a:endParaRPr lang="en-CA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n-CA" dirty="0" smtClean="0"/>
              <a:t>Hit </a:t>
            </a:r>
            <a:r>
              <a:rPr lang="en-CA" b="1" dirty="0" smtClean="0"/>
              <a:t>OK</a:t>
            </a:r>
            <a:r>
              <a:rPr lang="en-CA" dirty="0" smtClean="0"/>
              <a:t> to apply changes</a:t>
            </a:r>
          </a:p>
          <a:p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endParaRPr lang="en-CA" dirty="0" smtClean="0"/>
          </a:p>
          <a:p>
            <a:pPr>
              <a:buNone/>
            </a:pPr>
            <a:r>
              <a:rPr lang="en-CA" dirty="0" smtClean="0"/>
              <a:t/>
            </a:r>
            <a:br>
              <a:rPr lang="en-CA" dirty="0" smtClean="0"/>
            </a:br>
            <a:endParaRPr lang="en-CA" dirty="0" smtClean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Debugging: </a:t>
            </a:r>
            <a:r>
              <a:rPr lang="en-CA" dirty="0" err="1"/>
              <a:t>Watchpoints</a:t>
            </a:r>
            <a:endParaRPr lang="en-US" dirty="0"/>
          </a:p>
        </p:txBody>
      </p:sp>
      <p:pic>
        <p:nvPicPr>
          <p:cNvPr id="4098" name="Picture 2" descr="C:\Apps\CCSTraining\WORKSHOP\CC2650\ss\2650lab2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29" y="2375597"/>
            <a:ext cx="5726895" cy="308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1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/>
              <a:t>Debugging: Using </a:t>
            </a:r>
            <a:r>
              <a:rPr lang="en-CA" dirty="0" err="1" smtClean="0"/>
              <a:t>Watchpoints</a:t>
            </a:r>
            <a:endParaRPr lang="en-US" dirty="0" smtClean="0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179513" y="980729"/>
            <a:ext cx="8964488" cy="4896544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 startAt="6"/>
            </a:pPr>
            <a:r>
              <a:rPr lang="en-US" dirty="0" smtClean="0"/>
              <a:t>Run     the target again</a:t>
            </a:r>
          </a:p>
          <a:p>
            <a:pPr marL="457200" indent="-457200" eaLnBrk="1" hangingPunct="1">
              <a:buFont typeface="+mj-lt"/>
              <a:buAutoNum type="arabicPeriod" startAt="6"/>
            </a:pPr>
            <a:r>
              <a:rPr lang="en-US" dirty="0" smtClean="0"/>
              <a:t>Press any directional/SELECT button on the SmartRF06 board except for the LEFT directional button (note the LEDs toggling based on the button pressed)</a:t>
            </a:r>
          </a:p>
          <a:p>
            <a:pPr marL="457200" indent="-457200" eaLnBrk="1" hangingPunct="1">
              <a:buFont typeface="+mj-lt"/>
              <a:buAutoNum type="arabicPeriod" startAt="6"/>
            </a:pPr>
            <a:r>
              <a:rPr lang="en-US" dirty="0" smtClean="0"/>
              <a:t>Press the LEFT directional button and note how the target will halt at </a:t>
            </a:r>
            <a:r>
              <a:rPr lang="en-US" b="1" dirty="0" smtClean="0"/>
              <a:t>line 99</a:t>
            </a:r>
            <a:r>
              <a:rPr lang="en-US" dirty="0" smtClean="0"/>
              <a:t> of </a:t>
            </a:r>
            <a:r>
              <a:rPr lang="en-US" b="1" dirty="0" err="1" smtClean="0"/>
              <a:t>pinInterrupt.c</a:t>
            </a:r>
            <a:endParaRPr lang="en-US" b="1" dirty="0" smtClean="0"/>
          </a:p>
          <a:p>
            <a:pPr marL="457200" indent="-457200" eaLnBrk="1" hangingPunct="1">
              <a:buFont typeface="+mj-lt"/>
              <a:buAutoNum type="arabicPeriod" startAt="6"/>
            </a:pPr>
            <a:r>
              <a:rPr lang="en-US" dirty="0" smtClean="0"/>
              <a:t>Hover the mouse cursor over </a:t>
            </a:r>
            <a:r>
              <a:rPr lang="en-US" b="1" dirty="0" err="1" smtClean="0"/>
              <a:t>pinId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and note the value in 0xF (hex)</a:t>
            </a:r>
          </a:p>
          <a:p>
            <a:pPr marL="457200" indent="-457200" eaLnBrk="1" hangingPunct="1">
              <a:buFont typeface="+mj-lt"/>
              <a:buAutoNum type="arabicPeriod" startAt="6"/>
            </a:pPr>
            <a:r>
              <a:rPr lang="en-US" dirty="0"/>
              <a:t>Remove the </a:t>
            </a:r>
            <a:r>
              <a:rPr lang="en-US" dirty="0" err="1"/>
              <a:t>watchpoint</a:t>
            </a:r>
            <a:r>
              <a:rPr lang="en-US" dirty="0"/>
              <a:t> using 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Remove </a:t>
            </a:r>
            <a:r>
              <a:rPr lang="en-US" b="1" dirty="0"/>
              <a:t>All Breakpoints</a:t>
            </a:r>
            <a:r>
              <a:rPr lang="en-US" dirty="0"/>
              <a:t> button</a:t>
            </a:r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/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 smtClean="0"/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/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 smtClean="0"/>
          </a:p>
          <a:p>
            <a:pPr marL="341312" lvl="1" indent="0" eaLnBrk="1" hangingPunct="1">
              <a:buNone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pt-BR" dirty="0" smtClean="0"/>
          </a:p>
          <a:p>
            <a:pPr marL="381000" indent="-381000" eaLnBrk="1" hangingPunct="1"/>
            <a:endParaRPr lang="en-US" dirty="0" smtClean="0"/>
          </a:p>
        </p:txBody>
      </p:sp>
      <p:pic>
        <p:nvPicPr>
          <p:cNvPr id="6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5153" y="1052736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 descr="C:\Apps\CCSTraining\WORKSHOP\CC2650\ss\2650lab2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278" y="2996952"/>
            <a:ext cx="38100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96" y="4614671"/>
            <a:ext cx="2000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915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/>
              <a:t>Debugging: </a:t>
            </a:r>
            <a:r>
              <a:rPr lang="en-US" dirty="0"/>
              <a:t>Counting Events</a:t>
            </a:r>
            <a:endParaRPr lang="en-US" dirty="0" smtClean="0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179513" y="980729"/>
            <a:ext cx="8964488" cy="4896544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dirty="0"/>
              <a:t>Run     the target </a:t>
            </a:r>
            <a:r>
              <a:rPr lang="en-US" dirty="0" smtClean="0"/>
              <a:t>again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dirty="0" smtClean="0"/>
              <a:t>Set breakpoints on </a:t>
            </a:r>
            <a:r>
              <a:rPr lang="en-US" b="1" dirty="0" smtClean="0"/>
              <a:t>line 96</a:t>
            </a:r>
            <a:r>
              <a:rPr lang="en-US" dirty="0" smtClean="0"/>
              <a:t> and </a:t>
            </a:r>
            <a:r>
              <a:rPr lang="en-US" b="1" dirty="0" smtClean="0"/>
              <a:t>100</a:t>
            </a:r>
            <a:r>
              <a:rPr lang="en-US" dirty="0" smtClean="0"/>
              <a:t> of</a:t>
            </a:r>
            <a:r>
              <a:rPr lang="en-US" b="1" dirty="0" smtClean="0"/>
              <a:t> </a:t>
            </a:r>
            <a:r>
              <a:rPr lang="en-US" b="1" dirty="0" err="1" smtClean="0"/>
              <a:t>pinInterrupt.c</a:t>
            </a:r>
            <a:r>
              <a:rPr lang="en-US" dirty="0" smtClean="0"/>
              <a:t> by double-clicking in the editor margins</a:t>
            </a:r>
          </a:p>
          <a:p>
            <a:pPr marL="457200" indent="-457200" eaLnBrk="1" hangingPunct="1">
              <a:buFont typeface="+mj-lt"/>
              <a:buAutoNum type="arabicPeriod"/>
            </a:pPr>
            <a:endParaRPr lang="en-US" dirty="0"/>
          </a:p>
          <a:p>
            <a:pPr marL="457200" indent="-457200" eaLnBrk="1" hangingPunct="1">
              <a:buFont typeface="+mj-lt"/>
              <a:buAutoNum type="arabicPeriod"/>
            </a:pPr>
            <a:endParaRPr lang="en-US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dirty="0"/>
              <a:t>Press any directional/SELECT button on the SmartRF06 </a:t>
            </a:r>
            <a:r>
              <a:rPr lang="en-US" dirty="0" smtClean="0"/>
              <a:t>board</a:t>
            </a:r>
          </a:p>
          <a:p>
            <a:pPr eaLnBrk="1" hangingPunct="1"/>
            <a:r>
              <a:rPr lang="en-US" dirty="0" smtClean="0">
                <a:solidFill>
                  <a:srgbClr val="0066FF"/>
                </a:solidFill>
              </a:rPr>
              <a:t>Note that the target has halted at the first breakpoint</a:t>
            </a:r>
            <a:endParaRPr lang="en-US" dirty="0">
              <a:solidFill>
                <a:srgbClr val="0066FF"/>
              </a:solidFill>
            </a:endParaRPr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/>
          </a:p>
          <a:p>
            <a:pPr marL="341312" lvl="1" indent="0" eaLnBrk="1" hangingPunct="1">
              <a:buNone/>
            </a:pP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dirty="0" smtClean="0">
              <a:solidFill>
                <a:srgbClr val="0066FF"/>
              </a:solidFill>
            </a:endParaRPr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pt-BR" dirty="0" smtClean="0"/>
          </a:p>
          <a:p>
            <a:pPr marL="381000" indent="-381000" eaLnBrk="1" hangingPunct="1"/>
            <a:endParaRPr lang="en-US" dirty="0" smtClean="0"/>
          </a:p>
        </p:txBody>
      </p:sp>
      <p:pic>
        <p:nvPicPr>
          <p:cNvPr id="8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8326" y="1052736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 descr="C:\Apps\CCSTraining\WORKSHOP\CC2650\ss\2650lab2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261" y="1916832"/>
            <a:ext cx="285750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6" y="3861048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7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Content Placeholder 2"/>
          <p:cNvSpPr>
            <a:spLocks noGrp="1"/>
          </p:cNvSpPr>
          <p:nvPr>
            <p:ph idx="1"/>
          </p:nvPr>
        </p:nvSpPr>
        <p:spPr>
          <a:xfrm>
            <a:off x="510981" y="968614"/>
            <a:ext cx="8041923" cy="5268698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Set event counters from the </a:t>
            </a:r>
            <a:r>
              <a:rPr lang="en-US" b="1" dirty="0" smtClean="0">
                <a:solidFill>
                  <a:srgbClr val="0066FF"/>
                </a:solidFill>
              </a:rPr>
              <a:t>Breakpoints</a:t>
            </a:r>
            <a:r>
              <a:rPr lang="en-US" dirty="0" smtClean="0">
                <a:solidFill>
                  <a:srgbClr val="0066FF"/>
                </a:solidFill>
              </a:rPr>
              <a:t> view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dirty="0" smtClean="0"/>
              <a:t>Set a event counter to count cycles</a:t>
            </a:r>
          </a:p>
          <a:p>
            <a:pPr marL="347662" lvl="1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CA" sz="2400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CA" dirty="0"/>
              <a:t>Right-click on the </a:t>
            </a:r>
            <a:r>
              <a:rPr lang="en-CA" dirty="0" smtClean="0"/>
              <a:t>event counter in </a:t>
            </a:r>
            <a:r>
              <a:rPr lang="en-CA" dirty="0"/>
              <a:t>the </a:t>
            </a:r>
            <a:r>
              <a:rPr lang="en-CA" b="1" dirty="0"/>
              <a:t>Breakpoints</a:t>
            </a:r>
            <a:r>
              <a:rPr lang="en-CA" dirty="0"/>
              <a:t> view and select </a:t>
            </a:r>
            <a:r>
              <a:rPr lang="en-CA" b="1" dirty="0"/>
              <a:t>Breakpoint Properties</a:t>
            </a:r>
            <a:r>
              <a:rPr lang="en-CA" dirty="0"/>
              <a:t> in the context </a:t>
            </a:r>
            <a:r>
              <a:rPr lang="en-CA" dirty="0" smtClean="0"/>
              <a:t>menu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CA" dirty="0" smtClean="0"/>
              <a:t>Enable the </a:t>
            </a:r>
            <a:r>
              <a:rPr lang="en-CA" b="1" dirty="0" smtClean="0"/>
              <a:t>Reset</a:t>
            </a:r>
            <a:br>
              <a:rPr lang="en-CA" b="1" dirty="0" smtClean="0"/>
            </a:br>
            <a:r>
              <a:rPr lang="en-CA" b="1" dirty="0" smtClean="0"/>
              <a:t>Count on Run</a:t>
            </a:r>
            <a:br>
              <a:rPr lang="en-CA" b="1" dirty="0" smtClean="0"/>
            </a:br>
            <a:r>
              <a:rPr lang="en-CA" dirty="0" smtClean="0"/>
              <a:t>option in the</a:t>
            </a:r>
            <a:br>
              <a:rPr lang="en-CA" dirty="0" smtClean="0"/>
            </a:br>
            <a:r>
              <a:rPr lang="en-CA" dirty="0" smtClean="0"/>
              <a:t>properties dialog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CA" dirty="0" smtClean="0"/>
              <a:t>Press </a:t>
            </a:r>
            <a:r>
              <a:rPr lang="en-CA" b="1" dirty="0" smtClean="0"/>
              <a:t>OK</a:t>
            </a:r>
            <a:r>
              <a:rPr lang="en-CA" dirty="0" smtClean="0"/>
              <a:t/>
            </a:r>
            <a:br>
              <a:rPr lang="en-CA" dirty="0" smtClean="0"/>
            </a:br>
            <a:endParaRPr lang="en-CA" dirty="0"/>
          </a:p>
          <a:p>
            <a:pPr marL="804862" lvl="1" indent="-457200">
              <a:buFont typeface="+mj-lt"/>
              <a:buAutoNum type="arabicPeriod" startAt="2"/>
            </a:pPr>
            <a:endParaRPr lang="en-US" dirty="0" smtClean="0"/>
          </a:p>
          <a:p>
            <a:pPr marL="341312" lvl="1" indent="0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Debugging: Counting Events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36" y="1052736"/>
            <a:ext cx="288000" cy="288000"/>
          </a:xfrm>
          <a:prstGeom prst="rect">
            <a:avLst/>
          </a:prstGeom>
        </p:spPr>
      </p:pic>
      <p:pic>
        <p:nvPicPr>
          <p:cNvPr id="18434" name="Picture 2" descr="C:\Users\a0389327\Dropbox\Work\lprf\ss\3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44824"/>
            <a:ext cx="28289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5" name="Picture 3" descr="C:\Users\a0389327\Dropbox\Work\lprf\ss\3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123883"/>
            <a:ext cx="2419174" cy="159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Down Arrow 10"/>
          <p:cNvSpPr/>
          <p:nvPr/>
        </p:nvSpPr>
        <p:spPr>
          <a:xfrm rot="16200000">
            <a:off x="4716016" y="1822351"/>
            <a:ext cx="432048" cy="86409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6" name="Picture 4" descr="C:\Users\a0389327\Dropbox\Work\lprf\ss\3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429000"/>
            <a:ext cx="5764758" cy="287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25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/>
              <a:t>Debugging: </a:t>
            </a:r>
            <a:r>
              <a:rPr lang="en-US" dirty="0"/>
              <a:t>Counting Events</a:t>
            </a:r>
            <a:endParaRPr lang="en-US" dirty="0" smtClean="0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179513" y="980729"/>
            <a:ext cx="8964488" cy="4896544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 startAt="8"/>
            </a:pPr>
            <a:r>
              <a:rPr lang="en-US" dirty="0"/>
              <a:t>Run     the target </a:t>
            </a:r>
            <a:r>
              <a:rPr lang="en-US" dirty="0" smtClean="0"/>
              <a:t>again</a:t>
            </a:r>
          </a:p>
          <a:p>
            <a:pPr eaLnBrk="1" hangingPunct="1"/>
            <a:r>
              <a:rPr lang="en-US" dirty="0" smtClean="0">
                <a:solidFill>
                  <a:srgbClr val="0066FF"/>
                </a:solidFill>
              </a:rPr>
              <a:t>The target will halt at the second breakpoint and the event counter will display the number of cycles executed since the last breakpoint</a:t>
            </a:r>
          </a:p>
          <a:p>
            <a:pPr marL="457200" indent="-457200" eaLnBrk="1" hangingPunct="1">
              <a:buFont typeface="+mj-lt"/>
              <a:buAutoNum type="arabicPeriod" startAt="6"/>
            </a:pPr>
            <a:endParaRPr lang="en-US" dirty="0"/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 smtClean="0"/>
          </a:p>
          <a:p>
            <a:pPr marL="381000" indent="-381000" eaLnBrk="1" hangingPunct="1">
              <a:buFont typeface="+mj-lt"/>
              <a:buAutoNum type="arabicPeriod" startAt="6"/>
            </a:pPr>
            <a:endParaRPr lang="en-US" b="1" dirty="0"/>
          </a:p>
          <a:p>
            <a:pPr marL="457200" indent="-457200" eaLnBrk="1" hangingPunct="1">
              <a:buFont typeface="+mj-lt"/>
              <a:buAutoNum type="arabicPeriod" startAt="9"/>
            </a:pPr>
            <a:r>
              <a:rPr lang="en-US" dirty="0"/>
              <a:t>Remove the </a:t>
            </a:r>
            <a:r>
              <a:rPr lang="en-US" dirty="0" smtClean="0"/>
              <a:t>event counter and breakpoints by using </a:t>
            </a:r>
            <a:r>
              <a:rPr lang="en-US" dirty="0"/>
              <a:t>the </a:t>
            </a:r>
            <a:r>
              <a:rPr lang="en-US" b="1" dirty="0"/>
              <a:t>Remove All Breakpoints</a:t>
            </a:r>
            <a:r>
              <a:rPr lang="en-US" dirty="0"/>
              <a:t> button</a:t>
            </a:r>
          </a:p>
          <a:p>
            <a:pPr marL="381000" indent="-381000" eaLnBrk="1" hangingPunct="1">
              <a:buFont typeface="+mj-lt"/>
              <a:buAutoNum type="arabicPeriod" startAt="9"/>
            </a:pPr>
            <a:endParaRPr lang="en-US" b="1" dirty="0"/>
          </a:p>
          <a:p>
            <a:pPr marL="341312" lvl="1" indent="0" eaLnBrk="1" hangingPunct="1">
              <a:buNone/>
            </a:pP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 smtClean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dirty="0" smtClean="0">
              <a:solidFill>
                <a:srgbClr val="0066FF"/>
              </a:solidFill>
            </a:endParaRPr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en-US" dirty="0" smtClean="0"/>
          </a:p>
          <a:p>
            <a:pPr marL="381000" indent="-381000" eaLnBrk="1" hangingPunct="1"/>
            <a:endParaRPr lang="pt-BR" dirty="0" smtClean="0"/>
          </a:p>
          <a:p>
            <a:pPr marL="381000" indent="-381000" eaLnBrk="1" hangingPunct="1"/>
            <a:endParaRPr lang="en-US" dirty="0" smtClean="0"/>
          </a:p>
        </p:txBody>
      </p:sp>
      <p:pic>
        <p:nvPicPr>
          <p:cNvPr id="8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8326" y="1052736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221088"/>
            <a:ext cx="2000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 descr="C:\Apps\CCSTraining\WORKSHOP\CC2650\ss\2650lab2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6478588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4" y="148478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More Debugging (Review)</a:t>
            </a:r>
          </a:p>
        </p:txBody>
      </p:sp>
      <p:sp>
        <p:nvSpPr>
          <p:cNvPr id="1105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 smtClean="0"/>
              <a:t>Investigate other debugging views </a:t>
            </a:r>
            <a:br>
              <a:rPr lang="en-CA" dirty="0" smtClean="0"/>
            </a:br>
            <a:r>
              <a:rPr lang="en-CA" dirty="0" smtClean="0"/>
              <a:t>(Open via </a:t>
            </a:r>
            <a:r>
              <a:rPr lang="en-CA" i="1" dirty="0" smtClean="0"/>
              <a:t>View</a:t>
            </a:r>
            <a:r>
              <a:rPr lang="en-CA" dirty="0" smtClean="0"/>
              <a:t> menu)</a:t>
            </a:r>
          </a:p>
          <a:p>
            <a:pPr lvl="1"/>
            <a:r>
              <a:rPr lang="en-CA" dirty="0" smtClean="0"/>
              <a:t>Memory Browser</a:t>
            </a:r>
          </a:p>
          <a:p>
            <a:pPr lvl="1"/>
            <a:r>
              <a:rPr lang="en-CA" dirty="0" smtClean="0"/>
              <a:t>Registers</a:t>
            </a:r>
          </a:p>
          <a:p>
            <a:pPr lvl="1"/>
            <a:r>
              <a:rPr lang="en-CA" dirty="0" smtClean="0"/>
              <a:t>Modules</a:t>
            </a:r>
          </a:p>
          <a:p>
            <a:pPr lvl="1"/>
            <a:r>
              <a:rPr lang="en-CA" dirty="0" smtClean="0"/>
              <a:t>Disassembly (see next slide)</a:t>
            </a:r>
          </a:p>
        </p:txBody>
      </p:sp>
      <p:pic>
        <p:nvPicPr>
          <p:cNvPr id="21506" name="Picture 2" descr="C:\Users\a0389327\Dropbox\Work\lprf\ss\3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980728"/>
            <a:ext cx="37719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48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View: </a:t>
            </a:r>
            <a:r>
              <a:rPr lang="en-CA" i="1" dirty="0" smtClean="0"/>
              <a:t>Disassembly</a:t>
            </a:r>
          </a:p>
        </p:txBody>
      </p:sp>
      <p:sp>
        <p:nvSpPr>
          <p:cNvPr id="112642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415089" cy="388843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 smtClean="0"/>
              <a:t>Press the Restart button      to restart the program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Program should be at </a:t>
            </a:r>
            <a:r>
              <a:rPr lang="en-CA" b="1" dirty="0" smtClean="0">
                <a:solidFill>
                  <a:srgbClr val="0066FF"/>
                </a:solidFill>
              </a:rPr>
              <a:t>main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 smtClean="0"/>
              <a:t>Open the disassembly view by going to </a:t>
            </a:r>
            <a:r>
              <a:rPr lang="en-CA" i="1" dirty="0" smtClean="0"/>
              <a:t>View -&gt; Disassembly</a:t>
            </a:r>
            <a:endParaRPr lang="en-CA" i="1" dirty="0"/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You can see the current location of the PC (small blue arrow) and any breakpoints (small blue circles)</a:t>
            </a:r>
            <a:endParaRPr lang="en-CA" dirty="0" smtClean="0"/>
          </a:p>
          <a:p>
            <a:pPr marL="457200" indent="-457200">
              <a:buFont typeface="+mj-lt"/>
              <a:buAutoNum type="arabicPeriod"/>
            </a:pPr>
            <a:r>
              <a:rPr lang="en-CA" dirty="0" smtClean="0"/>
              <a:t>Toggle the </a:t>
            </a:r>
            <a:r>
              <a:rPr lang="en-CA" b="1" dirty="0" smtClean="0"/>
              <a:t>Show </a:t>
            </a:r>
            <a:br>
              <a:rPr lang="en-CA" b="1" dirty="0" smtClean="0"/>
            </a:br>
            <a:r>
              <a:rPr lang="en-CA" b="1" dirty="0" smtClean="0"/>
              <a:t>Source</a:t>
            </a:r>
            <a:r>
              <a:rPr lang="en-CA" dirty="0" smtClean="0"/>
              <a:t> button 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Note the toggling of </a:t>
            </a:r>
            <a:br>
              <a:rPr lang="en-CA" dirty="0" smtClean="0">
                <a:solidFill>
                  <a:srgbClr val="0066FF"/>
                </a:solidFill>
              </a:rPr>
            </a:br>
            <a:r>
              <a:rPr lang="en-CA" dirty="0" smtClean="0">
                <a:solidFill>
                  <a:srgbClr val="0066FF"/>
                </a:solidFill>
              </a:rPr>
              <a:t>interleaved source </a:t>
            </a:r>
            <a:br>
              <a:rPr lang="en-CA" dirty="0" smtClean="0">
                <a:solidFill>
                  <a:srgbClr val="0066FF"/>
                </a:solidFill>
              </a:rPr>
            </a:br>
            <a:r>
              <a:rPr lang="en-CA" dirty="0" smtClean="0">
                <a:solidFill>
                  <a:srgbClr val="0066FF"/>
                </a:solidFill>
              </a:rPr>
              <a:t>with the disassembly</a:t>
            </a:r>
          </a:p>
          <a:p>
            <a:pPr lvl="1"/>
            <a:endParaRPr lang="en-CA" sz="1400" dirty="0" smtClean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73" y="2350021"/>
            <a:ext cx="2921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124744"/>
            <a:ext cx="2476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73" y="3718173"/>
            <a:ext cx="2921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73" y="1487305"/>
            <a:ext cx="2921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C:\Apps\CCSTraining\WORKSHOP\CC2650\ss\2650lab3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996952"/>
            <a:ext cx="561022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25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Clean Up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Remove all breakpoints    from the </a:t>
            </a:r>
            <a:r>
              <a:rPr lang="en-US" b="1" dirty="0" smtClean="0"/>
              <a:t>Breakpoints</a:t>
            </a:r>
            <a:r>
              <a:rPr lang="en-US" dirty="0" smtClean="0"/>
              <a:t> view (if any)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b="1" dirty="0" smtClean="0"/>
              <a:t>Terminate</a:t>
            </a:r>
            <a:r>
              <a:rPr lang="en-US" dirty="0" smtClean="0"/>
              <a:t>     the Debug Session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124744"/>
            <a:ext cx="2000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700808"/>
            <a:ext cx="1905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5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LAB 2: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1196752"/>
            <a:ext cx="8467725" cy="4968552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In this lab we completed the following: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Learned how to use breakpoints and </a:t>
            </a:r>
            <a:r>
              <a:rPr lang="en-CA" dirty="0" err="1" smtClean="0">
                <a:solidFill>
                  <a:srgbClr val="0066FF"/>
                </a:solidFill>
              </a:rPr>
              <a:t>watchpoints</a:t>
            </a:r>
            <a:endParaRPr lang="en-CA" dirty="0" smtClean="0">
              <a:solidFill>
                <a:srgbClr val="0066FF"/>
              </a:solidFill>
            </a:endParaRP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Learned how to count events (cycles)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Became familiar with the </a:t>
            </a:r>
            <a:r>
              <a:rPr lang="en-CA" b="1" dirty="0" smtClean="0">
                <a:solidFill>
                  <a:srgbClr val="0066FF"/>
                </a:solidFill>
              </a:rPr>
              <a:t>Disassembly </a:t>
            </a:r>
            <a:r>
              <a:rPr lang="en-CA" dirty="0" smtClean="0">
                <a:solidFill>
                  <a:srgbClr val="0066FF"/>
                </a:solidFill>
              </a:rPr>
              <a:t>view</a:t>
            </a:r>
          </a:p>
          <a:p>
            <a:pPr lvl="1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36800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498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755576" y="242088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3A: REAL-TIME DEBUG:</a:t>
            </a:r>
            <a:br>
              <a:rPr lang="en-CA" dirty="0" smtClean="0"/>
            </a:br>
            <a:r>
              <a:rPr lang="en-US" dirty="0"/>
              <a:t>LCD SmartRF06EB Example</a:t>
            </a: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 smtClean="0"/>
              <a:t>15 minutes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599236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LAB 3A: Exercise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1268760"/>
            <a:ext cx="8467725" cy="5123457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Key Objectives</a:t>
            </a:r>
          </a:p>
          <a:p>
            <a:pPr lvl="1"/>
            <a:r>
              <a:rPr lang="en-US" dirty="0">
                <a:solidFill>
                  <a:srgbClr val="0066FF"/>
                </a:solidFill>
              </a:rPr>
              <a:t>Demonstrate how to </a:t>
            </a:r>
            <a:r>
              <a:rPr lang="en-US" dirty="0" smtClean="0">
                <a:solidFill>
                  <a:srgbClr val="0066FF"/>
                </a:solidFill>
              </a:rPr>
              <a:t>access </a:t>
            </a:r>
            <a:r>
              <a:rPr lang="en-US" dirty="0">
                <a:solidFill>
                  <a:srgbClr val="0066FF"/>
                </a:solidFill>
              </a:rPr>
              <a:t>memory in real time when processor is running</a:t>
            </a:r>
          </a:p>
          <a:p>
            <a:r>
              <a:rPr lang="en-CA" dirty="0" smtClean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US" dirty="0">
                <a:solidFill>
                  <a:srgbClr val="0066FF"/>
                </a:solidFill>
              </a:rPr>
              <a:t>Real-time access to memory</a:t>
            </a:r>
            <a:endParaRPr lang="en-CA" dirty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Continuous refresh in views</a:t>
            </a:r>
            <a:endParaRPr lang="en-US" dirty="0">
              <a:solidFill>
                <a:srgbClr val="0066FF"/>
              </a:solidFill>
            </a:endParaRPr>
          </a:p>
          <a:p>
            <a:pPr marL="341312" lvl="1" indent="0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75157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Editing the Source Code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8472810" cy="500642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0" dirty="0" smtClean="0"/>
              <a:t>Open </a:t>
            </a:r>
            <a:r>
              <a:rPr lang="en-US" b="1" dirty="0" smtClean="0"/>
              <a:t>lcdSmartRF06EB.c </a:t>
            </a:r>
            <a:r>
              <a:rPr lang="en-US" dirty="0" smtClean="0"/>
              <a:t>source file in the editor (if not already opened) by double-clicking on the file in the Project Explorer </a:t>
            </a:r>
            <a:r>
              <a:rPr lang="en-US" dirty="0"/>
              <a:t>(under the </a:t>
            </a:r>
            <a:r>
              <a:rPr lang="en-US" b="1" dirty="0"/>
              <a:t>lcdSmartRF06EB_CC2650F128</a:t>
            </a:r>
            <a:r>
              <a:rPr lang="en-US" dirty="0"/>
              <a:t> project) </a:t>
            </a:r>
            <a:endParaRPr lang="en-US" b="0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0" dirty="0" smtClean="0"/>
              <a:t>Insert the following code:</a:t>
            </a:r>
          </a:p>
          <a:p>
            <a:pPr marL="804862" lvl="1" indent="-457200"/>
            <a:r>
              <a:rPr lang="en-US" b="1" dirty="0" smtClean="0">
                <a:cs typeface="Courier New" panose="02070309020205020404" pitchFamily="49" charset="0"/>
              </a:rPr>
              <a:t>Line 53: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uint32_t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gCounter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804862" lvl="1" indent="-457200"/>
            <a:r>
              <a:rPr lang="en-US" b="1" dirty="0" smtClean="0">
                <a:cs typeface="Courier New" panose="02070309020205020404" pitchFamily="49" charset="0"/>
              </a:rPr>
              <a:t>Line 163: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gCounter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counter;</a:t>
            </a:r>
          </a:p>
          <a:p>
            <a:pPr marL="457200" indent="-457200">
              <a:buFont typeface="+mj-lt"/>
              <a:buAutoNum type="arabicPeriod"/>
            </a:pPr>
            <a:endParaRPr lang="en-US" i="1" dirty="0"/>
          </a:p>
          <a:p>
            <a:pPr marL="457200" indent="-457200">
              <a:buFont typeface="+mj-lt"/>
              <a:buAutoNum type="arabicPeriod"/>
            </a:pPr>
            <a:endParaRPr lang="en-US" i="1" dirty="0" smtClean="0"/>
          </a:p>
          <a:p>
            <a:pPr marL="457200" indent="-457200">
              <a:buFont typeface="+mj-lt"/>
              <a:buAutoNum type="arabicPeriod"/>
            </a:pPr>
            <a:endParaRPr lang="en-US" i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</a:t>
            </a:r>
            <a:r>
              <a:rPr lang="en-US" dirty="0"/>
              <a:t>the </a:t>
            </a:r>
            <a:r>
              <a:rPr lang="en-US" b="1" dirty="0"/>
              <a:t>Debug</a:t>
            </a:r>
            <a:r>
              <a:rPr lang="en-US" dirty="0"/>
              <a:t> button    </a:t>
            </a:r>
            <a:r>
              <a:rPr lang="en-US" dirty="0" smtClean="0"/>
              <a:t> to </a:t>
            </a:r>
            <a:r>
              <a:rPr lang="en-US" dirty="0"/>
              <a:t>rebuild, load and run the program to </a:t>
            </a:r>
            <a:r>
              <a:rPr lang="en-US" b="1" dirty="0" smtClean="0"/>
              <a:t>main</a:t>
            </a:r>
          </a:p>
          <a:p>
            <a:pPr marL="804862" lvl="1" indent="-457200"/>
            <a:r>
              <a:rPr lang="en-US" dirty="0" smtClean="0">
                <a:solidFill>
                  <a:srgbClr val="0066FF"/>
                </a:solidFill>
              </a:rPr>
              <a:t>Make sure the </a:t>
            </a:r>
            <a:r>
              <a:rPr lang="en-US" b="1" dirty="0" smtClean="0">
                <a:solidFill>
                  <a:srgbClr val="0066FF"/>
                </a:solidFill>
              </a:rPr>
              <a:t>lcdSmartRF06EB_CC2650F128</a:t>
            </a:r>
            <a:r>
              <a:rPr lang="en-US" dirty="0" smtClean="0">
                <a:solidFill>
                  <a:srgbClr val="0066FF"/>
                </a:solidFill>
              </a:rPr>
              <a:t> project is selected (has </a:t>
            </a:r>
            <a:r>
              <a:rPr lang="en-US" u="sng" dirty="0" smtClean="0">
                <a:solidFill>
                  <a:srgbClr val="0066FF"/>
                </a:solidFill>
              </a:rPr>
              <a:t>context</a:t>
            </a:r>
            <a:r>
              <a:rPr lang="en-US" dirty="0" smtClean="0">
                <a:solidFill>
                  <a:srgbClr val="0066FF"/>
                </a:solidFill>
              </a:rPr>
              <a:t>)!</a:t>
            </a:r>
            <a:endParaRPr lang="en-US" dirty="0">
              <a:solidFill>
                <a:srgbClr val="0066FF"/>
              </a:solidFill>
            </a:endParaRPr>
          </a:p>
        </p:txBody>
      </p:sp>
      <p:pic>
        <p:nvPicPr>
          <p:cNvPr id="4098" name="Picture 2" descr="C:\Apps\CCSTraining\WORKSHOP\CC2650\ss\2650lab3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84984"/>
            <a:ext cx="40386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152" y="5013176"/>
            <a:ext cx="228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 descr="C:\Apps\CCSTraining\WORKSHOP\CC2650\ss\2650lab3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284984"/>
            <a:ext cx="40862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a0356111.ENT\AppData\Local\Microsoft\Windows\Temporary Internet Files\Low\Content.IE5\UCVU48Z8\MC900434750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5600480"/>
            <a:ext cx="360008" cy="3600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604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Adding Variables to the </a:t>
            </a:r>
            <a:r>
              <a:rPr lang="en-CA" i="1" dirty="0" smtClean="0"/>
              <a:t>Expressions </a:t>
            </a:r>
            <a:r>
              <a:rPr lang="en-CA" dirty="0" smtClean="0"/>
              <a:t>View</a:t>
            </a:r>
            <a:endParaRPr lang="en-US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8400802" cy="500642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Right-click on </a:t>
            </a:r>
            <a:r>
              <a:rPr lang="en-US" b="1" dirty="0" err="1" smtClean="0"/>
              <a:t>gCounter</a:t>
            </a:r>
            <a:r>
              <a:rPr lang="en-US" b="1" dirty="0" smtClean="0"/>
              <a:t> </a:t>
            </a:r>
            <a:r>
              <a:rPr lang="en-US" dirty="0" smtClean="0"/>
              <a:t>on </a:t>
            </a:r>
            <a:r>
              <a:rPr lang="en-US" b="1" dirty="0" smtClean="0"/>
              <a:t>line 53 </a:t>
            </a:r>
            <a:r>
              <a:rPr lang="en-US" dirty="0" smtClean="0"/>
              <a:t>of </a:t>
            </a:r>
            <a:br>
              <a:rPr lang="en-US" dirty="0" smtClean="0"/>
            </a:br>
            <a:r>
              <a:rPr lang="en-US" b="1" dirty="0"/>
              <a:t>lcdSmartRF06EB.c</a:t>
            </a:r>
            <a:r>
              <a:rPr lang="en-US" dirty="0" smtClean="0"/>
              <a:t> and select </a:t>
            </a:r>
            <a:r>
              <a:rPr lang="en-US" b="1" dirty="0" smtClean="0"/>
              <a:t>Add </a:t>
            </a:r>
            <a:br>
              <a:rPr lang="en-US" b="1" dirty="0" smtClean="0"/>
            </a:br>
            <a:r>
              <a:rPr lang="en-US" b="1" dirty="0" smtClean="0"/>
              <a:t>Watch Expression…</a:t>
            </a:r>
            <a:r>
              <a:rPr lang="en-US" dirty="0" smtClean="0"/>
              <a:t>  to add it to the </a:t>
            </a:r>
            <a:br>
              <a:rPr lang="en-US" dirty="0" smtClean="0"/>
            </a:br>
            <a:r>
              <a:rPr lang="en-US" b="1" dirty="0" smtClean="0"/>
              <a:t>Expressions</a:t>
            </a:r>
            <a:r>
              <a:rPr lang="en-US" dirty="0" smtClean="0"/>
              <a:t> view</a:t>
            </a:r>
          </a:p>
        </p:txBody>
      </p:sp>
      <p:pic>
        <p:nvPicPr>
          <p:cNvPr id="5122" name="Picture 2" descr="C:\Apps\CCSTraining\WORKSHOP\CC2650\ss\2650lab3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56" y="1124744"/>
            <a:ext cx="3366214" cy="334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Apps\CCSTraining\WORKSHOP\CC2650\ss\2650lab3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536" y="4653136"/>
            <a:ext cx="5805834" cy="139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own Arrow 11"/>
          <p:cNvSpPr/>
          <p:nvPr/>
        </p:nvSpPr>
        <p:spPr>
          <a:xfrm>
            <a:off x="7236296" y="4479644"/>
            <a:ext cx="432048" cy="50405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635896" y="4653136"/>
            <a:ext cx="936104" cy="2160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1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Adding Variables to the </a:t>
            </a:r>
            <a:r>
              <a:rPr lang="en-CA" i="1" dirty="0"/>
              <a:t>Expressions </a:t>
            </a:r>
            <a:r>
              <a:rPr lang="en-CA" dirty="0"/>
              <a:t>View</a:t>
            </a:r>
            <a:endParaRPr lang="en-US" i="1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8400802" cy="5006429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CA" dirty="0" smtClean="0">
                <a:sym typeface="Wingdings" pitchFamily="2" charset="2"/>
              </a:rPr>
              <a:t>Right-click </a:t>
            </a:r>
            <a:r>
              <a:rPr lang="en-CA" dirty="0">
                <a:sym typeface="Wingdings" pitchFamily="2" charset="2"/>
              </a:rPr>
              <a:t>on </a:t>
            </a:r>
            <a:r>
              <a:rPr lang="en-US" b="1" dirty="0" err="1" smtClean="0"/>
              <a:t>gCounter</a:t>
            </a:r>
            <a:r>
              <a:rPr lang="en-US" b="1" dirty="0" smtClean="0"/>
              <a:t> </a:t>
            </a:r>
            <a:r>
              <a:rPr lang="en-CA" dirty="0" smtClean="0">
                <a:sym typeface="Wingdings" pitchFamily="2" charset="2"/>
              </a:rPr>
              <a:t>in </a:t>
            </a:r>
            <a:r>
              <a:rPr lang="en-CA" dirty="0">
                <a:sym typeface="Wingdings" pitchFamily="2" charset="2"/>
              </a:rPr>
              <a:t>the </a:t>
            </a:r>
            <a:r>
              <a:rPr lang="en-US" b="1" dirty="0"/>
              <a:t>Expressions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CA" dirty="0" smtClean="0">
                <a:sym typeface="Wingdings" pitchFamily="2" charset="2"/>
              </a:rPr>
              <a:t>view and </a:t>
            </a:r>
            <a:r>
              <a:rPr lang="en-CA" dirty="0">
                <a:sym typeface="Wingdings" pitchFamily="2" charset="2"/>
              </a:rPr>
              <a:t>select </a:t>
            </a:r>
            <a:r>
              <a:rPr lang="en-CA" b="1" dirty="0" smtClean="0">
                <a:sym typeface="Wingdings" pitchFamily="2" charset="2"/>
              </a:rPr>
              <a:t>View Memory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The </a:t>
            </a:r>
            <a:r>
              <a:rPr lang="en-CA" b="1" dirty="0" smtClean="0">
                <a:solidFill>
                  <a:srgbClr val="0066FF"/>
                </a:solidFill>
                <a:sym typeface="Wingdings" pitchFamily="2" charset="2"/>
              </a:rPr>
              <a:t>Memory Browser</a:t>
            </a:r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 will open to the location of</a:t>
            </a:r>
            <a:br>
              <a:rPr lang="en-CA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CA" b="1" dirty="0" err="1">
                <a:solidFill>
                  <a:srgbClr val="0066FF"/>
                </a:solidFill>
                <a:sym typeface="Wingdings" pitchFamily="2" charset="2"/>
              </a:rPr>
              <a:t>g</a:t>
            </a:r>
            <a:r>
              <a:rPr lang="en-CA" b="1" dirty="0" err="1" smtClean="0">
                <a:solidFill>
                  <a:srgbClr val="0066FF"/>
                </a:solidFill>
                <a:sym typeface="Wingdings" pitchFamily="2" charset="2"/>
              </a:rPr>
              <a:t>Counter</a:t>
            </a:r>
            <a:r>
              <a:rPr lang="en-CA" b="1" dirty="0" smtClean="0">
                <a:solidFill>
                  <a:srgbClr val="0066FF"/>
                </a:solidFill>
                <a:sym typeface="Wingdings" pitchFamily="2" charset="2"/>
              </a:rPr>
              <a:t> </a:t>
            </a:r>
            <a:endParaRPr lang="en-US" dirty="0" smtClean="0">
              <a:solidFill>
                <a:srgbClr val="0066FF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6795433" y="3284984"/>
            <a:ext cx="432048" cy="50405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C:\Apps\CCSTraining\WORKSHOP\CC2650\ss\2650lab3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892" y="1241969"/>
            <a:ext cx="20097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Apps\CCSTraining\WORKSHOP\CC2650\ss\2650lab3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917310"/>
            <a:ext cx="428625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89694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9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i="1" dirty="0" smtClean="0"/>
              <a:t>Continuous Refresh</a:t>
            </a:r>
            <a:endParaRPr lang="en-US" i="1" dirty="0" smtClean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347662" y="1158875"/>
            <a:ext cx="8400802" cy="500642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Run      the target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Continuous Refresh</a:t>
            </a:r>
            <a:r>
              <a:rPr lang="en-US" dirty="0"/>
              <a:t>    in </a:t>
            </a:r>
            <a:r>
              <a:rPr lang="en-US" dirty="0" smtClean="0"/>
              <a:t>both the </a:t>
            </a:r>
            <a:r>
              <a:rPr lang="en-US" b="1" dirty="0" smtClean="0"/>
              <a:t>Expressions</a:t>
            </a:r>
            <a:r>
              <a:rPr lang="en-US" dirty="0" smtClean="0"/>
              <a:t> view and </a:t>
            </a:r>
            <a:r>
              <a:rPr lang="en-US" b="1" dirty="0" smtClean="0"/>
              <a:t>Memory Browser </a:t>
            </a:r>
            <a:r>
              <a:rPr lang="en-US" dirty="0" smtClean="0"/>
              <a:t>view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 smtClean="0">
                <a:solidFill>
                  <a:srgbClr val="0066FF"/>
                </a:solidFill>
              </a:rPr>
              <a:t>See the values update while the target is running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 smtClean="0"/>
              <a:t>Halt the target</a:t>
            </a:r>
            <a:endParaRPr lang="en-US" dirty="0"/>
          </a:p>
        </p:txBody>
      </p:sp>
      <p:pic>
        <p:nvPicPr>
          <p:cNvPr id="10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4774" y="1268760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785" y="1763786"/>
            <a:ext cx="200025" cy="200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013176"/>
            <a:ext cx="288000" cy="288000"/>
          </a:xfrm>
          <a:prstGeom prst="rect">
            <a:avLst/>
          </a:prstGeom>
        </p:spPr>
      </p:pic>
      <p:pic>
        <p:nvPicPr>
          <p:cNvPr id="7170" name="Picture 2" descr="C:\Apps\CCSTraining\WORKSHOP\CC2650\ss\2650lab38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67834"/>
            <a:ext cx="7792690" cy="263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5589240"/>
            <a:ext cx="180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97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Clean Up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Restart the program with the </a:t>
            </a:r>
            <a:r>
              <a:rPr lang="en-US" b="1" dirty="0" smtClean="0"/>
              <a:t>Restart</a:t>
            </a:r>
            <a:r>
              <a:rPr lang="en-US" dirty="0" smtClean="0"/>
              <a:t> button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Leave the application at </a:t>
            </a:r>
            <a:r>
              <a:rPr lang="en-US" b="1" dirty="0" smtClean="0"/>
              <a:t>main</a:t>
            </a:r>
            <a:r>
              <a:rPr lang="en-US" dirty="0" smtClean="0"/>
              <a:t>  for the next lab 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845" y="1105828"/>
            <a:ext cx="2667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64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</a:t>
            </a:r>
            <a:r>
              <a:rPr lang="en-CA" dirty="0" smtClean="0"/>
              <a:t>Access: </a:t>
            </a:r>
            <a:r>
              <a:rPr lang="en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After completing this lab you should now be familiar with: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Real-time memory accesses with CCS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How to enable </a:t>
            </a:r>
            <a:r>
              <a:rPr lang="en-CA" b="1" dirty="0">
                <a:solidFill>
                  <a:srgbClr val="0066FF"/>
                </a:solidFill>
              </a:rPr>
              <a:t>C</a:t>
            </a:r>
            <a:r>
              <a:rPr lang="en-CA" b="1" dirty="0" smtClean="0">
                <a:solidFill>
                  <a:srgbClr val="0066FF"/>
                </a:solidFill>
              </a:rPr>
              <a:t>ontinuous Refresh</a:t>
            </a:r>
            <a:r>
              <a:rPr lang="en-CA" dirty="0" smtClean="0">
                <a:solidFill>
                  <a:srgbClr val="0066FF"/>
                </a:solidFill>
              </a:rPr>
              <a:t> in a view</a:t>
            </a:r>
            <a:endParaRPr lang="en-CA" dirty="0">
              <a:solidFill>
                <a:srgbClr val="0066FF"/>
              </a:solidFill>
            </a:endParaRPr>
          </a:p>
          <a:p>
            <a:endParaRPr lang="en-CA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00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825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539552" y="2420888"/>
            <a:ext cx="7988424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3B: ROV</a:t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 smtClean="0"/>
              <a:t>45 minutes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0226126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sz="3200" dirty="0" smtClean="0"/>
              <a:t>LAB 3B: Exercise 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000" dirty="0" smtClean="0">
                <a:solidFill>
                  <a:srgbClr val="0066FF"/>
                </a:solidFill>
              </a:rPr>
              <a:t>Objectives</a:t>
            </a:r>
          </a:p>
          <a:p>
            <a:pPr lvl="1"/>
            <a:r>
              <a:rPr lang="en-US" dirty="0">
                <a:solidFill>
                  <a:srgbClr val="0066FF"/>
                </a:solidFill>
              </a:rPr>
              <a:t>Get familiar with using ROV (RTOS Object View) to inspect state of the scheduler, threads and objects in the system </a:t>
            </a:r>
          </a:p>
          <a:p>
            <a:r>
              <a:rPr lang="en-CA" sz="2000" dirty="0" smtClean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CA" sz="1800" dirty="0" smtClean="0">
                <a:solidFill>
                  <a:srgbClr val="0066FF"/>
                </a:solidFill>
              </a:rPr>
              <a:t>RTOS Object Viewer (ROV)</a:t>
            </a:r>
          </a:p>
        </p:txBody>
      </p:sp>
    </p:spTree>
    <p:extLst>
      <p:ext uri="{BB962C8B-B14F-4D97-AF65-F5344CB8AC3E}">
        <p14:creationId xmlns:p14="http://schemas.microsoft.com/office/powerpoint/2010/main" val="225957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the RTOS Object View (ROV)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333375" y="1124744"/>
            <a:ext cx="8467725" cy="469265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ROV can be used to inspect state of the scheduler, threads and objects in the system  </a:t>
            </a:r>
          </a:p>
          <a:p>
            <a:r>
              <a:rPr lang="en-US" dirty="0" smtClean="0"/>
              <a:t>Go to menu </a:t>
            </a:r>
            <a:r>
              <a:rPr lang="en-US" i="1" dirty="0" smtClean="0"/>
              <a:t>Tools -&gt; RTOS Object View (ROV) </a:t>
            </a:r>
            <a:r>
              <a:rPr lang="en-US" dirty="0" smtClean="0"/>
              <a:t>to open ROV</a:t>
            </a:r>
          </a:p>
          <a:p>
            <a:pPr>
              <a:buAutoNum type="arabicPeriod" startAt="2"/>
            </a:pPr>
            <a:r>
              <a:rPr lang="en-US" dirty="0" smtClean="0"/>
              <a:t>In </a:t>
            </a:r>
            <a:r>
              <a:rPr lang="en-US" b="1" dirty="0" smtClean="0"/>
              <a:t>RTOS Object View </a:t>
            </a:r>
            <a:r>
              <a:rPr lang="en-US" dirty="0" smtClean="0"/>
              <a:t>expand </a:t>
            </a:r>
            <a:r>
              <a:rPr lang="en-US" b="1" dirty="0" smtClean="0"/>
              <a:t>lcdSmartRF06EB_CC2650F128.out</a:t>
            </a:r>
            <a:endParaRPr lang="en-US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8" y="1196752"/>
            <a:ext cx="288000" cy="2880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96952"/>
            <a:ext cx="44958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71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ROV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082675"/>
            <a:ext cx="8467725" cy="4692650"/>
          </a:xfrm>
        </p:spPr>
        <p:txBody>
          <a:bodyPr/>
          <a:lstStyle/>
          <a:p>
            <a:r>
              <a:rPr lang="en-US" dirty="0" smtClean="0"/>
              <a:t>Click on </a:t>
            </a:r>
            <a:r>
              <a:rPr lang="en-US" b="1" dirty="0" smtClean="0"/>
              <a:t>Task</a:t>
            </a:r>
            <a:r>
              <a:rPr lang="en-US" dirty="0" smtClean="0"/>
              <a:t> to see details of tasks in the system</a:t>
            </a:r>
          </a:p>
          <a:p>
            <a:pPr lvl="1"/>
            <a:r>
              <a:rPr lang="en-US" dirty="0" smtClean="0"/>
              <a:t>Check </a:t>
            </a:r>
            <a:r>
              <a:rPr lang="en-US" dirty="0"/>
              <a:t>the state of each </a:t>
            </a:r>
            <a:r>
              <a:rPr lang="en-US" dirty="0" smtClean="0"/>
              <a:t>task (and </a:t>
            </a:r>
            <a:r>
              <a:rPr lang="en-US" dirty="0"/>
              <a:t>their </a:t>
            </a:r>
            <a:r>
              <a:rPr lang="en-US" dirty="0" smtClean="0"/>
              <a:t>stacks) in the system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Answer the following for each task: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What are the priorities and current states/mode?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What is the size of stack and stack peak? (Hint: some info is in Detailed tab)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marL="46355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AC183EC-D0DA-4D70-B289-30B329EAAEA6}" type="slidenum">
              <a:rPr lang="en-US" smtClean="0"/>
              <a:pPr/>
              <a:t>63</a:t>
            </a:fld>
            <a:endParaRPr lang="en-US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65" y="1945322"/>
            <a:ext cx="420155" cy="420155"/>
          </a:xfrm>
          <a:prstGeom prst="rect">
            <a:avLst/>
          </a:prstGeom>
        </p:spPr>
      </p:pic>
      <p:pic>
        <p:nvPicPr>
          <p:cNvPr id="2050" name="Picture 2" descr="C:\Apps\CCSTraining\WORKSHOP\CC2650\ss\2650lab6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67572"/>
            <a:ext cx="8769672" cy="159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20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ROV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082675"/>
            <a:ext cx="8467725" cy="4692650"/>
          </a:xfrm>
        </p:spPr>
        <p:txBody>
          <a:bodyPr/>
          <a:lstStyle/>
          <a:p>
            <a:pPr>
              <a:buFont typeface="+mj-lt"/>
              <a:buAutoNum type="arabicPeriod" startAt="2"/>
            </a:pPr>
            <a:r>
              <a:rPr lang="en-US" dirty="0" smtClean="0"/>
              <a:t>Click </a:t>
            </a:r>
            <a:r>
              <a:rPr lang="en-US" dirty="0"/>
              <a:t>the </a:t>
            </a:r>
            <a:r>
              <a:rPr lang="en-US" b="1" dirty="0"/>
              <a:t>Resume</a:t>
            </a:r>
            <a:r>
              <a:rPr lang="en-US" dirty="0"/>
              <a:t> button     to run the </a:t>
            </a:r>
            <a:r>
              <a:rPr lang="en-US" dirty="0" smtClean="0"/>
              <a:t>program</a:t>
            </a:r>
          </a:p>
          <a:p>
            <a:pPr>
              <a:buFont typeface="+mj-lt"/>
              <a:buAutoNum type="arabicPeriod" startAt="2"/>
            </a:pPr>
            <a:r>
              <a:rPr lang="en-US" dirty="0" smtClean="0"/>
              <a:t>Let </a:t>
            </a:r>
            <a:r>
              <a:rPr lang="en-US" dirty="0"/>
              <a:t>it run for </a:t>
            </a:r>
            <a:r>
              <a:rPr lang="en-US" dirty="0" smtClean="0"/>
              <a:t>~5 </a:t>
            </a:r>
            <a:r>
              <a:rPr lang="en-US" dirty="0"/>
              <a:t>seconds, then click the </a:t>
            </a:r>
            <a:r>
              <a:rPr lang="en-US" b="1" dirty="0"/>
              <a:t>Suspend</a:t>
            </a:r>
            <a:r>
              <a:rPr lang="en-US" dirty="0"/>
              <a:t> </a:t>
            </a:r>
            <a:r>
              <a:rPr lang="en-US" dirty="0" smtClean="0"/>
              <a:t>button      </a:t>
            </a:r>
            <a:r>
              <a:rPr lang="en-US" dirty="0"/>
              <a:t>to </a:t>
            </a:r>
            <a:r>
              <a:rPr lang="en-US" dirty="0" smtClean="0"/>
              <a:t>halt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solidFill>
                  <a:srgbClr val="0070C0"/>
                </a:solidFill>
              </a:rPr>
              <a:t>Answer the following for each </a:t>
            </a:r>
            <a:r>
              <a:rPr lang="en-US" dirty="0" smtClean="0">
                <a:solidFill>
                  <a:srgbClr val="0070C0"/>
                </a:solidFill>
              </a:rPr>
              <a:t>task again: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What are the </a:t>
            </a:r>
            <a:r>
              <a:rPr lang="en-US" dirty="0" smtClean="0">
                <a:solidFill>
                  <a:srgbClr val="0070C0"/>
                </a:solidFill>
              </a:rPr>
              <a:t>current </a:t>
            </a:r>
            <a:r>
              <a:rPr lang="en-US" dirty="0">
                <a:solidFill>
                  <a:srgbClr val="0070C0"/>
                </a:solidFill>
              </a:rPr>
              <a:t>states/mode?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What is the </a:t>
            </a:r>
            <a:r>
              <a:rPr lang="en-US" dirty="0" smtClean="0">
                <a:solidFill>
                  <a:srgbClr val="0070C0"/>
                </a:solidFill>
              </a:rPr>
              <a:t>stack </a:t>
            </a:r>
            <a:r>
              <a:rPr lang="en-US" dirty="0">
                <a:solidFill>
                  <a:srgbClr val="0070C0"/>
                </a:solidFill>
              </a:rPr>
              <a:t>peak? </a:t>
            </a:r>
            <a:endParaRPr lang="en-US" dirty="0"/>
          </a:p>
          <a:p>
            <a:pPr marL="46355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AC183EC-D0DA-4D70-B289-30B329EAAEA6}" type="slidenum">
              <a:rPr lang="en-US" smtClean="0"/>
              <a:pPr/>
              <a:t>64</a:t>
            </a:fld>
            <a:endParaRPr lang="en-US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29" y="2276872"/>
            <a:ext cx="420155" cy="4201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842" y="1628800"/>
            <a:ext cx="299257" cy="274320"/>
          </a:xfrm>
          <a:prstGeom prst="rect">
            <a:avLst/>
          </a:prstGeom>
        </p:spPr>
      </p:pic>
      <p:pic>
        <p:nvPicPr>
          <p:cNvPr id="8" name="Picture 10" descr="runButt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68" y="112474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C:\Apps\CCSTraining\WORKSHOP\CC2650\ss\2650lab6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" y="3443916"/>
            <a:ext cx="9078913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24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Clean Up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082675"/>
            <a:ext cx="8467725" cy="4692650"/>
          </a:xfrm>
        </p:spPr>
        <p:txBody>
          <a:bodyPr/>
          <a:lstStyle/>
          <a:p>
            <a:pPr>
              <a:buAutoNum type="arabicPeriod" startAt="5"/>
            </a:pPr>
            <a:r>
              <a:rPr lang="en-US" dirty="0" smtClean="0"/>
              <a:t>Click on the </a:t>
            </a:r>
            <a:r>
              <a:rPr lang="en-US" b="1" dirty="0" smtClean="0"/>
              <a:t>Terminate</a:t>
            </a:r>
            <a:r>
              <a:rPr lang="en-US" dirty="0" smtClean="0"/>
              <a:t> button     in the </a:t>
            </a:r>
            <a:r>
              <a:rPr lang="en-US" b="1" dirty="0" smtClean="0"/>
              <a:t>Debug</a:t>
            </a:r>
            <a:r>
              <a:rPr lang="en-US" dirty="0" smtClean="0"/>
              <a:t> view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0070C0"/>
                </a:solidFill>
              </a:rPr>
              <a:t>More information on ROV is available at: 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  <a:hlinkClick r:id="rId3"/>
              </a:rPr>
              <a:t>http://rtsc.eclipse.org/docs-tip/RTSC_Object_Viewer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AC183EC-D0DA-4D70-B289-30B329EAAEA6}" type="slidenum">
              <a:rPr lang="en-US" smtClean="0">
                <a:solidFill>
                  <a:srgbClr val="000000"/>
                </a:solidFill>
              </a:rPr>
              <a:pPr/>
              <a:t>65</a:t>
            </a:fld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19461" name="Picture 10" descr="sto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679" y="1196752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17" y="207201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Summary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completing the labs you should be familiar with:</a:t>
            </a:r>
          </a:p>
          <a:p>
            <a:pPr lvl="1"/>
            <a:r>
              <a:rPr lang="en-US" dirty="0" smtClean="0"/>
              <a:t>Using ROV (RTOS Object View) to inspect state of threads in the system.</a:t>
            </a:r>
          </a:p>
          <a:p>
            <a:r>
              <a:rPr lang="en-US" dirty="0" smtClean="0"/>
              <a:t>Additional References:</a:t>
            </a:r>
          </a:p>
          <a:p>
            <a:pPr lvl="1"/>
            <a:r>
              <a:rPr lang="en-US" dirty="0" smtClean="0"/>
              <a:t>TI-RTOS </a:t>
            </a:r>
            <a:r>
              <a:rPr lang="en-US" dirty="0"/>
              <a:t>Users </a:t>
            </a:r>
            <a:r>
              <a:rPr lang="en-US" dirty="0" smtClean="0"/>
              <a:t>Guide: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www.ti.com/lit/spruhd4</a:t>
            </a:r>
            <a:endParaRPr lang="en-US" dirty="0" smtClean="0"/>
          </a:p>
          <a:p>
            <a:pPr lvl="1"/>
            <a:r>
              <a:rPr lang="en-US" dirty="0" smtClean="0"/>
              <a:t>SYSBIOS Wiki: </a:t>
            </a:r>
            <a:r>
              <a:rPr lang="en-US" dirty="0" smtClean="0">
                <a:hlinkClick r:id="rId4"/>
              </a:rPr>
              <a:t>http://processors.wiki.ti.com/index.php?title=Category:SYSBIOS</a:t>
            </a:r>
            <a:endParaRPr lang="en-US" dirty="0" smtClean="0"/>
          </a:p>
        </p:txBody>
      </p:sp>
      <p:sp>
        <p:nvSpPr>
          <p:cNvPr id="552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7D8C913-7E44-4367-9427-50212EAFE388}" type="slidenum">
              <a:rPr lang="en-US" smtClean="0"/>
              <a:pPr/>
              <a:t>66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1329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269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3"/>
          <p:cNvSpPr>
            <a:spLocks noGrp="1"/>
          </p:cNvSpPr>
          <p:nvPr>
            <p:ph type="title"/>
          </p:nvPr>
        </p:nvSpPr>
        <p:spPr>
          <a:xfrm>
            <a:off x="539552" y="2420888"/>
            <a:ext cx="7988424" cy="1362075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Lab </a:t>
            </a:r>
            <a:r>
              <a:rPr lang="en-CA" dirty="0"/>
              <a:t>4</a:t>
            </a:r>
            <a:r>
              <a:rPr lang="en-CA" dirty="0" smtClean="0"/>
              <a:t>: multi-target </a:t>
            </a:r>
            <a:r>
              <a:rPr lang="en-CA" dirty="0" err="1" smtClean="0"/>
              <a:t>deBug</a:t>
            </a:r>
            <a:r>
              <a:rPr lang="en-CA" dirty="0" smtClean="0"/>
              <a:t>: Per Test Example</a:t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dirty="0" smtClean="0"/>
              <a:t/>
            </a:r>
            <a:br>
              <a:rPr lang="en-CA" dirty="0" smtClean="0"/>
            </a:br>
            <a:r>
              <a:rPr lang="en-CA" sz="2800" dirty="0" smtClean="0"/>
              <a:t>45 minutes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2040216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LAB 4: Exercise Summary</a:t>
            </a:r>
            <a:endParaRPr lang="en-CA" dirty="0" smtClean="0"/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>
          <a:xfrm>
            <a:off x="395536" y="980728"/>
            <a:ext cx="8467725" cy="5411489"/>
          </a:xfrm>
        </p:spPr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Key Objectives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Create a single custom target configuration file for two CC2650F128+SmartRF06EB targets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Learn the basic concepts of:</a:t>
            </a:r>
          </a:p>
          <a:p>
            <a:pPr lvl="2"/>
            <a:r>
              <a:rPr lang="en-US" dirty="0" smtClean="0">
                <a:solidFill>
                  <a:srgbClr val="0066FF"/>
                </a:solidFill>
              </a:rPr>
              <a:t>Target configurations</a:t>
            </a:r>
          </a:p>
          <a:p>
            <a:pPr lvl="2"/>
            <a:r>
              <a:rPr lang="en-US" dirty="0">
                <a:solidFill>
                  <a:srgbClr val="0066FF"/>
                </a:solidFill>
              </a:rPr>
              <a:t>P</a:t>
            </a:r>
            <a:r>
              <a:rPr lang="en-US" dirty="0" smtClean="0">
                <a:solidFill>
                  <a:srgbClr val="0066FF"/>
                </a:solidFill>
              </a:rPr>
              <a:t>roject-less debugging</a:t>
            </a:r>
          </a:p>
          <a:p>
            <a:pPr lvl="2"/>
            <a:r>
              <a:rPr lang="en-US" dirty="0" smtClean="0">
                <a:solidFill>
                  <a:srgbClr val="0066FF"/>
                </a:solidFill>
              </a:rPr>
              <a:t>Multi-target debugging</a:t>
            </a:r>
            <a:endParaRPr lang="en-US" dirty="0">
              <a:solidFill>
                <a:srgbClr val="0066FF"/>
              </a:solidFill>
            </a:endParaRPr>
          </a:p>
          <a:p>
            <a:r>
              <a:rPr lang="en-CA" dirty="0" smtClean="0">
                <a:solidFill>
                  <a:srgbClr val="0066FF"/>
                </a:solidFill>
              </a:rPr>
              <a:t>Tools and Concepts Covered</a:t>
            </a:r>
          </a:p>
          <a:p>
            <a:pPr lvl="1"/>
            <a:r>
              <a:rPr lang="en-CA" b="1" dirty="0">
                <a:solidFill>
                  <a:srgbClr val="0066FF"/>
                </a:solidFill>
              </a:rPr>
              <a:t>Target Configurations </a:t>
            </a:r>
            <a:r>
              <a:rPr lang="en-CA" dirty="0" smtClean="0">
                <a:solidFill>
                  <a:srgbClr val="0066FF"/>
                </a:solidFill>
              </a:rPr>
              <a:t>view</a:t>
            </a:r>
            <a:endParaRPr lang="en-US" dirty="0" smtClean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Advanced Target Configuration Editor</a:t>
            </a:r>
          </a:p>
          <a:p>
            <a:pPr lvl="1"/>
            <a:r>
              <a:rPr lang="en-CA" dirty="0">
                <a:solidFill>
                  <a:srgbClr val="0066FF"/>
                </a:solidFill>
              </a:rPr>
              <a:t>Starting a project-less debug </a:t>
            </a:r>
            <a:r>
              <a:rPr lang="en-CA" dirty="0" smtClean="0">
                <a:solidFill>
                  <a:srgbClr val="0066FF"/>
                </a:solidFill>
              </a:rPr>
              <a:t>session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</a:rPr>
              <a:t>Working with executables generated from other tool chains</a:t>
            </a:r>
            <a:endParaRPr lang="en-CA" dirty="0">
              <a:solidFill>
                <a:srgbClr val="0066FF"/>
              </a:solidFill>
            </a:endParaRPr>
          </a:p>
          <a:p>
            <a:pPr lvl="1"/>
            <a:r>
              <a:rPr lang="en-CA" dirty="0">
                <a:solidFill>
                  <a:srgbClr val="0066FF"/>
                </a:solidFill>
              </a:rPr>
              <a:t>Specifying debug source search </a:t>
            </a:r>
            <a:r>
              <a:rPr lang="en-CA" dirty="0" smtClean="0">
                <a:solidFill>
                  <a:srgbClr val="0066FF"/>
                </a:solidFill>
              </a:rPr>
              <a:t>paths</a:t>
            </a:r>
            <a:endParaRPr lang="en-CA" dirty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Multi-target Debug</a:t>
            </a:r>
            <a:endParaRPr lang="en-US" dirty="0">
              <a:solidFill>
                <a:srgbClr val="0066FF"/>
              </a:solidFill>
            </a:endParaRPr>
          </a:p>
          <a:p>
            <a:r>
              <a:rPr lang="en-US" b="1" u="sng" dirty="0" smtClean="0">
                <a:solidFill>
                  <a:schemeClr val="tx2"/>
                </a:solidFill>
              </a:rPr>
              <a:t>NOTE</a:t>
            </a:r>
            <a:r>
              <a:rPr lang="en-US" u="sng" dirty="0" smtClean="0">
                <a:solidFill>
                  <a:schemeClr val="tx2"/>
                </a:solidFill>
              </a:rPr>
              <a:t>: This lab requires </a:t>
            </a:r>
            <a:r>
              <a:rPr lang="en-US" b="1" u="sng" dirty="0" smtClean="0">
                <a:solidFill>
                  <a:schemeClr val="tx2"/>
                </a:solidFill>
              </a:rPr>
              <a:t>two</a:t>
            </a:r>
            <a:r>
              <a:rPr lang="en-US" u="sng" dirty="0" smtClean="0">
                <a:solidFill>
                  <a:schemeClr val="tx2"/>
                </a:solidFill>
              </a:rPr>
              <a:t> targets (CC2650EM-7ID+SmartRF06EB)</a:t>
            </a:r>
            <a:endParaRPr lang="en-US" u="sng" dirty="0">
              <a:solidFill>
                <a:schemeClr val="tx2"/>
              </a:solidFill>
            </a:endParaRPr>
          </a:p>
          <a:p>
            <a:pPr marL="341312" lvl="1" indent="0">
              <a:buNone/>
            </a:pP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01892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Create a Target Configuration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Open the </a:t>
            </a:r>
            <a:r>
              <a:rPr lang="en-CA" b="1" dirty="0" smtClean="0"/>
              <a:t>Target Configurations</a:t>
            </a:r>
            <a:r>
              <a:rPr lang="en-CA" dirty="0" smtClean="0"/>
              <a:t> view (</a:t>
            </a:r>
            <a:r>
              <a:rPr lang="en-CA" i="1" dirty="0" smtClean="0"/>
              <a:t>View -&gt; Target Configurations</a:t>
            </a:r>
            <a:r>
              <a:rPr lang="en-CA" dirty="0" smtClean="0"/>
              <a:t>)</a:t>
            </a:r>
            <a:endParaRPr lang="en-CA" i="1" dirty="0" smtClean="0">
              <a:sym typeface="Wingdings" pitchFamily="2" charset="2"/>
            </a:endParaRPr>
          </a:p>
          <a:p>
            <a:r>
              <a:rPr lang="en-CA" dirty="0" smtClean="0">
                <a:sym typeface="Wingdings" pitchFamily="2" charset="2"/>
              </a:rPr>
              <a:t>Specify </a:t>
            </a:r>
            <a:r>
              <a:rPr lang="en-CA" b="1" i="1" dirty="0" smtClean="0">
                <a:sym typeface="Wingdings" pitchFamily="2" charset="2"/>
              </a:rPr>
              <a:t>2_CC2650F128.ccxml </a:t>
            </a:r>
            <a:r>
              <a:rPr lang="en-CA" dirty="0" smtClean="0">
                <a:sym typeface="Wingdings" pitchFamily="2" charset="2"/>
              </a:rPr>
              <a:t>as the </a:t>
            </a:r>
            <a:r>
              <a:rPr lang="en-CA" i="1" dirty="0" smtClean="0">
                <a:sym typeface="Wingdings" pitchFamily="2" charset="2"/>
              </a:rPr>
              <a:t>File name</a:t>
            </a:r>
          </a:p>
          <a:p>
            <a:r>
              <a:rPr lang="en-CA" dirty="0" smtClean="0">
                <a:sym typeface="Wingdings" pitchFamily="2" charset="2"/>
              </a:rPr>
              <a:t>Ensure that </a:t>
            </a:r>
            <a:r>
              <a:rPr lang="en-CA" b="1" dirty="0" smtClean="0">
                <a:sym typeface="Wingdings" pitchFamily="2" charset="2"/>
              </a:rPr>
              <a:t>Use shared</a:t>
            </a:r>
            <a:br>
              <a:rPr lang="en-CA" b="1" dirty="0" smtClean="0">
                <a:sym typeface="Wingdings" pitchFamily="2" charset="2"/>
              </a:rPr>
            </a:br>
            <a:r>
              <a:rPr lang="en-CA" b="1" dirty="0" smtClean="0">
                <a:sym typeface="Wingdings" pitchFamily="2" charset="2"/>
              </a:rPr>
              <a:t>location</a:t>
            </a:r>
            <a:r>
              <a:rPr lang="en-CA" dirty="0" smtClean="0">
                <a:sym typeface="Wingdings" pitchFamily="2" charset="2"/>
              </a:rPr>
              <a:t> is enabled</a:t>
            </a:r>
          </a:p>
          <a:p>
            <a:r>
              <a:rPr lang="en-CA" dirty="0" smtClean="0">
                <a:sym typeface="Wingdings" pitchFamily="2" charset="2"/>
              </a:rPr>
              <a:t>Hit </a:t>
            </a:r>
            <a:r>
              <a:rPr lang="en-CA" b="1" dirty="0" smtClean="0">
                <a:sym typeface="Wingdings" pitchFamily="2" charset="2"/>
              </a:rPr>
              <a:t>Finish</a:t>
            </a:r>
            <a:r>
              <a:rPr lang="en-CA" dirty="0" smtClean="0">
                <a:sym typeface="Wingdings" pitchFamily="2" charset="2"/>
              </a:rPr>
              <a:t> when done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The </a:t>
            </a:r>
            <a:r>
              <a:rPr lang="en-CA" b="1" dirty="0" smtClean="0">
                <a:solidFill>
                  <a:srgbClr val="0066FF"/>
                </a:solidFill>
                <a:sym typeface="Wingdings" pitchFamily="2" charset="2"/>
              </a:rPr>
              <a:t>Target Configuration </a:t>
            </a:r>
            <a:br>
              <a:rPr lang="en-CA" b="1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CA" b="1" dirty="0" smtClean="0">
                <a:solidFill>
                  <a:srgbClr val="0066FF"/>
                </a:solidFill>
                <a:sym typeface="Wingdings" pitchFamily="2" charset="2"/>
              </a:rPr>
              <a:t>Editor</a:t>
            </a:r>
            <a:r>
              <a:rPr lang="en-CA" dirty="0">
                <a:solidFill>
                  <a:srgbClr val="0066FF"/>
                </a:solidFill>
                <a:sym typeface="Wingdings" pitchFamily="2" charset="2"/>
              </a:rPr>
              <a:t> </a:t>
            </a:r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will be opened</a:t>
            </a:r>
            <a:r>
              <a:rPr lang="en-CA" dirty="0" smtClean="0">
                <a:sym typeface="Wingdings" pitchFamily="2" charset="2"/>
              </a:rPr>
              <a:t/>
            </a:r>
            <a:br>
              <a:rPr lang="en-CA" dirty="0" smtClean="0">
                <a:sym typeface="Wingdings" pitchFamily="2" charset="2"/>
              </a:rPr>
            </a:br>
            <a:endParaRPr lang="en-CA" dirty="0" smtClean="0">
              <a:sym typeface="Wingdings" pitchFamily="2" charset="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23" y="3717032"/>
            <a:ext cx="288000" cy="288000"/>
          </a:xfrm>
          <a:prstGeom prst="rect">
            <a:avLst/>
          </a:prstGeom>
        </p:spPr>
      </p:pic>
      <p:pic>
        <p:nvPicPr>
          <p:cNvPr id="8194" name="Picture 2" descr="C:\Apps\CCSTraining\WORKSHOP\CC2650\ss\2650main0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126" y="2420888"/>
            <a:ext cx="4987677" cy="368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96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Configuration Editor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Set/Enter the following:</a:t>
            </a:r>
          </a:p>
          <a:p>
            <a:pPr marL="804862" lvl="1" indent="-457200"/>
            <a:r>
              <a:rPr lang="en-US" i="1" dirty="0" smtClean="0"/>
              <a:t>Connection</a:t>
            </a:r>
            <a:r>
              <a:rPr lang="en-US" dirty="0" smtClean="0"/>
              <a:t>: </a:t>
            </a:r>
            <a:r>
              <a:rPr lang="en-US" b="1" dirty="0" smtClean="0"/>
              <a:t>Texas Instruments XDS100v3 USB Emulator</a:t>
            </a:r>
          </a:p>
          <a:p>
            <a:pPr marL="804862" lvl="1" indent="-457200"/>
            <a:r>
              <a:rPr lang="en-US" i="1" dirty="0" smtClean="0"/>
              <a:t>Board or Device </a:t>
            </a:r>
            <a:r>
              <a:rPr lang="en-US" dirty="0" smtClean="0"/>
              <a:t>search field: </a:t>
            </a:r>
            <a:r>
              <a:rPr lang="en-US" b="1" dirty="0" smtClean="0"/>
              <a:t>2650 </a:t>
            </a:r>
            <a:r>
              <a:rPr lang="en-US" dirty="0" smtClean="0"/>
              <a:t>(Select </a:t>
            </a:r>
            <a:r>
              <a:rPr lang="en-US" b="1" dirty="0" smtClean="0"/>
              <a:t>CC2650F128</a:t>
            </a:r>
            <a:r>
              <a:rPr lang="en-US" dirty="0" smtClean="0"/>
              <a:t> from the remaining list)</a:t>
            </a:r>
          </a:p>
          <a:p>
            <a:pPr marL="1084262" lvl="2" indent="-457200"/>
            <a:endParaRPr lang="en-US" b="1" dirty="0"/>
          </a:p>
          <a:p>
            <a:pPr marL="804862" lvl="1" indent="-457200"/>
            <a:endParaRPr lang="en-US" b="1" dirty="0" smtClean="0"/>
          </a:p>
          <a:p>
            <a:pPr marL="804862" lvl="1" indent="-457200"/>
            <a:endParaRPr lang="en-US" b="1" dirty="0"/>
          </a:p>
          <a:p>
            <a:pPr marL="804862" lvl="1" indent="-457200"/>
            <a:endParaRPr lang="en-US" b="1" dirty="0" smtClean="0"/>
          </a:p>
          <a:p>
            <a:pPr marL="804862" lvl="1" indent="-457200"/>
            <a:endParaRPr lang="en-US" b="1" dirty="0"/>
          </a:p>
          <a:p>
            <a:pPr marL="804862" lvl="1" indent="-457200"/>
            <a:endParaRPr lang="en-US" b="1" dirty="0" smtClean="0"/>
          </a:p>
          <a:p>
            <a:pPr marL="804862" lvl="1" indent="-457200"/>
            <a:endParaRPr lang="en-US" b="1" dirty="0"/>
          </a:p>
          <a:p>
            <a:pPr marL="347662" lvl="1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Click on the </a:t>
            </a:r>
            <a:r>
              <a:rPr lang="en-US" b="1" dirty="0" smtClean="0"/>
              <a:t>Target Configuration </a:t>
            </a:r>
            <a:r>
              <a:rPr lang="en-US" dirty="0" smtClean="0"/>
              <a:t>link to go to the </a:t>
            </a:r>
            <a:r>
              <a:rPr lang="en-US" b="1" dirty="0" smtClean="0"/>
              <a:t>Advanced</a:t>
            </a:r>
            <a:r>
              <a:rPr lang="en-US" dirty="0" smtClean="0"/>
              <a:t> editor</a:t>
            </a:r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endParaRPr lang="en-US" dirty="0" smtClean="0"/>
          </a:p>
          <a:p>
            <a:pPr marL="457200" indent="-457200">
              <a:buFont typeface="+mj-lt"/>
              <a:buAutoNum type="arabicPeriod" startAt="5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9218" name="Picture 2" descr="C:\Apps\CCSTraining\WORKSHOP\CC2650\ss\2650main0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564904"/>
            <a:ext cx="6630987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87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Configuration Editor (Advanced)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 smtClean="0"/>
              <a:t>Press the </a:t>
            </a:r>
            <a:r>
              <a:rPr lang="en-US" b="1" dirty="0" smtClean="0"/>
              <a:t>New… </a:t>
            </a:r>
            <a:r>
              <a:rPr lang="en-US" dirty="0" smtClean="0"/>
              <a:t>button to add a</a:t>
            </a:r>
            <a:br>
              <a:rPr lang="en-US" dirty="0" smtClean="0"/>
            </a:br>
            <a:r>
              <a:rPr lang="en-US" dirty="0" smtClean="0"/>
              <a:t>new connection type</a:t>
            </a:r>
            <a:endParaRPr lang="en-US" b="1" dirty="0"/>
          </a:p>
          <a:p>
            <a:pPr marL="457200" indent="-457200">
              <a:buFont typeface="+mj-lt"/>
              <a:buAutoNum type="arabicPeriod" startAt="7"/>
            </a:pPr>
            <a:r>
              <a:rPr lang="en-US" dirty="0" smtClean="0"/>
              <a:t>Select </a:t>
            </a:r>
            <a:r>
              <a:rPr lang="en-US" b="1" dirty="0" smtClean="0"/>
              <a:t>Texas Instruments</a:t>
            </a:r>
            <a:br>
              <a:rPr lang="en-US" b="1" dirty="0" smtClean="0"/>
            </a:br>
            <a:r>
              <a:rPr lang="en-US" b="1" dirty="0" smtClean="0"/>
              <a:t>XDS100v3 Emulator</a:t>
            </a:r>
            <a:r>
              <a:rPr lang="en-US" dirty="0" smtClean="0"/>
              <a:t> in the list of</a:t>
            </a:r>
            <a:br>
              <a:rPr lang="en-US" dirty="0" smtClean="0"/>
            </a:br>
            <a:r>
              <a:rPr lang="en-US" b="1" dirty="0" smtClean="0"/>
              <a:t>Connections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dirty="0" smtClean="0"/>
              <a:t>Press </a:t>
            </a:r>
            <a:r>
              <a:rPr lang="en-US" b="1" dirty="0" smtClean="0"/>
              <a:t>Finish</a:t>
            </a:r>
          </a:p>
          <a:p>
            <a:pPr marL="457200" indent="-457200">
              <a:buFont typeface="+mj-lt"/>
              <a:buAutoNum type="arabicPeriod" startAt="7"/>
            </a:pPr>
            <a:endParaRPr lang="en-US" dirty="0"/>
          </a:p>
          <a:p>
            <a:pPr marL="457200" indent="-457200">
              <a:buFont typeface="+mj-lt"/>
              <a:buAutoNum type="arabicPeriod" startAt="7"/>
            </a:pPr>
            <a:endParaRPr lang="en-US" dirty="0" smtClean="0"/>
          </a:p>
          <a:p>
            <a:pPr marL="457200" indent="-457200">
              <a:buFont typeface="+mj-lt"/>
              <a:buAutoNum type="arabicPeriod" startAt="7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0242" name="Picture 2" descr="C:\Apps\CCSTraining\WORKSHOP\CC2650\ss\2650main1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980728"/>
            <a:ext cx="3499495" cy="446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Apps\CCSTraining\WORKSHOP\CC2650\ss\2650main1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876154"/>
            <a:ext cx="2847660" cy="333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own Arrow 1"/>
          <p:cNvSpPr/>
          <p:nvPr/>
        </p:nvSpPr>
        <p:spPr>
          <a:xfrm>
            <a:off x="6948264" y="2708920"/>
            <a:ext cx="432048" cy="50342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9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Configuration Editor (Advanced)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The new connection has been added</a:t>
            </a:r>
          </a:p>
          <a:p>
            <a:pPr marL="457200" indent="-457200">
              <a:buFont typeface="+mj-lt"/>
              <a:buAutoNum type="arabicPeriod" startAt="10"/>
            </a:pPr>
            <a:r>
              <a:rPr lang="en-US" dirty="0" smtClean="0"/>
              <a:t>Press the </a:t>
            </a:r>
            <a:r>
              <a:rPr lang="en-US" b="1" dirty="0" smtClean="0"/>
              <a:t>Add… </a:t>
            </a:r>
            <a:r>
              <a:rPr lang="en-US" dirty="0" smtClean="0"/>
              <a:t>button to add a</a:t>
            </a:r>
            <a:br>
              <a:rPr lang="en-US" dirty="0" smtClean="0"/>
            </a:br>
            <a:r>
              <a:rPr lang="en-US" dirty="0" smtClean="0"/>
              <a:t>device</a:t>
            </a:r>
            <a:endParaRPr lang="en-US" b="1" dirty="0"/>
          </a:p>
          <a:p>
            <a:pPr marL="457200" indent="-457200">
              <a:buFont typeface="+mj-lt"/>
              <a:buAutoNum type="arabicPeriod" startAt="10"/>
            </a:pPr>
            <a:r>
              <a:rPr lang="en-US" dirty="0" smtClean="0"/>
              <a:t>Select </a:t>
            </a:r>
            <a:r>
              <a:rPr lang="en-US" b="1" dirty="0" smtClean="0"/>
              <a:t>Cortex M </a:t>
            </a:r>
            <a:r>
              <a:rPr lang="en-US" dirty="0" smtClean="0"/>
              <a:t>in the filter list and</a:t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b="1" dirty="0" smtClean="0"/>
              <a:t>CC2650F128</a:t>
            </a:r>
            <a:r>
              <a:rPr lang="en-US" dirty="0" smtClean="0"/>
              <a:t> in the list of</a:t>
            </a:r>
            <a:br>
              <a:rPr lang="en-US" dirty="0" smtClean="0"/>
            </a:br>
            <a:r>
              <a:rPr lang="en-US" dirty="0" smtClean="0"/>
              <a:t>Devices</a:t>
            </a:r>
            <a:endParaRPr lang="en-US" b="1" dirty="0" smtClean="0"/>
          </a:p>
          <a:p>
            <a:pPr marL="457200" indent="-457200">
              <a:buFont typeface="+mj-lt"/>
              <a:buAutoNum type="arabicPeriod" startAt="10"/>
            </a:pPr>
            <a:r>
              <a:rPr lang="en-US" dirty="0" smtClean="0"/>
              <a:t>Press </a:t>
            </a:r>
            <a:r>
              <a:rPr lang="en-US" b="1" dirty="0" smtClean="0"/>
              <a:t>Finish</a:t>
            </a:r>
          </a:p>
          <a:p>
            <a:pPr marL="457200" indent="-457200">
              <a:buFont typeface="+mj-lt"/>
              <a:buAutoNum type="arabicPeriod" startAt="10"/>
            </a:pPr>
            <a:endParaRPr lang="en-US" dirty="0"/>
          </a:p>
          <a:p>
            <a:pPr marL="457200" indent="-457200">
              <a:buFont typeface="+mj-lt"/>
              <a:buAutoNum type="arabicPeriod" startAt="10"/>
            </a:pPr>
            <a:endParaRPr lang="en-US" dirty="0" smtClean="0"/>
          </a:p>
          <a:p>
            <a:pPr marL="457200" indent="-457200">
              <a:buFont typeface="+mj-lt"/>
              <a:buAutoNum type="arabicPeriod" startAt="10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10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10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10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10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1266" name="Picture 2" descr="C:\Apps\CCSTraining\WORKSHOP\CC2650\ss\2650main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980728"/>
            <a:ext cx="3481227" cy="446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C:\Apps\CCSTraining\WORKSHOP\CC2650\ss\2650main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608" y="2996952"/>
            <a:ext cx="2591883" cy="325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own Arrow 8"/>
          <p:cNvSpPr/>
          <p:nvPr/>
        </p:nvSpPr>
        <p:spPr>
          <a:xfrm>
            <a:off x="7596336" y="2710169"/>
            <a:ext cx="432048" cy="50342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61" y="121649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7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Configuration Editor (Advanced)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r>
              <a:rPr lang="en-US" dirty="0" smtClean="0">
                <a:solidFill>
                  <a:srgbClr val="0066FF"/>
                </a:solidFill>
              </a:rPr>
              <a:t>A </a:t>
            </a:r>
            <a:r>
              <a:rPr lang="en-US" b="1" dirty="0" smtClean="0">
                <a:solidFill>
                  <a:srgbClr val="0066FF"/>
                </a:solidFill>
              </a:rPr>
              <a:t>CC2650F128</a:t>
            </a:r>
            <a:r>
              <a:rPr lang="en-US" dirty="0" smtClean="0">
                <a:solidFill>
                  <a:srgbClr val="0066FF"/>
                </a:solidFill>
              </a:rPr>
              <a:t> device has been added to the new connection and now there are two XDS100v3 connections, each with a </a:t>
            </a:r>
            <a:r>
              <a:rPr lang="en-US" b="1" dirty="0" smtClean="0">
                <a:solidFill>
                  <a:srgbClr val="0066FF"/>
                </a:solidFill>
              </a:rPr>
              <a:t>CC2650F128</a:t>
            </a:r>
            <a:r>
              <a:rPr lang="en-US" dirty="0" smtClean="0">
                <a:solidFill>
                  <a:srgbClr val="0066FF"/>
                </a:solidFill>
              </a:rPr>
              <a:t> device, configured for this single target configuration</a:t>
            </a:r>
          </a:p>
          <a:p>
            <a:endParaRPr lang="en-US" dirty="0">
              <a:solidFill>
                <a:srgbClr val="0066FF"/>
              </a:solidFill>
            </a:endParaRPr>
          </a:p>
          <a:p>
            <a:r>
              <a:rPr lang="en-US" dirty="0" smtClean="0">
                <a:solidFill>
                  <a:srgbClr val="0066FF"/>
                </a:solidFill>
              </a:rPr>
              <a:t>But how does CCS know which</a:t>
            </a:r>
            <a:br>
              <a:rPr lang="en-US" dirty="0" smtClean="0">
                <a:solidFill>
                  <a:srgbClr val="0066FF"/>
                </a:solidFill>
              </a:rPr>
            </a:br>
            <a:r>
              <a:rPr lang="en-US" dirty="0" smtClean="0">
                <a:solidFill>
                  <a:srgbClr val="0066FF"/>
                </a:solidFill>
              </a:rPr>
              <a:t>XDS100v3 connection applies to </a:t>
            </a:r>
            <a:br>
              <a:rPr lang="en-US" dirty="0" smtClean="0">
                <a:solidFill>
                  <a:srgbClr val="0066FF"/>
                </a:solidFill>
              </a:rPr>
            </a:br>
            <a:r>
              <a:rPr lang="en-US" dirty="0" smtClean="0">
                <a:solidFill>
                  <a:srgbClr val="0066FF"/>
                </a:solidFill>
              </a:rPr>
              <a:t>which board?</a:t>
            </a:r>
            <a:endParaRPr lang="en-US" dirty="0">
              <a:solidFill>
                <a:srgbClr val="0066FF"/>
              </a:solidFill>
            </a:endParaRPr>
          </a:p>
          <a:p>
            <a:r>
              <a:rPr lang="en-US" dirty="0" smtClean="0">
                <a:solidFill>
                  <a:srgbClr val="0066FF"/>
                </a:solidFill>
              </a:rPr>
              <a:t>XDS100 emulators can be identified</a:t>
            </a:r>
            <a:br>
              <a:rPr lang="en-US" dirty="0" smtClean="0">
                <a:solidFill>
                  <a:srgbClr val="0066FF"/>
                </a:solidFill>
              </a:rPr>
            </a:br>
            <a:r>
              <a:rPr lang="en-US" dirty="0" smtClean="0">
                <a:solidFill>
                  <a:srgbClr val="0066FF"/>
                </a:solidFill>
              </a:rPr>
              <a:t>by their serial numbers!</a:t>
            </a:r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2290" name="Picture 2" descr="C:\Apps\CCSTraining\WORKSHOP\CC2650\ss\2650main1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355" y="2109308"/>
            <a:ext cx="3947427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69" y="1196752"/>
            <a:ext cx="288000" cy="28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69" y="3909508"/>
            <a:ext cx="311516" cy="3115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38370"/>
            <a:ext cx="462714" cy="46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the Serial Numbers for XDS100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pPr marL="457200" indent="-457200">
              <a:buFont typeface="+mj-lt"/>
              <a:buAutoNum type="arabicPeriod" startAt="13"/>
            </a:pPr>
            <a:r>
              <a:rPr lang="en-US" dirty="0" smtClean="0"/>
              <a:t>Open a command window and browse to the following location:</a:t>
            </a:r>
          </a:p>
          <a:p>
            <a:pPr marL="804862" lvl="1" indent="-457200"/>
            <a:r>
              <a:rPr lang="en-US" dirty="0" smtClean="0"/>
              <a:t>&lt;CCSv6 INSTALL DIR&gt;\ccsv6\</a:t>
            </a:r>
            <a:r>
              <a:rPr lang="en-US" dirty="0" err="1" smtClean="0"/>
              <a:t>ccs_base</a:t>
            </a:r>
            <a:r>
              <a:rPr lang="en-US" dirty="0" smtClean="0"/>
              <a:t>\common\</a:t>
            </a:r>
            <a:r>
              <a:rPr lang="en-US" dirty="0" err="1" smtClean="0"/>
              <a:t>uscif</a:t>
            </a:r>
            <a:endParaRPr lang="en-US" dirty="0" smtClean="0"/>
          </a:p>
          <a:p>
            <a:pPr marL="457200" indent="-457200">
              <a:buFont typeface="+mj-lt"/>
              <a:buAutoNum type="arabicPeriod" startAt="13"/>
            </a:pPr>
            <a:r>
              <a:rPr lang="en-US" dirty="0" smtClean="0"/>
              <a:t>Run the following command:</a:t>
            </a:r>
          </a:p>
          <a:p>
            <a:pPr marL="804862" lvl="1" indent="-457200"/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xds100serial</a:t>
            </a:r>
          </a:p>
          <a:p>
            <a:pPr marL="457200" indent="-457200"/>
            <a:r>
              <a:rPr lang="en-US" dirty="0" smtClean="0">
                <a:solidFill>
                  <a:srgbClr val="0066FF"/>
                </a:solidFill>
              </a:rPr>
              <a:t>All XDS100 connections to the host will be scanned and listed with their serial numbers</a:t>
            </a:r>
            <a:endParaRPr lang="en-US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3314" name="Picture 2" descr="C:\Apps\CCSTraining\WORKSHOP\CC2650\ss\2650main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01007"/>
            <a:ext cx="5256584" cy="267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80" y="285293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9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Configuration Editor (Advanced)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8137" y="1111862"/>
            <a:ext cx="8482335" cy="5269466"/>
          </a:xfrm>
        </p:spPr>
        <p:txBody>
          <a:bodyPr/>
          <a:lstStyle/>
          <a:p>
            <a:pPr marL="457200" indent="-457200">
              <a:buFont typeface="+mj-lt"/>
              <a:buAutoNum type="arabicPeriod" startAt="15"/>
            </a:pPr>
            <a:r>
              <a:rPr lang="en-US" dirty="0" smtClean="0"/>
              <a:t>Select the Texas Instruments </a:t>
            </a:r>
            <a:r>
              <a:rPr lang="en-US" b="1" dirty="0" smtClean="0"/>
              <a:t>XDS100v3 USB Emulator_0</a:t>
            </a:r>
            <a:r>
              <a:rPr lang="en-US" dirty="0" smtClean="0"/>
              <a:t> node in the left pane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 smtClean="0"/>
              <a:t>For the Connection Properties, change the </a:t>
            </a:r>
            <a:r>
              <a:rPr lang="en-US" i="1" dirty="0" smtClean="0"/>
              <a:t>Emulator Selection</a:t>
            </a:r>
            <a:r>
              <a:rPr lang="en-US" dirty="0"/>
              <a:t> </a:t>
            </a:r>
            <a:r>
              <a:rPr lang="en-US" dirty="0" smtClean="0"/>
              <a:t>setting to </a:t>
            </a:r>
            <a:r>
              <a:rPr lang="en-US" b="1" dirty="0" smtClean="0"/>
              <a:t>Select by serial number</a:t>
            </a:r>
            <a:r>
              <a:rPr lang="en-US" dirty="0" smtClean="0"/>
              <a:t> and then enter the first serial number found by the </a:t>
            </a:r>
            <a:r>
              <a:rPr lang="en-US" b="1" dirty="0" smtClean="0"/>
              <a:t>xds100serial</a:t>
            </a:r>
            <a:r>
              <a:rPr lang="en-US" dirty="0" smtClean="0"/>
              <a:t> utility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 smtClean="0"/>
              <a:t>Repeat steps 1 and 2 above for </a:t>
            </a:r>
            <a:r>
              <a:rPr lang="en-US" b="1" dirty="0" smtClean="0"/>
              <a:t>XDS100v3 USB Emulator_1</a:t>
            </a:r>
            <a:r>
              <a:rPr lang="en-US" dirty="0" smtClean="0"/>
              <a:t> using the other serial number detected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 smtClean="0"/>
              <a:t>Press </a:t>
            </a:r>
            <a:r>
              <a:rPr lang="en-US" b="1" dirty="0" smtClean="0"/>
              <a:t>Save</a:t>
            </a:r>
            <a:br>
              <a:rPr lang="en-US" b="1" dirty="0" smtClean="0"/>
            </a:br>
            <a:r>
              <a:rPr lang="en-US" dirty="0" smtClean="0"/>
              <a:t>to save the</a:t>
            </a:r>
            <a:br>
              <a:rPr lang="en-US" dirty="0" smtClean="0"/>
            </a:br>
            <a:r>
              <a:rPr lang="en-US" dirty="0" smtClean="0"/>
              <a:t>configuration</a:t>
            </a:r>
            <a:br>
              <a:rPr lang="en-US" dirty="0" smtClean="0"/>
            </a:br>
            <a:endParaRPr lang="en-US" b="1" dirty="0" smtClean="0"/>
          </a:p>
          <a:p>
            <a:pPr marL="804862" lvl="1" indent="-457200"/>
            <a:endParaRPr lang="en-US" b="1" dirty="0" smtClean="0"/>
          </a:p>
          <a:p>
            <a:endParaRPr lang="en-US" dirty="0">
              <a:solidFill>
                <a:srgbClr val="0066FF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endParaRPr lang="en-US" dirty="0" smtClean="0"/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 smtClean="0"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dirty="0">
              <a:cs typeface="Courier New" panose="02070309020205020404" pitchFamily="49" charset="0"/>
            </a:endParaRPr>
          </a:p>
          <a:p>
            <a:pPr marL="457200" indent="-457200"/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14338" name="Picture 2" descr="C:\Apps\CCSTraining\WORKSHOP\CC2650\ss\2650main1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810693"/>
            <a:ext cx="6435994" cy="244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26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the Debugger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Wingdings" pitchFamily="2" charset="2"/>
              </a:rPr>
              <a:t>Right-click on </a:t>
            </a:r>
            <a:r>
              <a:rPr lang="en-CA" b="1" dirty="0" smtClean="0">
                <a:sym typeface="Wingdings" pitchFamily="2" charset="2"/>
              </a:rPr>
              <a:t>2_CC2650F128</a:t>
            </a:r>
            <a:r>
              <a:rPr lang="en-US" b="1" dirty="0" smtClean="0">
                <a:sym typeface="Wingdings" pitchFamily="2" charset="2"/>
              </a:rPr>
              <a:t>.</a:t>
            </a:r>
            <a:r>
              <a:rPr lang="en-US" b="1" dirty="0" err="1" smtClean="0">
                <a:sym typeface="Wingdings" pitchFamily="2" charset="2"/>
              </a:rPr>
              <a:t>ccxml</a:t>
            </a:r>
            <a:r>
              <a:rPr lang="en-US" b="1" dirty="0" smtClean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under the </a:t>
            </a:r>
            <a:r>
              <a:rPr lang="en-US" b="1" dirty="0" smtClean="0">
                <a:sym typeface="Wingdings" pitchFamily="2" charset="2"/>
              </a:rPr>
              <a:t>User Defined</a:t>
            </a:r>
            <a:r>
              <a:rPr lang="en-US" dirty="0" smtClean="0">
                <a:sym typeface="Wingdings" pitchFamily="2" charset="2"/>
              </a:rPr>
              <a:t> node in the </a:t>
            </a:r>
            <a:r>
              <a:rPr lang="en-US" b="1" dirty="0" smtClean="0">
                <a:sym typeface="Wingdings" pitchFamily="2" charset="2"/>
              </a:rPr>
              <a:t>Target Configurations</a:t>
            </a:r>
            <a:r>
              <a:rPr lang="en-US" dirty="0" smtClean="0">
                <a:sym typeface="Wingdings" pitchFamily="2" charset="2"/>
              </a:rPr>
              <a:t> view and choose </a:t>
            </a:r>
            <a:r>
              <a:rPr lang="en-US" b="1" dirty="0" smtClean="0">
                <a:sym typeface="Wingdings" pitchFamily="2" charset="2"/>
              </a:rPr>
              <a:t>Launch Selected Configuration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The debugger will be launched – this is known as a project-less debug session since it was originally launched without a project association</a:t>
            </a:r>
            <a:endParaRPr lang="en-US" dirty="0">
              <a:solidFill>
                <a:srgbClr val="0066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73216"/>
            <a:ext cx="288000" cy="288000"/>
          </a:xfrm>
          <a:prstGeom prst="rect">
            <a:avLst/>
          </a:prstGeom>
        </p:spPr>
      </p:pic>
      <p:pic>
        <p:nvPicPr>
          <p:cNvPr id="15362" name="Picture 2" descr="C:\Apps\CCSTraining\WORKSHOP\CC2650\ss\2650main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372" y="1970949"/>
            <a:ext cx="2996756" cy="339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52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the Debugger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A single debug session for BOTH SmartRF06 boards will have started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Note how there are two CPUs that are now visible in the </a:t>
            </a:r>
            <a:r>
              <a:rPr lang="en-US" b="1" dirty="0" smtClean="0">
                <a:solidFill>
                  <a:srgbClr val="0066FF"/>
                </a:solidFill>
                <a:sym typeface="Wingdings" pitchFamily="2" charset="2"/>
              </a:rPr>
              <a:t>Debug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 view – one for each CC2650F128 CPU found on the two separate emulator connections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34" y="2060848"/>
            <a:ext cx="288000" cy="28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34" y="1268760"/>
            <a:ext cx="288000" cy="288000"/>
          </a:xfrm>
          <a:prstGeom prst="rect">
            <a:avLst/>
          </a:prstGeom>
        </p:spPr>
      </p:pic>
      <p:pic>
        <p:nvPicPr>
          <p:cNvPr id="16386" name="Picture 2" descr="C:\Apps\CCSTraining\WORKSHOP\CC2650\ss\2650main1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038836"/>
            <a:ext cx="55054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26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4" y="142875"/>
            <a:ext cx="8804721" cy="814388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en-US" u="sng" dirty="0" smtClean="0"/>
              <a:t>KNOWN ISSUE WITH GROUPS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482577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The rest of the lab steps relies on GROUPS (each M3 core is combined into a single group)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0066FF"/>
                </a:solidFill>
                <a:sym typeface="Wingdings" pitchFamily="2" charset="2"/>
              </a:rPr>
              <a:t>There is a known stability issue with CCSv6.1.0 when trying send a run/resume command to the group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This issue will be resolved in CCSv6.1.1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It is recommended to </a:t>
            </a:r>
            <a:r>
              <a:rPr lang="en-US" u="sng" dirty="0" smtClean="0">
                <a:solidFill>
                  <a:srgbClr val="0066FF"/>
                </a:solidFill>
                <a:sym typeface="Wingdings" pitchFamily="2" charset="2"/>
              </a:rPr>
              <a:t>avoid group level commands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 (when the group is selected in the </a:t>
            </a:r>
            <a:r>
              <a:rPr lang="en-US" b="1" dirty="0" smtClean="0">
                <a:solidFill>
                  <a:srgbClr val="0066FF"/>
                </a:solidFill>
                <a:sym typeface="Wingdings" pitchFamily="2" charset="2"/>
              </a:rPr>
              <a:t>Debug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 view) and send commands individually to each core by manually selecting each node under the group (have to manually repeat the action for each core)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CA" dirty="0"/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1026" name="Picture 2" descr="C:\Apps\CCSTraining\WORKSHOP\CC2650\groupbug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4293096"/>
            <a:ext cx="4320481" cy="138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Apps\CCSTraining\WORKSHOP\CC2650\groupbug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554" y="4293096"/>
            <a:ext cx="4307528" cy="137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5"/>
          <p:cNvSpPr>
            <a:spLocks noChangeArrowheads="1"/>
          </p:cNvSpPr>
          <p:nvPr/>
        </p:nvSpPr>
        <p:spPr bwMode="auto">
          <a:xfrm>
            <a:off x="611559" y="5517232"/>
            <a:ext cx="3600400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The group (</a:t>
            </a:r>
            <a:r>
              <a:rPr lang="en-CA" sz="1400" b="1" dirty="0" smtClean="0">
                <a:latin typeface="Arial Narrow" panose="020B0606020202030204" pitchFamily="34" charset="0"/>
              </a:rPr>
              <a:t>Group 1</a:t>
            </a:r>
            <a:r>
              <a:rPr lang="en-CA" sz="1400" dirty="0" smtClean="0">
                <a:latin typeface="Arial Narrow" panose="020B0606020202030204" pitchFamily="34" charset="0"/>
              </a:rPr>
              <a:t>) is selected above and any debugger command will be issued to the group (group level command)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sp>
        <p:nvSpPr>
          <p:cNvPr id="11" name="Rounded Rectangle 5"/>
          <p:cNvSpPr>
            <a:spLocks noChangeArrowheads="1"/>
          </p:cNvSpPr>
          <p:nvPr/>
        </p:nvSpPr>
        <p:spPr bwMode="auto">
          <a:xfrm>
            <a:off x="5032130" y="5497682"/>
            <a:ext cx="3384376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The first core (or node under core) in the group is selected and any debugger command will be issued to just the first core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pic>
        <p:nvPicPr>
          <p:cNvPr id="12" name="Picture 11" descr="C:\Users\a0356111.ENT\AppData\Local\Microsoft\Windows\Temporary Internet Files\Low\Content.IE5\UCVU48Z8\MC900434750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59" y="1916832"/>
            <a:ext cx="288000" cy="288000"/>
          </a:xfrm>
          <a:prstGeom prst="rect">
            <a:avLst/>
          </a:prstGeom>
          <a:noFill/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59" y="1124744"/>
            <a:ext cx="288000" cy="288000"/>
          </a:xfrm>
          <a:prstGeom prst="rect">
            <a:avLst/>
          </a:prstGeom>
        </p:spPr>
      </p:pic>
      <p:pic>
        <p:nvPicPr>
          <p:cNvPr id="14" name="Picture 13" descr="C:\Users\a0356111.ENT\AppData\Local\Microsoft\Windows\Temporary Internet Files\Low\Content.IE5\UCVU48Z8\MC900434750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1959" y="2996920"/>
            <a:ext cx="288000" cy="288000"/>
          </a:xfrm>
          <a:prstGeom prst="rect">
            <a:avLst/>
          </a:prstGeom>
          <a:noFill/>
        </p:spPr>
      </p:pic>
      <p:pic>
        <p:nvPicPr>
          <p:cNvPr id="1028" name="Picture 4" descr="C:\Users\a0389327\AppData\Local\Microsoft\Windows\Temporary Internet Files\Content.IE5\79U5FYGK\Importantinformation[1]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38"/>
            <a:ext cx="2232248" cy="102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25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74" y="142875"/>
            <a:ext cx="8912225" cy="814388"/>
          </a:xfrm>
        </p:spPr>
        <p:txBody>
          <a:bodyPr/>
          <a:lstStyle/>
          <a:p>
            <a:r>
              <a:rPr lang="en-US" dirty="0" smtClean="0"/>
              <a:t>                  </a:t>
            </a:r>
            <a:r>
              <a:rPr lang="en-US" u="sng" dirty="0" smtClean="0"/>
              <a:t>KNOWN ISSUE WITH GROUPS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57031"/>
            <a:ext cx="8467725" cy="46926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Another option is to simply skip groups all together and always keep the cores separate in the </a:t>
            </a:r>
            <a:r>
              <a:rPr lang="en-US" b="1" dirty="0" smtClean="0">
                <a:solidFill>
                  <a:srgbClr val="0066FF"/>
                </a:solidFill>
                <a:sym typeface="Wingdings" pitchFamily="2" charset="2"/>
              </a:rPr>
              <a:t>Debug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 view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Send </a:t>
            </a:r>
            <a:r>
              <a:rPr lang="en-US" dirty="0">
                <a:solidFill>
                  <a:srgbClr val="0066FF"/>
                </a:solidFill>
                <a:sym typeface="Wingdings" pitchFamily="2" charset="2"/>
              </a:rPr>
              <a:t>commands individually to each core by manually selecting each 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node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66FF"/>
              </a:solidFill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66FF"/>
              </a:solidFill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The fix for this bug will be available in the next CCS update (6.1.1)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66FF"/>
              </a:solidFill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CA" dirty="0"/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2050" name="Picture 2" descr="C:\Apps\CCSTraining\WORKSHOP\CC2650\groupbug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504303"/>
            <a:ext cx="46386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5"/>
          <p:cNvSpPr>
            <a:spLocks noChangeArrowheads="1"/>
          </p:cNvSpPr>
          <p:nvPr/>
        </p:nvSpPr>
        <p:spPr bwMode="auto">
          <a:xfrm>
            <a:off x="1187624" y="2924474"/>
            <a:ext cx="1872208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No group created and cores kept separate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59" y="1196752"/>
            <a:ext cx="288000" cy="288000"/>
          </a:xfrm>
          <a:prstGeom prst="rect">
            <a:avLst/>
          </a:prstGeom>
        </p:spPr>
      </p:pic>
      <p:pic>
        <p:nvPicPr>
          <p:cNvPr id="15" name="Picture 4" descr="C:\Users\a0389327\AppData\Local\Microsoft\Windows\Temporary Internet Files\Content.IE5\79U5FYGK\Importantinformation[1]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6"/>
            <a:ext cx="2232248" cy="102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9" y="4021982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0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Wingdings" pitchFamily="2" charset="2"/>
              </a:rPr>
              <a:t>Multi-select the both sub-nodes in the </a:t>
            </a:r>
            <a:r>
              <a:rPr lang="en-US" b="1" dirty="0" smtClean="0">
                <a:sym typeface="Wingdings" pitchFamily="2" charset="2"/>
              </a:rPr>
              <a:t>Debug</a:t>
            </a:r>
            <a:r>
              <a:rPr lang="en-US" dirty="0" smtClean="0">
                <a:sym typeface="Wingdings" pitchFamily="2" charset="2"/>
              </a:rPr>
              <a:t> view (press </a:t>
            </a:r>
            <a:r>
              <a:rPr lang="en-US" b="1" dirty="0" smtClean="0">
                <a:sym typeface="Wingdings" pitchFamily="2" charset="2"/>
              </a:rPr>
              <a:t>CTRL</a:t>
            </a:r>
            <a:r>
              <a:rPr lang="en-US" dirty="0" smtClean="0">
                <a:sym typeface="Wingdings" pitchFamily="2" charset="2"/>
              </a:rPr>
              <a:t> and then click on each node) and right-click to bring up the context menu</a:t>
            </a:r>
          </a:p>
          <a:p>
            <a:r>
              <a:rPr lang="en-US" dirty="0" smtClean="0">
                <a:sym typeface="Wingdings" pitchFamily="2" charset="2"/>
              </a:rPr>
              <a:t>Select </a:t>
            </a:r>
            <a:r>
              <a:rPr lang="en-US" b="1" dirty="0" smtClean="0">
                <a:sym typeface="Wingdings" pitchFamily="2" charset="2"/>
              </a:rPr>
              <a:t>Group core(s)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This will group the selected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nodes under a new node that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represents the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The group can be selected to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broadcast commands to all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members of the group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ym typeface="Wingdings" pitchFamily="2" charset="2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645024"/>
            <a:ext cx="288000" cy="28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288000" cy="288000"/>
          </a:xfrm>
          <a:prstGeom prst="rect">
            <a:avLst/>
          </a:prstGeom>
        </p:spPr>
      </p:pic>
      <p:pic>
        <p:nvPicPr>
          <p:cNvPr id="17410" name="Picture 2" descr="C:\Apps\CCSTraining\WORKSHOP\CC2650\ss\2650main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67" y="1988840"/>
            <a:ext cx="4618120" cy="25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C:\Apps\CCSTraining\WORKSHOP\CC2650\ss\2650main2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5199542"/>
            <a:ext cx="4557911" cy="90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own Arrow 4"/>
          <p:cNvSpPr/>
          <p:nvPr/>
        </p:nvSpPr>
        <p:spPr>
          <a:xfrm>
            <a:off x="7020272" y="4542996"/>
            <a:ext cx="576064" cy="65654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5"/>
          <p:cNvSpPr>
            <a:spLocks noChangeArrowheads="1"/>
          </p:cNvSpPr>
          <p:nvPr/>
        </p:nvSpPr>
        <p:spPr bwMode="auto">
          <a:xfrm>
            <a:off x="2411760" y="5445224"/>
            <a:ext cx="2005953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>
                <a:latin typeface="Arial Narrow" panose="020B0606020202030204" pitchFamily="34" charset="0"/>
              </a:rPr>
              <a:t>Selecting </a:t>
            </a:r>
            <a:r>
              <a:rPr lang="en-CA" sz="1400" b="1" dirty="0" smtClean="0">
                <a:latin typeface="Arial Narrow" panose="020B0606020202030204" pitchFamily="34" charset="0"/>
              </a:rPr>
              <a:t>Group 1 </a:t>
            </a:r>
            <a:r>
              <a:rPr lang="en-CA" sz="1400" dirty="0" smtClean="0">
                <a:latin typeface="Arial Narrow" panose="020B0606020202030204" pitchFamily="34" charset="0"/>
              </a:rPr>
              <a:t>will </a:t>
            </a:r>
            <a:r>
              <a:rPr lang="en-CA" sz="1400" dirty="0">
                <a:latin typeface="Arial Narrow" panose="020B0606020202030204" pitchFamily="34" charset="0"/>
              </a:rPr>
              <a:t>change the debug context to the </a:t>
            </a:r>
            <a:r>
              <a:rPr lang="en-CA" sz="1400" dirty="0" smtClean="0">
                <a:latin typeface="Arial Narrow" panose="020B0606020202030204" pitchFamily="34" charset="0"/>
              </a:rPr>
              <a:t>whole Group</a:t>
            </a:r>
            <a:endParaRPr lang="en-CA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Wingdings" pitchFamily="2" charset="2"/>
              </a:rPr>
              <a:t>Select the </a:t>
            </a:r>
            <a:r>
              <a:rPr lang="en-US" b="1" dirty="0" smtClean="0">
                <a:sym typeface="Wingdings" pitchFamily="2" charset="2"/>
              </a:rPr>
              <a:t>Group 1 </a:t>
            </a:r>
            <a:r>
              <a:rPr lang="en-US" dirty="0" smtClean="0">
                <a:sym typeface="Wingdings" pitchFamily="2" charset="2"/>
              </a:rPr>
              <a:t>node in the </a:t>
            </a:r>
            <a:r>
              <a:rPr lang="en-US" b="1" dirty="0" smtClean="0">
                <a:sym typeface="Wingdings" pitchFamily="2" charset="2"/>
              </a:rPr>
              <a:t>Debug</a:t>
            </a:r>
            <a:r>
              <a:rPr lang="en-US" dirty="0" smtClean="0">
                <a:sym typeface="Wingdings" pitchFamily="2" charset="2"/>
              </a:rPr>
              <a:t> view and press the </a:t>
            </a:r>
            <a:r>
              <a:rPr lang="en-CA" b="1" dirty="0" smtClean="0"/>
              <a:t>Connect Target </a:t>
            </a:r>
            <a:r>
              <a:rPr lang="en-CA" dirty="0" smtClean="0"/>
              <a:t>button      </a:t>
            </a:r>
            <a:r>
              <a:rPr lang="en-CA" dirty="0"/>
              <a:t>to </a:t>
            </a:r>
            <a:r>
              <a:rPr lang="en-US" dirty="0" smtClean="0"/>
              <a:t>connect to both targets</a:t>
            </a:r>
          </a:p>
          <a:p>
            <a:r>
              <a:rPr lang="en-US" dirty="0">
                <a:sym typeface="Wingdings" pitchFamily="2" charset="2"/>
              </a:rPr>
              <a:t>Select the </a:t>
            </a:r>
            <a:r>
              <a:rPr lang="en-US" b="1" dirty="0">
                <a:sym typeface="Wingdings" pitchFamily="2" charset="2"/>
              </a:rPr>
              <a:t>Group 1 </a:t>
            </a:r>
            <a:r>
              <a:rPr lang="en-US" dirty="0">
                <a:sym typeface="Wingdings" pitchFamily="2" charset="2"/>
              </a:rPr>
              <a:t>node in the </a:t>
            </a:r>
            <a:r>
              <a:rPr lang="en-US" b="1" dirty="0">
                <a:sym typeface="Wingdings" pitchFamily="2" charset="2"/>
              </a:rPr>
              <a:t>Debug</a:t>
            </a:r>
            <a:r>
              <a:rPr lang="en-US" dirty="0">
                <a:sym typeface="Wingdings" pitchFamily="2" charset="2"/>
              </a:rPr>
              <a:t> view and press the </a:t>
            </a:r>
            <a:r>
              <a:rPr lang="en-CA" b="1" dirty="0" smtClean="0"/>
              <a:t>Load </a:t>
            </a:r>
            <a:r>
              <a:rPr lang="en-CA" dirty="0"/>
              <a:t>button     </a:t>
            </a:r>
            <a:endParaRPr lang="en-CA" dirty="0" smtClean="0"/>
          </a:p>
          <a:p>
            <a:r>
              <a:rPr lang="en-CA" dirty="0" smtClean="0">
                <a:sym typeface="Wingdings" pitchFamily="2" charset="2"/>
              </a:rPr>
              <a:t>In the </a:t>
            </a:r>
            <a:r>
              <a:rPr lang="en-CA" b="1" dirty="0" smtClean="0">
                <a:sym typeface="Wingdings" pitchFamily="2" charset="2"/>
              </a:rPr>
              <a:t>Load Program</a:t>
            </a:r>
            <a:r>
              <a:rPr lang="en-CA" dirty="0" smtClean="0">
                <a:sym typeface="Wingdings" pitchFamily="2" charset="2"/>
              </a:rPr>
              <a:t> dialog, specify the </a:t>
            </a:r>
            <a:r>
              <a:rPr lang="en-CA" b="1" dirty="0" err="1" smtClean="0">
                <a:sym typeface="Wingdings" pitchFamily="2" charset="2"/>
              </a:rPr>
              <a:t>per_test.out</a:t>
            </a:r>
            <a:r>
              <a:rPr lang="en-CA" dirty="0" smtClean="0">
                <a:sym typeface="Wingdings" pitchFamily="2" charset="2"/>
              </a:rPr>
              <a:t> </a:t>
            </a:r>
            <a:r>
              <a:rPr lang="en-CA" dirty="0">
                <a:sym typeface="Wingdings" pitchFamily="2" charset="2"/>
              </a:rPr>
              <a:t>program </a:t>
            </a:r>
            <a:r>
              <a:rPr lang="en-CA" dirty="0" smtClean="0">
                <a:sym typeface="Wingdings" pitchFamily="2" charset="2"/>
              </a:rPr>
              <a:t>located in: </a:t>
            </a:r>
          </a:p>
          <a:p>
            <a:pPr lvl="1"/>
            <a:r>
              <a:rPr lang="en-CA" i="1" dirty="0" smtClean="0">
                <a:sym typeface="Wingdings" pitchFamily="2" charset="2"/>
              </a:rPr>
              <a:t>C</a:t>
            </a:r>
            <a:r>
              <a:rPr lang="en-CA" i="1" dirty="0">
                <a:sym typeface="Wingdings" pitchFamily="2" charset="2"/>
              </a:rPr>
              <a:t>:\</a:t>
            </a:r>
            <a:r>
              <a:rPr lang="en-CA" i="1" dirty="0" smtClean="0">
                <a:sym typeface="Wingdings" pitchFamily="2" charset="2"/>
              </a:rPr>
              <a:t>ccsv6_workshop\cc2650\binary</a:t>
            </a:r>
          </a:p>
          <a:p>
            <a:pPr lvl="1"/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This will load the program on to </a:t>
            </a:r>
            <a:r>
              <a:rPr lang="en-CA" u="sng" dirty="0" smtClean="0">
                <a:solidFill>
                  <a:srgbClr val="0066FF"/>
                </a:solidFill>
                <a:sym typeface="Wingdings" pitchFamily="2" charset="2"/>
              </a:rPr>
              <a:t>both</a:t>
            </a:r>
            <a:r>
              <a:rPr lang="en-CA" dirty="0" smtClean="0">
                <a:solidFill>
                  <a:srgbClr val="0066FF"/>
                </a:solidFill>
                <a:sym typeface="Wingdings" pitchFamily="2" charset="2"/>
              </a:rPr>
              <a:t> targets</a:t>
            </a:r>
          </a:p>
          <a:p>
            <a:r>
              <a:rPr lang="en-US" dirty="0">
                <a:sym typeface="Wingdings" pitchFamily="2" charset="2"/>
              </a:rPr>
              <a:t>Select the </a:t>
            </a:r>
            <a:r>
              <a:rPr lang="en-US" b="1" dirty="0">
                <a:sym typeface="Wingdings" pitchFamily="2" charset="2"/>
              </a:rPr>
              <a:t>Group 1 </a:t>
            </a:r>
            <a:r>
              <a:rPr lang="en-US" dirty="0">
                <a:sym typeface="Wingdings" pitchFamily="2" charset="2"/>
              </a:rPr>
              <a:t>node in the </a:t>
            </a:r>
            <a:r>
              <a:rPr lang="en-US" b="1" dirty="0">
                <a:sym typeface="Wingdings" pitchFamily="2" charset="2"/>
              </a:rPr>
              <a:t>Debug</a:t>
            </a:r>
            <a:r>
              <a:rPr lang="en-US" dirty="0">
                <a:sym typeface="Wingdings" pitchFamily="2" charset="2"/>
              </a:rPr>
              <a:t> view and press the </a:t>
            </a:r>
            <a:r>
              <a:rPr lang="en-CA" b="1" dirty="0" smtClean="0"/>
              <a:t>Resume </a:t>
            </a:r>
            <a:r>
              <a:rPr lang="en-CA" dirty="0" smtClean="0"/>
              <a:t>button      to run the program on both targets</a:t>
            </a:r>
          </a:p>
          <a:p>
            <a:endParaRPr lang="en-CA" dirty="0"/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34888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runButt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1205" y="4722093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543939"/>
            <a:ext cx="238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59" y="382003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8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Both targets will begin running and the LCD should indicate that the CC2650 PER TEST is running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66FF"/>
              </a:solidFill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066FF"/>
              </a:solidFill>
              <a:sym typeface="Wingdings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Feel free to play with the PER test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example if desired (see PER test</a:t>
            </a:r>
            <a:br>
              <a:rPr lang="en-US" dirty="0" smtClean="0">
                <a:solidFill>
                  <a:srgbClr val="0066FF"/>
                </a:solidFill>
                <a:sym typeface="Wingdings" pitchFamily="2" charset="2"/>
              </a:rPr>
            </a:b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documentation)</a:t>
            </a:r>
            <a:endParaRPr lang="en-US" dirty="0" smtClean="0">
              <a:solidFill>
                <a:srgbClr val="0066FF"/>
              </a:solidFill>
            </a:endParaRPr>
          </a:p>
          <a:p>
            <a:endParaRPr lang="en-CA" dirty="0"/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19458" name="Picture 2" descr="C:\Apps\CCSTraining\WORKSHOP\CC2650\ss\2650main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88840"/>
            <a:ext cx="3303860" cy="429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C:\Apps\CCSTraining\WORKSHOP\CC2650\ss\2650main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52482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29" y="1268760"/>
            <a:ext cx="288000" cy="28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69" y="357301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Multi-Emulator/Target Debug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CCS treats a multi-emulator debug session the same a single emulator debug session for a multi-core device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Each CPU in the debug session has its own debug context and can be controlled separately</a:t>
            </a:r>
          </a:p>
          <a:p>
            <a:pPr marL="56832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When a CPU has debug context, all actions apply to that CPU and all views display data for that CPU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Groups can be used to control multiple CPUs at once (broadcast commands)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sym typeface="Wingdings" pitchFamily="2" charset="2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68760"/>
            <a:ext cx="288000" cy="28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085293"/>
            <a:ext cx="288000" cy="28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429000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1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Multi-Core Debug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559105" cy="4692650"/>
          </a:xfrm>
        </p:spPr>
        <p:txBody>
          <a:bodyPr/>
          <a:lstStyle/>
          <a:p>
            <a:r>
              <a:rPr lang="en-US" dirty="0" smtClean="0">
                <a:sym typeface="Wingdings" pitchFamily="2" charset="2"/>
              </a:rPr>
              <a:t>Select the </a:t>
            </a:r>
            <a:r>
              <a:rPr lang="en-US" b="1" dirty="0" smtClean="0">
                <a:sym typeface="Wingdings" pitchFamily="2" charset="2"/>
              </a:rPr>
              <a:t>Group 1 </a:t>
            </a:r>
            <a:r>
              <a:rPr lang="en-US" dirty="0" smtClean="0">
                <a:sym typeface="Wingdings" pitchFamily="2" charset="2"/>
              </a:rPr>
              <a:t>node in the </a:t>
            </a:r>
            <a:r>
              <a:rPr lang="en-US" b="1" dirty="0" smtClean="0">
                <a:sym typeface="Wingdings" pitchFamily="2" charset="2"/>
              </a:rPr>
              <a:t>Debug</a:t>
            </a:r>
            <a:r>
              <a:rPr lang="en-US" dirty="0" smtClean="0">
                <a:sym typeface="Wingdings" pitchFamily="2" charset="2"/>
              </a:rPr>
              <a:t> view and </a:t>
            </a:r>
            <a:r>
              <a:rPr lang="en-US" dirty="0" err="1" smtClean="0">
                <a:sym typeface="Wingdings" pitchFamily="2" charset="2"/>
              </a:rPr>
              <a:t>pr</a:t>
            </a:r>
            <a:r>
              <a:rPr lang="en-CA" dirty="0" err="1" smtClean="0"/>
              <a:t>ess</a:t>
            </a:r>
            <a:r>
              <a:rPr lang="en-CA" dirty="0" smtClean="0"/>
              <a:t> </a:t>
            </a:r>
            <a:r>
              <a:rPr lang="en-CA" dirty="0"/>
              <a:t>the </a:t>
            </a:r>
            <a:r>
              <a:rPr lang="en-CA" b="1" dirty="0"/>
              <a:t>Suspend</a:t>
            </a:r>
            <a:r>
              <a:rPr lang="en-CA" dirty="0"/>
              <a:t> button     to halt </a:t>
            </a:r>
            <a:r>
              <a:rPr lang="en-CA" dirty="0" smtClean="0"/>
              <a:t>execution of both targets</a:t>
            </a:r>
            <a:endParaRPr lang="en-US" dirty="0" smtClean="0"/>
          </a:p>
          <a:p>
            <a:r>
              <a:rPr lang="en-US" dirty="0" smtClean="0">
                <a:sym typeface="Wingdings" pitchFamily="2" charset="2"/>
              </a:rPr>
              <a:t>Select </a:t>
            </a:r>
            <a:r>
              <a:rPr lang="en-US" dirty="0">
                <a:sym typeface="Wingdings" pitchFamily="2" charset="2"/>
              </a:rPr>
              <a:t>the </a:t>
            </a:r>
            <a:r>
              <a:rPr lang="en-US" b="1" dirty="0">
                <a:sym typeface="Wingdings" pitchFamily="2" charset="2"/>
              </a:rPr>
              <a:t>Group 1 </a:t>
            </a:r>
            <a:r>
              <a:rPr lang="en-US" dirty="0">
                <a:sym typeface="Wingdings" pitchFamily="2" charset="2"/>
              </a:rPr>
              <a:t>node in the </a:t>
            </a:r>
            <a:r>
              <a:rPr lang="en-US" b="1" dirty="0">
                <a:sym typeface="Wingdings" pitchFamily="2" charset="2"/>
              </a:rPr>
              <a:t>Debug</a:t>
            </a:r>
            <a:r>
              <a:rPr lang="en-US" dirty="0">
                <a:sym typeface="Wingdings" pitchFamily="2" charset="2"/>
              </a:rPr>
              <a:t> view and press the </a:t>
            </a:r>
            <a:r>
              <a:rPr lang="en-CA" b="1" dirty="0" smtClean="0"/>
              <a:t>Restart </a:t>
            </a:r>
            <a:r>
              <a:rPr lang="en-CA" dirty="0"/>
              <a:t>button     </a:t>
            </a:r>
            <a:r>
              <a:rPr lang="en-CA" dirty="0" smtClean="0"/>
              <a:t>to restart the program for both targets </a:t>
            </a:r>
          </a:p>
          <a:p>
            <a:r>
              <a:rPr lang="en-US" dirty="0" smtClean="0">
                <a:sym typeface="Wingdings" pitchFamily="2" charset="2"/>
              </a:rPr>
              <a:t>Expand the node for the first CPU under </a:t>
            </a:r>
            <a:r>
              <a:rPr lang="en-US" b="1" dirty="0" smtClean="0">
                <a:sym typeface="Wingdings" pitchFamily="2" charset="2"/>
              </a:rPr>
              <a:t>Group 1</a:t>
            </a:r>
            <a:r>
              <a:rPr lang="en-US" dirty="0" smtClean="0">
                <a:sym typeface="Wingdings" pitchFamily="2" charset="2"/>
              </a:rPr>
              <a:t>, to expose the call stack, and select the top entry in the call stack</a:t>
            </a:r>
          </a:p>
          <a:p>
            <a:pPr>
              <a:buFont typeface="+mj-lt"/>
              <a:buAutoNum type="arabicPeriod" startAt="4"/>
            </a:pPr>
            <a:r>
              <a:rPr lang="en-CA" dirty="0" smtClean="0"/>
              <a:t>Select </a:t>
            </a:r>
            <a:r>
              <a:rPr lang="en-CA" b="1" dirty="0" smtClean="0"/>
              <a:t>Locate File…</a:t>
            </a:r>
            <a:r>
              <a:rPr lang="en-CA" dirty="0" smtClean="0"/>
              <a:t> to browse</a:t>
            </a:r>
            <a:br>
              <a:rPr lang="en-CA" dirty="0" smtClean="0"/>
            </a:br>
            <a:r>
              <a:rPr lang="en-CA" dirty="0" smtClean="0"/>
              <a:t>to the location of </a:t>
            </a:r>
            <a:r>
              <a:rPr lang="en-CA" b="1" dirty="0" err="1" smtClean="0"/>
              <a:t>main.c</a:t>
            </a:r>
            <a:r>
              <a:rPr lang="en-CA" b="1" dirty="0" smtClean="0"/>
              <a:t> </a:t>
            </a:r>
            <a:br>
              <a:rPr lang="en-CA" b="1" dirty="0" smtClean="0"/>
            </a:br>
            <a:r>
              <a:rPr lang="en-CA" dirty="0" smtClean="0"/>
              <a:t>(</a:t>
            </a:r>
            <a:r>
              <a:rPr lang="en-CA" i="1" dirty="0" smtClean="0"/>
              <a:t>C:\ccsv6_workshop\cc2650\</a:t>
            </a:r>
            <a:br>
              <a:rPr lang="en-CA" i="1" dirty="0" smtClean="0"/>
            </a:br>
            <a:r>
              <a:rPr lang="en-CA" i="1" dirty="0" err="1" smtClean="0"/>
              <a:t>per_test</a:t>
            </a:r>
            <a:r>
              <a:rPr lang="en-CA" i="1" dirty="0" smtClean="0"/>
              <a:t>\source)</a:t>
            </a:r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28800"/>
            <a:ext cx="180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104" y="2420888"/>
            <a:ext cx="2190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C:\Apps\CCSTraining\WORKSHOP\CC2650\ss_main\cc2650main5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599086"/>
            <a:ext cx="4500500" cy="26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5"/>
          <p:cNvSpPr>
            <a:spLocks noChangeArrowheads="1"/>
          </p:cNvSpPr>
          <p:nvPr/>
        </p:nvSpPr>
        <p:spPr bwMode="auto">
          <a:xfrm>
            <a:off x="5508104" y="4653137"/>
            <a:ext cx="2808312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Selecting the first CPU will change the debug context to the first CPU</a:t>
            </a:r>
            <a:endParaRPr lang="en-CA" sz="1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8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559105" cy="4692650"/>
          </a:xfrm>
        </p:spPr>
        <p:txBody>
          <a:bodyPr/>
          <a:lstStyle/>
          <a:p>
            <a:r>
              <a:rPr lang="en-US" dirty="0" smtClean="0">
                <a:sym typeface="Wingdings" pitchFamily="2" charset="2"/>
              </a:rPr>
              <a:t>Open the </a:t>
            </a:r>
            <a:r>
              <a:rPr lang="en-US" b="1" dirty="0" smtClean="0">
                <a:sym typeface="Wingdings" pitchFamily="2" charset="2"/>
              </a:rPr>
              <a:t>Breakpoints </a:t>
            </a:r>
            <a:r>
              <a:rPr lang="en-US" dirty="0" smtClean="0">
                <a:sym typeface="Wingdings" pitchFamily="2" charset="2"/>
              </a:rPr>
              <a:t>view (</a:t>
            </a:r>
            <a:r>
              <a:rPr lang="en-US" i="1" dirty="0" smtClean="0">
                <a:sym typeface="Wingdings" pitchFamily="2" charset="2"/>
              </a:rPr>
              <a:t>View -&gt; Breakpoints</a:t>
            </a:r>
            <a:r>
              <a:rPr lang="en-US" dirty="0" smtClean="0">
                <a:sym typeface="Wingdings" pitchFamily="2" charset="2"/>
              </a:rPr>
              <a:t>)</a:t>
            </a:r>
            <a:endParaRPr lang="en-US" dirty="0" smtClean="0"/>
          </a:p>
          <a:p>
            <a:r>
              <a:rPr lang="en-US" dirty="0">
                <a:sym typeface="Wingdings" pitchFamily="2" charset="2"/>
              </a:rPr>
              <a:t>Open the </a:t>
            </a:r>
            <a:r>
              <a:rPr lang="en-US" b="1" dirty="0">
                <a:sym typeface="Wingdings" pitchFamily="2" charset="2"/>
              </a:rPr>
              <a:t>Disassembly</a:t>
            </a:r>
            <a:r>
              <a:rPr lang="en-US" dirty="0">
                <a:sym typeface="Wingdings" pitchFamily="2" charset="2"/>
              </a:rPr>
              <a:t> view (</a:t>
            </a:r>
            <a:r>
              <a:rPr lang="en-US" i="1" dirty="0">
                <a:sym typeface="Wingdings" pitchFamily="2" charset="2"/>
              </a:rPr>
              <a:t>View -&gt; Disassembly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r>
              <a:rPr lang="en-US" dirty="0" smtClean="0">
                <a:sym typeface="Wingdings" pitchFamily="2" charset="2"/>
              </a:rPr>
              <a:t>In the </a:t>
            </a:r>
            <a:r>
              <a:rPr lang="en-US" b="1" dirty="0" smtClean="0">
                <a:sym typeface="Wingdings" pitchFamily="2" charset="2"/>
              </a:rPr>
              <a:t>Disassembly</a:t>
            </a:r>
            <a:r>
              <a:rPr lang="en-US" dirty="0" smtClean="0">
                <a:sym typeface="Wingdings" pitchFamily="2" charset="2"/>
              </a:rPr>
              <a:t> view: Type in </a:t>
            </a:r>
            <a:r>
              <a:rPr lang="en-US" b="1" dirty="0" smtClean="0">
                <a:sym typeface="Wingdings" pitchFamily="2" charset="2"/>
              </a:rPr>
              <a:t>menu </a:t>
            </a:r>
            <a:r>
              <a:rPr lang="en-US" dirty="0" smtClean="0">
                <a:sym typeface="Wingdings" pitchFamily="2" charset="2"/>
              </a:rPr>
              <a:t>in the address field and select </a:t>
            </a:r>
            <a:r>
              <a:rPr lang="en-US" b="1" dirty="0" err="1" smtClean="0">
                <a:sym typeface="Wingdings" pitchFamily="2" charset="2"/>
              </a:rPr>
              <a:t>menuButtonCb</a:t>
            </a:r>
            <a:r>
              <a:rPr lang="en-US" dirty="0" smtClean="0">
                <a:sym typeface="Wingdings" pitchFamily="2" charset="2"/>
              </a:rPr>
              <a:t> in the list of suggestions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The </a:t>
            </a:r>
            <a:r>
              <a:rPr lang="en-US" b="1" dirty="0" smtClean="0">
                <a:solidFill>
                  <a:srgbClr val="0066FF"/>
                </a:solidFill>
                <a:sym typeface="Wingdings" pitchFamily="2" charset="2"/>
              </a:rPr>
              <a:t>Disassembly</a:t>
            </a:r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 view will jump to the address of </a:t>
            </a:r>
            <a:r>
              <a:rPr lang="en-US" b="1" dirty="0" err="1" smtClean="0">
                <a:solidFill>
                  <a:srgbClr val="0066FF"/>
                </a:solidFill>
                <a:sym typeface="Wingdings" pitchFamily="2" charset="2"/>
              </a:rPr>
              <a:t>menuButtonCb</a:t>
            </a:r>
            <a:endParaRPr lang="en-US" b="1" dirty="0" smtClean="0">
              <a:solidFill>
                <a:srgbClr val="0066FF"/>
              </a:solidFill>
              <a:sym typeface="Wingdings" pitchFamily="2" charset="2"/>
            </a:endParaRPr>
          </a:p>
          <a:p>
            <a:pPr lvl="1"/>
            <a:endParaRPr lang="en-US" b="1" dirty="0" smtClean="0">
              <a:solidFill>
                <a:srgbClr val="0066FF"/>
              </a:solidFill>
              <a:sym typeface="Wingdings" pitchFamily="2" charset="2"/>
            </a:endParaRPr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5122" name="Picture 2" descr="C:\Apps\CCSTraining\WORKSHOP\CC2650\ss_main\cc2650main5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12976"/>
            <a:ext cx="559117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07" y="292497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1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185863"/>
            <a:ext cx="8559105" cy="4692650"/>
          </a:xfrm>
        </p:spPr>
        <p:txBody>
          <a:bodyPr/>
          <a:lstStyle/>
          <a:p>
            <a:pPr>
              <a:buFont typeface="+mj-lt"/>
              <a:buAutoNum type="arabicPeriod" startAt="4"/>
            </a:pPr>
            <a:r>
              <a:rPr lang="en-US" dirty="0" smtClean="0">
                <a:sym typeface="Wingdings" pitchFamily="2" charset="2"/>
              </a:rPr>
              <a:t>In the </a:t>
            </a:r>
            <a:r>
              <a:rPr lang="en-US" b="1" dirty="0" smtClean="0">
                <a:sym typeface="Wingdings" pitchFamily="2" charset="2"/>
              </a:rPr>
              <a:t>Disassembly</a:t>
            </a:r>
            <a:r>
              <a:rPr lang="en-US" dirty="0" smtClean="0">
                <a:sym typeface="Wingdings" pitchFamily="2" charset="2"/>
              </a:rPr>
              <a:t> view: Scroll down to address 0x68A8 and double-click in the margin to set a breakpoint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This location is reached when the SELECT button is pressed on the SmartRF06RB 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  <a:sym typeface="Wingdings" pitchFamily="2" charset="2"/>
              </a:rPr>
              <a:t>This will set a breakpoint for just the first CPU</a:t>
            </a:r>
            <a:endParaRPr lang="en-US" b="1" dirty="0" smtClean="0">
              <a:solidFill>
                <a:srgbClr val="0066FF"/>
              </a:solidFill>
              <a:sym typeface="Wingdings" pitchFamily="2" charset="2"/>
            </a:endParaRPr>
          </a:p>
          <a:p>
            <a:pPr lvl="1"/>
            <a:endParaRPr lang="en-US" b="1" dirty="0" smtClean="0">
              <a:solidFill>
                <a:srgbClr val="0066FF"/>
              </a:solidFill>
              <a:sym typeface="Wingdings" pitchFamily="2" charset="2"/>
            </a:endParaRPr>
          </a:p>
          <a:p>
            <a:pPr>
              <a:buAutoNum type="arabicPeriod" startAt="4"/>
            </a:pPr>
            <a:endParaRPr lang="en-CA" i="1" dirty="0" smtClean="0">
              <a:sym typeface="Wingdings" pitchFamily="2" charset="2"/>
            </a:endParaRPr>
          </a:p>
          <a:p>
            <a:pPr>
              <a:buAutoNum type="arabicPeriod" startAt="4"/>
            </a:pPr>
            <a:endParaRPr lang="en-US" i="1" dirty="0" smtClean="0">
              <a:sym typeface="Wingdings" pitchFamily="2" charset="2"/>
            </a:endParaRPr>
          </a:p>
          <a:p>
            <a:pPr>
              <a:buAutoNum type="arabicPeriod" startAt="4"/>
            </a:pPr>
            <a:endParaRPr lang="en-US" dirty="0">
              <a:sym typeface="Wingdings" pitchFamily="2" charset="2"/>
            </a:endParaRPr>
          </a:p>
          <a:p>
            <a:pPr>
              <a:buAutoNum type="arabicPeriod" startAt="4"/>
            </a:pPr>
            <a:endParaRPr lang="en-US" dirty="0" smtClean="0">
              <a:sym typeface="Wingdings" pitchFamily="2" charset="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77" y="1916832"/>
            <a:ext cx="288000" cy="288000"/>
          </a:xfrm>
          <a:prstGeom prst="rect">
            <a:avLst/>
          </a:prstGeom>
        </p:spPr>
      </p:pic>
      <p:pic>
        <p:nvPicPr>
          <p:cNvPr id="6146" name="Picture 2" descr="C:\Apps\CCSTraining\WORKSHOP\CC2650\ss_main\cc2650main5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352" y="2852936"/>
            <a:ext cx="4757509" cy="231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5"/>
          <p:cNvSpPr>
            <a:spLocks noChangeArrowheads="1"/>
          </p:cNvSpPr>
          <p:nvPr/>
        </p:nvSpPr>
        <p:spPr bwMode="auto">
          <a:xfrm>
            <a:off x="4217097" y="3212976"/>
            <a:ext cx="2227112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dirty="0" smtClean="0">
                <a:latin typeface="Arial Narrow" panose="020B0606020202030204" pitchFamily="34" charset="0"/>
              </a:rPr>
              <a:t>Contents of </a:t>
            </a:r>
            <a:r>
              <a:rPr lang="en-CA" sz="1400" b="1" dirty="0" smtClean="0">
                <a:latin typeface="Arial Narrow" panose="020B0606020202030204" pitchFamily="34" charset="0"/>
              </a:rPr>
              <a:t>Disassembly </a:t>
            </a:r>
            <a:r>
              <a:rPr lang="en-CA" sz="1400" dirty="0" smtClean="0">
                <a:latin typeface="Arial Narrow" panose="020B0606020202030204" pitchFamily="34" charset="0"/>
              </a:rPr>
              <a:t>view is for current debug context (first CPU)</a:t>
            </a:r>
            <a:endParaRPr lang="en-CA" sz="1000" dirty="0">
              <a:latin typeface="Arial Narrow" panose="020B0606020202030204" pitchFamily="34" charset="0"/>
            </a:endParaRPr>
          </a:p>
        </p:txBody>
      </p:sp>
      <p:pic>
        <p:nvPicPr>
          <p:cNvPr id="6147" name="Picture 3" descr="C:\Apps\CCSTraining\WORKSHOP\CC2650\ss_main\cc2650main5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352" y="5373216"/>
            <a:ext cx="6450012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77" y="249289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5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View Breakpoints by Debug Context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179513" y="980729"/>
            <a:ext cx="8964488" cy="1080119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dirty="0" smtClean="0"/>
              <a:t>In the </a:t>
            </a:r>
            <a:r>
              <a:rPr lang="en-US" b="1" dirty="0" smtClean="0"/>
              <a:t>Breakpoints</a:t>
            </a:r>
            <a:r>
              <a:rPr lang="en-US" dirty="0" smtClean="0"/>
              <a:t> menu, select </a:t>
            </a:r>
            <a:r>
              <a:rPr lang="en-US" i="1" dirty="0" smtClean="0"/>
              <a:t>Group by -&gt; 4 Debug Contexts</a:t>
            </a:r>
          </a:p>
        </p:txBody>
      </p:sp>
      <p:pic>
        <p:nvPicPr>
          <p:cNvPr id="2053" name="Picture 5" descr="C:\Apps\CCSTraining\WORKSHOP\CC2650\ss_main\cc2650main5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424183"/>
            <a:ext cx="6583362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5"/>
          <p:cNvSpPr>
            <a:spLocks noChangeArrowheads="1"/>
          </p:cNvSpPr>
          <p:nvPr/>
        </p:nvSpPr>
        <p:spPr bwMode="auto">
          <a:xfrm>
            <a:off x="2195736" y="2231188"/>
            <a:ext cx="1837772" cy="578882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Which CPU does this breakpoint apply to? </a:t>
            </a:r>
            <a:endParaRPr lang="en-CA" sz="1000" b="1" dirty="0">
              <a:latin typeface="Arial Narrow" panose="020B0606020202030204" pitchFamily="34" charset="0"/>
            </a:endParaRPr>
          </a:p>
        </p:txBody>
      </p:sp>
      <p:pic>
        <p:nvPicPr>
          <p:cNvPr id="2054" name="Picture 6" descr="C:\Apps\CCSTraining\WORKSHOP\CC2650\ss_main\cc2650main5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369" y="5199063"/>
            <a:ext cx="6488112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5"/>
          <p:cNvSpPr>
            <a:spLocks noChangeArrowheads="1"/>
          </p:cNvSpPr>
          <p:nvPr/>
        </p:nvSpPr>
        <p:spPr bwMode="auto">
          <a:xfrm>
            <a:off x="6053025" y="4471617"/>
            <a:ext cx="2263391" cy="81724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1400" b="1" dirty="0" smtClean="0">
                <a:latin typeface="Arial Narrow" panose="020B0606020202030204" pitchFamily="34" charset="0"/>
              </a:rPr>
              <a:t>Breakpoints are now grouped by debug context (CPU) for easy identification</a:t>
            </a:r>
            <a:endParaRPr lang="en-CA" sz="1000" b="1" dirty="0">
              <a:latin typeface="Arial Narrow" panose="020B0606020202030204" pitchFamily="34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4788024" y="4581128"/>
            <a:ext cx="536805" cy="598224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Breakpoints – Run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ym typeface="Wingdings" pitchFamily="2" charset="2"/>
              </a:rPr>
              <a:t>Select </a:t>
            </a:r>
            <a:r>
              <a:rPr lang="en-US" dirty="0">
                <a:sym typeface="Wingdings" pitchFamily="2" charset="2"/>
              </a:rPr>
              <a:t>the </a:t>
            </a:r>
            <a:r>
              <a:rPr lang="en-US" b="1" dirty="0">
                <a:sym typeface="Wingdings" pitchFamily="2" charset="2"/>
              </a:rPr>
              <a:t>Group 1 </a:t>
            </a:r>
            <a:r>
              <a:rPr lang="en-US" dirty="0">
                <a:sym typeface="Wingdings" pitchFamily="2" charset="2"/>
              </a:rPr>
              <a:t>node in the </a:t>
            </a:r>
            <a:r>
              <a:rPr lang="en-US" b="1" dirty="0">
                <a:sym typeface="Wingdings" pitchFamily="2" charset="2"/>
              </a:rPr>
              <a:t>Debug</a:t>
            </a:r>
            <a:r>
              <a:rPr lang="en-US" dirty="0">
                <a:sym typeface="Wingdings" pitchFamily="2" charset="2"/>
              </a:rPr>
              <a:t> view and press the </a:t>
            </a:r>
            <a:r>
              <a:rPr lang="en-CA" b="1" dirty="0" smtClean="0"/>
              <a:t>Resume </a:t>
            </a:r>
            <a:r>
              <a:rPr lang="en-CA" dirty="0" smtClean="0"/>
              <a:t>button      to run the program on both targets</a:t>
            </a:r>
          </a:p>
          <a:p>
            <a:r>
              <a:rPr lang="en-CA" dirty="0" smtClean="0"/>
              <a:t>Press the </a:t>
            </a:r>
            <a:r>
              <a:rPr lang="en-CA" b="1" dirty="0" smtClean="0"/>
              <a:t>Select</a:t>
            </a:r>
            <a:r>
              <a:rPr lang="en-CA" dirty="0" smtClean="0"/>
              <a:t> button on the SmartRF06 board</a:t>
            </a:r>
            <a:br>
              <a:rPr lang="en-CA" dirty="0" smtClean="0"/>
            </a:br>
            <a:r>
              <a:rPr lang="en-CA" dirty="0" smtClean="0"/>
              <a:t>which represents the first CPU</a:t>
            </a:r>
          </a:p>
          <a:p>
            <a:r>
              <a:rPr lang="en-CA" dirty="0" smtClean="0"/>
              <a:t>Note how the first CPU will be halted at the </a:t>
            </a:r>
            <a:br>
              <a:rPr lang="en-CA" dirty="0" smtClean="0"/>
            </a:br>
            <a:r>
              <a:rPr lang="en-CA" dirty="0" smtClean="0"/>
              <a:t>breakpoint while second CPU continues to run</a:t>
            </a:r>
          </a:p>
          <a:p>
            <a:pPr marL="0" indent="0">
              <a:buNone/>
            </a:pPr>
            <a:endParaRPr lang="en-CA" dirty="0"/>
          </a:p>
          <a:p>
            <a:endParaRPr lang="en-CA" i="1" dirty="0" smtClean="0">
              <a:sym typeface="Wingdings" pitchFamily="2" charset="2"/>
            </a:endParaRPr>
          </a:p>
          <a:p>
            <a:endParaRPr lang="en-US" i="1" dirty="0" smtClean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  <p:pic>
        <p:nvPicPr>
          <p:cNvPr id="8" name="Picture 10" descr="runButt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2190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 descr="C:\Apps\CCSTraining\WORKSHOP\CC2650\ss\2650main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860" y="1556792"/>
            <a:ext cx="2295028" cy="177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Apps\CCSTraining\WORKSHOP\CC2650\ss_main\cc2650main5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31181"/>
            <a:ext cx="8145131" cy="270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0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Clean Up</a:t>
            </a:r>
            <a:endParaRPr lang="en-US" dirty="0"/>
          </a:p>
        </p:txBody>
      </p:sp>
      <p:sp>
        <p:nvSpPr>
          <p:cNvPr id="149506" name="Content Placeholder 2"/>
          <p:cNvSpPr>
            <a:spLocks noGrp="1"/>
          </p:cNvSpPr>
          <p:nvPr>
            <p:ph idx="1"/>
          </p:nvPr>
        </p:nvSpPr>
        <p:spPr>
          <a:xfrm>
            <a:off x="333375" y="1052736"/>
            <a:ext cx="8467725" cy="5112568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Halt the target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Remove all breakpoints from the </a:t>
            </a:r>
            <a:r>
              <a:rPr lang="en-US" b="1" dirty="0" smtClean="0"/>
              <a:t>Breakpoints</a:t>
            </a:r>
            <a:r>
              <a:rPr lang="en-US" dirty="0" smtClean="0"/>
              <a:t> view (if any)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 smtClean="0"/>
              <a:t>Terminate the Debug Session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 startAt="2"/>
            </a:pPr>
            <a:endParaRPr lang="en-US" sz="1800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 smtClean="0"/>
          </a:p>
          <a:p>
            <a:pPr marL="457200" indent="-457200">
              <a:buFont typeface="+mj-lt"/>
              <a:buAutoNum type="arabicPeriod" startAt="2"/>
            </a:pPr>
            <a:endParaRPr lang="en-US" sz="1800" b="1" dirty="0"/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24744"/>
            <a:ext cx="180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145936"/>
            <a:ext cx="1905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448" y="1700807"/>
            <a:ext cx="2000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454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Multi-Core </a:t>
            </a:r>
            <a:r>
              <a:rPr lang="en-CA" dirty="0" smtClean="0"/>
              <a:t>Target: </a:t>
            </a:r>
            <a:r>
              <a:rPr lang="en-CA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</a:p>
        </p:txBody>
      </p:sp>
      <p:sp>
        <p:nvSpPr>
          <p:cNvPr id="5939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>
                <a:solidFill>
                  <a:srgbClr val="0066FF"/>
                </a:solidFill>
              </a:rPr>
              <a:t>After completing this lab you should now be familiar with:</a:t>
            </a: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Creating Advanced Target Configuration files</a:t>
            </a:r>
            <a:endParaRPr lang="en-US" dirty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Working with a multi-core debug session</a:t>
            </a:r>
            <a:endParaRPr lang="en-US" dirty="0">
              <a:solidFill>
                <a:srgbClr val="0066FF"/>
              </a:solidFill>
            </a:endParaRPr>
          </a:p>
          <a:p>
            <a:pPr lvl="1"/>
            <a:r>
              <a:rPr lang="en-US" dirty="0" smtClean="0">
                <a:solidFill>
                  <a:srgbClr val="0066FF"/>
                </a:solidFill>
              </a:rPr>
              <a:t>Working with Debug Groups</a:t>
            </a:r>
          </a:p>
          <a:p>
            <a:pPr lvl="1"/>
            <a:r>
              <a:rPr lang="en-US" dirty="0">
                <a:solidFill>
                  <a:srgbClr val="0066FF"/>
                </a:solidFill>
              </a:rPr>
              <a:t>Working with multiple debug </a:t>
            </a:r>
            <a:r>
              <a:rPr lang="en-US" dirty="0" smtClean="0">
                <a:solidFill>
                  <a:srgbClr val="0066FF"/>
                </a:solidFill>
              </a:rPr>
              <a:t>contexts</a:t>
            </a:r>
          </a:p>
          <a:p>
            <a:pPr lvl="1"/>
            <a:r>
              <a:rPr lang="en-US" dirty="0">
                <a:solidFill>
                  <a:srgbClr val="0066FF"/>
                </a:solidFill>
              </a:rPr>
              <a:t>Working with Breakpoints in a multi-core environment</a:t>
            </a:r>
          </a:p>
          <a:p>
            <a:pPr lvl="1"/>
            <a:endParaRPr lang="en-US" dirty="0" smtClean="0">
              <a:solidFill>
                <a:srgbClr val="0066FF"/>
              </a:solidFill>
            </a:endParaRPr>
          </a:p>
          <a:p>
            <a:endParaRPr lang="en-CA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61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nalPowerpoint">
  <a:themeElements>
    <a:clrScheme name="FinalPowerpoint 1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AAAAAA"/>
      </a:accent1>
      <a:accent2>
        <a:srgbClr val="000000"/>
      </a:accent2>
      <a:accent3>
        <a:srgbClr val="FFFFFF"/>
      </a:accent3>
      <a:accent4>
        <a:srgbClr val="000000"/>
      </a:accent4>
      <a:accent5>
        <a:srgbClr val="D2D2D2"/>
      </a:accent5>
      <a:accent6>
        <a:srgbClr val="000000"/>
      </a:accent6>
      <a:hlink>
        <a:srgbClr val="FF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 Theme 2009">
  <a:themeElements>
    <a:clrScheme name="1_FinalPowerpoint 1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AAAAAA"/>
      </a:accent1>
      <a:accent2>
        <a:srgbClr val="000000"/>
      </a:accent2>
      <a:accent3>
        <a:srgbClr val="FFFFFF"/>
      </a:accent3>
      <a:accent4>
        <a:srgbClr val="000000"/>
      </a:accent4>
      <a:accent5>
        <a:srgbClr val="D2D2D2"/>
      </a:accent5>
      <a:accent6>
        <a:srgbClr val="000000"/>
      </a:accent6>
      <a:hlink>
        <a:srgbClr val="FF0000"/>
      </a:hlink>
      <a:folHlink>
        <a:srgbClr val="AAAAAA"/>
      </a:folHlink>
    </a:clrScheme>
    <a:fontScheme name="1_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>
            <a:alpha val="92157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1_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FinalPowerpoint 4">
    <a:dk1>
      <a:srgbClr val="000000"/>
    </a:dk1>
    <a:lt1>
      <a:srgbClr val="FF0000"/>
    </a:lt1>
    <a:dk2>
      <a:srgbClr val="FFFFFF"/>
    </a:dk2>
    <a:lt2>
      <a:srgbClr val="000000"/>
    </a:lt2>
    <a:accent1>
      <a:srgbClr val="AAAAAA"/>
    </a:accent1>
    <a:accent2>
      <a:srgbClr val="FFFFFF"/>
    </a:accent2>
    <a:accent3>
      <a:srgbClr val="FFAAAA"/>
    </a:accent3>
    <a:accent4>
      <a:srgbClr val="000000"/>
    </a:accent4>
    <a:accent5>
      <a:srgbClr val="D2D2D2"/>
    </a:accent5>
    <a:accent6>
      <a:srgbClr val="E7E7E7"/>
    </a:accent6>
    <a:hlink>
      <a:srgbClr val="000000"/>
    </a:hlink>
    <a:folHlink>
      <a:srgbClr val="AAAAAA"/>
    </a:folHlink>
  </a:clrScheme>
</a:themeOverride>
</file>

<file path=ppt/theme/themeOverride2.xml><?xml version="1.0" encoding="utf-8"?>
<a:themeOverride xmlns:a="http://schemas.openxmlformats.org/drawingml/2006/main">
  <a:clrScheme name="FinalPowerpoint 4">
    <a:dk1>
      <a:srgbClr val="000000"/>
    </a:dk1>
    <a:lt1>
      <a:srgbClr val="FF0000"/>
    </a:lt1>
    <a:dk2>
      <a:srgbClr val="FFFFFF"/>
    </a:dk2>
    <a:lt2>
      <a:srgbClr val="000000"/>
    </a:lt2>
    <a:accent1>
      <a:srgbClr val="AAAAAA"/>
    </a:accent1>
    <a:accent2>
      <a:srgbClr val="FFFFFF"/>
    </a:accent2>
    <a:accent3>
      <a:srgbClr val="FFAAAA"/>
    </a:accent3>
    <a:accent4>
      <a:srgbClr val="000000"/>
    </a:accent4>
    <a:accent5>
      <a:srgbClr val="D2D2D2"/>
    </a:accent5>
    <a:accent6>
      <a:srgbClr val="E7E7E7"/>
    </a:accent6>
    <a:hlink>
      <a:srgbClr val="000000"/>
    </a:hlink>
    <a:folHlink>
      <a:srgbClr val="AAAAAA"/>
    </a:folHlink>
  </a:clrScheme>
</a:themeOverride>
</file>

<file path=ppt/theme/themeOverride3.xml><?xml version="1.0" encoding="utf-8"?>
<a:themeOverride xmlns:a="http://schemas.openxmlformats.org/drawingml/2006/main">
  <a:clrScheme name="1_FinalPowerpoint 4">
    <a:dk1>
      <a:srgbClr val="000000"/>
    </a:dk1>
    <a:lt1>
      <a:srgbClr val="FF0000"/>
    </a:lt1>
    <a:dk2>
      <a:srgbClr val="FFFFFF"/>
    </a:dk2>
    <a:lt2>
      <a:srgbClr val="000000"/>
    </a:lt2>
    <a:accent1>
      <a:srgbClr val="AAAAAA"/>
    </a:accent1>
    <a:accent2>
      <a:srgbClr val="FFFFFF"/>
    </a:accent2>
    <a:accent3>
      <a:srgbClr val="FFAAAA"/>
    </a:accent3>
    <a:accent4>
      <a:srgbClr val="000000"/>
    </a:accent4>
    <a:accent5>
      <a:srgbClr val="D2D2D2"/>
    </a:accent5>
    <a:accent6>
      <a:srgbClr val="E7E7E7"/>
    </a:accent6>
    <a:hlink>
      <a:srgbClr val="000000"/>
    </a:hlink>
    <a:folHlink>
      <a:srgbClr val="AAAAA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TI_PPT_template</Template>
  <TotalTime>34765</TotalTime>
  <Words>3601</Words>
  <Application>Microsoft Office PowerPoint</Application>
  <PresentationFormat>On-screen Show (4:3)</PresentationFormat>
  <Paragraphs>854</Paragraphs>
  <Slides>91</Slides>
  <Notes>74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91</vt:i4>
      </vt:variant>
    </vt:vector>
  </HeadingPairs>
  <TitlesOfParts>
    <vt:vector size="93" baseType="lpstr">
      <vt:lpstr>FinalPowerpoint</vt:lpstr>
      <vt:lpstr>1_TI Theme 2009</vt:lpstr>
      <vt:lpstr>CCSv6 Fundamentals Workshop for CC2650 </vt:lpstr>
      <vt:lpstr>Outline</vt:lpstr>
      <vt:lpstr>LAB Requirements</vt:lpstr>
      <vt:lpstr>LAB Material Notes</vt:lpstr>
      <vt:lpstr>LAB Conventions</vt:lpstr>
      <vt:lpstr>PowerPoint Presentation</vt:lpstr>
      <vt:lpstr>Lab 1A: Getting Started: LCD SmartRF06EB Example  15 minutes</vt:lpstr>
      <vt:lpstr>LAB 1A: Exercise Summary</vt:lpstr>
      <vt:lpstr>Launch CCS and Open Resource Explorer</vt:lpstr>
      <vt:lpstr>Resource Explorer: Examples</vt:lpstr>
      <vt:lpstr>Step 1: Import LCD SmartRF06RB Project</vt:lpstr>
      <vt:lpstr>Step 1: Import LCD SmartRF06RB Project</vt:lpstr>
      <vt:lpstr>Step 2: Build LCD SmartRF06RB Project</vt:lpstr>
      <vt:lpstr>Step 3: Specify Debugger Configuration</vt:lpstr>
      <vt:lpstr>Step 4: Debug LCD SmartRF06RB Project</vt:lpstr>
      <vt:lpstr>Debug Session for LCD SmartRF06RB Project</vt:lpstr>
      <vt:lpstr>Run LCD SmartRF06RB Program</vt:lpstr>
      <vt:lpstr>LAB1A: Summary</vt:lpstr>
      <vt:lpstr>PowerPoint Presentation</vt:lpstr>
      <vt:lpstr>Lab 1B: More basics:  LCD SmartRF06EB Example  15 minutes</vt:lpstr>
      <vt:lpstr>LAB 1B: Exercise Summary</vt:lpstr>
      <vt:lpstr>View: Memory Allocation</vt:lpstr>
      <vt:lpstr>Advice View</vt:lpstr>
      <vt:lpstr>Project Properties</vt:lpstr>
      <vt:lpstr>Project Properties</vt:lpstr>
      <vt:lpstr>Debug vs Optimization Tradeoff</vt:lpstr>
      <vt:lpstr>Switch to Simple Mode</vt:lpstr>
      <vt:lpstr>Simple Mode</vt:lpstr>
      <vt:lpstr>Debugging in Simple Mode</vt:lpstr>
      <vt:lpstr>View: Memory Allocation</vt:lpstr>
      <vt:lpstr>Clean Up</vt:lpstr>
      <vt:lpstr>LAB 1B: Summary</vt:lpstr>
      <vt:lpstr>PowerPoint Presentation</vt:lpstr>
      <vt:lpstr>Lab 2: basic debug: Pin Interrupt Example  30 minutes</vt:lpstr>
      <vt:lpstr>LAB 2: Exercise Summary</vt:lpstr>
      <vt:lpstr>Resource Explorer: Pin Interrupt Example</vt:lpstr>
      <vt:lpstr>Run Pin Interrupt Program</vt:lpstr>
      <vt:lpstr>Debugging: Using Breakpoints</vt:lpstr>
      <vt:lpstr>Debugging: Using Watchpoints</vt:lpstr>
      <vt:lpstr>Debugging: Using Watchpoints</vt:lpstr>
      <vt:lpstr>Debugging: Watchpoints</vt:lpstr>
      <vt:lpstr>Debugging: Using Watchpoints</vt:lpstr>
      <vt:lpstr>Debugging: Counting Events</vt:lpstr>
      <vt:lpstr>Debugging: Counting Events</vt:lpstr>
      <vt:lpstr>Debugging: Counting Events</vt:lpstr>
      <vt:lpstr>More Debugging (Review)</vt:lpstr>
      <vt:lpstr>View: Disassembly</vt:lpstr>
      <vt:lpstr>Clean Up</vt:lpstr>
      <vt:lpstr>LAB 2: Summary</vt:lpstr>
      <vt:lpstr>PowerPoint Presentation</vt:lpstr>
      <vt:lpstr>Lab 3A: REAL-TIME DEBUG: LCD SmartRF06EB Example  15 minutes</vt:lpstr>
      <vt:lpstr>LAB 3A: Exercise Summary</vt:lpstr>
      <vt:lpstr>Editing the Source Code</vt:lpstr>
      <vt:lpstr>Adding Variables to the Expressions View</vt:lpstr>
      <vt:lpstr>Adding Variables to the Expressions View</vt:lpstr>
      <vt:lpstr>Continuous Refresh</vt:lpstr>
      <vt:lpstr>Clean Up</vt:lpstr>
      <vt:lpstr>Real-Time Access: Summary</vt:lpstr>
      <vt:lpstr>PowerPoint Presentation</vt:lpstr>
      <vt:lpstr>Lab 3B: ROV   45 minutes</vt:lpstr>
      <vt:lpstr>LAB 3B: Exercise Summary</vt:lpstr>
      <vt:lpstr>Open the RTOS Object View (ROV)</vt:lpstr>
      <vt:lpstr>Use ROV</vt:lpstr>
      <vt:lpstr>Use ROV</vt:lpstr>
      <vt:lpstr>Clean Up</vt:lpstr>
      <vt:lpstr>Exercise Summary</vt:lpstr>
      <vt:lpstr>PowerPoint Presentation</vt:lpstr>
      <vt:lpstr>Lab 4: multi-target deBug: Per Test Example   45 minutes</vt:lpstr>
      <vt:lpstr>LAB 4: Exercise Summary</vt:lpstr>
      <vt:lpstr>Create a Target Configuration File</vt:lpstr>
      <vt:lpstr>Target Configuration Editor</vt:lpstr>
      <vt:lpstr>Target Configuration Editor (Advanced)</vt:lpstr>
      <vt:lpstr>Target Configuration Editor (Advanced)</vt:lpstr>
      <vt:lpstr>Target Configuration Editor (Advanced)</vt:lpstr>
      <vt:lpstr>Getting the Serial Numbers for XDS100</vt:lpstr>
      <vt:lpstr>Target Configuration Editor (Advanced)</vt:lpstr>
      <vt:lpstr>Launch the Debugger</vt:lpstr>
      <vt:lpstr>Launch the Debugger</vt:lpstr>
      <vt:lpstr>                  KNOWN ISSUE WITH GROUPS (1)</vt:lpstr>
      <vt:lpstr>                  KNOWN ISSUE WITH GROUPS (2)</vt:lpstr>
      <vt:lpstr>Creating Groups</vt:lpstr>
      <vt:lpstr>Working with Groups</vt:lpstr>
      <vt:lpstr>Working with Groups</vt:lpstr>
      <vt:lpstr>Multi-Emulator/Target Debug</vt:lpstr>
      <vt:lpstr>Multi-Core Debug</vt:lpstr>
      <vt:lpstr>Breakpoints</vt:lpstr>
      <vt:lpstr>Breakpoints</vt:lpstr>
      <vt:lpstr>View Breakpoints by Debug Context</vt:lpstr>
      <vt:lpstr>Breakpoints – Run Program</vt:lpstr>
      <vt:lpstr>Clean Up</vt:lpstr>
      <vt:lpstr>Multi-Core Target: Summary</vt:lpstr>
    </vt:vector>
  </TitlesOfParts>
  <Company>Texas Instruments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 Overview Workshop</dc:title>
  <dc:subject>Code Composer Studio</dc:subject>
  <dc:creator>Ki-Soo Lee &amp; John Stevenson</dc:creator>
  <cp:lastModifiedBy>Lee, Ki-Soo</cp:lastModifiedBy>
  <cp:revision>2739</cp:revision>
  <cp:lastPrinted>2013-09-26T14:17:31Z</cp:lastPrinted>
  <dcterms:created xsi:type="dcterms:W3CDTF">2009-02-27T20:15:19Z</dcterms:created>
  <dcterms:modified xsi:type="dcterms:W3CDTF">2015-02-24T21:15:51Z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0x010100F8100CAD4EA2FB488A17BA6F18446178</vt:lpwstr>
  </property>
</Properties>
</file>